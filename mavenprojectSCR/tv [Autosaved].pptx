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comments/comment2.xml" ContentType="application/vnd.openxmlformats-officedocument.presentationml.comments+xml"/>
  <Override PartName="/ppt/notesSlides/notesSlide3.xml" ContentType="application/vnd.openxmlformats-officedocument.presentationml.notesSlide+xml"/>
  <Override PartName="/ppt/comments/comment3.xml" ContentType="application/vnd.openxmlformats-officedocument.presentationml.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omments/comment4.xml" ContentType="application/vnd.openxmlformats-officedocument.presentationml.comments+xml"/>
  <Override PartName="/ppt/notesSlides/notesSlide1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omments/comment5.xml" ContentType="application/vnd.openxmlformats-officedocument.presentationml.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94"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9144000" cy="73152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304">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ndrew Hinton" initials="" lastIdx="1" clrIdx="0"/>
  <p:cmAuthor id="1" name="andrew hinton" initials="ah" lastIdx="10" clrIdx="1">
    <p:extLst>
      <p:ext uri="{19B8F6BF-5375-455C-9EA6-DF929625EA0E}">
        <p15:presenceInfo xmlns:p15="http://schemas.microsoft.com/office/powerpoint/2012/main" userId="5f6230cd58c9e88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FB75FC7-DD7D-40D8-B2B2-EE4B611A8D2E}">
  <a:tblStyle styleId="{CFB75FC7-DD7D-40D8-B2B2-EE4B611A8D2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79AAC5F-F97D-4193-AF94-6FAFF6667CF6}"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94477"/>
  </p:normalViewPr>
  <p:slideViewPr>
    <p:cSldViewPr snapToGrid="0">
      <p:cViewPr varScale="1">
        <p:scale>
          <a:sx n="76" d="100"/>
          <a:sy n="76" d="100"/>
        </p:scale>
        <p:origin x="488" y="184"/>
      </p:cViewPr>
      <p:guideLst>
        <p:guide orient="horz" pos="2304"/>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CF5E-E84D-A407-E3FC0624B1E3}"/>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CF5E-E84D-A407-E3FC0624B1E3}"/>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CF5E-E84D-A407-E3FC0624B1E3}"/>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CF5E-E84D-A407-E3FC0624B1E3}"/>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C88C-3346-B77A-70E10F5BF492}"/>
            </c:ext>
          </c:extLst>
        </c:ser>
        <c:dLbls>
          <c:showLegendKey val="0"/>
          <c:showVal val="0"/>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CF5E-E84D-A407-E3FC0624B1E3}"/>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CF5E-E84D-A407-E3FC0624B1E3}"/>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CF5E-E84D-A407-E3FC0624B1E3}"/>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CF5E-E84D-A407-E3FC0624B1E3}"/>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C88C-3346-B77A-70E10F5BF492}"/>
            </c:ext>
          </c:extLst>
        </c:ser>
        <c:dLbls>
          <c:showLegendKey val="0"/>
          <c:showVal val="0"/>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6074186622979058"/>
          <c:y val="0.15400324815973854"/>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6663-5349-99D5-AAF6DADCDC6A}"/>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6663-5349-99D5-AAF6DADCDC6A}"/>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6663-5349-99D5-AAF6DADCDC6A}"/>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6663-5349-99D5-AAF6DADCDC6A}"/>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6663-5349-99D5-AAF6DADCDC6A}"/>
            </c:ext>
          </c:extLst>
        </c:ser>
        <c:dLbls>
          <c:showLegendKey val="0"/>
          <c:showVal val="0"/>
          <c:showCatName val="0"/>
          <c:showSerName val="0"/>
          <c:showPercent val="0"/>
          <c:showBubbleSize val="0"/>
          <c:showLeaderLines val="1"/>
        </c:dLbls>
      </c:pie3DChart>
      <c:spPr>
        <a:noFill/>
        <a:ln w="25400">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6074186622979058"/>
          <c:y val="0.15400324815973854"/>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2F45-014C-B036-A53659FA5431}"/>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2F45-014C-B036-A53659FA5431}"/>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2F45-014C-B036-A53659FA5431}"/>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2F45-014C-B036-A53659FA5431}"/>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2F45-014C-B036-A53659FA5431}"/>
            </c:ext>
          </c:extLst>
        </c:ser>
        <c:dLbls>
          <c:showLegendKey val="0"/>
          <c:showVal val="0"/>
          <c:showCatName val="0"/>
          <c:showSerName val="0"/>
          <c:showPercent val="0"/>
          <c:showBubbleSize val="0"/>
          <c:showLeaderLines val="1"/>
        </c:dLbls>
      </c:pie3DChart>
      <c:spPr>
        <a:noFill/>
        <a:ln w="25400">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p="http://schemas.openxmlformats.org/presentationml/2006/main">
  <p:cm authorId="0" dt="2026-01-03T21:15:26.536" idx="1">
    <p:pos x="6000" y="0"/>
    <p:text>OnePresentedToSlide
</p:text>
  </p:cm>
  <p:cm authorId="1" dt="2026-01-03T21:58:52.260" idx="2">
    <p:pos x="10" y="10"/>
    <p:text/>
    <p:extLst>
      <p:ext uri="{C676402C-5697-4E1C-873F-D02D1690AC5C}">
        <p15:threadingInfo xmlns:p15="http://schemas.microsoft.com/office/powerpoint/2012/main" timeZoneBias="30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6-02-15T18:48:51.755" idx="8">
    <p:pos x="6051" y="-111"/>
    <p:text>TeamCommitmentPage</p:text>
    <p:extLst>
      <p:ext uri="{C676402C-5697-4E1C-873F-D02D1690AC5C}">
        <p15:threadingInfo xmlns:p15="http://schemas.microsoft.com/office/powerpoint/2012/main" timeZoneBias="30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6-02-15T18:48:03.821" idx="7">
    <p:pos x="6025" y="-298"/>
    <p:text>TeamCommitmentPagesss</p:text>
    <p:extLst>
      <p:ext uri="{C676402C-5697-4E1C-873F-D02D1690AC5C}">
        <p15:threadingInfo xmlns:p15="http://schemas.microsoft.com/office/powerpoint/2012/main" timeZoneBias="30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6-01-18T18:44:18.318" idx="3">
    <p:pos x="10" y="10"/>
    <p:text/>
    <p:extLst>
      <p:ext uri="{C676402C-5697-4E1C-873F-D02D1690AC5C}">
        <p15:threadingInfo xmlns:p15="http://schemas.microsoft.com/office/powerpoint/2012/main" timeZoneBias="30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6-01-18T18:44:18.318" idx="10">
    <p:pos x="10" y="10"/>
    <p:text/>
    <p:extLst>
      <p:ext uri="{C676402C-5697-4E1C-873F-D02D1690AC5C}">
        <p15:threadingInfo xmlns:p15="http://schemas.microsoft.com/office/powerpoint/2012/main" timeZoneBias="30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1e46e2962_1_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1e46e2962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aa4a52d53f_0_15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aa4a52d53f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bc1c0fe17c_0_86: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bc1c0fe17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ab9ca2f465_0_7: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ab9ca2f465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aa4a52d53f_0_1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aa4a52d53f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aa4a52d53f_0_10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aa4a52d53f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aa4a52d53f_0_13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aa4a52d53f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aa4a52d53f_0_5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aa4a52d53f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aa4a52d53f_0_8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aa4a52d53f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ba229fc496_0_46: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ba229fc496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b1f3d784ca_0_16: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b1f3d784ca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a:extLst>
            <a:ext uri="{FF2B5EF4-FFF2-40B4-BE49-F238E27FC236}">
              <a16:creationId xmlns:a16="http://schemas.microsoft.com/office/drawing/2014/main" id="{40DA2237-D124-1A3B-080C-2D0DF8484314}"/>
            </a:ext>
          </a:extLst>
        </p:cNvPr>
        <p:cNvGrpSpPr/>
        <p:nvPr/>
      </p:nvGrpSpPr>
      <p:grpSpPr>
        <a:xfrm>
          <a:off x="0" y="0"/>
          <a:ext cx="0" cy="0"/>
          <a:chOff x="0" y="0"/>
          <a:chExt cx="0" cy="0"/>
        </a:xfrm>
      </p:grpSpPr>
      <p:sp>
        <p:nvSpPr>
          <p:cNvPr id="318" name="Google Shape;318;gb1f3d784ca_0_16:notes">
            <a:extLst>
              <a:ext uri="{FF2B5EF4-FFF2-40B4-BE49-F238E27FC236}">
                <a16:creationId xmlns:a16="http://schemas.microsoft.com/office/drawing/2014/main" id="{4172D168-98AE-5BD6-3580-DD8EF7D056EE}"/>
              </a:ext>
            </a:extLst>
          </p:cNvPr>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b1f3d784ca_0_16:notes">
            <a:extLst>
              <a:ext uri="{FF2B5EF4-FFF2-40B4-BE49-F238E27FC236}">
                <a16:creationId xmlns:a16="http://schemas.microsoft.com/office/drawing/2014/main" id="{113EC8D9-F898-AEAD-0070-41352C0FD3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79976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d43bcde7a4_0_17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d43bcde7a4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ba5de39673_0_179: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ba5de39673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ab9ca2f465_0_5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ab9ca2f465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d43bcde7a4_0_37: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d43bcde7a4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d6c288bb60_1_13: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d6c288bb60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ab9ca2f465_0_67: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ab9ca2f465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ab9ca2f465_0_88: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ab9ca2f465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aa2a19e2f1_0_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aa2a19e2f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d43bcde7a4_0_4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d43bcde7a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ab9ca2f465_0_11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ab9ca2f465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b66e45c5bc_0_2: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b66e45c5bc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ba229fc496_0_13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ba229fc496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bb579c7b11_0_2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bb579c7b11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aa2a19e2f1_0_9: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aa2a19e2f1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c4c5716b7b_0_13: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c4c5716b7b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26e7dea56c1_1_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26e7dea56c1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bb579c7b11_0_4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6" name="Google Shape;466;gbb579c7b11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bb579c7b11_0_52: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bb579c7b11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bb579c7b11_0_88: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bb579c7b11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bb579c7b11_0_68: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bb579c7b11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ba229fc496_0_149: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5" name="Google Shape;495;gba229fc496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d43bcde7a4_0_142: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d43bcde7a4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bc1c0fe17c_0_38: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1" name="Google Shape;531;gbc1c0fe17c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bc1c0fe17c_0_4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bc1c0fe17c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General information pag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000000"/>
              </a:buClr>
              <a:buSzPts val="4000"/>
              <a:buNone/>
              <a:defRPr sz="4000" b="1">
                <a:solidFill>
                  <a:srgbClr val="000000"/>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3" name="Google Shape;13;p2"/>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4" name="Google Shape;14;p2"/>
          <p:cNvSpPr txBox="1">
            <a:spLocks noGrp="1"/>
          </p:cNvSpPr>
          <p:nvPr>
            <p:ph type="body" idx="1"/>
          </p:nvPr>
        </p:nvSpPr>
        <p:spPr>
          <a:xfrm>
            <a:off x="365750" y="1170425"/>
            <a:ext cx="8408100" cy="1352100"/>
          </a:xfrm>
          <a:prstGeom prst="rect">
            <a:avLst/>
          </a:prstGeom>
        </p:spPr>
        <p:txBody>
          <a:bodyPr spcFirstLastPara="1" wrap="square" lIns="91425" tIns="91425" rIns="91425" bIns="91425" anchor="t" anchorCtr="0">
            <a:noAutofit/>
          </a:bodyPr>
          <a:lstStyle>
            <a:lvl1pPr marL="457200" lvl="0" indent="-301625">
              <a:spcBef>
                <a:spcPts val="0"/>
              </a:spcBef>
              <a:spcAft>
                <a:spcPts val="0"/>
              </a:spcAft>
              <a:buSzPts val="1150"/>
              <a:buFont typeface="Verdana"/>
              <a:buChar char="●"/>
              <a:defRPr sz="1150">
                <a:latin typeface="Verdana"/>
                <a:ea typeface="Verdana"/>
                <a:cs typeface="Verdana"/>
                <a:sym typeface="Verdana"/>
              </a:defRPr>
            </a:lvl1pPr>
            <a:lvl2pPr marL="914400" lvl="1" indent="-301625">
              <a:spcBef>
                <a:spcPts val="1600"/>
              </a:spcBef>
              <a:spcAft>
                <a:spcPts val="0"/>
              </a:spcAft>
              <a:buSzPts val="1150"/>
              <a:buFont typeface="Verdana"/>
              <a:buChar char="○"/>
              <a:defRPr sz="1150">
                <a:latin typeface="Verdana"/>
                <a:ea typeface="Verdana"/>
                <a:cs typeface="Verdana"/>
                <a:sym typeface="Verdana"/>
              </a:defRPr>
            </a:lvl2pPr>
            <a:lvl3pPr marL="1371600" lvl="2" indent="-301625">
              <a:spcBef>
                <a:spcPts val="1600"/>
              </a:spcBef>
              <a:spcAft>
                <a:spcPts val="0"/>
              </a:spcAft>
              <a:buSzPts val="1150"/>
              <a:buFont typeface="Verdana"/>
              <a:buChar char="■"/>
              <a:defRPr sz="1150">
                <a:latin typeface="Verdana"/>
                <a:ea typeface="Verdana"/>
                <a:cs typeface="Verdana"/>
                <a:sym typeface="Verdana"/>
              </a:defRPr>
            </a:lvl3pPr>
            <a:lvl4pPr marL="1828800" lvl="3" indent="-301625">
              <a:spcBef>
                <a:spcPts val="1600"/>
              </a:spcBef>
              <a:spcAft>
                <a:spcPts val="0"/>
              </a:spcAft>
              <a:buSzPts val="1150"/>
              <a:buFont typeface="Verdana"/>
              <a:buChar char="●"/>
              <a:defRPr sz="1150">
                <a:latin typeface="Verdana"/>
                <a:ea typeface="Verdana"/>
                <a:cs typeface="Verdana"/>
                <a:sym typeface="Verdana"/>
              </a:defRPr>
            </a:lvl4pPr>
            <a:lvl5pPr marL="2286000" lvl="4" indent="-301625">
              <a:spcBef>
                <a:spcPts val="1600"/>
              </a:spcBef>
              <a:spcAft>
                <a:spcPts val="0"/>
              </a:spcAft>
              <a:buSzPts val="1150"/>
              <a:buFont typeface="Verdana"/>
              <a:buChar char="○"/>
              <a:defRPr sz="1150">
                <a:latin typeface="Verdana"/>
                <a:ea typeface="Verdana"/>
                <a:cs typeface="Verdana"/>
                <a:sym typeface="Verdana"/>
              </a:defRPr>
            </a:lvl5pPr>
            <a:lvl6pPr marL="2743200" lvl="5" indent="-301625">
              <a:spcBef>
                <a:spcPts val="1600"/>
              </a:spcBef>
              <a:spcAft>
                <a:spcPts val="0"/>
              </a:spcAft>
              <a:buSzPts val="1150"/>
              <a:buFont typeface="Verdana"/>
              <a:buChar char="■"/>
              <a:defRPr sz="1150">
                <a:latin typeface="Verdana"/>
                <a:ea typeface="Verdana"/>
                <a:cs typeface="Verdana"/>
                <a:sym typeface="Verdana"/>
              </a:defRPr>
            </a:lvl6pPr>
            <a:lvl7pPr marL="3200400" lvl="6" indent="-301625">
              <a:spcBef>
                <a:spcPts val="1600"/>
              </a:spcBef>
              <a:spcAft>
                <a:spcPts val="0"/>
              </a:spcAft>
              <a:buSzPts val="1150"/>
              <a:buFont typeface="Verdana"/>
              <a:buChar char="●"/>
              <a:defRPr sz="1150">
                <a:latin typeface="Verdana"/>
                <a:ea typeface="Verdana"/>
                <a:cs typeface="Verdana"/>
                <a:sym typeface="Verdana"/>
              </a:defRPr>
            </a:lvl7pPr>
            <a:lvl8pPr marL="3657600" lvl="7" indent="-301625">
              <a:spcBef>
                <a:spcPts val="1600"/>
              </a:spcBef>
              <a:spcAft>
                <a:spcPts val="0"/>
              </a:spcAft>
              <a:buSzPts val="1150"/>
              <a:buFont typeface="Verdana"/>
              <a:buChar char="○"/>
              <a:defRPr sz="1150">
                <a:latin typeface="Verdana"/>
                <a:ea typeface="Verdana"/>
                <a:cs typeface="Verdana"/>
                <a:sym typeface="Verdana"/>
              </a:defRPr>
            </a:lvl8pPr>
            <a:lvl9pPr marL="4114800" lvl="8" indent="-301625">
              <a:spcBef>
                <a:spcPts val="1600"/>
              </a:spcBef>
              <a:spcAft>
                <a:spcPts val="1600"/>
              </a:spcAft>
              <a:buSzPts val="1150"/>
              <a:buFont typeface="Verdana"/>
              <a:buChar char="■"/>
              <a:defRPr sz="1150">
                <a:latin typeface="Verdana"/>
                <a:ea typeface="Verdana"/>
                <a:cs typeface="Verdana"/>
                <a:sym typeface="Verdana"/>
              </a:defRPr>
            </a:lvl9pPr>
          </a:lstStyle>
          <a:p>
            <a:endParaRPr/>
          </a:p>
        </p:txBody>
      </p:sp>
      <p:sp>
        <p:nvSpPr>
          <p:cNvPr id="15" name="Google Shape;15;p2"/>
          <p:cNvSpPr txBox="1">
            <a:spLocks noGrp="1"/>
          </p:cNvSpPr>
          <p:nvPr>
            <p:ph type="body" idx="2"/>
          </p:nvPr>
        </p:nvSpPr>
        <p:spPr>
          <a:xfrm>
            <a:off x="365750" y="3225225"/>
            <a:ext cx="8408100" cy="1352100"/>
          </a:xfrm>
          <a:prstGeom prst="rect">
            <a:avLst/>
          </a:prstGeom>
        </p:spPr>
        <p:txBody>
          <a:bodyPr spcFirstLastPara="1" wrap="square" lIns="91425" tIns="91425" rIns="91425" bIns="91425" anchor="t" anchorCtr="0">
            <a:noAutofit/>
          </a:bodyPr>
          <a:lstStyle>
            <a:lvl1pPr marL="457200" lvl="0" indent="-301625" rtl="0">
              <a:spcBef>
                <a:spcPts val="0"/>
              </a:spcBef>
              <a:spcAft>
                <a:spcPts val="0"/>
              </a:spcAft>
              <a:buSzPts val="1150"/>
              <a:buFont typeface="Verdana"/>
              <a:buChar char="●"/>
              <a:defRPr sz="1150">
                <a:latin typeface="Verdana"/>
                <a:ea typeface="Verdana"/>
                <a:cs typeface="Verdana"/>
                <a:sym typeface="Verdana"/>
              </a:defRPr>
            </a:lvl1pPr>
            <a:lvl2pPr marL="914400" lvl="1" indent="-301625" rtl="0">
              <a:spcBef>
                <a:spcPts val="1600"/>
              </a:spcBef>
              <a:spcAft>
                <a:spcPts val="0"/>
              </a:spcAft>
              <a:buSzPts val="1150"/>
              <a:buFont typeface="Verdana"/>
              <a:buChar char="○"/>
              <a:defRPr sz="1150">
                <a:latin typeface="Verdana"/>
                <a:ea typeface="Verdana"/>
                <a:cs typeface="Verdana"/>
                <a:sym typeface="Verdana"/>
              </a:defRPr>
            </a:lvl2pPr>
            <a:lvl3pPr marL="1371600" lvl="2" indent="-301625" rtl="0">
              <a:spcBef>
                <a:spcPts val="1600"/>
              </a:spcBef>
              <a:spcAft>
                <a:spcPts val="0"/>
              </a:spcAft>
              <a:buSzPts val="1150"/>
              <a:buFont typeface="Verdana"/>
              <a:buChar char="■"/>
              <a:defRPr sz="1150">
                <a:latin typeface="Verdana"/>
                <a:ea typeface="Verdana"/>
                <a:cs typeface="Verdana"/>
                <a:sym typeface="Verdana"/>
              </a:defRPr>
            </a:lvl3pPr>
            <a:lvl4pPr marL="1828800" lvl="3" indent="-301625" rtl="0">
              <a:spcBef>
                <a:spcPts val="1600"/>
              </a:spcBef>
              <a:spcAft>
                <a:spcPts val="0"/>
              </a:spcAft>
              <a:buSzPts val="1150"/>
              <a:buFont typeface="Verdana"/>
              <a:buChar char="●"/>
              <a:defRPr sz="1150">
                <a:latin typeface="Verdana"/>
                <a:ea typeface="Verdana"/>
                <a:cs typeface="Verdana"/>
                <a:sym typeface="Verdana"/>
              </a:defRPr>
            </a:lvl4pPr>
            <a:lvl5pPr marL="2286000" lvl="4" indent="-301625" rtl="0">
              <a:spcBef>
                <a:spcPts val="1600"/>
              </a:spcBef>
              <a:spcAft>
                <a:spcPts val="0"/>
              </a:spcAft>
              <a:buSzPts val="1150"/>
              <a:buFont typeface="Verdana"/>
              <a:buChar char="○"/>
              <a:defRPr sz="1150">
                <a:latin typeface="Verdana"/>
                <a:ea typeface="Verdana"/>
                <a:cs typeface="Verdana"/>
                <a:sym typeface="Verdana"/>
              </a:defRPr>
            </a:lvl5pPr>
            <a:lvl6pPr marL="2743200" lvl="5" indent="-301625" rtl="0">
              <a:spcBef>
                <a:spcPts val="1600"/>
              </a:spcBef>
              <a:spcAft>
                <a:spcPts val="0"/>
              </a:spcAft>
              <a:buSzPts val="1150"/>
              <a:buFont typeface="Verdana"/>
              <a:buChar char="■"/>
              <a:defRPr sz="1150">
                <a:latin typeface="Verdana"/>
                <a:ea typeface="Verdana"/>
                <a:cs typeface="Verdana"/>
                <a:sym typeface="Verdana"/>
              </a:defRPr>
            </a:lvl6pPr>
            <a:lvl7pPr marL="3200400" lvl="6" indent="-301625" rtl="0">
              <a:spcBef>
                <a:spcPts val="1600"/>
              </a:spcBef>
              <a:spcAft>
                <a:spcPts val="0"/>
              </a:spcAft>
              <a:buSzPts val="1150"/>
              <a:buFont typeface="Verdana"/>
              <a:buChar char="●"/>
              <a:defRPr sz="1150">
                <a:latin typeface="Verdana"/>
                <a:ea typeface="Verdana"/>
                <a:cs typeface="Verdana"/>
                <a:sym typeface="Verdana"/>
              </a:defRPr>
            </a:lvl7pPr>
            <a:lvl8pPr marL="3657600" lvl="7" indent="-301625" rtl="0">
              <a:spcBef>
                <a:spcPts val="1600"/>
              </a:spcBef>
              <a:spcAft>
                <a:spcPts val="0"/>
              </a:spcAft>
              <a:buSzPts val="1150"/>
              <a:buFont typeface="Verdana"/>
              <a:buChar char="○"/>
              <a:defRPr sz="1150">
                <a:latin typeface="Verdana"/>
                <a:ea typeface="Verdana"/>
                <a:cs typeface="Verdana"/>
                <a:sym typeface="Verdana"/>
              </a:defRPr>
            </a:lvl8pPr>
            <a:lvl9pPr marL="4114800" lvl="8" indent="-301625" rtl="0">
              <a:spcBef>
                <a:spcPts val="1600"/>
              </a:spcBef>
              <a:spcAft>
                <a:spcPts val="1600"/>
              </a:spcAft>
              <a:buSzPts val="1150"/>
              <a:buFont typeface="Verdana"/>
              <a:buChar char="■"/>
              <a:defRPr sz="1150">
                <a:latin typeface="Verdana"/>
                <a:ea typeface="Verdana"/>
                <a:cs typeface="Verdana"/>
                <a:sym typeface="Verdana"/>
              </a:defRPr>
            </a:lvl9pPr>
          </a:lstStyle>
          <a:p>
            <a:endParaRPr/>
          </a:p>
        </p:txBody>
      </p:sp>
      <p:sp>
        <p:nvSpPr>
          <p:cNvPr id="16" name="Google Shape;16;p2"/>
          <p:cNvSpPr txBox="1">
            <a:spLocks noGrp="1"/>
          </p:cNvSpPr>
          <p:nvPr>
            <p:ph type="body" idx="3"/>
          </p:nvPr>
        </p:nvSpPr>
        <p:spPr>
          <a:xfrm>
            <a:off x="367950" y="5280025"/>
            <a:ext cx="8408100" cy="1352100"/>
          </a:xfrm>
          <a:prstGeom prst="rect">
            <a:avLst/>
          </a:prstGeom>
        </p:spPr>
        <p:txBody>
          <a:bodyPr spcFirstLastPara="1" wrap="square" lIns="91425" tIns="91425" rIns="91425" bIns="91425" anchor="t" anchorCtr="0">
            <a:noAutofit/>
          </a:bodyPr>
          <a:lstStyle>
            <a:lvl1pPr marL="457200" lvl="0" indent="-301625" rtl="0">
              <a:spcBef>
                <a:spcPts val="0"/>
              </a:spcBef>
              <a:spcAft>
                <a:spcPts val="0"/>
              </a:spcAft>
              <a:buSzPts val="1150"/>
              <a:buFont typeface="Verdana"/>
              <a:buChar char="●"/>
              <a:defRPr sz="1150">
                <a:latin typeface="Verdana"/>
                <a:ea typeface="Verdana"/>
                <a:cs typeface="Verdana"/>
                <a:sym typeface="Verdana"/>
              </a:defRPr>
            </a:lvl1pPr>
            <a:lvl2pPr marL="914400" lvl="1" indent="-301625" rtl="0">
              <a:spcBef>
                <a:spcPts val="1600"/>
              </a:spcBef>
              <a:spcAft>
                <a:spcPts val="0"/>
              </a:spcAft>
              <a:buSzPts val="1150"/>
              <a:buFont typeface="Verdana"/>
              <a:buChar char="○"/>
              <a:defRPr sz="1150">
                <a:latin typeface="Verdana"/>
                <a:ea typeface="Verdana"/>
                <a:cs typeface="Verdana"/>
                <a:sym typeface="Verdana"/>
              </a:defRPr>
            </a:lvl2pPr>
            <a:lvl3pPr marL="1371600" lvl="2" indent="-301625" rtl="0">
              <a:spcBef>
                <a:spcPts val="1600"/>
              </a:spcBef>
              <a:spcAft>
                <a:spcPts val="0"/>
              </a:spcAft>
              <a:buSzPts val="1150"/>
              <a:buFont typeface="Verdana"/>
              <a:buChar char="■"/>
              <a:defRPr sz="1150">
                <a:latin typeface="Verdana"/>
                <a:ea typeface="Verdana"/>
                <a:cs typeface="Verdana"/>
                <a:sym typeface="Verdana"/>
              </a:defRPr>
            </a:lvl3pPr>
            <a:lvl4pPr marL="1828800" lvl="3" indent="-301625" rtl="0">
              <a:spcBef>
                <a:spcPts val="1600"/>
              </a:spcBef>
              <a:spcAft>
                <a:spcPts val="0"/>
              </a:spcAft>
              <a:buSzPts val="1150"/>
              <a:buFont typeface="Verdana"/>
              <a:buChar char="●"/>
              <a:defRPr sz="1150">
                <a:latin typeface="Verdana"/>
                <a:ea typeface="Verdana"/>
                <a:cs typeface="Verdana"/>
                <a:sym typeface="Verdana"/>
              </a:defRPr>
            </a:lvl4pPr>
            <a:lvl5pPr marL="2286000" lvl="4" indent="-301625" rtl="0">
              <a:spcBef>
                <a:spcPts val="1600"/>
              </a:spcBef>
              <a:spcAft>
                <a:spcPts val="0"/>
              </a:spcAft>
              <a:buSzPts val="1150"/>
              <a:buFont typeface="Verdana"/>
              <a:buChar char="○"/>
              <a:defRPr sz="1150">
                <a:latin typeface="Verdana"/>
                <a:ea typeface="Verdana"/>
                <a:cs typeface="Verdana"/>
                <a:sym typeface="Verdana"/>
              </a:defRPr>
            </a:lvl5pPr>
            <a:lvl6pPr marL="2743200" lvl="5" indent="-301625" rtl="0">
              <a:spcBef>
                <a:spcPts val="1600"/>
              </a:spcBef>
              <a:spcAft>
                <a:spcPts val="0"/>
              </a:spcAft>
              <a:buSzPts val="1150"/>
              <a:buFont typeface="Verdana"/>
              <a:buChar char="■"/>
              <a:defRPr sz="1150">
                <a:latin typeface="Verdana"/>
                <a:ea typeface="Verdana"/>
                <a:cs typeface="Verdana"/>
                <a:sym typeface="Verdana"/>
              </a:defRPr>
            </a:lvl6pPr>
            <a:lvl7pPr marL="3200400" lvl="6" indent="-301625" rtl="0">
              <a:spcBef>
                <a:spcPts val="1600"/>
              </a:spcBef>
              <a:spcAft>
                <a:spcPts val="0"/>
              </a:spcAft>
              <a:buSzPts val="1150"/>
              <a:buFont typeface="Verdana"/>
              <a:buChar char="●"/>
              <a:defRPr sz="1150">
                <a:latin typeface="Verdana"/>
                <a:ea typeface="Verdana"/>
                <a:cs typeface="Verdana"/>
                <a:sym typeface="Verdana"/>
              </a:defRPr>
            </a:lvl7pPr>
            <a:lvl8pPr marL="3657600" lvl="7" indent="-301625" rtl="0">
              <a:spcBef>
                <a:spcPts val="1600"/>
              </a:spcBef>
              <a:spcAft>
                <a:spcPts val="0"/>
              </a:spcAft>
              <a:buSzPts val="1150"/>
              <a:buFont typeface="Verdana"/>
              <a:buChar char="○"/>
              <a:defRPr sz="1150">
                <a:latin typeface="Verdana"/>
                <a:ea typeface="Verdana"/>
                <a:cs typeface="Verdana"/>
                <a:sym typeface="Verdana"/>
              </a:defRPr>
            </a:lvl8pPr>
            <a:lvl9pPr marL="4114800" lvl="8" indent="-301625" rtl="0">
              <a:spcBef>
                <a:spcPts val="1600"/>
              </a:spcBef>
              <a:spcAft>
                <a:spcPts val="1600"/>
              </a:spcAft>
              <a:buSzPts val="1150"/>
              <a:buFont typeface="Verdana"/>
              <a:buChar char="■"/>
              <a:defRPr sz="1150">
                <a:latin typeface="Verdana"/>
                <a:ea typeface="Verdana"/>
                <a:cs typeface="Verdana"/>
                <a:sym typeface="Verdana"/>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Page"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19" name="Google Shape;19;p3"/>
          <p:cNvPicPr preferRelativeResize="0"/>
          <p:nvPr/>
        </p:nvPicPr>
        <p:blipFill>
          <a:blip r:embed="rId2">
            <a:alphaModFix/>
          </a:blip>
          <a:stretch>
            <a:fillRect/>
          </a:stretch>
        </p:blipFill>
        <p:spPr>
          <a:xfrm>
            <a:off x="0" y="0"/>
            <a:ext cx="9144000" cy="7315200"/>
          </a:xfrm>
          <a:prstGeom prst="rect">
            <a:avLst/>
          </a:prstGeom>
          <a:noFill/>
          <a:ln>
            <a:noFill/>
          </a:ln>
        </p:spPr>
      </p:pic>
      <p:sp>
        <p:nvSpPr>
          <p:cNvPr id="20" name="Google Shape;20;p3"/>
          <p:cNvSpPr txBox="1"/>
          <p:nvPr/>
        </p:nvSpPr>
        <p:spPr>
          <a:xfrm>
            <a:off x="1677300" y="641316"/>
            <a:ext cx="5789400" cy="1195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700" b="1">
                <a:solidFill>
                  <a:srgbClr val="FFFFFF"/>
                </a:solidFill>
              </a:rPr>
              <a:t>Marketing Solutions</a:t>
            </a:r>
            <a:endParaRPr sz="3700" b="1">
              <a:solidFill>
                <a:srgbClr val="FFFFFF"/>
              </a:solidFill>
            </a:endParaRPr>
          </a:p>
        </p:txBody>
      </p:sp>
      <p:sp>
        <p:nvSpPr>
          <p:cNvPr id="21" name="Google Shape;21;p3"/>
          <p:cNvSpPr txBox="1"/>
          <p:nvPr/>
        </p:nvSpPr>
        <p:spPr>
          <a:xfrm>
            <a:off x="1677300" y="1586133"/>
            <a:ext cx="5789400" cy="70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FFFFFF"/>
                </a:solidFill>
              </a:rPr>
              <a:t>Summary, Conclusions, and Recommendations</a:t>
            </a:r>
            <a:endParaRPr b="1">
              <a:solidFill>
                <a:srgbClr val="FFFFFF"/>
              </a:solidFill>
            </a:endParaRPr>
          </a:p>
        </p:txBody>
      </p:sp>
      <p:sp>
        <p:nvSpPr>
          <p:cNvPr id="22" name="Google Shape;22;p3"/>
          <p:cNvSpPr/>
          <p:nvPr/>
        </p:nvSpPr>
        <p:spPr>
          <a:xfrm>
            <a:off x="358500" y="2461653"/>
            <a:ext cx="8427000" cy="45414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endParaRPr sz="2800">
              <a:solidFill>
                <a:srgbClr val="4E5E53"/>
              </a:solidFill>
            </a:endParaRPr>
          </a:p>
        </p:txBody>
      </p:sp>
      <p:sp>
        <p:nvSpPr>
          <p:cNvPr id="23" name="Google Shape;23;p3"/>
          <p:cNvSpPr txBox="1"/>
          <p:nvPr/>
        </p:nvSpPr>
        <p:spPr>
          <a:xfrm>
            <a:off x="598500" y="6457251"/>
            <a:ext cx="7947000" cy="435000"/>
          </a:xfrm>
          <a:prstGeom prst="rect">
            <a:avLst/>
          </a:prstGeom>
          <a:noFill/>
          <a:ln>
            <a:noFill/>
          </a:ln>
        </p:spPr>
        <p:txBody>
          <a:bodyPr spcFirstLastPara="1" wrap="square" lIns="91425" tIns="91425" rIns="91425" bIns="91425" anchor="ctr" anchorCtr="0">
            <a:noAutofit/>
          </a:bodyPr>
          <a:lstStyle/>
          <a:p>
            <a:pPr marL="0" lvl="0" indent="0" algn="l" rtl="0">
              <a:lnSpc>
                <a:spcPct val="95000"/>
              </a:lnSpc>
              <a:spcBef>
                <a:spcPts val="0"/>
              </a:spcBef>
              <a:spcAft>
                <a:spcPts val="0"/>
              </a:spcAft>
              <a:buNone/>
            </a:pPr>
            <a:r>
              <a:rPr lang="en" sz="700"/>
              <a:t>Copyright © 1984-2021 Executive Decision Systems, Inc. and The Guld Resource Group, LLC.  The data, formulas, and other content in these materials are the property of Executive Decision Systems, Inc. and The Guld Resource Group, LLC and are protected by copyright and other intellectual property laws.  No part of these materials may be reproduced, distributed, or used in any way without a license agreement or other written consent of The Guld Resource Group, LLC permitting such use.  All rights reserved.  To report violations, please call (804) 356-7006.</a:t>
            </a:r>
            <a:endParaRPr sz="700"/>
          </a:p>
        </p:txBody>
      </p:sp>
      <p:sp>
        <p:nvSpPr>
          <p:cNvPr id="24" name="Google Shape;24;p3"/>
          <p:cNvSpPr txBox="1"/>
          <p:nvPr/>
        </p:nvSpPr>
        <p:spPr>
          <a:xfrm>
            <a:off x="598500" y="2952325"/>
            <a:ext cx="3000000" cy="559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800" b="1"/>
              <a:t>Presented To:</a:t>
            </a:r>
            <a:endParaRPr sz="2800" b="1"/>
          </a:p>
        </p:txBody>
      </p:sp>
      <p:sp>
        <p:nvSpPr>
          <p:cNvPr id="25" name="Google Shape;25;p3"/>
          <p:cNvSpPr txBox="1"/>
          <p:nvPr/>
        </p:nvSpPr>
        <p:spPr>
          <a:xfrm>
            <a:off x="676500" y="4782260"/>
            <a:ext cx="2844000" cy="559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800" b="1"/>
              <a:t>Presented By:</a:t>
            </a:r>
            <a:endParaRPr sz="2800" b="1"/>
          </a:p>
        </p:txBody>
      </p:sp>
      <p:sp>
        <p:nvSpPr>
          <p:cNvPr id="26" name="Google Shape;26;p3"/>
          <p:cNvSpPr txBox="1">
            <a:spLocks noGrp="1"/>
          </p:cNvSpPr>
          <p:nvPr>
            <p:ph type="subTitle" idx="1"/>
          </p:nvPr>
        </p:nvSpPr>
        <p:spPr>
          <a:xfrm>
            <a:off x="2634000" y="3533551"/>
            <a:ext cx="3876000" cy="559800"/>
          </a:xfrm>
          <a:prstGeom prst="rect">
            <a:avLst/>
          </a:prstGeom>
        </p:spPr>
        <p:txBody>
          <a:bodyPr spcFirstLastPara="1" wrap="square" lIns="91425" tIns="91425" rIns="91425" bIns="91425" anchor="t" anchorCtr="0">
            <a:noAutofit/>
          </a:bodyPr>
          <a:lstStyle>
            <a:lvl1pPr lvl="0" algn="ctr">
              <a:spcBef>
                <a:spcPts val="0"/>
              </a:spcBef>
              <a:spcAft>
                <a:spcPts val="0"/>
              </a:spcAft>
              <a:buClr>
                <a:srgbClr val="000000"/>
              </a:buClr>
              <a:buSzPts val="1800"/>
              <a:buNone/>
              <a:defRPr b="1">
                <a:solidFill>
                  <a:srgbClr val="000000"/>
                </a:solidFill>
              </a:defRPr>
            </a:lvl1pPr>
            <a:lvl2pPr lvl="1" algn="ctr">
              <a:spcBef>
                <a:spcPts val="1600"/>
              </a:spcBef>
              <a:spcAft>
                <a:spcPts val="0"/>
              </a:spcAft>
              <a:buClr>
                <a:srgbClr val="000000"/>
              </a:buClr>
              <a:buSzPts val="1800"/>
              <a:buNone/>
              <a:defRPr sz="1800" b="1">
                <a:solidFill>
                  <a:srgbClr val="000000"/>
                </a:solidFill>
              </a:defRPr>
            </a:lvl2pPr>
            <a:lvl3pPr lvl="2" algn="ctr">
              <a:spcBef>
                <a:spcPts val="1600"/>
              </a:spcBef>
              <a:spcAft>
                <a:spcPts val="0"/>
              </a:spcAft>
              <a:buClr>
                <a:srgbClr val="000000"/>
              </a:buClr>
              <a:buSzPts val="1800"/>
              <a:buNone/>
              <a:defRPr sz="1800" b="1">
                <a:solidFill>
                  <a:srgbClr val="000000"/>
                </a:solidFill>
              </a:defRPr>
            </a:lvl3pPr>
            <a:lvl4pPr lvl="3" algn="ctr">
              <a:spcBef>
                <a:spcPts val="1600"/>
              </a:spcBef>
              <a:spcAft>
                <a:spcPts val="0"/>
              </a:spcAft>
              <a:buClr>
                <a:srgbClr val="000000"/>
              </a:buClr>
              <a:buSzPts val="1800"/>
              <a:buNone/>
              <a:defRPr sz="1800" b="1">
                <a:solidFill>
                  <a:srgbClr val="000000"/>
                </a:solidFill>
              </a:defRPr>
            </a:lvl4pPr>
            <a:lvl5pPr lvl="4" algn="ctr">
              <a:spcBef>
                <a:spcPts val="1600"/>
              </a:spcBef>
              <a:spcAft>
                <a:spcPts val="0"/>
              </a:spcAft>
              <a:buClr>
                <a:srgbClr val="000000"/>
              </a:buClr>
              <a:buSzPts val="1800"/>
              <a:buNone/>
              <a:defRPr sz="1800" b="1">
                <a:solidFill>
                  <a:srgbClr val="000000"/>
                </a:solidFill>
              </a:defRPr>
            </a:lvl5pPr>
            <a:lvl6pPr lvl="5" algn="ctr">
              <a:spcBef>
                <a:spcPts val="1600"/>
              </a:spcBef>
              <a:spcAft>
                <a:spcPts val="0"/>
              </a:spcAft>
              <a:buClr>
                <a:srgbClr val="000000"/>
              </a:buClr>
              <a:buSzPts val="1800"/>
              <a:buNone/>
              <a:defRPr sz="1800" b="1">
                <a:solidFill>
                  <a:srgbClr val="000000"/>
                </a:solidFill>
              </a:defRPr>
            </a:lvl6pPr>
            <a:lvl7pPr lvl="6" algn="ctr">
              <a:spcBef>
                <a:spcPts val="1600"/>
              </a:spcBef>
              <a:spcAft>
                <a:spcPts val="0"/>
              </a:spcAft>
              <a:buClr>
                <a:srgbClr val="000000"/>
              </a:buClr>
              <a:buSzPts val="1800"/>
              <a:buNone/>
              <a:defRPr sz="1800" b="1">
                <a:solidFill>
                  <a:srgbClr val="000000"/>
                </a:solidFill>
              </a:defRPr>
            </a:lvl7pPr>
            <a:lvl8pPr lvl="7" algn="ctr">
              <a:spcBef>
                <a:spcPts val="1600"/>
              </a:spcBef>
              <a:spcAft>
                <a:spcPts val="0"/>
              </a:spcAft>
              <a:buClr>
                <a:srgbClr val="000000"/>
              </a:buClr>
              <a:buSzPts val="1800"/>
              <a:buNone/>
              <a:defRPr sz="1800" b="1">
                <a:solidFill>
                  <a:srgbClr val="000000"/>
                </a:solidFill>
              </a:defRPr>
            </a:lvl8pPr>
            <a:lvl9pPr lvl="8" algn="ctr">
              <a:spcBef>
                <a:spcPts val="1600"/>
              </a:spcBef>
              <a:spcAft>
                <a:spcPts val="1600"/>
              </a:spcAft>
              <a:buClr>
                <a:srgbClr val="000000"/>
              </a:buClr>
              <a:buSzPts val="1800"/>
              <a:buNone/>
              <a:defRPr sz="1800" b="1">
                <a:solidFill>
                  <a:srgbClr val="000000"/>
                </a:solidFill>
              </a:defRPr>
            </a:lvl9pPr>
          </a:lstStyle>
          <a:p>
            <a:endParaRPr/>
          </a:p>
        </p:txBody>
      </p:sp>
      <p:sp>
        <p:nvSpPr>
          <p:cNvPr id="27" name="Google Shape;27;p3"/>
          <p:cNvSpPr txBox="1">
            <a:spLocks noGrp="1"/>
          </p:cNvSpPr>
          <p:nvPr>
            <p:ph type="subTitle" idx="2"/>
          </p:nvPr>
        </p:nvSpPr>
        <p:spPr>
          <a:xfrm>
            <a:off x="2634000" y="3996734"/>
            <a:ext cx="3876000" cy="55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1800"/>
              <a:buNone/>
              <a:defRPr b="1">
                <a:solidFill>
                  <a:srgbClr val="000000"/>
                </a:solidFill>
              </a:defRPr>
            </a:lvl1pPr>
            <a:lvl2pPr lvl="1" algn="ctr" rtl="0">
              <a:spcBef>
                <a:spcPts val="1600"/>
              </a:spcBef>
              <a:spcAft>
                <a:spcPts val="0"/>
              </a:spcAft>
              <a:buClr>
                <a:srgbClr val="000000"/>
              </a:buClr>
              <a:buSzPts val="1800"/>
              <a:buNone/>
              <a:defRPr sz="1800" b="1">
                <a:solidFill>
                  <a:srgbClr val="000000"/>
                </a:solidFill>
              </a:defRPr>
            </a:lvl2pPr>
            <a:lvl3pPr lvl="2" algn="ctr" rtl="0">
              <a:spcBef>
                <a:spcPts val="1600"/>
              </a:spcBef>
              <a:spcAft>
                <a:spcPts val="0"/>
              </a:spcAft>
              <a:buClr>
                <a:srgbClr val="000000"/>
              </a:buClr>
              <a:buSzPts val="1800"/>
              <a:buNone/>
              <a:defRPr sz="1800" b="1">
                <a:solidFill>
                  <a:srgbClr val="000000"/>
                </a:solidFill>
              </a:defRPr>
            </a:lvl3pPr>
            <a:lvl4pPr lvl="3" algn="ctr" rtl="0">
              <a:spcBef>
                <a:spcPts val="1600"/>
              </a:spcBef>
              <a:spcAft>
                <a:spcPts val="0"/>
              </a:spcAft>
              <a:buClr>
                <a:srgbClr val="000000"/>
              </a:buClr>
              <a:buSzPts val="1800"/>
              <a:buNone/>
              <a:defRPr sz="1800" b="1">
                <a:solidFill>
                  <a:srgbClr val="000000"/>
                </a:solidFill>
              </a:defRPr>
            </a:lvl4pPr>
            <a:lvl5pPr lvl="4" algn="ctr" rtl="0">
              <a:spcBef>
                <a:spcPts val="1600"/>
              </a:spcBef>
              <a:spcAft>
                <a:spcPts val="0"/>
              </a:spcAft>
              <a:buClr>
                <a:srgbClr val="000000"/>
              </a:buClr>
              <a:buSzPts val="1800"/>
              <a:buNone/>
              <a:defRPr sz="1800" b="1">
                <a:solidFill>
                  <a:srgbClr val="000000"/>
                </a:solidFill>
              </a:defRPr>
            </a:lvl5pPr>
            <a:lvl6pPr lvl="5" algn="ctr" rtl="0">
              <a:spcBef>
                <a:spcPts val="1600"/>
              </a:spcBef>
              <a:spcAft>
                <a:spcPts val="0"/>
              </a:spcAft>
              <a:buClr>
                <a:srgbClr val="000000"/>
              </a:buClr>
              <a:buSzPts val="1800"/>
              <a:buNone/>
              <a:defRPr sz="1800" b="1">
                <a:solidFill>
                  <a:srgbClr val="000000"/>
                </a:solidFill>
              </a:defRPr>
            </a:lvl6pPr>
            <a:lvl7pPr lvl="6" algn="ctr" rtl="0">
              <a:spcBef>
                <a:spcPts val="1600"/>
              </a:spcBef>
              <a:spcAft>
                <a:spcPts val="0"/>
              </a:spcAft>
              <a:buClr>
                <a:srgbClr val="000000"/>
              </a:buClr>
              <a:buSzPts val="1800"/>
              <a:buNone/>
              <a:defRPr sz="1800" b="1">
                <a:solidFill>
                  <a:srgbClr val="000000"/>
                </a:solidFill>
              </a:defRPr>
            </a:lvl7pPr>
            <a:lvl8pPr lvl="7" algn="ctr" rtl="0">
              <a:spcBef>
                <a:spcPts val="1600"/>
              </a:spcBef>
              <a:spcAft>
                <a:spcPts val="0"/>
              </a:spcAft>
              <a:buClr>
                <a:srgbClr val="000000"/>
              </a:buClr>
              <a:buSzPts val="1800"/>
              <a:buNone/>
              <a:defRPr sz="1800" b="1">
                <a:solidFill>
                  <a:srgbClr val="000000"/>
                </a:solidFill>
              </a:defRPr>
            </a:lvl8pPr>
            <a:lvl9pPr lvl="8" algn="ctr" rtl="0">
              <a:spcBef>
                <a:spcPts val="1600"/>
              </a:spcBef>
              <a:spcAft>
                <a:spcPts val="1600"/>
              </a:spcAft>
              <a:buClr>
                <a:srgbClr val="000000"/>
              </a:buClr>
              <a:buSzPts val="1800"/>
              <a:buNone/>
              <a:defRPr sz="1800" b="1">
                <a:solidFill>
                  <a:srgbClr val="000000"/>
                </a:solidFill>
              </a:defRPr>
            </a:lvl9pPr>
          </a:lstStyle>
          <a:p>
            <a:endParaRPr/>
          </a:p>
        </p:txBody>
      </p:sp>
      <p:sp>
        <p:nvSpPr>
          <p:cNvPr id="28" name="Google Shape;28;p3"/>
          <p:cNvSpPr txBox="1">
            <a:spLocks noGrp="1"/>
          </p:cNvSpPr>
          <p:nvPr>
            <p:ph type="subTitle" idx="3"/>
          </p:nvPr>
        </p:nvSpPr>
        <p:spPr>
          <a:xfrm>
            <a:off x="2634000" y="5284021"/>
            <a:ext cx="3876000" cy="55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1800"/>
              <a:buNone/>
              <a:defRPr b="1">
                <a:solidFill>
                  <a:srgbClr val="000000"/>
                </a:solidFill>
              </a:defRPr>
            </a:lvl1pPr>
            <a:lvl2pPr lvl="1" algn="ctr" rtl="0">
              <a:spcBef>
                <a:spcPts val="1600"/>
              </a:spcBef>
              <a:spcAft>
                <a:spcPts val="0"/>
              </a:spcAft>
              <a:buClr>
                <a:srgbClr val="000000"/>
              </a:buClr>
              <a:buSzPts val="1800"/>
              <a:buNone/>
              <a:defRPr sz="1800" b="1">
                <a:solidFill>
                  <a:srgbClr val="000000"/>
                </a:solidFill>
              </a:defRPr>
            </a:lvl2pPr>
            <a:lvl3pPr lvl="2" algn="ctr" rtl="0">
              <a:spcBef>
                <a:spcPts val="1600"/>
              </a:spcBef>
              <a:spcAft>
                <a:spcPts val="0"/>
              </a:spcAft>
              <a:buClr>
                <a:srgbClr val="000000"/>
              </a:buClr>
              <a:buSzPts val="1800"/>
              <a:buNone/>
              <a:defRPr sz="1800" b="1">
                <a:solidFill>
                  <a:srgbClr val="000000"/>
                </a:solidFill>
              </a:defRPr>
            </a:lvl3pPr>
            <a:lvl4pPr lvl="3" algn="ctr" rtl="0">
              <a:spcBef>
                <a:spcPts val="1600"/>
              </a:spcBef>
              <a:spcAft>
                <a:spcPts val="0"/>
              </a:spcAft>
              <a:buClr>
                <a:srgbClr val="000000"/>
              </a:buClr>
              <a:buSzPts val="1800"/>
              <a:buNone/>
              <a:defRPr sz="1800" b="1">
                <a:solidFill>
                  <a:srgbClr val="000000"/>
                </a:solidFill>
              </a:defRPr>
            </a:lvl4pPr>
            <a:lvl5pPr lvl="4" algn="ctr" rtl="0">
              <a:spcBef>
                <a:spcPts val="1600"/>
              </a:spcBef>
              <a:spcAft>
                <a:spcPts val="0"/>
              </a:spcAft>
              <a:buClr>
                <a:srgbClr val="000000"/>
              </a:buClr>
              <a:buSzPts val="1800"/>
              <a:buNone/>
              <a:defRPr sz="1800" b="1">
                <a:solidFill>
                  <a:srgbClr val="000000"/>
                </a:solidFill>
              </a:defRPr>
            </a:lvl5pPr>
            <a:lvl6pPr lvl="5" algn="ctr" rtl="0">
              <a:spcBef>
                <a:spcPts val="1600"/>
              </a:spcBef>
              <a:spcAft>
                <a:spcPts val="0"/>
              </a:spcAft>
              <a:buClr>
                <a:srgbClr val="000000"/>
              </a:buClr>
              <a:buSzPts val="1800"/>
              <a:buNone/>
              <a:defRPr sz="1800" b="1">
                <a:solidFill>
                  <a:srgbClr val="000000"/>
                </a:solidFill>
              </a:defRPr>
            </a:lvl6pPr>
            <a:lvl7pPr lvl="6" algn="ctr" rtl="0">
              <a:spcBef>
                <a:spcPts val="1600"/>
              </a:spcBef>
              <a:spcAft>
                <a:spcPts val="0"/>
              </a:spcAft>
              <a:buClr>
                <a:srgbClr val="000000"/>
              </a:buClr>
              <a:buSzPts val="1800"/>
              <a:buNone/>
              <a:defRPr sz="1800" b="1">
                <a:solidFill>
                  <a:srgbClr val="000000"/>
                </a:solidFill>
              </a:defRPr>
            </a:lvl7pPr>
            <a:lvl8pPr lvl="7" algn="ctr" rtl="0">
              <a:spcBef>
                <a:spcPts val="1600"/>
              </a:spcBef>
              <a:spcAft>
                <a:spcPts val="0"/>
              </a:spcAft>
              <a:buClr>
                <a:srgbClr val="000000"/>
              </a:buClr>
              <a:buSzPts val="1800"/>
              <a:buNone/>
              <a:defRPr sz="1800" b="1">
                <a:solidFill>
                  <a:srgbClr val="000000"/>
                </a:solidFill>
              </a:defRPr>
            </a:lvl8pPr>
            <a:lvl9pPr lvl="8" algn="ctr" rtl="0">
              <a:spcBef>
                <a:spcPts val="1600"/>
              </a:spcBef>
              <a:spcAft>
                <a:spcPts val="1600"/>
              </a:spcAft>
              <a:buClr>
                <a:srgbClr val="000000"/>
              </a:buClr>
              <a:buSzPts val="1800"/>
              <a:buNone/>
              <a:defRPr sz="1800" b="1">
                <a:solidFill>
                  <a:srgbClr val="000000"/>
                </a:solidFill>
              </a:defRPr>
            </a:lvl9pPr>
          </a:lstStyle>
          <a:p>
            <a:endParaRPr/>
          </a:p>
        </p:txBody>
      </p:sp>
      <p:sp>
        <p:nvSpPr>
          <p:cNvPr id="29" name="Google Shape;29;p3"/>
          <p:cNvSpPr txBox="1">
            <a:spLocks noGrp="1"/>
          </p:cNvSpPr>
          <p:nvPr>
            <p:ph type="subTitle" idx="4"/>
          </p:nvPr>
        </p:nvSpPr>
        <p:spPr>
          <a:xfrm>
            <a:off x="2634000" y="5696446"/>
            <a:ext cx="3876000" cy="55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1800"/>
              <a:buNone/>
              <a:defRPr b="1">
                <a:solidFill>
                  <a:srgbClr val="000000"/>
                </a:solidFill>
              </a:defRPr>
            </a:lvl1pPr>
            <a:lvl2pPr lvl="1" algn="ctr" rtl="0">
              <a:spcBef>
                <a:spcPts val="1600"/>
              </a:spcBef>
              <a:spcAft>
                <a:spcPts val="0"/>
              </a:spcAft>
              <a:buClr>
                <a:srgbClr val="000000"/>
              </a:buClr>
              <a:buSzPts val="1800"/>
              <a:buNone/>
              <a:defRPr sz="1800" b="1">
                <a:solidFill>
                  <a:srgbClr val="000000"/>
                </a:solidFill>
              </a:defRPr>
            </a:lvl2pPr>
            <a:lvl3pPr lvl="2" algn="ctr" rtl="0">
              <a:spcBef>
                <a:spcPts val="1600"/>
              </a:spcBef>
              <a:spcAft>
                <a:spcPts val="0"/>
              </a:spcAft>
              <a:buClr>
                <a:srgbClr val="000000"/>
              </a:buClr>
              <a:buSzPts val="1800"/>
              <a:buNone/>
              <a:defRPr sz="1800" b="1">
                <a:solidFill>
                  <a:srgbClr val="000000"/>
                </a:solidFill>
              </a:defRPr>
            </a:lvl3pPr>
            <a:lvl4pPr lvl="3" algn="ctr" rtl="0">
              <a:spcBef>
                <a:spcPts val="1600"/>
              </a:spcBef>
              <a:spcAft>
                <a:spcPts val="0"/>
              </a:spcAft>
              <a:buClr>
                <a:srgbClr val="000000"/>
              </a:buClr>
              <a:buSzPts val="1800"/>
              <a:buNone/>
              <a:defRPr sz="1800" b="1">
                <a:solidFill>
                  <a:srgbClr val="000000"/>
                </a:solidFill>
              </a:defRPr>
            </a:lvl4pPr>
            <a:lvl5pPr lvl="4" algn="ctr" rtl="0">
              <a:spcBef>
                <a:spcPts val="1600"/>
              </a:spcBef>
              <a:spcAft>
                <a:spcPts val="0"/>
              </a:spcAft>
              <a:buClr>
                <a:srgbClr val="000000"/>
              </a:buClr>
              <a:buSzPts val="1800"/>
              <a:buNone/>
              <a:defRPr sz="1800" b="1">
                <a:solidFill>
                  <a:srgbClr val="000000"/>
                </a:solidFill>
              </a:defRPr>
            </a:lvl5pPr>
            <a:lvl6pPr lvl="5" algn="ctr" rtl="0">
              <a:spcBef>
                <a:spcPts val="1600"/>
              </a:spcBef>
              <a:spcAft>
                <a:spcPts val="0"/>
              </a:spcAft>
              <a:buClr>
                <a:srgbClr val="000000"/>
              </a:buClr>
              <a:buSzPts val="1800"/>
              <a:buNone/>
              <a:defRPr sz="1800" b="1">
                <a:solidFill>
                  <a:srgbClr val="000000"/>
                </a:solidFill>
              </a:defRPr>
            </a:lvl6pPr>
            <a:lvl7pPr lvl="6" algn="ctr" rtl="0">
              <a:spcBef>
                <a:spcPts val="1600"/>
              </a:spcBef>
              <a:spcAft>
                <a:spcPts val="0"/>
              </a:spcAft>
              <a:buClr>
                <a:srgbClr val="000000"/>
              </a:buClr>
              <a:buSzPts val="1800"/>
              <a:buNone/>
              <a:defRPr sz="1800" b="1">
                <a:solidFill>
                  <a:srgbClr val="000000"/>
                </a:solidFill>
              </a:defRPr>
            </a:lvl7pPr>
            <a:lvl8pPr lvl="7" algn="ctr" rtl="0">
              <a:spcBef>
                <a:spcPts val="1600"/>
              </a:spcBef>
              <a:spcAft>
                <a:spcPts val="0"/>
              </a:spcAft>
              <a:buClr>
                <a:srgbClr val="000000"/>
              </a:buClr>
              <a:buSzPts val="1800"/>
              <a:buNone/>
              <a:defRPr sz="1800" b="1">
                <a:solidFill>
                  <a:srgbClr val="000000"/>
                </a:solidFill>
              </a:defRPr>
            </a:lvl8pPr>
            <a:lvl9pPr lvl="8" algn="ctr" rtl="0">
              <a:spcBef>
                <a:spcPts val="1600"/>
              </a:spcBef>
              <a:spcAft>
                <a:spcPts val="1600"/>
              </a:spcAft>
              <a:buClr>
                <a:srgbClr val="000000"/>
              </a:buClr>
              <a:buSzPts val="1800"/>
              <a:buNone/>
              <a:defRPr sz="1800" b="1">
                <a:solidFill>
                  <a:srgbClr val="000000"/>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x">
  <p:cSld name="TITLE_AND_BODY">
    <p:spTree>
      <p:nvGrpSpPr>
        <p:cNvPr id="1" name="Shape 30"/>
        <p:cNvGrpSpPr/>
        <p:nvPr/>
      </p:nvGrpSpPr>
      <p:grpSpPr>
        <a:xfrm>
          <a:off x="0" y="0"/>
          <a:ext cx="0" cy="0"/>
          <a:chOff x="0" y="0"/>
          <a:chExt cx="0" cy="0"/>
        </a:xfrm>
      </p:grpSpPr>
      <p:sp>
        <p:nvSpPr>
          <p:cNvPr id="31" name="Google Shape;31;p4"/>
          <p:cNvSpPr txBox="1">
            <a:spLocks noGrp="1"/>
          </p:cNvSpPr>
          <p:nvPr>
            <p:ph type="title"/>
          </p:nvPr>
        </p:nvSpPr>
        <p:spPr>
          <a:xfrm>
            <a:off x="694944" y="475488"/>
            <a:ext cx="7754100" cy="694800"/>
          </a:xfrm>
          <a:prstGeom prst="rect">
            <a:avLst/>
          </a:prstGeom>
        </p:spPr>
        <p:txBody>
          <a:bodyPr spcFirstLastPara="1" wrap="square" lIns="91425" tIns="91425" rIns="91425" bIns="91425" anchor="ctr" anchorCtr="0">
            <a:noAutofit/>
          </a:bodyPr>
          <a:lstStyle>
            <a:lvl1pPr lvl="0" algn="ctr">
              <a:spcBef>
                <a:spcPts val="0"/>
              </a:spcBef>
              <a:spcAft>
                <a:spcPts val="0"/>
              </a:spcAft>
              <a:buSzPts val="4000"/>
              <a:buNone/>
              <a:defRPr sz="4000" b="1"/>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
        <p:nvSpPr>
          <p:cNvPr id="32" name="Google Shape;32;p4"/>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4"/>
          <p:cNvSpPr txBox="1">
            <a:spLocks noGrp="1"/>
          </p:cNvSpPr>
          <p:nvPr>
            <p:ph type="body" idx="1"/>
          </p:nvPr>
        </p:nvSpPr>
        <p:spPr>
          <a:xfrm>
            <a:off x="457200" y="1490773"/>
            <a:ext cx="3595500" cy="51414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SzPts val="1100"/>
              <a:buFont typeface="Verdana"/>
              <a:buChar char="●"/>
              <a:defRPr sz="1100">
                <a:latin typeface="Verdana"/>
                <a:ea typeface="Verdana"/>
                <a:cs typeface="Verdana"/>
                <a:sym typeface="Verdana"/>
              </a:defRPr>
            </a:lvl1pPr>
            <a:lvl2pPr marL="914400" lvl="1" indent="-298450">
              <a:spcBef>
                <a:spcPts val="1600"/>
              </a:spcBef>
              <a:spcAft>
                <a:spcPts val="0"/>
              </a:spcAft>
              <a:buSzPts val="1100"/>
              <a:buFont typeface="Verdana"/>
              <a:buChar char="○"/>
              <a:defRPr sz="1100">
                <a:latin typeface="Verdana"/>
                <a:ea typeface="Verdana"/>
                <a:cs typeface="Verdana"/>
                <a:sym typeface="Verdana"/>
              </a:defRPr>
            </a:lvl2pPr>
            <a:lvl3pPr marL="1371600" lvl="2" indent="-298450">
              <a:spcBef>
                <a:spcPts val="1600"/>
              </a:spcBef>
              <a:spcAft>
                <a:spcPts val="0"/>
              </a:spcAft>
              <a:buSzPts val="1100"/>
              <a:buFont typeface="Verdana"/>
              <a:buChar char="■"/>
              <a:defRPr sz="1100">
                <a:latin typeface="Verdana"/>
                <a:ea typeface="Verdana"/>
                <a:cs typeface="Verdana"/>
                <a:sym typeface="Verdana"/>
              </a:defRPr>
            </a:lvl3pPr>
            <a:lvl4pPr marL="1828800" lvl="3" indent="-298450">
              <a:spcBef>
                <a:spcPts val="1600"/>
              </a:spcBef>
              <a:spcAft>
                <a:spcPts val="0"/>
              </a:spcAft>
              <a:buSzPts val="1100"/>
              <a:buFont typeface="Verdana"/>
              <a:buChar char="●"/>
              <a:defRPr sz="1100">
                <a:latin typeface="Verdana"/>
                <a:ea typeface="Verdana"/>
                <a:cs typeface="Verdana"/>
                <a:sym typeface="Verdana"/>
              </a:defRPr>
            </a:lvl4pPr>
            <a:lvl5pPr marL="2286000" lvl="4" indent="-298450">
              <a:spcBef>
                <a:spcPts val="1600"/>
              </a:spcBef>
              <a:spcAft>
                <a:spcPts val="0"/>
              </a:spcAft>
              <a:buSzPts val="1100"/>
              <a:buFont typeface="Verdana"/>
              <a:buChar char="○"/>
              <a:defRPr sz="1100">
                <a:latin typeface="Verdana"/>
                <a:ea typeface="Verdana"/>
                <a:cs typeface="Verdana"/>
                <a:sym typeface="Verdana"/>
              </a:defRPr>
            </a:lvl5pPr>
            <a:lvl6pPr marL="2743200" lvl="5" indent="-298450">
              <a:spcBef>
                <a:spcPts val="1600"/>
              </a:spcBef>
              <a:spcAft>
                <a:spcPts val="0"/>
              </a:spcAft>
              <a:buSzPts val="1100"/>
              <a:buFont typeface="Verdana"/>
              <a:buChar char="■"/>
              <a:defRPr sz="1100">
                <a:latin typeface="Verdana"/>
                <a:ea typeface="Verdana"/>
                <a:cs typeface="Verdana"/>
                <a:sym typeface="Verdana"/>
              </a:defRPr>
            </a:lvl6pPr>
            <a:lvl7pPr marL="3200400" lvl="6" indent="-298450">
              <a:spcBef>
                <a:spcPts val="1600"/>
              </a:spcBef>
              <a:spcAft>
                <a:spcPts val="0"/>
              </a:spcAft>
              <a:buSzPts val="1100"/>
              <a:buFont typeface="Verdana"/>
              <a:buChar char="●"/>
              <a:defRPr sz="1100">
                <a:latin typeface="Verdana"/>
                <a:ea typeface="Verdana"/>
                <a:cs typeface="Verdana"/>
                <a:sym typeface="Verdana"/>
              </a:defRPr>
            </a:lvl7pPr>
            <a:lvl8pPr marL="3657600" lvl="7" indent="-298450">
              <a:spcBef>
                <a:spcPts val="1600"/>
              </a:spcBef>
              <a:spcAft>
                <a:spcPts val="0"/>
              </a:spcAft>
              <a:buSzPts val="1100"/>
              <a:buFont typeface="Verdana"/>
              <a:buChar char="○"/>
              <a:defRPr sz="1100">
                <a:latin typeface="Verdana"/>
                <a:ea typeface="Verdana"/>
                <a:cs typeface="Verdana"/>
                <a:sym typeface="Verdana"/>
              </a:defRPr>
            </a:lvl8pPr>
            <a:lvl9pPr marL="4114800" lvl="8" indent="-298450">
              <a:spcBef>
                <a:spcPts val="1600"/>
              </a:spcBef>
              <a:spcAft>
                <a:spcPts val="1600"/>
              </a:spcAft>
              <a:buSzPts val="1100"/>
              <a:buFont typeface="Verdana"/>
              <a:buChar char="■"/>
              <a:defRPr sz="1100">
                <a:latin typeface="Verdana"/>
                <a:ea typeface="Verdana"/>
                <a:cs typeface="Verdana"/>
                <a:sym typeface="Verdana"/>
              </a:defRPr>
            </a:lvl9pPr>
          </a:lstStyle>
          <a:p>
            <a:endParaRPr/>
          </a:p>
        </p:txBody>
      </p:sp>
      <p:sp>
        <p:nvSpPr>
          <p:cNvPr id="34" name="Google Shape;34;p4"/>
          <p:cNvSpPr txBox="1">
            <a:spLocks noGrp="1"/>
          </p:cNvSpPr>
          <p:nvPr>
            <p:ph type="body" idx="2"/>
          </p:nvPr>
        </p:nvSpPr>
        <p:spPr>
          <a:xfrm>
            <a:off x="5071325" y="1490773"/>
            <a:ext cx="3595500" cy="5141400"/>
          </a:xfrm>
          <a:prstGeom prst="rect">
            <a:avLst/>
          </a:prstGeom>
        </p:spPr>
        <p:txBody>
          <a:bodyPr spcFirstLastPara="1" wrap="square" lIns="91425" tIns="91425" rIns="91425" bIns="91425" anchor="t" anchorCtr="0">
            <a:noAutofit/>
          </a:bodyPr>
          <a:lstStyle>
            <a:lvl1pPr marL="457200" lvl="0" indent="-298450" rtl="0">
              <a:spcBef>
                <a:spcPts val="0"/>
              </a:spcBef>
              <a:spcAft>
                <a:spcPts val="0"/>
              </a:spcAft>
              <a:buSzPts val="1100"/>
              <a:buFont typeface="Verdana"/>
              <a:buChar char="●"/>
              <a:defRPr sz="1100">
                <a:latin typeface="Verdana"/>
                <a:ea typeface="Verdana"/>
                <a:cs typeface="Verdana"/>
                <a:sym typeface="Verdana"/>
              </a:defRPr>
            </a:lvl1pPr>
            <a:lvl2pPr marL="914400" lvl="1" indent="-298450" rtl="0">
              <a:spcBef>
                <a:spcPts val="1600"/>
              </a:spcBef>
              <a:spcAft>
                <a:spcPts val="0"/>
              </a:spcAft>
              <a:buSzPts val="1100"/>
              <a:buFont typeface="Verdana"/>
              <a:buChar char="○"/>
              <a:defRPr sz="1100">
                <a:latin typeface="Verdana"/>
                <a:ea typeface="Verdana"/>
                <a:cs typeface="Verdana"/>
                <a:sym typeface="Verdana"/>
              </a:defRPr>
            </a:lvl2pPr>
            <a:lvl3pPr marL="1371600" lvl="2" indent="-298450" rtl="0">
              <a:spcBef>
                <a:spcPts val="1600"/>
              </a:spcBef>
              <a:spcAft>
                <a:spcPts val="0"/>
              </a:spcAft>
              <a:buSzPts val="1100"/>
              <a:buFont typeface="Verdana"/>
              <a:buChar char="■"/>
              <a:defRPr sz="1100">
                <a:latin typeface="Verdana"/>
                <a:ea typeface="Verdana"/>
                <a:cs typeface="Verdana"/>
                <a:sym typeface="Verdana"/>
              </a:defRPr>
            </a:lvl3pPr>
            <a:lvl4pPr marL="1828800" lvl="3" indent="-298450" rtl="0">
              <a:spcBef>
                <a:spcPts val="1600"/>
              </a:spcBef>
              <a:spcAft>
                <a:spcPts val="0"/>
              </a:spcAft>
              <a:buSzPts val="1100"/>
              <a:buFont typeface="Verdana"/>
              <a:buChar char="●"/>
              <a:defRPr sz="1100">
                <a:latin typeface="Verdana"/>
                <a:ea typeface="Verdana"/>
                <a:cs typeface="Verdana"/>
                <a:sym typeface="Verdana"/>
              </a:defRPr>
            </a:lvl4pPr>
            <a:lvl5pPr marL="2286000" lvl="4" indent="-298450" rtl="0">
              <a:spcBef>
                <a:spcPts val="1600"/>
              </a:spcBef>
              <a:spcAft>
                <a:spcPts val="0"/>
              </a:spcAft>
              <a:buSzPts val="1100"/>
              <a:buFont typeface="Verdana"/>
              <a:buChar char="○"/>
              <a:defRPr sz="1100">
                <a:latin typeface="Verdana"/>
                <a:ea typeface="Verdana"/>
                <a:cs typeface="Verdana"/>
                <a:sym typeface="Verdana"/>
              </a:defRPr>
            </a:lvl5pPr>
            <a:lvl6pPr marL="2743200" lvl="5" indent="-298450" rtl="0">
              <a:spcBef>
                <a:spcPts val="1600"/>
              </a:spcBef>
              <a:spcAft>
                <a:spcPts val="0"/>
              </a:spcAft>
              <a:buSzPts val="1100"/>
              <a:buFont typeface="Verdana"/>
              <a:buChar char="■"/>
              <a:defRPr sz="1100">
                <a:latin typeface="Verdana"/>
                <a:ea typeface="Verdana"/>
                <a:cs typeface="Verdana"/>
                <a:sym typeface="Verdana"/>
              </a:defRPr>
            </a:lvl6pPr>
            <a:lvl7pPr marL="3200400" lvl="6" indent="-298450" rtl="0">
              <a:spcBef>
                <a:spcPts val="1600"/>
              </a:spcBef>
              <a:spcAft>
                <a:spcPts val="0"/>
              </a:spcAft>
              <a:buSzPts val="1100"/>
              <a:buFont typeface="Verdana"/>
              <a:buChar char="●"/>
              <a:defRPr sz="1100">
                <a:latin typeface="Verdana"/>
                <a:ea typeface="Verdana"/>
                <a:cs typeface="Verdana"/>
                <a:sym typeface="Verdana"/>
              </a:defRPr>
            </a:lvl7pPr>
            <a:lvl8pPr marL="3657600" lvl="7" indent="-298450" rtl="0">
              <a:spcBef>
                <a:spcPts val="1600"/>
              </a:spcBef>
              <a:spcAft>
                <a:spcPts val="0"/>
              </a:spcAft>
              <a:buSzPts val="1100"/>
              <a:buFont typeface="Verdana"/>
              <a:buChar char="○"/>
              <a:defRPr sz="1100">
                <a:latin typeface="Verdana"/>
                <a:ea typeface="Verdana"/>
                <a:cs typeface="Verdana"/>
                <a:sym typeface="Verdana"/>
              </a:defRPr>
            </a:lvl8pPr>
            <a:lvl9pPr marL="4114800" lvl="8" indent="-298450" rtl="0">
              <a:spcBef>
                <a:spcPts val="1600"/>
              </a:spcBef>
              <a:spcAft>
                <a:spcPts val="1600"/>
              </a:spcAft>
              <a:buSzPts val="1100"/>
              <a:buFont typeface="Verdana"/>
              <a:buChar char="■"/>
              <a:defRPr sz="1100">
                <a:latin typeface="Verdana"/>
                <a:ea typeface="Verdana"/>
                <a:cs typeface="Verdana"/>
                <a:sym typeface="Verdana"/>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woColTx">
  <p:cSld name="TITLE_AND_TWO_COLUMNS">
    <p:spTree>
      <p:nvGrpSpPr>
        <p:cNvPr id="1" name="Shape 35"/>
        <p:cNvGrpSpPr/>
        <p:nvPr/>
      </p:nvGrpSpPr>
      <p:grpSpPr>
        <a:xfrm>
          <a:off x="0" y="0"/>
          <a:ext cx="0" cy="0"/>
          <a:chOff x="0" y="0"/>
          <a:chExt cx="0" cy="0"/>
        </a:xfrm>
      </p:grpSpPr>
      <p:sp>
        <p:nvSpPr>
          <p:cNvPr id="36" name="Google Shape;36;p5"/>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7" name="Google Shape;37;p5"/>
          <p:cNvSpPr txBox="1">
            <a:spLocks noGrp="1"/>
          </p:cNvSpPr>
          <p:nvPr>
            <p:ph type="title"/>
          </p:nvPr>
        </p:nvSpPr>
        <p:spPr>
          <a:xfrm>
            <a:off x="694944" y="475488"/>
            <a:ext cx="7754100" cy="69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4000" b="1"/>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38" name="Google Shape;38;p5"/>
          <p:cNvSpPr txBox="1">
            <a:spLocks noGrp="1"/>
          </p:cNvSpPr>
          <p:nvPr>
            <p:ph type="body" idx="1"/>
          </p:nvPr>
        </p:nvSpPr>
        <p:spPr>
          <a:xfrm>
            <a:off x="457200" y="1170425"/>
            <a:ext cx="8229600" cy="54618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6"/>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1"/>
        <p:cNvGrpSpPr/>
        <p:nvPr/>
      </p:nvGrpSpPr>
      <p:grpSpPr>
        <a:xfrm>
          <a:off x="0" y="0"/>
          <a:ext cx="0" cy="0"/>
          <a:chOff x="0" y="0"/>
          <a:chExt cx="0" cy="0"/>
        </a:xfrm>
      </p:grpSpPr>
      <p:sp>
        <p:nvSpPr>
          <p:cNvPr id="42" name="Google Shape;42;p7"/>
          <p:cNvSpPr txBox="1">
            <a:spLocks noGrp="1"/>
          </p:cNvSpPr>
          <p:nvPr>
            <p:ph type="title"/>
          </p:nvPr>
        </p:nvSpPr>
        <p:spPr>
          <a:xfrm>
            <a:off x="311700" y="790187"/>
            <a:ext cx="2808000" cy="10749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3" name="Google Shape;43;p7"/>
          <p:cNvSpPr txBox="1">
            <a:spLocks noGrp="1"/>
          </p:cNvSpPr>
          <p:nvPr>
            <p:ph type="body" idx="1"/>
          </p:nvPr>
        </p:nvSpPr>
        <p:spPr>
          <a:xfrm>
            <a:off x="311700" y="1976320"/>
            <a:ext cx="2808000" cy="45219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4" name="Google Shape;44;p7"/>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4572000" y="-178"/>
            <a:ext cx="4572000" cy="7315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txBox="1">
            <a:spLocks noGrp="1"/>
          </p:cNvSpPr>
          <p:nvPr>
            <p:ph type="title"/>
          </p:nvPr>
        </p:nvSpPr>
        <p:spPr>
          <a:xfrm>
            <a:off x="265500" y="1753849"/>
            <a:ext cx="4045200" cy="21081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51" name="Google Shape;51;p9"/>
          <p:cNvSpPr txBox="1">
            <a:spLocks noGrp="1"/>
          </p:cNvSpPr>
          <p:nvPr>
            <p:ph type="subTitle" idx="1"/>
          </p:nvPr>
        </p:nvSpPr>
        <p:spPr>
          <a:xfrm>
            <a:off x="265500" y="3986596"/>
            <a:ext cx="4045200" cy="1756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2" name="Google Shape;52;p9"/>
          <p:cNvSpPr txBox="1">
            <a:spLocks noGrp="1"/>
          </p:cNvSpPr>
          <p:nvPr>
            <p:ph type="body" idx="2"/>
          </p:nvPr>
        </p:nvSpPr>
        <p:spPr>
          <a:xfrm>
            <a:off x="4939500" y="1029796"/>
            <a:ext cx="3837000" cy="52554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53" name="Google Shape;53;p9"/>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txBox="1">
            <a:spLocks noGrp="1"/>
          </p:cNvSpPr>
          <p:nvPr>
            <p:ph type="body" idx="1"/>
          </p:nvPr>
        </p:nvSpPr>
        <p:spPr>
          <a:xfrm>
            <a:off x="311700" y="6016818"/>
            <a:ext cx="5998800" cy="8607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56" name="Google Shape;56;p10"/>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311700" y="1573156"/>
            <a:ext cx="8520600" cy="27924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9" name="Google Shape;59;p11"/>
          <p:cNvSpPr txBox="1">
            <a:spLocks noGrp="1"/>
          </p:cNvSpPr>
          <p:nvPr>
            <p:ph type="body" idx="1"/>
          </p:nvPr>
        </p:nvSpPr>
        <p:spPr>
          <a:xfrm>
            <a:off x="311700" y="4483164"/>
            <a:ext cx="8520600" cy="18501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60" name="Google Shape;60;p11"/>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1"/>
        <p:cNvGrpSpPr/>
        <p:nvPr/>
      </p:nvGrpSpPr>
      <p:grpSpPr>
        <a:xfrm>
          <a:off x="0" y="0"/>
          <a:ext cx="0" cy="0"/>
          <a:chOff x="0" y="0"/>
          <a:chExt cx="0" cy="0"/>
        </a:xfrm>
      </p:grpSpPr>
      <p:sp>
        <p:nvSpPr>
          <p:cNvPr id="62" name="Google Shape;62;p12"/>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02000" y="690382"/>
            <a:ext cx="8520600" cy="8145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639076"/>
            <a:ext cx="8520600" cy="48588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6632131"/>
            <a:ext cx="548700" cy="5598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9" name="Google Shape;9;p1"/>
          <p:cNvPicPr preferRelativeResize="0"/>
          <p:nvPr/>
        </p:nvPicPr>
        <p:blipFill rotWithShape="1">
          <a:blip r:embed="rId12">
            <a:alphaModFix/>
          </a:blip>
          <a:srcRect/>
          <a:stretch/>
        </p:blipFill>
        <p:spPr>
          <a:xfrm>
            <a:off x="0" y="0"/>
            <a:ext cx="9144000" cy="7315200"/>
          </a:xfrm>
          <a:prstGeom prst="rect">
            <a:avLst/>
          </a:prstGeom>
          <a:noFill/>
          <a:ln>
            <a:noFill/>
          </a:ln>
        </p:spPr>
      </p:pic>
      <p:sp>
        <p:nvSpPr>
          <p:cNvPr id="10" name="Google Shape;10;p1"/>
          <p:cNvSpPr txBox="1"/>
          <p:nvPr/>
        </p:nvSpPr>
        <p:spPr>
          <a:xfrm>
            <a:off x="311700" y="6987000"/>
            <a:ext cx="6362100" cy="328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dirty="0">
                <a:solidFill>
                  <a:schemeClr val="dk1"/>
                </a:solidFill>
                <a:latin typeface="Verdana"/>
                <a:ea typeface="Verdana"/>
                <a:cs typeface="Verdana"/>
                <a:sym typeface="Verdana"/>
              </a:rPr>
              <a:t>Copyright © 1984-2026  Executive Decision Systems, Inc. and The Guld Resource Group, LLC.</a:t>
            </a:r>
            <a:endParaRPr sz="700" b="1" dirty="0">
              <a:solidFill>
                <a:srgbClr val="FFFFFF"/>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comments" Target="../comments/comment4.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comments" Target="../comments/commen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3"/>
          <p:cNvSpPr txBox="1">
            <a:spLocks noGrp="1"/>
          </p:cNvSpPr>
          <p:nvPr>
            <p:ph type="subTitle" idx="1"/>
          </p:nvPr>
        </p:nvSpPr>
        <p:spPr>
          <a:xfrm>
            <a:off x="1131085" y="3533551"/>
            <a:ext cx="3876000" cy="55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0">
                <a:latin typeface="Verdana"/>
                <a:ea typeface="Verdana"/>
                <a:cs typeface="Verdana"/>
                <a:sym typeface="Verdana"/>
              </a:rPr>
              <a:t>clientContactName</a:t>
            </a:r>
            <a:endParaRPr dirty="0">
              <a:solidFill>
                <a:schemeClr val="accent2"/>
              </a:solidFill>
              <a:latin typeface="Verdana"/>
              <a:ea typeface="Verdana"/>
              <a:cs typeface="Verdana"/>
              <a:sym typeface="Verdana"/>
            </a:endParaRPr>
          </a:p>
          <a:p>
            <a:pPr marL="0" lvl="0" indent="0" algn="l" rtl="0">
              <a:spcBef>
                <a:spcPts val="0"/>
              </a:spcBef>
              <a:spcAft>
                <a:spcPts val="1600"/>
              </a:spcAft>
              <a:buNone/>
            </a:pPr>
            <a:endParaRPr dirty="0">
              <a:latin typeface="Verdana"/>
              <a:ea typeface="Verdana"/>
              <a:cs typeface="Verdana"/>
              <a:sym typeface="Verdana"/>
            </a:endParaRPr>
          </a:p>
        </p:txBody>
      </p:sp>
      <p:sp>
        <p:nvSpPr>
          <p:cNvPr id="68" name="Google Shape;68;p13"/>
          <p:cNvSpPr txBox="1">
            <a:spLocks noGrp="1"/>
          </p:cNvSpPr>
          <p:nvPr>
            <p:ph type="subTitle" idx="2"/>
          </p:nvPr>
        </p:nvSpPr>
        <p:spPr>
          <a:xfrm>
            <a:off x="1131085" y="3996734"/>
            <a:ext cx="3876000" cy="559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0" dirty="0" err="1">
                <a:latin typeface="Verdana"/>
                <a:ea typeface="Verdana"/>
                <a:cs typeface="Verdana"/>
                <a:sym typeface="Verdana"/>
              </a:rPr>
              <a:t>clientBusinessName</a:t>
            </a:r>
            <a:endParaRPr dirty="0">
              <a:latin typeface="Verdana"/>
              <a:ea typeface="Verdana"/>
              <a:cs typeface="Verdana"/>
              <a:sym typeface="Verdana"/>
            </a:endParaRPr>
          </a:p>
        </p:txBody>
      </p:sp>
      <p:sp>
        <p:nvSpPr>
          <p:cNvPr id="69" name="Google Shape;69;p13"/>
          <p:cNvSpPr txBox="1">
            <a:spLocks noGrp="1"/>
          </p:cNvSpPr>
          <p:nvPr>
            <p:ph type="subTitle" idx="3"/>
          </p:nvPr>
        </p:nvSpPr>
        <p:spPr>
          <a:xfrm>
            <a:off x="1131075" y="5284026"/>
            <a:ext cx="3876000" cy="55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dirty="0" err="1">
                <a:latin typeface="Verdana"/>
                <a:ea typeface="Verdana"/>
                <a:cs typeface="Verdana"/>
                <a:sym typeface="Verdana"/>
              </a:rPr>
              <a:t>portfolioManagerName</a:t>
            </a:r>
            <a:endParaRPr dirty="0">
              <a:latin typeface="Verdana"/>
              <a:ea typeface="Verdana"/>
              <a:cs typeface="Verdana"/>
              <a:sym typeface="Verdana"/>
            </a:endParaRPr>
          </a:p>
          <a:p>
            <a:pPr marL="0" lvl="0" indent="0" algn="l" rtl="0">
              <a:spcBef>
                <a:spcPts val="1600"/>
              </a:spcBef>
              <a:spcAft>
                <a:spcPts val="1600"/>
              </a:spcAft>
              <a:buNone/>
            </a:pPr>
            <a:endParaRPr dirty="0">
              <a:latin typeface="Verdana"/>
              <a:ea typeface="Verdana"/>
              <a:cs typeface="Verdana"/>
              <a:sym typeface="Verdana"/>
            </a:endParaRPr>
          </a:p>
        </p:txBody>
      </p:sp>
      <p:sp>
        <p:nvSpPr>
          <p:cNvPr id="70" name="Google Shape;70;p13"/>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sp>
        <p:nvSpPr>
          <p:cNvPr id="71" name="Google Shape;71;p13"/>
          <p:cNvSpPr txBox="1">
            <a:spLocks noGrp="1"/>
          </p:cNvSpPr>
          <p:nvPr>
            <p:ph type="subTitle" idx="3"/>
          </p:nvPr>
        </p:nvSpPr>
        <p:spPr>
          <a:xfrm>
            <a:off x="1131075" y="5724550"/>
            <a:ext cx="1890300" cy="55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dirty="0">
                <a:latin typeface="Verdana"/>
                <a:ea typeface="Verdana"/>
                <a:cs typeface="Verdana"/>
                <a:sym typeface="Verdana"/>
              </a:rPr>
              <a:t>station</a:t>
            </a:r>
            <a:endParaRPr dirty="0">
              <a:latin typeface="Verdana"/>
              <a:ea typeface="Verdana"/>
              <a:cs typeface="Verdana"/>
              <a:sym typeface="Verdana"/>
            </a:endParaRPr>
          </a:p>
          <a:p>
            <a:pPr marL="0" lvl="0" indent="0" algn="l" rtl="0">
              <a:spcBef>
                <a:spcPts val="1600"/>
              </a:spcBef>
              <a:spcAft>
                <a:spcPts val="1600"/>
              </a:spcAft>
              <a:buNone/>
            </a:pPr>
            <a:endParaRPr dirty="0">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4"/>
          <p:cNvSpPr txBox="1">
            <a:spLocks noGrp="1"/>
          </p:cNvSpPr>
          <p:nvPr>
            <p:ph type="ctrTitle"/>
          </p:nvPr>
        </p:nvSpPr>
        <p:spPr>
          <a:xfrm>
            <a:off x="693450" y="471127"/>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Team Commitment</a:t>
            </a:r>
            <a:endParaRPr dirty="0"/>
          </a:p>
        </p:txBody>
      </p:sp>
      <p:sp>
        <p:nvSpPr>
          <p:cNvPr id="77" name="Google Shape;77;p14"/>
          <p:cNvSpPr txBox="1">
            <a:spLocks noGrp="1"/>
          </p:cNvSpPr>
          <p:nvPr>
            <p:ph type="body" idx="1"/>
          </p:nvPr>
        </p:nvSpPr>
        <p:spPr>
          <a:xfrm>
            <a:off x="458400" y="2172253"/>
            <a:ext cx="8227200" cy="9174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Clr>
                <a:schemeClr val="dk1"/>
              </a:buClr>
              <a:buSzPts val="1100"/>
              <a:buFont typeface="Arial"/>
              <a:buNone/>
            </a:pPr>
            <a:r>
              <a:rPr lang="en" sz="1150">
                <a:solidFill>
                  <a:srgbClr val="000000"/>
                </a:solidFill>
                <a:latin typeface="Verdana"/>
                <a:ea typeface="Verdana"/>
                <a:cs typeface="Verdana"/>
                <a:sym typeface="Verdana"/>
              </a:rPr>
              <a:t>The creation of this Summary of Conclusions and Recommendations is a team collaboration of media professionals with the goal of exceeding your expectations. Each of the below is committed to the highest standards of professionalism and are personally available should you have any questions or concerns throughout this campaign.</a:t>
            </a:r>
            <a:endParaRPr sz="1150">
              <a:solidFill>
                <a:srgbClr val="000000"/>
              </a:solidFill>
              <a:latin typeface="Verdana"/>
              <a:ea typeface="Verdana"/>
              <a:cs typeface="Verdana"/>
              <a:sym typeface="Verdana"/>
            </a:endParaRPr>
          </a:p>
          <a:p>
            <a:pPr marL="0" lvl="0" indent="0" algn="l" rtl="0">
              <a:spcBef>
                <a:spcPts val="0"/>
              </a:spcBef>
              <a:spcAft>
                <a:spcPts val="1600"/>
              </a:spcAft>
              <a:buNone/>
            </a:pPr>
            <a:endParaRPr sz="1150">
              <a:solidFill>
                <a:srgbClr val="000000"/>
              </a:solidFill>
              <a:latin typeface="Verdana"/>
              <a:ea typeface="Verdana"/>
              <a:cs typeface="Verdana"/>
              <a:sym typeface="Verdana"/>
            </a:endParaRPr>
          </a:p>
        </p:txBody>
      </p:sp>
      <p:sp>
        <p:nvSpPr>
          <p:cNvPr id="78" name="Google Shape;78;p14"/>
          <p:cNvSpPr txBox="1"/>
          <p:nvPr/>
        </p:nvSpPr>
        <p:spPr>
          <a:xfrm>
            <a:off x="954300" y="1321687"/>
            <a:ext cx="7235400" cy="69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50" b="1" dirty="0">
                <a:latin typeface="Verdana"/>
                <a:ea typeface="Verdana"/>
                <a:cs typeface="Verdana"/>
                <a:sym typeface="Verdana"/>
              </a:rPr>
              <a:t>The following proposal will be submitted to</a:t>
            </a:r>
            <a:endParaRPr sz="1550" b="1" dirty="0">
              <a:latin typeface="Verdana"/>
              <a:ea typeface="Verdana"/>
              <a:cs typeface="Verdana"/>
              <a:sym typeface="Verdana"/>
            </a:endParaRPr>
          </a:p>
          <a:p>
            <a:pPr marL="0" lvl="0" indent="0" algn="ctr" rtl="0">
              <a:spcBef>
                <a:spcPts val="0"/>
              </a:spcBef>
              <a:spcAft>
                <a:spcPts val="0"/>
              </a:spcAft>
              <a:buNone/>
            </a:pPr>
            <a:r>
              <a:rPr lang="en" sz="1550" b="1" dirty="0" err="1">
                <a:latin typeface="Verdana"/>
                <a:ea typeface="Verdana"/>
                <a:cs typeface="Verdana"/>
                <a:sym typeface="Verdana"/>
              </a:rPr>
              <a:t>clientBusinessName</a:t>
            </a:r>
            <a:endParaRPr sz="1550" b="1" dirty="0">
              <a:latin typeface="Verdana"/>
              <a:ea typeface="Verdana"/>
              <a:cs typeface="Verdana"/>
              <a:sym typeface="Verdana"/>
            </a:endParaRPr>
          </a:p>
        </p:txBody>
      </p:sp>
      <p:sp>
        <p:nvSpPr>
          <p:cNvPr id="79" name="Google Shape;79;p14"/>
          <p:cNvSpPr txBox="1">
            <a:spLocks noGrp="1"/>
          </p:cNvSpPr>
          <p:nvPr>
            <p:ph type="body" idx="2"/>
          </p:nvPr>
        </p:nvSpPr>
        <p:spPr>
          <a:xfrm>
            <a:off x="4517626" y="3739896"/>
            <a:ext cx="4078200" cy="2354100"/>
          </a:xfrm>
          <a:prstGeom prst="rect">
            <a:avLst/>
          </a:prstGeom>
        </p:spPr>
        <p:txBody>
          <a:bodyPr spcFirstLastPara="1" wrap="square" lIns="91425" tIns="91425" rIns="91425" bIns="91425" anchor="t" anchorCtr="0">
            <a:noAutofit/>
          </a:bodyPr>
          <a:lstStyle/>
          <a:p>
            <a:pPr marL="0" lvl="0" indent="0" algn="ctr" rtl="0">
              <a:lnSpc>
                <a:spcPct val="200000"/>
              </a:lnSpc>
              <a:spcBef>
                <a:spcPts val="0"/>
              </a:spcBef>
              <a:spcAft>
                <a:spcPts val="0"/>
              </a:spcAft>
              <a:buNone/>
            </a:pPr>
            <a:r>
              <a:rPr lang="en" sz="1250">
                <a:solidFill>
                  <a:srgbClr val="000000"/>
                </a:solidFill>
                <a:latin typeface="Verdana"/>
                <a:ea typeface="Verdana"/>
                <a:cs typeface="Verdana"/>
                <a:sym typeface="Verdana"/>
              </a:rPr>
              <a:t>topLevelTitle</a:t>
            </a:r>
            <a:endParaRPr sz="1250">
              <a:solidFill>
                <a:srgbClr val="000000"/>
              </a:solidFill>
              <a:latin typeface="Verdana"/>
              <a:ea typeface="Verdana"/>
              <a:cs typeface="Verdana"/>
              <a:sym typeface="Verdana"/>
            </a:endParaRPr>
          </a:p>
          <a:p>
            <a:pPr marL="0" lvl="0" indent="0" algn="ctr" rtl="0">
              <a:lnSpc>
                <a:spcPct val="200000"/>
              </a:lnSpc>
              <a:spcBef>
                <a:spcPts val="1600"/>
              </a:spcBef>
              <a:spcAft>
                <a:spcPts val="0"/>
              </a:spcAft>
              <a:buNone/>
            </a:pPr>
            <a:r>
              <a:rPr lang="en" sz="1250">
                <a:solidFill>
                  <a:srgbClr val="000000"/>
                </a:solidFill>
                <a:latin typeface="Verdana"/>
                <a:ea typeface="Verdana"/>
                <a:cs typeface="Verdana"/>
                <a:sym typeface="Verdana"/>
              </a:rPr>
              <a:t>secondLevelTitle</a:t>
            </a:r>
            <a:endParaRPr sz="1250">
              <a:solidFill>
                <a:srgbClr val="000000"/>
              </a:solidFill>
              <a:latin typeface="Verdana"/>
              <a:ea typeface="Verdana"/>
              <a:cs typeface="Verdana"/>
              <a:sym typeface="Verdana"/>
            </a:endParaRPr>
          </a:p>
          <a:p>
            <a:pPr marL="0" lvl="0" indent="0" algn="ctr" rtl="0">
              <a:lnSpc>
                <a:spcPct val="200000"/>
              </a:lnSpc>
              <a:spcBef>
                <a:spcPts val="1600"/>
              </a:spcBef>
              <a:spcAft>
                <a:spcPts val="0"/>
              </a:spcAft>
              <a:buNone/>
            </a:pPr>
            <a:r>
              <a:rPr lang="en" sz="1250">
                <a:solidFill>
                  <a:srgbClr val="000000"/>
                </a:solidFill>
                <a:latin typeface="Verdana"/>
                <a:ea typeface="Verdana"/>
                <a:cs typeface="Verdana"/>
                <a:sym typeface="Verdana"/>
              </a:rPr>
              <a:t>thirdLevelTitle</a:t>
            </a:r>
            <a:endParaRPr sz="1250">
              <a:solidFill>
                <a:srgbClr val="000000"/>
              </a:solidFill>
              <a:latin typeface="Verdana"/>
              <a:ea typeface="Verdana"/>
              <a:cs typeface="Verdana"/>
              <a:sym typeface="Verdana"/>
            </a:endParaRPr>
          </a:p>
          <a:p>
            <a:pPr marL="0" lvl="0" indent="0" algn="ctr" rtl="0">
              <a:lnSpc>
                <a:spcPct val="200000"/>
              </a:lnSpc>
              <a:spcBef>
                <a:spcPts val="1600"/>
              </a:spcBef>
              <a:spcAft>
                <a:spcPts val="0"/>
              </a:spcAft>
              <a:buClr>
                <a:schemeClr val="dk1"/>
              </a:buClr>
              <a:buSzPts val="1100"/>
              <a:buFont typeface="Arial"/>
              <a:buNone/>
            </a:pPr>
            <a:r>
              <a:rPr lang="en" sz="1250">
                <a:solidFill>
                  <a:srgbClr val="000000"/>
                </a:solidFill>
                <a:latin typeface="Verdana"/>
                <a:ea typeface="Verdana"/>
                <a:cs typeface="Verdana"/>
                <a:sym typeface="Verdana"/>
              </a:rPr>
              <a:t>fourthLevelTitle</a:t>
            </a:r>
            <a:endParaRPr sz="1250">
              <a:solidFill>
                <a:srgbClr val="000000"/>
              </a:solidFill>
              <a:latin typeface="Verdana"/>
              <a:ea typeface="Verdana"/>
              <a:cs typeface="Verdana"/>
              <a:sym typeface="Verdana"/>
            </a:endParaRPr>
          </a:p>
          <a:p>
            <a:pPr marL="0" lvl="0" indent="0" algn="ctr" rtl="0">
              <a:lnSpc>
                <a:spcPct val="200000"/>
              </a:lnSpc>
              <a:spcBef>
                <a:spcPts val="1600"/>
              </a:spcBef>
              <a:spcAft>
                <a:spcPts val="1600"/>
              </a:spcAft>
              <a:buNone/>
            </a:pPr>
            <a:endParaRPr sz="1250">
              <a:solidFill>
                <a:srgbClr val="000000"/>
              </a:solidFill>
              <a:latin typeface="Verdana"/>
              <a:ea typeface="Verdana"/>
              <a:cs typeface="Verdana"/>
              <a:sym typeface="Verdana"/>
            </a:endParaRPr>
          </a:p>
        </p:txBody>
      </p:sp>
      <p:sp>
        <p:nvSpPr>
          <p:cNvPr id="80" name="Google Shape;80;p14"/>
          <p:cNvSpPr txBox="1">
            <a:spLocks noGrp="1"/>
          </p:cNvSpPr>
          <p:nvPr>
            <p:ph type="body" idx="2"/>
          </p:nvPr>
        </p:nvSpPr>
        <p:spPr>
          <a:xfrm>
            <a:off x="493776" y="3739896"/>
            <a:ext cx="4078200" cy="2354100"/>
          </a:xfrm>
          <a:prstGeom prst="rect">
            <a:avLst/>
          </a:prstGeom>
        </p:spPr>
        <p:txBody>
          <a:bodyPr spcFirstLastPara="1" wrap="square" lIns="91425" tIns="91425" rIns="91425" bIns="91425" anchor="t" anchorCtr="0">
            <a:noAutofit/>
          </a:bodyPr>
          <a:lstStyle/>
          <a:p>
            <a:pPr marL="0" lvl="0" indent="0" algn="ctr" rtl="0">
              <a:lnSpc>
                <a:spcPct val="200000"/>
              </a:lnSpc>
              <a:spcBef>
                <a:spcPts val="0"/>
              </a:spcBef>
              <a:spcAft>
                <a:spcPts val="0"/>
              </a:spcAft>
              <a:buClr>
                <a:schemeClr val="dk1"/>
              </a:buClr>
              <a:buSzPts val="1100"/>
              <a:buFont typeface="Arial"/>
              <a:buNone/>
            </a:pPr>
            <a:r>
              <a:rPr lang="en" sz="1250">
                <a:solidFill>
                  <a:schemeClr val="dk1"/>
                </a:solidFill>
              </a:rPr>
              <a:t>topLevelName </a:t>
            </a:r>
            <a:endParaRPr sz="1250">
              <a:solidFill>
                <a:schemeClr val="dk1"/>
              </a:solidFill>
            </a:endParaRPr>
          </a:p>
          <a:p>
            <a:pPr marL="0" lvl="0" indent="0" algn="ctr" rtl="0">
              <a:lnSpc>
                <a:spcPct val="200000"/>
              </a:lnSpc>
              <a:spcBef>
                <a:spcPts val="1600"/>
              </a:spcBef>
              <a:spcAft>
                <a:spcPts val="0"/>
              </a:spcAft>
              <a:buClr>
                <a:schemeClr val="dk1"/>
              </a:buClr>
              <a:buSzPts val="1100"/>
              <a:buFont typeface="Arial"/>
              <a:buNone/>
            </a:pPr>
            <a:r>
              <a:rPr lang="en" sz="1250">
                <a:solidFill>
                  <a:schemeClr val="dk1"/>
                </a:solidFill>
              </a:rPr>
              <a:t>secondLevelName</a:t>
            </a:r>
            <a:endParaRPr sz="1250">
              <a:solidFill>
                <a:schemeClr val="dk1"/>
              </a:solidFill>
            </a:endParaRPr>
          </a:p>
          <a:p>
            <a:pPr marL="0" lvl="0" indent="0" algn="ctr" rtl="0">
              <a:lnSpc>
                <a:spcPct val="200000"/>
              </a:lnSpc>
              <a:spcBef>
                <a:spcPts val="1600"/>
              </a:spcBef>
              <a:spcAft>
                <a:spcPts val="0"/>
              </a:spcAft>
              <a:buClr>
                <a:schemeClr val="dk1"/>
              </a:buClr>
              <a:buSzPts val="1100"/>
              <a:buFont typeface="Arial"/>
              <a:buNone/>
            </a:pPr>
            <a:r>
              <a:rPr lang="en" sz="1250">
                <a:solidFill>
                  <a:schemeClr val="dk1"/>
                </a:solidFill>
              </a:rPr>
              <a:t>thirdLevelName</a:t>
            </a:r>
            <a:endParaRPr sz="1250">
              <a:solidFill>
                <a:schemeClr val="dk1"/>
              </a:solidFill>
            </a:endParaRPr>
          </a:p>
          <a:p>
            <a:pPr marL="0" lvl="0" indent="0" algn="ctr" rtl="0">
              <a:lnSpc>
                <a:spcPct val="200000"/>
              </a:lnSpc>
              <a:spcBef>
                <a:spcPts val="1600"/>
              </a:spcBef>
              <a:spcAft>
                <a:spcPts val="0"/>
              </a:spcAft>
              <a:buClr>
                <a:schemeClr val="dk1"/>
              </a:buClr>
              <a:buSzPts val="1100"/>
              <a:buFont typeface="Arial"/>
              <a:buNone/>
            </a:pPr>
            <a:r>
              <a:rPr lang="en" sz="1250">
                <a:solidFill>
                  <a:schemeClr val="dk1"/>
                </a:solidFill>
              </a:rPr>
              <a:t>fourthLevelName</a:t>
            </a:r>
            <a:endParaRPr sz="1250">
              <a:solidFill>
                <a:schemeClr val="dk1"/>
              </a:solidFill>
            </a:endParaRPr>
          </a:p>
          <a:p>
            <a:pPr marL="0" lvl="0" indent="0" algn="l" rtl="0">
              <a:spcBef>
                <a:spcPts val="1600"/>
              </a:spcBef>
              <a:spcAft>
                <a:spcPts val="0"/>
              </a:spcAft>
              <a:buClr>
                <a:schemeClr val="dk1"/>
              </a:buClr>
              <a:buSzPts val="1100"/>
              <a:buFont typeface="Arial"/>
              <a:buNone/>
            </a:pPr>
            <a:endParaRPr sz="1250">
              <a:solidFill>
                <a:schemeClr val="dk1"/>
              </a:solidFill>
            </a:endParaRPr>
          </a:p>
          <a:p>
            <a:pPr marL="0" lvl="0" indent="0" algn="ctr" rtl="0">
              <a:lnSpc>
                <a:spcPct val="200000"/>
              </a:lnSpc>
              <a:spcBef>
                <a:spcPts val="1200"/>
              </a:spcBef>
              <a:spcAft>
                <a:spcPts val="1600"/>
              </a:spcAft>
              <a:buNone/>
            </a:pPr>
            <a:endParaRPr sz="125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5"/>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Marketplace Competition</a:t>
            </a:r>
            <a:endParaRPr/>
          </a:p>
        </p:txBody>
      </p:sp>
      <p:sp>
        <p:nvSpPr>
          <p:cNvPr id="86" name="Google Shape;86;p15"/>
          <p:cNvSpPr txBox="1"/>
          <p:nvPr/>
        </p:nvSpPr>
        <p:spPr>
          <a:xfrm>
            <a:off x="364750" y="1283286"/>
            <a:ext cx="34803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1. How long have you been in business?</a:t>
            </a:r>
            <a:endParaRPr sz="1150" b="1">
              <a:latin typeface="Verdana"/>
              <a:ea typeface="Verdana"/>
              <a:cs typeface="Verdana"/>
              <a:sym typeface="Verdana"/>
            </a:endParaRPr>
          </a:p>
        </p:txBody>
      </p:sp>
      <p:sp>
        <p:nvSpPr>
          <p:cNvPr id="87" name="Google Shape;87;p15"/>
          <p:cNvSpPr txBox="1"/>
          <p:nvPr/>
        </p:nvSpPr>
        <p:spPr>
          <a:xfrm>
            <a:off x="4722188" y="1283286"/>
            <a:ext cx="20460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How many locations?</a:t>
            </a:r>
            <a:endParaRPr sz="1150" b="1">
              <a:latin typeface="Verdana"/>
              <a:ea typeface="Verdana"/>
              <a:cs typeface="Verdana"/>
              <a:sym typeface="Verdana"/>
            </a:endParaRPr>
          </a:p>
        </p:txBody>
      </p:sp>
      <p:sp>
        <p:nvSpPr>
          <p:cNvPr id="88" name="Google Shape;88;p15"/>
          <p:cNvSpPr txBox="1"/>
          <p:nvPr/>
        </p:nvSpPr>
        <p:spPr>
          <a:xfrm>
            <a:off x="7273050" y="1283286"/>
            <a:ext cx="10203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Plans to expand?</a:t>
            </a:r>
            <a:endParaRPr sz="1150" b="1">
              <a:latin typeface="Verdana"/>
              <a:ea typeface="Verdana"/>
              <a:cs typeface="Verdana"/>
              <a:sym typeface="Verdana"/>
            </a:endParaRPr>
          </a:p>
        </p:txBody>
      </p:sp>
      <p:sp>
        <p:nvSpPr>
          <p:cNvPr id="89" name="Google Shape;89;p15"/>
          <p:cNvSpPr txBox="1"/>
          <p:nvPr/>
        </p:nvSpPr>
        <p:spPr>
          <a:xfrm>
            <a:off x="3755200" y="1285236"/>
            <a:ext cx="2522400" cy="42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00">
                <a:solidFill>
                  <a:schemeClr val="dk1"/>
                </a:solidFill>
                <a:latin typeface="Verdana"/>
                <a:ea typeface="Verdana"/>
                <a:cs typeface="Verdana"/>
                <a:sym typeface="Verdana"/>
              </a:rPr>
              <a:t>yearsInBusiness</a:t>
            </a:r>
            <a:r>
              <a:rPr lang="en" sz="1150">
                <a:latin typeface="Verdana"/>
                <a:ea typeface="Verdana"/>
                <a:cs typeface="Verdana"/>
                <a:sym typeface="Verdana"/>
              </a:rPr>
              <a:t> years </a:t>
            </a:r>
            <a:endParaRPr sz="1150">
              <a:latin typeface="Verdana"/>
              <a:ea typeface="Verdana"/>
              <a:cs typeface="Verdana"/>
              <a:sym typeface="Verdana"/>
            </a:endParaRPr>
          </a:p>
        </p:txBody>
      </p:sp>
      <p:sp>
        <p:nvSpPr>
          <p:cNvPr id="90" name="Google Shape;90;p15"/>
          <p:cNvSpPr/>
          <p:nvPr/>
        </p:nvSpPr>
        <p:spPr>
          <a:xfrm>
            <a:off x="571250" y="1875649"/>
            <a:ext cx="1301400" cy="480600"/>
          </a:xfrm>
          <a:prstGeom prst="roundRect">
            <a:avLst>
              <a:gd name="adj" fmla="val 1666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50" b="1">
                <a:latin typeface="Verdana"/>
                <a:ea typeface="Verdana"/>
                <a:cs typeface="Verdana"/>
                <a:sym typeface="Verdana"/>
              </a:rPr>
              <a:t>1st Tier</a:t>
            </a:r>
            <a:endParaRPr sz="1150" b="1">
              <a:latin typeface="Verdana"/>
              <a:ea typeface="Verdana"/>
              <a:cs typeface="Verdana"/>
              <a:sym typeface="Verdana"/>
            </a:endParaRPr>
          </a:p>
        </p:txBody>
      </p:sp>
      <p:sp>
        <p:nvSpPr>
          <p:cNvPr id="91" name="Google Shape;91;p15"/>
          <p:cNvSpPr/>
          <p:nvPr/>
        </p:nvSpPr>
        <p:spPr>
          <a:xfrm>
            <a:off x="571250" y="2635299"/>
            <a:ext cx="1301400" cy="484500"/>
          </a:xfrm>
          <a:prstGeom prst="roundRect">
            <a:avLst>
              <a:gd name="adj" fmla="val 1666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50" b="1">
                <a:latin typeface="Verdana"/>
                <a:ea typeface="Verdana"/>
                <a:cs typeface="Verdana"/>
                <a:sym typeface="Verdana"/>
              </a:rPr>
              <a:t>3rd Tier</a:t>
            </a:r>
            <a:endParaRPr sz="1150" b="1">
              <a:latin typeface="Verdana"/>
              <a:ea typeface="Verdana"/>
              <a:cs typeface="Verdana"/>
              <a:sym typeface="Verdana"/>
            </a:endParaRPr>
          </a:p>
        </p:txBody>
      </p:sp>
      <p:sp>
        <p:nvSpPr>
          <p:cNvPr id="92" name="Google Shape;92;p15"/>
          <p:cNvSpPr/>
          <p:nvPr/>
        </p:nvSpPr>
        <p:spPr>
          <a:xfrm>
            <a:off x="4719300" y="1901786"/>
            <a:ext cx="1301400" cy="484500"/>
          </a:xfrm>
          <a:prstGeom prst="roundRect">
            <a:avLst>
              <a:gd name="adj" fmla="val 1666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50" b="1" dirty="0">
                <a:latin typeface="Verdana"/>
                <a:ea typeface="Verdana"/>
                <a:cs typeface="Verdana"/>
                <a:sym typeface="Verdana"/>
              </a:rPr>
              <a:t>2nd Tier</a:t>
            </a:r>
            <a:endParaRPr sz="1150" b="1" dirty="0">
              <a:latin typeface="Verdana"/>
              <a:ea typeface="Verdana"/>
              <a:cs typeface="Verdana"/>
              <a:sym typeface="Verdana"/>
            </a:endParaRPr>
          </a:p>
        </p:txBody>
      </p:sp>
      <p:sp>
        <p:nvSpPr>
          <p:cNvPr id="93" name="Google Shape;93;p15"/>
          <p:cNvSpPr/>
          <p:nvPr/>
        </p:nvSpPr>
        <p:spPr>
          <a:xfrm>
            <a:off x="4719300" y="2635299"/>
            <a:ext cx="1301400" cy="484500"/>
          </a:xfrm>
          <a:prstGeom prst="roundRect">
            <a:avLst>
              <a:gd name="adj" fmla="val 1666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50" b="1">
                <a:latin typeface="Verdana"/>
                <a:ea typeface="Verdana"/>
                <a:cs typeface="Verdana"/>
                <a:sym typeface="Verdana"/>
              </a:rPr>
              <a:t>4th Tier</a:t>
            </a:r>
            <a:endParaRPr sz="1150" b="1">
              <a:latin typeface="Verdana"/>
              <a:ea typeface="Verdana"/>
              <a:cs typeface="Verdana"/>
              <a:sym typeface="Verdana"/>
            </a:endParaRPr>
          </a:p>
        </p:txBody>
      </p:sp>
      <p:sp>
        <p:nvSpPr>
          <p:cNvPr id="94" name="Google Shape;94;p15"/>
          <p:cNvSpPr txBox="1"/>
          <p:nvPr/>
        </p:nvSpPr>
        <p:spPr>
          <a:xfrm>
            <a:off x="1872950" y="2600865"/>
            <a:ext cx="2002500" cy="56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thirdTierBusiness</a:t>
            </a:r>
            <a:endParaRPr sz="1150">
              <a:latin typeface="Verdana"/>
              <a:ea typeface="Verdana"/>
              <a:cs typeface="Verdana"/>
              <a:sym typeface="Verdana"/>
            </a:endParaRPr>
          </a:p>
          <a:p>
            <a:pPr marL="0" lvl="0" indent="0" algn="l" rtl="0">
              <a:lnSpc>
                <a:spcPct val="115000"/>
              </a:lnSpc>
              <a:spcBef>
                <a:spcPts val="0"/>
              </a:spcBef>
              <a:spcAft>
                <a:spcPts val="0"/>
              </a:spcAft>
              <a:buNone/>
            </a:pPr>
            <a:r>
              <a:rPr lang="en" sz="1150">
                <a:latin typeface="Verdana"/>
                <a:ea typeface="Verdana"/>
                <a:cs typeface="Verdana"/>
                <a:sym typeface="Verdana"/>
              </a:rPr>
              <a:t>#3 in Market Revenue</a:t>
            </a:r>
            <a:endParaRPr sz="1150">
              <a:latin typeface="Verdana"/>
              <a:ea typeface="Verdana"/>
              <a:cs typeface="Verdana"/>
              <a:sym typeface="Verdana"/>
            </a:endParaRPr>
          </a:p>
        </p:txBody>
      </p:sp>
      <p:sp>
        <p:nvSpPr>
          <p:cNvPr id="95" name="Google Shape;95;p15"/>
          <p:cNvSpPr txBox="1"/>
          <p:nvPr/>
        </p:nvSpPr>
        <p:spPr>
          <a:xfrm>
            <a:off x="6020700" y="2598756"/>
            <a:ext cx="2001900" cy="567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150">
                <a:latin typeface="Verdana"/>
                <a:ea typeface="Verdana"/>
                <a:cs typeface="Verdana"/>
                <a:sym typeface="Verdana"/>
              </a:rPr>
              <a:t>fourthTierBusiness</a:t>
            </a:r>
            <a:endParaRPr sz="1150">
              <a:latin typeface="Verdana"/>
              <a:ea typeface="Verdana"/>
              <a:cs typeface="Verdana"/>
              <a:sym typeface="Verdana"/>
            </a:endParaRPr>
          </a:p>
          <a:p>
            <a:pPr marL="0" lvl="0" indent="0" algn="l" rtl="0">
              <a:lnSpc>
                <a:spcPct val="115000"/>
              </a:lnSpc>
              <a:spcBef>
                <a:spcPts val="0"/>
              </a:spcBef>
              <a:spcAft>
                <a:spcPts val="0"/>
              </a:spcAft>
              <a:buNone/>
            </a:pPr>
            <a:r>
              <a:rPr lang="en" sz="1150">
                <a:latin typeface="Verdana"/>
                <a:ea typeface="Verdana"/>
                <a:cs typeface="Verdana"/>
                <a:sym typeface="Verdana"/>
              </a:rPr>
              <a:t> #1 in Market Revenue</a:t>
            </a:r>
            <a:endParaRPr sz="1150">
              <a:latin typeface="Verdana"/>
              <a:ea typeface="Verdana"/>
              <a:cs typeface="Verdana"/>
              <a:sym typeface="Verdana"/>
            </a:endParaRPr>
          </a:p>
        </p:txBody>
      </p:sp>
      <p:sp>
        <p:nvSpPr>
          <p:cNvPr id="96" name="Google Shape;96;p15"/>
          <p:cNvSpPr txBox="1"/>
          <p:nvPr/>
        </p:nvSpPr>
        <p:spPr>
          <a:xfrm>
            <a:off x="594350" y="3895344"/>
            <a:ext cx="32238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A. What are their strengths?</a:t>
            </a:r>
            <a:endParaRPr sz="1150" b="1">
              <a:latin typeface="Verdana"/>
              <a:ea typeface="Verdana"/>
              <a:cs typeface="Verdana"/>
              <a:sym typeface="Verdana"/>
            </a:endParaRPr>
          </a:p>
        </p:txBody>
      </p:sp>
      <p:sp>
        <p:nvSpPr>
          <p:cNvPr id="97" name="Google Shape;97;p15"/>
          <p:cNvSpPr txBox="1"/>
          <p:nvPr/>
        </p:nvSpPr>
        <p:spPr>
          <a:xfrm>
            <a:off x="594350" y="4828944"/>
            <a:ext cx="32238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B. What are their weakness?</a:t>
            </a:r>
            <a:endParaRPr sz="1150" b="1">
              <a:latin typeface="Verdana"/>
              <a:ea typeface="Verdana"/>
              <a:cs typeface="Verdana"/>
              <a:sym typeface="Verdana"/>
            </a:endParaRPr>
          </a:p>
        </p:txBody>
      </p:sp>
      <p:sp>
        <p:nvSpPr>
          <p:cNvPr id="98" name="Google Shape;98;p15"/>
          <p:cNvSpPr txBox="1"/>
          <p:nvPr/>
        </p:nvSpPr>
        <p:spPr>
          <a:xfrm>
            <a:off x="823950" y="4176729"/>
            <a:ext cx="3480300" cy="65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i="1">
                <a:latin typeface="Verdana"/>
                <a:ea typeface="Verdana"/>
                <a:cs typeface="Verdana"/>
                <a:sym typeface="Verdana"/>
              </a:rPr>
              <a:t>competitionStrengthA</a:t>
            </a:r>
            <a:endParaRPr sz="1150" i="1">
              <a:latin typeface="Verdana"/>
              <a:ea typeface="Verdana"/>
              <a:cs typeface="Verdana"/>
              <a:sym typeface="Verdana"/>
            </a:endParaRPr>
          </a:p>
          <a:p>
            <a:pPr marL="0" lvl="0" indent="0" algn="l" rtl="0">
              <a:spcBef>
                <a:spcPts val="0"/>
              </a:spcBef>
              <a:spcAft>
                <a:spcPts val="0"/>
              </a:spcAft>
              <a:buNone/>
            </a:pPr>
            <a:endParaRPr sz="1150">
              <a:latin typeface="Verdana"/>
              <a:ea typeface="Verdana"/>
              <a:cs typeface="Verdana"/>
              <a:sym typeface="Verdana"/>
            </a:endParaRPr>
          </a:p>
        </p:txBody>
      </p:sp>
      <p:sp>
        <p:nvSpPr>
          <p:cNvPr id="99" name="Google Shape;99;p15"/>
          <p:cNvSpPr txBox="1"/>
          <p:nvPr/>
        </p:nvSpPr>
        <p:spPr>
          <a:xfrm>
            <a:off x="4947904" y="4179724"/>
            <a:ext cx="3891900" cy="64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i="1">
                <a:latin typeface="Verdana"/>
                <a:ea typeface="Verdana"/>
                <a:cs typeface="Verdana"/>
                <a:sym typeface="Verdana"/>
              </a:rPr>
              <a:t>competitionStrengthB</a:t>
            </a:r>
            <a:endParaRPr sz="1150">
              <a:latin typeface="Verdana"/>
              <a:ea typeface="Verdana"/>
              <a:cs typeface="Verdana"/>
              <a:sym typeface="Verdana"/>
            </a:endParaRPr>
          </a:p>
        </p:txBody>
      </p:sp>
      <p:sp>
        <p:nvSpPr>
          <p:cNvPr id="100" name="Google Shape;100;p15"/>
          <p:cNvSpPr txBox="1"/>
          <p:nvPr/>
        </p:nvSpPr>
        <p:spPr>
          <a:xfrm>
            <a:off x="823950" y="5116979"/>
            <a:ext cx="3480300" cy="42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i="1">
                <a:latin typeface="Verdana"/>
                <a:ea typeface="Verdana"/>
                <a:cs typeface="Verdana"/>
                <a:sym typeface="Verdana"/>
              </a:rPr>
              <a:t>competitionWeaknessA</a:t>
            </a:r>
            <a:endParaRPr sz="1150" i="1">
              <a:latin typeface="Verdana"/>
              <a:ea typeface="Verdana"/>
              <a:cs typeface="Verdana"/>
              <a:sym typeface="Verdana"/>
            </a:endParaRPr>
          </a:p>
          <a:p>
            <a:pPr marL="0" lvl="0" indent="0" algn="l" rtl="0">
              <a:spcBef>
                <a:spcPts val="0"/>
              </a:spcBef>
              <a:spcAft>
                <a:spcPts val="0"/>
              </a:spcAft>
              <a:buNone/>
            </a:pPr>
            <a:endParaRPr sz="1150">
              <a:latin typeface="Verdana"/>
              <a:ea typeface="Verdana"/>
              <a:cs typeface="Verdana"/>
              <a:sym typeface="Verdana"/>
            </a:endParaRPr>
          </a:p>
        </p:txBody>
      </p:sp>
      <p:sp>
        <p:nvSpPr>
          <p:cNvPr id="101" name="Google Shape;101;p15"/>
          <p:cNvSpPr txBox="1"/>
          <p:nvPr/>
        </p:nvSpPr>
        <p:spPr>
          <a:xfrm>
            <a:off x="4947904" y="5119742"/>
            <a:ext cx="4052100" cy="484500"/>
          </a:xfrm>
          <a:prstGeom prst="rect">
            <a:avLst/>
          </a:prstGeom>
          <a:noFill/>
          <a:ln>
            <a:noFill/>
          </a:ln>
        </p:spPr>
        <p:txBody>
          <a:bodyPr spcFirstLastPara="1" wrap="square" lIns="91425" tIns="91425" rIns="91425" bIns="91425" anchor="t" anchorCtr="0">
            <a:noAutofit/>
          </a:bodyPr>
          <a:lstStyle/>
          <a:p>
            <a:pPr marL="0" marR="114300" lvl="0" indent="0" algn="l" rtl="0">
              <a:lnSpc>
                <a:spcPct val="115000"/>
              </a:lnSpc>
              <a:spcBef>
                <a:spcPts val="0"/>
              </a:spcBef>
              <a:spcAft>
                <a:spcPts val="0"/>
              </a:spcAft>
              <a:buClr>
                <a:schemeClr val="dk1"/>
              </a:buClr>
              <a:buSzPts val="1100"/>
              <a:buFont typeface="Arial"/>
              <a:buNone/>
            </a:pPr>
            <a:r>
              <a:rPr lang="en" sz="1150" i="1">
                <a:latin typeface="Verdana"/>
                <a:ea typeface="Verdana"/>
                <a:cs typeface="Verdana"/>
                <a:sym typeface="Verdana"/>
              </a:rPr>
              <a:t>competitionWeaknessB</a:t>
            </a:r>
            <a:endParaRPr sz="1150">
              <a:latin typeface="Verdana"/>
              <a:ea typeface="Verdana"/>
              <a:cs typeface="Verdana"/>
              <a:sym typeface="Verdana"/>
            </a:endParaRPr>
          </a:p>
          <a:p>
            <a:pPr marL="152400" marR="152400" lvl="0" indent="0" algn="l" rtl="0">
              <a:lnSpc>
                <a:spcPct val="115000"/>
              </a:lnSpc>
              <a:spcBef>
                <a:spcPts val="0"/>
              </a:spcBef>
              <a:spcAft>
                <a:spcPts val="0"/>
              </a:spcAft>
              <a:buClr>
                <a:schemeClr val="dk1"/>
              </a:buClr>
              <a:buSzPts val="1100"/>
              <a:buFont typeface="Arial"/>
              <a:buNone/>
            </a:pPr>
            <a:endParaRPr sz="1150">
              <a:latin typeface="Verdana"/>
              <a:ea typeface="Verdana"/>
              <a:cs typeface="Verdana"/>
              <a:sym typeface="Verdana"/>
            </a:endParaRPr>
          </a:p>
          <a:p>
            <a:pPr marL="0" lvl="0" indent="0" algn="l" rtl="0">
              <a:spcBef>
                <a:spcPts val="0"/>
              </a:spcBef>
              <a:spcAft>
                <a:spcPts val="0"/>
              </a:spcAft>
              <a:buNone/>
            </a:pPr>
            <a:endParaRPr sz="1150">
              <a:latin typeface="Verdana"/>
              <a:ea typeface="Verdana"/>
              <a:cs typeface="Verdana"/>
              <a:sym typeface="Verdana"/>
            </a:endParaRPr>
          </a:p>
        </p:txBody>
      </p:sp>
      <p:sp>
        <p:nvSpPr>
          <p:cNvPr id="102" name="Google Shape;102;p15"/>
          <p:cNvSpPr txBox="1"/>
          <p:nvPr/>
        </p:nvSpPr>
        <p:spPr>
          <a:xfrm>
            <a:off x="6621600" y="1285236"/>
            <a:ext cx="2001900" cy="42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i="1">
                <a:solidFill>
                  <a:schemeClr val="dk1"/>
                </a:solidFill>
                <a:latin typeface="Verdana"/>
                <a:ea typeface="Verdana"/>
                <a:cs typeface="Verdana"/>
                <a:sym typeface="Verdana"/>
              </a:rPr>
              <a:t>numberOfLocations</a:t>
            </a:r>
            <a:endParaRPr sz="1150">
              <a:latin typeface="Verdana"/>
              <a:ea typeface="Verdana"/>
              <a:cs typeface="Verdana"/>
              <a:sym typeface="Verdana"/>
            </a:endParaRPr>
          </a:p>
        </p:txBody>
      </p:sp>
      <p:sp>
        <p:nvSpPr>
          <p:cNvPr id="103" name="Google Shape;103;p15"/>
          <p:cNvSpPr txBox="1"/>
          <p:nvPr/>
        </p:nvSpPr>
        <p:spPr>
          <a:xfrm>
            <a:off x="8096800" y="1285236"/>
            <a:ext cx="2001900" cy="42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i="1">
                <a:solidFill>
                  <a:schemeClr val="dk1"/>
                </a:solidFill>
                <a:latin typeface="Verdana"/>
                <a:ea typeface="Verdana"/>
                <a:cs typeface="Verdana"/>
                <a:sym typeface="Verdana"/>
              </a:rPr>
              <a:t>planToExpand</a:t>
            </a:r>
            <a:endParaRPr sz="1150">
              <a:latin typeface="Verdana"/>
              <a:ea typeface="Verdana"/>
              <a:cs typeface="Verdana"/>
              <a:sym typeface="Verdana"/>
            </a:endParaRPr>
          </a:p>
        </p:txBody>
      </p:sp>
      <p:sp>
        <p:nvSpPr>
          <p:cNvPr id="104" name="Google Shape;104;p15"/>
          <p:cNvSpPr txBox="1"/>
          <p:nvPr/>
        </p:nvSpPr>
        <p:spPr>
          <a:xfrm>
            <a:off x="6020695" y="1847088"/>
            <a:ext cx="2001900" cy="567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50" i="1">
                <a:solidFill>
                  <a:schemeClr val="dk1"/>
                </a:solidFill>
                <a:latin typeface="Verdana"/>
                <a:ea typeface="Verdana"/>
                <a:cs typeface="Verdana"/>
                <a:sym typeface="Verdana"/>
              </a:rPr>
              <a:t>secondTierBusiness</a:t>
            </a:r>
            <a:endParaRPr sz="1150" i="1">
              <a:solidFill>
                <a:schemeClr val="dk1"/>
              </a:solidFill>
              <a:latin typeface="Verdana"/>
              <a:ea typeface="Verdana"/>
              <a:cs typeface="Verdana"/>
              <a:sym typeface="Verdana"/>
            </a:endParaRPr>
          </a:p>
          <a:p>
            <a:pPr marL="0" lvl="0" indent="0" algn="l" rtl="0">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#2 in Market Revenue</a:t>
            </a:r>
            <a:endParaRPr sz="1150">
              <a:solidFill>
                <a:schemeClr val="dk1"/>
              </a:solidFill>
              <a:latin typeface="Verdana"/>
              <a:ea typeface="Verdana"/>
              <a:cs typeface="Verdana"/>
              <a:sym typeface="Verdana"/>
            </a:endParaRPr>
          </a:p>
          <a:p>
            <a:pPr marL="0" lvl="0" indent="0" algn="l" rtl="0">
              <a:spcBef>
                <a:spcPts val="0"/>
              </a:spcBef>
              <a:spcAft>
                <a:spcPts val="0"/>
              </a:spcAft>
              <a:buNone/>
            </a:pPr>
            <a:endParaRPr sz="1150">
              <a:latin typeface="Verdana"/>
              <a:ea typeface="Verdana"/>
              <a:cs typeface="Verdana"/>
              <a:sym typeface="Verdana"/>
            </a:endParaRPr>
          </a:p>
        </p:txBody>
      </p:sp>
      <p:sp>
        <p:nvSpPr>
          <p:cNvPr id="105" name="Google Shape;105;p15"/>
          <p:cNvSpPr txBox="1"/>
          <p:nvPr/>
        </p:nvSpPr>
        <p:spPr>
          <a:xfrm>
            <a:off x="1872950" y="1843250"/>
            <a:ext cx="2002500" cy="565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150" i="1">
                <a:solidFill>
                  <a:schemeClr val="dk1"/>
                </a:solidFill>
                <a:latin typeface="Verdana"/>
                <a:ea typeface="Verdana"/>
                <a:cs typeface="Verdana"/>
                <a:sym typeface="Verdana"/>
              </a:rPr>
              <a:t>firstTierBusiness</a:t>
            </a:r>
            <a:endParaRPr sz="1150" i="1">
              <a:solidFill>
                <a:schemeClr val="dk1"/>
              </a:solidFill>
              <a:latin typeface="Verdana"/>
              <a:ea typeface="Verdana"/>
              <a:cs typeface="Verdana"/>
              <a:sym typeface="Verdana"/>
            </a:endParaRPr>
          </a:p>
          <a:p>
            <a:pPr marL="0" lvl="0" indent="0" algn="l" rtl="0">
              <a:lnSpc>
                <a:spcPct val="115000"/>
              </a:lnSpc>
              <a:spcBef>
                <a:spcPts val="0"/>
              </a:spcBef>
              <a:spcAft>
                <a:spcPts val="0"/>
              </a:spcAft>
              <a:buNone/>
            </a:pPr>
            <a:r>
              <a:rPr lang="en" sz="1150">
                <a:solidFill>
                  <a:schemeClr val="dk1"/>
                </a:solidFill>
                <a:latin typeface="Verdana"/>
                <a:ea typeface="Verdana"/>
                <a:cs typeface="Verdana"/>
                <a:sym typeface="Verdana"/>
              </a:rPr>
              <a:t>#1 in Market Revenue</a:t>
            </a:r>
            <a:endParaRPr sz="1150" i="1">
              <a:solidFill>
                <a:schemeClr val="dk1"/>
              </a:solidFill>
              <a:latin typeface="Verdana"/>
              <a:ea typeface="Verdana"/>
              <a:cs typeface="Verdana"/>
              <a:sym typeface="Verdana"/>
            </a:endParaRPr>
          </a:p>
        </p:txBody>
      </p:sp>
      <p:sp>
        <p:nvSpPr>
          <p:cNvPr id="106" name="Google Shape;106;p15"/>
          <p:cNvSpPr txBox="1">
            <a:spLocks noGrp="1"/>
          </p:cNvSpPr>
          <p:nvPr>
            <p:ph type="body" idx="1"/>
          </p:nvPr>
        </p:nvSpPr>
        <p:spPr>
          <a:xfrm>
            <a:off x="365760" y="5860879"/>
            <a:ext cx="8227200" cy="429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solidFill>
                  <a:srgbClr val="000000"/>
                </a:solidFill>
              </a:rPr>
              <a:t>3. </a:t>
            </a:r>
            <a:r>
              <a:rPr lang="en" sz="1150" b="1">
                <a:solidFill>
                  <a:srgbClr val="000000"/>
                </a:solidFill>
                <a:latin typeface="Verdana"/>
                <a:ea typeface="Verdana"/>
                <a:cs typeface="Verdana"/>
                <a:sym typeface="Verdana"/>
              </a:rPr>
              <a:t>What are the biggest misconceptions consumers have about </a:t>
            </a:r>
            <a:r>
              <a:rPr lang="en" b="1">
                <a:solidFill>
                  <a:srgbClr val="000000"/>
                </a:solidFill>
              </a:rPr>
              <a:t>your </a:t>
            </a:r>
            <a:r>
              <a:rPr lang="en" sz="1150" b="1">
                <a:solidFill>
                  <a:srgbClr val="000000"/>
                </a:solidFill>
                <a:latin typeface="Verdana"/>
                <a:ea typeface="Verdana"/>
                <a:cs typeface="Verdana"/>
                <a:sym typeface="Verdana"/>
              </a:rPr>
              <a:t>business?</a:t>
            </a:r>
            <a:endParaRPr sz="1150" b="1">
              <a:solidFill>
                <a:srgbClr val="000000"/>
              </a:solidFill>
              <a:latin typeface="Verdana"/>
              <a:ea typeface="Verdana"/>
              <a:cs typeface="Verdana"/>
              <a:sym typeface="Verdana"/>
            </a:endParaRPr>
          </a:p>
        </p:txBody>
      </p:sp>
      <p:sp>
        <p:nvSpPr>
          <p:cNvPr id="107" name="Google Shape;107;p15"/>
          <p:cNvSpPr txBox="1"/>
          <p:nvPr/>
        </p:nvSpPr>
        <p:spPr>
          <a:xfrm>
            <a:off x="594360" y="6153000"/>
            <a:ext cx="8148900" cy="69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00">
                <a:latin typeface="Verdana"/>
                <a:ea typeface="Verdana"/>
                <a:cs typeface="Verdana"/>
                <a:sym typeface="Verdana"/>
              </a:rPr>
              <a:t>misconceptions</a:t>
            </a:r>
            <a:endParaRPr sz="1100">
              <a:latin typeface="Verdana"/>
              <a:ea typeface="Verdana"/>
              <a:cs typeface="Verdana"/>
              <a:sym typeface="Verdana"/>
            </a:endParaRPr>
          </a:p>
        </p:txBody>
      </p:sp>
      <p:sp>
        <p:nvSpPr>
          <p:cNvPr id="108" name="Google Shape;108;p15"/>
          <p:cNvSpPr txBox="1"/>
          <p:nvPr/>
        </p:nvSpPr>
        <p:spPr>
          <a:xfrm>
            <a:off x="365760" y="3355848"/>
            <a:ext cx="32238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2. Who is the main competition?</a:t>
            </a:r>
            <a:endParaRPr sz="1150" b="1">
              <a:latin typeface="Verdana"/>
              <a:ea typeface="Verdana"/>
              <a:cs typeface="Verdana"/>
              <a:sym typeface="Verdana"/>
            </a:endParaRPr>
          </a:p>
        </p:txBody>
      </p:sp>
      <p:sp>
        <p:nvSpPr>
          <p:cNvPr id="109" name="Google Shape;109;p15"/>
          <p:cNvSpPr txBox="1"/>
          <p:nvPr/>
        </p:nvSpPr>
        <p:spPr>
          <a:xfrm>
            <a:off x="595360" y="3637231"/>
            <a:ext cx="3480300" cy="30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latin typeface="Verdana"/>
                <a:ea typeface="Verdana"/>
                <a:cs typeface="Verdana"/>
                <a:sym typeface="Verdana"/>
              </a:rPr>
              <a:t>competitionA</a:t>
            </a:r>
            <a:endParaRPr sz="1150">
              <a:latin typeface="Verdana"/>
              <a:ea typeface="Verdana"/>
              <a:cs typeface="Verdana"/>
              <a:sym typeface="Verdana"/>
            </a:endParaRPr>
          </a:p>
        </p:txBody>
      </p:sp>
      <p:sp>
        <p:nvSpPr>
          <p:cNvPr id="110" name="Google Shape;110;p15"/>
          <p:cNvSpPr txBox="1"/>
          <p:nvPr/>
        </p:nvSpPr>
        <p:spPr>
          <a:xfrm>
            <a:off x="4719310" y="3640229"/>
            <a:ext cx="3891900" cy="30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latin typeface="Verdana"/>
                <a:ea typeface="Verdana"/>
                <a:cs typeface="Verdana"/>
                <a:sym typeface="Verdana"/>
              </a:rPr>
              <a:t>competitionB</a:t>
            </a:r>
            <a:endParaRPr sz="1150">
              <a:latin typeface="Verdana"/>
              <a:ea typeface="Verdana"/>
              <a:cs typeface="Verdana"/>
              <a:sym typeface="Verdan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Strategic Marketing I12</a:t>
            </a:r>
            <a:endParaRPr dirty="0"/>
          </a:p>
        </p:txBody>
      </p:sp>
      <p:sp>
        <p:nvSpPr>
          <p:cNvPr id="116" name="Google Shape;116;p16"/>
          <p:cNvSpPr txBox="1">
            <a:spLocks noGrp="1"/>
          </p:cNvSpPr>
          <p:nvPr>
            <p:ph type="body" idx="1"/>
          </p:nvPr>
        </p:nvSpPr>
        <p:spPr>
          <a:xfrm>
            <a:off x="365750" y="1170424"/>
            <a:ext cx="8227200" cy="38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chemeClr val="dk1"/>
                </a:solidFill>
              </a:rPr>
              <a:t>4. If you had the power to improve three things in your marketing, what would they be in order?</a:t>
            </a:r>
            <a:endParaRPr b="1">
              <a:solidFill>
                <a:schemeClr val="dk1"/>
              </a:solidFill>
            </a:endParaRPr>
          </a:p>
          <a:p>
            <a:pPr marL="0" lvl="0" indent="0" algn="l" rtl="0">
              <a:spcBef>
                <a:spcPts val="1600"/>
              </a:spcBef>
              <a:spcAft>
                <a:spcPts val="0"/>
              </a:spcAft>
              <a:buNone/>
            </a:pPr>
            <a:endParaRPr b="1">
              <a:solidFill>
                <a:srgbClr val="000000"/>
              </a:solidFill>
            </a:endParaRPr>
          </a:p>
        </p:txBody>
      </p:sp>
      <p:sp>
        <p:nvSpPr>
          <p:cNvPr id="117" name="Google Shape;117;p16"/>
          <p:cNvSpPr txBox="1">
            <a:spLocks noGrp="1"/>
          </p:cNvSpPr>
          <p:nvPr>
            <p:ph type="body" idx="1"/>
          </p:nvPr>
        </p:nvSpPr>
        <p:spPr>
          <a:xfrm>
            <a:off x="3542250" y="2231136"/>
            <a:ext cx="2059500" cy="3852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400" b="1">
                <a:solidFill>
                  <a:srgbClr val="000000"/>
                </a:solidFill>
                <a:latin typeface="Verdana"/>
                <a:ea typeface="Verdana"/>
                <a:cs typeface="Verdana"/>
                <a:sym typeface="Verdana"/>
              </a:rPr>
              <a:t>Client Objectives</a:t>
            </a:r>
            <a:endParaRPr sz="1400" b="1">
              <a:solidFill>
                <a:srgbClr val="000000"/>
              </a:solidFill>
              <a:latin typeface="Verdana"/>
              <a:ea typeface="Verdana"/>
              <a:cs typeface="Verdana"/>
              <a:sym typeface="Verdana"/>
            </a:endParaRPr>
          </a:p>
        </p:txBody>
      </p:sp>
      <p:sp>
        <p:nvSpPr>
          <p:cNvPr id="118" name="Google Shape;118;p16"/>
          <p:cNvSpPr txBox="1">
            <a:spLocks noGrp="1"/>
          </p:cNvSpPr>
          <p:nvPr>
            <p:ph type="body" idx="1"/>
          </p:nvPr>
        </p:nvSpPr>
        <p:spPr>
          <a:xfrm>
            <a:off x="365750" y="2505456"/>
            <a:ext cx="2059500" cy="299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PRODUCT/SERVICE</a:t>
            </a:r>
            <a:endParaRPr sz="1150" b="1">
              <a:solidFill>
                <a:srgbClr val="000000"/>
              </a:solidFill>
              <a:latin typeface="Verdana"/>
              <a:ea typeface="Verdana"/>
              <a:cs typeface="Verdana"/>
              <a:sym typeface="Verdana"/>
            </a:endParaRPr>
          </a:p>
        </p:txBody>
      </p:sp>
      <p:sp>
        <p:nvSpPr>
          <p:cNvPr id="119" name="Google Shape;119;p16"/>
          <p:cNvSpPr txBox="1">
            <a:spLocks noGrp="1"/>
          </p:cNvSpPr>
          <p:nvPr>
            <p:ph type="body" idx="1"/>
          </p:nvPr>
        </p:nvSpPr>
        <p:spPr>
          <a:xfrm>
            <a:off x="4871475" y="2505456"/>
            <a:ext cx="2059500" cy="385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CONSUMER</a:t>
            </a:r>
            <a:endParaRPr sz="1150" b="1">
              <a:solidFill>
                <a:srgbClr val="000000"/>
              </a:solidFill>
              <a:latin typeface="Verdana"/>
              <a:ea typeface="Verdana"/>
              <a:cs typeface="Verdana"/>
              <a:sym typeface="Verdana"/>
            </a:endParaRPr>
          </a:p>
        </p:txBody>
      </p:sp>
      <p:sp>
        <p:nvSpPr>
          <p:cNvPr id="120" name="Google Shape;120;p16"/>
          <p:cNvSpPr txBox="1">
            <a:spLocks noGrp="1"/>
          </p:cNvSpPr>
          <p:nvPr>
            <p:ph type="body" idx="1"/>
          </p:nvPr>
        </p:nvSpPr>
        <p:spPr>
          <a:xfrm>
            <a:off x="365738" y="4151376"/>
            <a:ext cx="2059500" cy="301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PROMOTION</a:t>
            </a:r>
            <a:endParaRPr sz="1150" b="1">
              <a:solidFill>
                <a:srgbClr val="000000"/>
              </a:solidFill>
              <a:latin typeface="Verdana"/>
              <a:ea typeface="Verdana"/>
              <a:cs typeface="Verdana"/>
              <a:sym typeface="Verdana"/>
            </a:endParaRPr>
          </a:p>
        </p:txBody>
      </p:sp>
      <p:sp>
        <p:nvSpPr>
          <p:cNvPr id="121" name="Google Shape;121;p16"/>
          <p:cNvSpPr txBox="1">
            <a:spLocks noGrp="1"/>
          </p:cNvSpPr>
          <p:nvPr>
            <p:ph type="body" idx="1"/>
          </p:nvPr>
        </p:nvSpPr>
        <p:spPr>
          <a:xfrm>
            <a:off x="4871463" y="4151376"/>
            <a:ext cx="2059500" cy="301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BRAND</a:t>
            </a:r>
            <a:endParaRPr sz="1150" b="1">
              <a:solidFill>
                <a:srgbClr val="000000"/>
              </a:solidFill>
              <a:latin typeface="Verdana"/>
              <a:ea typeface="Verdana"/>
              <a:cs typeface="Verdana"/>
              <a:sym typeface="Verdana"/>
            </a:endParaRPr>
          </a:p>
        </p:txBody>
      </p:sp>
      <p:sp>
        <p:nvSpPr>
          <p:cNvPr id="122" name="Google Shape;122;p16"/>
          <p:cNvSpPr txBox="1">
            <a:spLocks noGrp="1"/>
          </p:cNvSpPr>
          <p:nvPr>
            <p:ph type="body" idx="1"/>
          </p:nvPr>
        </p:nvSpPr>
        <p:spPr>
          <a:xfrm>
            <a:off x="365760" y="5724144"/>
            <a:ext cx="8227200" cy="429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solidFill>
                  <a:srgbClr val="000000"/>
                </a:solidFill>
              </a:rPr>
              <a:t>5. What are your most distinctive selling advantages?</a:t>
            </a:r>
            <a:endParaRPr sz="1150" b="1">
              <a:solidFill>
                <a:srgbClr val="000000"/>
              </a:solidFill>
              <a:latin typeface="Verdana"/>
              <a:ea typeface="Verdana"/>
              <a:cs typeface="Verdana"/>
              <a:sym typeface="Verdana"/>
            </a:endParaRPr>
          </a:p>
        </p:txBody>
      </p:sp>
      <p:sp>
        <p:nvSpPr>
          <p:cNvPr id="123" name="Google Shape;123;p16"/>
          <p:cNvSpPr txBox="1"/>
          <p:nvPr/>
        </p:nvSpPr>
        <p:spPr>
          <a:xfrm>
            <a:off x="594360" y="5971032"/>
            <a:ext cx="8148900" cy="69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00">
                <a:latin typeface="Verdana"/>
                <a:ea typeface="Verdana"/>
                <a:cs typeface="Verdana"/>
                <a:sym typeface="Verdana"/>
              </a:rPr>
              <a:t>sellingAdvantages</a:t>
            </a:r>
            <a:endParaRPr sz="1100">
              <a:latin typeface="Verdana"/>
              <a:ea typeface="Verdana"/>
              <a:cs typeface="Verdana"/>
              <a:sym typeface="Verdana"/>
            </a:endParaRPr>
          </a:p>
        </p:txBody>
      </p:sp>
      <p:graphicFrame>
        <p:nvGraphicFramePr>
          <p:cNvPr id="124" name="Google Shape;124;p16"/>
          <p:cNvGraphicFramePr/>
          <p:nvPr>
            <p:extLst>
              <p:ext uri="{D42A27DB-BD31-4B8C-83A1-F6EECF244321}">
                <p14:modId xmlns:p14="http://schemas.microsoft.com/office/powerpoint/2010/main" val="3055491995"/>
              </p:ext>
            </p:extLst>
          </p:nvPr>
        </p:nvGraphicFramePr>
        <p:xfrm>
          <a:off x="594360" y="2807208"/>
          <a:ext cx="3593600" cy="1181055"/>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236211">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Introduce:Product</a:t>
                      </a:r>
                      <a:endParaRPr sz="1000" b="1"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0"/>
                  </a:ext>
                </a:extLst>
              </a:tr>
              <a:tr h="236211">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Feature:Product</a:t>
                      </a:r>
                      <a:endParaRPr sz="1000" b="1"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1"/>
                  </a:ext>
                </a:extLst>
              </a:tr>
              <a:tr h="236211">
                <a:tc>
                  <a:txBody>
                    <a:bodyPr/>
                    <a:lstStyle/>
                    <a:p>
                      <a:pPr marL="0" lvl="0" indent="0" algn="l" rtl="0">
                        <a:lnSpc>
                          <a:spcPct val="115000"/>
                        </a:lnSpc>
                        <a:spcBef>
                          <a:spcPts val="0"/>
                        </a:spcBef>
                        <a:spcAft>
                          <a:spcPts val="0"/>
                        </a:spcAft>
                        <a:buNone/>
                      </a:pPr>
                      <a:r>
                        <a:rPr lang="en" sz="1000" dirty="0" err="1">
                          <a:latin typeface="Verdana"/>
                          <a:ea typeface="Verdana"/>
                          <a:cs typeface="Verdana"/>
                          <a:sym typeface="Verdana"/>
                        </a:rPr>
                        <a:t>Call:Product</a:t>
                      </a:r>
                      <a:endParaRPr sz="100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2"/>
                  </a:ext>
                </a:extLst>
              </a:tr>
              <a:tr h="236211">
                <a:tc>
                  <a:txBody>
                    <a:bodyPr/>
                    <a:lstStyle/>
                    <a:p>
                      <a:pPr marL="0" lvl="0" indent="0" algn="l" rtl="0">
                        <a:lnSpc>
                          <a:spcPct val="115000"/>
                        </a:lnSpc>
                        <a:spcBef>
                          <a:spcPts val="0"/>
                        </a:spcBef>
                        <a:spcAft>
                          <a:spcPts val="0"/>
                        </a:spcAft>
                        <a:buNone/>
                      </a:pPr>
                      <a:r>
                        <a:rPr lang="en" sz="1000" dirty="0" err="1">
                          <a:latin typeface="Verdana"/>
                          <a:ea typeface="Verdana"/>
                          <a:cs typeface="Verdana"/>
                          <a:sym typeface="Verdana"/>
                        </a:rPr>
                        <a:t>Promote:Product</a:t>
                      </a:r>
                      <a:endParaRPr sz="100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3"/>
                  </a:ext>
                </a:extLst>
              </a:tr>
              <a:tr h="236211">
                <a:tc>
                  <a:txBody>
                    <a:bodyPr/>
                    <a:lstStyle/>
                    <a:p>
                      <a:pPr marL="0" lvl="0" indent="0" algn="l" rtl="0">
                        <a:lnSpc>
                          <a:spcPct val="115000"/>
                        </a:lnSpc>
                        <a:spcBef>
                          <a:spcPts val="0"/>
                        </a:spcBef>
                        <a:spcAft>
                          <a:spcPts val="0"/>
                        </a:spcAft>
                        <a:buNone/>
                      </a:pPr>
                      <a:r>
                        <a:rPr lang="en" sz="1000" dirty="0" err="1">
                          <a:latin typeface="Verdana"/>
                          <a:ea typeface="Verdana"/>
                          <a:cs typeface="Verdana"/>
                          <a:sym typeface="Verdana"/>
                        </a:rPr>
                        <a:t>Utilize:Product</a:t>
                      </a:r>
                      <a:endParaRPr sz="100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4"/>
                  </a:ext>
                </a:extLst>
              </a:tr>
            </a:tbl>
          </a:graphicData>
        </a:graphic>
      </p:graphicFrame>
      <p:graphicFrame>
        <p:nvGraphicFramePr>
          <p:cNvPr id="125" name="Google Shape;125;p16"/>
          <p:cNvGraphicFramePr/>
          <p:nvPr>
            <p:extLst>
              <p:ext uri="{D42A27DB-BD31-4B8C-83A1-F6EECF244321}">
                <p14:modId xmlns:p14="http://schemas.microsoft.com/office/powerpoint/2010/main" val="2827486415"/>
              </p:ext>
            </p:extLst>
          </p:nvPr>
        </p:nvGraphicFramePr>
        <p:xfrm>
          <a:off x="5084064" y="2807208"/>
          <a:ext cx="3593600" cy="1289250"/>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257850">
                <a:tc>
                  <a:txBody>
                    <a:bodyPr/>
                    <a:lstStyle/>
                    <a:p>
                      <a:pPr marL="0" lvl="0" indent="0" algn="l" rtl="0">
                        <a:lnSpc>
                          <a:spcPct val="115000"/>
                        </a:lnSpc>
                        <a:spcBef>
                          <a:spcPts val="0"/>
                        </a:spcBef>
                        <a:spcAft>
                          <a:spcPts val="0"/>
                        </a:spcAft>
                        <a:buNone/>
                      </a:pPr>
                      <a:r>
                        <a:rPr lang="en" sz="1000" b="0" dirty="0" err="1">
                          <a:latin typeface="Verdana"/>
                          <a:ea typeface="Verdana"/>
                          <a:cs typeface="Verdana"/>
                          <a:sym typeface="Verdana"/>
                        </a:rPr>
                        <a:t>Retain:Consumer</a:t>
                      </a:r>
                      <a:endParaRPr sz="1000" b="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0"/>
                  </a:ext>
                </a:extLst>
              </a:tr>
              <a:tr h="257850">
                <a:tc>
                  <a:txBody>
                    <a:bodyPr/>
                    <a:lstStyle/>
                    <a:p>
                      <a:pPr marL="0" lvl="0" indent="0" algn="l" rtl="0">
                        <a:lnSpc>
                          <a:spcPct val="115000"/>
                        </a:lnSpc>
                        <a:spcBef>
                          <a:spcPts val="0"/>
                        </a:spcBef>
                        <a:spcAft>
                          <a:spcPts val="0"/>
                        </a:spcAft>
                        <a:buNone/>
                      </a:pPr>
                      <a:r>
                        <a:rPr lang="en-US" sz="1000" b="0" dirty="0" err="1">
                          <a:latin typeface="Verdana"/>
                          <a:ea typeface="Verdana"/>
                          <a:cs typeface="Verdana"/>
                          <a:sym typeface="Verdana"/>
                        </a:rPr>
                        <a:t>Increase:Consumer</a:t>
                      </a:r>
                      <a:endParaRPr sz="1000" b="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1"/>
                  </a:ext>
                </a:extLst>
              </a:tr>
              <a:tr h="257850">
                <a:tc>
                  <a:txBody>
                    <a:bodyPr/>
                    <a:lstStyle/>
                    <a:p>
                      <a:pPr marL="0" lvl="0" indent="0" algn="l" rtl="0">
                        <a:lnSpc>
                          <a:spcPct val="115000"/>
                        </a:lnSpc>
                        <a:spcBef>
                          <a:spcPts val="0"/>
                        </a:spcBef>
                        <a:spcAft>
                          <a:spcPts val="0"/>
                        </a:spcAft>
                        <a:buNone/>
                      </a:pPr>
                      <a:r>
                        <a:rPr lang="en" sz="1000" b="0" dirty="0" err="1">
                          <a:latin typeface="Verdana"/>
                          <a:ea typeface="Verdana"/>
                          <a:cs typeface="Verdana"/>
                          <a:sym typeface="Verdana"/>
                        </a:rPr>
                        <a:t>Grow:Consumer</a:t>
                      </a:r>
                      <a:endParaRPr sz="1000" b="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2"/>
                  </a:ext>
                </a:extLst>
              </a:tr>
              <a:tr h="257850">
                <a:tc>
                  <a:txBody>
                    <a:bodyPr/>
                    <a:lstStyle/>
                    <a:p>
                      <a:pPr marL="0" lvl="0" indent="0" algn="l" rtl="0">
                        <a:lnSpc>
                          <a:spcPct val="115000"/>
                        </a:lnSpc>
                        <a:spcBef>
                          <a:spcPts val="0"/>
                        </a:spcBef>
                        <a:spcAft>
                          <a:spcPts val="0"/>
                        </a:spcAft>
                        <a:buNone/>
                      </a:pPr>
                      <a:r>
                        <a:rPr lang="en" sz="1000" b="0" dirty="0" err="1">
                          <a:latin typeface="Verdana"/>
                          <a:ea typeface="Verdana"/>
                          <a:cs typeface="Verdana"/>
                          <a:sym typeface="Verdana"/>
                        </a:rPr>
                        <a:t>Expand:Consumer</a:t>
                      </a:r>
                      <a:endParaRPr sz="1000" b="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3"/>
                  </a:ext>
                </a:extLst>
              </a:tr>
              <a:tr h="257850">
                <a:tc>
                  <a:txBody>
                    <a:bodyPr/>
                    <a:lstStyle/>
                    <a:p>
                      <a:pPr marL="0" lvl="0" indent="0" algn="l" rtl="0">
                        <a:lnSpc>
                          <a:spcPct val="115000"/>
                        </a:lnSpc>
                        <a:spcBef>
                          <a:spcPts val="0"/>
                        </a:spcBef>
                        <a:spcAft>
                          <a:spcPts val="0"/>
                        </a:spcAft>
                        <a:buNone/>
                      </a:pPr>
                      <a:r>
                        <a:rPr lang="en" sz="1000" b="0" dirty="0" err="1">
                          <a:latin typeface="Verdana"/>
                          <a:ea typeface="Verdana"/>
                          <a:cs typeface="Verdana"/>
                          <a:sym typeface="Verdana"/>
                        </a:rPr>
                        <a:t>Change:Consumer</a:t>
                      </a:r>
                      <a:endParaRPr sz="1000" b="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4"/>
                  </a:ext>
                </a:extLst>
              </a:tr>
            </a:tbl>
          </a:graphicData>
        </a:graphic>
      </p:graphicFrame>
      <p:graphicFrame>
        <p:nvGraphicFramePr>
          <p:cNvPr id="126" name="Google Shape;126;p16"/>
          <p:cNvGraphicFramePr/>
          <p:nvPr>
            <p:extLst>
              <p:ext uri="{D42A27DB-BD31-4B8C-83A1-F6EECF244321}">
                <p14:modId xmlns:p14="http://schemas.microsoft.com/office/powerpoint/2010/main" val="2983055170"/>
              </p:ext>
            </p:extLst>
          </p:nvPr>
        </p:nvGraphicFramePr>
        <p:xfrm>
          <a:off x="611945" y="4508495"/>
          <a:ext cx="3593600" cy="1251468"/>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208578">
                <a:tc>
                  <a:txBody>
                    <a:bodyPr/>
                    <a:lstStyle/>
                    <a:p>
                      <a:pPr marL="0" lvl="0" indent="0" algn="l" rtl="0">
                        <a:lnSpc>
                          <a:spcPct val="115000"/>
                        </a:lnSpc>
                        <a:spcBef>
                          <a:spcPts val="0"/>
                        </a:spcBef>
                        <a:spcAft>
                          <a:spcPts val="0"/>
                        </a:spcAft>
                        <a:buNone/>
                      </a:pPr>
                      <a:r>
                        <a:rPr lang="en" sz="1000" b="1" dirty="0" err="1">
                          <a:solidFill>
                            <a:srgbClr val="222222"/>
                          </a:solidFill>
                          <a:latin typeface="Verdana"/>
                          <a:ea typeface="Verdana"/>
                          <a:cs typeface="Verdana"/>
                          <a:sym typeface="Verdana"/>
                        </a:rPr>
                        <a:t>Make:Promotion</a:t>
                      </a:r>
                      <a:endParaRPr sz="1000" b="1" dirty="0">
                        <a:solidFill>
                          <a:srgbClr val="222222"/>
                        </a:solidFill>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0"/>
                  </a:ext>
                </a:extLst>
              </a:tr>
              <a:tr h="208578">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Develop:Promotion</a:t>
                      </a:r>
                      <a:endParaRPr sz="1000" b="1"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1"/>
                  </a:ext>
                </a:extLst>
              </a:tr>
              <a:tr h="208578">
                <a:tc>
                  <a:txBody>
                    <a:bodyPr/>
                    <a:lstStyle/>
                    <a:p>
                      <a:pPr marL="0" lvl="0" indent="0" algn="l" rtl="0">
                        <a:lnSpc>
                          <a:spcPct val="115000"/>
                        </a:lnSpc>
                        <a:spcBef>
                          <a:spcPts val="0"/>
                        </a:spcBef>
                        <a:spcAft>
                          <a:spcPts val="0"/>
                        </a:spcAft>
                        <a:buNone/>
                      </a:pPr>
                      <a:r>
                        <a:rPr lang="en" sz="1000" dirty="0" err="1">
                          <a:latin typeface="Verdana"/>
                          <a:ea typeface="Verdana"/>
                          <a:cs typeface="Verdana"/>
                          <a:sym typeface="Verdana"/>
                        </a:rPr>
                        <a:t>Establish:Promotion</a:t>
                      </a:r>
                      <a:endParaRPr sz="100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2"/>
                  </a:ext>
                </a:extLst>
              </a:tr>
              <a:tr h="208578">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Develop:Promotion</a:t>
                      </a:r>
                      <a:endParaRPr sz="1000" b="1"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3"/>
                  </a:ext>
                </a:extLst>
              </a:tr>
              <a:tr h="208578">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Initiate:Promotion</a:t>
                      </a:r>
                      <a:endParaRPr sz="1000" b="1"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4"/>
                  </a:ext>
                </a:extLst>
              </a:tr>
              <a:tr h="208578">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Specially:Promotion</a:t>
                      </a:r>
                      <a:endParaRPr sz="1000" b="1"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5"/>
                  </a:ext>
                </a:extLst>
              </a:tr>
            </a:tbl>
          </a:graphicData>
        </a:graphic>
      </p:graphicFrame>
      <p:graphicFrame>
        <p:nvGraphicFramePr>
          <p:cNvPr id="127" name="Google Shape;127;p16"/>
          <p:cNvGraphicFramePr/>
          <p:nvPr>
            <p:extLst>
              <p:ext uri="{D42A27DB-BD31-4B8C-83A1-F6EECF244321}">
                <p14:modId xmlns:p14="http://schemas.microsoft.com/office/powerpoint/2010/main" val="751052941"/>
              </p:ext>
            </p:extLst>
          </p:nvPr>
        </p:nvGraphicFramePr>
        <p:xfrm>
          <a:off x="5084064" y="4549788"/>
          <a:ext cx="3593600" cy="1175004"/>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176894">
                <a:tc>
                  <a:txBody>
                    <a:bodyPr/>
                    <a:lstStyle/>
                    <a:p>
                      <a:pPr marL="0" lvl="0" indent="0" algn="l" rtl="0">
                        <a:lnSpc>
                          <a:spcPct val="115000"/>
                        </a:lnSpc>
                        <a:spcBef>
                          <a:spcPts val="0"/>
                        </a:spcBef>
                        <a:spcAft>
                          <a:spcPts val="0"/>
                        </a:spcAft>
                        <a:buNone/>
                      </a:pPr>
                      <a:r>
                        <a:rPr lang="en" sz="1000" b="1" dirty="0" err="1">
                          <a:solidFill>
                            <a:srgbClr val="222222"/>
                          </a:solidFill>
                          <a:latin typeface="Verdana"/>
                          <a:ea typeface="Verdana"/>
                          <a:cs typeface="Verdana"/>
                          <a:sym typeface="Verdana"/>
                        </a:rPr>
                        <a:t>Maintain:Brand</a:t>
                      </a:r>
                      <a:endParaRPr sz="1000" b="1" dirty="0">
                        <a:solidFill>
                          <a:srgbClr val="222222"/>
                        </a:solidFill>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0"/>
                  </a:ext>
                </a:extLst>
              </a:tr>
              <a:tr h="176894">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Elevate:Brand</a:t>
                      </a:r>
                      <a:endParaRPr sz="1000" b="1" dirty="0">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1"/>
                  </a:ext>
                </a:extLst>
              </a:tr>
              <a:tr h="176894">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Improve:Brand</a:t>
                      </a:r>
                      <a:endParaRPr sz="1000" b="1" dirty="0">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2"/>
                  </a:ext>
                </a:extLst>
              </a:tr>
              <a:tr h="176894">
                <a:tc>
                  <a:txBody>
                    <a:bodyPr/>
                    <a:lstStyle/>
                    <a:p>
                      <a:pPr marL="0" lvl="0" indent="0" algn="l" rtl="0">
                        <a:lnSpc>
                          <a:spcPct val="115000"/>
                        </a:lnSpc>
                        <a:spcBef>
                          <a:spcPts val="0"/>
                        </a:spcBef>
                        <a:spcAft>
                          <a:spcPts val="0"/>
                        </a:spcAft>
                        <a:buNone/>
                      </a:pPr>
                      <a:r>
                        <a:rPr lang="en" sz="1000" dirty="0" err="1">
                          <a:latin typeface="Verdana"/>
                          <a:ea typeface="Verdana"/>
                          <a:cs typeface="Verdana"/>
                          <a:sym typeface="Verdana"/>
                        </a:rPr>
                        <a:t>Enhance:Brand</a:t>
                      </a:r>
                      <a:endParaRPr sz="1000" dirty="0">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3"/>
                  </a:ext>
                </a:extLst>
              </a:tr>
              <a:tr h="176894">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Increase:Brand</a:t>
                      </a:r>
                      <a:endParaRPr sz="1000" b="1" dirty="0">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4"/>
                  </a:ext>
                </a:extLst>
              </a:tr>
              <a:tr h="176894">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Tech:Brand</a:t>
                      </a:r>
                      <a:endParaRPr sz="1000" b="1" dirty="0">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5"/>
                  </a:ext>
                </a:extLst>
              </a:tr>
            </a:tbl>
          </a:graphicData>
        </a:graphic>
      </p:graphicFrame>
      <p:graphicFrame>
        <p:nvGraphicFramePr>
          <p:cNvPr id="128" name="Google Shape;128;p16"/>
          <p:cNvGraphicFramePr/>
          <p:nvPr>
            <p:extLst>
              <p:ext uri="{D42A27DB-BD31-4B8C-83A1-F6EECF244321}">
                <p14:modId xmlns:p14="http://schemas.microsoft.com/office/powerpoint/2010/main" val="3439513245"/>
              </p:ext>
            </p:extLst>
          </p:nvPr>
        </p:nvGraphicFramePr>
        <p:xfrm>
          <a:off x="594350" y="1573425"/>
          <a:ext cx="4124325" cy="634746"/>
        </p:xfrm>
        <a:graphic>
          <a:graphicData uri="http://schemas.openxmlformats.org/drawingml/2006/table">
            <a:tbl>
              <a:tblPr>
                <a:noFill/>
                <a:tableStyleId>{CFB75FC7-DD7D-40D8-B2B2-EE4B611A8D2E}</a:tableStyleId>
              </a:tblPr>
              <a:tblGrid>
                <a:gridCol w="4124325">
                  <a:extLst>
                    <a:ext uri="{9D8B030D-6E8A-4147-A177-3AD203B41FA5}">
                      <a16:colId xmlns:a16="http://schemas.microsoft.com/office/drawing/2014/main" val="20000"/>
                    </a:ext>
                  </a:extLst>
                </a:gridCol>
              </a:tblGrid>
              <a:tr h="209550">
                <a:tc>
                  <a:txBody>
                    <a:bodyPr/>
                    <a:lstStyle/>
                    <a:p>
                      <a:pPr marL="0" lvl="0" indent="0" algn="l" rtl="0">
                        <a:lnSpc>
                          <a:spcPct val="115000"/>
                        </a:lnSpc>
                        <a:spcBef>
                          <a:spcPts val="0"/>
                        </a:spcBef>
                        <a:spcAft>
                          <a:spcPts val="0"/>
                        </a:spcAft>
                        <a:buNone/>
                      </a:pPr>
                      <a:r>
                        <a:rPr lang="en" sz="1100" dirty="0">
                          <a:latin typeface="Verdana"/>
                          <a:ea typeface="Verdana"/>
                          <a:cs typeface="Verdana"/>
                          <a:sym typeface="Verdana"/>
                        </a:rPr>
                        <a:t>order1</a:t>
                      </a:r>
                      <a:endParaRPr sz="1100" dirty="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0"/>
                  </a:ext>
                </a:extLst>
              </a:tr>
              <a:tr h="209550">
                <a:tc>
                  <a:txBody>
                    <a:bodyPr/>
                    <a:lstStyle/>
                    <a:p>
                      <a:pPr marL="0" lvl="0" indent="0" algn="l" rtl="0">
                        <a:lnSpc>
                          <a:spcPct val="115000"/>
                        </a:lnSpc>
                        <a:spcBef>
                          <a:spcPts val="0"/>
                        </a:spcBef>
                        <a:spcAft>
                          <a:spcPts val="0"/>
                        </a:spcAft>
                        <a:buNone/>
                      </a:pPr>
                      <a:r>
                        <a:rPr lang="en" sz="1100" dirty="0">
                          <a:latin typeface="Verdana"/>
                          <a:ea typeface="Verdana"/>
                          <a:cs typeface="Verdana"/>
                          <a:sym typeface="Verdana"/>
                        </a:rPr>
                        <a:t>order2</a:t>
                      </a:r>
                      <a:endParaRPr sz="1100" dirty="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1"/>
                  </a:ext>
                </a:extLst>
              </a:tr>
              <a:tr h="209550">
                <a:tc>
                  <a:txBody>
                    <a:bodyPr/>
                    <a:lstStyle/>
                    <a:p>
                      <a:pPr marL="0" lvl="0" indent="0" algn="l" rtl="0">
                        <a:lnSpc>
                          <a:spcPct val="115000"/>
                        </a:lnSpc>
                        <a:spcBef>
                          <a:spcPts val="0"/>
                        </a:spcBef>
                        <a:spcAft>
                          <a:spcPts val="0"/>
                        </a:spcAft>
                        <a:buNone/>
                      </a:pPr>
                      <a:r>
                        <a:rPr lang="en" sz="1100">
                          <a:latin typeface="Verdana"/>
                          <a:ea typeface="Verdana"/>
                          <a:cs typeface="Verdana"/>
                          <a:sym typeface="Verdana"/>
                        </a:rPr>
                        <a:t>order3</a:t>
                      </a:r>
                      <a:endParaRPr sz="1100" dirty="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7"/>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Strategic Marketing II</a:t>
            </a:r>
            <a:endParaRPr/>
          </a:p>
        </p:txBody>
      </p:sp>
      <p:sp>
        <p:nvSpPr>
          <p:cNvPr id="134" name="Google Shape;134;p17"/>
          <p:cNvSpPr txBox="1"/>
          <p:nvPr/>
        </p:nvSpPr>
        <p:spPr>
          <a:xfrm>
            <a:off x="364750" y="1172575"/>
            <a:ext cx="88587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6. What image do you want your company's name to project to customers and potential consumers?</a:t>
            </a:r>
            <a:endParaRPr sz="1150" b="1">
              <a:latin typeface="Verdana"/>
              <a:ea typeface="Verdana"/>
              <a:cs typeface="Verdana"/>
              <a:sym typeface="Verdana"/>
            </a:endParaRPr>
          </a:p>
        </p:txBody>
      </p:sp>
      <p:sp>
        <p:nvSpPr>
          <p:cNvPr id="135" name="Google Shape;135;p17"/>
          <p:cNvSpPr txBox="1"/>
          <p:nvPr/>
        </p:nvSpPr>
        <p:spPr>
          <a:xfrm>
            <a:off x="577750" y="1462550"/>
            <a:ext cx="8148900" cy="69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50">
                <a:latin typeface="Verdana"/>
                <a:ea typeface="Verdana"/>
                <a:cs typeface="Verdana"/>
                <a:sym typeface="Verdana"/>
              </a:rPr>
              <a:t>companyNameProjectImage</a:t>
            </a:r>
            <a:endParaRPr sz="1150">
              <a:latin typeface="Verdana"/>
              <a:ea typeface="Verdana"/>
              <a:cs typeface="Verdana"/>
              <a:sym typeface="Verdana"/>
            </a:endParaRPr>
          </a:p>
        </p:txBody>
      </p:sp>
      <p:sp>
        <p:nvSpPr>
          <p:cNvPr id="136" name="Google Shape;136;p17"/>
          <p:cNvSpPr txBox="1"/>
          <p:nvPr/>
        </p:nvSpPr>
        <p:spPr>
          <a:xfrm>
            <a:off x="577750" y="2185416"/>
            <a:ext cx="2544300" cy="258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Current Company Slogan</a:t>
            </a:r>
            <a:endParaRPr sz="1150" b="1">
              <a:latin typeface="Verdana"/>
              <a:ea typeface="Verdana"/>
              <a:cs typeface="Verdana"/>
              <a:sym typeface="Verdana"/>
            </a:endParaRPr>
          </a:p>
        </p:txBody>
      </p:sp>
      <p:sp>
        <p:nvSpPr>
          <p:cNvPr id="137" name="Google Shape;137;p17"/>
          <p:cNvSpPr txBox="1"/>
          <p:nvPr/>
        </p:nvSpPr>
        <p:spPr>
          <a:xfrm>
            <a:off x="2990088" y="2185416"/>
            <a:ext cx="4812900" cy="2583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currentCompanySlogan</a:t>
            </a:r>
            <a:endParaRPr sz="1150">
              <a:latin typeface="Verdana"/>
              <a:ea typeface="Verdana"/>
              <a:cs typeface="Verdana"/>
              <a:sym typeface="Verdana"/>
            </a:endParaRPr>
          </a:p>
        </p:txBody>
      </p:sp>
      <p:sp>
        <p:nvSpPr>
          <p:cNvPr id="138" name="Google Shape;138;p17"/>
          <p:cNvSpPr txBox="1"/>
          <p:nvPr/>
        </p:nvSpPr>
        <p:spPr>
          <a:xfrm>
            <a:off x="577750" y="2496312"/>
            <a:ext cx="4530900" cy="258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Does your current slogan project the same image?</a:t>
            </a:r>
            <a:endParaRPr sz="1150" b="1">
              <a:latin typeface="Verdana"/>
              <a:ea typeface="Verdana"/>
              <a:cs typeface="Verdana"/>
              <a:sym typeface="Verdana"/>
            </a:endParaRPr>
          </a:p>
        </p:txBody>
      </p:sp>
      <p:sp>
        <p:nvSpPr>
          <p:cNvPr id="139" name="Google Shape;139;p17"/>
          <p:cNvSpPr txBox="1"/>
          <p:nvPr/>
        </p:nvSpPr>
        <p:spPr>
          <a:xfrm>
            <a:off x="4959550" y="2496312"/>
            <a:ext cx="1575300" cy="255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planToExpand </a:t>
            </a:r>
            <a:endParaRPr/>
          </a:p>
        </p:txBody>
      </p:sp>
      <p:sp>
        <p:nvSpPr>
          <p:cNvPr id="140" name="Google Shape;140;p17"/>
          <p:cNvSpPr txBox="1"/>
          <p:nvPr/>
        </p:nvSpPr>
        <p:spPr>
          <a:xfrm>
            <a:off x="694944" y="3867912"/>
            <a:ext cx="8229600" cy="731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compliments</a:t>
            </a:r>
            <a:endParaRPr sz="1150">
              <a:latin typeface="Verdana"/>
              <a:ea typeface="Verdana"/>
              <a:cs typeface="Verdana"/>
              <a:sym typeface="Verdana"/>
            </a:endParaRPr>
          </a:p>
        </p:txBody>
      </p:sp>
      <p:sp>
        <p:nvSpPr>
          <p:cNvPr id="141" name="Google Shape;141;p17"/>
          <p:cNvSpPr txBox="1"/>
          <p:nvPr/>
        </p:nvSpPr>
        <p:spPr>
          <a:xfrm>
            <a:off x="402325" y="5349250"/>
            <a:ext cx="3538800" cy="590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9. What are your digital marketing strategies? What are your goals and measures of success?</a:t>
            </a:r>
            <a:endParaRPr sz="1150" b="1">
              <a:latin typeface="Verdana"/>
              <a:ea typeface="Verdana"/>
              <a:cs typeface="Verdana"/>
              <a:sym typeface="Verdana"/>
            </a:endParaRPr>
          </a:p>
        </p:txBody>
      </p:sp>
      <p:sp>
        <p:nvSpPr>
          <p:cNvPr id="142" name="Google Shape;142;p17"/>
          <p:cNvSpPr txBox="1"/>
          <p:nvPr/>
        </p:nvSpPr>
        <p:spPr>
          <a:xfrm>
            <a:off x="4736600" y="5349247"/>
            <a:ext cx="4200000" cy="590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10. Do you have social media strategy (i.e. Facebook, Instagram, etc.)? If so, what are your goals and measures of success?</a:t>
            </a:r>
            <a:endParaRPr sz="1150" b="1">
              <a:latin typeface="Verdana"/>
              <a:ea typeface="Verdana"/>
              <a:cs typeface="Verdana"/>
              <a:sym typeface="Verdana"/>
            </a:endParaRPr>
          </a:p>
        </p:txBody>
      </p:sp>
      <p:sp>
        <p:nvSpPr>
          <p:cNvPr id="143" name="Google Shape;143;p17"/>
          <p:cNvSpPr txBox="1"/>
          <p:nvPr/>
        </p:nvSpPr>
        <p:spPr>
          <a:xfrm>
            <a:off x="402336" y="6071616"/>
            <a:ext cx="3731400" cy="817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marketingStrategy</a:t>
            </a:r>
            <a:endParaRPr sz="1150">
              <a:latin typeface="Verdana"/>
              <a:ea typeface="Verdana"/>
              <a:cs typeface="Verdana"/>
              <a:sym typeface="Verdana"/>
            </a:endParaRPr>
          </a:p>
        </p:txBody>
      </p:sp>
      <p:sp>
        <p:nvSpPr>
          <p:cNvPr id="144" name="Google Shape;144;p17"/>
          <p:cNvSpPr txBox="1"/>
          <p:nvPr/>
        </p:nvSpPr>
        <p:spPr>
          <a:xfrm>
            <a:off x="4736592" y="6071616"/>
            <a:ext cx="3731400" cy="817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socialStrategy</a:t>
            </a:r>
            <a:endParaRPr sz="1150">
              <a:latin typeface="Verdana"/>
              <a:ea typeface="Verdana"/>
              <a:cs typeface="Verdana"/>
              <a:sym typeface="Verdana"/>
            </a:endParaRPr>
          </a:p>
        </p:txBody>
      </p:sp>
      <p:graphicFrame>
        <p:nvGraphicFramePr>
          <p:cNvPr id="145" name="Google Shape;145;p17"/>
          <p:cNvGraphicFramePr/>
          <p:nvPr>
            <p:extLst>
              <p:ext uri="{D42A27DB-BD31-4B8C-83A1-F6EECF244321}">
                <p14:modId xmlns:p14="http://schemas.microsoft.com/office/powerpoint/2010/main" val="914132312"/>
              </p:ext>
            </p:extLst>
          </p:nvPr>
        </p:nvGraphicFramePr>
        <p:xfrm>
          <a:off x="365760" y="2813075"/>
          <a:ext cx="8384000" cy="844515"/>
        </p:xfrm>
        <a:graphic>
          <a:graphicData uri="http://schemas.openxmlformats.org/drawingml/2006/table">
            <a:tbl>
              <a:tblPr>
                <a:noFill/>
                <a:tableStyleId>{779AAC5F-F97D-4193-AF94-6FAFF6667CF6}</a:tableStyleId>
              </a:tblPr>
              <a:tblGrid>
                <a:gridCol w="1240025">
                  <a:extLst>
                    <a:ext uri="{9D8B030D-6E8A-4147-A177-3AD203B41FA5}">
                      <a16:colId xmlns:a16="http://schemas.microsoft.com/office/drawing/2014/main" val="20000"/>
                    </a:ext>
                  </a:extLst>
                </a:gridCol>
                <a:gridCol w="2635125">
                  <a:extLst>
                    <a:ext uri="{9D8B030D-6E8A-4147-A177-3AD203B41FA5}">
                      <a16:colId xmlns:a16="http://schemas.microsoft.com/office/drawing/2014/main" val="20001"/>
                    </a:ext>
                  </a:extLst>
                </a:gridCol>
                <a:gridCol w="2605250">
                  <a:extLst>
                    <a:ext uri="{9D8B030D-6E8A-4147-A177-3AD203B41FA5}">
                      <a16:colId xmlns:a16="http://schemas.microsoft.com/office/drawing/2014/main" val="20002"/>
                    </a:ext>
                  </a:extLst>
                </a:gridCol>
                <a:gridCol w="1903600">
                  <a:extLst>
                    <a:ext uri="{9D8B030D-6E8A-4147-A177-3AD203B41FA5}">
                      <a16:colId xmlns:a16="http://schemas.microsoft.com/office/drawing/2014/main" val="20003"/>
                    </a:ext>
                  </a:extLst>
                </a:gridCol>
              </a:tblGrid>
              <a:tr h="322500">
                <a:tc rowSpan="2">
                  <a:txBody>
                    <a:bodyPr/>
                    <a:lstStyle/>
                    <a:p>
                      <a:pPr marL="0" lvl="0" indent="0" algn="ctr" rtl="0">
                        <a:spcBef>
                          <a:spcPts val="0"/>
                        </a:spcBef>
                        <a:spcAft>
                          <a:spcPts val="0"/>
                        </a:spcAft>
                        <a:buNone/>
                      </a:pPr>
                      <a:r>
                        <a:rPr lang="en" sz="1100" b="1">
                          <a:latin typeface="Verdana"/>
                          <a:ea typeface="Verdana"/>
                          <a:cs typeface="Verdana"/>
                          <a:sym typeface="Verdana"/>
                        </a:rPr>
                        <a:t>7. What are your:</a:t>
                      </a:r>
                      <a:endParaRPr sz="1100" b="1">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b="1">
                          <a:latin typeface="Verdana"/>
                          <a:ea typeface="Verdana"/>
                          <a:cs typeface="Verdana"/>
                          <a:sym typeface="Verdana"/>
                        </a:rPr>
                        <a:t>Poorest performing months</a:t>
                      </a:r>
                      <a:endParaRPr sz="1100" b="1">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b="1">
                          <a:latin typeface="Verdana"/>
                          <a:ea typeface="Verdana"/>
                          <a:cs typeface="Verdana"/>
                          <a:sym typeface="Verdana"/>
                        </a:rPr>
                        <a:t>Best performing months</a:t>
                      </a:r>
                      <a:endParaRPr sz="1100" b="1">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b="1">
                          <a:latin typeface="Verdana"/>
                          <a:ea typeface="Verdana"/>
                          <a:cs typeface="Verdana"/>
                          <a:sym typeface="Verdana"/>
                        </a:rPr>
                        <a:t>Best performing days</a:t>
                      </a:r>
                      <a:endParaRPr sz="1100" b="1">
                        <a:latin typeface="Verdana"/>
                        <a:ea typeface="Verdana"/>
                        <a:cs typeface="Verdana"/>
                        <a:sym typeface="Verdana"/>
                      </a:endParaRPr>
                    </a:p>
                  </a:txBody>
                  <a:tcPr marL="91425" marR="91425" marT="91425" marB="91425" anchor="ctr"/>
                </a:tc>
                <a:extLst>
                  <a:ext uri="{0D108BD9-81ED-4DB2-BD59-A6C34878D82A}">
                    <a16:rowId xmlns:a16="http://schemas.microsoft.com/office/drawing/2014/main" val="10000"/>
                  </a:ext>
                </a:extLst>
              </a:tr>
              <a:tr h="494025">
                <a:tc vMerge="1">
                  <a:txBody>
                    <a:bodyPr/>
                    <a:lstStyle/>
                    <a:p>
                      <a:endParaRPr lang="en-US"/>
                    </a:p>
                  </a:txBody>
                  <a:tcPr/>
                </a:tc>
                <a:tc>
                  <a:txBody>
                    <a:bodyPr/>
                    <a:lstStyle/>
                    <a:p>
                      <a:pPr marL="0" lvl="0" indent="0" algn="ctr" rtl="0">
                        <a:lnSpc>
                          <a:spcPct val="115000"/>
                        </a:lnSpc>
                        <a:spcBef>
                          <a:spcPts val="0"/>
                        </a:spcBef>
                        <a:spcAft>
                          <a:spcPts val="0"/>
                        </a:spcAft>
                        <a:buNone/>
                      </a:pPr>
                      <a:r>
                        <a:rPr lang="en" sz="1150" dirty="0" err="1">
                          <a:solidFill>
                            <a:schemeClr val="dk1"/>
                          </a:solidFill>
                          <a:latin typeface="Verdana"/>
                          <a:ea typeface="Verdana"/>
                          <a:cs typeface="Verdana"/>
                          <a:sym typeface="Verdana"/>
                        </a:rPr>
                        <a:t>poorestMonths</a:t>
                      </a:r>
                      <a:endParaRPr sz="1100" dirty="0">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dirty="0" err="1">
                          <a:latin typeface="Verdana"/>
                          <a:ea typeface="Verdana"/>
                          <a:cs typeface="Verdana"/>
                          <a:sym typeface="Verdana"/>
                        </a:rPr>
                        <a:t>bestMonths</a:t>
                      </a:r>
                      <a:endParaRPr sz="1100" dirty="0">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dirty="0" err="1">
                          <a:latin typeface="Verdana"/>
                          <a:ea typeface="Verdana"/>
                          <a:cs typeface="Verdana"/>
                          <a:sym typeface="Verdana"/>
                        </a:rPr>
                        <a:t>bestDays</a:t>
                      </a:r>
                      <a:endParaRPr sz="1100" dirty="0">
                        <a:latin typeface="Verdana"/>
                        <a:ea typeface="Verdana"/>
                        <a:cs typeface="Verdana"/>
                        <a:sym typeface="Verdana"/>
                      </a:endParaRPr>
                    </a:p>
                  </a:txBody>
                  <a:tcPr marL="91425" marR="91425" marT="91425" marB="91425" anchor="ctr"/>
                </a:tc>
                <a:extLst>
                  <a:ext uri="{0D108BD9-81ED-4DB2-BD59-A6C34878D82A}">
                    <a16:rowId xmlns:a16="http://schemas.microsoft.com/office/drawing/2014/main" val="10001"/>
                  </a:ext>
                </a:extLst>
              </a:tr>
            </a:tbl>
          </a:graphicData>
        </a:graphic>
      </p:graphicFrame>
      <p:sp>
        <p:nvSpPr>
          <p:cNvPr id="146" name="Google Shape;146;p17"/>
          <p:cNvSpPr txBox="1"/>
          <p:nvPr/>
        </p:nvSpPr>
        <p:spPr>
          <a:xfrm>
            <a:off x="398800" y="3582263"/>
            <a:ext cx="453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rgbClr val="000000"/>
                </a:solidFill>
                <a:latin typeface="Verdana"/>
                <a:ea typeface="Verdana"/>
                <a:cs typeface="Verdana"/>
                <a:sym typeface="Verdana"/>
              </a:rPr>
              <a:t>8. a. What’s the most frequent compliment you get? </a:t>
            </a:r>
            <a:endParaRPr sz="1150" b="1">
              <a:latin typeface="Verdana"/>
              <a:ea typeface="Verdana"/>
              <a:cs typeface="Verdana"/>
              <a:sym typeface="Verdana"/>
            </a:endParaRPr>
          </a:p>
        </p:txBody>
      </p:sp>
      <p:sp>
        <p:nvSpPr>
          <p:cNvPr id="147" name="Google Shape;147;p17"/>
          <p:cNvSpPr txBox="1"/>
          <p:nvPr/>
        </p:nvSpPr>
        <p:spPr>
          <a:xfrm>
            <a:off x="398800" y="4462272"/>
            <a:ext cx="453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rgbClr val="000000"/>
                </a:solidFill>
                <a:latin typeface="Verdana"/>
                <a:ea typeface="Verdana"/>
                <a:cs typeface="Verdana"/>
                <a:sym typeface="Verdana"/>
              </a:rPr>
              <a:t>    b. What’s the most frequent complaint you get? </a:t>
            </a:r>
            <a:endParaRPr sz="1150" b="1">
              <a:latin typeface="Verdana"/>
              <a:ea typeface="Verdana"/>
              <a:cs typeface="Verdana"/>
              <a:sym typeface="Verdana"/>
            </a:endParaRPr>
          </a:p>
        </p:txBody>
      </p:sp>
      <p:sp>
        <p:nvSpPr>
          <p:cNvPr id="148" name="Google Shape;148;p17"/>
          <p:cNvSpPr txBox="1"/>
          <p:nvPr/>
        </p:nvSpPr>
        <p:spPr>
          <a:xfrm>
            <a:off x="694944" y="4700016"/>
            <a:ext cx="8229600" cy="731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complaint</a:t>
            </a:r>
            <a:endParaRPr sz="1150">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4" name="Google Shape;154;p1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Target Marketing</a:t>
            </a:r>
            <a:endParaRPr dirty="0"/>
          </a:p>
        </p:txBody>
      </p:sp>
      <p:sp>
        <p:nvSpPr>
          <p:cNvPr id="155" name="Google Shape;155;p18"/>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dirty="0">
                <a:solidFill>
                  <a:schemeClr val="dk1"/>
                </a:solidFill>
                <a:latin typeface="Verdana"/>
                <a:ea typeface="Verdana"/>
                <a:cs typeface="Verdana"/>
                <a:sym typeface="Verdana"/>
              </a:rPr>
              <a:t>A. What percentage of your "target" consumers are men?</a:t>
            </a:r>
            <a:endParaRPr b="1" dirty="0"/>
          </a:p>
        </p:txBody>
      </p:sp>
      <p:sp>
        <p:nvSpPr>
          <p:cNvPr id="156" name="Google Shape;156;p18"/>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dirty="0">
                <a:solidFill>
                  <a:schemeClr val="dk1"/>
                </a:solidFill>
                <a:latin typeface="Verdana"/>
                <a:ea typeface="Verdana"/>
                <a:cs typeface="Verdana"/>
                <a:sym typeface="Verdana"/>
              </a:rPr>
              <a:t>Women?</a:t>
            </a:r>
            <a:endParaRPr b="1" dirty="0"/>
          </a:p>
        </p:txBody>
      </p:sp>
      <p:sp>
        <p:nvSpPr>
          <p:cNvPr id="157" name="Google Shape;157;p18"/>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158" name="Google Shape;158;p18"/>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159" name="Google Shape;159;p18"/>
          <p:cNvSpPr txBox="1"/>
          <p:nvPr/>
        </p:nvSpPr>
        <p:spPr>
          <a:xfrm>
            <a:off x="364750" y="4032250"/>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graphicFrame>
        <p:nvGraphicFramePr>
          <p:cNvPr id="160" name="Google Shape;160;p18"/>
          <p:cNvGraphicFramePr/>
          <p:nvPr>
            <p:extLst>
              <p:ext uri="{D42A27DB-BD31-4B8C-83A1-F6EECF244321}">
                <p14:modId xmlns:p14="http://schemas.microsoft.com/office/powerpoint/2010/main" val="3470076820"/>
              </p:ext>
            </p:extLst>
          </p:nvPr>
        </p:nvGraphicFramePr>
        <p:xfrm>
          <a:off x="1201409" y="4562856"/>
          <a:ext cx="6741175" cy="2250875"/>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marL="0" lvl="0" indent="0" algn="ctr" rtl="0">
                        <a:spcBef>
                          <a:spcPts val="0"/>
                        </a:spcBef>
                        <a:spcAft>
                          <a:spcPts val="0"/>
                        </a:spcAft>
                        <a:buNone/>
                      </a:pPr>
                      <a:endParaRPr dirty="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gridSpan="2">
                  <a:txBody>
                    <a:bodyPr/>
                    <a:lstStyle/>
                    <a:p>
                      <a:pPr marL="0" lvl="0" indent="0" algn="ctr" rtl="0">
                        <a:spcBef>
                          <a:spcPts val="0"/>
                        </a:spcBef>
                        <a:spcAft>
                          <a:spcPts val="0"/>
                        </a:spcAft>
                        <a:buNone/>
                      </a:pPr>
                      <a:r>
                        <a:rPr lang="en" sz="1900" b="1">
                          <a:latin typeface="Verdana"/>
                          <a:ea typeface="Verdana"/>
                          <a:cs typeface="Verdana"/>
                          <a:sym typeface="Verdana"/>
                        </a:rPr>
                        <a:t>Target 85%</a:t>
                      </a: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hMerge="1">
                  <a:txBody>
                    <a:bodyPr/>
                    <a:lstStyle/>
                    <a:p>
                      <a:endParaRPr lang="en-US"/>
                    </a:p>
                  </a:txBody>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64600">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have12to18</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have19to25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have26to35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have36to45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have46to55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have56Plus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want26to35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want36to45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want46to55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want55Plus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61" name="Google Shape;161;p18"/>
          <p:cNvSpPr txBox="1"/>
          <p:nvPr/>
        </p:nvSpPr>
        <p:spPr>
          <a:xfrm>
            <a:off x="364750" y="3390288"/>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Clr>
                <a:schemeClr val="dk1"/>
              </a:buClr>
              <a:buSzPts val="1100"/>
              <a:buFont typeface="Arial"/>
              <a:buNone/>
            </a:pPr>
            <a:r>
              <a:rPr lang="en" sz="1100">
                <a:solidFill>
                  <a:schemeClr val="dk1"/>
                </a:solidFill>
                <a:latin typeface="Verdana"/>
                <a:ea typeface="Verdana"/>
                <a:cs typeface="Verdana"/>
                <a:sym typeface="Verdana"/>
              </a:rPr>
              <a:t>describeIdealTargetConsumer </a:t>
            </a:r>
            <a:endParaRPr/>
          </a:p>
        </p:txBody>
      </p:sp>
      <p:sp>
        <p:nvSpPr>
          <p:cNvPr id="162" name="Google Shape;162;p18"/>
          <p:cNvSpPr txBox="1"/>
          <p:nvPr/>
        </p:nvSpPr>
        <p:spPr>
          <a:xfrm>
            <a:off x="1366525"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Under50K</a:t>
            </a:r>
            <a:endParaRPr sz="1150" dirty="0">
              <a:latin typeface="Verdana"/>
              <a:ea typeface="Verdana"/>
              <a:cs typeface="Verdana"/>
              <a:sym typeface="Verdana"/>
            </a:endParaRPr>
          </a:p>
        </p:txBody>
      </p:sp>
      <p:sp>
        <p:nvSpPr>
          <p:cNvPr id="163" name="Google Shape;163;p18"/>
          <p:cNvSpPr txBox="1"/>
          <p:nvPr/>
        </p:nvSpPr>
        <p:spPr>
          <a:xfrm>
            <a:off x="3097300"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50K-99K</a:t>
            </a:r>
            <a:endParaRPr sz="1150" dirty="0">
              <a:latin typeface="Verdana"/>
              <a:ea typeface="Verdana"/>
              <a:cs typeface="Verdana"/>
              <a:sym typeface="Verdana"/>
            </a:endParaRPr>
          </a:p>
        </p:txBody>
      </p:sp>
      <p:sp>
        <p:nvSpPr>
          <p:cNvPr id="164" name="Google Shape;164;p18"/>
          <p:cNvSpPr txBox="1"/>
          <p:nvPr/>
        </p:nvSpPr>
        <p:spPr>
          <a:xfrm>
            <a:off x="4828100" y="2058725"/>
            <a:ext cx="11536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100K149K</a:t>
            </a:r>
            <a:endParaRPr sz="1150" dirty="0">
              <a:latin typeface="Verdana"/>
              <a:ea typeface="Verdana"/>
              <a:cs typeface="Verdana"/>
              <a:sym typeface="Verdana"/>
            </a:endParaRPr>
          </a:p>
        </p:txBody>
      </p:sp>
      <p:sp>
        <p:nvSpPr>
          <p:cNvPr id="165" name="Google Shape;165;p18"/>
          <p:cNvSpPr txBox="1"/>
          <p:nvPr/>
        </p:nvSpPr>
        <p:spPr>
          <a:xfrm>
            <a:off x="6558875" y="2058725"/>
            <a:ext cx="9519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150Kplus</a:t>
            </a:r>
            <a:endParaRPr sz="1150" dirty="0">
              <a:latin typeface="Verdana"/>
              <a:ea typeface="Verdana"/>
              <a:cs typeface="Verdana"/>
              <a:sym typeface="Verdana"/>
            </a:endParaRPr>
          </a:p>
        </p:txBody>
      </p:sp>
      <p:sp>
        <p:nvSpPr>
          <p:cNvPr id="166" name="Google Shape;166;p18"/>
          <p:cNvSpPr txBox="1"/>
          <p:nvPr/>
        </p:nvSpPr>
        <p:spPr>
          <a:xfrm>
            <a:off x="5271975" y="1206625"/>
            <a:ext cx="709725"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dirty="0" err="1">
                <a:solidFill>
                  <a:schemeClr val="dk1"/>
                </a:solidFill>
                <a:latin typeface="Verdana"/>
                <a:ea typeface="Verdana"/>
                <a:cs typeface="Verdana"/>
                <a:sym typeface="Verdana"/>
              </a:rPr>
              <a:t>pctMen</a:t>
            </a:r>
            <a:endParaRPr dirty="0"/>
          </a:p>
        </p:txBody>
      </p:sp>
      <p:sp>
        <p:nvSpPr>
          <p:cNvPr id="167" name="Google Shape;167;p18"/>
          <p:cNvSpPr txBox="1"/>
          <p:nvPr/>
        </p:nvSpPr>
        <p:spPr>
          <a:xfrm>
            <a:off x="6707074" y="1206625"/>
            <a:ext cx="803701"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dirty="0" err="1">
                <a:solidFill>
                  <a:schemeClr val="dk1"/>
                </a:solidFill>
                <a:latin typeface="Verdana"/>
                <a:ea typeface="Verdana"/>
                <a:cs typeface="Verdana"/>
                <a:sym typeface="Verdana"/>
              </a:rPr>
              <a:t>pctWom</a:t>
            </a:r>
            <a:endParaRPr dirty="0"/>
          </a:p>
        </p:txBody>
      </p:sp>
      <p:sp>
        <p:nvSpPr>
          <p:cNvPr id="171" name="Google Shape;171;p18"/>
          <p:cNvSpPr/>
          <p:nvPr/>
        </p:nvSpPr>
        <p:spPr>
          <a:xfrm rot="5400000">
            <a:off x="2633172"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8"/>
          <p:cNvSpPr/>
          <p:nvPr/>
        </p:nvSpPr>
        <p:spPr>
          <a:xfrm rot="-5400000" flipH="1">
            <a:off x="5986906"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8"/>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174" name="Google Shape;174;p18"/>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80" name="Google Shape;180;p19"/>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Target Marketing</a:t>
            </a:r>
            <a:endParaRPr/>
          </a:p>
        </p:txBody>
      </p:sp>
      <p:sp>
        <p:nvSpPr>
          <p:cNvPr id="181" name="Google Shape;181;p19"/>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A. What percentage of your "target" consumers are men?</a:t>
            </a:r>
            <a:endParaRPr b="1"/>
          </a:p>
        </p:txBody>
      </p:sp>
      <p:sp>
        <p:nvSpPr>
          <p:cNvPr id="182" name="Google Shape;182;p19"/>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Women?</a:t>
            </a:r>
            <a:endParaRPr b="1"/>
          </a:p>
        </p:txBody>
      </p:sp>
      <p:sp>
        <p:nvSpPr>
          <p:cNvPr id="183" name="Google Shape;183;p19"/>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184" name="Google Shape;184;p19"/>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185" name="Google Shape;185;p19"/>
          <p:cNvSpPr txBox="1"/>
          <p:nvPr/>
        </p:nvSpPr>
        <p:spPr>
          <a:xfrm>
            <a:off x="364750" y="4032238"/>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graphicFrame>
        <p:nvGraphicFramePr>
          <p:cNvPr id="186" name="Google Shape;186;p19"/>
          <p:cNvGraphicFramePr/>
          <p:nvPr/>
        </p:nvGraphicFramePr>
        <p:xfrm>
          <a:off x="1203108" y="4562856"/>
          <a:ext cx="6741175" cy="2213700"/>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marL="0" lvl="0" indent="0" algn="ctr" rtl="0">
                        <a:spcBef>
                          <a:spcPts val="0"/>
                        </a:spcBef>
                        <a:spcAft>
                          <a:spcPts val="0"/>
                        </a:spcAft>
                        <a:buNone/>
                      </a:pPr>
                      <a:endParaRPr dirty="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900" b="1">
                        <a:latin typeface="Verdana"/>
                        <a:ea typeface="Verdana"/>
                        <a:cs typeface="Verdana"/>
                        <a:sym typeface="Verdana"/>
                      </a:endParaRPr>
                    </a:p>
                  </a:txBody>
                  <a:tcPr marL="91425" marR="91425" marT="91425" marB="91425" anchor="ctr">
                    <a:lnL w="9525"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gridSpan="2">
                  <a:txBody>
                    <a:bodyPr/>
                    <a:lstStyle/>
                    <a:p>
                      <a:pPr marL="0" lvl="0" indent="0" algn="ctr" rtl="0">
                        <a:spcBef>
                          <a:spcPts val="0"/>
                        </a:spcBef>
                        <a:spcAft>
                          <a:spcPts val="0"/>
                        </a:spcAft>
                        <a:buNone/>
                      </a:pPr>
                      <a:r>
                        <a:rPr lang="en" sz="1900" b="1">
                          <a:latin typeface="Verdana"/>
                          <a:ea typeface="Verdana"/>
                          <a:cs typeface="Verdana"/>
                          <a:sym typeface="Verdana"/>
                        </a:rPr>
                        <a:t>Target 85%</a:t>
                      </a: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hMerge="1">
                  <a:txBody>
                    <a:bodyPr/>
                    <a:lstStyle/>
                    <a:p>
                      <a:endParaRPr lang="en-US"/>
                    </a:p>
                  </a:txBody>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have12to18</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have26to35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have36to45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have46to55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have56Plus</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want26to35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want36to45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want46to55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want55Plus</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87" name="Google Shape;187;p19"/>
          <p:cNvSpPr txBox="1"/>
          <p:nvPr/>
        </p:nvSpPr>
        <p:spPr>
          <a:xfrm>
            <a:off x="1366525"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Under50K</a:t>
            </a:r>
            <a:endParaRPr sz="1150" dirty="0">
              <a:latin typeface="Verdana"/>
              <a:ea typeface="Verdana"/>
              <a:cs typeface="Verdana"/>
              <a:sym typeface="Verdana"/>
            </a:endParaRPr>
          </a:p>
        </p:txBody>
      </p:sp>
      <p:sp>
        <p:nvSpPr>
          <p:cNvPr id="188" name="Google Shape;188;p19"/>
          <p:cNvSpPr txBox="1"/>
          <p:nvPr/>
        </p:nvSpPr>
        <p:spPr>
          <a:xfrm>
            <a:off x="3097300"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50K99K</a:t>
            </a:r>
            <a:endParaRPr sz="1150" dirty="0">
              <a:latin typeface="Verdana"/>
              <a:ea typeface="Verdana"/>
              <a:cs typeface="Verdana"/>
              <a:sym typeface="Verdana"/>
            </a:endParaRPr>
          </a:p>
        </p:txBody>
      </p:sp>
      <p:sp>
        <p:nvSpPr>
          <p:cNvPr id="189" name="Google Shape;189;p19"/>
          <p:cNvSpPr txBox="1"/>
          <p:nvPr/>
        </p:nvSpPr>
        <p:spPr>
          <a:xfrm>
            <a:off x="4828100" y="2058725"/>
            <a:ext cx="9788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100K149K</a:t>
            </a:r>
            <a:endParaRPr sz="1150" dirty="0">
              <a:latin typeface="Verdana"/>
              <a:ea typeface="Verdana"/>
              <a:cs typeface="Verdana"/>
              <a:sym typeface="Verdana"/>
            </a:endParaRPr>
          </a:p>
        </p:txBody>
      </p:sp>
      <p:sp>
        <p:nvSpPr>
          <p:cNvPr id="190" name="Google Shape;190;p19"/>
          <p:cNvSpPr txBox="1"/>
          <p:nvPr/>
        </p:nvSpPr>
        <p:spPr>
          <a:xfrm>
            <a:off x="6558875" y="2058725"/>
            <a:ext cx="9519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150Kplus</a:t>
            </a:r>
            <a:endParaRPr sz="1150" dirty="0">
              <a:latin typeface="Verdana"/>
              <a:ea typeface="Verdana"/>
              <a:cs typeface="Verdana"/>
              <a:sym typeface="Verdana"/>
            </a:endParaRPr>
          </a:p>
        </p:txBody>
      </p:sp>
      <p:sp>
        <p:nvSpPr>
          <p:cNvPr id="191" name="Google Shape;191;p19"/>
          <p:cNvSpPr txBox="1"/>
          <p:nvPr/>
        </p:nvSpPr>
        <p:spPr>
          <a:xfrm>
            <a:off x="364750" y="3390288"/>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192" name="Google Shape;192;p19"/>
          <p:cNvSpPr txBox="1"/>
          <p:nvPr/>
        </p:nvSpPr>
        <p:spPr>
          <a:xfrm>
            <a:off x="5284900" y="1206625"/>
            <a:ext cx="6968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dirty="0" err="1">
                <a:solidFill>
                  <a:schemeClr val="dk1"/>
                </a:solidFill>
                <a:latin typeface="Verdana"/>
                <a:ea typeface="Verdana"/>
                <a:cs typeface="Verdana"/>
                <a:sym typeface="Verdana"/>
              </a:rPr>
              <a:t>pctMen</a:t>
            </a:r>
            <a:endParaRPr dirty="0"/>
          </a:p>
        </p:txBody>
      </p:sp>
      <p:sp>
        <p:nvSpPr>
          <p:cNvPr id="193" name="Google Shape;193;p19"/>
          <p:cNvSpPr txBox="1"/>
          <p:nvPr/>
        </p:nvSpPr>
        <p:spPr>
          <a:xfrm>
            <a:off x="6707075" y="1206625"/>
            <a:ext cx="9519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dirty="0" err="1">
                <a:solidFill>
                  <a:schemeClr val="dk1"/>
                </a:solidFill>
                <a:latin typeface="Verdana"/>
                <a:ea typeface="Verdana"/>
                <a:cs typeface="Verdana"/>
                <a:sym typeface="Verdana"/>
              </a:rPr>
              <a:t>pctWom</a:t>
            </a:r>
            <a:endParaRPr dirty="0"/>
          </a:p>
        </p:txBody>
      </p:sp>
      <p:sp>
        <p:nvSpPr>
          <p:cNvPr id="197" name="Google Shape;197;p19"/>
          <p:cNvSpPr/>
          <p:nvPr/>
        </p:nvSpPr>
        <p:spPr>
          <a:xfrm rot="5400000">
            <a:off x="3767028"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9"/>
          <p:cNvSpPr/>
          <p:nvPr/>
        </p:nvSpPr>
        <p:spPr>
          <a:xfrm rot="-5400000" flipH="1">
            <a:off x="7120762"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9"/>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200" name="Google Shape;200;p19"/>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graphicFrame>
        <p:nvGraphicFramePr>
          <p:cNvPr id="205" name="Google Shape;205;p20"/>
          <p:cNvGraphicFramePr/>
          <p:nvPr/>
        </p:nvGraphicFramePr>
        <p:xfrm>
          <a:off x="1203108" y="4562856"/>
          <a:ext cx="6741175" cy="2213700"/>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marL="0" lvl="0" indent="0" algn="ctr" rtl="0">
                        <a:spcBef>
                          <a:spcPts val="0"/>
                        </a:spcBef>
                        <a:spcAft>
                          <a:spcPts val="0"/>
                        </a:spcAft>
                        <a:buNone/>
                      </a:pPr>
                      <a:endParaRPr dirty="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900" b="1">
                        <a:latin typeface="Verdana"/>
                        <a:ea typeface="Verdana"/>
                        <a:cs typeface="Verdana"/>
                        <a:sym typeface="Verdana"/>
                      </a:endParaRPr>
                    </a:p>
                  </a:txBody>
                  <a:tcPr marL="91425" marR="91425" marT="91425" marB="91425" anchor="ctr">
                    <a:lnL w="9525"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nchor="ctr">
                    <a:lnL w="19050"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gridSpan="2">
                  <a:txBody>
                    <a:bodyPr/>
                    <a:lstStyle/>
                    <a:p>
                      <a:pPr marL="0" lvl="0" indent="0" algn="ctr" rtl="0">
                        <a:spcBef>
                          <a:spcPts val="0"/>
                        </a:spcBef>
                        <a:spcAft>
                          <a:spcPts val="0"/>
                        </a:spcAft>
                        <a:buNone/>
                      </a:pPr>
                      <a:r>
                        <a:rPr lang="en" sz="1900" b="1">
                          <a:latin typeface="Verdana"/>
                          <a:ea typeface="Verdana"/>
                          <a:cs typeface="Verdana"/>
                          <a:sym typeface="Verdana"/>
                        </a:rPr>
                        <a:t>Target 85%</a:t>
                      </a: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hMerge="1">
                  <a:txBody>
                    <a:bodyPr/>
                    <a:lstStyle/>
                    <a:p>
                      <a:endParaRPr lang="en-US"/>
                    </a:p>
                  </a:txBody>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have12to18</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have26to35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have36to45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have46to55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have56Plus</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want26to35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want36to45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want46to55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want55Plus</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06" name="Google Shape;206;p20"/>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Target Marketing</a:t>
            </a:r>
            <a:endParaRPr/>
          </a:p>
        </p:txBody>
      </p:sp>
      <p:sp>
        <p:nvSpPr>
          <p:cNvPr id="207" name="Google Shape;207;p20"/>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A. What percentage of your "target" consumers are men?</a:t>
            </a:r>
            <a:endParaRPr b="1"/>
          </a:p>
        </p:txBody>
      </p:sp>
      <p:sp>
        <p:nvSpPr>
          <p:cNvPr id="208" name="Google Shape;208;p20"/>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Women?</a:t>
            </a:r>
            <a:endParaRPr b="1"/>
          </a:p>
        </p:txBody>
      </p:sp>
      <p:sp>
        <p:nvSpPr>
          <p:cNvPr id="209" name="Google Shape;209;p20"/>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210" name="Google Shape;210;p20"/>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211" name="Google Shape;211;p20"/>
          <p:cNvSpPr txBox="1"/>
          <p:nvPr/>
        </p:nvSpPr>
        <p:spPr>
          <a:xfrm>
            <a:off x="364750" y="4032238"/>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sp>
        <p:nvSpPr>
          <p:cNvPr id="212" name="Google Shape;212;p20"/>
          <p:cNvSpPr txBox="1"/>
          <p:nvPr/>
        </p:nvSpPr>
        <p:spPr>
          <a:xfrm>
            <a:off x="1366525"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Under 50K</a:t>
            </a:r>
            <a:endParaRPr sz="1150" dirty="0">
              <a:latin typeface="Verdana"/>
              <a:ea typeface="Verdana"/>
              <a:cs typeface="Verdana"/>
              <a:sym typeface="Verdana"/>
            </a:endParaRPr>
          </a:p>
        </p:txBody>
      </p:sp>
      <p:sp>
        <p:nvSpPr>
          <p:cNvPr id="213" name="Google Shape;213;p20"/>
          <p:cNvSpPr txBox="1"/>
          <p:nvPr/>
        </p:nvSpPr>
        <p:spPr>
          <a:xfrm>
            <a:off x="3097300"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50K-99K</a:t>
            </a:r>
            <a:endParaRPr sz="1150" dirty="0">
              <a:latin typeface="Verdana"/>
              <a:ea typeface="Verdana"/>
              <a:cs typeface="Verdana"/>
              <a:sym typeface="Verdana"/>
            </a:endParaRPr>
          </a:p>
        </p:txBody>
      </p:sp>
      <p:sp>
        <p:nvSpPr>
          <p:cNvPr id="214" name="Google Shape;214;p20"/>
          <p:cNvSpPr txBox="1"/>
          <p:nvPr/>
        </p:nvSpPr>
        <p:spPr>
          <a:xfrm>
            <a:off x="4828100"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100K149K</a:t>
            </a:r>
            <a:endParaRPr sz="1150" dirty="0">
              <a:latin typeface="Verdana"/>
              <a:ea typeface="Verdana"/>
              <a:cs typeface="Verdana"/>
              <a:sym typeface="Verdana"/>
            </a:endParaRPr>
          </a:p>
        </p:txBody>
      </p:sp>
      <p:sp>
        <p:nvSpPr>
          <p:cNvPr id="215" name="Google Shape;215;p20"/>
          <p:cNvSpPr txBox="1"/>
          <p:nvPr/>
        </p:nvSpPr>
        <p:spPr>
          <a:xfrm>
            <a:off x="6558875"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1510Kplus</a:t>
            </a:r>
            <a:endParaRPr sz="1150" dirty="0">
              <a:latin typeface="Verdana"/>
              <a:ea typeface="Verdana"/>
              <a:cs typeface="Verdana"/>
              <a:sym typeface="Verdana"/>
            </a:endParaRPr>
          </a:p>
        </p:txBody>
      </p:sp>
      <p:sp>
        <p:nvSpPr>
          <p:cNvPr id="216" name="Google Shape;216;p20"/>
          <p:cNvSpPr txBox="1"/>
          <p:nvPr/>
        </p:nvSpPr>
        <p:spPr>
          <a:xfrm>
            <a:off x="453650" y="3120620"/>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217" name="Google Shape;217;p20"/>
          <p:cNvSpPr txBox="1"/>
          <p:nvPr/>
        </p:nvSpPr>
        <p:spPr>
          <a:xfrm>
            <a:off x="5284900" y="1206625"/>
            <a:ext cx="6968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dirty="0" err="1">
                <a:solidFill>
                  <a:schemeClr val="dk1"/>
                </a:solidFill>
                <a:latin typeface="Verdana"/>
                <a:ea typeface="Verdana"/>
                <a:cs typeface="Verdana"/>
                <a:sym typeface="Verdana"/>
              </a:rPr>
              <a:t>pctMen</a:t>
            </a:r>
            <a:endParaRPr dirty="0"/>
          </a:p>
        </p:txBody>
      </p:sp>
      <p:sp>
        <p:nvSpPr>
          <p:cNvPr id="218" name="Google Shape;218;p20"/>
          <p:cNvSpPr txBox="1"/>
          <p:nvPr/>
        </p:nvSpPr>
        <p:spPr>
          <a:xfrm>
            <a:off x="6707075" y="1206625"/>
            <a:ext cx="85025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dirty="0" err="1">
                <a:solidFill>
                  <a:schemeClr val="dk1"/>
                </a:solidFill>
                <a:latin typeface="Verdana"/>
                <a:ea typeface="Verdana"/>
                <a:cs typeface="Verdana"/>
                <a:sym typeface="Verdana"/>
              </a:rPr>
              <a:t>pctomen</a:t>
            </a:r>
            <a:endParaRPr dirty="0"/>
          </a:p>
        </p:txBody>
      </p:sp>
      <p:sp>
        <p:nvSpPr>
          <p:cNvPr id="223" name="Google Shape;223;p20"/>
          <p:cNvSpPr/>
          <p:nvPr/>
        </p:nvSpPr>
        <p:spPr>
          <a:xfrm rot="5400000">
            <a:off x="4876122"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0"/>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225" name="Google Shape;225;p20"/>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1" name="Google Shape;231;p21"/>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Target Marketing</a:t>
            </a:r>
            <a:endParaRPr/>
          </a:p>
        </p:txBody>
      </p:sp>
      <p:sp>
        <p:nvSpPr>
          <p:cNvPr id="232" name="Google Shape;232;p21"/>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A. What percentage of your "target" consumers are men?</a:t>
            </a:r>
            <a:endParaRPr b="1"/>
          </a:p>
        </p:txBody>
      </p:sp>
      <p:sp>
        <p:nvSpPr>
          <p:cNvPr id="233" name="Google Shape;233;p21"/>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Women?</a:t>
            </a:r>
            <a:endParaRPr b="1"/>
          </a:p>
        </p:txBody>
      </p:sp>
      <p:sp>
        <p:nvSpPr>
          <p:cNvPr id="234" name="Google Shape;234;p21"/>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235" name="Google Shape;235;p21"/>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236" name="Google Shape;236;p21"/>
          <p:cNvSpPr txBox="1"/>
          <p:nvPr/>
        </p:nvSpPr>
        <p:spPr>
          <a:xfrm>
            <a:off x="364750" y="4032238"/>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graphicFrame>
        <p:nvGraphicFramePr>
          <p:cNvPr id="237" name="Google Shape;237;p21"/>
          <p:cNvGraphicFramePr/>
          <p:nvPr>
            <p:extLst>
              <p:ext uri="{D42A27DB-BD31-4B8C-83A1-F6EECF244321}">
                <p14:modId xmlns:p14="http://schemas.microsoft.com/office/powerpoint/2010/main" val="2007854799"/>
              </p:ext>
            </p:extLst>
          </p:nvPr>
        </p:nvGraphicFramePr>
        <p:xfrm>
          <a:off x="1203108" y="4562856"/>
          <a:ext cx="6741175" cy="2213700"/>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marL="0" lvl="0" indent="0" algn="ctr" rtl="0">
                        <a:spcBef>
                          <a:spcPts val="0"/>
                        </a:spcBef>
                        <a:spcAft>
                          <a:spcPts val="0"/>
                        </a:spcAft>
                        <a:buNone/>
                      </a:pPr>
                      <a:endParaRPr dirty="0"/>
                    </a:p>
                  </a:txBody>
                  <a:tcPr marL="91425" marR="91425" marT="91425" marB="91425" anchor="ctr">
                    <a:lnL w="9525"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gridSpan="2">
                  <a:txBody>
                    <a:bodyPr/>
                    <a:lstStyle/>
                    <a:p>
                      <a:pPr marL="0" lvl="0" indent="0" algn="ctr" rtl="0">
                        <a:spcBef>
                          <a:spcPts val="0"/>
                        </a:spcBef>
                        <a:spcAft>
                          <a:spcPts val="0"/>
                        </a:spcAft>
                        <a:buNone/>
                      </a:pPr>
                      <a:r>
                        <a:rPr lang="en" sz="1900" b="1">
                          <a:solidFill>
                            <a:schemeClr val="dk1"/>
                          </a:solidFill>
                          <a:latin typeface="Verdana"/>
                          <a:ea typeface="Verdana"/>
                          <a:cs typeface="Verdana"/>
                          <a:sym typeface="Verdana"/>
                        </a:rPr>
                        <a:t>Target</a:t>
                      </a:r>
                      <a:r>
                        <a:rPr lang="en"/>
                        <a:t> </a:t>
                      </a:r>
                      <a:r>
                        <a:rPr lang="en" sz="1900" b="1">
                          <a:solidFill>
                            <a:schemeClr val="dk1"/>
                          </a:solidFill>
                          <a:latin typeface="Verdana"/>
                          <a:ea typeface="Verdana"/>
                          <a:cs typeface="Verdana"/>
                          <a:sym typeface="Verdana"/>
                        </a:rPr>
                        <a:t>85%</a:t>
                      </a: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hMerge="1">
                  <a:txBody>
                    <a:bodyPr/>
                    <a:lstStyle/>
                    <a:p>
                      <a:endParaRPr lang="en-US"/>
                    </a:p>
                  </a:txBody>
                  <a:tcPr/>
                </a:tc>
                <a:tc>
                  <a:txBody>
                    <a:bodyPr/>
                    <a:lstStyle/>
                    <a:p>
                      <a:pPr marL="0" lvl="0" indent="0" algn="ctr" rtl="0">
                        <a:spcBef>
                          <a:spcPts val="0"/>
                        </a:spcBef>
                        <a:spcAft>
                          <a:spcPts val="0"/>
                        </a:spcAft>
                        <a:buNone/>
                      </a:pP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have12to18</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have19to25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have26to35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have36to45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have46to55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have56Plus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want26to35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want36to45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want46to55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want55Plus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38" name="Google Shape;238;p21"/>
          <p:cNvSpPr txBox="1"/>
          <p:nvPr/>
        </p:nvSpPr>
        <p:spPr>
          <a:xfrm>
            <a:off x="1366524" y="2058725"/>
            <a:ext cx="936335"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Under50K</a:t>
            </a:r>
            <a:endParaRPr sz="1150" dirty="0">
              <a:latin typeface="Verdana"/>
              <a:ea typeface="Verdana"/>
              <a:cs typeface="Verdana"/>
              <a:sym typeface="Verdana"/>
            </a:endParaRPr>
          </a:p>
        </p:txBody>
      </p:sp>
      <p:sp>
        <p:nvSpPr>
          <p:cNvPr id="239" name="Google Shape;239;p21"/>
          <p:cNvSpPr txBox="1"/>
          <p:nvPr/>
        </p:nvSpPr>
        <p:spPr>
          <a:xfrm>
            <a:off x="3097299" y="2058725"/>
            <a:ext cx="998475"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50K-99K</a:t>
            </a:r>
            <a:endParaRPr sz="1150" dirty="0">
              <a:latin typeface="Verdana"/>
              <a:ea typeface="Verdana"/>
              <a:cs typeface="Verdana"/>
              <a:sym typeface="Verdana"/>
            </a:endParaRPr>
          </a:p>
        </p:txBody>
      </p:sp>
      <p:sp>
        <p:nvSpPr>
          <p:cNvPr id="240" name="Google Shape;240;p21"/>
          <p:cNvSpPr txBox="1"/>
          <p:nvPr/>
        </p:nvSpPr>
        <p:spPr>
          <a:xfrm>
            <a:off x="4828100" y="2058725"/>
            <a:ext cx="11028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100K-149K</a:t>
            </a:r>
            <a:endParaRPr sz="1150" dirty="0">
              <a:latin typeface="Verdana"/>
              <a:ea typeface="Verdana"/>
              <a:cs typeface="Verdana"/>
              <a:sym typeface="Verdana"/>
            </a:endParaRPr>
          </a:p>
        </p:txBody>
      </p:sp>
      <p:sp>
        <p:nvSpPr>
          <p:cNvPr id="241" name="Google Shape;241;p21"/>
          <p:cNvSpPr txBox="1"/>
          <p:nvPr/>
        </p:nvSpPr>
        <p:spPr>
          <a:xfrm>
            <a:off x="6558875" y="2058725"/>
            <a:ext cx="9519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150Kplus</a:t>
            </a:r>
            <a:endParaRPr sz="1150" dirty="0">
              <a:latin typeface="Verdana"/>
              <a:ea typeface="Verdana"/>
              <a:cs typeface="Verdana"/>
              <a:sym typeface="Verdana"/>
            </a:endParaRPr>
          </a:p>
        </p:txBody>
      </p:sp>
      <p:sp>
        <p:nvSpPr>
          <p:cNvPr id="242" name="Google Shape;242;p21"/>
          <p:cNvSpPr txBox="1"/>
          <p:nvPr/>
        </p:nvSpPr>
        <p:spPr>
          <a:xfrm>
            <a:off x="364750" y="3390288"/>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243" name="Google Shape;243;p21"/>
          <p:cNvSpPr txBox="1"/>
          <p:nvPr/>
        </p:nvSpPr>
        <p:spPr>
          <a:xfrm>
            <a:off x="5284900" y="1206625"/>
            <a:ext cx="7603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dirty="0" err="1">
                <a:solidFill>
                  <a:schemeClr val="dk1"/>
                </a:solidFill>
                <a:latin typeface="Verdana"/>
                <a:ea typeface="Verdana"/>
                <a:cs typeface="Verdana"/>
                <a:sym typeface="Verdana"/>
              </a:rPr>
              <a:t>pctMen</a:t>
            </a:r>
            <a:endParaRPr dirty="0"/>
          </a:p>
        </p:txBody>
      </p:sp>
      <p:sp>
        <p:nvSpPr>
          <p:cNvPr id="244" name="Google Shape;244;p21"/>
          <p:cNvSpPr txBox="1"/>
          <p:nvPr/>
        </p:nvSpPr>
        <p:spPr>
          <a:xfrm>
            <a:off x="6707075" y="1206625"/>
            <a:ext cx="951900" cy="455776"/>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dirty="0" err="1">
                <a:solidFill>
                  <a:schemeClr val="dk1"/>
                </a:solidFill>
                <a:latin typeface="Verdana"/>
                <a:ea typeface="Verdana"/>
                <a:cs typeface="Verdana"/>
                <a:sym typeface="Verdana"/>
              </a:rPr>
              <a:t>pctWomen</a:t>
            </a:r>
            <a:endParaRPr dirty="0"/>
          </a:p>
        </p:txBody>
      </p:sp>
      <p:sp>
        <p:nvSpPr>
          <p:cNvPr id="248" name="Google Shape;248;p21"/>
          <p:cNvSpPr/>
          <p:nvPr/>
        </p:nvSpPr>
        <p:spPr>
          <a:xfrm rot="5400000">
            <a:off x="1508460"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1"/>
          <p:cNvSpPr/>
          <p:nvPr/>
        </p:nvSpPr>
        <p:spPr>
          <a:xfrm rot="-5400000" flipH="1">
            <a:off x="4862194"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1"/>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251" name="Google Shape;251;p21"/>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2"/>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Target Marketing</a:t>
            </a:r>
            <a:endParaRPr/>
          </a:p>
        </p:txBody>
      </p:sp>
      <p:sp>
        <p:nvSpPr>
          <p:cNvPr id="257" name="Google Shape;257;p22"/>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A. What percentage of your "target" consumers are men?</a:t>
            </a:r>
            <a:endParaRPr b="1"/>
          </a:p>
        </p:txBody>
      </p:sp>
      <p:sp>
        <p:nvSpPr>
          <p:cNvPr id="258" name="Google Shape;258;p22"/>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Women?</a:t>
            </a:r>
            <a:endParaRPr b="1"/>
          </a:p>
        </p:txBody>
      </p:sp>
      <p:sp>
        <p:nvSpPr>
          <p:cNvPr id="259" name="Google Shape;259;p22"/>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260" name="Google Shape;260;p22"/>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261" name="Google Shape;261;p22"/>
          <p:cNvSpPr txBox="1"/>
          <p:nvPr/>
        </p:nvSpPr>
        <p:spPr>
          <a:xfrm>
            <a:off x="364750" y="4032250"/>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sp>
        <p:nvSpPr>
          <p:cNvPr id="262" name="Google Shape;262;p22"/>
          <p:cNvSpPr txBox="1"/>
          <p:nvPr/>
        </p:nvSpPr>
        <p:spPr>
          <a:xfrm>
            <a:off x="1366525"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Under 50K</a:t>
            </a:r>
            <a:endParaRPr sz="1150">
              <a:latin typeface="Verdana"/>
              <a:ea typeface="Verdana"/>
              <a:cs typeface="Verdana"/>
              <a:sym typeface="Verdana"/>
            </a:endParaRPr>
          </a:p>
        </p:txBody>
      </p:sp>
      <p:sp>
        <p:nvSpPr>
          <p:cNvPr id="263" name="Google Shape;263;p22"/>
          <p:cNvSpPr txBox="1"/>
          <p:nvPr/>
        </p:nvSpPr>
        <p:spPr>
          <a:xfrm>
            <a:off x="3097300"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50K-</a:t>
            </a:r>
            <a:endParaRPr sz="1150">
              <a:latin typeface="Verdana"/>
              <a:ea typeface="Verdana"/>
              <a:cs typeface="Verdana"/>
              <a:sym typeface="Verdana"/>
            </a:endParaRPr>
          </a:p>
          <a:p>
            <a:pPr marL="0" lvl="0" indent="0" algn="l" rtl="0">
              <a:spcBef>
                <a:spcPts val="0"/>
              </a:spcBef>
              <a:spcAft>
                <a:spcPts val="0"/>
              </a:spcAft>
              <a:buNone/>
            </a:pPr>
            <a:r>
              <a:rPr lang="en" sz="1150">
                <a:latin typeface="Verdana"/>
                <a:ea typeface="Verdana"/>
                <a:cs typeface="Verdana"/>
                <a:sym typeface="Verdana"/>
              </a:rPr>
              <a:t>99K</a:t>
            </a:r>
            <a:endParaRPr sz="1150">
              <a:latin typeface="Verdana"/>
              <a:ea typeface="Verdana"/>
              <a:cs typeface="Verdana"/>
              <a:sym typeface="Verdana"/>
            </a:endParaRPr>
          </a:p>
        </p:txBody>
      </p:sp>
      <p:sp>
        <p:nvSpPr>
          <p:cNvPr id="264" name="Google Shape;264;p22"/>
          <p:cNvSpPr txBox="1"/>
          <p:nvPr/>
        </p:nvSpPr>
        <p:spPr>
          <a:xfrm>
            <a:off x="4828100"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100K-</a:t>
            </a:r>
            <a:endParaRPr sz="1150">
              <a:latin typeface="Verdana"/>
              <a:ea typeface="Verdana"/>
              <a:cs typeface="Verdana"/>
              <a:sym typeface="Verdana"/>
            </a:endParaRPr>
          </a:p>
          <a:p>
            <a:pPr marL="0" lvl="0" indent="0" algn="l" rtl="0">
              <a:spcBef>
                <a:spcPts val="0"/>
              </a:spcBef>
              <a:spcAft>
                <a:spcPts val="0"/>
              </a:spcAft>
              <a:buNone/>
            </a:pPr>
            <a:r>
              <a:rPr lang="en" sz="1150">
                <a:latin typeface="Verdana"/>
                <a:ea typeface="Verdana"/>
                <a:cs typeface="Verdana"/>
                <a:sym typeface="Verdana"/>
              </a:rPr>
              <a:t>149K</a:t>
            </a:r>
            <a:endParaRPr sz="1150">
              <a:latin typeface="Verdana"/>
              <a:ea typeface="Verdana"/>
              <a:cs typeface="Verdana"/>
              <a:sym typeface="Verdana"/>
            </a:endParaRPr>
          </a:p>
        </p:txBody>
      </p:sp>
      <p:sp>
        <p:nvSpPr>
          <p:cNvPr id="265" name="Google Shape;265;p22"/>
          <p:cNvSpPr txBox="1"/>
          <p:nvPr/>
        </p:nvSpPr>
        <p:spPr>
          <a:xfrm>
            <a:off x="6558875"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150K plus</a:t>
            </a:r>
            <a:endParaRPr sz="1150">
              <a:latin typeface="Verdana"/>
              <a:ea typeface="Verdana"/>
              <a:cs typeface="Verdana"/>
              <a:sym typeface="Verdana"/>
            </a:endParaRPr>
          </a:p>
        </p:txBody>
      </p:sp>
      <p:sp>
        <p:nvSpPr>
          <p:cNvPr id="266" name="Google Shape;266;p22"/>
          <p:cNvSpPr txBox="1"/>
          <p:nvPr/>
        </p:nvSpPr>
        <p:spPr>
          <a:xfrm>
            <a:off x="364750" y="3390288"/>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267" name="Google Shape;267;p22"/>
          <p:cNvSpPr txBox="1"/>
          <p:nvPr/>
        </p:nvSpPr>
        <p:spPr>
          <a:xfrm>
            <a:off x="5284900" y="1206625"/>
            <a:ext cx="5220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a:solidFill>
                  <a:schemeClr val="dk1"/>
                </a:solidFill>
                <a:latin typeface="Verdana"/>
                <a:ea typeface="Verdana"/>
                <a:cs typeface="Verdana"/>
                <a:sym typeface="Verdana"/>
              </a:rPr>
              <a:t>pctMen</a:t>
            </a:r>
            <a:endParaRPr/>
          </a:p>
        </p:txBody>
      </p:sp>
      <p:sp>
        <p:nvSpPr>
          <p:cNvPr id="268" name="Google Shape;268;p22"/>
          <p:cNvSpPr txBox="1"/>
          <p:nvPr/>
        </p:nvSpPr>
        <p:spPr>
          <a:xfrm>
            <a:off x="6707075" y="1206625"/>
            <a:ext cx="5220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pctWomen</a:t>
            </a:r>
            <a:endParaRPr/>
          </a:p>
        </p:txBody>
      </p:sp>
      <p:sp>
        <p:nvSpPr>
          <p:cNvPr id="273" name="Google Shape;273;p22"/>
          <p:cNvSpPr/>
          <p:nvPr/>
        </p:nvSpPr>
        <p:spPr>
          <a:xfrm rot="-5400000" flipH="1">
            <a:off x="3729056"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274" name="Google Shape;274;p22"/>
          <p:cNvGraphicFramePr/>
          <p:nvPr/>
        </p:nvGraphicFramePr>
        <p:xfrm>
          <a:off x="1203108" y="4562856"/>
          <a:ext cx="6741175" cy="2213700"/>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gridSpan="2">
                  <a:txBody>
                    <a:bodyPr/>
                    <a:lstStyle/>
                    <a:p>
                      <a:pPr marL="0" lvl="0" indent="0" algn="ctr" rtl="0">
                        <a:spcBef>
                          <a:spcPts val="0"/>
                        </a:spcBef>
                        <a:spcAft>
                          <a:spcPts val="0"/>
                        </a:spcAft>
                        <a:buNone/>
                      </a:pPr>
                      <a:r>
                        <a:rPr lang="en" sz="1900" b="1" dirty="0"/>
                        <a:t>Target 85%</a:t>
                      </a:r>
                      <a:endParaRPr sz="1900" b="1" dirty="0"/>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00"/>
                    </a:solidFill>
                  </a:tcPr>
                </a:tc>
                <a:tc hMerge="1">
                  <a:txBody>
                    <a:bodyPr/>
                    <a:lstStyle/>
                    <a:p>
                      <a:endParaRPr lang="en-US"/>
                    </a:p>
                  </a:txBody>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900" b="1">
                        <a:latin typeface="Verdana"/>
                        <a:ea typeface="Verdana"/>
                        <a:cs typeface="Verdana"/>
                        <a:sym typeface="Verdana"/>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have12to18</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have19to25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have26to35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have36to45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have46to55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have56Plus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want26to35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want36to45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want46to55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want55Plus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75" name="Google Shape;275;p22"/>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276" name="Google Shape;276;p22"/>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23"/>
          <p:cNvSpPr txBox="1">
            <a:spLocks noGrp="1"/>
          </p:cNvSpPr>
          <p:nvPr>
            <p:ph type="ctrTitle"/>
          </p:nvPr>
        </p:nvSpPr>
        <p:spPr>
          <a:xfrm>
            <a:off x="693450" y="475488"/>
            <a:ext cx="7757100" cy="854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500"/>
              <a:t>Recommended Reallocation of </a:t>
            </a:r>
            <a:endParaRPr sz="2500"/>
          </a:p>
          <a:p>
            <a:pPr marL="0" lvl="0" indent="0" algn="ctr" rtl="0">
              <a:spcBef>
                <a:spcPts val="0"/>
              </a:spcBef>
              <a:spcAft>
                <a:spcPts val="0"/>
              </a:spcAft>
              <a:buNone/>
            </a:pPr>
            <a:r>
              <a:rPr lang="en" sz="2500"/>
              <a:t>Total Advertising Investment (TAI)</a:t>
            </a:r>
            <a:endParaRPr sz="2500"/>
          </a:p>
        </p:txBody>
      </p:sp>
      <p:sp>
        <p:nvSpPr>
          <p:cNvPr id="282" name="Google Shape;282;p23"/>
          <p:cNvSpPr txBox="1">
            <a:spLocks noGrp="1"/>
          </p:cNvSpPr>
          <p:nvPr>
            <p:ph type="body" idx="1"/>
          </p:nvPr>
        </p:nvSpPr>
        <p:spPr>
          <a:xfrm>
            <a:off x="5157216" y="1351525"/>
            <a:ext cx="3592200" cy="393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Proposed 12 Month Media Allocation</a:t>
            </a:r>
            <a:endParaRPr sz="1150" b="1">
              <a:solidFill>
                <a:srgbClr val="000000"/>
              </a:solidFill>
              <a:latin typeface="Verdana"/>
              <a:ea typeface="Verdana"/>
              <a:cs typeface="Verdana"/>
              <a:sym typeface="Verdana"/>
            </a:endParaRPr>
          </a:p>
        </p:txBody>
      </p:sp>
      <p:sp>
        <p:nvSpPr>
          <p:cNvPr id="283" name="Google Shape;283;p23"/>
          <p:cNvSpPr txBox="1"/>
          <p:nvPr/>
        </p:nvSpPr>
        <p:spPr>
          <a:xfrm>
            <a:off x="1143000" y="4122513"/>
            <a:ext cx="1510800" cy="5388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150" b="1">
                <a:latin typeface="Verdana"/>
                <a:ea typeface="Verdana"/>
                <a:cs typeface="Verdana"/>
                <a:sym typeface="Verdana"/>
              </a:rPr>
              <a:t>Total Adv. Investment</a:t>
            </a:r>
            <a:endParaRPr sz="1150" b="1">
              <a:latin typeface="Verdana"/>
              <a:ea typeface="Verdana"/>
              <a:cs typeface="Verdana"/>
              <a:sym typeface="Verdana"/>
            </a:endParaRPr>
          </a:p>
        </p:txBody>
      </p:sp>
      <p:sp>
        <p:nvSpPr>
          <p:cNvPr id="284" name="Google Shape;284;p23"/>
          <p:cNvSpPr txBox="1"/>
          <p:nvPr/>
        </p:nvSpPr>
        <p:spPr>
          <a:xfrm>
            <a:off x="1140775" y="1641700"/>
            <a:ext cx="1782300" cy="2485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50">
                <a:latin typeface="Verdana"/>
                <a:ea typeface="Verdana"/>
                <a:cs typeface="Verdana"/>
                <a:sym typeface="Verdana"/>
              </a:rPr>
              <a:t>lastYearLabel1</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latin typeface="Verdana"/>
                <a:ea typeface="Verdana"/>
                <a:cs typeface="Verdana"/>
                <a:sym typeface="Verdana"/>
              </a:rPr>
              <a:t>lastYearLabel2</a:t>
            </a:r>
            <a:endParaRPr sz="1150">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lastYearLabel3</a:t>
            </a:r>
            <a:endParaRPr sz="1150">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lastYearLabel4</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lastYearLabel5</a:t>
            </a:r>
            <a:endParaRPr sz="1150">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lastYearLabel6</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lastYearLabel7</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lastYearLabel8</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lastYearLabel9</a:t>
            </a:r>
            <a:endParaRPr sz="1150">
              <a:solidFill>
                <a:schemeClr val="dk1"/>
              </a:solidFill>
              <a:latin typeface="Verdana"/>
              <a:ea typeface="Verdana"/>
              <a:cs typeface="Verdana"/>
              <a:sym typeface="Verdana"/>
            </a:endParaRPr>
          </a:p>
        </p:txBody>
      </p:sp>
      <p:sp>
        <p:nvSpPr>
          <p:cNvPr id="285" name="Google Shape;285;p23"/>
          <p:cNvSpPr txBox="1">
            <a:spLocks noGrp="1"/>
          </p:cNvSpPr>
          <p:nvPr>
            <p:ph type="body" idx="1"/>
          </p:nvPr>
        </p:nvSpPr>
        <p:spPr>
          <a:xfrm>
            <a:off x="642300" y="4907725"/>
            <a:ext cx="5007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B.</a:t>
            </a:r>
            <a:endParaRPr sz="1150" b="1">
              <a:solidFill>
                <a:srgbClr val="000000"/>
              </a:solidFill>
              <a:latin typeface="Verdana"/>
              <a:ea typeface="Verdana"/>
              <a:cs typeface="Verdana"/>
              <a:sym typeface="Verdana"/>
            </a:endParaRPr>
          </a:p>
        </p:txBody>
      </p:sp>
      <p:sp>
        <p:nvSpPr>
          <p:cNvPr id="286" name="Google Shape;286;p23"/>
          <p:cNvSpPr txBox="1">
            <a:spLocks noGrp="1"/>
          </p:cNvSpPr>
          <p:nvPr>
            <p:ph type="body" idx="1"/>
          </p:nvPr>
        </p:nvSpPr>
        <p:spPr>
          <a:xfrm>
            <a:off x="1190888" y="4907725"/>
            <a:ext cx="19971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solidFill>
                  <a:schemeClr val="dk1"/>
                </a:solidFill>
              </a:rPr>
              <a:t>totalMediaInvestmentInput</a:t>
            </a:r>
            <a:endParaRPr sz="1150">
              <a:solidFill>
                <a:srgbClr val="000000"/>
              </a:solidFill>
              <a:latin typeface="Verdana"/>
              <a:ea typeface="Verdana"/>
              <a:cs typeface="Verdana"/>
              <a:sym typeface="Verdana"/>
            </a:endParaRPr>
          </a:p>
        </p:txBody>
      </p:sp>
      <p:sp>
        <p:nvSpPr>
          <p:cNvPr id="287" name="Google Shape;287;p23"/>
          <p:cNvSpPr txBox="1">
            <a:spLocks noGrp="1"/>
          </p:cNvSpPr>
          <p:nvPr>
            <p:ph type="body" idx="1"/>
          </p:nvPr>
        </p:nvSpPr>
        <p:spPr>
          <a:xfrm>
            <a:off x="1143000" y="5196850"/>
            <a:ext cx="21027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Total Adv Investment Next 12 Months</a:t>
            </a:r>
            <a:endParaRPr sz="1150" b="1">
              <a:solidFill>
                <a:srgbClr val="000000"/>
              </a:solidFill>
              <a:latin typeface="Verdana"/>
              <a:ea typeface="Verdana"/>
              <a:cs typeface="Verdana"/>
              <a:sym typeface="Verdana"/>
            </a:endParaRPr>
          </a:p>
        </p:txBody>
      </p:sp>
      <p:sp>
        <p:nvSpPr>
          <p:cNvPr id="288" name="Google Shape;288;p23"/>
          <p:cNvSpPr txBox="1">
            <a:spLocks noGrp="1"/>
          </p:cNvSpPr>
          <p:nvPr>
            <p:ph type="body" idx="1"/>
          </p:nvPr>
        </p:nvSpPr>
        <p:spPr>
          <a:xfrm>
            <a:off x="642300" y="5963950"/>
            <a:ext cx="5007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C.</a:t>
            </a:r>
            <a:endParaRPr sz="1150" b="1">
              <a:solidFill>
                <a:srgbClr val="000000"/>
              </a:solidFill>
              <a:latin typeface="Verdana"/>
              <a:ea typeface="Verdana"/>
              <a:cs typeface="Verdana"/>
              <a:sym typeface="Verdana"/>
            </a:endParaRPr>
          </a:p>
        </p:txBody>
      </p:sp>
      <p:sp>
        <p:nvSpPr>
          <p:cNvPr id="289" name="Google Shape;289;p23"/>
          <p:cNvSpPr txBox="1">
            <a:spLocks noGrp="1"/>
          </p:cNvSpPr>
          <p:nvPr>
            <p:ph type="body" idx="1"/>
          </p:nvPr>
        </p:nvSpPr>
        <p:spPr>
          <a:xfrm>
            <a:off x="1195800" y="6249220"/>
            <a:ext cx="19971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Stretch Goal Total Adv. Investment Next 12 Months</a:t>
            </a:r>
            <a:endParaRPr sz="1150" b="1">
              <a:solidFill>
                <a:srgbClr val="000000"/>
              </a:solidFill>
              <a:latin typeface="Verdana"/>
              <a:ea typeface="Verdana"/>
              <a:cs typeface="Verdana"/>
              <a:sym typeface="Verdana"/>
            </a:endParaRPr>
          </a:p>
        </p:txBody>
      </p:sp>
      <p:sp>
        <p:nvSpPr>
          <p:cNvPr id="290" name="Google Shape;290;p23"/>
          <p:cNvSpPr txBox="1">
            <a:spLocks noGrp="1"/>
          </p:cNvSpPr>
          <p:nvPr>
            <p:ph type="body" idx="1"/>
          </p:nvPr>
        </p:nvSpPr>
        <p:spPr>
          <a:xfrm>
            <a:off x="3541650" y="5196838"/>
            <a:ext cx="26946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Adv % of Gross Sales</a:t>
            </a:r>
            <a:endParaRPr sz="1150" b="1">
              <a:solidFill>
                <a:srgbClr val="000000"/>
              </a:solidFill>
              <a:latin typeface="Verdana"/>
              <a:ea typeface="Verdana"/>
              <a:cs typeface="Verdana"/>
              <a:sym typeface="Verdana"/>
            </a:endParaRPr>
          </a:p>
        </p:txBody>
      </p:sp>
      <p:sp>
        <p:nvSpPr>
          <p:cNvPr id="291" name="Google Shape;291;p23"/>
          <p:cNvSpPr txBox="1">
            <a:spLocks noGrp="1"/>
          </p:cNvSpPr>
          <p:nvPr>
            <p:ph type="body" idx="1"/>
          </p:nvPr>
        </p:nvSpPr>
        <p:spPr>
          <a:xfrm>
            <a:off x="3821700" y="6245352"/>
            <a:ext cx="21345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Adv % of Gross Sales</a:t>
            </a:r>
            <a:endParaRPr sz="1150" b="1">
              <a:solidFill>
                <a:srgbClr val="000000"/>
              </a:solidFill>
              <a:latin typeface="Verdana"/>
              <a:ea typeface="Verdana"/>
              <a:cs typeface="Verdana"/>
              <a:sym typeface="Verdana"/>
            </a:endParaRPr>
          </a:p>
        </p:txBody>
      </p:sp>
      <p:sp>
        <p:nvSpPr>
          <p:cNvPr id="292" name="Google Shape;292;p23"/>
          <p:cNvSpPr txBox="1">
            <a:spLocks noGrp="1"/>
          </p:cNvSpPr>
          <p:nvPr>
            <p:ph type="body" idx="1"/>
          </p:nvPr>
        </p:nvSpPr>
        <p:spPr>
          <a:xfrm>
            <a:off x="6716850" y="5196850"/>
            <a:ext cx="1733400" cy="654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150" b="1">
                <a:solidFill>
                  <a:srgbClr val="000000"/>
                </a:solidFill>
                <a:latin typeface="Verdana"/>
                <a:ea typeface="Verdana"/>
                <a:cs typeface="Verdana"/>
                <a:sym typeface="Verdana"/>
              </a:rPr>
              <a:t>Estimated Gross Sales Next</a:t>
            </a:r>
            <a:r>
              <a:rPr lang="en" b="1">
                <a:solidFill>
                  <a:srgbClr val="000000"/>
                </a:solidFill>
              </a:rPr>
              <a:t> </a:t>
            </a:r>
            <a:endParaRPr b="1">
              <a:solidFill>
                <a:srgbClr val="000000"/>
              </a:solidFill>
            </a:endParaRPr>
          </a:p>
          <a:p>
            <a:pPr marL="0" lvl="0" indent="0" algn="ctr" rtl="0">
              <a:lnSpc>
                <a:spcPct val="100000"/>
              </a:lnSpc>
              <a:spcBef>
                <a:spcPts val="0"/>
              </a:spcBef>
              <a:spcAft>
                <a:spcPts val="0"/>
              </a:spcAft>
              <a:buNone/>
            </a:pPr>
            <a:r>
              <a:rPr lang="en" sz="1150" b="1">
                <a:solidFill>
                  <a:srgbClr val="000000"/>
                </a:solidFill>
                <a:latin typeface="Verdana"/>
                <a:ea typeface="Verdana"/>
                <a:cs typeface="Verdana"/>
                <a:sym typeface="Verdana"/>
              </a:rPr>
              <a:t>12 </a:t>
            </a:r>
            <a:r>
              <a:rPr lang="en" b="1">
                <a:solidFill>
                  <a:srgbClr val="000000"/>
                </a:solidFill>
              </a:rPr>
              <a:t>M</a:t>
            </a:r>
            <a:r>
              <a:rPr lang="en" sz="1150" b="1">
                <a:solidFill>
                  <a:srgbClr val="000000"/>
                </a:solidFill>
                <a:latin typeface="Verdana"/>
                <a:ea typeface="Verdana"/>
                <a:cs typeface="Verdana"/>
                <a:sym typeface="Verdana"/>
              </a:rPr>
              <a:t>onths</a:t>
            </a:r>
            <a:endParaRPr sz="1150" b="1">
              <a:solidFill>
                <a:srgbClr val="000000"/>
              </a:solidFill>
              <a:latin typeface="Verdana"/>
              <a:ea typeface="Verdana"/>
              <a:cs typeface="Verdana"/>
              <a:sym typeface="Verdana"/>
            </a:endParaRPr>
          </a:p>
        </p:txBody>
      </p:sp>
      <p:sp>
        <p:nvSpPr>
          <p:cNvPr id="293" name="Google Shape;293;p23"/>
          <p:cNvSpPr txBox="1">
            <a:spLocks noGrp="1"/>
          </p:cNvSpPr>
          <p:nvPr>
            <p:ph type="body" idx="1"/>
          </p:nvPr>
        </p:nvSpPr>
        <p:spPr>
          <a:xfrm>
            <a:off x="6828150" y="6249225"/>
            <a:ext cx="15108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150" b="1">
                <a:solidFill>
                  <a:srgbClr val="000000"/>
                </a:solidFill>
                <a:latin typeface="Verdana"/>
                <a:ea typeface="Verdana"/>
                <a:cs typeface="Verdana"/>
                <a:sym typeface="Verdana"/>
              </a:rPr>
              <a:t>Stretch Gross Sales Next</a:t>
            </a:r>
            <a:r>
              <a:rPr lang="en" b="1">
                <a:solidFill>
                  <a:srgbClr val="000000"/>
                </a:solidFill>
              </a:rPr>
              <a:t> </a:t>
            </a:r>
            <a:endParaRPr b="1">
              <a:solidFill>
                <a:srgbClr val="000000"/>
              </a:solidFill>
            </a:endParaRPr>
          </a:p>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12 </a:t>
            </a:r>
            <a:r>
              <a:rPr lang="en" b="1">
                <a:solidFill>
                  <a:srgbClr val="000000"/>
                </a:solidFill>
              </a:rPr>
              <a:t>M</a:t>
            </a:r>
            <a:r>
              <a:rPr lang="en" sz="1150" b="1">
                <a:solidFill>
                  <a:srgbClr val="000000"/>
                </a:solidFill>
                <a:latin typeface="Verdana"/>
                <a:ea typeface="Verdana"/>
                <a:cs typeface="Verdana"/>
                <a:sym typeface="Verdana"/>
              </a:rPr>
              <a:t>onths</a:t>
            </a:r>
            <a:endParaRPr sz="1150" b="1">
              <a:solidFill>
                <a:srgbClr val="000000"/>
              </a:solidFill>
              <a:latin typeface="Verdana"/>
              <a:ea typeface="Verdana"/>
              <a:cs typeface="Verdana"/>
              <a:sym typeface="Verdana"/>
            </a:endParaRPr>
          </a:p>
        </p:txBody>
      </p:sp>
      <p:cxnSp>
        <p:nvCxnSpPr>
          <p:cNvPr id="294" name="Google Shape;294;p23"/>
          <p:cNvCxnSpPr/>
          <p:nvPr/>
        </p:nvCxnSpPr>
        <p:spPr>
          <a:xfrm>
            <a:off x="1172575" y="5244477"/>
            <a:ext cx="2015400" cy="0"/>
          </a:xfrm>
          <a:prstGeom prst="straightConnector1">
            <a:avLst/>
          </a:prstGeom>
          <a:noFill/>
          <a:ln w="9525" cap="flat" cmpd="sng">
            <a:solidFill>
              <a:srgbClr val="000000"/>
            </a:solidFill>
            <a:prstDash val="solid"/>
            <a:round/>
            <a:headEnd type="none" w="med" len="med"/>
            <a:tailEnd type="none" w="med" len="med"/>
          </a:ln>
        </p:spPr>
      </p:cxnSp>
      <p:cxnSp>
        <p:nvCxnSpPr>
          <p:cNvPr id="295" name="Google Shape;295;p23"/>
          <p:cNvCxnSpPr/>
          <p:nvPr/>
        </p:nvCxnSpPr>
        <p:spPr>
          <a:xfrm>
            <a:off x="1186650" y="6253077"/>
            <a:ext cx="2015400" cy="0"/>
          </a:xfrm>
          <a:prstGeom prst="straightConnector1">
            <a:avLst/>
          </a:prstGeom>
          <a:noFill/>
          <a:ln w="9525" cap="flat" cmpd="sng">
            <a:solidFill>
              <a:srgbClr val="000000"/>
            </a:solidFill>
            <a:prstDash val="solid"/>
            <a:round/>
            <a:headEnd type="none" w="med" len="med"/>
            <a:tailEnd type="none" w="med" len="med"/>
          </a:ln>
        </p:spPr>
      </p:cxnSp>
      <p:cxnSp>
        <p:nvCxnSpPr>
          <p:cNvPr id="296" name="Google Shape;296;p23"/>
          <p:cNvCxnSpPr/>
          <p:nvPr/>
        </p:nvCxnSpPr>
        <p:spPr>
          <a:xfrm>
            <a:off x="3881238" y="5246047"/>
            <a:ext cx="2015400" cy="0"/>
          </a:xfrm>
          <a:prstGeom prst="straightConnector1">
            <a:avLst/>
          </a:prstGeom>
          <a:noFill/>
          <a:ln w="9525" cap="flat" cmpd="sng">
            <a:solidFill>
              <a:srgbClr val="000000"/>
            </a:solidFill>
            <a:prstDash val="solid"/>
            <a:round/>
            <a:headEnd type="none" w="med" len="med"/>
            <a:tailEnd type="none" w="med" len="med"/>
          </a:ln>
        </p:spPr>
      </p:cxnSp>
      <p:cxnSp>
        <p:nvCxnSpPr>
          <p:cNvPr id="297" name="Google Shape;297;p23"/>
          <p:cNvCxnSpPr/>
          <p:nvPr/>
        </p:nvCxnSpPr>
        <p:spPr>
          <a:xfrm>
            <a:off x="3882140" y="6253077"/>
            <a:ext cx="2015400" cy="0"/>
          </a:xfrm>
          <a:prstGeom prst="straightConnector1">
            <a:avLst/>
          </a:prstGeom>
          <a:noFill/>
          <a:ln w="9525" cap="flat" cmpd="sng">
            <a:solidFill>
              <a:srgbClr val="000000"/>
            </a:solidFill>
            <a:prstDash val="solid"/>
            <a:round/>
            <a:headEnd type="none" w="med" len="med"/>
            <a:tailEnd type="none" w="med" len="med"/>
          </a:ln>
        </p:spPr>
      </p:cxnSp>
      <p:cxnSp>
        <p:nvCxnSpPr>
          <p:cNvPr id="298" name="Google Shape;298;p23"/>
          <p:cNvCxnSpPr/>
          <p:nvPr/>
        </p:nvCxnSpPr>
        <p:spPr>
          <a:xfrm>
            <a:off x="6716911" y="5244475"/>
            <a:ext cx="1732500" cy="0"/>
          </a:xfrm>
          <a:prstGeom prst="straightConnector1">
            <a:avLst/>
          </a:prstGeom>
          <a:noFill/>
          <a:ln w="9525" cap="flat" cmpd="sng">
            <a:solidFill>
              <a:srgbClr val="000000"/>
            </a:solidFill>
            <a:prstDash val="solid"/>
            <a:round/>
            <a:headEnd type="none" w="med" len="med"/>
            <a:tailEnd type="none" w="med" len="med"/>
          </a:ln>
        </p:spPr>
      </p:cxnSp>
      <p:cxnSp>
        <p:nvCxnSpPr>
          <p:cNvPr id="299" name="Google Shape;299;p23"/>
          <p:cNvCxnSpPr/>
          <p:nvPr/>
        </p:nvCxnSpPr>
        <p:spPr>
          <a:xfrm>
            <a:off x="6717687" y="6251500"/>
            <a:ext cx="1732500" cy="0"/>
          </a:xfrm>
          <a:prstGeom prst="straightConnector1">
            <a:avLst/>
          </a:prstGeom>
          <a:noFill/>
          <a:ln w="9525" cap="flat" cmpd="sng">
            <a:solidFill>
              <a:srgbClr val="000000"/>
            </a:solidFill>
            <a:prstDash val="solid"/>
            <a:round/>
            <a:headEnd type="none" w="med" len="med"/>
            <a:tailEnd type="none" w="med" len="med"/>
          </a:ln>
        </p:spPr>
      </p:cxnSp>
      <p:sp>
        <p:nvSpPr>
          <p:cNvPr id="300" name="Google Shape;300;p23"/>
          <p:cNvSpPr txBox="1">
            <a:spLocks noGrp="1"/>
          </p:cNvSpPr>
          <p:nvPr>
            <p:ph type="body" idx="1"/>
          </p:nvPr>
        </p:nvSpPr>
        <p:spPr>
          <a:xfrm>
            <a:off x="3385213" y="5049325"/>
            <a:ext cx="2988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t>
            </a:r>
            <a:endParaRPr sz="1150" b="1">
              <a:solidFill>
                <a:srgbClr val="000000"/>
              </a:solidFill>
              <a:latin typeface="Verdana"/>
              <a:ea typeface="Verdana"/>
              <a:cs typeface="Verdana"/>
              <a:sym typeface="Verdana"/>
            </a:endParaRPr>
          </a:p>
        </p:txBody>
      </p:sp>
      <p:sp>
        <p:nvSpPr>
          <p:cNvPr id="301" name="Google Shape;301;p23"/>
          <p:cNvSpPr txBox="1">
            <a:spLocks noGrp="1"/>
          </p:cNvSpPr>
          <p:nvPr>
            <p:ph type="body" idx="1"/>
          </p:nvPr>
        </p:nvSpPr>
        <p:spPr>
          <a:xfrm>
            <a:off x="3388113" y="6057925"/>
            <a:ext cx="2988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t>
            </a:r>
            <a:endParaRPr sz="1150" b="1">
              <a:solidFill>
                <a:srgbClr val="000000"/>
              </a:solidFill>
              <a:latin typeface="Verdana"/>
              <a:ea typeface="Verdana"/>
              <a:cs typeface="Verdana"/>
              <a:sym typeface="Verdana"/>
            </a:endParaRPr>
          </a:p>
        </p:txBody>
      </p:sp>
      <p:sp>
        <p:nvSpPr>
          <p:cNvPr id="302" name="Google Shape;302;p23"/>
          <p:cNvSpPr txBox="1">
            <a:spLocks noGrp="1"/>
          </p:cNvSpPr>
          <p:nvPr>
            <p:ph type="body" idx="1"/>
          </p:nvPr>
        </p:nvSpPr>
        <p:spPr>
          <a:xfrm>
            <a:off x="6212000" y="5049325"/>
            <a:ext cx="2988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t>
            </a:r>
            <a:endParaRPr sz="1150" b="1">
              <a:solidFill>
                <a:srgbClr val="000000"/>
              </a:solidFill>
              <a:latin typeface="Verdana"/>
              <a:ea typeface="Verdana"/>
              <a:cs typeface="Verdana"/>
              <a:sym typeface="Verdana"/>
            </a:endParaRPr>
          </a:p>
        </p:txBody>
      </p:sp>
      <p:sp>
        <p:nvSpPr>
          <p:cNvPr id="303" name="Google Shape;303;p23"/>
          <p:cNvSpPr txBox="1">
            <a:spLocks noGrp="1"/>
          </p:cNvSpPr>
          <p:nvPr>
            <p:ph type="body" idx="1"/>
          </p:nvPr>
        </p:nvSpPr>
        <p:spPr>
          <a:xfrm>
            <a:off x="6214900" y="6057925"/>
            <a:ext cx="2988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t>
            </a:r>
            <a:endParaRPr sz="1150" b="1">
              <a:solidFill>
                <a:srgbClr val="000000"/>
              </a:solidFill>
              <a:latin typeface="Verdana"/>
              <a:ea typeface="Verdana"/>
              <a:cs typeface="Verdana"/>
              <a:sym typeface="Verdana"/>
            </a:endParaRPr>
          </a:p>
        </p:txBody>
      </p:sp>
      <p:sp>
        <p:nvSpPr>
          <p:cNvPr id="304" name="Google Shape;304;p23"/>
          <p:cNvSpPr txBox="1"/>
          <p:nvPr/>
        </p:nvSpPr>
        <p:spPr>
          <a:xfrm>
            <a:off x="5156725" y="4123697"/>
            <a:ext cx="1510800" cy="5388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150" b="1">
                <a:latin typeface="Verdana"/>
                <a:ea typeface="Verdana"/>
                <a:cs typeface="Verdana"/>
                <a:sym typeface="Verdana"/>
              </a:rPr>
              <a:t>Total Adv. Investment</a:t>
            </a:r>
            <a:endParaRPr sz="1150" b="1">
              <a:latin typeface="Verdana"/>
              <a:ea typeface="Verdana"/>
              <a:cs typeface="Verdana"/>
              <a:sym typeface="Verdana"/>
            </a:endParaRPr>
          </a:p>
        </p:txBody>
      </p:sp>
      <p:sp>
        <p:nvSpPr>
          <p:cNvPr id="305" name="Google Shape;305;p23"/>
          <p:cNvSpPr txBox="1"/>
          <p:nvPr/>
        </p:nvSpPr>
        <p:spPr>
          <a:xfrm>
            <a:off x="2769050" y="1642875"/>
            <a:ext cx="1782300" cy="2485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50" u="sng">
                <a:latin typeface="Verdana"/>
                <a:ea typeface="Verdana"/>
                <a:cs typeface="Verdana"/>
                <a:sym typeface="Verdana"/>
              </a:rPr>
              <a:t>lastYearValue1</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latin typeface="Verdana"/>
                <a:ea typeface="Verdana"/>
                <a:cs typeface="Verdana"/>
                <a:sym typeface="Verdana"/>
              </a:rPr>
              <a:t>lastYearValue2</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lastYearValue3</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lastYearValue4</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lastYearValue5</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lastYearValue6</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lastYearValue7</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lastYearValue8</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lastYearValue9</a:t>
            </a:r>
            <a:endParaRPr sz="1150" u="sng">
              <a:solidFill>
                <a:schemeClr val="dk1"/>
              </a:solidFill>
              <a:latin typeface="Verdana"/>
              <a:ea typeface="Verdana"/>
              <a:cs typeface="Verdana"/>
              <a:sym typeface="Verdana"/>
            </a:endParaRPr>
          </a:p>
        </p:txBody>
      </p:sp>
      <p:sp>
        <p:nvSpPr>
          <p:cNvPr id="306" name="Google Shape;306;p23"/>
          <p:cNvSpPr txBox="1"/>
          <p:nvPr/>
        </p:nvSpPr>
        <p:spPr>
          <a:xfrm>
            <a:off x="5157213" y="1642288"/>
            <a:ext cx="1782300" cy="2485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50">
                <a:latin typeface="Verdana"/>
                <a:ea typeface="Verdana"/>
                <a:cs typeface="Verdana"/>
                <a:sym typeface="Verdana"/>
              </a:rPr>
              <a:t>proposedLabel1</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latin typeface="Verdana"/>
                <a:ea typeface="Verdana"/>
                <a:cs typeface="Verdana"/>
                <a:sym typeface="Verdana"/>
              </a:rPr>
              <a:t>proposedLabel2</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proposedLabel3</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proposedLabel4</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proposedLabel5</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proposedLabel6</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proposedLabel7</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proposedLabel8</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proposedLabel9</a:t>
            </a:r>
            <a:endParaRPr sz="1150">
              <a:solidFill>
                <a:schemeClr val="dk1"/>
              </a:solidFill>
              <a:latin typeface="Verdana"/>
              <a:ea typeface="Verdana"/>
              <a:cs typeface="Verdana"/>
              <a:sym typeface="Verdana"/>
            </a:endParaRPr>
          </a:p>
        </p:txBody>
      </p:sp>
      <p:sp>
        <p:nvSpPr>
          <p:cNvPr id="307" name="Google Shape;307;p23"/>
          <p:cNvSpPr txBox="1"/>
          <p:nvPr/>
        </p:nvSpPr>
        <p:spPr>
          <a:xfrm>
            <a:off x="6877426" y="1643475"/>
            <a:ext cx="1872000" cy="2485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50" u="sng">
                <a:latin typeface="Verdana"/>
                <a:ea typeface="Verdana"/>
                <a:cs typeface="Verdana"/>
                <a:sym typeface="Verdana"/>
              </a:rPr>
              <a:t>proposedValue1</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proposedValue2</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proposedValue3</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proposedValue4</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proposedValue5</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proposedValue6</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proposedValue7</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proposedValue8</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proposedValue9</a:t>
            </a:r>
            <a:endParaRPr sz="1150" u="sng">
              <a:solidFill>
                <a:schemeClr val="dk1"/>
              </a:solidFill>
              <a:latin typeface="Verdana"/>
              <a:ea typeface="Verdana"/>
              <a:cs typeface="Verdana"/>
              <a:sym typeface="Verdana"/>
            </a:endParaRPr>
          </a:p>
        </p:txBody>
      </p:sp>
      <p:sp>
        <p:nvSpPr>
          <p:cNvPr id="308" name="Google Shape;308;p23"/>
          <p:cNvSpPr txBox="1"/>
          <p:nvPr/>
        </p:nvSpPr>
        <p:spPr>
          <a:xfrm>
            <a:off x="2771275" y="4218663"/>
            <a:ext cx="2273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u="sng">
                <a:latin typeface="Verdana"/>
                <a:ea typeface="Verdana"/>
                <a:cs typeface="Verdana"/>
                <a:sym typeface="Verdana"/>
              </a:rPr>
              <a:t>totalMediaInvestment</a:t>
            </a:r>
            <a:endParaRPr sz="1150" u="sng">
              <a:latin typeface="Verdana"/>
              <a:ea typeface="Verdana"/>
              <a:cs typeface="Verdana"/>
              <a:sym typeface="Verdana"/>
            </a:endParaRPr>
          </a:p>
        </p:txBody>
      </p:sp>
      <p:sp>
        <p:nvSpPr>
          <p:cNvPr id="309" name="Google Shape;309;p23"/>
          <p:cNvSpPr txBox="1"/>
          <p:nvPr/>
        </p:nvSpPr>
        <p:spPr>
          <a:xfrm>
            <a:off x="6877425" y="4218432"/>
            <a:ext cx="2459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u="sng">
                <a:latin typeface="Verdana"/>
                <a:ea typeface="Verdana"/>
                <a:cs typeface="Verdana"/>
                <a:sym typeface="Verdana"/>
              </a:rPr>
              <a:t>totalMediaInvestmentTwo</a:t>
            </a:r>
            <a:endParaRPr sz="1150" u="sng">
              <a:latin typeface="Verdana"/>
              <a:ea typeface="Verdana"/>
              <a:cs typeface="Verdana"/>
              <a:sym typeface="Verdana"/>
            </a:endParaRPr>
          </a:p>
        </p:txBody>
      </p:sp>
      <p:sp>
        <p:nvSpPr>
          <p:cNvPr id="310" name="Google Shape;310;p23"/>
          <p:cNvSpPr txBox="1">
            <a:spLocks noGrp="1"/>
          </p:cNvSpPr>
          <p:nvPr>
            <p:ph type="body" idx="1"/>
          </p:nvPr>
        </p:nvSpPr>
        <p:spPr>
          <a:xfrm>
            <a:off x="3881238" y="4907725"/>
            <a:ext cx="19971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rPr>
              <a:t>pctTAIGrossSalesLastYear</a:t>
            </a:r>
            <a:endParaRPr sz="1150">
              <a:solidFill>
                <a:srgbClr val="000000"/>
              </a:solidFill>
              <a:latin typeface="Verdana"/>
              <a:ea typeface="Verdana"/>
              <a:cs typeface="Verdana"/>
              <a:sym typeface="Verdana"/>
            </a:endParaRPr>
          </a:p>
        </p:txBody>
      </p:sp>
      <p:sp>
        <p:nvSpPr>
          <p:cNvPr id="311" name="Google Shape;311;p23"/>
          <p:cNvSpPr txBox="1">
            <a:spLocks noGrp="1"/>
          </p:cNvSpPr>
          <p:nvPr>
            <p:ph type="body" idx="1"/>
          </p:nvPr>
        </p:nvSpPr>
        <p:spPr>
          <a:xfrm>
            <a:off x="5975475" y="4910328"/>
            <a:ext cx="32169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rPr>
              <a:t>grossSalesLastyear</a:t>
            </a:r>
            <a:endParaRPr sz="1150">
              <a:solidFill>
                <a:srgbClr val="000000"/>
              </a:solidFill>
              <a:latin typeface="Verdana"/>
              <a:ea typeface="Verdana"/>
              <a:cs typeface="Verdana"/>
              <a:sym typeface="Verdana"/>
            </a:endParaRPr>
          </a:p>
        </p:txBody>
      </p:sp>
      <p:sp>
        <p:nvSpPr>
          <p:cNvPr id="312" name="Google Shape;312;p23"/>
          <p:cNvSpPr txBox="1">
            <a:spLocks noGrp="1"/>
          </p:cNvSpPr>
          <p:nvPr>
            <p:ph type="body" idx="1"/>
          </p:nvPr>
        </p:nvSpPr>
        <p:spPr>
          <a:xfrm>
            <a:off x="1195788" y="5907250"/>
            <a:ext cx="19971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50">
                <a:solidFill>
                  <a:schemeClr val="dk1"/>
                </a:solidFill>
                <a:latin typeface="Verdana"/>
                <a:ea typeface="Verdana"/>
                <a:cs typeface="Verdana"/>
                <a:sym typeface="Verdana"/>
              </a:rPr>
              <a:t>taiNext12Months</a:t>
            </a:r>
            <a:endParaRPr sz="1150">
              <a:solidFill>
                <a:srgbClr val="000000"/>
              </a:solidFill>
              <a:latin typeface="Verdana"/>
              <a:ea typeface="Verdana"/>
              <a:cs typeface="Verdana"/>
              <a:sym typeface="Verdana"/>
            </a:endParaRPr>
          </a:p>
        </p:txBody>
      </p:sp>
      <p:sp>
        <p:nvSpPr>
          <p:cNvPr id="313" name="Google Shape;313;p23"/>
          <p:cNvSpPr txBox="1">
            <a:spLocks noGrp="1"/>
          </p:cNvSpPr>
          <p:nvPr>
            <p:ph type="body" idx="1"/>
          </p:nvPr>
        </p:nvSpPr>
        <p:spPr>
          <a:xfrm>
            <a:off x="3886138" y="5907250"/>
            <a:ext cx="19971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50">
                <a:solidFill>
                  <a:schemeClr val="dk1"/>
                </a:solidFill>
                <a:latin typeface="Verdana"/>
                <a:ea typeface="Verdana"/>
                <a:cs typeface="Verdana"/>
                <a:sym typeface="Verdana"/>
              </a:rPr>
              <a:t>pctGrossSales</a:t>
            </a:r>
            <a:endParaRPr sz="1150">
              <a:solidFill>
                <a:srgbClr val="000000"/>
              </a:solidFill>
              <a:latin typeface="Verdana"/>
              <a:ea typeface="Verdana"/>
              <a:cs typeface="Verdana"/>
              <a:sym typeface="Verdana"/>
            </a:endParaRPr>
          </a:p>
        </p:txBody>
      </p:sp>
      <p:sp>
        <p:nvSpPr>
          <p:cNvPr id="314" name="Google Shape;314;p23"/>
          <p:cNvSpPr txBox="1">
            <a:spLocks noGrp="1"/>
          </p:cNvSpPr>
          <p:nvPr>
            <p:ph type="body" idx="1"/>
          </p:nvPr>
        </p:nvSpPr>
        <p:spPr>
          <a:xfrm>
            <a:off x="5975475" y="5908725"/>
            <a:ext cx="32169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50">
                <a:solidFill>
                  <a:schemeClr val="dk1"/>
                </a:solidFill>
                <a:latin typeface="Verdana"/>
                <a:ea typeface="Verdana"/>
                <a:cs typeface="Verdana"/>
                <a:sym typeface="Verdana"/>
              </a:rPr>
              <a:t>estimatedGrossSalesNext12Months</a:t>
            </a:r>
            <a:endParaRPr sz="1150">
              <a:solidFill>
                <a:srgbClr val="000000"/>
              </a:solidFill>
              <a:latin typeface="Verdana"/>
              <a:ea typeface="Verdana"/>
              <a:cs typeface="Verdana"/>
              <a:sym typeface="Verdana"/>
            </a:endParaRPr>
          </a:p>
        </p:txBody>
      </p:sp>
      <p:sp>
        <p:nvSpPr>
          <p:cNvPr id="315" name="Google Shape;315;p23"/>
          <p:cNvSpPr txBox="1">
            <a:spLocks noGrp="1"/>
          </p:cNvSpPr>
          <p:nvPr>
            <p:ph type="body" idx="1"/>
          </p:nvPr>
        </p:nvSpPr>
        <p:spPr>
          <a:xfrm>
            <a:off x="640080" y="1353025"/>
            <a:ext cx="5007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a:t>
            </a:r>
            <a:endParaRPr sz="1150" b="1">
              <a:solidFill>
                <a:srgbClr val="000000"/>
              </a:solidFill>
              <a:latin typeface="Verdana"/>
              <a:ea typeface="Verdana"/>
              <a:cs typeface="Verdana"/>
              <a:sym typeface="Verdana"/>
            </a:endParaRPr>
          </a:p>
        </p:txBody>
      </p:sp>
      <p:sp>
        <p:nvSpPr>
          <p:cNvPr id="316" name="Google Shape;316;p23"/>
          <p:cNvSpPr txBox="1">
            <a:spLocks noGrp="1"/>
          </p:cNvSpPr>
          <p:nvPr>
            <p:ph type="body" idx="1"/>
          </p:nvPr>
        </p:nvSpPr>
        <p:spPr>
          <a:xfrm>
            <a:off x="1140766" y="1351525"/>
            <a:ext cx="3592200" cy="393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Previous Year’s Media Allocation</a:t>
            </a:r>
            <a:endParaRPr sz="1150" b="1">
              <a:solidFill>
                <a:srgbClr val="000000"/>
              </a:solidFill>
              <a:latin typeface="Verdana"/>
              <a:ea typeface="Verdana"/>
              <a:cs typeface="Verdana"/>
              <a:sym typeface="Verdan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24"/>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322" name="Google Shape;322;p24"/>
          <p:cNvSpPr txBox="1"/>
          <p:nvPr/>
        </p:nvSpPr>
        <p:spPr>
          <a:xfrm>
            <a:off x="1561650" y="6546625"/>
            <a:ext cx="6020700" cy="365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a:buNone/>
            </a:pPr>
            <a:endParaRPr sz="1350" b="1"/>
          </a:p>
        </p:txBody>
      </p:sp>
      <p:sp>
        <p:nvSpPr>
          <p:cNvPr id="323" name="Google Shape;323;p24"/>
          <p:cNvSpPr txBox="1"/>
          <p:nvPr/>
        </p:nvSpPr>
        <p:spPr>
          <a:xfrm>
            <a:off x="398025" y="475488"/>
            <a:ext cx="8399400" cy="8004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800"/>
              </a:spcBef>
              <a:spcAft>
                <a:spcPts val="800"/>
              </a:spcAft>
              <a:buClr>
                <a:schemeClr val="dk1"/>
              </a:buClr>
              <a:buSzPts val="1100"/>
              <a:buFont typeface="Arial"/>
              <a:buNone/>
            </a:pPr>
            <a:r>
              <a:rPr lang="en" sz="4000" b="1">
                <a:solidFill>
                  <a:schemeClr val="dk1"/>
                </a:solidFill>
              </a:rPr>
              <a:t>Previous Year’s Media Allocation</a:t>
            </a:r>
            <a:endParaRPr/>
          </a:p>
        </p:txBody>
      </p:sp>
      <p:sp>
        <p:nvSpPr>
          <p:cNvPr id="324" name="Google Shape;324;p24"/>
          <p:cNvSpPr txBox="1"/>
          <p:nvPr/>
        </p:nvSpPr>
        <p:spPr>
          <a:xfrm>
            <a:off x="841248" y="6389748"/>
            <a:ext cx="7466100" cy="559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550" b="1" dirty="0">
                <a:solidFill>
                  <a:schemeClr val="dk1"/>
                </a:solidFill>
                <a:latin typeface="Verdana"/>
                <a:ea typeface="Verdana"/>
                <a:cs typeface="Verdana"/>
                <a:sym typeface="Verdana"/>
              </a:rPr>
              <a:t>Total Advertising Investment (TAI): </a:t>
            </a:r>
            <a:r>
              <a:rPr lang="en" sz="1550" b="1" dirty="0" err="1">
                <a:solidFill>
                  <a:schemeClr val="dk1"/>
                </a:solidFill>
                <a:latin typeface="Verdana"/>
                <a:ea typeface="Verdana"/>
                <a:cs typeface="Verdana"/>
                <a:sym typeface="Verdana"/>
              </a:rPr>
              <a:t>totalAdvertisingInvestmentConfidentialClientEvaluationOnePage</a:t>
            </a:r>
            <a:endParaRPr sz="1550" b="1" dirty="0">
              <a:latin typeface="Verdana"/>
              <a:ea typeface="Verdana"/>
              <a:cs typeface="Verdana"/>
              <a:sym typeface="Verdana"/>
            </a:endParaRPr>
          </a:p>
        </p:txBody>
      </p:sp>
      <p:graphicFrame>
        <p:nvGraphicFramePr>
          <p:cNvPr id="2" name="Chart 1">
            <a:extLst>
              <a:ext uri="{FF2B5EF4-FFF2-40B4-BE49-F238E27FC236}">
                <a16:creationId xmlns:a16="http://schemas.microsoft.com/office/drawing/2014/main" id="{DB828F17-91B3-69FD-3162-FF31451B3449}"/>
              </a:ext>
            </a:extLst>
          </p:cNvPr>
          <p:cNvGraphicFramePr/>
          <p:nvPr>
            <p:extLst>
              <p:ext uri="{D42A27DB-BD31-4B8C-83A1-F6EECF244321}">
                <p14:modId xmlns:p14="http://schemas.microsoft.com/office/powerpoint/2010/main" val="814608630"/>
              </p:ext>
            </p:extLst>
          </p:nvPr>
        </p:nvGraphicFramePr>
        <p:xfrm>
          <a:off x="615462" y="1441938"/>
          <a:ext cx="7856996" cy="4783016"/>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0">
          <a:extLst>
            <a:ext uri="{FF2B5EF4-FFF2-40B4-BE49-F238E27FC236}">
              <a16:creationId xmlns:a16="http://schemas.microsoft.com/office/drawing/2014/main" id="{5B62369B-885B-8D26-0614-314EA8615D8D}"/>
            </a:ext>
          </a:extLst>
        </p:cNvPr>
        <p:cNvGrpSpPr/>
        <p:nvPr/>
      </p:nvGrpSpPr>
      <p:grpSpPr>
        <a:xfrm>
          <a:off x="0" y="0"/>
          <a:ext cx="0" cy="0"/>
          <a:chOff x="0" y="0"/>
          <a:chExt cx="0" cy="0"/>
        </a:xfrm>
      </p:grpSpPr>
      <p:sp>
        <p:nvSpPr>
          <p:cNvPr id="321" name="Google Shape;321;p24">
            <a:extLst>
              <a:ext uri="{FF2B5EF4-FFF2-40B4-BE49-F238E27FC236}">
                <a16:creationId xmlns:a16="http://schemas.microsoft.com/office/drawing/2014/main" id="{541A61DC-E11A-06B6-4D6C-B01D002752C0}"/>
              </a:ext>
            </a:extLst>
          </p:cNvPr>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sp>
        <p:nvSpPr>
          <p:cNvPr id="322" name="Google Shape;322;p24">
            <a:extLst>
              <a:ext uri="{FF2B5EF4-FFF2-40B4-BE49-F238E27FC236}">
                <a16:creationId xmlns:a16="http://schemas.microsoft.com/office/drawing/2014/main" id="{AFB28DC1-5A23-1D5F-E1AC-C7C2C3C78212}"/>
              </a:ext>
            </a:extLst>
          </p:cNvPr>
          <p:cNvSpPr txBox="1"/>
          <p:nvPr/>
        </p:nvSpPr>
        <p:spPr>
          <a:xfrm>
            <a:off x="1561650" y="6546625"/>
            <a:ext cx="6020700" cy="365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a:buNone/>
            </a:pPr>
            <a:endParaRPr sz="1350" b="1"/>
          </a:p>
        </p:txBody>
      </p:sp>
      <p:sp>
        <p:nvSpPr>
          <p:cNvPr id="323" name="Google Shape;323;p24">
            <a:extLst>
              <a:ext uri="{FF2B5EF4-FFF2-40B4-BE49-F238E27FC236}">
                <a16:creationId xmlns:a16="http://schemas.microsoft.com/office/drawing/2014/main" id="{B05858EA-9A7B-B10B-6097-D8A1A094AE83}"/>
              </a:ext>
            </a:extLst>
          </p:cNvPr>
          <p:cNvSpPr txBox="1"/>
          <p:nvPr/>
        </p:nvSpPr>
        <p:spPr>
          <a:xfrm>
            <a:off x="398025" y="475488"/>
            <a:ext cx="8399400" cy="1097706"/>
          </a:xfrm>
          <a:prstGeom prst="rect">
            <a:avLst/>
          </a:prstGeom>
          <a:noFill/>
          <a:ln>
            <a:noFill/>
          </a:ln>
        </p:spPr>
        <p:txBody>
          <a:bodyPr spcFirstLastPara="1" wrap="square" lIns="91425" tIns="91425" rIns="91425" bIns="91425" anchor="t" anchorCtr="0">
            <a:spAutoFit/>
          </a:bodyPr>
          <a:lstStyle/>
          <a:p>
            <a:pPr lvl="0" algn="ctr">
              <a:lnSpc>
                <a:spcPct val="115000"/>
              </a:lnSpc>
              <a:spcBef>
                <a:spcPts val="800"/>
              </a:spcBef>
              <a:spcAft>
                <a:spcPts val="800"/>
              </a:spcAft>
              <a:buClr>
                <a:schemeClr val="dk1"/>
              </a:buClr>
              <a:buSzPts val="1100"/>
            </a:pPr>
            <a:r>
              <a:rPr lang="en-US" sz="4000" b="1" dirty="0">
                <a:solidFill>
                  <a:schemeClr val="dk1"/>
                </a:solidFill>
              </a:rPr>
              <a:t>Proposed Year’s Media Allocation</a:t>
            </a:r>
            <a:endParaRPr lang="en-US" sz="4000" dirty="0"/>
          </a:p>
        </p:txBody>
      </p:sp>
      <p:sp>
        <p:nvSpPr>
          <p:cNvPr id="324" name="Google Shape;324;p24">
            <a:extLst>
              <a:ext uri="{FF2B5EF4-FFF2-40B4-BE49-F238E27FC236}">
                <a16:creationId xmlns:a16="http://schemas.microsoft.com/office/drawing/2014/main" id="{893114EA-0A6D-762B-CA7B-4960ED015B02}"/>
              </a:ext>
            </a:extLst>
          </p:cNvPr>
          <p:cNvSpPr txBox="1"/>
          <p:nvPr/>
        </p:nvSpPr>
        <p:spPr>
          <a:xfrm>
            <a:off x="841248" y="6224954"/>
            <a:ext cx="7466100" cy="724594"/>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550" b="1" dirty="0">
                <a:solidFill>
                  <a:schemeClr val="dk1"/>
                </a:solidFill>
                <a:latin typeface="Verdana"/>
                <a:ea typeface="Verdana"/>
                <a:cs typeface="Verdana"/>
                <a:sym typeface="Verdana"/>
              </a:rPr>
              <a:t>Total Advertising Investment (TAI): </a:t>
            </a:r>
            <a:r>
              <a:rPr lang="en" sz="1550" b="1" dirty="0" err="1">
                <a:solidFill>
                  <a:schemeClr val="dk1"/>
                </a:solidFill>
                <a:latin typeface="Verdana"/>
                <a:ea typeface="Verdana"/>
                <a:cs typeface="Verdana"/>
                <a:sym typeface="Verdana"/>
              </a:rPr>
              <a:t>totalAdvertisingInvestmentConfidentialClientEvaluationOnePage</a:t>
            </a:r>
            <a:endParaRPr sz="1550" b="1" dirty="0">
              <a:latin typeface="Verdana"/>
              <a:ea typeface="Verdana"/>
              <a:cs typeface="Verdana"/>
              <a:sym typeface="Verdana"/>
            </a:endParaRPr>
          </a:p>
        </p:txBody>
      </p:sp>
      <p:graphicFrame>
        <p:nvGraphicFramePr>
          <p:cNvPr id="2" name="Chart 1">
            <a:extLst>
              <a:ext uri="{FF2B5EF4-FFF2-40B4-BE49-F238E27FC236}">
                <a16:creationId xmlns:a16="http://schemas.microsoft.com/office/drawing/2014/main" id="{C0C6E880-8D71-1216-0399-53837D66C448}"/>
              </a:ext>
            </a:extLst>
          </p:cNvPr>
          <p:cNvGraphicFramePr/>
          <p:nvPr/>
        </p:nvGraphicFramePr>
        <p:xfrm>
          <a:off x="615462" y="1441938"/>
          <a:ext cx="7856996" cy="478301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65247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2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Profile of Consumers</a:t>
            </a:r>
            <a:endParaRPr/>
          </a:p>
        </p:txBody>
      </p:sp>
      <p:sp>
        <p:nvSpPr>
          <p:cNvPr id="339" name="Google Shape;339;p26"/>
          <p:cNvSpPr txBox="1">
            <a:spLocks noGrp="1"/>
          </p:cNvSpPr>
          <p:nvPr>
            <p:ph type="body" idx="1"/>
          </p:nvPr>
        </p:nvSpPr>
        <p:spPr>
          <a:xfrm>
            <a:off x="457200" y="1174800"/>
            <a:ext cx="8229600" cy="549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Replace this text with station/consumer information and/or customized research.</a:t>
            </a:r>
            <a:endParaRPr sz="1150">
              <a:solidFill>
                <a:schemeClr val="dk1"/>
              </a:solidFill>
              <a:latin typeface="Verdana"/>
              <a:ea typeface="Verdana"/>
              <a:cs typeface="Verdana"/>
              <a:sym typeface="Verdana"/>
            </a:endParaRPr>
          </a:p>
          <a:p>
            <a:pPr marL="0" lvl="0" indent="0" algn="l" rtl="0">
              <a:lnSpc>
                <a:spcPct val="115000"/>
              </a:lnSpc>
              <a:spcBef>
                <a:spcPts val="1000"/>
              </a:spcBef>
              <a:spcAft>
                <a:spcPts val="1000"/>
              </a:spcAft>
              <a:buNone/>
            </a:pPr>
            <a:endParaRPr sz="1150">
              <a:solidFill>
                <a:schemeClr val="dk1"/>
              </a:solidFill>
              <a:latin typeface="Verdana"/>
              <a:ea typeface="Verdana"/>
              <a:cs typeface="Verdana"/>
              <a:sym typeface="Verdan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27"/>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Marketing Strategies</a:t>
            </a:r>
            <a:endParaRPr/>
          </a:p>
        </p:txBody>
      </p:sp>
      <p:sp>
        <p:nvSpPr>
          <p:cNvPr id="345" name="Google Shape;345;p27"/>
          <p:cNvSpPr txBox="1">
            <a:spLocks noGrp="1"/>
          </p:cNvSpPr>
          <p:nvPr>
            <p:ph type="body" idx="1"/>
          </p:nvPr>
        </p:nvSpPr>
        <p:spPr>
          <a:xfrm>
            <a:off x="458400" y="1174799"/>
            <a:ext cx="8227200" cy="549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rgbClr val="00274D"/>
                </a:solidFill>
              </a:rPr>
              <a:t>Replace this text with marketing stra</a:t>
            </a:r>
            <a:endParaRPr sz="1150">
              <a:solidFill>
                <a:schemeClr val="dk1"/>
              </a:solidFill>
              <a:latin typeface="Verdana"/>
              <a:ea typeface="Verdana"/>
              <a:cs typeface="Verdana"/>
              <a:sym typeface="Verdana"/>
            </a:endParaRPr>
          </a:p>
          <a:p>
            <a:pPr marL="0" lvl="0" indent="0" algn="l" rtl="0">
              <a:lnSpc>
                <a:spcPct val="115000"/>
              </a:lnSpc>
              <a:spcBef>
                <a:spcPts val="1000"/>
              </a:spcBef>
              <a:spcAft>
                <a:spcPts val="1000"/>
              </a:spcAft>
              <a:buNone/>
            </a:pPr>
            <a:endParaRPr sz="1150">
              <a:latin typeface="Verdana"/>
              <a:ea typeface="Verdana"/>
              <a:cs typeface="Verdana"/>
              <a:sym typeface="Verdan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2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Creative Concepts I</a:t>
            </a:r>
            <a:endParaRPr/>
          </a:p>
        </p:txBody>
      </p:sp>
      <p:sp>
        <p:nvSpPr>
          <p:cNvPr id="351" name="Google Shape;351;p28"/>
          <p:cNvSpPr txBox="1">
            <a:spLocks noGrp="1"/>
          </p:cNvSpPr>
          <p:nvPr>
            <p:ph type="body" idx="2"/>
          </p:nvPr>
        </p:nvSpPr>
        <p:spPr>
          <a:xfrm>
            <a:off x="367950" y="1174800"/>
            <a:ext cx="8408100" cy="5443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150">
              <a:solidFill>
                <a:srgbClr val="000000"/>
              </a:solidFill>
              <a:latin typeface="Verdana"/>
              <a:ea typeface="Verdana"/>
              <a:cs typeface="Verdana"/>
              <a:sym typeface="Verdana"/>
            </a:endParaRPr>
          </a:p>
          <a:p>
            <a:pPr marL="0" lvl="0" indent="0" algn="l" rtl="0">
              <a:spcBef>
                <a:spcPts val="1600"/>
              </a:spcBef>
              <a:spcAft>
                <a:spcPts val="1200"/>
              </a:spcAft>
              <a:buNone/>
            </a:pPr>
            <a:endParaRPr sz="1150">
              <a:solidFill>
                <a:srgbClr val="000000"/>
              </a:solidFill>
              <a:latin typeface="Verdana"/>
              <a:ea typeface="Verdana"/>
              <a:cs typeface="Verdana"/>
              <a:sym typeface="Verdan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29"/>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Creative Concepts II</a:t>
            </a:r>
            <a:endParaRPr/>
          </a:p>
        </p:txBody>
      </p:sp>
      <p:sp>
        <p:nvSpPr>
          <p:cNvPr id="357" name="Google Shape;357;p29"/>
          <p:cNvSpPr txBox="1">
            <a:spLocks noGrp="1"/>
          </p:cNvSpPr>
          <p:nvPr>
            <p:ph type="body" idx="2"/>
          </p:nvPr>
        </p:nvSpPr>
        <p:spPr>
          <a:xfrm>
            <a:off x="367950" y="1174800"/>
            <a:ext cx="8408100" cy="5530800"/>
          </a:xfrm>
          <a:prstGeom prst="rect">
            <a:avLst/>
          </a:prstGeom>
        </p:spPr>
        <p:txBody>
          <a:bodyPr spcFirstLastPara="1" wrap="square" lIns="91425" tIns="91425" rIns="91425" bIns="91425" anchor="t" anchorCtr="0">
            <a:noAutofit/>
          </a:bodyPr>
          <a:lstStyle/>
          <a:p>
            <a:pPr marL="0" lvl="0" indent="0" algn="l" rtl="0">
              <a:spcBef>
                <a:spcPts val="1200"/>
              </a:spcBef>
              <a:spcAft>
                <a:spcPts val="1200"/>
              </a:spcAft>
              <a:buNone/>
            </a:pPr>
            <a:endParaRPr sz="1150">
              <a:solidFill>
                <a:srgbClr val="000000"/>
              </a:solidFill>
              <a:latin typeface="Verdana"/>
              <a:ea typeface="Verdana"/>
              <a:cs typeface="Verdana"/>
              <a:sym typeface="Verdan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30"/>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Digital Marketing Strategies</a:t>
            </a:r>
            <a:endParaRPr/>
          </a:p>
        </p:txBody>
      </p:sp>
      <p:sp>
        <p:nvSpPr>
          <p:cNvPr id="363" name="Google Shape;363;p30"/>
          <p:cNvSpPr txBox="1">
            <a:spLocks noGrp="1"/>
          </p:cNvSpPr>
          <p:nvPr>
            <p:ph type="body" idx="1"/>
          </p:nvPr>
        </p:nvSpPr>
        <p:spPr>
          <a:xfrm>
            <a:off x="457200" y="1170400"/>
            <a:ext cx="8229600" cy="570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Replace this text with station/consumer information and/or customized research.</a:t>
            </a:r>
            <a:endParaRPr sz="1150">
              <a:solidFill>
                <a:schemeClr val="dk1"/>
              </a:solidFill>
              <a:latin typeface="Verdana"/>
              <a:ea typeface="Verdana"/>
              <a:cs typeface="Verdana"/>
              <a:sym typeface="Verdana"/>
            </a:endParaRPr>
          </a:p>
          <a:p>
            <a:pPr marL="0" lvl="0" indent="0" algn="l" rtl="0">
              <a:spcBef>
                <a:spcPts val="1000"/>
              </a:spcBef>
              <a:spcAft>
                <a:spcPts val="1600"/>
              </a:spcAft>
              <a:buNone/>
            </a:pPr>
            <a:endParaRPr sz="1150">
              <a:latin typeface="Verdana"/>
              <a:ea typeface="Verdana"/>
              <a:cs typeface="Verdana"/>
              <a:sym typeface="Verdan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31"/>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Long Range Strategic Plans</a:t>
            </a:r>
            <a:endParaRPr/>
          </a:p>
        </p:txBody>
      </p:sp>
      <p:sp>
        <p:nvSpPr>
          <p:cNvPr id="369" name="Google Shape;369;p31"/>
          <p:cNvSpPr txBox="1"/>
          <p:nvPr/>
        </p:nvSpPr>
        <p:spPr>
          <a:xfrm>
            <a:off x="453938" y="1463040"/>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SATURATION</a:t>
            </a:r>
            <a:endParaRPr sz="1700">
              <a:latin typeface="Verdana"/>
              <a:ea typeface="Verdana"/>
              <a:cs typeface="Verdana"/>
              <a:sym typeface="Verdana"/>
            </a:endParaRPr>
          </a:p>
        </p:txBody>
      </p:sp>
      <p:sp>
        <p:nvSpPr>
          <p:cNvPr id="370" name="Google Shape;370;p31"/>
          <p:cNvSpPr txBox="1"/>
          <p:nvPr/>
        </p:nvSpPr>
        <p:spPr>
          <a:xfrm>
            <a:off x="3545038" y="1463040"/>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13 WEEKS</a:t>
            </a:r>
            <a:endParaRPr sz="1700">
              <a:latin typeface="Verdana"/>
              <a:ea typeface="Verdana"/>
              <a:cs typeface="Verdana"/>
              <a:sym typeface="Verdana"/>
            </a:endParaRPr>
          </a:p>
        </p:txBody>
      </p:sp>
      <p:sp>
        <p:nvSpPr>
          <p:cNvPr id="371" name="Google Shape;371;p31"/>
          <p:cNvSpPr txBox="1"/>
          <p:nvPr/>
        </p:nvSpPr>
        <p:spPr>
          <a:xfrm>
            <a:off x="6761963" y="1463040"/>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AWARENESS</a:t>
            </a:r>
            <a:endParaRPr sz="1700">
              <a:latin typeface="Verdana"/>
              <a:ea typeface="Verdana"/>
              <a:cs typeface="Verdana"/>
              <a:sym typeface="Verdana"/>
            </a:endParaRPr>
          </a:p>
        </p:txBody>
      </p:sp>
      <p:sp>
        <p:nvSpPr>
          <p:cNvPr id="372" name="Google Shape;372;p31"/>
          <p:cNvSpPr txBox="1"/>
          <p:nvPr/>
        </p:nvSpPr>
        <p:spPr>
          <a:xfrm>
            <a:off x="453925" y="3431678"/>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PENETRATION</a:t>
            </a:r>
            <a:endParaRPr sz="1700">
              <a:latin typeface="Verdana"/>
              <a:ea typeface="Verdana"/>
              <a:cs typeface="Verdana"/>
              <a:sym typeface="Verdana"/>
            </a:endParaRPr>
          </a:p>
        </p:txBody>
      </p:sp>
      <p:sp>
        <p:nvSpPr>
          <p:cNvPr id="373" name="Google Shape;373;p31"/>
          <p:cNvSpPr txBox="1"/>
          <p:nvPr/>
        </p:nvSpPr>
        <p:spPr>
          <a:xfrm>
            <a:off x="3545025" y="3431678"/>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26 WEEKS</a:t>
            </a:r>
            <a:endParaRPr sz="1700">
              <a:latin typeface="Verdana"/>
              <a:ea typeface="Verdana"/>
              <a:cs typeface="Verdana"/>
              <a:sym typeface="Verdana"/>
            </a:endParaRPr>
          </a:p>
        </p:txBody>
      </p:sp>
      <p:sp>
        <p:nvSpPr>
          <p:cNvPr id="374" name="Google Shape;374;p31"/>
          <p:cNvSpPr txBox="1"/>
          <p:nvPr/>
        </p:nvSpPr>
        <p:spPr>
          <a:xfrm>
            <a:off x="6761950" y="3431678"/>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RECOGNITION</a:t>
            </a:r>
            <a:endParaRPr sz="1700">
              <a:latin typeface="Verdana"/>
              <a:ea typeface="Verdana"/>
              <a:cs typeface="Verdana"/>
              <a:sym typeface="Verdana"/>
            </a:endParaRPr>
          </a:p>
        </p:txBody>
      </p:sp>
      <p:sp>
        <p:nvSpPr>
          <p:cNvPr id="375" name="Google Shape;375;p31"/>
          <p:cNvSpPr txBox="1"/>
          <p:nvPr/>
        </p:nvSpPr>
        <p:spPr>
          <a:xfrm>
            <a:off x="453938" y="5400315"/>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DOMINANCE</a:t>
            </a:r>
            <a:endParaRPr sz="1700">
              <a:latin typeface="Verdana"/>
              <a:ea typeface="Verdana"/>
              <a:cs typeface="Verdana"/>
              <a:sym typeface="Verdana"/>
            </a:endParaRPr>
          </a:p>
        </p:txBody>
      </p:sp>
      <p:sp>
        <p:nvSpPr>
          <p:cNvPr id="376" name="Google Shape;376;p31"/>
          <p:cNvSpPr txBox="1"/>
          <p:nvPr/>
        </p:nvSpPr>
        <p:spPr>
          <a:xfrm>
            <a:off x="3545038" y="5400315"/>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52 WEEKS</a:t>
            </a:r>
            <a:endParaRPr sz="1700">
              <a:latin typeface="Verdana"/>
              <a:ea typeface="Verdana"/>
              <a:cs typeface="Verdana"/>
              <a:sym typeface="Verdana"/>
            </a:endParaRPr>
          </a:p>
        </p:txBody>
      </p:sp>
      <p:sp>
        <p:nvSpPr>
          <p:cNvPr id="377" name="Google Shape;377;p31"/>
          <p:cNvSpPr txBox="1"/>
          <p:nvPr/>
        </p:nvSpPr>
        <p:spPr>
          <a:xfrm>
            <a:off x="6761963" y="5400315"/>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ACCEPTANCE</a:t>
            </a:r>
            <a:endParaRPr sz="1700">
              <a:latin typeface="Verdana"/>
              <a:ea typeface="Verdana"/>
              <a:cs typeface="Verdana"/>
              <a:sym typeface="Verdana"/>
            </a:endParaRPr>
          </a:p>
        </p:txBody>
      </p:sp>
      <p:sp>
        <p:nvSpPr>
          <p:cNvPr id="378" name="Google Shape;378;p31"/>
          <p:cNvSpPr/>
          <p:nvPr/>
        </p:nvSpPr>
        <p:spPr>
          <a:xfrm>
            <a:off x="2382025" y="5628925"/>
            <a:ext cx="1391400" cy="417300"/>
          </a:xfrm>
          <a:prstGeom prst="rightArrow">
            <a:avLst>
              <a:gd name="adj1" fmla="val 50000"/>
              <a:gd name="adj2" fmla="val 50000"/>
            </a:avLst>
          </a:prstGeom>
          <a:solidFill>
            <a:srgbClr val="7F7E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1"/>
          <p:cNvSpPr/>
          <p:nvPr/>
        </p:nvSpPr>
        <p:spPr>
          <a:xfrm>
            <a:off x="5370550" y="5628925"/>
            <a:ext cx="1391400" cy="417300"/>
          </a:xfrm>
          <a:prstGeom prst="rightArrow">
            <a:avLst>
              <a:gd name="adj1" fmla="val 50000"/>
              <a:gd name="adj2" fmla="val 50000"/>
            </a:avLst>
          </a:prstGeom>
          <a:solidFill>
            <a:srgbClr val="7F7E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1"/>
          <p:cNvSpPr/>
          <p:nvPr/>
        </p:nvSpPr>
        <p:spPr>
          <a:xfrm>
            <a:off x="2382025" y="1691625"/>
            <a:ext cx="1391400" cy="41730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1"/>
          <p:cNvSpPr/>
          <p:nvPr/>
        </p:nvSpPr>
        <p:spPr>
          <a:xfrm>
            <a:off x="5370550" y="1691625"/>
            <a:ext cx="1391400" cy="41730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1"/>
          <p:cNvSpPr/>
          <p:nvPr/>
        </p:nvSpPr>
        <p:spPr>
          <a:xfrm>
            <a:off x="2382038" y="366028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1"/>
          <p:cNvSpPr/>
          <p:nvPr/>
        </p:nvSpPr>
        <p:spPr>
          <a:xfrm>
            <a:off x="5370563" y="366028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32"/>
          <p:cNvSpPr txBox="1">
            <a:spLocks noGrp="1"/>
          </p:cNvSpPr>
          <p:nvPr>
            <p:ph type="ctrTitle"/>
          </p:nvPr>
        </p:nvSpPr>
        <p:spPr>
          <a:xfrm>
            <a:off x="693450" y="475488"/>
            <a:ext cx="7757100" cy="69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700"/>
              <a:t>Advantages to Long-Range Strategic Planning</a:t>
            </a:r>
            <a:endParaRPr sz="2700"/>
          </a:p>
        </p:txBody>
      </p:sp>
      <p:sp>
        <p:nvSpPr>
          <p:cNvPr id="389" name="Google Shape;389;p32"/>
          <p:cNvSpPr txBox="1"/>
          <p:nvPr/>
        </p:nvSpPr>
        <p:spPr>
          <a:xfrm>
            <a:off x="2371040" y="128307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Long-term investments placed for a year usually achieve lower rates.</a:t>
            </a:r>
            <a:endParaRPr sz="1700">
              <a:latin typeface="Verdana"/>
              <a:ea typeface="Verdana"/>
              <a:cs typeface="Verdana"/>
              <a:sym typeface="Verdana"/>
            </a:endParaRPr>
          </a:p>
        </p:txBody>
      </p:sp>
      <p:sp>
        <p:nvSpPr>
          <p:cNvPr id="390" name="Google Shape;390;p32"/>
          <p:cNvSpPr/>
          <p:nvPr/>
        </p:nvSpPr>
        <p:spPr>
          <a:xfrm>
            <a:off x="575263" y="3682050"/>
            <a:ext cx="1391400" cy="417300"/>
          </a:xfrm>
          <a:prstGeom prst="rightArrow">
            <a:avLst>
              <a:gd name="adj1" fmla="val 50000"/>
              <a:gd name="adj2" fmla="val 50000"/>
            </a:avLst>
          </a:prstGeom>
          <a:solidFill>
            <a:srgbClr val="7F7E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2"/>
          <p:cNvSpPr/>
          <p:nvPr/>
        </p:nvSpPr>
        <p:spPr>
          <a:xfrm>
            <a:off x="575263" y="1484815"/>
            <a:ext cx="1391400" cy="41730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2"/>
          <p:cNvSpPr/>
          <p:nvPr/>
        </p:nvSpPr>
        <p:spPr>
          <a:xfrm>
            <a:off x="575263" y="5879250"/>
            <a:ext cx="1391400" cy="41730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2"/>
          <p:cNvSpPr/>
          <p:nvPr/>
        </p:nvSpPr>
        <p:spPr>
          <a:xfrm>
            <a:off x="575250" y="258343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2"/>
          <p:cNvSpPr/>
          <p:nvPr/>
        </p:nvSpPr>
        <p:spPr>
          <a:xfrm>
            <a:off x="575250" y="478063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2"/>
          <p:cNvSpPr txBox="1"/>
          <p:nvPr/>
        </p:nvSpPr>
        <p:spPr>
          <a:xfrm>
            <a:off x="2371040" y="452522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Consistent advertising creates the image of credibility and stability.</a:t>
            </a:r>
            <a:endParaRPr sz="1700">
              <a:latin typeface="Verdana"/>
              <a:ea typeface="Verdana"/>
              <a:cs typeface="Verdana"/>
              <a:sym typeface="Verdana"/>
            </a:endParaRPr>
          </a:p>
        </p:txBody>
      </p:sp>
      <p:sp>
        <p:nvSpPr>
          <p:cNvPr id="396" name="Google Shape;396;p32"/>
          <p:cNvSpPr txBox="1"/>
          <p:nvPr/>
        </p:nvSpPr>
        <p:spPr>
          <a:xfrm>
            <a:off x="2371040" y="344672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Consistent continuity creates lasting impressions, not just short-term attention.</a:t>
            </a:r>
            <a:endParaRPr sz="1700">
              <a:latin typeface="Verdana"/>
              <a:ea typeface="Verdana"/>
              <a:cs typeface="Verdana"/>
              <a:sym typeface="Verdana"/>
            </a:endParaRPr>
          </a:p>
        </p:txBody>
      </p:sp>
      <p:sp>
        <p:nvSpPr>
          <p:cNvPr id="397" name="Google Shape;397;p32"/>
          <p:cNvSpPr txBox="1"/>
          <p:nvPr/>
        </p:nvSpPr>
        <p:spPr>
          <a:xfrm>
            <a:off x="2371040" y="562377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All successful businesses consider long-range strategic planning a smart business decision.</a:t>
            </a:r>
            <a:endParaRPr sz="1700">
              <a:latin typeface="Verdana"/>
              <a:ea typeface="Verdana"/>
              <a:cs typeface="Verdana"/>
              <a:sym typeface="Verdana"/>
            </a:endParaRPr>
          </a:p>
        </p:txBody>
      </p:sp>
      <p:sp>
        <p:nvSpPr>
          <p:cNvPr id="398" name="Google Shape;398;p32"/>
          <p:cNvSpPr txBox="1"/>
          <p:nvPr/>
        </p:nvSpPr>
        <p:spPr>
          <a:xfrm>
            <a:off x="2371040" y="2368250"/>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Advertising “Away from the Clutter” gains the competitive edge.</a:t>
            </a:r>
            <a:endParaRPr sz="1700">
              <a:latin typeface="Verdana"/>
              <a:ea typeface="Verdana"/>
              <a:cs typeface="Verdana"/>
              <a:sym typeface="Verdan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33"/>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Proposed Schedule Plan A</a:t>
            </a:r>
            <a:endParaRPr dirty="0"/>
          </a:p>
        </p:txBody>
      </p:sp>
      <p:sp>
        <p:nvSpPr>
          <p:cNvPr id="404" name="Google Shape;404;p33"/>
          <p:cNvSpPr txBox="1">
            <a:spLocks noGrp="1"/>
          </p:cNvSpPr>
          <p:nvPr>
            <p:ph type="ctrTitle"/>
          </p:nvPr>
        </p:nvSpPr>
        <p:spPr>
          <a:xfrm>
            <a:off x="693450" y="1174812"/>
            <a:ext cx="7757100" cy="63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dirty="0"/>
              <a:t>Budget Breakout by Month (For </a:t>
            </a:r>
            <a:r>
              <a:rPr lang="en" sz="2100"/>
              <a:t>Next 12 Months</a:t>
            </a:r>
            <a:r>
              <a:rPr lang="en" sz="2100" dirty="0"/>
              <a:t>)</a:t>
            </a:r>
            <a:endParaRPr sz="2100" dirty="0"/>
          </a:p>
          <a:p>
            <a:pPr marL="0" lvl="0" indent="0" algn="ctr" rtl="0">
              <a:spcBef>
                <a:spcPts val="0"/>
              </a:spcBef>
              <a:spcAft>
                <a:spcPts val="0"/>
              </a:spcAft>
              <a:buNone/>
            </a:pPr>
            <a:r>
              <a:rPr lang="en" sz="2100" dirty="0"/>
              <a:t>Proposed Media Plan: station</a:t>
            </a:r>
            <a:endParaRPr sz="2100" dirty="0"/>
          </a:p>
        </p:txBody>
      </p:sp>
      <p:graphicFrame>
        <p:nvGraphicFramePr>
          <p:cNvPr id="4" name="Chart 3">
            <a:extLst>
              <a:ext uri="{FF2B5EF4-FFF2-40B4-BE49-F238E27FC236}">
                <a16:creationId xmlns:a16="http://schemas.microsoft.com/office/drawing/2014/main" id="{36E762A6-CFC9-E404-3770-D97BC10334CB}"/>
              </a:ext>
            </a:extLst>
          </p:cNvPr>
          <p:cNvGraphicFramePr/>
          <p:nvPr>
            <p:extLst>
              <p:ext uri="{D42A27DB-BD31-4B8C-83A1-F6EECF244321}">
                <p14:modId xmlns:p14="http://schemas.microsoft.com/office/powerpoint/2010/main" val="2364039595"/>
              </p:ext>
            </p:extLst>
          </p:nvPr>
        </p:nvGraphicFramePr>
        <p:xfrm>
          <a:off x="986118" y="2097740"/>
          <a:ext cx="7486340" cy="4127213"/>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34"/>
          <p:cNvSpPr txBox="1">
            <a:spLocks noGrp="1"/>
          </p:cNvSpPr>
          <p:nvPr>
            <p:ph type="ctrTitle"/>
          </p:nvPr>
        </p:nvSpPr>
        <p:spPr>
          <a:xfrm>
            <a:off x="693450" y="478963"/>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A</a:t>
            </a:r>
            <a:endParaRPr/>
          </a:p>
        </p:txBody>
      </p:sp>
      <p:graphicFrame>
        <p:nvGraphicFramePr>
          <p:cNvPr id="411" name="Google Shape;411;p34"/>
          <p:cNvGraphicFramePr/>
          <p:nvPr/>
        </p:nvGraphicFramePr>
        <p:xfrm>
          <a:off x="457200" y="1325880"/>
          <a:ext cx="8229600" cy="1783080"/>
        </p:xfrm>
        <a:graphic>
          <a:graphicData uri="http://schemas.openxmlformats.org/drawingml/2006/table">
            <a:tbl>
              <a:tblPr>
                <a:noFill/>
                <a:tableStyleId>{CFB75FC7-DD7D-40D8-B2B2-EE4B611A8D2E}</a:tableStyleId>
              </a:tblPr>
              <a:tblGrid>
                <a:gridCol w="1246175">
                  <a:extLst>
                    <a:ext uri="{9D8B030D-6E8A-4147-A177-3AD203B41FA5}">
                      <a16:colId xmlns:a16="http://schemas.microsoft.com/office/drawing/2014/main" val="20000"/>
                    </a:ext>
                  </a:extLst>
                </a:gridCol>
                <a:gridCol w="1116875">
                  <a:extLst>
                    <a:ext uri="{9D8B030D-6E8A-4147-A177-3AD203B41FA5}">
                      <a16:colId xmlns:a16="http://schemas.microsoft.com/office/drawing/2014/main" val="20001"/>
                    </a:ext>
                  </a:extLst>
                </a:gridCol>
                <a:gridCol w="1528350">
                  <a:extLst>
                    <a:ext uri="{9D8B030D-6E8A-4147-A177-3AD203B41FA5}">
                      <a16:colId xmlns:a16="http://schemas.microsoft.com/office/drawing/2014/main" val="20002"/>
                    </a:ext>
                  </a:extLst>
                </a:gridCol>
                <a:gridCol w="2186750">
                  <a:extLst>
                    <a:ext uri="{9D8B030D-6E8A-4147-A177-3AD203B41FA5}">
                      <a16:colId xmlns:a16="http://schemas.microsoft.com/office/drawing/2014/main" val="20003"/>
                    </a:ext>
                  </a:extLst>
                </a:gridCol>
                <a:gridCol w="2151450">
                  <a:extLst>
                    <a:ext uri="{9D8B030D-6E8A-4147-A177-3AD203B41FA5}">
                      <a16:colId xmlns:a16="http://schemas.microsoft.com/office/drawing/2014/main" val="20004"/>
                    </a:ext>
                  </a:extLst>
                </a:gridCol>
              </a:tblGrid>
              <a:tr h="251450">
                <a:tc>
                  <a:txBody>
                    <a:bodyPr/>
                    <a:lstStyle/>
                    <a:p>
                      <a:pPr marL="0" lvl="0" indent="0" algn="l" rtl="0">
                        <a:spcBef>
                          <a:spcPts val="0"/>
                        </a:spcBef>
                        <a:spcAft>
                          <a:spcPts val="0"/>
                        </a:spcAft>
                        <a:buNone/>
                      </a:pPr>
                      <a:endParaRPr/>
                    </a:p>
                  </a:txBody>
                  <a:tcPr marL="28575" marR="28575" marT="19050" marB="19050" anchor="b"/>
                </a:tc>
                <a:tc gridSpan="2">
                  <a:txBody>
                    <a:bodyPr/>
                    <a:lstStyle/>
                    <a:p>
                      <a:pPr marL="0" lvl="0" indent="0" algn="ctr" rtl="0">
                        <a:lnSpc>
                          <a:spcPct val="115000"/>
                        </a:lnSpc>
                        <a:spcBef>
                          <a:spcPts val="0"/>
                        </a:spcBef>
                        <a:spcAft>
                          <a:spcPts val="0"/>
                        </a:spcAft>
                        <a:buNone/>
                      </a:pPr>
                      <a:r>
                        <a:rPr lang="en" sz="1200" b="1">
                          <a:latin typeface="Verdana"/>
                          <a:ea typeface="Verdana"/>
                          <a:cs typeface="Verdana"/>
                          <a:sym typeface="Verdana"/>
                        </a:rPr>
                        <a:t>Branding Months</a:t>
                      </a:r>
                      <a:endParaRPr sz="1200" b="1">
                        <a:latin typeface="Verdana"/>
                        <a:ea typeface="Verdana"/>
                        <a:cs typeface="Verdana"/>
                        <a:sym typeface="Verdana"/>
                      </a:endParaRPr>
                    </a:p>
                  </a:txBody>
                  <a:tcPr marL="28575" marR="28575" marT="19050" marB="19050" anchor="ctr"/>
                </a:tc>
                <a:tc hMerge="1">
                  <a:txBody>
                    <a:bodyPr/>
                    <a:lstStyle/>
                    <a:p>
                      <a:endParaRPr lang="en-US"/>
                    </a:p>
                  </a:txBody>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extLst>
                  <a:ext uri="{0D108BD9-81ED-4DB2-BD59-A6C34878D82A}">
                    <a16:rowId xmlns:a16="http://schemas.microsoft.com/office/drawing/2014/main" val="10000"/>
                  </a:ext>
                </a:extLst>
              </a:tr>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Branding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 of Weeks/Months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Base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5"/>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6"/>
                  </a:ext>
                </a:extLst>
              </a:tr>
              <a:tr h="251450">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40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7"/>
                  </a:ext>
                </a:extLst>
              </a:tr>
            </a:tbl>
          </a:graphicData>
        </a:graphic>
      </p:graphicFrame>
      <p:graphicFrame>
        <p:nvGraphicFramePr>
          <p:cNvPr id="412" name="Google Shape;412;p34"/>
          <p:cNvGraphicFramePr/>
          <p:nvPr/>
        </p:nvGraphicFramePr>
        <p:xfrm>
          <a:off x="457200" y="3200400"/>
          <a:ext cx="8229600" cy="1783080"/>
        </p:xfrm>
        <a:graphic>
          <a:graphicData uri="http://schemas.openxmlformats.org/drawingml/2006/table">
            <a:tbl>
              <a:tblPr>
                <a:noFill/>
                <a:tableStyleId>{CFB75FC7-DD7D-40D8-B2B2-EE4B611A8D2E}</a:tableStyleId>
              </a:tblPr>
              <a:tblGrid>
                <a:gridCol w="1246200">
                  <a:extLst>
                    <a:ext uri="{9D8B030D-6E8A-4147-A177-3AD203B41FA5}">
                      <a16:colId xmlns:a16="http://schemas.microsoft.com/office/drawing/2014/main" val="20000"/>
                    </a:ext>
                  </a:extLst>
                </a:gridCol>
                <a:gridCol w="1116875">
                  <a:extLst>
                    <a:ext uri="{9D8B030D-6E8A-4147-A177-3AD203B41FA5}">
                      <a16:colId xmlns:a16="http://schemas.microsoft.com/office/drawing/2014/main" val="20001"/>
                    </a:ext>
                  </a:extLst>
                </a:gridCol>
                <a:gridCol w="1528350">
                  <a:extLst>
                    <a:ext uri="{9D8B030D-6E8A-4147-A177-3AD203B41FA5}">
                      <a16:colId xmlns:a16="http://schemas.microsoft.com/office/drawing/2014/main" val="20002"/>
                    </a:ext>
                  </a:extLst>
                </a:gridCol>
                <a:gridCol w="2186725">
                  <a:extLst>
                    <a:ext uri="{9D8B030D-6E8A-4147-A177-3AD203B41FA5}">
                      <a16:colId xmlns:a16="http://schemas.microsoft.com/office/drawing/2014/main" val="20003"/>
                    </a:ext>
                  </a:extLst>
                </a:gridCol>
                <a:gridCol w="2151450">
                  <a:extLst>
                    <a:ext uri="{9D8B030D-6E8A-4147-A177-3AD203B41FA5}">
                      <a16:colId xmlns:a16="http://schemas.microsoft.com/office/drawing/2014/main" val="20004"/>
                    </a:ext>
                  </a:extLst>
                </a:gridCol>
              </a:tblGrid>
              <a:tr h="251450">
                <a:tc>
                  <a:txBody>
                    <a:bodyPr/>
                    <a:lstStyle/>
                    <a:p>
                      <a:pPr marL="0" lvl="0" indent="0" algn="l" rtl="0">
                        <a:spcBef>
                          <a:spcPts val="0"/>
                        </a:spcBef>
                        <a:spcAft>
                          <a:spcPts val="0"/>
                        </a:spcAft>
                        <a:buNone/>
                      </a:pPr>
                      <a:endParaRPr/>
                    </a:p>
                  </a:txBody>
                  <a:tcPr marL="28575" marR="28575" marT="19050" marB="19050" anchor="b"/>
                </a:tc>
                <a:tc gridSpan="2">
                  <a:txBody>
                    <a:bodyPr/>
                    <a:lstStyle/>
                    <a:p>
                      <a:pPr marL="0" lvl="0" indent="0" algn="ctr" rtl="0">
                        <a:lnSpc>
                          <a:spcPct val="115000"/>
                        </a:lnSpc>
                        <a:spcBef>
                          <a:spcPts val="0"/>
                        </a:spcBef>
                        <a:spcAft>
                          <a:spcPts val="0"/>
                        </a:spcAft>
                        <a:buNone/>
                      </a:pPr>
                      <a:r>
                        <a:rPr lang="en" sz="1200" b="1">
                          <a:latin typeface="Verdana"/>
                          <a:ea typeface="Verdana"/>
                          <a:cs typeface="Verdana"/>
                          <a:sym typeface="Verdana"/>
                        </a:rPr>
                        <a:t>Spike Months</a:t>
                      </a:r>
                      <a:endParaRPr sz="1200" b="1">
                        <a:latin typeface="Verdana"/>
                        <a:ea typeface="Verdana"/>
                        <a:cs typeface="Verdana"/>
                        <a:sym typeface="Verdana"/>
                      </a:endParaRPr>
                    </a:p>
                  </a:txBody>
                  <a:tcPr marL="28575" marR="28575" marT="19050" marB="19050" anchor="ctr"/>
                </a:tc>
                <a:tc hMerge="1">
                  <a:txBody>
                    <a:bodyPr/>
                    <a:lstStyle/>
                    <a:p>
                      <a:endParaRPr lang="en-US"/>
                    </a:p>
                  </a:txBody>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extLst>
                  <a:ext uri="{0D108BD9-81ED-4DB2-BD59-A6C34878D82A}">
                    <a16:rowId xmlns:a16="http://schemas.microsoft.com/office/drawing/2014/main" val="10000"/>
                  </a:ext>
                </a:extLst>
              </a:tr>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Spike Months</a:t>
                      </a:r>
                      <a:endParaRPr sz="1200" b="1" i="1" u="sng">
                        <a:latin typeface="Verdana"/>
                        <a:ea typeface="Verdana"/>
                        <a:cs typeface="Verdana"/>
                        <a:sym typeface="Verdana"/>
                      </a:endParaRPr>
                    </a:p>
                  </a:txBody>
                  <a:tcPr marL="28575" marR="28575" marT="19050" marB="19050"/>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2</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Continuity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$2,000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5"/>
                  </a:ext>
                </a:extLst>
              </a:tr>
              <a:tr h="251450">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6"/>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80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7"/>
                  </a:ext>
                </a:extLst>
              </a:tr>
            </a:tbl>
          </a:graphicData>
        </a:graphic>
      </p:graphicFrame>
      <p:graphicFrame>
        <p:nvGraphicFramePr>
          <p:cNvPr id="413" name="Google Shape;413;p34"/>
          <p:cNvGraphicFramePr/>
          <p:nvPr/>
        </p:nvGraphicFramePr>
        <p:xfrm>
          <a:off x="457200" y="5029200"/>
          <a:ext cx="8229600" cy="1781493"/>
        </p:xfrm>
        <a:graphic>
          <a:graphicData uri="http://schemas.openxmlformats.org/drawingml/2006/table">
            <a:tbl>
              <a:tblPr>
                <a:noFill/>
                <a:tableStyleId>{CFB75FC7-DD7D-40D8-B2B2-EE4B611A8D2E}</a:tableStyleId>
              </a:tblPr>
              <a:tblGrid>
                <a:gridCol w="1246200">
                  <a:extLst>
                    <a:ext uri="{9D8B030D-6E8A-4147-A177-3AD203B41FA5}">
                      <a16:colId xmlns:a16="http://schemas.microsoft.com/office/drawing/2014/main" val="20000"/>
                    </a:ext>
                  </a:extLst>
                </a:gridCol>
                <a:gridCol w="1116875">
                  <a:extLst>
                    <a:ext uri="{9D8B030D-6E8A-4147-A177-3AD203B41FA5}">
                      <a16:colId xmlns:a16="http://schemas.microsoft.com/office/drawing/2014/main" val="20001"/>
                    </a:ext>
                  </a:extLst>
                </a:gridCol>
                <a:gridCol w="1528350">
                  <a:extLst>
                    <a:ext uri="{9D8B030D-6E8A-4147-A177-3AD203B41FA5}">
                      <a16:colId xmlns:a16="http://schemas.microsoft.com/office/drawing/2014/main" val="20002"/>
                    </a:ext>
                  </a:extLst>
                </a:gridCol>
                <a:gridCol w="2186725">
                  <a:extLst>
                    <a:ext uri="{9D8B030D-6E8A-4147-A177-3AD203B41FA5}">
                      <a16:colId xmlns:a16="http://schemas.microsoft.com/office/drawing/2014/main" val="20003"/>
                    </a:ext>
                  </a:extLst>
                </a:gridCol>
                <a:gridCol w="2151450">
                  <a:extLst>
                    <a:ext uri="{9D8B030D-6E8A-4147-A177-3AD203B41FA5}">
                      <a16:colId xmlns:a16="http://schemas.microsoft.com/office/drawing/2014/main" val="20004"/>
                    </a:ext>
                  </a:extLst>
                </a:gridCol>
              </a:tblGrid>
              <a:tr h="251450">
                <a:tc>
                  <a:txBody>
                    <a:bodyPr/>
                    <a:lstStyle/>
                    <a:p>
                      <a:pPr marL="0" lvl="0" indent="0" algn="l" rtl="0">
                        <a:spcBef>
                          <a:spcPts val="0"/>
                        </a:spcBef>
                        <a:spcAft>
                          <a:spcPts val="0"/>
                        </a:spcAft>
                        <a:buNone/>
                      </a:pPr>
                      <a:endParaRPr dirty="0"/>
                    </a:p>
                  </a:txBody>
                  <a:tcPr marL="28575" marR="28575" marT="19050" marB="19050" anchor="ctr"/>
                </a:tc>
                <a:tc gridSpan="2">
                  <a:txBody>
                    <a:bodyPr/>
                    <a:lstStyle/>
                    <a:p>
                      <a:pPr marL="0" lvl="0" indent="0" algn="ctr" rtl="0">
                        <a:lnSpc>
                          <a:spcPct val="115000"/>
                        </a:lnSpc>
                        <a:spcBef>
                          <a:spcPts val="0"/>
                        </a:spcBef>
                        <a:spcAft>
                          <a:spcPts val="0"/>
                        </a:spcAft>
                        <a:buNone/>
                      </a:pPr>
                      <a:r>
                        <a:rPr lang="en" sz="1200" b="1">
                          <a:latin typeface="Verdana"/>
                          <a:ea typeface="Verdana"/>
                          <a:cs typeface="Verdana"/>
                          <a:sym typeface="Verdana"/>
                        </a:rPr>
                        <a:t>Slow Months</a:t>
                      </a:r>
                      <a:endParaRPr sz="1200" b="1">
                        <a:latin typeface="Verdana"/>
                        <a:ea typeface="Verdana"/>
                        <a:cs typeface="Verdana"/>
                        <a:sym typeface="Verdana"/>
                      </a:endParaRPr>
                    </a:p>
                  </a:txBody>
                  <a:tcPr marL="28575" marR="28575" marT="19050" marB="19050" anchor="ctr"/>
                </a:tc>
                <a:tc hMerge="1">
                  <a:txBody>
                    <a:bodyPr/>
                    <a:lstStyle/>
                    <a:p>
                      <a:endParaRPr lang="en-US"/>
                    </a:p>
                  </a:txBody>
                  <a:tcP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extLst>
                  <a:ext uri="{0D108BD9-81ED-4DB2-BD59-A6C34878D82A}">
                    <a16:rowId xmlns:a16="http://schemas.microsoft.com/office/drawing/2014/main" val="10000"/>
                  </a:ext>
                </a:extLst>
              </a:tr>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Slow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None/>
                      </a:pPr>
                      <a:r>
                        <a:rPr lang="en" sz="1000"/>
                        <a:t>WAAA</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6:00am - 7:00pm</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15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2"/>
                  </a:ext>
                </a:extLst>
              </a:tr>
              <a:tr h="190500">
                <a:tc>
                  <a:txBody>
                    <a:bodyPr/>
                    <a:lstStyle/>
                    <a:p>
                      <a:pPr marL="0" lvl="0" indent="0" algn="l" rtl="0">
                        <a:lnSpc>
                          <a:spcPct val="115000"/>
                        </a:lnSpc>
                        <a:spcBef>
                          <a:spcPts val="0"/>
                        </a:spcBef>
                        <a:spcAft>
                          <a:spcPts val="0"/>
                        </a:spcAft>
                        <a:buNone/>
                      </a:pPr>
                      <a:r>
                        <a:rPr lang="en" sz="1000"/>
                        <a:t>WAAA</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7:00pm - 12mid</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3</a:t>
                      </a:r>
                      <a:endParaRPr sz="1000"/>
                    </a:p>
                  </a:txBody>
                  <a:tcPr marL="28575" marR="28575" marT="19050" marB="19050" anchor="ctr"/>
                </a:tc>
                <a:extLst>
                  <a:ext uri="{0D108BD9-81ED-4DB2-BD59-A6C34878D82A}">
                    <a16:rowId xmlns:a16="http://schemas.microsoft.com/office/drawing/2014/main" val="10003"/>
                  </a:ext>
                </a:extLst>
              </a:tr>
              <a:tr h="200025">
                <a:tc>
                  <a:txBody>
                    <a:bodyPr/>
                    <a:lstStyle/>
                    <a:p>
                      <a:pPr marL="0" lvl="0" indent="0" algn="l" rtl="0">
                        <a:lnSpc>
                          <a:spcPct val="115000"/>
                        </a:lnSpc>
                        <a:spcBef>
                          <a:spcPts val="0"/>
                        </a:spcBef>
                        <a:spcAft>
                          <a:spcPts val="0"/>
                        </a:spcAft>
                        <a:buNone/>
                      </a:pPr>
                      <a:r>
                        <a:rPr lang="en" sz="1000"/>
                        <a:t>WBBB</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6:00am - 7:00pm</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15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Continuity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4"/>
                  </a:ext>
                </a:extLst>
              </a:tr>
              <a:tr h="200025">
                <a:tc>
                  <a:txBody>
                    <a:bodyPr/>
                    <a:lstStyle/>
                    <a:p>
                      <a:pPr marL="0" lvl="0" indent="0" algn="l" rtl="0">
                        <a:lnSpc>
                          <a:spcPct val="115000"/>
                        </a:lnSpc>
                        <a:spcBef>
                          <a:spcPts val="0"/>
                        </a:spcBef>
                        <a:spcAft>
                          <a:spcPts val="0"/>
                        </a:spcAft>
                        <a:buNone/>
                      </a:pPr>
                      <a:r>
                        <a:rPr lang="en" sz="1000"/>
                        <a:t>WBBB</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7:00pm - 12mid</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$3,000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5"/>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6"/>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dirty="0"/>
                        <a:t>120</a:t>
                      </a:r>
                      <a:endParaRPr sz="1000" dirty="0"/>
                    </a:p>
                  </a:txBody>
                  <a:tcPr marL="28575" marR="28575" marT="19050" marB="19050"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35"/>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A</a:t>
            </a:r>
            <a:endParaRPr/>
          </a:p>
        </p:txBody>
      </p:sp>
      <p:sp>
        <p:nvSpPr>
          <p:cNvPr id="419" name="Google Shape;419;p35"/>
          <p:cNvSpPr txBox="1"/>
          <p:nvPr/>
        </p:nvSpPr>
        <p:spPr>
          <a:xfrm>
            <a:off x="1899150" y="1174800"/>
            <a:ext cx="5345700" cy="699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1"/>
                </a:solidFill>
                <a:latin typeface="Verdana"/>
                <a:ea typeface="Verdana"/>
                <a:cs typeface="Verdana"/>
                <a:sym typeface="Verdana"/>
              </a:rPr>
              <a:t>clientBusinessName</a:t>
            </a:r>
            <a:endParaRPr sz="2400" b="1">
              <a:latin typeface="Verdana"/>
              <a:ea typeface="Verdana"/>
              <a:cs typeface="Verdana"/>
              <a:sym typeface="Verdana"/>
            </a:endParaRPr>
          </a:p>
        </p:txBody>
      </p:sp>
      <p:sp>
        <p:nvSpPr>
          <p:cNvPr id="420" name="Google Shape;420;p35"/>
          <p:cNvSpPr txBox="1"/>
          <p:nvPr/>
        </p:nvSpPr>
        <p:spPr>
          <a:xfrm>
            <a:off x="2168400" y="1759563"/>
            <a:ext cx="4807200" cy="98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1"/>
                </a:solidFill>
                <a:latin typeface="Verdana"/>
                <a:ea typeface="Verdana"/>
                <a:cs typeface="Verdana"/>
                <a:sym typeface="Verdana"/>
              </a:rPr>
              <a:t>Brand Equity Schedule </a:t>
            </a:r>
            <a:endParaRPr sz="2000" b="1">
              <a:solidFill>
                <a:schemeClr val="dk1"/>
              </a:solidFill>
              <a:latin typeface="Verdana"/>
              <a:ea typeface="Verdana"/>
              <a:cs typeface="Verdana"/>
              <a:sym typeface="Verdana"/>
            </a:endParaRPr>
          </a:p>
          <a:p>
            <a:pPr marL="0" lvl="0" indent="0" algn="ctr" rtl="0">
              <a:spcBef>
                <a:spcPts val="0"/>
              </a:spcBef>
              <a:spcAft>
                <a:spcPts val="0"/>
              </a:spcAft>
              <a:buNone/>
            </a:pPr>
            <a:r>
              <a:rPr lang="en" sz="2000" b="1">
                <a:solidFill>
                  <a:schemeClr val="dk1"/>
                </a:solidFill>
                <a:latin typeface="Verdana"/>
                <a:ea typeface="Verdana"/>
                <a:cs typeface="Verdana"/>
                <a:sym typeface="Verdana"/>
              </a:rPr>
              <a:t>Monthly Station Summary</a:t>
            </a:r>
            <a:endParaRPr sz="2000" b="1">
              <a:latin typeface="Verdana"/>
              <a:ea typeface="Verdana"/>
              <a:cs typeface="Verdana"/>
              <a:sym typeface="Verdana"/>
            </a:endParaRPr>
          </a:p>
        </p:txBody>
      </p:sp>
      <p:sp>
        <p:nvSpPr>
          <p:cNvPr id="421" name="Google Shape;421;p35"/>
          <p:cNvSpPr txBox="1"/>
          <p:nvPr/>
        </p:nvSpPr>
        <p:spPr>
          <a:xfrm>
            <a:off x="1179600" y="3067177"/>
            <a:ext cx="6784800" cy="3420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Market: </a:t>
            </a:r>
            <a:r>
              <a:rPr lang="en" dirty="0" err="1">
                <a:solidFill>
                  <a:schemeClr val="dk1"/>
                </a:solidFill>
                <a:latin typeface="Verdana"/>
                <a:ea typeface="Verdana"/>
                <a:cs typeface="Verdana"/>
                <a:sym typeface="Verdana"/>
              </a:rPr>
              <a:t>planACity</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Average Projected Broadcast Monthly Reach: </a:t>
            </a:r>
            <a:r>
              <a:rPr lang="en" dirty="0" err="1">
                <a:solidFill>
                  <a:schemeClr val="dk1"/>
                </a:solidFill>
                <a:latin typeface="Verdana"/>
                <a:ea typeface="Verdana"/>
                <a:cs typeface="Verdana"/>
                <a:sym typeface="Verdana"/>
              </a:rPr>
              <a:t>planAReach</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Average Projected Monthly Broadcast Frequency: </a:t>
            </a:r>
            <a:r>
              <a:rPr lang="en" dirty="0" err="1">
                <a:solidFill>
                  <a:schemeClr val="dk1"/>
                </a:solidFill>
                <a:latin typeface="Verdana"/>
                <a:ea typeface="Verdana"/>
                <a:cs typeface="Verdana"/>
                <a:sym typeface="Verdana"/>
              </a:rPr>
              <a:t>planAFrequency</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Average Estimated Monthly Digital Gross Impressions: </a:t>
            </a:r>
            <a:r>
              <a:rPr lang="en" dirty="0" err="1">
                <a:solidFill>
                  <a:schemeClr val="dk1"/>
                </a:solidFill>
                <a:latin typeface="Verdana"/>
                <a:ea typeface="Verdana"/>
                <a:cs typeface="Verdana"/>
                <a:sym typeface="Verdana"/>
              </a:rPr>
              <a:t>planADigitalImpressionsMonthly</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Average Base Monthly Advertising Investment: </a:t>
            </a:r>
            <a:r>
              <a:rPr lang="en-US" dirty="0" err="1">
                <a:solidFill>
                  <a:schemeClr val="dk1"/>
                </a:solidFill>
                <a:latin typeface="Verdana"/>
                <a:ea typeface="Verdana"/>
                <a:cs typeface="Verdana"/>
                <a:sym typeface="Verdana"/>
              </a:rPr>
              <a:t>planAMonth</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Average Base Daily Advertising Investment:</a:t>
            </a:r>
            <a:r>
              <a:rPr lang="en" dirty="0">
                <a:solidFill>
                  <a:schemeClr val="dk1"/>
                </a:solidFill>
                <a:latin typeface="Verdana"/>
                <a:ea typeface="Verdana"/>
                <a:cs typeface="Verdana"/>
                <a:sym typeface="Verdana"/>
              </a:rPr>
              <a:t> </a:t>
            </a:r>
            <a:r>
              <a:rPr lang="en" dirty="0" err="1">
                <a:solidFill>
                  <a:schemeClr val="dk1"/>
                </a:solidFill>
                <a:latin typeface="Verdana"/>
                <a:ea typeface="Verdana"/>
                <a:cs typeface="Verdana"/>
                <a:sym typeface="Verdana"/>
              </a:rPr>
              <a:t>planADaily</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3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Break Even Analysis - Plan A</a:t>
            </a:r>
            <a:endParaRPr/>
          </a:p>
        </p:txBody>
      </p:sp>
      <p:sp>
        <p:nvSpPr>
          <p:cNvPr id="427" name="Google Shape;427;p36"/>
          <p:cNvSpPr txBox="1">
            <a:spLocks noGrp="1"/>
          </p:cNvSpPr>
          <p:nvPr>
            <p:ph type="body" idx="2"/>
          </p:nvPr>
        </p:nvSpPr>
        <p:spPr>
          <a:xfrm>
            <a:off x="347472" y="1563624"/>
            <a:ext cx="7205400" cy="41814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chemeClr val="dk1"/>
              </a:buClr>
              <a:buSzPts val="1300"/>
              <a:buFont typeface="Verdana"/>
              <a:buAutoNum type="alphaUcPeriod"/>
            </a:pPr>
            <a:r>
              <a:rPr lang="en" sz="1300" b="1" dirty="0">
                <a:solidFill>
                  <a:schemeClr val="dk1"/>
                </a:solidFill>
                <a:latin typeface="Verdana"/>
                <a:ea typeface="Verdana"/>
                <a:cs typeface="Verdana"/>
                <a:sym typeface="Verdana"/>
              </a:rPr>
              <a:t>Average sale (ticket, transaction, invoice) =</a:t>
            </a:r>
            <a:endParaRPr sz="1300" b="1" dirty="0">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dirty="0">
                <a:solidFill>
                  <a:schemeClr val="dk1"/>
                </a:solidFill>
                <a:latin typeface="Verdana"/>
                <a:ea typeface="Verdana"/>
                <a:cs typeface="Verdana"/>
                <a:sym typeface="Verdana"/>
              </a:rPr>
              <a:t>Gross profit margin on average sale (sale less closing costs) =</a:t>
            </a:r>
            <a:endParaRPr sz="1300" b="1" dirty="0">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dirty="0">
                <a:solidFill>
                  <a:schemeClr val="dk1"/>
                </a:solidFill>
                <a:latin typeface="Verdana"/>
                <a:ea typeface="Verdana"/>
                <a:cs typeface="Verdana"/>
                <a:sym typeface="Verdana"/>
              </a:rPr>
              <a:t>Closing or conversion rate =</a:t>
            </a:r>
            <a:endParaRPr sz="1300" b="1" dirty="0">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dirty="0">
                <a:solidFill>
                  <a:schemeClr val="dk1"/>
                </a:solidFill>
                <a:latin typeface="Verdana"/>
                <a:ea typeface="Verdana"/>
                <a:cs typeface="Verdana"/>
                <a:sym typeface="Verdana"/>
              </a:rPr>
              <a:t>Projected prospect value (=A*B*C)=</a:t>
            </a:r>
            <a:endParaRPr sz="1300" b="1" dirty="0">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dirty="0">
                <a:solidFill>
                  <a:schemeClr val="dk1"/>
                </a:solidFill>
                <a:latin typeface="Verdana"/>
                <a:ea typeface="Verdana"/>
                <a:cs typeface="Verdana"/>
                <a:sym typeface="Verdana"/>
              </a:rPr>
              <a:t>Client base monthly advertising investment =</a:t>
            </a:r>
            <a:endParaRPr sz="1300" b="1" dirty="0">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dirty="0">
                <a:solidFill>
                  <a:schemeClr val="dk1"/>
                </a:solidFill>
                <a:latin typeface="Verdana"/>
                <a:ea typeface="Verdana"/>
                <a:cs typeface="Verdana"/>
                <a:sym typeface="Verdana"/>
              </a:rPr>
              <a:t>Monthly prospects needed to pay for advertising  investment (=E/D)=</a:t>
            </a:r>
            <a:endParaRPr sz="1300" b="1" dirty="0">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dirty="0">
                <a:solidFill>
                  <a:schemeClr val="dk1"/>
                </a:solidFill>
                <a:latin typeface="Verdana"/>
                <a:ea typeface="Verdana"/>
                <a:cs typeface="Verdana"/>
                <a:sym typeface="Verdana"/>
              </a:rPr>
              <a:t>Monthly # of sales from prospects needed to break even (=F*C) =</a:t>
            </a:r>
            <a:endParaRPr sz="1300" b="1" dirty="0">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dirty="0">
                <a:solidFill>
                  <a:schemeClr val="dk1"/>
                </a:solidFill>
                <a:latin typeface="Verdana"/>
                <a:ea typeface="Verdana"/>
                <a:cs typeface="Verdana"/>
                <a:sym typeface="Verdana"/>
              </a:rPr>
              <a:t>Gross sales per month needed to break even (=G*A)=</a:t>
            </a:r>
            <a:endParaRPr sz="1300" b="1" dirty="0">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dirty="0">
                <a:solidFill>
                  <a:schemeClr val="dk1"/>
                </a:solidFill>
                <a:latin typeface="Verdana"/>
                <a:ea typeface="Verdana"/>
                <a:cs typeface="Verdana"/>
                <a:sym typeface="Verdana"/>
              </a:rPr>
              <a:t>Number of months to run </a:t>
            </a:r>
            <a:r>
              <a:rPr lang="en" sz="1300" b="1" dirty="0">
                <a:solidFill>
                  <a:schemeClr val="dk1"/>
                </a:solidFill>
              </a:rPr>
              <a:t>in </a:t>
            </a:r>
            <a:r>
              <a:rPr lang="en" sz="1300" b="1" dirty="0">
                <a:solidFill>
                  <a:schemeClr val="dk1"/>
                </a:solidFill>
                <a:latin typeface="Verdana"/>
                <a:ea typeface="Verdana"/>
                <a:cs typeface="Verdana"/>
                <a:sym typeface="Verdana"/>
              </a:rPr>
              <a:t>proposed marketing plan =</a:t>
            </a:r>
            <a:endParaRPr sz="1300" b="1" dirty="0">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dirty="0">
                <a:solidFill>
                  <a:schemeClr val="dk1"/>
                </a:solidFill>
                <a:latin typeface="Verdana"/>
                <a:ea typeface="Verdana"/>
                <a:cs typeface="Verdana"/>
                <a:sym typeface="Verdana"/>
              </a:rPr>
              <a:t>Additional gross sales per year needed to break even (=H*I)= </a:t>
            </a:r>
            <a:endParaRPr sz="1300" b="1" dirty="0">
              <a:solidFill>
                <a:schemeClr val="dk1"/>
              </a:solidFill>
              <a:latin typeface="Verdana"/>
              <a:ea typeface="Verdana"/>
              <a:cs typeface="Verdana"/>
              <a:sym typeface="Verdana"/>
            </a:endParaRPr>
          </a:p>
        </p:txBody>
      </p:sp>
      <p:sp>
        <p:nvSpPr>
          <p:cNvPr id="428" name="Google Shape;428;p36"/>
          <p:cNvSpPr txBox="1">
            <a:spLocks noGrp="1"/>
          </p:cNvSpPr>
          <p:nvPr>
            <p:ph type="body" idx="2"/>
          </p:nvPr>
        </p:nvSpPr>
        <p:spPr>
          <a:xfrm>
            <a:off x="7554250" y="1566890"/>
            <a:ext cx="1241400" cy="41814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1300" u="sng" dirty="0" err="1">
                <a:solidFill>
                  <a:srgbClr val="000000"/>
                </a:solidFill>
                <a:latin typeface="Verdana"/>
                <a:ea typeface="Verdana"/>
                <a:cs typeface="Verdana"/>
                <a:sym typeface="Verdana"/>
              </a:rPr>
              <a:t>planAAverag</a:t>
            </a:r>
            <a:endParaRPr sz="1300" u="sng" dirty="0">
              <a:solidFill>
                <a:srgbClr val="000000"/>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latin typeface="Verdana"/>
                <a:ea typeface="Verdana"/>
                <a:cs typeface="Verdana"/>
                <a:sym typeface="Verdana"/>
              </a:rPr>
              <a:t>planAGross</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latin typeface="Verdana"/>
                <a:ea typeface="Verdana"/>
                <a:cs typeface="Verdana"/>
                <a:sym typeface="Verdana"/>
              </a:rPr>
              <a:t>planAClose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latin typeface="Verdana"/>
                <a:ea typeface="Verdana"/>
                <a:cs typeface="Verdana"/>
                <a:sym typeface="Verdana"/>
              </a:rPr>
              <a:t>planAProsp</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latin typeface="Verdana"/>
                <a:ea typeface="Verdana"/>
                <a:cs typeface="Verdana"/>
                <a:sym typeface="Verdana"/>
              </a:rPr>
              <a:t>planAMontly</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latin typeface="Verdana"/>
                <a:ea typeface="Verdana"/>
                <a:cs typeface="Verdana"/>
                <a:sym typeface="Verdana"/>
              </a:rPr>
              <a:t>planAProsp</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latin typeface="Verdana"/>
                <a:ea typeface="Verdana"/>
                <a:cs typeface="Verdana"/>
                <a:sym typeface="Verdana"/>
              </a:rPr>
              <a:t>planAProspectSalesNeed</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latin typeface="Verdana"/>
                <a:ea typeface="Verdana"/>
                <a:cs typeface="Verdana"/>
                <a:sym typeface="Verdana"/>
              </a:rPr>
              <a:t>planAGross</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latin typeface="Verdana"/>
                <a:ea typeface="Verdana"/>
                <a:cs typeface="Verdana"/>
                <a:sym typeface="Verdana"/>
              </a:rPr>
              <a:t>planAMonth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endParaRPr sz="1300" u="sng" dirty="0">
              <a:solidFill>
                <a:schemeClr val="dk1"/>
              </a:solidFill>
              <a:latin typeface="Verdana"/>
              <a:ea typeface="Verdana"/>
              <a:cs typeface="Verdana"/>
              <a:sym typeface="Verdan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37"/>
          <p:cNvSpPr txBox="1">
            <a:spLocks noGrp="1"/>
          </p:cNvSpPr>
          <p:nvPr>
            <p:ph type="ctrTitle"/>
          </p:nvPr>
        </p:nvSpPr>
        <p:spPr>
          <a:xfrm>
            <a:off x="520500" y="475500"/>
            <a:ext cx="81030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Lifetime Value Analysis - Plan A</a:t>
            </a:r>
            <a:endParaRPr/>
          </a:p>
        </p:txBody>
      </p:sp>
      <p:sp>
        <p:nvSpPr>
          <p:cNvPr id="434" name="Google Shape;434;p37"/>
          <p:cNvSpPr txBox="1">
            <a:spLocks noGrp="1"/>
          </p:cNvSpPr>
          <p:nvPr>
            <p:ph type="body" idx="2"/>
          </p:nvPr>
        </p:nvSpPr>
        <p:spPr>
          <a:xfrm>
            <a:off x="347472" y="1773936"/>
            <a:ext cx="7205400" cy="37674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Average sale (ticket, transaction, invoice)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gross profit margin on average sale (sale less variable costs)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gross profit per average sale (A*B)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repeat sales per year (per customer/client)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average customer/client value per year (C*D)=</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number of years of patronage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lifetime value of one customer/client (E*F)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So if your base monthly advertising investment averages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Then monthly customers/clients needed to break even (H/G)=</a:t>
            </a:r>
            <a:endParaRPr sz="1300" b="1">
              <a:solidFill>
                <a:srgbClr val="000000"/>
              </a:solidFill>
              <a:latin typeface="Verdana"/>
              <a:ea typeface="Verdana"/>
              <a:cs typeface="Verdana"/>
              <a:sym typeface="Verdana"/>
            </a:endParaRPr>
          </a:p>
        </p:txBody>
      </p:sp>
      <p:sp>
        <p:nvSpPr>
          <p:cNvPr id="435" name="Google Shape;435;p37"/>
          <p:cNvSpPr txBox="1">
            <a:spLocks noGrp="1"/>
          </p:cNvSpPr>
          <p:nvPr>
            <p:ph type="body" idx="2"/>
          </p:nvPr>
        </p:nvSpPr>
        <p:spPr>
          <a:xfrm>
            <a:off x="7552950" y="1774200"/>
            <a:ext cx="1253100" cy="33807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a_averageSale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a_grossProfitMargin</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a_grossProfitPerSale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a_averageRepeatSales</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a_averageCustomerValue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a_yearsOfPatronage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a_lifetimeValuePerCustomer</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latin typeface="Verdana"/>
                <a:ea typeface="Verdana"/>
                <a:cs typeface="Verdana"/>
                <a:sym typeface="Verdana"/>
              </a:rPr>
              <a:t>planAMonth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latin typeface="Verdana"/>
                <a:ea typeface="Verdana"/>
                <a:cs typeface="Verdana"/>
                <a:sym typeface="Verdana"/>
              </a:rPr>
              <a:t>a_prospectsNeededToBreakEven</a:t>
            </a:r>
            <a:endParaRPr sz="1300" dirty="0">
              <a:solidFill>
                <a:srgbClr val="000000"/>
              </a:solidFill>
              <a:latin typeface="Verdana"/>
              <a:ea typeface="Verdana"/>
              <a:cs typeface="Verdana"/>
              <a:sym typeface="Verdan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3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Digital ROI Calculator - Plan A</a:t>
            </a:r>
            <a:endParaRPr/>
          </a:p>
        </p:txBody>
      </p:sp>
      <p:sp>
        <p:nvSpPr>
          <p:cNvPr id="441" name="Google Shape;441;p38"/>
          <p:cNvSpPr txBox="1">
            <a:spLocks noGrp="1"/>
          </p:cNvSpPr>
          <p:nvPr>
            <p:ph type="body" idx="2"/>
          </p:nvPr>
        </p:nvSpPr>
        <p:spPr>
          <a:xfrm>
            <a:off x="768096" y="1453896"/>
            <a:ext cx="6355200" cy="51939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Digital Investment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Cost Per Thousand (CPM)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Impressions (=A/B*1,000)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Click Through Rate (.01%, .1%, etc)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 clicks (=C*D)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Cost per Click (=A/E)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Sales Conversion Percentage (2%, 10%, etc)=</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Number of Conversions (E*G)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Cost Per Conversion (A/H)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Projected Gross Profit Per Conversion ($100, $1,000, etc.)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Gross </a:t>
            </a:r>
            <a:r>
              <a:rPr lang="en" sz="1300" b="1">
                <a:solidFill>
                  <a:srgbClr val="000000"/>
                </a:solidFill>
              </a:rPr>
              <a:t>P</a:t>
            </a:r>
            <a:r>
              <a:rPr lang="en" sz="1300" b="1">
                <a:solidFill>
                  <a:srgbClr val="000000"/>
                </a:solidFill>
                <a:latin typeface="Verdana"/>
                <a:ea typeface="Verdana"/>
                <a:cs typeface="Verdana"/>
                <a:sym typeface="Verdana"/>
              </a:rPr>
              <a:t>rofit Generated from all Conversions (H*J)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Return on Investment (K-A)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 Monthly Return on Investment (L/A) = </a:t>
            </a:r>
            <a:endParaRPr sz="1300" b="1">
              <a:solidFill>
                <a:srgbClr val="000000"/>
              </a:solidFill>
              <a:latin typeface="Verdana"/>
              <a:ea typeface="Verdana"/>
              <a:cs typeface="Verdana"/>
              <a:sym typeface="Verdana"/>
            </a:endParaRPr>
          </a:p>
        </p:txBody>
      </p:sp>
      <p:sp>
        <p:nvSpPr>
          <p:cNvPr id="442" name="Google Shape;442;p38"/>
          <p:cNvSpPr txBox="1">
            <a:spLocks noGrp="1"/>
          </p:cNvSpPr>
          <p:nvPr>
            <p:ph type="body" idx="2"/>
          </p:nvPr>
        </p:nvSpPr>
        <p:spPr>
          <a:xfrm>
            <a:off x="7127862" y="1453115"/>
            <a:ext cx="1243500" cy="51927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planAMonthlDigitalInvestment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planACostPerThousand</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planAClosingPctNumber</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planAClickThroughRate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latin typeface="Verdana"/>
                <a:ea typeface="Verdana"/>
                <a:cs typeface="Verdana"/>
                <a:sym typeface="Verdana"/>
              </a:rPr>
              <a:t>planAMonth</a:t>
            </a:r>
            <a:r>
              <a:rPr lang="en" sz="1300" u="sng" dirty="0">
                <a:solidFill>
                  <a:schemeClr val="dk1"/>
                </a:solidFill>
                <a:latin typeface="Verdana"/>
                <a:ea typeface="Verdana"/>
                <a:cs typeface="Verdana"/>
                <a:sym typeface="Verdana"/>
              </a:rPr>
              <a:t>Clicks</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planACostPerClicks</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planASalesConversionPercentage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latin typeface="Verdana"/>
                <a:ea typeface="Verdana"/>
                <a:cs typeface="Verdana"/>
                <a:sym typeface="Verdana"/>
              </a:rPr>
              <a:t>planAMonth</a:t>
            </a:r>
            <a:r>
              <a:rPr lang="en" sz="1300" u="sng" dirty="0">
                <a:solidFill>
                  <a:schemeClr val="dk1"/>
                </a:solidFill>
                <a:latin typeface="Verdana"/>
                <a:ea typeface="Verdana"/>
                <a:cs typeface="Verdana"/>
                <a:sym typeface="Verdana"/>
              </a:rPr>
              <a:t>Conversions</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planACostPerConversion</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latin typeface="Verdana"/>
                <a:ea typeface="Verdana"/>
                <a:cs typeface="Verdana"/>
                <a:sym typeface="Verdana"/>
              </a:rPr>
              <a:t>planAProjectedGrossProfit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US" sz="1300" u="sng" dirty="0" err="1">
                <a:solidFill>
                  <a:schemeClr val="dk1"/>
                </a:solidFill>
                <a:latin typeface="Verdana"/>
                <a:ea typeface="Verdana"/>
                <a:cs typeface="Verdana"/>
                <a:sym typeface="Verdana"/>
              </a:rPr>
              <a:t>planAMonth</a:t>
            </a:r>
            <a:r>
              <a:rPr lang="en" sz="1300" u="sng" dirty="0" err="1">
                <a:solidFill>
                  <a:schemeClr val="dk1"/>
                </a:solidFill>
                <a:latin typeface="Verdana"/>
                <a:ea typeface="Verdana"/>
                <a:cs typeface="Verdana"/>
                <a:sym typeface="Verdana"/>
              </a:rPr>
              <a:t>GrossProfit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US" sz="1300" u="sng" dirty="0" err="1">
                <a:solidFill>
                  <a:schemeClr val="dk1"/>
                </a:solidFill>
                <a:latin typeface="Verdana"/>
                <a:ea typeface="Verdana"/>
                <a:cs typeface="Verdana"/>
                <a:sym typeface="Verdana"/>
              </a:rPr>
              <a:t>planAMonth</a:t>
            </a:r>
            <a:r>
              <a:rPr lang="en" sz="1300" u="sng" dirty="0">
                <a:solidFill>
                  <a:schemeClr val="dk1"/>
                </a:solidFill>
                <a:latin typeface="Verdana"/>
                <a:ea typeface="Verdana"/>
                <a:cs typeface="Verdana"/>
                <a:sym typeface="Verdana"/>
              </a:rPr>
              <a:t>ROID</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latin typeface="Verdana"/>
                <a:ea typeface="Verdana"/>
                <a:cs typeface="Verdana"/>
                <a:sym typeface="Verdana"/>
              </a:rPr>
              <a:t>planAMonth</a:t>
            </a:r>
            <a:r>
              <a:rPr lang="en" sz="1300" u="sng" dirty="0">
                <a:solidFill>
                  <a:schemeClr val="dk1"/>
                </a:solidFill>
                <a:latin typeface="Verdana"/>
                <a:ea typeface="Verdana"/>
                <a:cs typeface="Verdana"/>
                <a:sym typeface="Verdana"/>
              </a:rPr>
              <a:t>ROIP</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1600"/>
              </a:spcAft>
              <a:buNone/>
            </a:pPr>
            <a:endParaRPr sz="1300" dirty="0">
              <a:solidFill>
                <a:srgbClr val="000000"/>
              </a:solidFill>
              <a:latin typeface="Verdana"/>
              <a:ea typeface="Verdana"/>
              <a:cs typeface="Verdana"/>
              <a:sym typeface="Verdan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39"/>
          <p:cNvSpPr txBox="1">
            <a:spLocks noGrp="1"/>
          </p:cNvSpPr>
          <p:nvPr>
            <p:ph type="ctrTitle"/>
          </p:nvPr>
        </p:nvSpPr>
        <p:spPr>
          <a:xfrm>
            <a:off x="693450" y="475488"/>
            <a:ext cx="7757100" cy="69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Proposed Schedule - Plan B</a:t>
            </a:r>
            <a:endParaRPr/>
          </a:p>
        </p:txBody>
      </p:sp>
      <p:sp>
        <p:nvSpPr>
          <p:cNvPr id="448" name="Google Shape;448;p39"/>
          <p:cNvSpPr txBox="1">
            <a:spLocks noGrp="1"/>
          </p:cNvSpPr>
          <p:nvPr>
            <p:ph type="ctrTitle"/>
          </p:nvPr>
        </p:nvSpPr>
        <p:spPr>
          <a:xfrm>
            <a:off x="693450" y="1174812"/>
            <a:ext cx="7757100" cy="63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dirty="0"/>
              <a:t>Budget Breakout by Month (For Next 12 Months)</a:t>
            </a:r>
            <a:endParaRPr sz="2100" dirty="0"/>
          </a:p>
          <a:p>
            <a:pPr marL="0" lvl="0" indent="0" algn="ctr" rtl="0">
              <a:spcBef>
                <a:spcPts val="0"/>
              </a:spcBef>
              <a:spcAft>
                <a:spcPts val="0"/>
              </a:spcAft>
              <a:buNone/>
            </a:pPr>
            <a:r>
              <a:rPr lang="en" sz="2100" dirty="0"/>
              <a:t>Proposed Media Plan: station</a:t>
            </a:r>
            <a:endParaRPr sz="2100" dirty="0"/>
          </a:p>
        </p:txBody>
      </p:sp>
      <p:graphicFrame>
        <p:nvGraphicFramePr>
          <p:cNvPr id="2" name="Chart 1">
            <a:extLst>
              <a:ext uri="{FF2B5EF4-FFF2-40B4-BE49-F238E27FC236}">
                <a16:creationId xmlns:a16="http://schemas.microsoft.com/office/drawing/2014/main" id="{C0F9799A-1588-148A-873E-F04989D2F589}"/>
              </a:ext>
            </a:extLst>
          </p:cNvPr>
          <p:cNvGraphicFramePr/>
          <p:nvPr>
            <p:extLst>
              <p:ext uri="{D42A27DB-BD31-4B8C-83A1-F6EECF244321}">
                <p14:modId xmlns:p14="http://schemas.microsoft.com/office/powerpoint/2010/main" val="2073153747"/>
              </p:ext>
            </p:extLst>
          </p:nvPr>
        </p:nvGraphicFramePr>
        <p:xfrm>
          <a:off x="986118" y="2097740"/>
          <a:ext cx="7486340" cy="4127213"/>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40"/>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B</a:t>
            </a:r>
            <a:endParaRPr/>
          </a:p>
        </p:txBody>
      </p:sp>
      <p:graphicFrame>
        <p:nvGraphicFramePr>
          <p:cNvPr id="455" name="Google Shape;455;p40"/>
          <p:cNvGraphicFramePr/>
          <p:nvPr/>
        </p:nvGraphicFramePr>
        <p:xfrm>
          <a:off x="457200" y="1174800"/>
          <a:ext cx="8229575" cy="1764875"/>
        </p:xfrm>
        <a:graphic>
          <a:graphicData uri="http://schemas.openxmlformats.org/drawingml/2006/table">
            <a:tbl>
              <a:tblPr>
                <a:noFill/>
                <a:tableStyleId>{CFB75FC7-DD7D-40D8-B2B2-EE4B611A8D2E}</a:tableStyleId>
              </a:tblPr>
              <a:tblGrid>
                <a:gridCol w="1203225">
                  <a:extLst>
                    <a:ext uri="{9D8B030D-6E8A-4147-A177-3AD203B41FA5}">
                      <a16:colId xmlns:a16="http://schemas.microsoft.com/office/drawing/2014/main" val="20000"/>
                    </a:ext>
                  </a:extLst>
                </a:gridCol>
                <a:gridCol w="1078350">
                  <a:extLst>
                    <a:ext uri="{9D8B030D-6E8A-4147-A177-3AD203B41FA5}">
                      <a16:colId xmlns:a16="http://schemas.microsoft.com/office/drawing/2014/main" val="20001"/>
                    </a:ext>
                  </a:extLst>
                </a:gridCol>
                <a:gridCol w="1475650">
                  <a:extLst>
                    <a:ext uri="{9D8B030D-6E8A-4147-A177-3AD203B41FA5}">
                      <a16:colId xmlns:a16="http://schemas.microsoft.com/office/drawing/2014/main" val="20002"/>
                    </a:ext>
                  </a:extLst>
                </a:gridCol>
                <a:gridCol w="2111325">
                  <a:extLst>
                    <a:ext uri="{9D8B030D-6E8A-4147-A177-3AD203B41FA5}">
                      <a16:colId xmlns:a16="http://schemas.microsoft.com/office/drawing/2014/main" val="20003"/>
                    </a:ext>
                  </a:extLst>
                </a:gridCol>
                <a:gridCol w="283750">
                  <a:extLst>
                    <a:ext uri="{9D8B030D-6E8A-4147-A177-3AD203B41FA5}">
                      <a16:colId xmlns:a16="http://schemas.microsoft.com/office/drawing/2014/main" val="20004"/>
                    </a:ext>
                  </a:extLst>
                </a:gridCol>
                <a:gridCol w="2077275">
                  <a:extLst>
                    <a:ext uri="{9D8B030D-6E8A-4147-A177-3AD203B41FA5}">
                      <a16:colId xmlns:a16="http://schemas.microsoft.com/office/drawing/2014/main" val="20005"/>
                    </a:ext>
                  </a:extLst>
                </a:gridCol>
              </a:tblGrid>
              <a:tr h="252125">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Branding Months</a:t>
                      </a:r>
                      <a:endParaRPr sz="1200" b="1" i="1" u="sng">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0"/>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1"/>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7:00pmStation	Days	DayPart	Weekly Commercials		Branding Months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WAAA	M-F	6:00am - 7:00pm	15		#Week/Months: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WAAA	M-F	7:00pm - 12mid	5		1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WBBB	M-F	6:00am - 7:00pm	15		Base Investment: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WBBB	M-F	7:00pm - 12mid	5		$1,500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WCCC	M-F	6:00am - 7:00pm	15		Total # of Commercials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WCCC	M-F	7:00pm - 12mid	5		60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2"/>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Base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3"/>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4"/>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5"/>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aphicFrame>
        <p:nvGraphicFramePr>
          <p:cNvPr id="456" name="Google Shape;456;p40"/>
          <p:cNvGraphicFramePr/>
          <p:nvPr/>
        </p:nvGraphicFramePr>
        <p:xfrm>
          <a:off x="457200" y="3015875"/>
          <a:ext cx="8229575" cy="1764875"/>
        </p:xfrm>
        <a:graphic>
          <a:graphicData uri="http://schemas.openxmlformats.org/drawingml/2006/table">
            <a:tbl>
              <a:tblPr>
                <a:noFill/>
                <a:tableStyleId>{CFB75FC7-DD7D-40D8-B2B2-EE4B611A8D2E}</a:tableStyleId>
              </a:tblPr>
              <a:tblGrid>
                <a:gridCol w="1203225">
                  <a:extLst>
                    <a:ext uri="{9D8B030D-6E8A-4147-A177-3AD203B41FA5}">
                      <a16:colId xmlns:a16="http://schemas.microsoft.com/office/drawing/2014/main" val="20000"/>
                    </a:ext>
                  </a:extLst>
                </a:gridCol>
                <a:gridCol w="1078350">
                  <a:extLst>
                    <a:ext uri="{9D8B030D-6E8A-4147-A177-3AD203B41FA5}">
                      <a16:colId xmlns:a16="http://schemas.microsoft.com/office/drawing/2014/main" val="20001"/>
                    </a:ext>
                  </a:extLst>
                </a:gridCol>
                <a:gridCol w="1475650">
                  <a:extLst>
                    <a:ext uri="{9D8B030D-6E8A-4147-A177-3AD203B41FA5}">
                      <a16:colId xmlns:a16="http://schemas.microsoft.com/office/drawing/2014/main" val="20002"/>
                    </a:ext>
                  </a:extLst>
                </a:gridCol>
                <a:gridCol w="2111325">
                  <a:extLst>
                    <a:ext uri="{9D8B030D-6E8A-4147-A177-3AD203B41FA5}">
                      <a16:colId xmlns:a16="http://schemas.microsoft.com/office/drawing/2014/main" val="20003"/>
                    </a:ext>
                  </a:extLst>
                </a:gridCol>
                <a:gridCol w="283750">
                  <a:extLst>
                    <a:ext uri="{9D8B030D-6E8A-4147-A177-3AD203B41FA5}">
                      <a16:colId xmlns:a16="http://schemas.microsoft.com/office/drawing/2014/main" val="20004"/>
                    </a:ext>
                  </a:extLst>
                </a:gridCol>
                <a:gridCol w="2077275">
                  <a:extLst>
                    <a:ext uri="{9D8B030D-6E8A-4147-A177-3AD203B41FA5}">
                      <a16:colId xmlns:a16="http://schemas.microsoft.com/office/drawing/2014/main" val="20005"/>
                    </a:ext>
                  </a:extLst>
                </a:gridCol>
              </a:tblGrid>
              <a:tr h="252125">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Spike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0"/>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1"/>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2</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2"/>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Continuity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3"/>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$3,000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4"/>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5"/>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120</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aphicFrame>
        <p:nvGraphicFramePr>
          <p:cNvPr id="457" name="Google Shape;457;p40"/>
          <p:cNvGraphicFramePr/>
          <p:nvPr/>
        </p:nvGraphicFramePr>
        <p:xfrm>
          <a:off x="457200" y="4856950"/>
          <a:ext cx="8229575" cy="1861185"/>
        </p:xfrm>
        <a:graphic>
          <a:graphicData uri="http://schemas.openxmlformats.org/drawingml/2006/table">
            <a:tbl>
              <a:tblPr>
                <a:noFill/>
                <a:tableStyleId>{CFB75FC7-DD7D-40D8-B2B2-EE4B611A8D2E}</a:tableStyleId>
              </a:tblPr>
              <a:tblGrid>
                <a:gridCol w="1203225">
                  <a:extLst>
                    <a:ext uri="{9D8B030D-6E8A-4147-A177-3AD203B41FA5}">
                      <a16:colId xmlns:a16="http://schemas.microsoft.com/office/drawing/2014/main" val="20000"/>
                    </a:ext>
                  </a:extLst>
                </a:gridCol>
                <a:gridCol w="1078350">
                  <a:extLst>
                    <a:ext uri="{9D8B030D-6E8A-4147-A177-3AD203B41FA5}">
                      <a16:colId xmlns:a16="http://schemas.microsoft.com/office/drawing/2014/main" val="20001"/>
                    </a:ext>
                  </a:extLst>
                </a:gridCol>
                <a:gridCol w="1475650">
                  <a:extLst>
                    <a:ext uri="{9D8B030D-6E8A-4147-A177-3AD203B41FA5}">
                      <a16:colId xmlns:a16="http://schemas.microsoft.com/office/drawing/2014/main" val="20002"/>
                    </a:ext>
                  </a:extLst>
                </a:gridCol>
                <a:gridCol w="2111325">
                  <a:extLst>
                    <a:ext uri="{9D8B030D-6E8A-4147-A177-3AD203B41FA5}">
                      <a16:colId xmlns:a16="http://schemas.microsoft.com/office/drawing/2014/main" val="20003"/>
                    </a:ext>
                  </a:extLst>
                </a:gridCol>
                <a:gridCol w="283750">
                  <a:extLst>
                    <a:ext uri="{9D8B030D-6E8A-4147-A177-3AD203B41FA5}">
                      <a16:colId xmlns:a16="http://schemas.microsoft.com/office/drawing/2014/main" val="20004"/>
                    </a:ext>
                  </a:extLst>
                </a:gridCol>
                <a:gridCol w="2077275">
                  <a:extLst>
                    <a:ext uri="{9D8B030D-6E8A-4147-A177-3AD203B41FA5}">
                      <a16:colId xmlns:a16="http://schemas.microsoft.com/office/drawing/2014/main" val="20005"/>
                    </a:ext>
                  </a:extLst>
                </a:gridCol>
              </a:tblGrid>
              <a:tr h="25145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Slow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0"/>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1"/>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3</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2"/>
                  </a:ext>
                </a:extLst>
              </a:tr>
              <a:tr h="3524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Average Spike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3"/>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4,500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4"/>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5"/>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180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41"/>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BT</a:t>
            </a:r>
            <a:endParaRPr/>
          </a:p>
        </p:txBody>
      </p:sp>
      <p:graphicFrame>
        <p:nvGraphicFramePr>
          <p:cNvPr id="463" name="Google Shape;463;p41"/>
          <p:cNvGraphicFramePr/>
          <p:nvPr/>
        </p:nvGraphicFramePr>
        <p:xfrm>
          <a:off x="459300" y="1280625"/>
          <a:ext cx="8277250" cy="2866455"/>
        </p:xfrm>
        <a:graphic>
          <a:graphicData uri="http://schemas.openxmlformats.org/drawingml/2006/table">
            <a:tbl>
              <a:tblPr>
                <a:noFill/>
                <a:tableStyleId>{CFB75FC7-DD7D-40D8-B2B2-EE4B611A8D2E}</a:tableStyleId>
              </a:tblPr>
              <a:tblGrid>
                <a:gridCol w="900675">
                  <a:extLst>
                    <a:ext uri="{9D8B030D-6E8A-4147-A177-3AD203B41FA5}">
                      <a16:colId xmlns:a16="http://schemas.microsoft.com/office/drawing/2014/main" val="20000"/>
                    </a:ext>
                  </a:extLst>
                </a:gridCol>
                <a:gridCol w="900675">
                  <a:extLst>
                    <a:ext uri="{9D8B030D-6E8A-4147-A177-3AD203B41FA5}">
                      <a16:colId xmlns:a16="http://schemas.microsoft.com/office/drawing/2014/main" val="20001"/>
                    </a:ext>
                  </a:extLst>
                </a:gridCol>
                <a:gridCol w="1540175">
                  <a:extLst>
                    <a:ext uri="{9D8B030D-6E8A-4147-A177-3AD203B41FA5}">
                      <a16:colId xmlns:a16="http://schemas.microsoft.com/office/drawing/2014/main" val="20002"/>
                    </a:ext>
                  </a:extLst>
                </a:gridCol>
                <a:gridCol w="2215675">
                  <a:extLst>
                    <a:ext uri="{9D8B030D-6E8A-4147-A177-3AD203B41FA5}">
                      <a16:colId xmlns:a16="http://schemas.microsoft.com/office/drawing/2014/main" val="20003"/>
                    </a:ext>
                  </a:extLst>
                </a:gridCol>
                <a:gridCol w="918700">
                  <a:extLst>
                    <a:ext uri="{9D8B030D-6E8A-4147-A177-3AD203B41FA5}">
                      <a16:colId xmlns:a16="http://schemas.microsoft.com/office/drawing/2014/main" val="20004"/>
                    </a:ext>
                  </a:extLst>
                </a:gridCol>
                <a:gridCol w="900675">
                  <a:extLst>
                    <a:ext uri="{9D8B030D-6E8A-4147-A177-3AD203B41FA5}">
                      <a16:colId xmlns:a16="http://schemas.microsoft.com/office/drawing/2014/main" val="20005"/>
                    </a:ext>
                  </a:extLst>
                </a:gridCol>
                <a:gridCol w="900675">
                  <a:extLst>
                    <a:ext uri="{9D8B030D-6E8A-4147-A177-3AD203B41FA5}">
                      <a16:colId xmlns:a16="http://schemas.microsoft.com/office/drawing/2014/main" val="20006"/>
                    </a:ext>
                  </a:extLst>
                </a:gridCol>
              </a:tblGrid>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200" b="1" i="1" u="sng">
                          <a:latin typeface="Verdana"/>
                          <a:ea typeface="Verdana"/>
                          <a:cs typeface="Verdana"/>
                          <a:sym typeface="Verdana"/>
                        </a:rPr>
                        <a:t>Branding Months</a:t>
                      </a:r>
                      <a:endParaRPr sz="1200" b="1" i="1" u="sng">
                        <a:latin typeface="Verdana"/>
                        <a:ea typeface="Verdana"/>
                        <a:cs typeface="Verdana"/>
                        <a:sym typeface="Verdana"/>
                      </a:endParaRPr>
                    </a:p>
                  </a:txBody>
                  <a:tcPr marL="91425" marR="9142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91425" marR="9142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000" b="1">
                          <a:latin typeface="Verdana"/>
                          <a:ea typeface="Verdana"/>
                          <a:cs typeface="Verdana"/>
                          <a:sym typeface="Verdana"/>
                        </a:rPr>
                        <a:t>Base Investment:</a:t>
                      </a:r>
                      <a:endParaRPr sz="1000" b="1">
                        <a:latin typeface="Verdana"/>
                        <a:ea typeface="Verdana"/>
                        <a:cs typeface="Verdana"/>
                        <a:sym typeface="Verdana"/>
                      </a:endParaRPr>
                    </a:p>
                  </a:txBody>
                  <a:tcPr marL="91425" marR="9142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$1,500</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r h="5048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5"/>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42"/>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B</a:t>
            </a:r>
            <a:endParaRPr/>
          </a:p>
        </p:txBody>
      </p:sp>
      <p:sp>
        <p:nvSpPr>
          <p:cNvPr id="469" name="Google Shape;469;p42"/>
          <p:cNvSpPr txBox="1"/>
          <p:nvPr/>
        </p:nvSpPr>
        <p:spPr>
          <a:xfrm>
            <a:off x="2257950" y="1174800"/>
            <a:ext cx="4628100" cy="699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1"/>
                </a:solidFill>
                <a:latin typeface="Verdana"/>
                <a:ea typeface="Verdana"/>
                <a:cs typeface="Verdana"/>
                <a:sym typeface="Verdana"/>
              </a:rPr>
              <a:t>clientBusinessName</a:t>
            </a:r>
            <a:endParaRPr sz="2400" b="1">
              <a:latin typeface="Verdana"/>
              <a:ea typeface="Verdana"/>
              <a:cs typeface="Verdana"/>
              <a:sym typeface="Verdana"/>
            </a:endParaRPr>
          </a:p>
        </p:txBody>
      </p:sp>
      <p:sp>
        <p:nvSpPr>
          <p:cNvPr id="470" name="Google Shape;470;p42"/>
          <p:cNvSpPr txBox="1"/>
          <p:nvPr/>
        </p:nvSpPr>
        <p:spPr>
          <a:xfrm>
            <a:off x="2168400" y="1759563"/>
            <a:ext cx="4807200" cy="98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1"/>
                </a:solidFill>
                <a:latin typeface="Verdana"/>
                <a:ea typeface="Verdana"/>
                <a:cs typeface="Verdana"/>
                <a:sym typeface="Verdana"/>
              </a:rPr>
              <a:t>Brand Equity Schedule </a:t>
            </a:r>
            <a:endParaRPr sz="2000" b="1">
              <a:solidFill>
                <a:schemeClr val="dk1"/>
              </a:solidFill>
              <a:latin typeface="Verdana"/>
              <a:ea typeface="Verdana"/>
              <a:cs typeface="Verdana"/>
              <a:sym typeface="Verdana"/>
            </a:endParaRPr>
          </a:p>
          <a:p>
            <a:pPr marL="0" lvl="0" indent="0" algn="ctr" rtl="0">
              <a:spcBef>
                <a:spcPts val="0"/>
              </a:spcBef>
              <a:spcAft>
                <a:spcPts val="0"/>
              </a:spcAft>
              <a:buNone/>
            </a:pPr>
            <a:r>
              <a:rPr lang="en" sz="2000" b="1">
                <a:solidFill>
                  <a:schemeClr val="dk1"/>
                </a:solidFill>
                <a:latin typeface="Verdana"/>
                <a:ea typeface="Verdana"/>
                <a:cs typeface="Verdana"/>
                <a:sym typeface="Verdana"/>
              </a:rPr>
              <a:t>Monthly Station Summary</a:t>
            </a:r>
            <a:endParaRPr sz="2000" b="1">
              <a:latin typeface="Verdana"/>
              <a:ea typeface="Verdana"/>
              <a:cs typeface="Verdana"/>
              <a:sym typeface="Verdana"/>
            </a:endParaRPr>
          </a:p>
        </p:txBody>
      </p:sp>
      <p:sp>
        <p:nvSpPr>
          <p:cNvPr id="471" name="Google Shape;471;p42"/>
          <p:cNvSpPr txBox="1"/>
          <p:nvPr/>
        </p:nvSpPr>
        <p:spPr>
          <a:xfrm>
            <a:off x="1179600" y="3067177"/>
            <a:ext cx="6784800" cy="3420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Market: </a:t>
            </a:r>
            <a:r>
              <a:rPr lang="en">
                <a:solidFill>
                  <a:schemeClr val="dk1"/>
                </a:solidFill>
                <a:latin typeface="Verdana"/>
                <a:ea typeface="Verdana"/>
                <a:cs typeface="Verdana"/>
                <a:sym typeface="Verdana"/>
              </a:rPr>
              <a:t>planBCity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Projected Broadcast Monthly Reach: </a:t>
            </a:r>
            <a:r>
              <a:rPr lang="en">
                <a:solidFill>
                  <a:schemeClr val="dk1"/>
                </a:solidFill>
                <a:latin typeface="Verdana"/>
                <a:ea typeface="Verdana"/>
                <a:cs typeface="Verdana"/>
                <a:sym typeface="Verdana"/>
              </a:rPr>
              <a:t>planBReach</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Projected Monthly Broadcast Frequency: </a:t>
            </a:r>
            <a:r>
              <a:rPr lang="en">
                <a:solidFill>
                  <a:schemeClr val="dk1"/>
                </a:solidFill>
                <a:latin typeface="Verdana"/>
                <a:ea typeface="Verdana"/>
                <a:cs typeface="Verdana"/>
                <a:sym typeface="Verdana"/>
              </a:rPr>
              <a:t>planBFrequency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Estimated Monthly Digital Gross Impressions: </a:t>
            </a:r>
            <a:r>
              <a:rPr lang="en">
                <a:solidFill>
                  <a:schemeClr val="dk1"/>
                </a:solidFill>
                <a:latin typeface="Verdana"/>
                <a:ea typeface="Verdana"/>
                <a:cs typeface="Verdana"/>
                <a:sym typeface="Verdana"/>
              </a:rPr>
              <a:t>planBDigitalImpressionsMonthly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Base Monthly Advertising Investment: </a:t>
            </a:r>
            <a:r>
              <a:rPr lang="en">
                <a:solidFill>
                  <a:schemeClr val="dk1"/>
                </a:solidFill>
                <a:latin typeface="Verdana"/>
                <a:ea typeface="Verdana"/>
                <a:cs typeface="Verdana"/>
                <a:sym typeface="Verdana"/>
              </a:rPr>
              <a:t>planBMonthly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Base Daily Advertising Investment:</a:t>
            </a:r>
            <a:r>
              <a:rPr lang="en">
                <a:solidFill>
                  <a:schemeClr val="dk1"/>
                </a:solidFill>
                <a:latin typeface="Verdana"/>
                <a:ea typeface="Verdana"/>
                <a:cs typeface="Verdana"/>
                <a:sym typeface="Verdana"/>
              </a:rPr>
              <a:t> planBDaily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43"/>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Break Even Analysis - Plan B</a:t>
            </a:r>
            <a:endParaRPr/>
          </a:p>
        </p:txBody>
      </p:sp>
      <p:sp>
        <p:nvSpPr>
          <p:cNvPr id="477" name="Google Shape;477;p43"/>
          <p:cNvSpPr txBox="1">
            <a:spLocks noGrp="1"/>
          </p:cNvSpPr>
          <p:nvPr>
            <p:ph type="body" idx="2"/>
          </p:nvPr>
        </p:nvSpPr>
        <p:spPr>
          <a:xfrm>
            <a:off x="7552960" y="1563625"/>
            <a:ext cx="3399900" cy="41787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1300" u="sng">
                <a:solidFill>
                  <a:srgbClr val="000000"/>
                </a:solidFill>
                <a:latin typeface="Verdana"/>
                <a:ea typeface="Verdana"/>
                <a:cs typeface="Verdana"/>
                <a:sym typeface="Verdana"/>
              </a:rPr>
              <a:t>planBAverageSale</a:t>
            </a:r>
            <a:endParaRPr sz="1300" u="sng">
              <a:solidFill>
                <a:srgbClr val="000000"/>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planBGrossMargin</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planBClosingPct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planBProspectValue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planBMonthly</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planBProspectsNeeded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planBProspectSalesNeeded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planBGrossProfitOnSales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planBMonths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planBAdditionalGrossSales</a:t>
            </a:r>
            <a:endParaRPr sz="1300" u="sng">
              <a:solidFill>
                <a:schemeClr val="dk1"/>
              </a:solidFill>
              <a:latin typeface="Verdana"/>
              <a:ea typeface="Verdana"/>
              <a:cs typeface="Verdana"/>
              <a:sym typeface="Verdana"/>
            </a:endParaRPr>
          </a:p>
        </p:txBody>
      </p:sp>
      <p:sp>
        <p:nvSpPr>
          <p:cNvPr id="478" name="Google Shape;478;p43"/>
          <p:cNvSpPr txBox="1"/>
          <p:nvPr/>
        </p:nvSpPr>
        <p:spPr>
          <a:xfrm>
            <a:off x="347250" y="1566890"/>
            <a:ext cx="7206000" cy="4181400"/>
          </a:xfrm>
          <a:prstGeom prst="rect">
            <a:avLst/>
          </a:prstGeom>
          <a:noFill/>
          <a:ln>
            <a:noFill/>
          </a:ln>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Average sale (ticket, transaction, invoice)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Gross profit margin on average sale (sale less closing costs)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Closing or conversion rate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Projected prospect value (=A*B*C)=</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Client base monthly advertising investment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prospects needed to pay for advertising  investment (=E/D)=</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 of sales from prospects needed to break even (=F*C)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Gross sales per month needed to break even (=G*A)=</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Number of months to run </a:t>
            </a:r>
            <a:r>
              <a:rPr lang="en" sz="1300" b="1">
                <a:latin typeface="Verdana"/>
                <a:ea typeface="Verdana"/>
                <a:cs typeface="Verdana"/>
                <a:sym typeface="Verdana"/>
              </a:rPr>
              <a:t>in </a:t>
            </a:r>
            <a:r>
              <a:rPr lang="en" sz="1300" b="1">
                <a:solidFill>
                  <a:srgbClr val="000000"/>
                </a:solidFill>
                <a:latin typeface="Verdana"/>
                <a:ea typeface="Verdana"/>
                <a:cs typeface="Verdana"/>
                <a:sym typeface="Verdana"/>
              </a:rPr>
              <a:t>proposed marketing plan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Additional gross sales per year needed to break even (=H*I)= </a:t>
            </a:r>
            <a:endParaRPr sz="1300" b="1">
              <a:solidFill>
                <a:srgbClr val="000000"/>
              </a:solidFill>
              <a:latin typeface="Verdana"/>
              <a:ea typeface="Verdana"/>
              <a:cs typeface="Verdana"/>
              <a:sym typeface="Verdan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44"/>
          <p:cNvSpPr txBox="1">
            <a:spLocks noGrp="1"/>
          </p:cNvSpPr>
          <p:nvPr>
            <p:ph type="ctrTitle"/>
          </p:nvPr>
        </p:nvSpPr>
        <p:spPr>
          <a:xfrm>
            <a:off x="346800" y="475500"/>
            <a:ext cx="84504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Lifetime Value Analysis - Plan B</a:t>
            </a:r>
            <a:endParaRPr/>
          </a:p>
        </p:txBody>
      </p:sp>
      <p:sp>
        <p:nvSpPr>
          <p:cNvPr id="484" name="Google Shape;484;p44"/>
          <p:cNvSpPr txBox="1">
            <a:spLocks noGrp="1"/>
          </p:cNvSpPr>
          <p:nvPr>
            <p:ph type="body" idx="2"/>
          </p:nvPr>
        </p:nvSpPr>
        <p:spPr>
          <a:xfrm>
            <a:off x="7552950" y="1773925"/>
            <a:ext cx="3638400" cy="37668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b_averageSale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b_grossProfitMargin</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b_grossProfitPerSale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b_averageRepeatSales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b_averageCustomerValue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b_yearsOfPatronage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b_lifetimeValuePerCustomer</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b_prospectsNeededToBreakEven</a:t>
            </a:r>
            <a:endParaRPr sz="1300">
              <a:solidFill>
                <a:srgbClr val="000000"/>
              </a:solidFill>
              <a:latin typeface="Verdana"/>
              <a:ea typeface="Verdana"/>
              <a:cs typeface="Verdana"/>
              <a:sym typeface="Verdana"/>
            </a:endParaRPr>
          </a:p>
        </p:txBody>
      </p:sp>
      <p:sp>
        <p:nvSpPr>
          <p:cNvPr id="485" name="Google Shape;485;p44"/>
          <p:cNvSpPr txBox="1">
            <a:spLocks noGrp="1"/>
          </p:cNvSpPr>
          <p:nvPr>
            <p:ph type="body" idx="2"/>
          </p:nvPr>
        </p:nvSpPr>
        <p:spPr>
          <a:xfrm>
            <a:off x="347550" y="1774199"/>
            <a:ext cx="7205400" cy="37668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Average sale (ticket, transaction, invoice)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gross profit margin on average sale (sale less variable costs)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gross profit per average sale (A*B)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repeat sales per year (per customer/client)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average customer/client value per year (C*D)=</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number of years of patronage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lifetime value of one customer/client (E*F)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So if your base monthly advertising investment averages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Then monthly customers/clients needed to break even (H/G)=</a:t>
            </a:r>
            <a:endParaRPr sz="1300" b="1">
              <a:solidFill>
                <a:srgbClr val="000000"/>
              </a:solidFill>
              <a:latin typeface="Verdana"/>
              <a:ea typeface="Verdana"/>
              <a:cs typeface="Verdana"/>
              <a:sym typeface="Verdan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45"/>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Digital ROI Calculator - Plan B</a:t>
            </a:r>
            <a:endParaRPr/>
          </a:p>
        </p:txBody>
      </p:sp>
      <p:sp>
        <p:nvSpPr>
          <p:cNvPr id="491" name="Google Shape;491;p45"/>
          <p:cNvSpPr txBox="1">
            <a:spLocks noGrp="1"/>
          </p:cNvSpPr>
          <p:nvPr>
            <p:ph type="body" idx="2"/>
          </p:nvPr>
        </p:nvSpPr>
        <p:spPr>
          <a:xfrm>
            <a:off x="7132320" y="1453896"/>
            <a:ext cx="1243500" cy="51939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planBMonthlyDigitalInvestment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planBCostPerThousand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planBClosingPctNumber</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planBClickThroughRate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planBMonthlyClicks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planBCostPerClicks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planBSalesConversionPercentage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planBMonthlyConversions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planBCostPerConversion</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planBProjectedGrossProfit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planBMonthlyGrossProfit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planBMonthlyROID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planBMonthlyROIP</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1600"/>
              </a:spcAft>
              <a:buNone/>
            </a:pPr>
            <a:endParaRPr sz="1300">
              <a:solidFill>
                <a:srgbClr val="000000"/>
              </a:solidFill>
              <a:latin typeface="Verdana"/>
              <a:ea typeface="Verdana"/>
              <a:cs typeface="Verdana"/>
              <a:sym typeface="Verdana"/>
            </a:endParaRPr>
          </a:p>
        </p:txBody>
      </p:sp>
      <p:sp>
        <p:nvSpPr>
          <p:cNvPr id="492" name="Google Shape;492;p45"/>
          <p:cNvSpPr txBox="1">
            <a:spLocks noGrp="1"/>
          </p:cNvSpPr>
          <p:nvPr>
            <p:ph type="body" idx="2"/>
          </p:nvPr>
        </p:nvSpPr>
        <p:spPr>
          <a:xfrm>
            <a:off x="772638" y="1453125"/>
            <a:ext cx="6355200" cy="51927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Digital Investment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Cost Per Thousand (CPM)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Impressions (=A/B*1,000)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Click Through Rate (.01%, .1%, etc)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 clicks (=C*D)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Cost Per Click (=A/E)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Sales Conversion Percentage (2%, 10%, etc)=</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Number of Conversions (E*G)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Cost Per Conversion (A/H)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Projected Gross Profit Per Conversion ($100, $1,000, etc.)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Gross </a:t>
            </a:r>
            <a:r>
              <a:rPr lang="en" sz="1300" b="1">
                <a:solidFill>
                  <a:srgbClr val="000000"/>
                </a:solidFill>
              </a:rPr>
              <a:t>P</a:t>
            </a:r>
            <a:r>
              <a:rPr lang="en" sz="1300" b="1">
                <a:solidFill>
                  <a:srgbClr val="000000"/>
                </a:solidFill>
                <a:latin typeface="Verdana"/>
                <a:ea typeface="Verdana"/>
                <a:cs typeface="Verdana"/>
                <a:sym typeface="Verdana"/>
              </a:rPr>
              <a:t>rofit Generated from all Conversions (H*J)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Return on Investment (K-A)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 Monthly Return on Investment (L/A) = </a:t>
            </a:r>
            <a:endParaRPr sz="1300" b="1">
              <a:solidFill>
                <a:srgbClr val="000000"/>
              </a:solidFill>
              <a:latin typeface="Verdana"/>
              <a:ea typeface="Verdana"/>
              <a:cs typeface="Verdana"/>
              <a:sym typeface="Verdan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4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Plan A</a:t>
            </a:r>
            <a:endParaRPr/>
          </a:p>
        </p:txBody>
      </p:sp>
      <p:sp>
        <p:nvSpPr>
          <p:cNvPr id="498" name="Google Shape;498;p46"/>
          <p:cNvSpPr txBox="1">
            <a:spLocks noGrp="1"/>
          </p:cNvSpPr>
          <p:nvPr>
            <p:ph type="body" idx="1"/>
          </p:nvPr>
        </p:nvSpPr>
        <p:spPr>
          <a:xfrm>
            <a:off x="489950" y="1170432"/>
            <a:ext cx="8181900" cy="16239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150" dirty="0">
                <a:solidFill>
                  <a:srgbClr val="000000"/>
                </a:solidFill>
                <a:latin typeface="Verdana"/>
                <a:ea typeface="Verdana"/>
                <a:cs typeface="Verdana"/>
                <a:sym typeface="Verdana"/>
              </a:rPr>
              <a:t>For the benefit of the client, </a:t>
            </a:r>
            <a:r>
              <a:rPr lang="en" sz="1150" b="1" dirty="0">
                <a:solidFill>
                  <a:srgbClr val="000000"/>
                </a:solidFill>
                <a:latin typeface="Verdana"/>
                <a:ea typeface="Verdana"/>
                <a:cs typeface="Verdana"/>
                <a:sym typeface="Verdana"/>
              </a:rPr>
              <a:t>station  </a:t>
            </a:r>
            <a:r>
              <a:rPr lang="en" sz="1150" dirty="0">
                <a:solidFill>
                  <a:srgbClr val="000000"/>
                </a:solidFill>
                <a:latin typeface="Verdana"/>
                <a:ea typeface="Verdana"/>
                <a:cs typeface="Verdana"/>
                <a:sym typeface="Verdana"/>
              </a:rPr>
              <a:t>agrees to develop a marketing strategy to help:</a:t>
            </a:r>
            <a:endParaRPr sz="1150" dirty="0">
              <a:solidFill>
                <a:srgbClr val="000000"/>
              </a:solidFill>
              <a:latin typeface="Verdana"/>
              <a:ea typeface="Verdana"/>
              <a:cs typeface="Verdana"/>
              <a:sym typeface="Verdana"/>
            </a:endParaRPr>
          </a:p>
          <a:p>
            <a:pPr lvl="0">
              <a:lnSpc>
                <a:spcPct val="150000"/>
              </a:lnSpc>
              <a:buClr>
                <a:srgbClr val="000000"/>
              </a:buClr>
              <a:buFont typeface="Verdana"/>
              <a:buAutoNum type="arabicPeriod"/>
            </a:pPr>
            <a:r>
              <a:rPr lang="en-US" dirty="0" err="1">
                <a:solidFill>
                  <a:srgbClr val="000000"/>
                </a:solidFill>
              </a:rPr>
              <a:t>firstRow</a:t>
            </a:r>
            <a:endParaRPr sz="1150" dirty="0">
              <a:solidFill>
                <a:srgbClr val="000000"/>
              </a:solidFill>
              <a:latin typeface="Verdana"/>
              <a:ea typeface="Verdana"/>
              <a:cs typeface="Verdana"/>
              <a:sym typeface="Verdana"/>
            </a:endParaRPr>
          </a:p>
          <a:p>
            <a:pPr lvl="0">
              <a:lnSpc>
                <a:spcPct val="150000"/>
              </a:lnSpc>
              <a:buClr>
                <a:srgbClr val="000000"/>
              </a:buClr>
              <a:buFont typeface="Verdana"/>
              <a:buAutoNum type="arabicPeriod"/>
            </a:pPr>
            <a:r>
              <a:rPr lang="en-US" dirty="0" err="1">
                <a:solidFill>
                  <a:srgbClr val="000000"/>
                </a:solidFill>
              </a:rPr>
              <a:t>secondRow</a:t>
            </a:r>
            <a:endParaRPr lang="en-US" dirty="0">
              <a:solidFill>
                <a:srgbClr val="000000"/>
              </a:solidFill>
            </a:endParaRPr>
          </a:p>
          <a:p>
            <a:pPr lvl="0">
              <a:lnSpc>
                <a:spcPct val="150000"/>
              </a:lnSpc>
              <a:buClr>
                <a:srgbClr val="000000"/>
              </a:buClr>
              <a:buFont typeface="Verdana"/>
              <a:buAutoNum type="arabicPeriod"/>
            </a:pPr>
            <a:r>
              <a:rPr lang="en-US">
                <a:solidFill>
                  <a:srgbClr val="000000"/>
                </a:solidFill>
              </a:rPr>
              <a:t>thirdRow</a:t>
            </a:r>
            <a:endParaRPr sz="1150" dirty="0">
              <a:solidFill>
                <a:srgbClr val="000000"/>
              </a:solidFill>
              <a:latin typeface="Verdana"/>
              <a:ea typeface="Verdana"/>
              <a:cs typeface="Verdana"/>
              <a:sym typeface="Verdana"/>
            </a:endParaRPr>
          </a:p>
          <a:p>
            <a:pPr marL="0" lvl="0" indent="0" algn="l" rtl="0">
              <a:lnSpc>
                <a:spcPct val="150000"/>
              </a:lnSpc>
              <a:spcBef>
                <a:spcPts val="0"/>
              </a:spcBef>
              <a:spcAft>
                <a:spcPts val="0"/>
              </a:spcAft>
              <a:buNone/>
            </a:pPr>
            <a:r>
              <a:rPr lang="en" sz="1150" dirty="0">
                <a:solidFill>
                  <a:srgbClr val="000000"/>
                </a:solidFill>
                <a:latin typeface="Verdana"/>
                <a:ea typeface="Verdana"/>
                <a:cs typeface="Verdana"/>
                <a:sym typeface="Verdana"/>
              </a:rPr>
              <a:t>In return for fulfilling stated goals </a:t>
            </a:r>
            <a:r>
              <a:rPr lang="en" sz="1150" dirty="0" err="1">
                <a:solidFill>
                  <a:srgbClr val="000000"/>
                </a:solidFill>
                <a:latin typeface="Verdana"/>
                <a:ea typeface="Verdana"/>
                <a:cs typeface="Verdana"/>
                <a:sym typeface="Verdana"/>
              </a:rPr>
              <a:t>businessname</a:t>
            </a:r>
            <a:r>
              <a:rPr lang="en" sz="1150" dirty="0">
                <a:solidFill>
                  <a:srgbClr val="000000"/>
                </a:solidFill>
                <a:latin typeface="Verdana"/>
                <a:ea typeface="Verdana"/>
                <a:cs typeface="Verdana"/>
                <a:sym typeface="Verdana"/>
              </a:rPr>
              <a:t> agrees to invest in the following long-term plan:</a:t>
            </a:r>
            <a:endParaRPr sz="1150" dirty="0">
              <a:solidFill>
                <a:srgbClr val="000000"/>
              </a:solidFill>
              <a:latin typeface="Verdana"/>
              <a:ea typeface="Verdana"/>
              <a:cs typeface="Verdana"/>
              <a:sym typeface="Verdana"/>
            </a:endParaRPr>
          </a:p>
        </p:txBody>
      </p:sp>
      <p:sp>
        <p:nvSpPr>
          <p:cNvPr id="499" name="Google Shape;499;p46"/>
          <p:cNvSpPr txBox="1">
            <a:spLocks noGrp="1"/>
          </p:cNvSpPr>
          <p:nvPr>
            <p:ph type="body" idx="1"/>
          </p:nvPr>
        </p:nvSpPr>
        <p:spPr>
          <a:xfrm>
            <a:off x="356838" y="4184975"/>
            <a:ext cx="8430300" cy="6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800" b="1" dirty="0">
                <a:solidFill>
                  <a:schemeClr val="dk1"/>
                </a:solidFill>
                <a:latin typeface="Verdana"/>
                <a:ea typeface="Verdana"/>
                <a:cs typeface="Verdana"/>
                <a:sym typeface="Verdana"/>
              </a:rPr>
              <a:t>Client may cancel after 13 weeks from schedule start date with two weeks’ notice and no short rate. This offer is good for 10 business days from the date of presentation. In accordance with Paragraphs 49 and 50 of United States Federal Communications Commission Report and Order No. FCC 07-217, this station will not discriminate in any contract for advertising on the basis of race or ethnicity, and all such contracts will be evaluated, accepted, negotiated and completed without regard to race or ethnicity</a:t>
            </a:r>
            <a:endParaRPr sz="1050" b="1" dirty="0">
              <a:solidFill>
                <a:srgbClr val="000000"/>
              </a:solidFill>
              <a:latin typeface="Verdana"/>
              <a:ea typeface="Verdana"/>
              <a:cs typeface="Verdana"/>
              <a:sym typeface="Verdana"/>
            </a:endParaRPr>
          </a:p>
        </p:txBody>
      </p:sp>
      <p:sp>
        <p:nvSpPr>
          <p:cNvPr id="500" name="Google Shape;500;p46"/>
          <p:cNvSpPr txBox="1">
            <a:spLocks noGrp="1"/>
          </p:cNvSpPr>
          <p:nvPr>
            <p:ph type="body" idx="1"/>
          </p:nvPr>
        </p:nvSpPr>
        <p:spPr>
          <a:xfrm>
            <a:off x="356563" y="4799225"/>
            <a:ext cx="23376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400" b="1" u="sng">
                <a:solidFill>
                  <a:srgbClr val="000000"/>
                </a:solidFill>
                <a:latin typeface="Verdana"/>
                <a:ea typeface="Verdana"/>
                <a:cs typeface="Verdana"/>
                <a:sym typeface="Verdana"/>
              </a:rPr>
              <a:t>Analysis of Schedule:</a:t>
            </a:r>
            <a:endParaRPr sz="1400" b="1" u="sng">
              <a:solidFill>
                <a:srgbClr val="000000"/>
              </a:solidFill>
              <a:latin typeface="Verdana"/>
              <a:ea typeface="Verdana"/>
              <a:cs typeface="Verdana"/>
              <a:sym typeface="Verdana"/>
            </a:endParaRPr>
          </a:p>
        </p:txBody>
      </p:sp>
      <p:sp>
        <p:nvSpPr>
          <p:cNvPr id="501" name="Google Shape;501;p46"/>
          <p:cNvSpPr txBox="1">
            <a:spLocks noGrp="1"/>
          </p:cNvSpPr>
          <p:nvPr>
            <p:ph type="body" idx="1"/>
          </p:nvPr>
        </p:nvSpPr>
        <p:spPr>
          <a:xfrm>
            <a:off x="356563" y="51661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Monthly Client Investment:</a:t>
            </a:r>
            <a:r>
              <a:rPr lang="en" sz="1150">
                <a:solidFill>
                  <a:srgbClr val="000000"/>
                </a:solidFill>
                <a:latin typeface="Verdana"/>
                <a:ea typeface="Verdana"/>
                <a:cs typeface="Verdana"/>
                <a:sym typeface="Verdana"/>
              </a:rPr>
              <a:t> $3</a:t>
            </a:r>
            <a:endParaRPr sz="1150">
              <a:solidFill>
                <a:srgbClr val="000000"/>
              </a:solidFill>
              <a:latin typeface="Verdana"/>
              <a:ea typeface="Verdana"/>
              <a:cs typeface="Verdana"/>
              <a:sym typeface="Verdana"/>
            </a:endParaRPr>
          </a:p>
        </p:txBody>
      </p:sp>
      <p:sp>
        <p:nvSpPr>
          <p:cNvPr id="502" name="Google Shape;502;p46"/>
          <p:cNvSpPr txBox="1">
            <a:spLocks noGrp="1"/>
          </p:cNvSpPr>
          <p:nvPr>
            <p:ph type="body" idx="1"/>
          </p:nvPr>
        </p:nvSpPr>
        <p:spPr>
          <a:xfrm>
            <a:off x="356563" y="55330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Daily Client Investment:</a:t>
            </a:r>
            <a:r>
              <a:rPr lang="en" sz="1150">
                <a:solidFill>
                  <a:srgbClr val="000000"/>
                </a:solidFill>
                <a:latin typeface="Verdana"/>
                <a:ea typeface="Verdana"/>
                <a:cs typeface="Verdana"/>
                <a:sym typeface="Verdana"/>
              </a:rPr>
              <a:t> $0</a:t>
            </a:r>
            <a:endParaRPr sz="1150">
              <a:solidFill>
                <a:srgbClr val="000000"/>
              </a:solidFill>
              <a:latin typeface="Verdana"/>
              <a:ea typeface="Verdana"/>
              <a:cs typeface="Verdana"/>
              <a:sym typeface="Verdana"/>
            </a:endParaRPr>
          </a:p>
        </p:txBody>
      </p:sp>
      <p:sp>
        <p:nvSpPr>
          <p:cNvPr id="503" name="Google Shape;503;p46"/>
          <p:cNvSpPr txBox="1">
            <a:spLocks noGrp="1"/>
          </p:cNvSpPr>
          <p:nvPr>
            <p:ph type="body" idx="1"/>
          </p:nvPr>
        </p:nvSpPr>
        <p:spPr>
          <a:xfrm>
            <a:off x="2416613" y="5914100"/>
            <a:ext cx="4292400" cy="3669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150">
                <a:solidFill>
                  <a:srgbClr val="000000"/>
                </a:solidFill>
                <a:latin typeface="Verdana"/>
                <a:ea typeface="Verdana"/>
                <a:cs typeface="Verdana"/>
                <a:sym typeface="Verdana"/>
              </a:rPr>
              <a:t>Thank you for you trust and confidence</a:t>
            </a:r>
            <a:endParaRPr sz="1150">
              <a:solidFill>
                <a:srgbClr val="000000"/>
              </a:solidFill>
              <a:latin typeface="Verdana"/>
              <a:ea typeface="Verdana"/>
              <a:cs typeface="Verdana"/>
              <a:sym typeface="Verdana"/>
            </a:endParaRPr>
          </a:p>
        </p:txBody>
      </p:sp>
      <p:cxnSp>
        <p:nvCxnSpPr>
          <p:cNvPr id="504" name="Google Shape;504;p46"/>
          <p:cNvCxnSpPr/>
          <p:nvPr/>
        </p:nvCxnSpPr>
        <p:spPr>
          <a:xfrm>
            <a:off x="495825" y="6613975"/>
            <a:ext cx="3657600" cy="0"/>
          </a:xfrm>
          <a:prstGeom prst="straightConnector1">
            <a:avLst/>
          </a:prstGeom>
          <a:noFill/>
          <a:ln w="19050" cap="flat" cmpd="sng">
            <a:solidFill>
              <a:srgbClr val="000000"/>
            </a:solidFill>
            <a:prstDash val="solid"/>
            <a:round/>
            <a:headEnd type="none" w="med" len="med"/>
            <a:tailEnd type="none" w="med" len="med"/>
          </a:ln>
        </p:spPr>
      </p:cxnSp>
      <p:cxnSp>
        <p:nvCxnSpPr>
          <p:cNvPr id="505" name="Google Shape;505;p46"/>
          <p:cNvCxnSpPr/>
          <p:nvPr/>
        </p:nvCxnSpPr>
        <p:spPr>
          <a:xfrm>
            <a:off x="4972200" y="6613975"/>
            <a:ext cx="3657600" cy="0"/>
          </a:xfrm>
          <a:prstGeom prst="straightConnector1">
            <a:avLst/>
          </a:prstGeom>
          <a:noFill/>
          <a:ln w="19050" cap="flat" cmpd="sng">
            <a:solidFill>
              <a:srgbClr val="000000"/>
            </a:solidFill>
            <a:prstDash val="solid"/>
            <a:round/>
            <a:headEnd type="none" w="med" len="med"/>
            <a:tailEnd type="none" w="med" len="med"/>
          </a:ln>
        </p:spPr>
      </p:cxnSp>
      <p:sp>
        <p:nvSpPr>
          <p:cNvPr id="506" name="Google Shape;506;p46"/>
          <p:cNvSpPr txBox="1"/>
          <p:nvPr/>
        </p:nvSpPr>
        <p:spPr>
          <a:xfrm>
            <a:off x="495838"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07" name="Google Shape;507;p46"/>
          <p:cNvSpPr txBox="1"/>
          <p:nvPr/>
        </p:nvSpPr>
        <p:spPr>
          <a:xfrm>
            <a:off x="4972213"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08" name="Google Shape;508;p46"/>
          <p:cNvSpPr txBox="1"/>
          <p:nvPr/>
        </p:nvSpPr>
        <p:spPr>
          <a:xfrm>
            <a:off x="3581918"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09" name="Google Shape;509;p46"/>
          <p:cNvSpPr txBox="1"/>
          <p:nvPr/>
        </p:nvSpPr>
        <p:spPr>
          <a:xfrm>
            <a:off x="8058293"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47"/>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Plan B</a:t>
            </a:r>
            <a:endParaRPr/>
          </a:p>
        </p:txBody>
      </p:sp>
      <p:sp>
        <p:nvSpPr>
          <p:cNvPr id="516" name="Google Shape;516;p47"/>
          <p:cNvSpPr txBox="1">
            <a:spLocks noGrp="1"/>
          </p:cNvSpPr>
          <p:nvPr>
            <p:ph type="body" idx="1"/>
          </p:nvPr>
        </p:nvSpPr>
        <p:spPr>
          <a:xfrm>
            <a:off x="356563" y="4799225"/>
            <a:ext cx="23376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400" b="1" u="sng">
                <a:solidFill>
                  <a:srgbClr val="000000"/>
                </a:solidFill>
                <a:latin typeface="Verdana"/>
                <a:ea typeface="Verdana"/>
                <a:cs typeface="Verdana"/>
                <a:sym typeface="Verdana"/>
              </a:rPr>
              <a:t>Analysis of Schedule:</a:t>
            </a:r>
            <a:endParaRPr sz="1400" b="1" u="sng">
              <a:solidFill>
                <a:srgbClr val="000000"/>
              </a:solidFill>
              <a:latin typeface="Verdana"/>
              <a:ea typeface="Verdana"/>
              <a:cs typeface="Verdana"/>
              <a:sym typeface="Verdana"/>
            </a:endParaRPr>
          </a:p>
        </p:txBody>
      </p:sp>
      <p:sp>
        <p:nvSpPr>
          <p:cNvPr id="517" name="Google Shape;517;p47"/>
          <p:cNvSpPr txBox="1">
            <a:spLocks noGrp="1"/>
          </p:cNvSpPr>
          <p:nvPr>
            <p:ph type="body" idx="1"/>
          </p:nvPr>
        </p:nvSpPr>
        <p:spPr>
          <a:xfrm>
            <a:off x="356563" y="51661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Monthly Client Investment:</a:t>
            </a:r>
            <a:r>
              <a:rPr lang="en" sz="1150">
                <a:solidFill>
                  <a:srgbClr val="000000"/>
                </a:solidFill>
                <a:latin typeface="Verdana"/>
                <a:ea typeface="Verdana"/>
                <a:cs typeface="Verdana"/>
                <a:sym typeface="Verdana"/>
              </a:rPr>
              <a:t> $3</a:t>
            </a:r>
            <a:endParaRPr sz="1150">
              <a:solidFill>
                <a:srgbClr val="000000"/>
              </a:solidFill>
              <a:latin typeface="Verdana"/>
              <a:ea typeface="Verdana"/>
              <a:cs typeface="Verdana"/>
              <a:sym typeface="Verdana"/>
            </a:endParaRPr>
          </a:p>
        </p:txBody>
      </p:sp>
      <p:sp>
        <p:nvSpPr>
          <p:cNvPr id="518" name="Google Shape;518;p47"/>
          <p:cNvSpPr txBox="1">
            <a:spLocks noGrp="1"/>
          </p:cNvSpPr>
          <p:nvPr>
            <p:ph type="body" idx="1"/>
          </p:nvPr>
        </p:nvSpPr>
        <p:spPr>
          <a:xfrm>
            <a:off x="356563" y="55330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Daily Client Investment:</a:t>
            </a:r>
            <a:r>
              <a:rPr lang="en" sz="1150">
                <a:solidFill>
                  <a:srgbClr val="000000"/>
                </a:solidFill>
                <a:latin typeface="Verdana"/>
                <a:ea typeface="Verdana"/>
                <a:cs typeface="Verdana"/>
                <a:sym typeface="Verdana"/>
              </a:rPr>
              <a:t> $0</a:t>
            </a:r>
            <a:endParaRPr sz="1150">
              <a:solidFill>
                <a:srgbClr val="000000"/>
              </a:solidFill>
              <a:latin typeface="Verdana"/>
              <a:ea typeface="Verdana"/>
              <a:cs typeface="Verdana"/>
              <a:sym typeface="Verdana"/>
            </a:endParaRPr>
          </a:p>
        </p:txBody>
      </p:sp>
      <p:sp>
        <p:nvSpPr>
          <p:cNvPr id="519" name="Google Shape;519;p47"/>
          <p:cNvSpPr txBox="1">
            <a:spLocks noGrp="1"/>
          </p:cNvSpPr>
          <p:nvPr>
            <p:ph type="body" idx="1"/>
          </p:nvPr>
        </p:nvSpPr>
        <p:spPr>
          <a:xfrm>
            <a:off x="2416613" y="5914100"/>
            <a:ext cx="4292400" cy="3669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150">
                <a:solidFill>
                  <a:srgbClr val="000000"/>
                </a:solidFill>
                <a:latin typeface="Verdana"/>
                <a:ea typeface="Verdana"/>
                <a:cs typeface="Verdana"/>
                <a:sym typeface="Verdana"/>
              </a:rPr>
              <a:t>Thank you for you trust and confidence</a:t>
            </a:r>
            <a:endParaRPr sz="1150">
              <a:solidFill>
                <a:srgbClr val="000000"/>
              </a:solidFill>
              <a:latin typeface="Verdana"/>
              <a:ea typeface="Verdana"/>
              <a:cs typeface="Verdana"/>
              <a:sym typeface="Verdana"/>
            </a:endParaRPr>
          </a:p>
        </p:txBody>
      </p:sp>
      <p:cxnSp>
        <p:nvCxnSpPr>
          <p:cNvPr id="520" name="Google Shape;520;p47"/>
          <p:cNvCxnSpPr/>
          <p:nvPr/>
        </p:nvCxnSpPr>
        <p:spPr>
          <a:xfrm>
            <a:off x="495825" y="6613975"/>
            <a:ext cx="3657600" cy="0"/>
          </a:xfrm>
          <a:prstGeom prst="straightConnector1">
            <a:avLst/>
          </a:prstGeom>
          <a:noFill/>
          <a:ln w="19050" cap="flat" cmpd="sng">
            <a:solidFill>
              <a:srgbClr val="000000"/>
            </a:solidFill>
            <a:prstDash val="solid"/>
            <a:round/>
            <a:headEnd type="none" w="med" len="med"/>
            <a:tailEnd type="none" w="med" len="med"/>
          </a:ln>
        </p:spPr>
      </p:cxnSp>
      <p:cxnSp>
        <p:nvCxnSpPr>
          <p:cNvPr id="521" name="Google Shape;521;p47"/>
          <p:cNvCxnSpPr/>
          <p:nvPr/>
        </p:nvCxnSpPr>
        <p:spPr>
          <a:xfrm>
            <a:off x="4972200" y="6613975"/>
            <a:ext cx="3657600" cy="0"/>
          </a:xfrm>
          <a:prstGeom prst="straightConnector1">
            <a:avLst/>
          </a:prstGeom>
          <a:noFill/>
          <a:ln w="19050" cap="flat" cmpd="sng">
            <a:solidFill>
              <a:srgbClr val="000000"/>
            </a:solidFill>
            <a:prstDash val="solid"/>
            <a:round/>
            <a:headEnd type="none" w="med" len="med"/>
            <a:tailEnd type="none" w="med" len="med"/>
          </a:ln>
        </p:spPr>
      </p:cxnSp>
      <p:sp>
        <p:nvSpPr>
          <p:cNvPr id="522" name="Google Shape;522;p47"/>
          <p:cNvSpPr txBox="1"/>
          <p:nvPr/>
        </p:nvSpPr>
        <p:spPr>
          <a:xfrm>
            <a:off x="495838"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23" name="Google Shape;523;p47"/>
          <p:cNvSpPr txBox="1"/>
          <p:nvPr/>
        </p:nvSpPr>
        <p:spPr>
          <a:xfrm>
            <a:off x="4972213"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24" name="Google Shape;524;p47"/>
          <p:cNvSpPr txBox="1"/>
          <p:nvPr/>
        </p:nvSpPr>
        <p:spPr>
          <a:xfrm>
            <a:off x="3581918"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25" name="Google Shape;525;p47"/>
          <p:cNvSpPr txBox="1"/>
          <p:nvPr/>
        </p:nvSpPr>
        <p:spPr>
          <a:xfrm>
            <a:off x="8058293"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26" name="Google Shape;526;p47"/>
          <p:cNvSpPr txBox="1">
            <a:spLocks noGrp="1"/>
          </p:cNvSpPr>
          <p:nvPr>
            <p:ph type="body" idx="1"/>
          </p:nvPr>
        </p:nvSpPr>
        <p:spPr>
          <a:xfrm>
            <a:off x="489950" y="1170432"/>
            <a:ext cx="8181900" cy="16239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150" dirty="0">
                <a:solidFill>
                  <a:srgbClr val="000000"/>
                </a:solidFill>
                <a:latin typeface="Verdana"/>
                <a:ea typeface="Verdana"/>
                <a:cs typeface="Verdana"/>
                <a:sym typeface="Verdana"/>
              </a:rPr>
              <a:t>For the benefit of the client, </a:t>
            </a:r>
            <a:r>
              <a:rPr lang="en" sz="1150" b="1" dirty="0">
                <a:solidFill>
                  <a:srgbClr val="000000"/>
                </a:solidFill>
                <a:latin typeface="Verdana"/>
                <a:ea typeface="Verdana"/>
                <a:cs typeface="Verdana"/>
                <a:sym typeface="Verdana"/>
              </a:rPr>
              <a:t>station </a:t>
            </a:r>
            <a:r>
              <a:rPr lang="en" sz="1150" dirty="0">
                <a:solidFill>
                  <a:srgbClr val="000000"/>
                </a:solidFill>
                <a:latin typeface="Verdana"/>
                <a:ea typeface="Verdana"/>
                <a:cs typeface="Verdana"/>
                <a:sym typeface="Verdana"/>
              </a:rPr>
              <a:t>agrees to develop a marketing strategy to help:</a:t>
            </a:r>
            <a:endParaRPr sz="1150" dirty="0">
              <a:solidFill>
                <a:srgbClr val="000000"/>
              </a:solidFill>
              <a:latin typeface="Verdana"/>
              <a:ea typeface="Verdana"/>
              <a:cs typeface="Verdana"/>
              <a:sym typeface="Verdana"/>
            </a:endParaRPr>
          </a:p>
          <a:p>
            <a:pPr lvl="0">
              <a:lnSpc>
                <a:spcPct val="150000"/>
              </a:lnSpc>
              <a:buClr>
                <a:srgbClr val="000000"/>
              </a:buClr>
              <a:buFont typeface="Verdana"/>
              <a:buAutoNum type="arabicPeriod"/>
            </a:pPr>
            <a:r>
              <a:rPr lang="en-US" dirty="0" err="1">
                <a:solidFill>
                  <a:srgbClr val="000000"/>
                </a:solidFill>
              </a:rPr>
              <a:t>firstRow</a:t>
            </a:r>
            <a:endParaRPr lang="en-US" sz="1150" dirty="0">
              <a:solidFill>
                <a:srgbClr val="000000"/>
              </a:solidFill>
              <a:latin typeface="Verdana"/>
              <a:ea typeface="Verdana"/>
              <a:cs typeface="Verdana"/>
              <a:sym typeface="Verdana"/>
            </a:endParaRPr>
          </a:p>
          <a:p>
            <a:pPr lvl="0">
              <a:lnSpc>
                <a:spcPct val="150000"/>
              </a:lnSpc>
              <a:buClr>
                <a:srgbClr val="000000"/>
              </a:buClr>
              <a:buFont typeface="Verdana"/>
              <a:buAutoNum type="arabicPeriod"/>
            </a:pPr>
            <a:r>
              <a:rPr lang="en-US" dirty="0" err="1">
                <a:solidFill>
                  <a:srgbClr val="000000"/>
                </a:solidFill>
              </a:rPr>
              <a:t>secondRow</a:t>
            </a:r>
            <a:endParaRPr sz="1150" dirty="0">
              <a:solidFill>
                <a:srgbClr val="000000"/>
              </a:solidFill>
              <a:latin typeface="Verdana"/>
              <a:ea typeface="Verdana"/>
              <a:cs typeface="Verdana"/>
              <a:sym typeface="Verdana"/>
            </a:endParaRPr>
          </a:p>
          <a:p>
            <a:pPr lvl="0">
              <a:lnSpc>
                <a:spcPct val="150000"/>
              </a:lnSpc>
              <a:buClr>
                <a:srgbClr val="000000"/>
              </a:buClr>
              <a:buFont typeface="Verdana"/>
              <a:buAutoNum type="arabicPeriod"/>
            </a:pPr>
            <a:r>
              <a:rPr lang="en-US" dirty="0" err="1">
                <a:solidFill>
                  <a:srgbClr val="000000"/>
                </a:solidFill>
              </a:rPr>
              <a:t>thirdRow</a:t>
            </a:r>
            <a:endParaRPr sz="1150" dirty="0">
              <a:solidFill>
                <a:srgbClr val="000000"/>
              </a:solidFill>
              <a:latin typeface="Verdana"/>
              <a:ea typeface="Verdana"/>
              <a:cs typeface="Verdana"/>
              <a:sym typeface="Verdana"/>
            </a:endParaRPr>
          </a:p>
          <a:p>
            <a:pPr marL="0" lvl="0" indent="0" algn="l" rtl="0">
              <a:lnSpc>
                <a:spcPct val="150000"/>
              </a:lnSpc>
              <a:spcBef>
                <a:spcPts val="0"/>
              </a:spcBef>
              <a:spcAft>
                <a:spcPts val="0"/>
              </a:spcAft>
              <a:buNone/>
            </a:pPr>
            <a:r>
              <a:rPr lang="en" sz="1150" dirty="0">
                <a:solidFill>
                  <a:srgbClr val="000000"/>
                </a:solidFill>
                <a:latin typeface="Verdana"/>
                <a:ea typeface="Verdana"/>
                <a:cs typeface="Verdana"/>
                <a:sym typeface="Verdana"/>
              </a:rPr>
              <a:t>In return for fulfilling stated goals </a:t>
            </a:r>
            <a:r>
              <a:rPr lang="en" dirty="0" err="1">
                <a:solidFill>
                  <a:srgbClr val="000000"/>
                </a:solidFill>
              </a:rPr>
              <a:t>clientBusinessName</a:t>
            </a:r>
            <a:r>
              <a:rPr lang="en" sz="1150" dirty="0">
                <a:solidFill>
                  <a:srgbClr val="000000"/>
                </a:solidFill>
                <a:latin typeface="Verdana"/>
                <a:ea typeface="Verdana"/>
                <a:cs typeface="Verdana"/>
                <a:sym typeface="Verdana"/>
              </a:rPr>
              <a:t> agrees to invest in the following long-term plan:</a:t>
            </a:r>
            <a:endParaRPr sz="1150" dirty="0">
              <a:solidFill>
                <a:srgbClr val="000000"/>
              </a:solidFill>
              <a:latin typeface="Verdana"/>
              <a:ea typeface="Verdana"/>
              <a:cs typeface="Verdana"/>
              <a:sym typeface="Verdana"/>
            </a:endParaRPr>
          </a:p>
        </p:txBody>
      </p:sp>
      <p:sp>
        <p:nvSpPr>
          <p:cNvPr id="527" name="Google Shape;527;p47"/>
          <p:cNvSpPr txBox="1">
            <a:spLocks noGrp="1"/>
          </p:cNvSpPr>
          <p:nvPr>
            <p:ph type="body" idx="1"/>
          </p:nvPr>
        </p:nvSpPr>
        <p:spPr>
          <a:xfrm>
            <a:off x="356838" y="4184975"/>
            <a:ext cx="8430300" cy="6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800" b="1">
                <a:solidFill>
                  <a:schemeClr val="dk1"/>
                </a:solidFill>
                <a:latin typeface="Verdana"/>
                <a:ea typeface="Verdana"/>
                <a:cs typeface="Verdana"/>
                <a:sym typeface="Verdana"/>
              </a:rPr>
              <a:t>Client may cancel after 13 weeks from schedule start date with two weeks’ notice and no short rate. This offer is good for 10 business days from the date of presentation. In accordance with Paragraphs 49 and 50 of United States Federal Communications Commission Report and Order No. FCC 07-217, this station will not discriminate in any contract for advertising on the basis of race or ethnicity, and all such contracts will be evaluated, accepted, negotiated and completed without regard to race or ethnicity</a:t>
            </a:r>
            <a:endParaRPr sz="1050" b="1">
              <a:solidFill>
                <a:srgbClr val="000000"/>
              </a:solidFill>
              <a:latin typeface="Verdana"/>
              <a:ea typeface="Verdana"/>
              <a:cs typeface="Verdana"/>
              <a:sym typeface="Verdan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4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Client Policy Agreement</a:t>
            </a:r>
            <a:endParaRPr/>
          </a:p>
        </p:txBody>
      </p:sp>
      <p:sp>
        <p:nvSpPr>
          <p:cNvPr id="534" name="Google Shape;534;p48"/>
          <p:cNvSpPr txBox="1">
            <a:spLocks noGrp="1"/>
          </p:cNvSpPr>
          <p:nvPr>
            <p:ph type="body" idx="1"/>
          </p:nvPr>
        </p:nvSpPr>
        <p:spPr>
          <a:xfrm>
            <a:off x="458400" y="1170425"/>
            <a:ext cx="8227200" cy="1124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800">
                <a:solidFill>
                  <a:srgbClr val="000000"/>
                </a:solidFill>
                <a:latin typeface="Verdana"/>
                <a:ea typeface="Verdana"/>
                <a:cs typeface="Verdana"/>
                <a:sym typeface="Verdana"/>
              </a:rPr>
              <a:t>At station we have an agreement, which we will discuss with all our business partners and review throughout the year</a:t>
            </a:r>
            <a:endParaRPr sz="1800">
              <a:solidFill>
                <a:srgbClr val="000000"/>
              </a:solidFill>
              <a:latin typeface="Verdana"/>
              <a:ea typeface="Verdana"/>
              <a:cs typeface="Verdana"/>
              <a:sym typeface="Verdana"/>
            </a:endParaRPr>
          </a:p>
        </p:txBody>
      </p:sp>
      <p:sp>
        <p:nvSpPr>
          <p:cNvPr id="535" name="Google Shape;535;p48"/>
          <p:cNvSpPr txBox="1">
            <a:spLocks noGrp="1"/>
          </p:cNvSpPr>
          <p:nvPr>
            <p:ph type="body" idx="2"/>
          </p:nvPr>
        </p:nvSpPr>
        <p:spPr>
          <a:xfrm>
            <a:off x="365700" y="2295125"/>
            <a:ext cx="8412600" cy="4205400"/>
          </a:xfrm>
          <a:prstGeom prst="rect">
            <a:avLst/>
          </a:prstGeom>
        </p:spPr>
        <p:txBody>
          <a:bodyPr spcFirstLastPara="1" wrap="square" lIns="91425" tIns="91425" rIns="91425" bIns="91425" anchor="t" anchorCtr="0">
            <a:noAutofit/>
          </a:bodyPr>
          <a:lstStyle/>
          <a:p>
            <a:pPr marL="457200" lvl="0" indent="-301625" algn="l" rtl="0">
              <a:spcBef>
                <a:spcPts val="120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We will conduct a confidential needs analysis (Database) to gain a complete understanding of your business, your market and your stated objectives.  </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supplied with a customized Summary of Conclusions and Recommendations (SCR) that is tailored to help you achieve your business goals.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can be sure that your Marketing Representative will be professional, objective and totally focused on your needs (vs. what’s only in the best interest of the station group).</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offered total production and digital services and once complete, we will provide all creative to you for your final approval before going on-air or on-line.</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The order will be placed as requested and you can expect a duplicate of your submitted broadcast schedules and net figures so that you know all times and costs.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contacted following the first week on air to ensure that everything is running as scheduled.</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provided with the latest qualitative research and will be continuously updated on relevant market information and changes.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can expect an exceptional customer experience including follow-through on all promises made and prompt return phone calls.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While we will be in constant contact, you will be asked to formally evaluate our performance and your results every 3, 6, 9 and 12 months.  </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If any of the above conditions are not met, please contact </a:t>
            </a:r>
            <a:r>
              <a:rPr lang="en" sz="1150" i="1">
                <a:solidFill>
                  <a:schemeClr val="dk1"/>
                </a:solidFill>
              </a:rPr>
              <a:t>portfolioManagerName </a:t>
            </a:r>
            <a:r>
              <a:rPr lang="en" sz="1150">
                <a:solidFill>
                  <a:schemeClr val="dk1"/>
                </a:solidFill>
                <a:latin typeface="Verdana"/>
                <a:ea typeface="Verdana"/>
                <a:cs typeface="Verdana"/>
                <a:sym typeface="Verdana"/>
              </a:rPr>
              <a:t>at +1 (804) 356-7006</a:t>
            </a:r>
            <a:endParaRPr sz="1150">
              <a:solidFill>
                <a:schemeClr val="dk1"/>
              </a:solidFill>
              <a:latin typeface="Verdana"/>
              <a:ea typeface="Verdana"/>
              <a:cs typeface="Verdana"/>
              <a:sym typeface="Verdana"/>
            </a:endParaRPr>
          </a:p>
          <a:p>
            <a:pPr marL="0" lvl="0" indent="0" algn="l" rtl="0">
              <a:spcBef>
                <a:spcPts val="1200"/>
              </a:spcBef>
              <a:spcAft>
                <a:spcPts val="1600"/>
              </a:spcAft>
              <a:buNone/>
            </a:pPr>
            <a:endParaRPr>
              <a:latin typeface="Verdana"/>
              <a:ea typeface="Verdana"/>
              <a:cs typeface="Verdana"/>
              <a:sym typeface="Verdan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49"/>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Sales Service Agreement</a:t>
            </a:r>
            <a:endParaRPr/>
          </a:p>
        </p:txBody>
      </p:sp>
      <p:sp>
        <p:nvSpPr>
          <p:cNvPr id="541" name="Google Shape;541;p49"/>
          <p:cNvSpPr txBox="1">
            <a:spLocks noGrp="1"/>
          </p:cNvSpPr>
          <p:nvPr>
            <p:ph type="body" idx="1"/>
          </p:nvPr>
        </p:nvSpPr>
        <p:spPr>
          <a:xfrm>
            <a:off x="458400" y="1170425"/>
            <a:ext cx="8227200" cy="7875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150" b="1">
                <a:solidFill>
                  <a:srgbClr val="000000"/>
                </a:solidFill>
                <a:latin typeface="Verdana"/>
                <a:ea typeface="Verdana"/>
                <a:cs typeface="Verdana"/>
                <a:sym typeface="Verdana"/>
              </a:rPr>
              <a:t>This Sales Service Agreement is part of our Consumer Satisfaction Index (CSI) which is meant to build and serve long term alliances. Please help me know how well we are servicing you by grading each of the following segments 1 to 5 with 5 being the highest.</a:t>
            </a:r>
            <a:endParaRPr sz="1150" b="1">
              <a:solidFill>
                <a:srgbClr val="000000"/>
              </a:solidFill>
              <a:latin typeface="Verdana"/>
              <a:ea typeface="Verdana"/>
              <a:cs typeface="Verdana"/>
              <a:sym typeface="Verdana"/>
            </a:endParaRPr>
          </a:p>
        </p:txBody>
      </p:sp>
      <p:sp>
        <p:nvSpPr>
          <p:cNvPr id="542" name="Google Shape;542;p49"/>
          <p:cNvSpPr txBox="1">
            <a:spLocks noGrp="1"/>
          </p:cNvSpPr>
          <p:nvPr>
            <p:ph type="body" idx="2"/>
          </p:nvPr>
        </p:nvSpPr>
        <p:spPr>
          <a:xfrm>
            <a:off x="365750" y="2386584"/>
            <a:ext cx="5376600" cy="3621000"/>
          </a:xfrm>
          <a:prstGeom prst="rect">
            <a:avLst/>
          </a:prstGeom>
        </p:spPr>
        <p:txBody>
          <a:bodyPr spcFirstLastPara="1" wrap="square" lIns="91425" tIns="91425" rIns="91425" bIns="91425" anchor="t" anchorCtr="0">
            <a:noAutofit/>
          </a:bodyPr>
          <a:lstStyle/>
          <a:p>
            <a:pPr marL="457200" lvl="0" indent="-301625" algn="l" rtl="0">
              <a:lnSpc>
                <a:spcPct val="100000"/>
              </a:lnSpc>
              <a:spcBef>
                <a:spcPts val="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The Marketing Representative has a full understanding of my business needs, goals and objectives.</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He/she has been in constant contact to make sure that the program is running as planned.</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Statement/Invoice questions have been handled in a timely fashion.</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Client calls have been returned within a reasonable time frame.</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Promises have been kept and commitments have been honored at all times.</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The overall service experience rating I would give my Marketing Representative.</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The marketing program has met my expectations given the time period it has been running.</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1000"/>
              </a:spcAft>
              <a:buClr>
                <a:schemeClr val="dk1"/>
              </a:buClr>
              <a:buSzPts val="1150"/>
              <a:buFont typeface="Verdana"/>
              <a:buChar char="●"/>
            </a:pPr>
            <a:r>
              <a:rPr lang="en" sz="1150">
                <a:solidFill>
                  <a:schemeClr val="dk1"/>
                </a:solidFill>
                <a:latin typeface="Verdana"/>
                <a:ea typeface="Verdana"/>
                <a:cs typeface="Verdana"/>
                <a:sym typeface="Verdana"/>
              </a:rPr>
              <a:t>How likely I would be to recommend someone else to this group.</a:t>
            </a:r>
            <a:endParaRPr sz="1150">
              <a:solidFill>
                <a:schemeClr val="dk1"/>
              </a:solidFill>
              <a:latin typeface="Verdana"/>
              <a:ea typeface="Verdana"/>
              <a:cs typeface="Verdana"/>
              <a:sym typeface="Verdana"/>
            </a:endParaRPr>
          </a:p>
        </p:txBody>
      </p:sp>
      <p:sp>
        <p:nvSpPr>
          <p:cNvPr id="543" name="Google Shape;543;p49"/>
          <p:cNvSpPr txBox="1"/>
          <p:nvPr/>
        </p:nvSpPr>
        <p:spPr>
          <a:xfrm>
            <a:off x="365750" y="1988075"/>
            <a:ext cx="3160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Verdana"/>
                <a:ea typeface="Verdana"/>
                <a:cs typeface="Verdana"/>
                <a:sym typeface="Verdana"/>
              </a:rPr>
              <a:t>CONTINUOUS BASIC SERVICE</a:t>
            </a:r>
            <a:endParaRPr>
              <a:latin typeface="Verdana"/>
              <a:ea typeface="Verdana"/>
              <a:cs typeface="Verdana"/>
              <a:sym typeface="Verdana"/>
            </a:endParaRPr>
          </a:p>
        </p:txBody>
      </p:sp>
      <p:cxnSp>
        <p:nvCxnSpPr>
          <p:cNvPr id="544" name="Google Shape;544;p49"/>
          <p:cNvCxnSpPr/>
          <p:nvPr/>
        </p:nvCxnSpPr>
        <p:spPr>
          <a:xfrm>
            <a:off x="7850825" y="2557450"/>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5" name="Google Shape;545;p49"/>
          <p:cNvCxnSpPr/>
          <p:nvPr/>
        </p:nvCxnSpPr>
        <p:spPr>
          <a:xfrm>
            <a:off x="7850825" y="3020507"/>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6" name="Google Shape;546;p49"/>
          <p:cNvCxnSpPr/>
          <p:nvPr/>
        </p:nvCxnSpPr>
        <p:spPr>
          <a:xfrm>
            <a:off x="7850825" y="3483564"/>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7" name="Google Shape;547;p49"/>
          <p:cNvCxnSpPr/>
          <p:nvPr/>
        </p:nvCxnSpPr>
        <p:spPr>
          <a:xfrm>
            <a:off x="7850825" y="3946622"/>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8" name="Google Shape;548;p49"/>
          <p:cNvCxnSpPr/>
          <p:nvPr/>
        </p:nvCxnSpPr>
        <p:spPr>
          <a:xfrm>
            <a:off x="7850825" y="4409679"/>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9" name="Google Shape;549;p49"/>
          <p:cNvCxnSpPr/>
          <p:nvPr/>
        </p:nvCxnSpPr>
        <p:spPr>
          <a:xfrm>
            <a:off x="7850825" y="4872736"/>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50" name="Google Shape;550;p49"/>
          <p:cNvCxnSpPr/>
          <p:nvPr/>
        </p:nvCxnSpPr>
        <p:spPr>
          <a:xfrm>
            <a:off x="7850825" y="5335793"/>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51" name="Google Shape;551;p49"/>
          <p:cNvCxnSpPr/>
          <p:nvPr/>
        </p:nvCxnSpPr>
        <p:spPr>
          <a:xfrm>
            <a:off x="7850825" y="5837400"/>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52" name="Google Shape;552;p49"/>
          <p:cNvCxnSpPr/>
          <p:nvPr/>
        </p:nvCxnSpPr>
        <p:spPr>
          <a:xfrm>
            <a:off x="505000" y="6408575"/>
            <a:ext cx="3657600" cy="0"/>
          </a:xfrm>
          <a:prstGeom prst="straightConnector1">
            <a:avLst/>
          </a:prstGeom>
          <a:noFill/>
          <a:ln w="19050" cap="flat" cmpd="sng">
            <a:solidFill>
              <a:srgbClr val="000000"/>
            </a:solidFill>
            <a:prstDash val="solid"/>
            <a:round/>
            <a:headEnd type="none" w="med" len="med"/>
            <a:tailEnd type="none" w="med" len="med"/>
          </a:ln>
        </p:spPr>
      </p:cxnSp>
      <p:cxnSp>
        <p:nvCxnSpPr>
          <p:cNvPr id="553" name="Google Shape;553;p49"/>
          <p:cNvCxnSpPr/>
          <p:nvPr/>
        </p:nvCxnSpPr>
        <p:spPr>
          <a:xfrm>
            <a:off x="4981375" y="6408575"/>
            <a:ext cx="3657600" cy="0"/>
          </a:xfrm>
          <a:prstGeom prst="straightConnector1">
            <a:avLst/>
          </a:prstGeom>
          <a:noFill/>
          <a:ln w="19050" cap="flat" cmpd="sng">
            <a:solidFill>
              <a:srgbClr val="000000"/>
            </a:solidFill>
            <a:prstDash val="solid"/>
            <a:round/>
            <a:headEnd type="none" w="med" len="med"/>
            <a:tailEnd type="none" w="med" len="med"/>
          </a:ln>
        </p:spPr>
      </p:cxnSp>
      <p:sp>
        <p:nvSpPr>
          <p:cNvPr id="554" name="Google Shape;554;p49"/>
          <p:cNvSpPr txBox="1"/>
          <p:nvPr/>
        </p:nvSpPr>
        <p:spPr>
          <a:xfrm>
            <a:off x="505025" y="6339000"/>
            <a:ext cx="18009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Signed by Integrated Marketing Consultant</a:t>
            </a:r>
            <a:endParaRPr sz="1150">
              <a:latin typeface="Verdana"/>
              <a:ea typeface="Verdana"/>
              <a:cs typeface="Verdana"/>
              <a:sym typeface="Verdana"/>
            </a:endParaRPr>
          </a:p>
        </p:txBody>
      </p:sp>
      <p:sp>
        <p:nvSpPr>
          <p:cNvPr id="555" name="Google Shape;555;p49"/>
          <p:cNvSpPr txBox="1"/>
          <p:nvPr/>
        </p:nvSpPr>
        <p:spPr>
          <a:xfrm>
            <a:off x="4981400" y="6339000"/>
            <a:ext cx="14790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Signed by Client</a:t>
            </a:r>
            <a:endParaRPr sz="1150">
              <a:latin typeface="Verdana"/>
              <a:ea typeface="Verdana"/>
              <a:cs typeface="Verdana"/>
              <a:sym typeface="Verdana"/>
            </a:endParaRPr>
          </a:p>
        </p:txBody>
      </p:sp>
      <p:sp>
        <p:nvSpPr>
          <p:cNvPr id="556" name="Google Shape;556;p49"/>
          <p:cNvSpPr txBox="1"/>
          <p:nvPr/>
        </p:nvSpPr>
        <p:spPr>
          <a:xfrm>
            <a:off x="3591093" y="63390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57" name="Google Shape;557;p49"/>
          <p:cNvSpPr txBox="1"/>
          <p:nvPr/>
        </p:nvSpPr>
        <p:spPr>
          <a:xfrm>
            <a:off x="8067468" y="63390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43549</TotalTime>
  <Words>28483</Words>
  <Application>Microsoft Macintosh PowerPoint</Application>
  <PresentationFormat>Custom</PresentationFormat>
  <Paragraphs>1816</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Verdana</vt:lpstr>
      <vt:lpstr>Simple Light</vt:lpstr>
      <vt:lpstr>PowerPoint Presentation</vt:lpstr>
      <vt:lpstr>Team Commitment</vt:lpstr>
      <vt:lpstr>Marketplace Competition</vt:lpstr>
      <vt:lpstr>Strategic Marketing I12</vt:lpstr>
      <vt:lpstr>Strategic Marketing II</vt:lpstr>
      <vt:lpstr>Target Marketing</vt:lpstr>
      <vt:lpstr>Target Marketing</vt:lpstr>
      <vt:lpstr>Target Marketing</vt:lpstr>
      <vt:lpstr>Target Marketing</vt:lpstr>
      <vt:lpstr>Target Marketing</vt:lpstr>
      <vt:lpstr>Recommended Reallocation of  Total Advertising Investment (TAI)</vt:lpstr>
      <vt:lpstr>PowerPoint Presentation</vt:lpstr>
      <vt:lpstr>PowerPoint Presentation</vt:lpstr>
      <vt:lpstr>Profile of Consumers</vt:lpstr>
      <vt:lpstr>Marketing Strategies</vt:lpstr>
      <vt:lpstr>Creative Concepts I</vt:lpstr>
      <vt:lpstr>Creative Concepts II</vt:lpstr>
      <vt:lpstr>Digital Marketing Strategies</vt:lpstr>
      <vt:lpstr>Long Range Strategic Plans</vt:lpstr>
      <vt:lpstr>Advantages to Long-Range Strategic Planning</vt:lpstr>
      <vt:lpstr>Proposed Schedule Plan A</vt:lpstr>
      <vt:lpstr>Proposed Schedule - Plan A</vt:lpstr>
      <vt:lpstr>Proposed Schedule - Plan A</vt:lpstr>
      <vt:lpstr>Break Even Analysis - Plan A</vt:lpstr>
      <vt:lpstr>Lifetime Value Analysis - Plan A</vt:lpstr>
      <vt:lpstr>Digital ROI Calculator - Plan A</vt:lpstr>
      <vt:lpstr>Proposed Schedule - Plan B</vt:lpstr>
      <vt:lpstr>Proposed Schedule - Plan B</vt:lpstr>
      <vt:lpstr>Proposed Schedule - Plan BT</vt:lpstr>
      <vt:lpstr>Proposed Schedule - Plan B</vt:lpstr>
      <vt:lpstr>Break Even Analysis - Plan B</vt:lpstr>
      <vt:lpstr>Lifetime Value Analysis - Plan B</vt:lpstr>
      <vt:lpstr>Digital ROI Calculator - Plan B</vt:lpstr>
      <vt:lpstr>Plan A</vt:lpstr>
      <vt:lpstr>Plan B</vt:lpstr>
      <vt:lpstr>Client Policy Agreement</vt:lpstr>
      <vt:lpstr>Sales Service Agreement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andrew hinton</cp:lastModifiedBy>
  <cp:revision>64</cp:revision>
  <dcterms:modified xsi:type="dcterms:W3CDTF">2026-06-14T22:26:48Z</dcterms:modified>
</cp:coreProperties>
</file>