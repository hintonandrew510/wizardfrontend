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5" r:id="rId34"/>
    <p:sldId id="289" r:id="rId35"/>
    <p:sldId id="296" r:id="rId36"/>
    <p:sldId id="298" r:id="rId37"/>
    <p:sldId id="297" r:id="rId38"/>
    <p:sldId id="291" r:id="rId39"/>
    <p:sldId id="292" r:id="rId40"/>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3029"/>
    <p:restoredTop sz="94565"/>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1" dt="2026-01-03T21:58:52.260" idx="2">
    <p:pos x="10" y="10"/>
    <p:text/>
    <p:extLst>
      <p:ext uri="{C676402C-5697-4E1C-873F-D02D1690AC5C}">
        <p15:threadingInfo xmlns:p15="http://schemas.microsoft.com/office/powerpoint/2012/main" timeZoneBias="300"/>
      </p:ext>
    </p:extLst>
  </p:cm>
  <p:cm authorId="0" dt="2026-01-03T21:15:26.536" idx="1">
    <p:pos x="6000" y="0"/>
    <p:text>OnePresentedToSlide
</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a:extLst>
            <a:ext uri="{FF2B5EF4-FFF2-40B4-BE49-F238E27FC236}">
              <a16:creationId xmlns:a16="http://schemas.microsoft.com/office/drawing/2014/main" id="{DCDE17CC-B2B0-D5FF-5846-5902BFA07128}"/>
            </a:ext>
          </a:extLst>
        </p:cNvPr>
        <p:cNvGrpSpPr/>
        <p:nvPr/>
      </p:nvGrpSpPr>
      <p:grpSpPr>
        <a:xfrm>
          <a:off x="0" y="0"/>
          <a:ext cx="0" cy="0"/>
          <a:chOff x="0" y="0"/>
          <a:chExt cx="0" cy="0"/>
        </a:xfrm>
      </p:grpSpPr>
      <p:sp>
        <p:nvSpPr>
          <p:cNvPr id="437" name="Google Shape;437;gbb579c7b11_0_24:notes">
            <a:extLst>
              <a:ext uri="{FF2B5EF4-FFF2-40B4-BE49-F238E27FC236}">
                <a16:creationId xmlns:a16="http://schemas.microsoft.com/office/drawing/2014/main" id="{857C8FD5-537A-70BA-58F9-A757D14B93CB}"/>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a:extLst>
              <a:ext uri="{FF2B5EF4-FFF2-40B4-BE49-F238E27FC236}">
                <a16:creationId xmlns:a16="http://schemas.microsoft.com/office/drawing/2014/main" id="{22E77D2B-B914-8777-5769-D526C711F5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2150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a:extLst>
            <a:ext uri="{FF2B5EF4-FFF2-40B4-BE49-F238E27FC236}">
              <a16:creationId xmlns:a16="http://schemas.microsoft.com/office/drawing/2014/main" id="{EB56E276-B548-03E2-7AC9-12F8FE6FB212}"/>
            </a:ext>
          </a:extLst>
        </p:cNvPr>
        <p:cNvGrpSpPr/>
        <p:nvPr/>
      </p:nvGrpSpPr>
      <p:grpSpPr>
        <a:xfrm>
          <a:off x="0" y="0"/>
          <a:ext cx="0" cy="0"/>
          <a:chOff x="0" y="0"/>
          <a:chExt cx="0" cy="0"/>
        </a:xfrm>
      </p:grpSpPr>
      <p:sp>
        <p:nvSpPr>
          <p:cNvPr id="494" name="Google Shape;494;gba229fc496_0_149:notes">
            <a:extLst>
              <a:ext uri="{FF2B5EF4-FFF2-40B4-BE49-F238E27FC236}">
                <a16:creationId xmlns:a16="http://schemas.microsoft.com/office/drawing/2014/main" id="{BB5048CA-CAF4-E6C1-B7F5-F74EC54717F0}"/>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a:extLst>
              <a:ext uri="{FF2B5EF4-FFF2-40B4-BE49-F238E27FC236}">
                <a16:creationId xmlns:a16="http://schemas.microsoft.com/office/drawing/2014/main" id="{E6F5CE85-8AE3-680B-A5D6-047CA5D66D3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4790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a:extLst>
            <a:ext uri="{FF2B5EF4-FFF2-40B4-BE49-F238E27FC236}">
              <a16:creationId xmlns:a16="http://schemas.microsoft.com/office/drawing/2014/main" id="{80DBF80E-0DFF-1C77-BFF8-D6310A392AE8}"/>
            </a:ext>
          </a:extLst>
        </p:cNvPr>
        <p:cNvGrpSpPr/>
        <p:nvPr/>
      </p:nvGrpSpPr>
      <p:grpSpPr>
        <a:xfrm>
          <a:off x="0" y="0"/>
          <a:ext cx="0" cy="0"/>
          <a:chOff x="0" y="0"/>
          <a:chExt cx="0" cy="0"/>
        </a:xfrm>
      </p:grpSpPr>
      <p:sp>
        <p:nvSpPr>
          <p:cNvPr id="512" name="Google Shape;512;gd43bcde7a4_0_142:notes">
            <a:extLst>
              <a:ext uri="{FF2B5EF4-FFF2-40B4-BE49-F238E27FC236}">
                <a16:creationId xmlns:a16="http://schemas.microsoft.com/office/drawing/2014/main" id="{3E8F198A-143E-59CC-37E8-6B97F5D5D29D}"/>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a:extLst>
              <a:ext uri="{FF2B5EF4-FFF2-40B4-BE49-F238E27FC236}">
                <a16:creationId xmlns:a16="http://schemas.microsoft.com/office/drawing/2014/main" id="{AB6FF621-BD78-07AE-D954-C77787708C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3600508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a:extLst>
            <a:ext uri="{FF2B5EF4-FFF2-40B4-BE49-F238E27FC236}">
              <a16:creationId xmlns:a16="http://schemas.microsoft.com/office/drawing/2014/main" id="{124AABA0-5E2B-1727-FCF0-90D395B6D101}"/>
            </a:ext>
          </a:extLst>
        </p:cNvPr>
        <p:cNvGrpSpPr/>
        <p:nvPr/>
      </p:nvGrpSpPr>
      <p:grpSpPr>
        <a:xfrm>
          <a:off x="0" y="0"/>
          <a:ext cx="0" cy="0"/>
          <a:chOff x="0" y="0"/>
          <a:chExt cx="0" cy="0"/>
        </a:xfrm>
      </p:grpSpPr>
      <p:sp>
        <p:nvSpPr>
          <p:cNvPr id="494" name="Google Shape;494;gba229fc496_0_149:notes">
            <a:extLst>
              <a:ext uri="{FF2B5EF4-FFF2-40B4-BE49-F238E27FC236}">
                <a16:creationId xmlns:a16="http://schemas.microsoft.com/office/drawing/2014/main" id="{68904835-DCAD-D72A-8B35-E925120DC151}"/>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a:extLst>
              <a:ext uri="{FF2B5EF4-FFF2-40B4-BE49-F238E27FC236}">
                <a16:creationId xmlns:a16="http://schemas.microsoft.com/office/drawing/2014/main" id="{3CB8E6BD-7A59-8BCF-F057-9249565A7C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280334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600" dirty="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600" dirty="0">
              <a:solidFill>
                <a:srgbClr val="000000"/>
              </a:solidFill>
              <a:latin typeface="Verdana"/>
              <a:ea typeface="Verdana"/>
              <a:cs typeface="Verdana"/>
              <a:sym typeface="Verdana"/>
            </a:endParaRPr>
          </a:p>
          <a:p>
            <a:pPr marL="0" lvl="0" indent="0" algn="l" rtl="0">
              <a:spcBef>
                <a:spcPts val="0"/>
              </a:spcBef>
              <a:spcAft>
                <a:spcPts val="1600"/>
              </a:spcAft>
              <a:buNone/>
            </a:pPr>
            <a:endParaRPr sz="1150" dirty="0">
              <a:solidFill>
                <a:srgbClr val="000000"/>
              </a:solidFill>
              <a:latin typeface="Verdana"/>
              <a:ea typeface="Verdana"/>
              <a:cs typeface="Verdana"/>
              <a:sym typeface="Verdana"/>
            </a:endParaRPr>
          </a:p>
        </p:txBody>
      </p:sp>
      <p:sp>
        <p:nvSpPr>
          <p:cNvPr id="78" name="Google Shape;78;p14"/>
          <p:cNvSpPr txBox="1"/>
          <p:nvPr/>
        </p:nvSpPr>
        <p:spPr>
          <a:xfrm>
            <a:off x="899926" y="1321690"/>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dirty="0">
                <a:latin typeface="Verdana"/>
                <a:ea typeface="Verdana"/>
                <a:cs typeface="Verdana"/>
                <a:sym typeface="Verdana"/>
              </a:rPr>
              <a:t>The following proposal will be submitted to</a:t>
            </a:r>
            <a:endParaRPr sz="1800" b="1" dirty="0">
              <a:latin typeface="Verdana"/>
              <a:ea typeface="Verdana"/>
              <a:cs typeface="Verdana"/>
              <a:sym typeface="Verdana"/>
            </a:endParaRPr>
          </a:p>
          <a:p>
            <a:pPr marL="0" lvl="0" indent="0" algn="ctr" rtl="0">
              <a:spcBef>
                <a:spcPts val="0"/>
              </a:spcBef>
              <a:spcAft>
                <a:spcPts val="0"/>
              </a:spcAft>
              <a:buNone/>
            </a:pPr>
            <a:r>
              <a:rPr lang="en" sz="1800" b="1" dirty="0" err="1">
                <a:latin typeface="Verdana"/>
                <a:ea typeface="Verdana"/>
                <a:cs typeface="Verdana"/>
                <a:sym typeface="Verdana"/>
              </a:rPr>
              <a:t>clientBusinessName</a:t>
            </a:r>
            <a:endParaRPr sz="180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600" dirty="0" err="1">
                <a:solidFill>
                  <a:srgbClr val="000000"/>
                </a:solidFill>
                <a:latin typeface="Verdana"/>
                <a:ea typeface="Verdana"/>
                <a:cs typeface="Verdana"/>
                <a:sym typeface="Verdana"/>
              </a:rPr>
              <a:t>topLevelTitle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secondLevelTitle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thirdLevelTitle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rgbClr val="000000"/>
                </a:solidFill>
                <a:latin typeface="Verdana"/>
                <a:ea typeface="Verdana"/>
                <a:cs typeface="Verdana"/>
                <a:sym typeface="Verdana"/>
              </a:rPr>
              <a:t>fourthLevelTitle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dirty="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600" dirty="0" err="1">
                <a:solidFill>
                  <a:schemeClr val="dk1"/>
                </a:solidFill>
              </a:rPr>
              <a:t>topLevelName</a:t>
            </a:r>
            <a:r>
              <a:rPr lang="en" sz="1600" dirty="0">
                <a:solidFill>
                  <a:schemeClr val="dk1"/>
                </a:solidFill>
              </a:rPr>
              <a:t> </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secondLevelName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thirdLevelName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fourthLevelName</a:t>
            </a:r>
            <a:endParaRPr sz="1600" dirty="0">
              <a:solidFill>
                <a:schemeClr val="dk1"/>
              </a:solidFill>
            </a:endParaRPr>
          </a:p>
          <a:p>
            <a:pPr marL="0" lvl="0" indent="0" algn="l" rtl="0">
              <a:spcBef>
                <a:spcPts val="1600"/>
              </a:spcBef>
              <a:spcAft>
                <a:spcPts val="0"/>
              </a:spcAft>
              <a:buClr>
                <a:schemeClr val="dk1"/>
              </a:buClr>
              <a:buSzPts val="1100"/>
              <a:buFont typeface="Arial"/>
              <a:buNone/>
            </a:pPr>
            <a:endParaRPr sz="1250" dirty="0">
              <a:solidFill>
                <a:schemeClr val="dk1"/>
              </a:solidFill>
            </a:endParaRPr>
          </a:p>
          <a:p>
            <a:pPr marL="0" lvl="0" indent="0" algn="ctr" rtl="0">
              <a:lnSpc>
                <a:spcPct val="200000"/>
              </a:lnSpc>
              <a:spcBef>
                <a:spcPts val="1200"/>
              </a:spcBef>
              <a:spcAft>
                <a:spcPts val="1600"/>
              </a:spcAft>
              <a:buNone/>
            </a:pPr>
            <a:endParaRPr sz="125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760855"/>
            <a:ext cx="8227200" cy="258996"/>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3. </a:t>
            </a:r>
            <a:r>
              <a:rPr lang="en" sz="1150" b="1" dirty="0">
                <a:solidFill>
                  <a:srgbClr val="000000"/>
                </a:solidFill>
                <a:latin typeface="Verdana"/>
                <a:ea typeface="Verdana"/>
                <a:cs typeface="Verdana"/>
                <a:sym typeface="Verdana"/>
              </a:rPr>
              <a:t>What are the biggest misconceptions consumers have about </a:t>
            </a:r>
            <a:r>
              <a:rPr lang="en" b="1" dirty="0">
                <a:solidFill>
                  <a:srgbClr val="000000"/>
                </a:solidFill>
              </a:rPr>
              <a:t>your </a:t>
            </a:r>
            <a:r>
              <a:rPr lang="en" sz="1150" b="1" dirty="0">
                <a:solidFill>
                  <a:srgbClr val="000000"/>
                </a:solidFill>
                <a:latin typeface="Verdana"/>
                <a:ea typeface="Verdana"/>
                <a:cs typeface="Verdana"/>
                <a:sym typeface="Verdana"/>
              </a:rPr>
              <a:t>business?</a:t>
            </a:r>
            <a:endParaRPr sz="1150" b="1" dirty="0">
              <a:solidFill>
                <a:srgbClr val="000000"/>
              </a:solidFill>
              <a:latin typeface="Verdana"/>
              <a:ea typeface="Verdana"/>
              <a:cs typeface="Verdana"/>
              <a:sym typeface="Verdana"/>
            </a:endParaRPr>
          </a:p>
        </p:txBody>
      </p:sp>
      <p:sp>
        <p:nvSpPr>
          <p:cNvPr id="107" name="Google Shape;107;p15"/>
          <p:cNvSpPr txBox="1"/>
          <p:nvPr/>
        </p:nvSpPr>
        <p:spPr>
          <a:xfrm>
            <a:off x="594350" y="6129446"/>
            <a:ext cx="8148900" cy="710265"/>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100" dirty="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Strategic Marketing I</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dirty="0">
                <a:solidFill>
                  <a:schemeClr val="dk1"/>
                </a:solidFill>
              </a:rPr>
              <a:t>4. If you had the power to improve three things in your marketing, what would they be in order?</a:t>
            </a:r>
            <a:endParaRPr b="1" dirty="0">
              <a:solidFill>
                <a:schemeClr val="dk1"/>
              </a:solidFill>
            </a:endParaRPr>
          </a:p>
          <a:p>
            <a:pPr marL="0" lvl="0" indent="0" algn="l" rtl="0">
              <a:spcBef>
                <a:spcPts val="1600"/>
              </a:spcBef>
              <a:spcAft>
                <a:spcPts val="0"/>
              </a:spcAft>
              <a:buNone/>
            </a:pPr>
            <a:endParaRPr b="1" dirty="0">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880422"/>
            <a:ext cx="8227200" cy="273622"/>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5. What are your most distinctive selling advantages?</a:t>
            </a:r>
            <a:endParaRPr sz="1150" b="1" dirty="0">
              <a:solidFill>
                <a:srgbClr val="000000"/>
              </a:solidFill>
              <a:latin typeface="Verdana"/>
              <a:ea typeface="Verdana"/>
              <a:cs typeface="Verdana"/>
              <a:sym typeface="Verdana"/>
            </a:endParaRPr>
          </a:p>
        </p:txBody>
      </p:sp>
      <p:sp>
        <p:nvSpPr>
          <p:cNvPr id="123" name="Google Shape;123;p16"/>
          <p:cNvSpPr txBox="1"/>
          <p:nvPr/>
        </p:nvSpPr>
        <p:spPr>
          <a:xfrm>
            <a:off x="594360" y="6157295"/>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250323740"/>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1042216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1076108912"/>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3348395380"/>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988836849"/>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err="1">
                <a:solidFill>
                  <a:schemeClr val="dk1"/>
                </a:solidFill>
                <a:latin typeface="Verdana"/>
                <a:ea typeface="Verdana"/>
                <a:cs typeface="Verdana"/>
                <a:sym typeface="Verdana"/>
              </a:rPr>
              <a:t>planToExpand</a:t>
            </a:r>
            <a:r>
              <a:rPr lang="en" sz="1150" dirty="0">
                <a:solidFill>
                  <a:schemeClr val="dk1"/>
                </a:solidFill>
                <a:latin typeface="Verdana"/>
                <a:ea typeface="Verdana"/>
                <a:cs typeface="Verdana"/>
                <a:sym typeface="Verdana"/>
              </a:rPr>
              <a:t> </a:t>
            </a:r>
            <a:endParaRPr dirty="0"/>
          </a:p>
        </p:txBody>
      </p:sp>
      <p:sp>
        <p:nvSpPr>
          <p:cNvPr id="140" name="Google Shape;140;p17"/>
          <p:cNvSpPr txBox="1"/>
          <p:nvPr/>
        </p:nvSpPr>
        <p:spPr>
          <a:xfrm>
            <a:off x="694944" y="3891179"/>
            <a:ext cx="8031706" cy="52186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compliments</a:t>
            </a:r>
            <a:endParaRPr sz="1150" dirty="0">
              <a:latin typeface="Verdana"/>
              <a:ea typeface="Verdana"/>
              <a:cs typeface="Verdana"/>
              <a:sym typeface="Verdana"/>
            </a:endParaRPr>
          </a:p>
        </p:txBody>
      </p:sp>
      <p:sp>
        <p:nvSpPr>
          <p:cNvPr id="141" name="Google Shape;141;p17"/>
          <p:cNvSpPr txBox="1"/>
          <p:nvPr/>
        </p:nvSpPr>
        <p:spPr>
          <a:xfrm>
            <a:off x="402325" y="5191607"/>
            <a:ext cx="3538800" cy="748343"/>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b="1" dirty="0">
                <a:solidFill>
                  <a:schemeClr val="dk1"/>
                </a:solidFill>
                <a:latin typeface="Verdana"/>
                <a:ea typeface="Verdana"/>
                <a:cs typeface="Verdana"/>
                <a:sym typeface="Verdana"/>
              </a:rPr>
              <a:t>9. What are your digital marketing strategies? What are your goals and measures of success?</a:t>
            </a:r>
            <a:endParaRPr sz="900" b="1" dirty="0">
              <a:latin typeface="Verdana"/>
              <a:ea typeface="Verdana"/>
              <a:cs typeface="Verdana"/>
              <a:sym typeface="Verdana"/>
            </a:endParaRPr>
          </a:p>
        </p:txBody>
      </p:sp>
      <p:sp>
        <p:nvSpPr>
          <p:cNvPr id="142" name="Google Shape;142;p17"/>
          <p:cNvSpPr txBox="1"/>
          <p:nvPr/>
        </p:nvSpPr>
        <p:spPr>
          <a:xfrm>
            <a:off x="4736600" y="4945297"/>
            <a:ext cx="4200000" cy="994654"/>
          </a:xfrm>
          <a:prstGeom prst="rect">
            <a:avLst/>
          </a:prstGeom>
          <a:noFill/>
          <a:ln>
            <a:noFill/>
          </a:ln>
        </p:spPr>
        <p:txBody>
          <a:bodyPr spcFirstLastPara="1" wrap="square" lIns="91425" tIns="91425" rIns="91425" bIns="91425" anchor="ctr" anchorCtr="0">
            <a:noAutofit/>
          </a:bodyPr>
          <a:lstStyle/>
          <a:p>
            <a:pPr lvl="0"/>
            <a:r>
              <a:rPr lang="en" sz="900" b="1" dirty="0">
                <a:solidFill>
                  <a:schemeClr val="dk1"/>
                </a:solidFill>
                <a:latin typeface="Verdana"/>
                <a:ea typeface="Verdana"/>
                <a:cs typeface="Verdana"/>
                <a:sym typeface="Verdana"/>
              </a:rPr>
              <a:t>10. </a:t>
            </a:r>
            <a:r>
              <a:rPr lang="en-US" sz="900" b="1" dirty="0">
                <a:solidFill>
                  <a:schemeClr val="dk1"/>
                </a:solidFill>
                <a:latin typeface="Verdana"/>
                <a:ea typeface="Verdana"/>
                <a:cs typeface="Verdana"/>
                <a:sym typeface="Verdana"/>
              </a:rPr>
              <a:t>How are you approaching audiences within your digital advertising channels (e.g. location</a:t>
            </a:r>
          </a:p>
          <a:p>
            <a:pPr lvl="0"/>
            <a:r>
              <a:rPr lang="en-US" sz="900" b="1" dirty="0">
                <a:solidFill>
                  <a:schemeClr val="dk1"/>
                </a:solidFill>
                <a:latin typeface="Verdana"/>
                <a:ea typeface="Verdana"/>
                <a:cs typeface="Verdana"/>
                <a:sym typeface="Verdana"/>
              </a:rPr>
              <a:t>visitation, first-party audience, lookalike modeling, website retargeting, etc.)? (also keeping on three lines in the PowerPoint).</a:t>
            </a:r>
            <a:endParaRPr sz="900" b="1" dirty="0">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859256"/>
            <a:ext cx="8229600" cy="57215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complaint</a:t>
            </a:r>
            <a:endParaRPr sz="1150" dirty="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684013" y="6245352"/>
            <a:ext cx="2419649" cy="594360"/>
          </a:xfrm>
          <a:prstGeom prst="rect">
            <a:avLst/>
          </a:prstGeom>
        </p:spPr>
        <p:txBody>
          <a:bodyPr spcFirstLastPara="1" wrap="square" lIns="91425" tIns="91425" rIns="91425" bIns="91425" anchor="t" anchorCtr="0">
            <a:noAutofit/>
          </a:bodyPr>
          <a:lstStyle/>
          <a:p>
            <a:pPr marL="0" lvl="0" indent="0" algn="ctr">
              <a:spcAft>
                <a:spcPts val="1600"/>
              </a:spcAft>
              <a:buNone/>
            </a:pPr>
            <a:r>
              <a:rPr lang="en" sz="1150" b="1" dirty="0">
                <a:solidFill>
                  <a:srgbClr val="000000"/>
                </a:solidFill>
                <a:latin typeface="Verdana"/>
                <a:ea typeface="Verdana"/>
                <a:cs typeface="Verdana"/>
                <a:sym typeface="Verdana"/>
              </a:rPr>
              <a:t>Adv % of Gross Sales </a:t>
            </a:r>
            <a:r>
              <a:rPr lang="en" sz="800" b="1" dirty="0">
                <a:solidFill>
                  <a:srgbClr val="000000"/>
                </a:solidFill>
                <a:latin typeface="Verdana"/>
                <a:ea typeface="Verdana"/>
                <a:cs typeface="Verdana"/>
                <a:sym typeface="Verdana"/>
              </a:rPr>
              <a:t>(</a:t>
            </a:r>
            <a:r>
              <a:rPr lang="en-US" sz="800" dirty="0">
                <a:solidFill>
                  <a:srgbClr val="FF0000"/>
                </a:solidFill>
              </a:rPr>
              <a:t>using industry average or if not known the</a:t>
            </a:r>
            <a:r>
              <a:rPr lang="en-US" sz="800" dirty="0"/>
              <a:t> </a:t>
            </a:r>
            <a:r>
              <a:rPr lang="en-US" sz="800" dirty="0">
                <a:solidFill>
                  <a:srgbClr val="FF0000"/>
                </a:solidFill>
              </a:rPr>
              <a:t>current Adv % </a:t>
            </a:r>
            <a:r>
              <a:rPr lang="en-US" dirty="0">
                <a:solidFill>
                  <a:srgbClr val="FF0000"/>
                </a:solidFill>
              </a:rPr>
              <a:t>of </a:t>
            </a:r>
            <a:r>
              <a:rPr lang="en-US" sz="800" dirty="0">
                <a:solidFill>
                  <a:srgbClr val="FF0000"/>
                </a:solidFill>
              </a:rPr>
              <a:t>gross sales)</a:t>
            </a:r>
            <a:endParaRPr lang="en" sz="800" b="1" dirty="0">
              <a:solidFill>
                <a:srgbClr val="FF0000"/>
              </a:solidFill>
              <a:latin typeface="Verdana"/>
              <a:ea typeface="Verdana"/>
              <a:cs typeface="Verdana"/>
              <a:sym typeface="Verdana"/>
            </a:endParaRPr>
          </a:p>
          <a:p>
            <a:pPr marL="0" lvl="0" indent="0" algn="ctr" rtl="0">
              <a:lnSpc>
                <a:spcPct val="100000"/>
              </a:lnSpc>
              <a:spcBef>
                <a:spcPts val="0"/>
              </a:spcBef>
              <a:spcAft>
                <a:spcPts val="1600"/>
              </a:spcAft>
              <a:buNone/>
            </a:pPr>
            <a:endParaRPr sz="1150" b="1" dirty="0">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dirty="0" err="1">
                <a:solidFill>
                  <a:schemeClr val="dk1"/>
                </a:solidFill>
                <a:latin typeface="Verdana"/>
                <a:ea typeface="Verdana"/>
                <a:cs typeface="Verdana"/>
                <a:sym typeface="Verdana"/>
              </a:rPr>
              <a:t>pctGrossSales</a:t>
            </a:r>
            <a:endParaRPr sz="1150" dirty="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lvl="0" algn="ctr"/>
            <a:r>
              <a:rPr lang="en" sz="1550" b="1" dirty="0">
                <a:solidFill>
                  <a:schemeClr val="dk1"/>
                </a:solidFill>
                <a:latin typeface="Verdana"/>
                <a:ea typeface="Verdana"/>
                <a:cs typeface="Verdana"/>
                <a:sym typeface="Verdana"/>
              </a:rPr>
              <a:t>Total Advertising Investment (TAI): </a:t>
            </a:r>
            <a:r>
              <a:rPr lang="en-US" sz="1550" b="1" dirty="0" err="1">
                <a:solidFill>
                  <a:schemeClr val="dk1"/>
                </a:solidFill>
                <a:latin typeface="Verdana"/>
                <a:ea typeface="Verdana"/>
                <a:cs typeface="Verdana"/>
                <a:sym typeface="Verdana"/>
              </a:rPr>
              <a:t>totalAdvertisingInvestment</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lvl="0" algn="ctr"/>
            <a:r>
              <a:rPr lang="en" sz="1550" b="1" dirty="0">
                <a:solidFill>
                  <a:schemeClr val="dk1"/>
                </a:solidFill>
                <a:latin typeface="Verdana"/>
                <a:ea typeface="Verdana"/>
                <a:cs typeface="Verdana"/>
                <a:sym typeface="Verdana"/>
              </a:rPr>
              <a:t>Total Advertising Investment (TAI): </a:t>
            </a:r>
            <a:r>
              <a:rPr lang="en-US" sz="1550" b="1" dirty="0" err="1">
                <a:solidFill>
                  <a:schemeClr val="dk1"/>
                </a:solidFill>
                <a:latin typeface="Verdana"/>
                <a:ea typeface="Verdana"/>
                <a:cs typeface="Verdana"/>
                <a:sym typeface="Verdana"/>
              </a:rPr>
              <a:t>totalAdvertisingInvestment</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lvl="0"/>
            <a:r>
              <a:rPr lang="en" dirty="0"/>
              <a:t>Creative Concepts I</a:t>
            </a:r>
            <a:endParaRPr dirty="0"/>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a:t>
            </a:r>
            <a:endParaRPr dirty="0"/>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III</a:t>
            </a:r>
            <a:endParaRPr dirty="0"/>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dirty="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7"/>
            <a:ext cx="7757100" cy="1488779"/>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Mobile/ Social Strategies</a:t>
            </a:r>
            <a:endParaRPr dirty="0"/>
          </a:p>
        </p:txBody>
      </p:sp>
      <p:sp>
        <p:nvSpPr>
          <p:cNvPr id="363" name="Google Shape;363;p30"/>
          <p:cNvSpPr txBox="1">
            <a:spLocks noGrp="1"/>
          </p:cNvSpPr>
          <p:nvPr>
            <p:ph type="body" idx="1"/>
          </p:nvPr>
        </p:nvSpPr>
        <p:spPr>
          <a:xfrm>
            <a:off x="457200" y="1964266"/>
            <a:ext cx="8229600" cy="4915434"/>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Replace this text with station/consumer information and/or customized research.</a:t>
            </a:r>
            <a:endParaRPr sz="1150" dirty="0">
              <a:solidFill>
                <a:schemeClr val="dk1"/>
              </a:solidFill>
              <a:latin typeface="Verdana"/>
              <a:ea typeface="Verdana"/>
              <a:cs typeface="Verdana"/>
              <a:sym typeface="Verdana"/>
            </a:endParaRPr>
          </a:p>
          <a:p>
            <a:pPr marL="0" lvl="0" indent="0" algn="l" rtl="0">
              <a:spcBef>
                <a:spcPts val="1000"/>
              </a:spcBef>
              <a:spcAft>
                <a:spcPts val="1600"/>
              </a:spcAft>
              <a:buNone/>
            </a:pPr>
            <a:endParaRPr sz="1150" dirty="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7030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chemeClr val="accent1">
              <a:lumMod val="5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3234280611"/>
              </p:ext>
            </p:extLst>
          </p:nvPr>
        </p:nvGraphicFramePr>
        <p:xfrm>
          <a:off x="541867" y="2097740"/>
          <a:ext cx="8060266"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rPr>
              <a:t>AAver</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BGross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CClose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DProj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EClient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FMonth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GMonth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HGross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INumb</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JAdd</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767136"/>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AAver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BTime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CEqual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EEqual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HSo</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IThen</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endParaRPr sz="1300" u="sng" dirty="0">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3819266335"/>
              </p:ext>
            </p:extLst>
          </p:nvPr>
        </p:nvGraphicFramePr>
        <p:xfrm>
          <a:off x="491067" y="2097740"/>
          <a:ext cx="8144933"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planBCity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planBReach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planBFrequency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planBDigitalImpressionsMonthly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 dirty="0" err="1">
                <a:solidFill>
                  <a:schemeClr val="dk1"/>
                </a:solidFill>
                <a:latin typeface="Verdana"/>
                <a:ea typeface="Verdana"/>
                <a:cs typeface="Verdana"/>
                <a:sym typeface="Verdana"/>
              </a:rPr>
              <a:t>planBMonthly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b_grossProfitMargin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b_grossProfitPerSale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b_averageRepeatSales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b_averageCustomerValue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b_yearsOfPatronage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b_lifetimeValuePerCustomer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planBMonthly</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b_prospectsNeededToBreakEven</a:t>
            </a:r>
            <a:endParaRPr sz="1300" dirty="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Average sale (ticket, transaction, invoice)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gross profit margin on average sale (sale less variable costs)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gross profit per average sale (A*B)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the average repeat sales per year (per customer/client)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the average customer/client value per year (C*D)=</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the average number of years of patronage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the lifetime value of one customer/client (E*F)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So if your base monthly advertising investment averages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Then monthly customers/clients needed to break even (H/G)=</a:t>
            </a:r>
            <a:endParaRPr sz="1300" b="1" dirty="0">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
          <a:extLst>
            <a:ext uri="{FF2B5EF4-FFF2-40B4-BE49-F238E27FC236}">
              <a16:creationId xmlns:a16="http://schemas.microsoft.com/office/drawing/2014/main" id="{B580299E-7D36-4BC8-D5C4-0A7DC9A2D9F7}"/>
            </a:ext>
          </a:extLst>
        </p:cNvPr>
        <p:cNvGrpSpPr/>
        <p:nvPr/>
      </p:nvGrpSpPr>
      <p:grpSpPr>
        <a:xfrm>
          <a:off x="0" y="0"/>
          <a:ext cx="0" cy="0"/>
          <a:chOff x="0" y="0"/>
          <a:chExt cx="0" cy="0"/>
        </a:xfrm>
      </p:grpSpPr>
      <p:sp>
        <p:nvSpPr>
          <p:cNvPr id="440" name="Google Shape;440;p38">
            <a:extLst>
              <a:ext uri="{FF2B5EF4-FFF2-40B4-BE49-F238E27FC236}">
                <a16:creationId xmlns:a16="http://schemas.microsoft.com/office/drawing/2014/main" id="{DCC63AD3-10CF-C82F-6AA5-04CF9A27D0FA}"/>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ROI Calculator - Plan B</a:t>
            </a:r>
            <a:endParaRPr dirty="0"/>
          </a:p>
        </p:txBody>
      </p:sp>
      <p:sp>
        <p:nvSpPr>
          <p:cNvPr id="441" name="Google Shape;441;p38">
            <a:extLst>
              <a:ext uri="{FF2B5EF4-FFF2-40B4-BE49-F238E27FC236}">
                <a16:creationId xmlns:a16="http://schemas.microsoft.com/office/drawing/2014/main" id="{D75DA3E0-7ED7-BF0C-CCFC-A0D1BE980EC5}"/>
              </a:ext>
            </a:extLst>
          </p:cNvPr>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a:extLst>
              <a:ext uri="{FF2B5EF4-FFF2-40B4-BE49-F238E27FC236}">
                <a16:creationId xmlns:a16="http://schemas.microsoft.com/office/drawing/2014/main" id="{A9F186D1-8B9C-309D-0F14-68A28F8B915C}"/>
              </a:ext>
            </a:extLst>
          </p:cNvPr>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537365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517976"/>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A</a:t>
            </a:r>
            <a:endParaRPr sz="2000" dirty="0"/>
          </a:p>
        </p:txBody>
      </p:sp>
      <p:sp>
        <p:nvSpPr>
          <p:cNvPr id="498" name="Google Shape;498;p46"/>
          <p:cNvSpPr txBox="1">
            <a:spLocks noGrp="1"/>
          </p:cNvSpPr>
          <p:nvPr>
            <p:ph type="body" idx="1"/>
          </p:nvPr>
        </p:nvSpPr>
        <p:spPr>
          <a:xfrm>
            <a:off x="489950" y="876300"/>
            <a:ext cx="8181900" cy="15113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For the benefit of the client, </a:t>
            </a:r>
            <a:r>
              <a:rPr lang="en" sz="1150" b="1" dirty="0">
                <a:solidFill>
                  <a:srgbClr val="000000"/>
                </a:solidFill>
                <a:latin typeface="Verdana"/>
                <a:ea typeface="Verdana"/>
                <a:cs typeface="Verdana"/>
                <a:sym typeface="Verdana"/>
              </a:rPr>
              <a:t>station  </a:t>
            </a:r>
            <a:r>
              <a:rPr lang="en" sz="1150" dirty="0">
                <a:solidFill>
                  <a:srgbClr val="000000"/>
                </a:solidFill>
                <a:latin typeface="Verdana"/>
                <a:ea typeface="Verdana"/>
                <a:cs typeface="Verdana"/>
                <a:sym typeface="Verdana"/>
              </a:rPr>
              <a:t>agrees to develop a marketing strategy to help:</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firstRow</a:t>
            </a:r>
            <a:endParaRPr sz="1150" dirty="0">
              <a:solidFill>
                <a:srgbClr val="000000"/>
              </a:solidFill>
              <a:latin typeface="Verdana"/>
              <a:ea typeface="Verdana"/>
              <a:cs typeface="Verdana"/>
              <a:sym typeface="Verdana"/>
            </a:endParaRPr>
          </a:p>
          <a:p>
            <a:pPr lvl="0">
              <a:lnSpc>
                <a:spcPct val="150000"/>
              </a:lnSpc>
              <a:buClr>
                <a:srgbClr val="000000"/>
              </a:buClr>
              <a:buFont typeface="Verdana"/>
              <a:buAutoNum type="arabicPeriod"/>
            </a:pPr>
            <a:r>
              <a:rPr lang="en-US" dirty="0" err="1">
                <a:solidFill>
                  <a:srgbClr val="000000"/>
                </a:solidFill>
              </a:rPr>
              <a:t>secondRow</a:t>
            </a:r>
            <a:endParaRPr lang="en-US" dirty="0">
              <a:solidFill>
                <a:srgbClr val="000000"/>
              </a:solidFill>
            </a:endParaRPr>
          </a:p>
          <a:p>
            <a:pPr lvl="0">
              <a:lnSpc>
                <a:spcPct val="150000"/>
              </a:lnSpc>
              <a:buClr>
                <a:srgbClr val="000000"/>
              </a:buClr>
              <a:buFont typeface="Verdana"/>
              <a:buAutoNum type="arabicPeriod"/>
            </a:pPr>
            <a:r>
              <a:rPr lang="en-US" dirty="0" err="1">
                <a:solidFill>
                  <a:srgbClr val="000000"/>
                </a:solidFill>
              </a:rPr>
              <a:t>thirdRow</a:t>
            </a:r>
            <a:endParaRPr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dirty="0">
                <a:solidFill>
                  <a:srgbClr val="000000"/>
                </a:solidFill>
                <a:latin typeface="Verdana"/>
                <a:ea typeface="Verdana"/>
                <a:cs typeface="Verdana"/>
                <a:sym typeface="Verdana"/>
              </a:rPr>
              <a:t>In return for fulfilling stated goals </a:t>
            </a:r>
            <a:r>
              <a:rPr lang="en" sz="1150" dirty="0" err="1">
                <a:solidFill>
                  <a:srgbClr val="000000"/>
                </a:solidFill>
                <a:latin typeface="Verdana"/>
                <a:ea typeface="Verdana"/>
                <a:cs typeface="Verdana"/>
                <a:sym typeface="Verdana"/>
              </a:rPr>
              <a:t>businessname</a:t>
            </a:r>
            <a:r>
              <a:rPr lang="en" sz="1150" dirty="0">
                <a:solidFill>
                  <a:srgbClr val="000000"/>
                </a:solidFill>
                <a:latin typeface="Verdana"/>
                <a:ea typeface="Verdana"/>
                <a:cs typeface="Verdana"/>
                <a:sym typeface="Verdana"/>
              </a:rPr>
              <a:t> agrees to invest in the following long-term plan:</a:t>
            </a:r>
            <a:endParaRPr sz="1150" dirty="0">
              <a:solidFill>
                <a:srgbClr val="000000"/>
              </a:solidFill>
              <a:latin typeface="Verdana"/>
              <a:ea typeface="Verdana"/>
              <a:cs typeface="Verdana"/>
              <a:sym typeface="Verdana"/>
            </a:endParaRPr>
          </a:p>
        </p:txBody>
      </p:sp>
      <p:sp>
        <p:nvSpPr>
          <p:cNvPr id="3" name="Text Placeholder 2">
            <a:extLst>
              <a:ext uri="{FF2B5EF4-FFF2-40B4-BE49-F238E27FC236}">
                <a16:creationId xmlns:a16="http://schemas.microsoft.com/office/drawing/2014/main" id="{E675FFD4-7934-A89B-C962-80A558390925}"/>
              </a:ext>
            </a:extLst>
          </p:cNvPr>
          <p:cNvSpPr>
            <a:spLocks noGrp="1"/>
          </p:cNvSpPr>
          <p:nvPr>
            <p:ph type="body" idx="1"/>
          </p:nvPr>
        </p:nvSpPr>
        <p:spPr/>
        <p:txBody>
          <a:bodyPr/>
          <a:lstStyle/>
          <a:p>
            <a:endParaRPr lang="en-US"/>
          </a:p>
        </p:txBody>
      </p:sp>
      <p:sp>
        <p:nvSpPr>
          <p:cNvPr id="5" name="Text Placeholder 4">
            <a:extLst>
              <a:ext uri="{FF2B5EF4-FFF2-40B4-BE49-F238E27FC236}">
                <a16:creationId xmlns:a16="http://schemas.microsoft.com/office/drawing/2014/main" id="{AA880064-A33D-6585-984D-A4321B16C6BC}"/>
              </a:ext>
            </a:extLst>
          </p:cNvPr>
          <p:cNvSpPr>
            <a:spLocks noGrp="1"/>
          </p:cNvSpPr>
          <p:nvPr>
            <p:ph type="body" idx="1"/>
          </p:nvPr>
        </p:nvSpPr>
        <p:spPr/>
        <p:txBody>
          <a:bodyPr/>
          <a:lstStyle/>
          <a:p>
            <a:endParaRPr lang="en-US"/>
          </a:p>
        </p:txBody>
      </p:sp>
      <p:sp>
        <p:nvSpPr>
          <p:cNvPr id="7" name="Text Placeholder 6">
            <a:extLst>
              <a:ext uri="{FF2B5EF4-FFF2-40B4-BE49-F238E27FC236}">
                <a16:creationId xmlns:a16="http://schemas.microsoft.com/office/drawing/2014/main" id="{BF6904F9-3DE0-D121-AFBC-51BCE42C2020}"/>
              </a:ext>
            </a:extLst>
          </p:cNvPr>
          <p:cNvSpPr>
            <a:spLocks noGrp="1"/>
          </p:cNvSpPr>
          <p:nvPr>
            <p:ph type="body" idx="1"/>
          </p:nvPr>
        </p:nvSpPr>
        <p:spPr/>
        <p:txBody>
          <a:bodyPr/>
          <a:lstStyle/>
          <a:p>
            <a:endParaRPr lang="en-US"/>
          </a:p>
        </p:txBody>
      </p:sp>
      <p:sp>
        <p:nvSpPr>
          <p:cNvPr id="9" name="Text Placeholder 8">
            <a:extLst>
              <a:ext uri="{FF2B5EF4-FFF2-40B4-BE49-F238E27FC236}">
                <a16:creationId xmlns:a16="http://schemas.microsoft.com/office/drawing/2014/main" id="{F9096218-489B-CA01-B7F4-21DD368F478F}"/>
              </a:ext>
            </a:extLst>
          </p:cNvPr>
          <p:cNvSpPr>
            <a:spLocks noGrp="1"/>
          </p:cNvSpPr>
          <p:nvPr>
            <p:ph type="body" idx="1"/>
          </p:nvPr>
        </p:nvSpPr>
        <p:spPr/>
        <p:txBody>
          <a:bodyPr/>
          <a:lstStyle/>
          <a:p>
            <a:endParaRPr lang="en-US"/>
          </a:p>
        </p:txBody>
      </p:sp>
      <p:sp>
        <p:nvSpPr>
          <p:cNvPr id="11" name="Text Placeholder 10">
            <a:extLst>
              <a:ext uri="{FF2B5EF4-FFF2-40B4-BE49-F238E27FC236}">
                <a16:creationId xmlns:a16="http://schemas.microsoft.com/office/drawing/2014/main" id="{55DAE7A6-7C6C-0D4C-BA27-84FC1EDA28AA}"/>
              </a:ext>
            </a:extLst>
          </p:cNvPr>
          <p:cNvSpPr>
            <a:spLocks noGrp="1"/>
          </p:cNvSpPr>
          <p:nvPr>
            <p:ph type="body" idx="1"/>
          </p:nvPr>
        </p:nvSpPr>
        <p:spPr/>
        <p:txBody>
          <a:bodyPr/>
          <a:lstStyle/>
          <a:p>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a:extLst>
            <a:ext uri="{FF2B5EF4-FFF2-40B4-BE49-F238E27FC236}">
              <a16:creationId xmlns:a16="http://schemas.microsoft.com/office/drawing/2014/main" id="{3906EF19-7D0E-4262-A25F-663B8FFEA9F5}"/>
            </a:ext>
          </a:extLst>
        </p:cNvPr>
        <p:cNvGrpSpPr/>
        <p:nvPr/>
      </p:nvGrpSpPr>
      <p:grpSpPr>
        <a:xfrm>
          <a:off x="0" y="0"/>
          <a:ext cx="0" cy="0"/>
          <a:chOff x="0" y="0"/>
          <a:chExt cx="0" cy="0"/>
        </a:xfrm>
      </p:grpSpPr>
      <p:sp>
        <p:nvSpPr>
          <p:cNvPr id="497" name="Google Shape;497;p46">
            <a:extLst>
              <a:ext uri="{FF2B5EF4-FFF2-40B4-BE49-F238E27FC236}">
                <a16:creationId xmlns:a16="http://schemas.microsoft.com/office/drawing/2014/main" id="{C86A0ACC-A7B6-F84E-8196-C22F2EB9DCD7}"/>
              </a:ext>
            </a:extLst>
          </p:cNvPr>
          <p:cNvSpPr txBox="1">
            <a:spLocks noGrp="1"/>
          </p:cNvSpPr>
          <p:nvPr>
            <p:ph type="ctrTitle"/>
          </p:nvPr>
        </p:nvSpPr>
        <p:spPr>
          <a:xfrm>
            <a:off x="693450" y="475488"/>
            <a:ext cx="7757100" cy="517976"/>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A Agreement</a:t>
            </a:r>
            <a:endParaRPr sz="2000" dirty="0"/>
          </a:p>
        </p:txBody>
      </p:sp>
      <p:sp>
        <p:nvSpPr>
          <p:cNvPr id="500" name="Google Shape;500;p46">
            <a:extLst>
              <a:ext uri="{FF2B5EF4-FFF2-40B4-BE49-F238E27FC236}">
                <a16:creationId xmlns:a16="http://schemas.microsoft.com/office/drawing/2014/main" id="{DDB899BC-958F-F125-33C6-32FBA32CEE39}"/>
              </a:ext>
            </a:extLst>
          </p:cNvPr>
          <p:cNvSpPr txBox="1">
            <a:spLocks noGrp="1"/>
          </p:cNvSpPr>
          <p:nvPr>
            <p:ph type="body" idx="1"/>
          </p:nvPr>
        </p:nvSpPr>
        <p:spPr>
          <a:xfrm>
            <a:off x="356563" y="5120405"/>
            <a:ext cx="23376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000" b="1" u="sng" dirty="0">
                <a:solidFill>
                  <a:srgbClr val="000000"/>
                </a:solidFill>
                <a:latin typeface="Verdana"/>
                <a:ea typeface="Verdana"/>
                <a:cs typeface="Verdana"/>
                <a:sym typeface="Verdana"/>
              </a:rPr>
              <a:t>Analysis of Schedule</a:t>
            </a:r>
            <a:r>
              <a:rPr lang="en" sz="1400" b="1" u="sng" dirty="0">
                <a:solidFill>
                  <a:srgbClr val="000000"/>
                </a:solidFill>
                <a:latin typeface="Verdana"/>
                <a:ea typeface="Verdana"/>
                <a:cs typeface="Verdana"/>
                <a:sym typeface="Verdana"/>
              </a:rPr>
              <a:t>:</a:t>
            </a:r>
            <a:endParaRPr sz="1400" b="1" u="sng" dirty="0">
              <a:solidFill>
                <a:srgbClr val="000000"/>
              </a:solidFill>
              <a:latin typeface="Verdana"/>
              <a:ea typeface="Verdana"/>
              <a:cs typeface="Verdana"/>
              <a:sym typeface="Verdana"/>
            </a:endParaRPr>
          </a:p>
        </p:txBody>
      </p:sp>
      <p:sp>
        <p:nvSpPr>
          <p:cNvPr id="501" name="Google Shape;501;p46">
            <a:extLst>
              <a:ext uri="{FF2B5EF4-FFF2-40B4-BE49-F238E27FC236}">
                <a16:creationId xmlns:a16="http://schemas.microsoft.com/office/drawing/2014/main" id="{E78146E2-C561-A7B4-992A-154D900C958A}"/>
              </a:ext>
            </a:extLst>
          </p:cNvPr>
          <p:cNvSpPr txBox="1">
            <a:spLocks noGrp="1"/>
          </p:cNvSpPr>
          <p:nvPr>
            <p:ph type="body" idx="1"/>
          </p:nvPr>
        </p:nvSpPr>
        <p:spPr>
          <a:xfrm>
            <a:off x="356563" y="5487305"/>
            <a:ext cx="42924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Monthly Client Investment:</a:t>
            </a:r>
            <a:r>
              <a:rPr lang="en" sz="1150" dirty="0">
                <a:solidFill>
                  <a:srgbClr val="000000"/>
                </a:solidFill>
                <a:latin typeface="Verdana"/>
                <a:ea typeface="Verdana"/>
                <a:cs typeface="Verdana"/>
                <a:sym typeface="Verdana"/>
              </a:rPr>
              <a:t> </a:t>
            </a:r>
            <a:r>
              <a:rPr lang="en" sz="1150" dirty="0" err="1">
                <a:solidFill>
                  <a:srgbClr val="000000"/>
                </a:solidFill>
                <a:latin typeface="Verdana"/>
                <a:ea typeface="Verdana"/>
                <a:cs typeface="Verdana"/>
                <a:sym typeface="Verdana"/>
              </a:rPr>
              <a:t>monthAver</a:t>
            </a:r>
            <a:endParaRPr sz="1150" dirty="0">
              <a:solidFill>
                <a:srgbClr val="000000"/>
              </a:solidFill>
              <a:latin typeface="Verdana"/>
              <a:ea typeface="Verdana"/>
              <a:cs typeface="Verdana"/>
              <a:sym typeface="Verdana"/>
            </a:endParaRPr>
          </a:p>
        </p:txBody>
      </p:sp>
      <p:sp>
        <p:nvSpPr>
          <p:cNvPr id="502" name="Google Shape;502;p46">
            <a:extLst>
              <a:ext uri="{FF2B5EF4-FFF2-40B4-BE49-F238E27FC236}">
                <a16:creationId xmlns:a16="http://schemas.microsoft.com/office/drawing/2014/main" id="{DF37FF30-153A-D3A6-E2E0-872E554162BD}"/>
              </a:ext>
            </a:extLst>
          </p:cNvPr>
          <p:cNvSpPr txBox="1">
            <a:spLocks noGrp="1"/>
          </p:cNvSpPr>
          <p:nvPr>
            <p:ph type="body" idx="1"/>
          </p:nvPr>
        </p:nvSpPr>
        <p:spPr>
          <a:xfrm>
            <a:off x="356563" y="5814875"/>
            <a:ext cx="4292400" cy="8505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Daily Client Investment:</a:t>
            </a:r>
            <a:r>
              <a:rPr lang="en" sz="1150" dirty="0">
                <a:solidFill>
                  <a:srgbClr val="000000"/>
                </a:solidFill>
                <a:latin typeface="Verdana"/>
                <a:ea typeface="Verdana"/>
                <a:cs typeface="Verdana"/>
                <a:sym typeface="Verdana"/>
              </a:rPr>
              <a:t> </a:t>
            </a:r>
            <a:r>
              <a:rPr lang="en">
                <a:solidFill>
                  <a:srgbClr val="000000"/>
                </a:solidFill>
              </a:rPr>
              <a:t>dailyAver</a:t>
            </a:r>
            <a:endParaRPr sz="1150" dirty="0">
              <a:solidFill>
                <a:srgbClr val="000000"/>
              </a:solidFill>
              <a:latin typeface="Verdana"/>
              <a:ea typeface="Verdana"/>
              <a:cs typeface="Verdana"/>
              <a:sym typeface="Verdana"/>
            </a:endParaRPr>
          </a:p>
        </p:txBody>
      </p:sp>
      <p:sp>
        <p:nvSpPr>
          <p:cNvPr id="503" name="Google Shape;503;p46">
            <a:extLst>
              <a:ext uri="{FF2B5EF4-FFF2-40B4-BE49-F238E27FC236}">
                <a16:creationId xmlns:a16="http://schemas.microsoft.com/office/drawing/2014/main" id="{EECC7735-1822-FCD9-6ECC-CAB7B33CF1F5}"/>
              </a:ext>
            </a:extLst>
          </p:cNvPr>
          <p:cNvSpPr txBox="1">
            <a:spLocks noGrp="1"/>
          </p:cNvSpPr>
          <p:nvPr>
            <p:ph type="body" idx="1"/>
          </p:nvPr>
        </p:nvSpPr>
        <p:spPr>
          <a:xfrm>
            <a:off x="2416613" y="6144768"/>
            <a:ext cx="4292400" cy="176968"/>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dirty="0">
                <a:solidFill>
                  <a:srgbClr val="000000"/>
                </a:solidFill>
                <a:latin typeface="Verdana"/>
                <a:ea typeface="Verdana"/>
                <a:cs typeface="Verdana"/>
                <a:sym typeface="Verdana"/>
              </a:rPr>
              <a:t>Thank you for you trust and confidence</a:t>
            </a:r>
            <a:endParaRPr sz="1150" dirty="0">
              <a:solidFill>
                <a:srgbClr val="000000"/>
              </a:solidFill>
              <a:latin typeface="Verdana"/>
              <a:ea typeface="Verdana"/>
              <a:cs typeface="Verdana"/>
              <a:sym typeface="Verdana"/>
            </a:endParaRPr>
          </a:p>
        </p:txBody>
      </p:sp>
      <p:cxnSp>
        <p:nvCxnSpPr>
          <p:cNvPr id="504" name="Google Shape;504;p46">
            <a:extLst>
              <a:ext uri="{FF2B5EF4-FFF2-40B4-BE49-F238E27FC236}">
                <a16:creationId xmlns:a16="http://schemas.microsoft.com/office/drawing/2014/main" id="{4A4D16AD-41CC-C67D-5556-A8831D3002F1}"/>
              </a:ext>
            </a:extLst>
          </p:cNvPr>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a:extLst>
              <a:ext uri="{FF2B5EF4-FFF2-40B4-BE49-F238E27FC236}">
                <a16:creationId xmlns:a16="http://schemas.microsoft.com/office/drawing/2014/main" id="{936A9F74-8C53-60B7-B579-3269AE54CB7F}"/>
              </a:ext>
            </a:extLst>
          </p:cNvPr>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a:extLst>
              <a:ext uri="{FF2B5EF4-FFF2-40B4-BE49-F238E27FC236}">
                <a16:creationId xmlns:a16="http://schemas.microsoft.com/office/drawing/2014/main" id="{0F1BB3DC-4477-C16D-53BA-E07B1B3ECDF2}"/>
              </a:ext>
            </a:extLst>
          </p:cNvPr>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a:extLst>
              <a:ext uri="{FF2B5EF4-FFF2-40B4-BE49-F238E27FC236}">
                <a16:creationId xmlns:a16="http://schemas.microsoft.com/office/drawing/2014/main" id="{2DBB52C6-B3CB-E049-D928-6B663C2A9FD0}"/>
              </a:ext>
            </a:extLst>
          </p:cNvPr>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a:extLst>
              <a:ext uri="{FF2B5EF4-FFF2-40B4-BE49-F238E27FC236}">
                <a16:creationId xmlns:a16="http://schemas.microsoft.com/office/drawing/2014/main" id="{D2AF22E8-7909-E1EF-AE61-379EE6914304}"/>
              </a:ext>
            </a:extLst>
          </p:cNvPr>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a:extLst>
              <a:ext uri="{FF2B5EF4-FFF2-40B4-BE49-F238E27FC236}">
                <a16:creationId xmlns:a16="http://schemas.microsoft.com/office/drawing/2014/main" id="{15213BFC-E69C-C3F3-497F-A05B8BBDEDF8}"/>
              </a:ext>
            </a:extLst>
          </p:cNvPr>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3" name="Text Placeholder 2">
            <a:extLst>
              <a:ext uri="{FF2B5EF4-FFF2-40B4-BE49-F238E27FC236}">
                <a16:creationId xmlns:a16="http://schemas.microsoft.com/office/drawing/2014/main" id="{5F1EBF5F-DCFD-2FD1-B53C-2762FBC06A5B}"/>
              </a:ext>
            </a:extLst>
          </p:cNvPr>
          <p:cNvSpPr>
            <a:spLocks noGrp="1"/>
          </p:cNvSpPr>
          <p:nvPr>
            <p:ph type="body" idx="1"/>
          </p:nvPr>
        </p:nvSpPr>
        <p:spPr>
          <a:xfrm>
            <a:off x="365750" y="1170424"/>
            <a:ext cx="8408100" cy="3443597"/>
          </a:xfrm>
        </p:spPr>
        <p:txBody>
          <a:bodyPr/>
          <a:lstStyle/>
          <a:p>
            <a:pPr lvl="0"/>
            <a:r>
              <a:rPr lang="en-US" sz="1600" b="1" dirty="0"/>
              <a:t>Cancellation policy</a:t>
            </a:r>
            <a:r>
              <a:rPr lang="en-US" sz="1600" dirty="0"/>
              <a:t>: Client can cancel after 13 weeks from the schedule start date.</a:t>
            </a:r>
          </a:p>
          <a:p>
            <a:pPr lvl="0"/>
            <a:r>
              <a:rPr lang="en-US" sz="1600" b="1" dirty="0"/>
              <a:t>Notice period</a:t>
            </a:r>
            <a:r>
              <a:rPr lang="en-US" sz="1600" dirty="0"/>
              <a:t>: Requires a two-week advance notice for cancellation.</a:t>
            </a:r>
          </a:p>
          <a:p>
            <a:pPr lvl="0"/>
            <a:r>
              <a:rPr lang="en-US" sz="1600" b="1" dirty="0"/>
              <a:t>No short rate</a:t>
            </a:r>
            <a:r>
              <a:rPr lang="en-US" sz="1600" dirty="0"/>
              <a:t>: Penalty fees are waived if canceled according to the timeline.</a:t>
            </a:r>
          </a:p>
          <a:p>
            <a:pPr lvl="0"/>
            <a:r>
              <a:rPr lang="en-US" sz="1600" b="1" dirty="0"/>
              <a:t>Offer expiration</a:t>
            </a:r>
            <a:r>
              <a:rPr lang="en-US" sz="1600" dirty="0"/>
              <a:t>: Proposal remains valid for 10 business days following presentation.</a:t>
            </a:r>
          </a:p>
          <a:p>
            <a:pPr lvl="0"/>
            <a:r>
              <a:rPr lang="en-US" sz="1600" b="1" dirty="0"/>
              <a:t>FCC compliance</a:t>
            </a:r>
            <a:r>
              <a:rPr lang="en-US" sz="1600" dirty="0"/>
              <a:t>: Adheres strictly to Paragraphs 49 and 50 of FCC Report and Order No. FCC 07-217.</a:t>
            </a:r>
          </a:p>
          <a:p>
            <a:pPr lvl="0"/>
            <a:r>
              <a:rPr lang="en-US" sz="1600" b="1" dirty="0"/>
              <a:t>Non-discrimination policy</a:t>
            </a:r>
            <a:r>
              <a:rPr lang="en-US" sz="1600" dirty="0"/>
              <a:t>: Advertising contracts are processed entirely without regard to race or ethnicity.</a:t>
            </a:r>
          </a:p>
          <a:p>
            <a:endParaRPr lang="en-US" dirty="0"/>
          </a:p>
        </p:txBody>
      </p:sp>
    </p:spTree>
    <p:extLst>
      <p:ext uri="{BB962C8B-B14F-4D97-AF65-F5344CB8AC3E}">
        <p14:creationId xmlns:p14="http://schemas.microsoft.com/office/powerpoint/2010/main" val="37093938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a:extLst>
            <a:ext uri="{FF2B5EF4-FFF2-40B4-BE49-F238E27FC236}">
              <a16:creationId xmlns:a16="http://schemas.microsoft.com/office/drawing/2014/main" id="{8A49901B-0FE3-7D01-CB4E-C1A4DBEB2D4B}"/>
            </a:ext>
          </a:extLst>
        </p:cNvPr>
        <p:cNvGrpSpPr/>
        <p:nvPr/>
      </p:nvGrpSpPr>
      <p:grpSpPr>
        <a:xfrm>
          <a:off x="0" y="0"/>
          <a:ext cx="0" cy="0"/>
          <a:chOff x="0" y="0"/>
          <a:chExt cx="0" cy="0"/>
        </a:xfrm>
      </p:grpSpPr>
      <p:sp>
        <p:nvSpPr>
          <p:cNvPr id="515" name="Google Shape;515;p47">
            <a:extLst>
              <a:ext uri="{FF2B5EF4-FFF2-40B4-BE49-F238E27FC236}">
                <a16:creationId xmlns:a16="http://schemas.microsoft.com/office/drawing/2014/main" id="{21928B05-30F5-CAB2-6A19-7241E62D568C}"/>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B</a:t>
            </a:r>
            <a:endParaRPr sz="2000" dirty="0"/>
          </a:p>
        </p:txBody>
      </p:sp>
      <p:sp>
        <p:nvSpPr>
          <p:cNvPr id="526" name="Google Shape;526;p47">
            <a:extLst>
              <a:ext uri="{FF2B5EF4-FFF2-40B4-BE49-F238E27FC236}">
                <a16:creationId xmlns:a16="http://schemas.microsoft.com/office/drawing/2014/main" id="{58BCFD38-A2B1-80CC-5471-D0F710874D79}"/>
              </a:ext>
            </a:extLst>
          </p:cNvPr>
          <p:cNvSpPr txBox="1">
            <a:spLocks noGrp="1"/>
          </p:cNvSpPr>
          <p:nvPr>
            <p:ph type="body" idx="1"/>
          </p:nvPr>
        </p:nvSpPr>
        <p:spPr>
          <a:xfrm>
            <a:off x="489950" y="1079500"/>
            <a:ext cx="8181900" cy="1738651"/>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US" sz="1150" dirty="0">
                <a:solidFill>
                  <a:srgbClr val="000000"/>
                </a:solidFill>
                <a:latin typeface="Verdana"/>
                <a:ea typeface="Verdana"/>
                <a:cs typeface="Verdana"/>
                <a:sym typeface="Verdana"/>
              </a:rPr>
              <a:t>For the benefit on the client,  </a:t>
            </a:r>
            <a:r>
              <a:rPr lang="en-US" sz="1150" b="1" dirty="0">
                <a:solidFill>
                  <a:srgbClr val="000000"/>
                </a:solidFill>
                <a:latin typeface="+mj-lt"/>
                <a:ea typeface="Verdana"/>
                <a:cs typeface="Verdana"/>
                <a:sym typeface="Verdana"/>
              </a:rPr>
              <a:t>station</a:t>
            </a:r>
            <a:r>
              <a:rPr lang="en-US" sz="1150" dirty="0">
                <a:solidFill>
                  <a:srgbClr val="000000"/>
                </a:solidFill>
                <a:latin typeface="Verdana"/>
                <a:ea typeface="Verdana"/>
                <a:cs typeface="Verdana"/>
                <a:sym typeface="Verdana"/>
              </a:rPr>
              <a:t> agrees to develop a marketing strategy to help:</a:t>
            </a:r>
          </a:p>
          <a:p>
            <a:pPr marL="0" lvl="0" indent="0" algn="l" rtl="0">
              <a:lnSpc>
                <a:spcPct val="150000"/>
              </a:lnSpc>
              <a:spcBef>
                <a:spcPts val="0"/>
              </a:spcBef>
              <a:spcAft>
                <a:spcPts val="0"/>
              </a:spcAft>
              <a:buNone/>
            </a:pPr>
            <a:r>
              <a:rPr lang="en-US" sz="1150" dirty="0">
                <a:solidFill>
                  <a:srgbClr val="000000"/>
                </a:solidFill>
                <a:latin typeface="Verdana"/>
                <a:ea typeface="Verdana"/>
                <a:cs typeface="Verdana"/>
                <a:sym typeface="Verdana"/>
              </a:rPr>
              <a:t>     1. </a:t>
            </a:r>
            <a:r>
              <a:rPr lang="en-US" sz="1150" dirty="0" err="1">
                <a:solidFill>
                  <a:srgbClr val="000000"/>
                </a:solidFill>
                <a:latin typeface="Verdana"/>
                <a:ea typeface="Verdana"/>
                <a:cs typeface="Verdana"/>
                <a:sym typeface="Verdana"/>
              </a:rPr>
              <a:t>firstRow</a:t>
            </a:r>
            <a:endParaRPr lang="en-US"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US" dirty="0">
                <a:solidFill>
                  <a:srgbClr val="000000"/>
                </a:solidFill>
              </a:rPr>
              <a:t>     2. </a:t>
            </a:r>
            <a:r>
              <a:rPr lang="en-US" dirty="0" err="1">
                <a:solidFill>
                  <a:srgbClr val="000000"/>
                </a:solidFill>
              </a:rPr>
              <a:t>secondRow</a:t>
            </a:r>
            <a:endParaRPr lang="en-US" dirty="0">
              <a:solidFill>
                <a:srgbClr val="000000"/>
              </a:solidFill>
            </a:endParaRPr>
          </a:p>
          <a:p>
            <a:pPr marL="0" lvl="0" indent="0" algn="l" rtl="0">
              <a:lnSpc>
                <a:spcPct val="150000"/>
              </a:lnSpc>
              <a:spcBef>
                <a:spcPts val="0"/>
              </a:spcBef>
              <a:spcAft>
                <a:spcPts val="0"/>
              </a:spcAft>
              <a:buNone/>
            </a:pPr>
            <a:r>
              <a:rPr lang="en-US" dirty="0">
                <a:solidFill>
                  <a:srgbClr val="000000"/>
                </a:solidFill>
              </a:rPr>
              <a:t>     3. </a:t>
            </a:r>
            <a:r>
              <a:rPr lang="en-US" dirty="0" err="1">
                <a:solidFill>
                  <a:srgbClr val="000000"/>
                </a:solidFill>
              </a:rPr>
              <a:t>thirdRow</a:t>
            </a:r>
            <a:endParaRPr lang="en-US" dirty="0">
              <a:solidFill>
                <a:srgbClr val="000000"/>
              </a:solidFill>
            </a:endParaRPr>
          </a:p>
          <a:p>
            <a:pPr marL="0" lvl="0" indent="0" algn="l" rtl="0">
              <a:lnSpc>
                <a:spcPct val="150000"/>
              </a:lnSpc>
              <a:spcBef>
                <a:spcPts val="0"/>
              </a:spcBef>
              <a:spcAft>
                <a:spcPts val="0"/>
              </a:spcAft>
              <a:buNone/>
            </a:pPr>
            <a:endParaRPr lang="en-US" dirty="0">
              <a:solidFill>
                <a:srgbClr val="000000"/>
              </a:solidFill>
            </a:endParaRPr>
          </a:p>
          <a:p>
            <a:pPr marL="0" lvl="0" indent="0" algn="l" rtl="0">
              <a:lnSpc>
                <a:spcPct val="150000"/>
              </a:lnSpc>
              <a:spcBef>
                <a:spcPts val="0"/>
              </a:spcBef>
              <a:spcAft>
                <a:spcPts val="0"/>
              </a:spcAft>
              <a:buNone/>
            </a:pPr>
            <a:r>
              <a:rPr lang="en-US" dirty="0">
                <a:solidFill>
                  <a:srgbClr val="000000"/>
                </a:solidFill>
              </a:rPr>
              <a:t>In return for fulling stated goals </a:t>
            </a:r>
            <a:r>
              <a:rPr lang="en-US" dirty="0" err="1">
                <a:solidFill>
                  <a:srgbClr val="000000"/>
                </a:solidFill>
              </a:rPr>
              <a:t>businessname</a:t>
            </a:r>
            <a:r>
              <a:rPr lang="en-US" dirty="0">
                <a:solidFill>
                  <a:srgbClr val="000000"/>
                </a:solidFill>
              </a:rPr>
              <a:t> agrees to invest in the following long-term plan:</a:t>
            </a:r>
          </a:p>
          <a:p>
            <a:pPr marL="0" lvl="0" indent="0" algn="l" rtl="0">
              <a:lnSpc>
                <a:spcPct val="150000"/>
              </a:lnSpc>
              <a:spcBef>
                <a:spcPts val="0"/>
              </a:spcBef>
              <a:spcAft>
                <a:spcPts val="0"/>
              </a:spcAft>
              <a:buNone/>
            </a:pPr>
            <a:endParaRPr lang="en-US"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US" dirty="0">
                <a:solidFill>
                  <a:srgbClr val="000000"/>
                </a:solidFill>
              </a:rPr>
              <a:t>      </a:t>
            </a:r>
            <a:endParaRPr lang="en-US"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US" dirty="0">
                <a:solidFill>
                  <a:srgbClr val="000000"/>
                </a:solidFill>
              </a:rPr>
              <a:t>	</a:t>
            </a:r>
            <a:endParaRPr sz="1150" dirty="0">
              <a:solidFill>
                <a:srgbClr val="000000"/>
              </a:solidFill>
              <a:latin typeface="Verdana"/>
              <a:ea typeface="Verdana"/>
              <a:cs typeface="Verdana"/>
              <a:sym typeface="Verdana"/>
            </a:endParaRPr>
          </a:p>
        </p:txBody>
      </p:sp>
      <p:sp>
        <p:nvSpPr>
          <p:cNvPr id="527" name="Google Shape;527;p47">
            <a:extLst>
              <a:ext uri="{FF2B5EF4-FFF2-40B4-BE49-F238E27FC236}">
                <a16:creationId xmlns:a16="http://schemas.microsoft.com/office/drawing/2014/main" id="{A716F7CF-675A-95BD-CBD7-78000BB1F4DC}"/>
              </a:ext>
            </a:extLst>
          </p:cNvPr>
          <p:cNvSpPr txBox="1">
            <a:spLocks noGrp="1"/>
          </p:cNvSpPr>
          <p:nvPr>
            <p:ph type="body" idx="1"/>
          </p:nvPr>
        </p:nvSpPr>
        <p:spPr>
          <a:xfrm>
            <a:off x="356838" y="4661271"/>
            <a:ext cx="8430300" cy="223003"/>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050" b="1" dirty="0">
                <a:solidFill>
                  <a:srgbClr val="000000"/>
                </a:solidFill>
                <a:latin typeface="Verdana"/>
                <a:ea typeface="Verdana"/>
                <a:cs typeface="Verdana"/>
                <a:sym typeface="Verdana"/>
              </a:rPr>
              <a:t>\</a:t>
            </a:r>
            <a:endParaRPr sz="1050" b="1"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25005588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96">
          <a:extLst>
            <a:ext uri="{FF2B5EF4-FFF2-40B4-BE49-F238E27FC236}">
              <a16:creationId xmlns:a16="http://schemas.microsoft.com/office/drawing/2014/main" id="{6C9F2548-8571-D458-ABA9-E14C4F0EACA8}"/>
            </a:ext>
          </a:extLst>
        </p:cNvPr>
        <p:cNvGrpSpPr/>
        <p:nvPr/>
      </p:nvGrpSpPr>
      <p:grpSpPr>
        <a:xfrm>
          <a:off x="0" y="0"/>
          <a:ext cx="0" cy="0"/>
          <a:chOff x="0" y="0"/>
          <a:chExt cx="0" cy="0"/>
        </a:xfrm>
      </p:grpSpPr>
      <p:sp>
        <p:nvSpPr>
          <p:cNvPr id="497" name="Google Shape;497;p46">
            <a:extLst>
              <a:ext uri="{FF2B5EF4-FFF2-40B4-BE49-F238E27FC236}">
                <a16:creationId xmlns:a16="http://schemas.microsoft.com/office/drawing/2014/main" id="{010D24C1-6E0D-3CD2-952A-FAE91B24DF5A}"/>
              </a:ext>
            </a:extLst>
          </p:cNvPr>
          <p:cNvSpPr txBox="1">
            <a:spLocks noGrp="1"/>
          </p:cNvSpPr>
          <p:nvPr>
            <p:ph type="ctrTitle"/>
          </p:nvPr>
        </p:nvSpPr>
        <p:spPr>
          <a:xfrm>
            <a:off x="693450" y="475488"/>
            <a:ext cx="7757100" cy="517976"/>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B Agreement</a:t>
            </a:r>
            <a:endParaRPr sz="2000" dirty="0"/>
          </a:p>
        </p:txBody>
      </p:sp>
      <p:sp>
        <p:nvSpPr>
          <p:cNvPr id="500" name="Google Shape;500;p46">
            <a:extLst>
              <a:ext uri="{FF2B5EF4-FFF2-40B4-BE49-F238E27FC236}">
                <a16:creationId xmlns:a16="http://schemas.microsoft.com/office/drawing/2014/main" id="{DB9894EE-733C-2A59-C26C-3AFF5D760178}"/>
              </a:ext>
            </a:extLst>
          </p:cNvPr>
          <p:cNvSpPr txBox="1">
            <a:spLocks noGrp="1"/>
          </p:cNvSpPr>
          <p:nvPr>
            <p:ph type="body" idx="1"/>
          </p:nvPr>
        </p:nvSpPr>
        <p:spPr>
          <a:xfrm>
            <a:off x="356563" y="5120405"/>
            <a:ext cx="23376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000" b="1" u="sng" dirty="0">
                <a:solidFill>
                  <a:srgbClr val="000000"/>
                </a:solidFill>
                <a:latin typeface="Verdana"/>
                <a:ea typeface="Verdana"/>
                <a:cs typeface="Verdana"/>
                <a:sym typeface="Verdana"/>
              </a:rPr>
              <a:t>Analysis of Schedule</a:t>
            </a:r>
            <a:r>
              <a:rPr lang="en" sz="1400" b="1" u="sng" dirty="0">
                <a:solidFill>
                  <a:srgbClr val="000000"/>
                </a:solidFill>
                <a:latin typeface="Verdana"/>
                <a:ea typeface="Verdana"/>
                <a:cs typeface="Verdana"/>
                <a:sym typeface="Verdana"/>
              </a:rPr>
              <a:t>:</a:t>
            </a:r>
            <a:endParaRPr sz="1400" b="1" u="sng" dirty="0">
              <a:solidFill>
                <a:srgbClr val="000000"/>
              </a:solidFill>
              <a:latin typeface="Verdana"/>
              <a:ea typeface="Verdana"/>
              <a:cs typeface="Verdana"/>
              <a:sym typeface="Verdana"/>
            </a:endParaRPr>
          </a:p>
        </p:txBody>
      </p:sp>
      <p:sp>
        <p:nvSpPr>
          <p:cNvPr id="501" name="Google Shape;501;p46">
            <a:extLst>
              <a:ext uri="{FF2B5EF4-FFF2-40B4-BE49-F238E27FC236}">
                <a16:creationId xmlns:a16="http://schemas.microsoft.com/office/drawing/2014/main" id="{31B5A840-058D-0C0A-4DAB-2433B86D6659}"/>
              </a:ext>
            </a:extLst>
          </p:cNvPr>
          <p:cNvSpPr txBox="1">
            <a:spLocks noGrp="1"/>
          </p:cNvSpPr>
          <p:nvPr>
            <p:ph type="body" idx="1"/>
          </p:nvPr>
        </p:nvSpPr>
        <p:spPr>
          <a:xfrm>
            <a:off x="356563" y="5487305"/>
            <a:ext cx="42924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Monthly Client Investment:</a:t>
            </a:r>
            <a:r>
              <a:rPr lang="en" sz="1150" dirty="0">
                <a:solidFill>
                  <a:srgbClr val="000000"/>
                </a:solidFill>
                <a:latin typeface="Verdana"/>
                <a:ea typeface="Verdana"/>
                <a:cs typeface="Verdana"/>
                <a:sym typeface="Verdana"/>
              </a:rPr>
              <a:t> </a:t>
            </a:r>
            <a:r>
              <a:rPr lang="en" dirty="0" err="1">
                <a:solidFill>
                  <a:srgbClr val="000000"/>
                </a:solidFill>
              </a:rPr>
              <a:t>monthAver</a:t>
            </a:r>
            <a:endParaRPr sz="1150" dirty="0">
              <a:solidFill>
                <a:srgbClr val="000000"/>
              </a:solidFill>
              <a:latin typeface="Verdana"/>
              <a:ea typeface="Verdana"/>
              <a:cs typeface="Verdana"/>
              <a:sym typeface="Verdana"/>
            </a:endParaRPr>
          </a:p>
        </p:txBody>
      </p:sp>
      <p:sp>
        <p:nvSpPr>
          <p:cNvPr id="502" name="Google Shape;502;p46">
            <a:extLst>
              <a:ext uri="{FF2B5EF4-FFF2-40B4-BE49-F238E27FC236}">
                <a16:creationId xmlns:a16="http://schemas.microsoft.com/office/drawing/2014/main" id="{CCB88B6D-34A7-914C-F28F-534A7A084EA6}"/>
              </a:ext>
            </a:extLst>
          </p:cNvPr>
          <p:cNvSpPr txBox="1">
            <a:spLocks noGrp="1"/>
          </p:cNvSpPr>
          <p:nvPr>
            <p:ph type="body" idx="1"/>
          </p:nvPr>
        </p:nvSpPr>
        <p:spPr>
          <a:xfrm>
            <a:off x="356563" y="5814875"/>
            <a:ext cx="4292400" cy="8505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Daily Client Investment:</a:t>
            </a:r>
            <a:r>
              <a:rPr lang="en" sz="1150" dirty="0">
                <a:solidFill>
                  <a:srgbClr val="000000"/>
                </a:solidFill>
                <a:latin typeface="Verdana"/>
                <a:ea typeface="Verdana"/>
                <a:cs typeface="Verdana"/>
                <a:sym typeface="Verdana"/>
              </a:rPr>
              <a:t> </a:t>
            </a:r>
            <a:r>
              <a:rPr lang="en" dirty="0" err="1">
                <a:solidFill>
                  <a:srgbClr val="000000"/>
                </a:solidFill>
              </a:rPr>
              <a:t>dailyAver</a:t>
            </a:r>
            <a:endParaRPr sz="1150" dirty="0">
              <a:solidFill>
                <a:srgbClr val="000000"/>
              </a:solidFill>
              <a:latin typeface="Verdana"/>
              <a:ea typeface="Verdana"/>
              <a:cs typeface="Verdana"/>
              <a:sym typeface="Verdana"/>
            </a:endParaRPr>
          </a:p>
        </p:txBody>
      </p:sp>
      <p:sp>
        <p:nvSpPr>
          <p:cNvPr id="503" name="Google Shape;503;p46">
            <a:extLst>
              <a:ext uri="{FF2B5EF4-FFF2-40B4-BE49-F238E27FC236}">
                <a16:creationId xmlns:a16="http://schemas.microsoft.com/office/drawing/2014/main" id="{37AFBF0A-0B13-BF33-C076-7771F6890D65}"/>
              </a:ext>
            </a:extLst>
          </p:cNvPr>
          <p:cNvSpPr txBox="1">
            <a:spLocks noGrp="1"/>
          </p:cNvSpPr>
          <p:nvPr>
            <p:ph type="body" idx="1"/>
          </p:nvPr>
        </p:nvSpPr>
        <p:spPr>
          <a:xfrm>
            <a:off x="2416613" y="6144768"/>
            <a:ext cx="4292400" cy="176968"/>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dirty="0">
                <a:solidFill>
                  <a:srgbClr val="000000"/>
                </a:solidFill>
                <a:latin typeface="Verdana"/>
                <a:ea typeface="Verdana"/>
                <a:cs typeface="Verdana"/>
                <a:sym typeface="Verdana"/>
              </a:rPr>
              <a:t>Thank you for you trust and confidence</a:t>
            </a:r>
            <a:endParaRPr sz="1150" dirty="0">
              <a:solidFill>
                <a:srgbClr val="000000"/>
              </a:solidFill>
              <a:latin typeface="Verdana"/>
              <a:ea typeface="Verdana"/>
              <a:cs typeface="Verdana"/>
              <a:sym typeface="Verdana"/>
            </a:endParaRPr>
          </a:p>
        </p:txBody>
      </p:sp>
      <p:cxnSp>
        <p:nvCxnSpPr>
          <p:cNvPr id="504" name="Google Shape;504;p46">
            <a:extLst>
              <a:ext uri="{FF2B5EF4-FFF2-40B4-BE49-F238E27FC236}">
                <a16:creationId xmlns:a16="http://schemas.microsoft.com/office/drawing/2014/main" id="{B6A759A8-B63E-C8E6-BCDA-D485FEC278C0}"/>
              </a:ext>
            </a:extLst>
          </p:cNvPr>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a:extLst>
              <a:ext uri="{FF2B5EF4-FFF2-40B4-BE49-F238E27FC236}">
                <a16:creationId xmlns:a16="http://schemas.microsoft.com/office/drawing/2014/main" id="{BE46A55B-6C70-3271-9B6C-8B539F9DC976}"/>
              </a:ext>
            </a:extLst>
          </p:cNvPr>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a:extLst>
              <a:ext uri="{FF2B5EF4-FFF2-40B4-BE49-F238E27FC236}">
                <a16:creationId xmlns:a16="http://schemas.microsoft.com/office/drawing/2014/main" id="{B8CA2A91-0C2E-EDA5-494B-985D1BACDCE5}"/>
              </a:ext>
            </a:extLst>
          </p:cNvPr>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a:extLst>
              <a:ext uri="{FF2B5EF4-FFF2-40B4-BE49-F238E27FC236}">
                <a16:creationId xmlns:a16="http://schemas.microsoft.com/office/drawing/2014/main" id="{3FE18993-6A58-F73D-471B-BEB3EC19FCD1}"/>
              </a:ext>
            </a:extLst>
          </p:cNvPr>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a:extLst>
              <a:ext uri="{FF2B5EF4-FFF2-40B4-BE49-F238E27FC236}">
                <a16:creationId xmlns:a16="http://schemas.microsoft.com/office/drawing/2014/main" id="{B11F436F-C777-0FC1-3AC6-3A759B08D719}"/>
              </a:ext>
            </a:extLst>
          </p:cNvPr>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a:extLst>
              <a:ext uri="{FF2B5EF4-FFF2-40B4-BE49-F238E27FC236}">
                <a16:creationId xmlns:a16="http://schemas.microsoft.com/office/drawing/2014/main" id="{164CBB6F-6651-365F-B0A6-E9186819B26E}"/>
              </a:ext>
            </a:extLst>
          </p:cNvPr>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3" name="Text Placeholder 2">
            <a:extLst>
              <a:ext uri="{FF2B5EF4-FFF2-40B4-BE49-F238E27FC236}">
                <a16:creationId xmlns:a16="http://schemas.microsoft.com/office/drawing/2014/main" id="{1018689E-29B0-6D7F-5913-2EFC144BD444}"/>
              </a:ext>
            </a:extLst>
          </p:cNvPr>
          <p:cNvSpPr>
            <a:spLocks noGrp="1"/>
          </p:cNvSpPr>
          <p:nvPr>
            <p:ph type="body" idx="1"/>
          </p:nvPr>
        </p:nvSpPr>
        <p:spPr>
          <a:xfrm>
            <a:off x="365750" y="1170424"/>
            <a:ext cx="8408100" cy="3443597"/>
          </a:xfrm>
        </p:spPr>
        <p:txBody>
          <a:bodyPr/>
          <a:lstStyle/>
          <a:p>
            <a:pPr lvl="0"/>
            <a:r>
              <a:rPr lang="en-US" sz="1600" b="1" dirty="0"/>
              <a:t>Cancellation policy</a:t>
            </a:r>
            <a:r>
              <a:rPr lang="en-US" sz="1600" dirty="0"/>
              <a:t>: Client can cancel after 13 weeks from the schedule start date.</a:t>
            </a:r>
          </a:p>
          <a:p>
            <a:pPr lvl="0"/>
            <a:r>
              <a:rPr lang="en-US" sz="1600" b="1" dirty="0"/>
              <a:t>Notice period</a:t>
            </a:r>
            <a:r>
              <a:rPr lang="en-US" sz="1600" dirty="0"/>
              <a:t>: Requires a two-week advance notice for cancellation.</a:t>
            </a:r>
          </a:p>
          <a:p>
            <a:pPr lvl="0"/>
            <a:r>
              <a:rPr lang="en-US" sz="1600" b="1" dirty="0"/>
              <a:t>No short rate</a:t>
            </a:r>
            <a:r>
              <a:rPr lang="en-US" sz="1600" dirty="0"/>
              <a:t>: Penalty fees are waived if canceled according to the timeline.</a:t>
            </a:r>
          </a:p>
          <a:p>
            <a:pPr lvl="0"/>
            <a:r>
              <a:rPr lang="en-US" sz="1600" b="1" dirty="0"/>
              <a:t>Offer expiration</a:t>
            </a:r>
            <a:r>
              <a:rPr lang="en-US" sz="1600" dirty="0"/>
              <a:t>: Proposal remains valid for 10 business days following presentation.</a:t>
            </a:r>
          </a:p>
          <a:p>
            <a:pPr lvl="0"/>
            <a:r>
              <a:rPr lang="en-US" sz="1600" b="1" dirty="0"/>
              <a:t>FCC compliance</a:t>
            </a:r>
            <a:r>
              <a:rPr lang="en-US" sz="1600" dirty="0"/>
              <a:t>: Adheres strictly to Paragraphs 49 and 50 of FCC Report and Order No. FCC 07-217.</a:t>
            </a:r>
          </a:p>
          <a:p>
            <a:pPr lvl="0"/>
            <a:r>
              <a:rPr lang="en-US" sz="1600" b="1" dirty="0"/>
              <a:t>Non-discrimination policy</a:t>
            </a:r>
            <a:r>
              <a:rPr lang="en-US" sz="1600" dirty="0"/>
              <a:t>: Advertising contracts are processed entirely without regard to race or ethnicity.</a:t>
            </a:r>
          </a:p>
          <a:p>
            <a:endParaRPr lang="en-US" dirty="0"/>
          </a:p>
        </p:txBody>
      </p:sp>
    </p:spTree>
    <p:extLst>
      <p:ext uri="{BB962C8B-B14F-4D97-AF65-F5344CB8AC3E}">
        <p14:creationId xmlns:p14="http://schemas.microsoft.com/office/powerpoint/2010/main" val="13001472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 Policy Agreement</a:t>
            </a:r>
            <a:endParaRPr dirty="0"/>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dirty="0">
                <a:solidFill>
                  <a:srgbClr val="000000"/>
                </a:solidFill>
                <a:latin typeface="Verdana"/>
                <a:ea typeface="Verdana"/>
                <a:cs typeface="Verdana"/>
                <a:sym typeface="Verdana"/>
              </a:rPr>
              <a:t>At </a:t>
            </a:r>
          </a:p>
          <a:p>
            <a:pPr marL="0" lvl="0" indent="0" algn="ctr" rtl="0">
              <a:spcBef>
                <a:spcPts val="0"/>
              </a:spcBef>
              <a:spcAft>
                <a:spcPts val="1600"/>
              </a:spcAft>
              <a:buNone/>
            </a:pPr>
            <a:r>
              <a:rPr lang="en" sz="1600" dirty="0">
                <a:solidFill>
                  <a:srgbClr val="000000"/>
                </a:solidFill>
                <a:latin typeface="Verdana"/>
                <a:ea typeface="Verdana"/>
                <a:cs typeface="Verdana"/>
                <a:sym typeface="Verdana"/>
              </a:rPr>
              <a:t>	We have an agreement, which we will discuss with all our business partners and review throughout the year</a:t>
            </a:r>
            <a:endParaRPr sz="1600" dirty="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49" y="2386584"/>
            <a:ext cx="6932517" cy="3621000"/>
          </a:xfrm>
          <a:prstGeom prst="rect">
            <a:avLst/>
          </a:prstGeom>
        </p:spPr>
        <p:txBody>
          <a:bodyPr spcFirstLastPara="1" wrap="square" lIns="91425" tIns="91425" rIns="91425" bIns="91425" anchor="t" anchorCtr="0">
            <a:noAutofit/>
          </a:bodyPr>
          <a:lstStyle/>
          <a:p>
            <a:pPr lvl="1">
              <a:lnSpc>
                <a:spcPct val="100000"/>
              </a:lnSpc>
              <a:spcBef>
                <a:spcPts val="0"/>
              </a:spcBef>
              <a:buClr>
                <a:schemeClr val="dk1"/>
              </a:buClr>
              <a:buFont typeface="Verdana"/>
              <a:buChar char="●"/>
            </a:pPr>
            <a:r>
              <a:rPr lang="en" dirty="0">
                <a:solidFill>
                  <a:schemeClr val="dk1"/>
                </a:solidFill>
                <a:latin typeface="Verdana"/>
                <a:ea typeface="Verdana"/>
                <a:cs typeface="Verdana"/>
                <a:sym typeface="Verdana"/>
              </a:rPr>
              <a:t>The Marketing Representative has a full understanding of my business needs, goals and objectives.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He/she has been in constant contact to make sure that the program is running as planned.</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Statement/Invoice questions have been handled in a timely fashion.</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Client calls have been returned within a reasonable time frame.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Promises have been kept and commitments have been honored at all times.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overall service experience rating I would give my Marketing Representative.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marketing program has met my expectations given the time period it has been running.</a:t>
            </a:r>
            <a:endParaRPr dirty="0">
              <a:solidFill>
                <a:schemeClr val="dk1"/>
              </a:solidFill>
              <a:latin typeface="Verdana"/>
              <a:ea typeface="Verdana"/>
              <a:cs typeface="Verdana"/>
              <a:sym typeface="Verdana"/>
            </a:endParaRPr>
          </a:p>
          <a:p>
            <a:pPr lvl="1">
              <a:lnSpc>
                <a:spcPct val="100000"/>
              </a:lnSpc>
              <a:spcBef>
                <a:spcPts val="1000"/>
              </a:spcBef>
              <a:spcAft>
                <a:spcPts val="1000"/>
              </a:spcAft>
              <a:buClr>
                <a:schemeClr val="dk1"/>
              </a:buClr>
              <a:buFont typeface="Verdana"/>
              <a:buChar char="●"/>
            </a:pPr>
            <a:r>
              <a:rPr lang="en" dirty="0">
                <a:solidFill>
                  <a:schemeClr val="dk1"/>
                </a:solidFill>
                <a:latin typeface="Verdana"/>
                <a:ea typeface="Verdana"/>
                <a:cs typeface="Verdana"/>
                <a:sym typeface="Verdana"/>
              </a:rPr>
              <a:t>How likely I would be to recommend someone else to this group.</a:t>
            </a:r>
            <a:endParaRPr dirty="0">
              <a:solidFill>
                <a:schemeClr val="dk1"/>
              </a:solidFill>
              <a:latin typeface="Verdana"/>
              <a:ea typeface="Verdana"/>
              <a:cs typeface="Verdana"/>
              <a:sym typeface="Verdana"/>
            </a:endParaRPr>
          </a:p>
        </p:txBody>
      </p:sp>
      <p:sp>
        <p:nvSpPr>
          <p:cNvPr id="543" name="Google Shape;543;p49"/>
          <p:cNvSpPr txBox="1"/>
          <p:nvPr/>
        </p:nvSpPr>
        <p:spPr>
          <a:xfrm>
            <a:off x="2560400" y="1951597"/>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latin typeface="Verdana"/>
                <a:ea typeface="Verdana"/>
                <a:cs typeface="Verdana"/>
                <a:sym typeface="Verdana"/>
              </a:rPr>
              <a:t>CONTINUOUS BASIC SERVICE</a:t>
            </a:r>
            <a:endParaRPr dirty="0">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47027</TotalTime>
  <Words>28500</Words>
  <Application>Microsoft Macintosh PowerPoint</Application>
  <PresentationFormat>Custom</PresentationFormat>
  <Paragraphs>1835</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Creative Concepts I</vt:lpstr>
      <vt:lpstr>Creative Concepts II</vt:lpstr>
      <vt:lpstr>Creative Concepts III</vt:lpstr>
      <vt:lpstr>Digital/ Mobile/ Social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A Agreement</vt:lpstr>
      <vt:lpstr>Plan B</vt:lpstr>
      <vt:lpstr>Plan B Agreement</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95</cp:revision>
  <dcterms:modified xsi:type="dcterms:W3CDTF">2026-09-21T22:53:11Z</dcterms:modified>
</cp:coreProperties>
</file>