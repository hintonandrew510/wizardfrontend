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5"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565"/>
  </p:normalViewPr>
  <p:slideViewPr>
    <p:cSldViewPr snapToGrid="0">
      <p:cViewPr varScale="1">
        <p:scale>
          <a:sx n="76" d="100"/>
          <a:sy n="76" d="100"/>
        </p:scale>
        <p:origin x="48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a:extLst>
            <a:ext uri="{FF2B5EF4-FFF2-40B4-BE49-F238E27FC236}">
              <a16:creationId xmlns:a16="http://schemas.microsoft.com/office/drawing/2014/main" id="{DCDE17CC-B2B0-D5FF-5846-5902BFA07128}"/>
            </a:ext>
          </a:extLst>
        </p:cNvPr>
        <p:cNvGrpSpPr/>
        <p:nvPr/>
      </p:nvGrpSpPr>
      <p:grpSpPr>
        <a:xfrm>
          <a:off x="0" y="0"/>
          <a:ext cx="0" cy="0"/>
          <a:chOff x="0" y="0"/>
          <a:chExt cx="0" cy="0"/>
        </a:xfrm>
      </p:grpSpPr>
      <p:sp>
        <p:nvSpPr>
          <p:cNvPr id="437" name="Google Shape;437;gbb579c7b11_0_24:notes">
            <a:extLst>
              <a:ext uri="{FF2B5EF4-FFF2-40B4-BE49-F238E27FC236}">
                <a16:creationId xmlns:a16="http://schemas.microsoft.com/office/drawing/2014/main" id="{857C8FD5-537A-70BA-58F9-A757D14B93CB}"/>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a:extLst>
              <a:ext uri="{FF2B5EF4-FFF2-40B4-BE49-F238E27FC236}">
                <a16:creationId xmlns:a16="http://schemas.microsoft.com/office/drawing/2014/main" id="{22E77D2B-B914-8777-5769-D526C711F5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21500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600" dirty="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600" dirty="0">
              <a:solidFill>
                <a:srgbClr val="000000"/>
              </a:solidFill>
              <a:latin typeface="Verdana"/>
              <a:ea typeface="Verdana"/>
              <a:cs typeface="Verdana"/>
              <a:sym typeface="Verdana"/>
            </a:endParaRPr>
          </a:p>
          <a:p>
            <a:pPr marL="0" lvl="0" indent="0" algn="l" rtl="0">
              <a:spcBef>
                <a:spcPts val="0"/>
              </a:spcBef>
              <a:spcAft>
                <a:spcPts val="1600"/>
              </a:spcAft>
              <a:buNone/>
            </a:pPr>
            <a:endParaRPr sz="1150" dirty="0">
              <a:solidFill>
                <a:srgbClr val="000000"/>
              </a:solidFill>
              <a:latin typeface="Verdana"/>
              <a:ea typeface="Verdana"/>
              <a:cs typeface="Verdana"/>
              <a:sym typeface="Verdana"/>
            </a:endParaRPr>
          </a:p>
        </p:txBody>
      </p:sp>
      <p:sp>
        <p:nvSpPr>
          <p:cNvPr id="78" name="Google Shape;78;p14"/>
          <p:cNvSpPr txBox="1"/>
          <p:nvPr/>
        </p:nvSpPr>
        <p:spPr>
          <a:xfrm>
            <a:off x="899926" y="1321690"/>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b="1" dirty="0">
                <a:latin typeface="Verdana"/>
                <a:ea typeface="Verdana"/>
                <a:cs typeface="Verdana"/>
                <a:sym typeface="Verdana"/>
              </a:rPr>
              <a:t>The following proposal will be submitted to</a:t>
            </a:r>
            <a:endParaRPr sz="1800" b="1" dirty="0">
              <a:latin typeface="Verdana"/>
              <a:ea typeface="Verdana"/>
              <a:cs typeface="Verdana"/>
              <a:sym typeface="Verdana"/>
            </a:endParaRPr>
          </a:p>
          <a:p>
            <a:pPr marL="0" lvl="0" indent="0" algn="ctr" rtl="0">
              <a:spcBef>
                <a:spcPts val="0"/>
              </a:spcBef>
              <a:spcAft>
                <a:spcPts val="0"/>
              </a:spcAft>
              <a:buNone/>
            </a:pPr>
            <a:r>
              <a:rPr lang="en" sz="1800" b="1" dirty="0" err="1">
                <a:latin typeface="Verdana"/>
                <a:ea typeface="Verdana"/>
                <a:cs typeface="Verdana"/>
                <a:sym typeface="Verdana"/>
              </a:rPr>
              <a:t>clientBusinessName</a:t>
            </a:r>
            <a:endParaRPr sz="180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600" dirty="0" err="1">
                <a:solidFill>
                  <a:srgbClr val="000000"/>
                </a:solidFill>
                <a:latin typeface="Verdana"/>
                <a:ea typeface="Verdana"/>
                <a:cs typeface="Verdana"/>
                <a:sym typeface="Verdana"/>
              </a:rPr>
              <a:t>topLevelTitle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secondLevelTitle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thirdLevelTitle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rgbClr val="000000"/>
                </a:solidFill>
                <a:latin typeface="Verdana"/>
                <a:ea typeface="Verdana"/>
                <a:cs typeface="Verdana"/>
                <a:sym typeface="Verdana"/>
              </a:rPr>
              <a:t>fourthLevelTitle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dirty="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600" dirty="0" err="1">
                <a:solidFill>
                  <a:schemeClr val="dk1"/>
                </a:solidFill>
              </a:rPr>
              <a:t>topLevelName</a:t>
            </a:r>
            <a:r>
              <a:rPr lang="en" sz="1600" dirty="0">
                <a:solidFill>
                  <a:schemeClr val="dk1"/>
                </a:solidFill>
              </a:rPr>
              <a:t> </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secondLevelName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thirdLevelName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fourthLevelName</a:t>
            </a:r>
            <a:endParaRPr sz="1600" dirty="0">
              <a:solidFill>
                <a:schemeClr val="dk1"/>
              </a:solidFill>
            </a:endParaRPr>
          </a:p>
          <a:p>
            <a:pPr marL="0" lvl="0" indent="0" algn="l" rtl="0">
              <a:spcBef>
                <a:spcPts val="1600"/>
              </a:spcBef>
              <a:spcAft>
                <a:spcPts val="0"/>
              </a:spcAft>
              <a:buClr>
                <a:schemeClr val="dk1"/>
              </a:buClr>
              <a:buSzPts val="1100"/>
              <a:buFont typeface="Arial"/>
              <a:buNone/>
            </a:pPr>
            <a:endParaRPr sz="1250" dirty="0">
              <a:solidFill>
                <a:schemeClr val="dk1"/>
              </a:solidFill>
            </a:endParaRPr>
          </a:p>
          <a:p>
            <a:pPr marL="0" lvl="0" indent="0" algn="ctr" rtl="0">
              <a:lnSpc>
                <a:spcPct val="200000"/>
              </a:lnSpc>
              <a:spcBef>
                <a:spcPts val="1200"/>
              </a:spcBef>
              <a:spcAft>
                <a:spcPts val="1600"/>
              </a:spcAft>
              <a:buNone/>
            </a:pPr>
            <a:endParaRPr sz="125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760855"/>
            <a:ext cx="8227200" cy="258996"/>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3. </a:t>
            </a:r>
            <a:r>
              <a:rPr lang="en" sz="1150" b="1" dirty="0">
                <a:solidFill>
                  <a:srgbClr val="000000"/>
                </a:solidFill>
                <a:latin typeface="Verdana"/>
                <a:ea typeface="Verdana"/>
                <a:cs typeface="Verdana"/>
                <a:sym typeface="Verdana"/>
              </a:rPr>
              <a:t>What are the biggest misconceptions consumers have about </a:t>
            </a:r>
            <a:r>
              <a:rPr lang="en" b="1" dirty="0">
                <a:solidFill>
                  <a:srgbClr val="000000"/>
                </a:solidFill>
              </a:rPr>
              <a:t>your </a:t>
            </a:r>
            <a:r>
              <a:rPr lang="en" sz="1150" b="1" dirty="0">
                <a:solidFill>
                  <a:srgbClr val="000000"/>
                </a:solidFill>
                <a:latin typeface="Verdana"/>
                <a:ea typeface="Verdana"/>
                <a:cs typeface="Verdana"/>
                <a:sym typeface="Verdana"/>
              </a:rPr>
              <a:t>business?</a:t>
            </a:r>
            <a:endParaRPr sz="1150" b="1" dirty="0">
              <a:solidFill>
                <a:srgbClr val="000000"/>
              </a:solidFill>
              <a:latin typeface="Verdana"/>
              <a:ea typeface="Verdana"/>
              <a:cs typeface="Verdana"/>
              <a:sym typeface="Verdana"/>
            </a:endParaRPr>
          </a:p>
        </p:txBody>
      </p:sp>
      <p:sp>
        <p:nvSpPr>
          <p:cNvPr id="107" name="Google Shape;107;p15"/>
          <p:cNvSpPr txBox="1"/>
          <p:nvPr/>
        </p:nvSpPr>
        <p:spPr>
          <a:xfrm>
            <a:off x="594350" y="6129446"/>
            <a:ext cx="8148900" cy="710265"/>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endParaRPr sz="1100" dirty="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Strategic Marketing I</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dirty="0">
                <a:solidFill>
                  <a:schemeClr val="dk1"/>
                </a:solidFill>
              </a:rPr>
              <a:t>4. If you had the power to improve three things in your marketing, what would they be in order?</a:t>
            </a:r>
            <a:endParaRPr b="1" dirty="0">
              <a:solidFill>
                <a:schemeClr val="dk1"/>
              </a:solidFill>
            </a:endParaRPr>
          </a:p>
          <a:p>
            <a:pPr marL="0" lvl="0" indent="0" algn="l" rtl="0">
              <a:spcBef>
                <a:spcPts val="1600"/>
              </a:spcBef>
              <a:spcAft>
                <a:spcPts val="0"/>
              </a:spcAft>
              <a:buNone/>
            </a:pPr>
            <a:endParaRPr b="1" dirty="0">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880422"/>
            <a:ext cx="8227200" cy="273622"/>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5. What are your most distinctive selling advantages?</a:t>
            </a:r>
            <a:endParaRPr sz="1150" b="1" dirty="0">
              <a:solidFill>
                <a:srgbClr val="000000"/>
              </a:solidFill>
              <a:latin typeface="Verdana"/>
              <a:ea typeface="Verdana"/>
              <a:cs typeface="Verdana"/>
              <a:sym typeface="Verdana"/>
            </a:endParaRPr>
          </a:p>
        </p:txBody>
      </p:sp>
      <p:sp>
        <p:nvSpPr>
          <p:cNvPr id="123" name="Google Shape;123;p16"/>
          <p:cNvSpPr txBox="1"/>
          <p:nvPr/>
        </p:nvSpPr>
        <p:spPr>
          <a:xfrm>
            <a:off x="594360" y="6157295"/>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250323740"/>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1042216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1076108912"/>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3348395380"/>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988836849"/>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err="1">
                <a:solidFill>
                  <a:schemeClr val="dk1"/>
                </a:solidFill>
                <a:latin typeface="Verdana"/>
                <a:ea typeface="Verdana"/>
                <a:cs typeface="Verdana"/>
                <a:sym typeface="Verdana"/>
              </a:rPr>
              <a:t>planToExpand</a:t>
            </a:r>
            <a:r>
              <a:rPr lang="en" sz="1150" dirty="0">
                <a:solidFill>
                  <a:schemeClr val="dk1"/>
                </a:solidFill>
                <a:latin typeface="Verdana"/>
                <a:ea typeface="Verdana"/>
                <a:cs typeface="Verdana"/>
                <a:sym typeface="Verdana"/>
              </a:rPr>
              <a:t> </a:t>
            </a:r>
            <a:endParaRPr dirty="0"/>
          </a:p>
        </p:txBody>
      </p:sp>
      <p:sp>
        <p:nvSpPr>
          <p:cNvPr id="140" name="Google Shape;140;p17"/>
          <p:cNvSpPr txBox="1"/>
          <p:nvPr/>
        </p:nvSpPr>
        <p:spPr>
          <a:xfrm>
            <a:off x="694944" y="3891179"/>
            <a:ext cx="8031706" cy="52186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compliments</a:t>
            </a:r>
            <a:endParaRPr sz="1150" dirty="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4945296"/>
            <a:ext cx="4200000" cy="1221151"/>
          </a:xfrm>
          <a:prstGeom prst="rect">
            <a:avLst/>
          </a:prstGeom>
          <a:noFill/>
          <a:ln>
            <a:noFill/>
          </a:ln>
        </p:spPr>
        <p:txBody>
          <a:bodyPr spcFirstLastPara="1" wrap="square" lIns="91425" tIns="91425" rIns="91425" bIns="91425" anchor="ctr" anchorCtr="0">
            <a:noAutofit/>
          </a:bodyPr>
          <a:lstStyle/>
          <a:p>
            <a:pPr lvl="0"/>
            <a:r>
              <a:rPr lang="en" sz="1150" b="1" dirty="0">
                <a:solidFill>
                  <a:schemeClr val="dk1"/>
                </a:solidFill>
                <a:latin typeface="Verdana"/>
                <a:ea typeface="Verdana"/>
                <a:cs typeface="Verdana"/>
                <a:sym typeface="Verdana"/>
              </a:rPr>
              <a:t>10. </a:t>
            </a:r>
            <a:r>
              <a:rPr lang="en-US" sz="1150" b="1" dirty="0">
                <a:solidFill>
                  <a:schemeClr val="dk1"/>
                </a:solidFill>
                <a:latin typeface="Verdana"/>
                <a:ea typeface="Verdana"/>
                <a:cs typeface="Verdana"/>
                <a:sym typeface="Verdana"/>
              </a:rPr>
              <a:t>How are you approaching audiences within your digital advertising channels (e.g. location</a:t>
            </a:r>
          </a:p>
          <a:p>
            <a:pPr lvl="0"/>
            <a:r>
              <a:rPr lang="en-US" sz="1150" b="1" dirty="0">
                <a:solidFill>
                  <a:schemeClr val="dk1"/>
                </a:solidFill>
                <a:latin typeface="Verdana"/>
                <a:ea typeface="Verdana"/>
                <a:cs typeface="Verdana"/>
                <a:sym typeface="Verdana"/>
              </a:rPr>
              <a:t>visitation, first-party audience, lookalike modeling, website retargeting, etc.)? (also keeping on three lines in the PowerPoint).</a:t>
            </a:r>
            <a:endParaRPr sz="1150" b="1" dirty="0">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859256"/>
            <a:ext cx="8229600" cy="57215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complaint</a:t>
            </a:r>
            <a:endParaRPr sz="1150" dirty="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2364039595"/>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planACity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planAReach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planAFrequency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planADigitalImpressionsMonthly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US" dirty="0" err="1">
                <a:solidFill>
                  <a:schemeClr val="dk1"/>
                </a:solidFill>
                <a:latin typeface="Verdana"/>
                <a:ea typeface="Verdana"/>
                <a:cs typeface="Verdana"/>
                <a:sym typeface="Verdana"/>
              </a:rPr>
              <a:t>planAMonth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Daily Advertising Investment:</a:t>
            </a:r>
            <a:r>
              <a:rPr lang="en" dirty="0">
                <a:solidFill>
                  <a:schemeClr val="dk1"/>
                </a:solidFill>
                <a:latin typeface="Verdana"/>
                <a:ea typeface="Verdana"/>
                <a:cs typeface="Verdana"/>
                <a:sym typeface="Verdana"/>
              </a:rPr>
              <a:t> </a:t>
            </a:r>
            <a:r>
              <a:rPr lang="en" dirty="0" err="1">
                <a:solidFill>
                  <a:schemeClr val="dk1"/>
                </a:solidFill>
                <a:latin typeface="Verdana"/>
                <a:ea typeface="Verdana"/>
                <a:cs typeface="Verdana"/>
                <a:sym typeface="Verdana"/>
              </a:rPr>
              <a:t>planADaily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dirty="0" err="1">
                <a:solidFill>
                  <a:srgbClr val="000000"/>
                </a:solidFill>
              </a:rPr>
              <a:t>AAver</a:t>
            </a:r>
            <a:endParaRPr sz="1300" u="sng" dirty="0">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BGross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CClose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DProj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EClient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FMonth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GMonth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HGross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INumb</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JAdd</a:t>
            </a:r>
            <a:endParaRPr sz="1300" u="sng" dirty="0">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767136"/>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AAver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BTime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CEqual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EEqual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HSo</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IThen</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endParaRPr sz="1300" u="sng" dirty="0">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2073153747"/>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39">
          <a:extLst>
            <a:ext uri="{FF2B5EF4-FFF2-40B4-BE49-F238E27FC236}">
              <a16:creationId xmlns:a16="http://schemas.microsoft.com/office/drawing/2014/main" id="{B580299E-7D36-4BC8-D5C4-0A7DC9A2D9F7}"/>
            </a:ext>
          </a:extLst>
        </p:cNvPr>
        <p:cNvGrpSpPr/>
        <p:nvPr/>
      </p:nvGrpSpPr>
      <p:grpSpPr>
        <a:xfrm>
          <a:off x="0" y="0"/>
          <a:ext cx="0" cy="0"/>
          <a:chOff x="0" y="0"/>
          <a:chExt cx="0" cy="0"/>
        </a:xfrm>
      </p:grpSpPr>
      <p:sp>
        <p:nvSpPr>
          <p:cNvPr id="440" name="Google Shape;440;p38">
            <a:extLst>
              <a:ext uri="{FF2B5EF4-FFF2-40B4-BE49-F238E27FC236}">
                <a16:creationId xmlns:a16="http://schemas.microsoft.com/office/drawing/2014/main" id="{DCC63AD3-10CF-C82F-6AA5-04CF9A27D0FA}"/>
              </a:ext>
            </a:extLst>
          </p:cNvPr>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ROI Calculator - Plan B</a:t>
            </a:r>
            <a:endParaRPr dirty="0"/>
          </a:p>
        </p:txBody>
      </p:sp>
      <p:sp>
        <p:nvSpPr>
          <p:cNvPr id="441" name="Google Shape;441;p38">
            <a:extLst>
              <a:ext uri="{FF2B5EF4-FFF2-40B4-BE49-F238E27FC236}">
                <a16:creationId xmlns:a16="http://schemas.microsoft.com/office/drawing/2014/main" id="{D75DA3E0-7ED7-BF0C-CCFC-A0D1BE980EC5}"/>
              </a:ext>
            </a:extLst>
          </p:cNvPr>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a:extLst>
              <a:ext uri="{FF2B5EF4-FFF2-40B4-BE49-F238E27FC236}">
                <a16:creationId xmlns:a16="http://schemas.microsoft.com/office/drawing/2014/main" id="{A9F186D1-8B9C-309D-0F14-68A28F8B915C}"/>
              </a:ext>
            </a:extLst>
          </p:cNvPr>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extLst>
      <p:ext uri="{BB962C8B-B14F-4D97-AF65-F5344CB8AC3E}">
        <p14:creationId xmlns:p14="http://schemas.microsoft.com/office/powerpoint/2010/main" val="41537365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lang="en-US" dirty="0">
              <a:solidFill>
                <a:srgbClr val="000000"/>
              </a:solidFill>
            </a:endParaRPr>
          </a:p>
          <a:p>
            <a:pPr lvl="0">
              <a:lnSpc>
                <a:spcPct val="150000"/>
              </a:lnSpc>
              <a:buClr>
                <a:srgbClr val="000000"/>
              </a:buClr>
              <a:buFont typeface="Verdana"/>
              <a:buAutoNum type="arabicPeriod"/>
            </a:pPr>
            <a:r>
              <a:rPr lang="en-US">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sz="1150" dirty="0" err="1">
                <a:solidFill>
                  <a:srgbClr val="000000"/>
                </a:solidFill>
                <a:latin typeface="Verdana"/>
                <a:ea typeface="Verdana"/>
                <a:cs typeface="Verdana"/>
                <a:sym typeface="Verdana"/>
              </a:rPr>
              <a: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lang="en-US"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dirty="0" err="1">
                <a:solidFill>
                  <a:srgbClr val="000000"/>
                </a:solidFill>
              </a:rPr>
              <a:t>clientBusinessName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43580</TotalTime>
  <Words>28472</Words>
  <Application>Microsoft Macintosh PowerPoint</Application>
  <PresentationFormat>Custom</PresentationFormat>
  <Paragraphs>1817</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77</cp:revision>
  <dcterms:modified xsi:type="dcterms:W3CDTF">2026-09-13T22:13:07Z</dcterms:modified>
</cp:coreProperties>
</file>