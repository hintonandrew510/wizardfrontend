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6" r:id="rId36"/>
    <p:sldId id="290" r:id="rId37"/>
    <p:sldId id="297" r:id="rId38"/>
    <p:sldId id="291" r:id="rId39"/>
    <p:sldId id="292" r:id="rId40"/>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029"/>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EB56E276-B548-03E2-7AC9-12F8FE6FB212}"/>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BB5048CA-CAF4-E6C1-B7F5-F74EC54717F0}"/>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E6F5CE85-8AE3-680B-A5D6-047CA5D66D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4790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124AABA0-5E2B-1727-FCF0-90D395B6D101}"/>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68904835-DCAD-D72A-8B35-E925120DC151}"/>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3CB8E6BD-7A59-8BCF-F057-9249565A7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2803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191607"/>
            <a:ext cx="3538800" cy="748343"/>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1" dirty="0">
                <a:solidFill>
                  <a:schemeClr val="dk1"/>
                </a:solidFill>
                <a:latin typeface="Verdana"/>
                <a:ea typeface="Verdana"/>
                <a:cs typeface="Verdana"/>
                <a:sym typeface="Verdana"/>
              </a:rPr>
              <a:t>9. What are your digital marketing strategies? What are your goals and measures of success?</a:t>
            </a:r>
            <a:endParaRPr sz="900" b="1" dirty="0">
              <a:latin typeface="Verdana"/>
              <a:ea typeface="Verdana"/>
              <a:cs typeface="Verdana"/>
              <a:sym typeface="Verdana"/>
            </a:endParaRPr>
          </a:p>
        </p:txBody>
      </p:sp>
      <p:sp>
        <p:nvSpPr>
          <p:cNvPr id="142" name="Google Shape;142;p17"/>
          <p:cNvSpPr txBox="1"/>
          <p:nvPr/>
        </p:nvSpPr>
        <p:spPr>
          <a:xfrm>
            <a:off x="4736600" y="4945297"/>
            <a:ext cx="4200000" cy="994654"/>
          </a:xfrm>
          <a:prstGeom prst="rect">
            <a:avLst/>
          </a:prstGeom>
          <a:noFill/>
          <a:ln>
            <a:noFill/>
          </a:ln>
        </p:spPr>
        <p:txBody>
          <a:bodyPr spcFirstLastPara="1" wrap="square" lIns="91425" tIns="91425" rIns="91425" bIns="91425" anchor="ctr" anchorCtr="0">
            <a:noAutofit/>
          </a:bodyPr>
          <a:lstStyle/>
          <a:p>
            <a:pPr lvl="0"/>
            <a:r>
              <a:rPr lang="en" sz="900" b="1" dirty="0">
                <a:solidFill>
                  <a:schemeClr val="dk1"/>
                </a:solidFill>
                <a:latin typeface="Verdana"/>
                <a:ea typeface="Verdana"/>
                <a:cs typeface="Verdana"/>
                <a:sym typeface="Verdana"/>
              </a:rPr>
              <a:t>10. </a:t>
            </a:r>
            <a:r>
              <a:rPr lang="en-US" sz="900" b="1" dirty="0">
                <a:solidFill>
                  <a:schemeClr val="dk1"/>
                </a:solidFill>
                <a:latin typeface="Verdana"/>
                <a:ea typeface="Verdana"/>
                <a:cs typeface="Verdana"/>
                <a:sym typeface="Verdana"/>
              </a:rPr>
              <a:t>How are you approaching audiences within your digital advertising channels (e.g. location</a:t>
            </a:r>
          </a:p>
          <a:p>
            <a:pPr lvl="0"/>
            <a:r>
              <a:rPr lang="en-US" sz="90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90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a:t>
            </a:r>
            <a:endParaRPr sz="2000" dirty="0"/>
          </a:p>
        </p:txBody>
      </p:sp>
      <p:sp>
        <p:nvSpPr>
          <p:cNvPr id="498" name="Google Shape;498;p46"/>
          <p:cNvSpPr txBox="1">
            <a:spLocks noGrp="1"/>
          </p:cNvSpPr>
          <p:nvPr>
            <p:ph type="body" idx="1"/>
          </p:nvPr>
        </p:nvSpPr>
        <p:spPr>
          <a:xfrm>
            <a:off x="489950" y="876300"/>
            <a:ext cx="8181900" cy="15113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E675FFD4-7934-A89B-C962-80A558390925}"/>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AA880064-A33D-6585-984D-A4321B16C6BC}"/>
              </a:ext>
            </a:extLst>
          </p:cNvPr>
          <p:cNvSpPr>
            <a:spLocks noGrp="1"/>
          </p:cNvSpPr>
          <p:nvPr>
            <p:ph type="body" idx="1"/>
          </p:nvPr>
        </p:nvSpPr>
        <p:spPr/>
        <p:txBody>
          <a:bodyPr/>
          <a:lstStyle/>
          <a:p>
            <a:endParaRPr lang="en-US"/>
          </a:p>
        </p:txBody>
      </p:sp>
      <p:sp>
        <p:nvSpPr>
          <p:cNvPr id="7" name="Text Placeholder 6">
            <a:extLst>
              <a:ext uri="{FF2B5EF4-FFF2-40B4-BE49-F238E27FC236}">
                <a16:creationId xmlns:a16="http://schemas.microsoft.com/office/drawing/2014/main" id="{BF6904F9-3DE0-D121-AFBC-51BCE42C2020}"/>
              </a:ext>
            </a:extLst>
          </p:cNvPr>
          <p:cNvSpPr>
            <a:spLocks noGrp="1"/>
          </p:cNvSpPr>
          <p:nvPr>
            <p:ph type="body" idx="1"/>
          </p:nvPr>
        </p:nvSpPr>
        <p:spPr/>
        <p:txBody>
          <a:bodyPr/>
          <a:lstStyle/>
          <a:p>
            <a:endParaRPr lang="en-US"/>
          </a:p>
        </p:txBody>
      </p:sp>
      <p:sp>
        <p:nvSpPr>
          <p:cNvPr id="9" name="Text Placeholder 8">
            <a:extLst>
              <a:ext uri="{FF2B5EF4-FFF2-40B4-BE49-F238E27FC236}">
                <a16:creationId xmlns:a16="http://schemas.microsoft.com/office/drawing/2014/main" id="{F9096218-489B-CA01-B7F4-21DD368F478F}"/>
              </a:ext>
            </a:extLst>
          </p:cNvPr>
          <p:cNvSpPr>
            <a:spLocks noGrp="1"/>
          </p:cNvSpPr>
          <p:nvPr>
            <p:ph type="body" idx="1"/>
          </p:nvPr>
        </p:nvSpPr>
        <p:spPr/>
        <p:txBody>
          <a:bodyPr/>
          <a:lstStyle/>
          <a:p>
            <a:endParaRPr lang="en-US"/>
          </a:p>
        </p:txBody>
      </p:sp>
      <p:sp>
        <p:nvSpPr>
          <p:cNvPr id="11" name="Text Placeholder 10">
            <a:extLst>
              <a:ext uri="{FF2B5EF4-FFF2-40B4-BE49-F238E27FC236}">
                <a16:creationId xmlns:a16="http://schemas.microsoft.com/office/drawing/2014/main" id="{55DAE7A6-7C6C-0D4C-BA27-84FC1EDA28AA}"/>
              </a:ext>
            </a:extLst>
          </p:cNvPr>
          <p:cNvSpPr>
            <a:spLocks noGrp="1"/>
          </p:cNvSpPr>
          <p:nvPr>
            <p:ph type="body" idx="1"/>
          </p:nvPr>
        </p:nvSpPr>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3906EF19-7D0E-4262-A25F-663B8FFEA9F5}"/>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C86A0ACC-A7B6-F84E-8196-C22F2EB9DCD7}"/>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 Signed Agreement</a:t>
            </a:r>
            <a:endParaRPr sz="2000" dirty="0"/>
          </a:p>
        </p:txBody>
      </p:sp>
      <p:sp>
        <p:nvSpPr>
          <p:cNvPr id="500" name="Google Shape;500;p46">
            <a:extLst>
              <a:ext uri="{FF2B5EF4-FFF2-40B4-BE49-F238E27FC236}">
                <a16:creationId xmlns:a16="http://schemas.microsoft.com/office/drawing/2014/main" id="{DDB899BC-958F-F125-33C6-32FBA32CEE39}"/>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E78146E2-C561-A7B4-992A-154D900C958A}"/>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sz="1150" dirty="0" err="1">
                <a:solidFill>
                  <a:srgbClr val="000000"/>
                </a:solidFill>
                <a:latin typeface="Verdana"/>
                <a:ea typeface="Verdana"/>
                <a:cs typeface="Verdana"/>
                <a:sym typeface="Verdana"/>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DF37FF30-153A-D3A6-E2E0-872E554162BD}"/>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EECC7735-1822-FCD9-6ECC-CAB7B33CF1F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4A4D16AD-41CC-C67D-5556-A8831D3002F1}"/>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936A9F74-8C53-60B7-B579-3269AE54CB7F}"/>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0F1BB3DC-4477-C16D-53BA-E07B1B3ECDF2}"/>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2DBB52C6-B3CB-E049-D928-6B663C2A9FD0}"/>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D2AF22E8-7909-E1EF-AE61-379EE6914304}"/>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5213BFC-E69C-C3F3-497F-A05B8BBDEDF8}"/>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5F1EBF5F-DCFD-2FD1-B53C-2762FBC06A5B}"/>
              </a:ext>
            </a:extLst>
          </p:cNvPr>
          <p:cNvSpPr>
            <a:spLocks noGrp="1"/>
          </p:cNvSpPr>
          <p:nvPr>
            <p:ph type="body" idx="1"/>
          </p:nvPr>
        </p:nvSpPr>
        <p:spPr>
          <a:xfrm>
            <a:off x="365750" y="1170424"/>
            <a:ext cx="8408100" cy="3443597"/>
          </a:xfrm>
        </p:spPr>
        <p:txBody>
          <a:bodyPr/>
          <a:lstStyle/>
          <a:p>
            <a:pPr marL="155575" indent="0">
              <a:buNone/>
            </a:pPr>
            <a:r>
              <a:rPr lang="en-US" sz="2000" dirty="0">
                <a:solidFill>
                  <a:schemeClr val="dk1"/>
                </a:solidFill>
              </a:rPr>
              <a:t>Client may cancel after 13 weeks from schedule start date with two weeks’ notice and no short rate. </a:t>
            </a:r>
          </a:p>
          <a:p>
            <a:pPr marL="155575" indent="0">
              <a:buNone/>
            </a:pPr>
            <a:endParaRPr lang="en-US" sz="2000" dirty="0">
              <a:solidFill>
                <a:schemeClr val="dk1"/>
              </a:solidFill>
            </a:endParaRPr>
          </a:p>
          <a:p>
            <a:pPr marL="155575" indent="0">
              <a:buNone/>
            </a:pPr>
            <a:r>
              <a:rPr lang="en-US" sz="2000" dirty="0">
                <a:solidFill>
                  <a:schemeClr val="dk1"/>
                </a:solidFill>
              </a:rPr>
              <a:t>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lang="en-US" sz="2000" dirty="0">
              <a:solidFill>
                <a:srgbClr val="000000"/>
              </a:solidFill>
            </a:endParaRPr>
          </a:p>
          <a:p>
            <a:endParaRPr lang="en-US" dirty="0"/>
          </a:p>
        </p:txBody>
      </p:sp>
    </p:spTree>
    <p:extLst>
      <p:ext uri="{BB962C8B-B14F-4D97-AF65-F5344CB8AC3E}">
        <p14:creationId xmlns:p14="http://schemas.microsoft.com/office/powerpoint/2010/main" val="3709393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a:t>
            </a:r>
            <a:endParaRPr sz="2000" dirty="0"/>
          </a:p>
        </p:txBody>
      </p:sp>
      <p:sp>
        <p:nvSpPr>
          <p:cNvPr id="526" name="Google Shape;526;p47"/>
          <p:cNvSpPr txBox="1">
            <a:spLocks noGrp="1"/>
          </p:cNvSpPr>
          <p:nvPr>
            <p:ph type="body" idx="1"/>
          </p:nvPr>
        </p:nvSpPr>
        <p:spPr>
          <a:xfrm>
            <a:off x="489950" y="1079500"/>
            <a:ext cx="8181900" cy="9525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661271"/>
            <a:ext cx="8430300" cy="22300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050" b="1" dirty="0">
                <a:solidFill>
                  <a:srgbClr val="000000"/>
                </a:solidFill>
                <a:latin typeface="Verdana"/>
                <a:ea typeface="Verdana"/>
                <a:cs typeface="Verdana"/>
                <a:sym typeface="Verdana"/>
              </a:rPr>
              <a:t>\</a:t>
            </a:r>
            <a:endParaRPr sz="1050" b="1" dirty="0">
              <a:solidFill>
                <a:srgbClr val="000000"/>
              </a:solidFill>
              <a:latin typeface="Verdana"/>
              <a:ea typeface="Verdana"/>
              <a:cs typeface="Verdana"/>
              <a:sym typeface="Verdana"/>
            </a:endParaRPr>
          </a:p>
        </p:txBody>
      </p:sp>
      <p:sp>
        <p:nvSpPr>
          <p:cNvPr id="3" name="Text Placeholder 2">
            <a:extLst>
              <a:ext uri="{FF2B5EF4-FFF2-40B4-BE49-F238E27FC236}">
                <a16:creationId xmlns:a16="http://schemas.microsoft.com/office/drawing/2014/main" id="{31490B18-7848-9F9B-2B0C-FDCADEAB66B9}"/>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2BED4CF7-6E32-0F06-6D94-C9F8EB2E8176}"/>
              </a:ext>
            </a:extLst>
          </p:cNvPr>
          <p:cNvSpPr>
            <a:spLocks noGrp="1"/>
          </p:cNvSpPr>
          <p:nvPr>
            <p:ph type="body" idx="1"/>
          </p:nvPr>
        </p:nvSpPr>
        <p:spPr/>
        <p:txBody>
          <a:bodyPr/>
          <a:lstStyle/>
          <a:p>
            <a:endParaRPr lang="en-US"/>
          </a:p>
        </p:txBody>
      </p:sp>
      <p:sp>
        <p:nvSpPr>
          <p:cNvPr id="7" name="Text Placeholder 6">
            <a:extLst>
              <a:ext uri="{FF2B5EF4-FFF2-40B4-BE49-F238E27FC236}">
                <a16:creationId xmlns:a16="http://schemas.microsoft.com/office/drawing/2014/main" id="{6BD503D8-4D48-4DD0-3CF7-86D7675ED768}"/>
              </a:ext>
            </a:extLst>
          </p:cNvPr>
          <p:cNvSpPr>
            <a:spLocks noGrp="1"/>
          </p:cNvSpPr>
          <p:nvPr>
            <p:ph type="body" idx="1"/>
          </p:nvPr>
        </p:nvSpPr>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6C9F2548-8571-D458-ABA9-E14C4F0EACA8}"/>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010D24C1-6E0D-3CD2-952A-FAE91B24DF5A}"/>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 Signed Agreement</a:t>
            </a:r>
            <a:endParaRPr sz="2000" dirty="0"/>
          </a:p>
        </p:txBody>
      </p:sp>
      <p:sp>
        <p:nvSpPr>
          <p:cNvPr id="500" name="Google Shape;500;p46">
            <a:extLst>
              <a:ext uri="{FF2B5EF4-FFF2-40B4-BE49-F238E27FC236}">
                <a16:creationId xmlns:a16="http://schemas.microsoft.com/office/drawing/2014/main" id="{DB9894EE-733C-2A59-C26C-3AFF5D760178}"/>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31B5A840-058D-0C0A-4DAB-2433B86D6659}"/>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$3</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CCB88B6D-34A7-914C-F28F-534A7A084EA6}"/>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$0</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37AFBF0A-0B13-BF33-C076-7771F6890D6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B6A759A8-B63E-C8E6-BCDA-D485FEC278C0}"/>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BE46A55B-6C70-3271-9B6C-8B539F9DC976}"/>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B8CA2A91-0C2E-EDA5-494B-985D1BACDCE5}"/>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3FE18993-6A58-F73D-471B-BEB3EC19FCD1}"/>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B11F436F-C777-0FC1-3AC6-3A759B08D719}"/>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64CBB6F-6651-365F-B0A6-E9186819B26E}"/>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1018689E-29B0-6D7F-5913-2EFC144BD444}"/>
              </a:ext>
            </a:extLst>
          </p:cNvPr>
          <p:cNvSpPr>
            <a:spLocks noGrp="1"/>
          </p:cNvSpPr>
          <p:nvPr>
            <p:ph type="body" idx="1"/>
          </p:nvPr>
        </p:nvSpPr>
        <p:spPr>
          <a:xfrm>
            <a:off x="365750" y="1170424"/>
            <a:ext cx="8408100" cy="3443597"/>
          </a:xfrm>
        </p:spPr>
        <p:txBody>
          <a:bodyPr/>
          <a:lstStyle/>
          <a:p>
            <a:pPr marL="155575" indent="0">
              <a:buNone/>
            </a:pPr>
            <a:r>
              <a:rPr lang="en-US" sz="2000" dirty="0">
                <a:solidFill>
                  <a:schemeClr val="dk1"/>
                </a:solidFill>
              </a:rPr>
              <a:t>Client may cancel after 13 weeks from schedule start date with two weeks’ notice and no short rate. </a:t>
            </a:r>
          </a:p>
          <a:p>
            <a:pPr marL="155575" indent="0">
              <a:buNone/>
            </a:pPr>
            <a:endParaRPr lang="en-US" sz="2000" dirty="0">
              <a:solidFill>
                <a:schemeClr val="dk1"/>
              </a:solidFill>
            </a:endParaRPr>
          </a:p>
          <a:p>
            <a:pPr marL="155575" indent="0">
              <a:buNone/>
            </a:pPr>
            <a:r>
              <a:rPr lang="en-US" sz="2000" dirty="0">
                <a:solidFill>
                  <a:schemeClr val="dk1"/>
                </a:solidFill>
              </a:rPr>
              <a:t>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lang="en-US" sz="2000" dirty="0">
              <a:solidFill>
                <a:srgbClr val="000000"/>
              </a:solidFill>
            </a:endParaRPr>
          </a:p>
          <a:p>
            <a:endParaRPr lang="en-US" dirty="0"/>
          </a:p>
        </p:txBody>
      </p:sp>
    </p:spTree>
    <p:extLst>
      <p:ext uri="{BB962C8B-B14F-4D97-AF65-F5344CB8AC3E}">
        <p14:creationId xmlns:p14="http://schemas.microsoft.com/office/powerpoint/2010/main" val="130014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46996</TotalTime>
  <Words>28500</Words>
  <Application>Microsoft Macintosh PowerPoint</Application>
  <PresentationFormat>Custom</PresentationFormat>
  <Paragraphs>1826</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A Signed Agreement</vt:lpstr>
      <vt:lpstr>Plan B</vt:lpstr>
      <vt:lpstr>Plan B Signed Agreement</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90</cp:revision>
  <dcterms:modified xsi:type="dcterms:W3CDTF">2026-09-21T18:20:09Z</dcterms:modified>
</cp:coreProperties>
</file>