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2992"/>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1-03T21:58:52.260" idx="2">
    <p:pos x="10" y="10"/>
    <p:text/>
    <p:extLst>
      <p:ext uri="{C676402C-5697-4E1C-873F-D02D1690AC5C}">
        <p15:threadingInfo xmlns:p15="http://schemas.microsoft.com/office/powerpoint/2012/main" timeZoneBias="300"/>
      </p:ext>
    </p:extLst>
  </p:cm>
  <p:cm authorId="0" dt="2026-01-03T21:15:26.536" idx="1">
    <p:pos x="6000" y="0"/>
    <p:text>OnePresentedToSlide
</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4945296"/>
            <a:ext cx="4200000" cy="1221151"/>
          </a:xfrm>
          <a:prstGeom prst="rect">
            <a:avLst/>
          </a:prstGeom>
          <a:noFill/>
          <a:ln>
            <a:noFill/>
          </a:ln>
        </p:spPr>
        <p:txBody>
          <a:bodyPr spcFirstLastPara="1" wrap="square" lIns="91425" tIns="91425" rIns="91425" bIns="91425" anchor="ctr" anchorCtr="0">
            <a:noAutofit/>
          </a:bodyPr>
          <a:lstStyle/>
          <a:p>
            <a:pPr lvl="0"/>
            <a:r>
              <a:rPr lang="en" sz="1150" b="1" dirty="0">
                <a:solidFill>
                  <a:schemeClr val="dk1"/>
                </a:solidFill>
                <a:latin typeface="Verdana"/>
                <a:ea typeface="Verdana"/>
                <a:cs typeface="Verdana"/>
                <a:sym typeface="Verdana"/>
              </a:rPr>
              <a:t>10. </a:t>
            </a:r>
            <a:r>
              <a:rPr lang="en-US" sz="1150" b="1" dirty="0">
                <a:solidFill>
                  <a:schemeClr val="dk1"/>
                </a:solidFill>
                <a:latin typeface="Verdana"/>
                <a:ea typeface="Verdana"/>
                <a:cs typeface="Verdana"/>
                <a:sym typeface="Verdana"/>
              </a:rPr>
              <a:t>How are you approaching audiences within your digital advertising channels (e.g. location</a:t>
            </a:r>
          </a:p>
          <a:p>
            <a:pPr lvl="0"/>
            <a:r>
              <a:rPr lang="en-US" sz="115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115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684013" y="6245352"/>
            <a:ext cx="2419649" cy="594360"/>
          </a:xfrm>
          <a:prstGeom prst="rect">
            <a:avLst/>
          </a:prstGeom>
        </p:spPr>
        <p:txBody>
          <a:bodyPr spcFirstLastPara="1" wrap="square" lIns="91425" tIns="91425" rIns="91425" bIns="91425" anchor="t" anchorCtr="0">
            <a:noAutofit/>
          </a:bodyPr>
          <a:lstStyle/>
          <a:p>
            <a:pPr marL="0" lvl="0" indent="0" algn="ctr">
              <a:spcAft>
                <a:spcPts val="1600"/>
              </a:spcAft>
              <a:buNone/>
            </a:pPr>
            <a:r>
              <a:rPr lang="en" sz="1150" b="1" dirty="0">
                <a:solidFill>
                  <a:srgbClr val="000000"/>
                </a:solidFill>
                <a:latin typeface="Verdana"/>
                <a:ea typeface="Verdana"/>
                <a:cs typeface="Verdana"/>
                <a:sym typeface="Verdana"/>
              </a:rPr>
              <a:t>Adv % of Gross Sales </a:t>
            </a:r>
            <a:r>
              <a:rPr lang="en" sz="800" b="1" dirty="0">
                <a:solidFill>
                  <a:srgbClr val="000000"/>
                </a:solidFill>
                <a:latin typeface="Verdana"/>
                <a:ea typeface="Verdana"/>
                <a:cs typeface="Verdana"/>
                <a:sym typeface="Verdana"/>
              </a:rPr>
              <a:t>(</a:t>
            </a:r>
            <a:r>
              <a:rPr lang="en-US" sz="800" dirty="0">
                <a:solidFill>
                  <a:srgbClr val="FF0000"/>
                </a:solidFill>
              </a:rPr>
              <a:t>using industry average or if not known the</a:t>
            </a:r>
            <a:r>
              <a:rPr lang="en-US" sz="800" dirty="0"/>
              <a:t> </a:t>
            </a:r>
            <a:r>
              <a:rPr lang="en-US" sz="800" dirty="0">
                <a:solidFill>
                  <a:srgbClr val="FF0000"/>
                </a:solidFill>
              </a:rPr>
              <a:t>current Adv % </a:t>
            </a:r>
            <a:r>
              <a:rPr lang="en-US" dirty="0">
                <a:solidFill>
                  <a:srgbClr val="FF0000"/>
                </a:solidFill>
              </a:rPr>
              <a:t>of </a:t>
            </a:r>
            <a:r>
              <a:rPr lang="en-US" sz="800" dirty="0">
                <a:solidFill>
                  <a:srgbClr val="FF0000"/>
                </a:solidFill>
              </a:rPr>
              <a:t>gross sales)</a:t>
            </a:r>
            <a:endParaRPr lang="en" sz="800" b="1" dirty="0">
              <a:solidFill>
                <a:srgbClr val="FF0000"/>
              </a:solidFill>
              <a:latin typeface="Verdana"/>
              <a:ea typeface="Verdana"/>
              <a:cs typeface="Verdana"/>
              <a:sym typeface="Verdana"/>
            </a:endParaRPr>
          </a:p>
          <a:p>
            <a:pPr marL="0" lvl="0" indent="0" algn="ctr" rtl="0">
              <a:lnSpc>
                <a:spcPct val="100000"/>
              </a:lnSpc>
              <a:spcBef>
                <a:spcPts val="0"/>
              </a:spcBef>
              <a:spcAft>
                <a:spcPts val="1600"/>
              </a:spcAft>
              <a:buNone/>
            </a:pPr>
            <a:endParaRPr sz="1150" b="1" dirty="0">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dirty="0" err="1">
                <a:solidFill>
                  <a:schemeClr val="dk1"/>
                </a:solidFill>
                <a:latin typeface="Verdana"/>
                <a:ea typeface="Verdana"/>
                <a:cs typeface="Verdana"/>
                <a:sym typeface="Verdana"/>
              </a:rPr>
              <a:t>pctGrossSales</a:t>
            </a:r>
            <a:endParaRPr sz="1150" dirty="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lvl="0"/>
            <a:r>
              <a:rPr lang="en" dirty="0"/>
              <a:t>Creative Concepts I</a:t>
            </a:r>
            <a:endParaRPr dirty="0"/>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a:t>
            </a:r>
            <a:endParaRPr dirty="0"/>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III</a:t>
            </a:r>
            <a:endParaRPr dirty="0"/>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dirty="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7"/>
            <a:ext cx="7757100" cy="1488779"/>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Mobile/ Social Strategies</a:t>
            </a:r>
            <a:endParaRPr dirty="0"/>
          </a:p>
        </p:txBody>
      </p:sp>
      <p:sp>
        <p:nvSpPr>
          <p:cNvPr id="363" name="Google Shape;363;p30"/>
          <p:cNvSpPr txBox="1">
            <a:spLocks noGrp="1"/>
          </p:cNvSpPr>
          <p:nvPr>
            <p:ph type="body" idx="1"/>
          </p:nvPr>
        </p:nvSpPr>
        <p:spPr>
          <a:xfrm>
            <a:off x="457200" y="1964266"/>
            <a:ext cx="8229600" cy="491543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Replace this text with station/consumer information and/or customized research.</a:t>
            </a:r>
            <a:endParaRPr sz="1150" dirty="0">
              <a:solidFill>
                <a:schemeClr val="dk1"/>
              </a:solidFill>
              <a:latin typeface="Verdana"/>
              <a:ea typeface="Verdana"/>
              <a:cs typeface="Verdana"/>
              <a:sym typeface="Verdana"/>
            </a:endParaRPr>
          </a:p>
          <a:p>
            <a:pPr marL="0" lvl="0" indent="0" algn="l" rtl="0">
              <a:spcBef>
                <a:spcPts val="1000"/>
              </a:spcBef>
              <a:spcAft>
                <a:spcPts val="1600"/>
              </a:spcAft>
              <a:buNone/>
            </a:pPr>
            <a:endParaRPr sz="1150" dirty="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703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chemeClr val="accent1">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 Policy Agreement</a:t>
            </a:r>
            <a:endParaRPr dirty="0"/>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dirty="0">
                <a:solidFill>
                  <a:srgbClr val="000000"/>
                </a:solidFill>
                <a:latin typeface="Verdana"/>
                <a:ea typeface="Verdana"/>
                <a:cs typeface="Verdana"/>
                <a:sym typeface="Verdana"/>
              </a:rPr>
              <a:t>At </a:t>
            </a:r>
          </a:p>
          <a:p>
            <a:pPr marL="0" lvl="0" indent="0" algn="ctr" rtl="0">
              <a:spcBef>
                <a:spcPts val="0"/>
              </a:spcBef>
              <a:spcAft>
                <a:spcPts val="1600"/>
              </a:spcAft>
              <a:buNone/>
            </a:pPr>
            <a:r>
              <a:rPr lang="en" sz="1600" dirty="0">
                <a:solidFill>
                  <a:srgbClr val="000000"/>
                </a:solidFill>
                <a:latin typeface="Verdana"/>
                <a:ea typeface="Verdana"/>
                <a:cs typeface="Verdana"/>
                <a:sym typeface="Verdana"/>
              </a:rPr>
              <a:t>	We have an agreement, which we will discuss with all our business partners and review throughout the year</a:t>
            </a:r>
            <a:endParaRPr sz="1600" dirty="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49" y="2386584"/>
            <a:ext cx="6932517" cy="3621000"/>
          </a:xfrm>
          <a:prstGeom prst="rect">
            <a:avLst/>
          </a:prstGeom>
        </p:spPr>
        <p:txBody>
          <a:bodyPr spcFirstLastPara="1" wrap="square" lIns="91425" tIns="91425" rIns="91425" bIns="91425" anchor="t" anchorCtr="0">
            <a:noAutofit/>
          </a:bodyPr>
          <a:lstStyle/>
          <a:p>
            <a:pPr lvl="1">
              <a:lnSpc>
                <a:spcPct val="100000"/>
              </a:lnSpc>
              <a:spcBef>
                <a:spcPts val="0"/>
              </a:spcBef>
              <a:buClr>
                <a:schemeClr val="dk1"/>
              </a:buClr>
              <a:buFont typeface="Verdana"/>
              <a:buChar char="●"/>
            </a:pPr>
            <a:r>
              <a:rPr lang="en" dirty="0">
                <a:solidFill>
                  <a:schemeClr val="dk1"/>
                </a:solidFill>
                <a:latin typeface="Verdana"/>
                <a:ea typeface="Verdana"/>
                <a:cs typeface="Verdana"/>
                <a:sym typeface="Verdana"/>
              </a:rPr>
              <a:t>The Marketing Representative has a full understanding of my business needs, goals and objectives.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He/she has been in constant contact to make sure that the program is running as planned.</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Statement/Invoice questions have been handled in a timely fashion.</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Client calls have been returned within a reasonable time frame.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Promises have been kept and commitments have been honored at all times.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overall service experience rating I would give my Marketing Representative.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marketing program has met my expectations given the time period it has been running.</a:t>
            </a:r>
            <a:endParaRPr dirty="0">
              <a:solidFill>
                <a:schemeClr val="dk1"/>
              </a:solidFill>
              <a:latin typeface="Verdana"/>
              <a:ea typeface="Verdana"/>
              <a:cs typeface="Verdana"/>
              <a:sym typeface="Verdana"/>
            </a:endParaRPr>
          </a:p>
          <a:p>
            <a:pPr lvl="1">
              <a:lnSpc>
                <a:spcPct val="100000"/>
              </a:lnSpc>
              <a:spcBef>
                <a:spcPts val="1000"/>
              </a:spcBef>
              <a:spcAft>
                <a:spcPts val="1000"/>
              </a:spcAft>
              <a:buClr>
                <a:schemeClr val="dk1"/>
              </a:buClr>
              <a:buFont typeface="Verdana"/>
              <a:buChar char="●"/>
            </a:pPr>
            <a:r>
              <a:rPr lang="en" dirty="0">
                <a:solidFill>
                  <a:schemeClr val="dk1"/>
                </a:solidFill>
                <a:latin typeface="Verdana"/>
                <a:ea typeface="Verdana"/>
                <a:cs typeface="Verdana"/>
                <a:sym typeface="Verdana"/>
              </a:rPr>
              <a:t>How likely I would be to recommend someone else to this group.</a:t>
            </a:r>
            <a:endParaRPr dirty="0">
              <a:solidFill>
                <a:schemeClr val="dk1"/>
              </a:solidFill>
              <a:latin typeface="Verdana"/>
              <a:ea typeface="Verdana"/>
              <a:cs typeface="Verdana"/>
              <a:sym typeface="Verdana"/>
            </a:endParaRPr>
          </a:p>
        </p:txBody>
      </p:sp>
      <p:sp>
        <p:nvSpPr>
          <p:cNvPr id="543" name="Google Shape;543;p49"/>
          <p:cNvSpPr txBox="1"/>
          <p:nvPr/>
        </p:nvSpPr>
        <p:spPr>
          <a:xfrm>
            <a:off x="2560400" y="1951597"/>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latin typeface="Verdana"/>
                <a:ea typeface="Verdana"/>
                <a:cs typeface="Verdana"/>
                <a:sym typeface="Verdana"/>
              </a:rPr>
              <a:t>CONTINUOUS BASIC SERVICE</a:t>
            </a:r>
            <a:endParaRPr dirty="0">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44811</TotalTime>
  <Words>28492</Words>
  <Application>Microsoft Macintosh PowerPoint</Application>
  <PresentationFormat>Custom</PresentationFormat>
  <Paragraphs>1818</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Creative Concepts I</vt:lpstr>
      <vt:lpstr>Creative Concepts II</vt:lpstr>
      <vt:lpstr>Creative Concepts III</vt:lpstr>
      <vt:lpstr>Digital/ Mobile/ Social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82</cp:revision>
  <dcterms:modified xsi:type="dcterms:W3CDTF">2026-09-19T12:04:25Z</dcterms:modified>
</cp:coreProperties>
</file>