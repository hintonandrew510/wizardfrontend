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_rels/presentation.xml.rels" ContentType="application/vnd.openxmlformats-package.relationships+xml"/>
  <Override PartName="/ppt/presentation.xml" ContentType="application/vnd.openxmlformats-officedocument.presentationml.presentation.main+xml"/>
  <Override PartName="/ppt/notesMasters/_rels/notesMaster1.xml.rels" ContentType="application/vnd.openxmlformats-package.relationships+xml"/>
  <Override PartName="/ppt/notesMasters/notesMaster1.xml" ContentType="application/vnd.openxmlformats-officedocument.presentationml.notesMaster+xml"/>
  <Override PartName="/ppt/charts/chart14.xml" ContentType="application/vnd.openxmlformats-officedocument.drawingml.chart+xml"/>
  <Override PartName="/ppt/slideLayouts/slideLayout19.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23.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16.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18.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0.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Masters/slideMaster1.xml" ContentType="application/vnd.openxmlformats-officedocument.presentationml.slideMaster+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media/image51.png" ContentType="image/png"/>
  <Override PartName="/ppt/media/image36.png" ContentType="image/png"/>
  <Override PartName="/ppt/media/image127.png" ContentType="image/png"/>
  <Override PartName="/ppt/media/image52.png" ContentType="image/png"/>
  <Override PartName="/ppt/media/image37.png" ContentType="image/png"/>
  <Override PartName="/ppt/media/image128.png" ContentType="image/png"/>
  <Override PartName="/ppt/media/image38.png" ContentType="image/png"/>
  <Override PartName="/ppt/media/image129.png" ContentType="image/png"/>
  <Override PartName="/ppt/media/image39.png" ContentType="image/png"/>
  <Override PartName="/ppt/media/image21.png" ContentType="image/png"/>
  <Override PartName="/ppt/media/image112.png" ContentType="image/png"/>
  <Override PartName="/ppt/media/image11.png" ContentType="image/png"/>
  <Override PartName="/ppt/media/image102.png" ContentType="image/png"/>
  <Override PartName="/ppt/media/image22.png" ContentType="image/png"/>
  <Override PartName="/ppt/media/image113.png" ContentType="image/png"/>
  <Override PartName="/ppt/media/image8.png" ContentType="image/png"/>
  <Override PartName="/ppt/media/image23.png" ContentType="image/png"/>
  <Override PartName="/ppt/media/image114.png" ContentType="image/png"/>
  <Override PartName="/ppt/media/image53.png" ContentType="image/png"/>
  <Override PartName="/ppt/media/image1.png" ContentType="image/png"/>
  <Override PartName="/ppt/media/image24.png" ContentType="image/png"/>
  <Override PartName="/ppt/media/image42.wmf" ContentType="image/x-wmf"/>
  <Override PartName="/ppt/media/image115.png" ContentType="image/png"/>
  <Override PartName="/ppt/media/image54.png" ContentType="image/png"/>
  <Override PartName="/ppt/media/image2.png" ContentType="image/png"/>
  <Override PartName="/ppt/media/image10.png" ContentType="image/png"/>
  <Override PartName="/ppt/media/image101.png" ContentType="image/png"/>
  <Override PartName="/ppt/media/image69.png" ContentType="image/png"/>
  <Override PartName="/ppt/media/image12.png" ContentType="image/png"/>
  <Override PartName="/ppt/media/image103.png" ContentType="image/png"/>
  <Override PartName="/ppt/media/image13.png" ContentType="image/png"/>
  <Override PartName="/ppt/media/image104.png" ContentType="image/png"/>
  <Override PartName="/ppt/media/image14.png" ContentType="image/png"/>
  <Override PartName="/ppt/media/image105.png" ContentType="image/png"/>
  <Override PartName="/ppt/media/image15.png" ContentType="image/png"/>
  <Override PartName="/ppt/media/image106.png" ContentType="image/png"/>
  <Override PartName="/ppt/media/image16.png" ContentType="image/png"/>
  <Override PartName="/ppt/media/image107.png" ContentType="image/png"/>
  <Override PartName="/ppt/media/image17.png" ContentType="image/png"/>
  <Override PartName="/ppt/media/image35.wmf" ContentType="image/x-wmf"/>
  <Override PartName="/ppt/media/image108.png" ContentType="image/png"/>
  <Override PartName="/ppt/media/image18.png" ContentType="image/png"/>
  <Override PartName="/ppt/media/image109.png" ContentType="image/png"/>
  <Override PartName="/ppt/media/image111.png" ContentType="image/png"/>
  <Override PartName="/ppt/media/image20.png" ContentType="image/png"/>
  <Override PartName="/ppt/media/image43.wmf" ContentType="image/x-wmf"/>
  <Override PartName="/ppt/media/image25.png" ContentType="image/png"/>
  <Override PartName="/ppt/media/image55.png" ContentType="image/png"/>
  <Override PartName="/ppt/media/image3.png" ContentType="image/png"/>
  <Override PartName="/ppt/media/image44.wmf" ContentType="image/x-wmf"/>
  <Override PartName="/ppt/media/image26.png" ContentType="image/png"/>
  <Override PartName="/ppt/media/image117.png" ContentType="image/png"/>
  <Override PartName="/ppt/media/image6.png" ContentType="image/png"/>
  <Override PartName="/ppt/media/image58.png" ContentType="image/png"/>
  <Override PartName="/ppt/media/image118.png" ContentType="image/png"/>
  <Override PartName="/ppt/media/image45.wmf" ContentType="image/x-wmf"/>
  <Override PartName="/ppt/media/image27.png" ContentType="image/png"/>
  <Override PartName="/ppt/media/image4.png" ContentType="image/png"/>
  <Override PartName="/ppt/media/image56.png" ContentType="image/png"/>
  <Override PartName="/ppt/media/image57.png" ContentType="image/png"/>
  <Override PartName="/ppt/media/image5.png" ContentType="image/png"/>
  <Override PartName="/ppt/media/image46.wmf" ContentType="image/x-wmf"/>
  <Override PartName="/ppt/media/image28.png" ContentType="image/png"/>
  <Override PartName="/ppt/media/image59.png" ContentType="image/png"/>
  <Override PartName="/ppt/media/image7.png" ContentType="image/png"/>
  <Override PartName="/ppt/media/image29.png" ContentType="image/png"/>
  <Override PartName="/ppt/media/image121.png" ContentType="image/png"/>
  <Override PartName="/ppt/media/image30.png" ContentType="image/png"/>
  <Override PartName="/ppt/media/image89.png" ContentType="image/png"/>
  <Override PartName="/ppt/media/image122.png" ContentType="image/png"/>
  <Override PartName="/ppt/media/image31.png" ContentType="image/png"/>
  <Override PartName="/ppt/media/image79.wmf" ContentType="image/x-wmf"/>
  <Override PartName="/ppt/media/image9.png" ContentType="image/png"/>
  <Override PartName="/ppt/media/image123.png" ContentType="image/png"/>
  <Override PartName="/ppt/media/image32.png" ContentType="image/png"/>
  <Override PartName="/ppt/media/image124.png" ContentType="image/png"/>
  <Override PartName="/ppt/media/image33.png" ContentType="image/png"/>
  <Override PartName="/ppt/media/image125.png" ContentType="image/png"/>
  <Override PartName="/ppt/media/image34.png" ContentType="image/png"/>
  <Override PartName="/ppt/media/image99.png" ContentType="image/png"/>
  <Override PartName="/ppt/media/image131.png" ContentType="image/png"/>
  <Override PartName="/ppt/media/image40.png" ContentType="image/png"/>
  <Override PartName="/ppt/media/image41.png" ContentType="image/png"/>
  <Override PartName="/ppt/media/image47.png" ContentType="image/png"/>
  <Override PartName="/ppt/media/image48.png" ContentType="image/png"/>
  <Override PartName="/ppt/media/image49.png" ContentType="image/png"/>
  <Override PartName="/ppt/media/image50.png" ContentType="image/png"/>
  <Override PartName="/ppt/media/image60.png" ContentType="image/png"/>
  <Override PartName="/ppt/media/image61.png" ContentType="image/png"/>
  <Override PartName="/ppt/media/image91.png" ContentType="image/png"/>
  <Override PartName="/ppt/media/image62.png" ContentType="image/png"/>
  <Override PartName="/ppt/media/image80.wmf" ContentType="image/x-wmf"/>
  <Override PartName="/ppt/media/image81.wmf" ContentType="image/x-wmf"/>
  <Override PartName="/ppt/media/image63.png" ContentType="image/png"/>
  <Override PartName="/ppt/media/image93.png" ContentType="image/png"/>
  <Override PartName="/ppt/media/image64.png" ContentType="image/png"/>
  <Override PartName="/ppt/media/image82.wmf" ContentType="image/x-wmf"/>
  <Override PartName="/ppt/media/image83.wmf" ContentType="image/x-wmf"/>
  <Override PartName="/ppt/media/image65.png" ContentType="image/png"/>
  <Override PartName="/ppt/media/image120.png" ContentType="image/png"/>
  <Override PartName="/ppt/media/image19.png" ContentType="image/png"/>
  <Override PartName="/ppt/media/image94.png" ContentType="image/png"/>
  <Override PartName="/ppt/media/image67.png" ContentType="image/png"/>
  <Override PartName="/ppt/media/image68.png" ContentType="image/png"/>
  <Override PartName="/ppt/media/image70.png" ContentType="image/png"/>
  <Override PartName="/ppt/media/image71.png" ContentType="image/png"/>
  <Override PartName="/ppt/media/image72.png" ContentType="image/png"/>
  <Override PartName="/ppt/media/image73.png" ContentType="image/png"/>
  <Override PartName="/ppt/media/image130.png" ContentType="image/png"/>
  <Override PartName="/ppt/media/image74.png" ContentType="image/png"/>
  <Override PartName="/ppt/media/image75.png" ContentType="image/png"/>
  <Override PartName="/ppt/media/image76.png" ContentType="image/png"/>
  <Override PartName="/ppt/media/image84.png" ContentType="image/png"/>
  <Override PartName="/ppt/media/image85.png" ContentType="image/png"/>
  <Override PartName="/ppt/media/image116.wmf" ContentType="image/x-wmf"/>
  <Override PartName="/ppt/media/image86.png" ContentType="image/png"/>
  <Override PartName="/ppt/media/image87.png" ContentType="image/png"/>
  <Override PartName="/ppt/media/image95.png" ContentType="image/png"/>
  <Override PartName="/ppt/media/image97.png" ContentType="image/png"/>
  <Override PartName="/ppt/media/image98.png" ContentType="image/png"/>
  <Override PartName="/ppt/media/image90.png" ContentType="image/png"/>
  <Override PartName="/ppt/media/image119.wmf" ContentType="image/x-wmf"/>
  <Override PartName="/ppt/media/image100.png" ContentType="image/png"/>
  <Override PartName="/ppt/media/image96.png" ContentType="image/png"/>
  <Override PartName="/ppt/media/image66.png" ContentType="image/png"/>
  <Override PartName="/ppt/media/image110.png" ContentType="image/png"/>
  <Override PartName="/ppt/media/image78.png" ContentType="image/png"/>
  <Override PartName="/ppt/media/image88.png" ContentType="image/png"/>
  <Override PartName="/ppt/media/image92.png" ContentType="image/png"/>
  <Override PartName="/ppt/media/image126.png" ContentType="image/png"/>
  <Override PartName="/ppt/media/image77.png" ContentType="image/png"/>
  <Override PartName="/ppt/notesSlides/_rels/notesSlide23.xml.rels" ContentType="application/vnd.openxmlformats-package.relationships+xml"/>
  <Override PartName="/ppt/notesSlides/_rels/notesSlide1.xml.rels" ContentType="application/vnd.openxmlformats-package.relationships+xml"/>
  <Override PartName="/ppt/notesSlides/_rels/notesSlide17.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presProps.xml" ContentType="application/vnd.openxmlformats-officedocument.presentationml.presProps+xml"/>
  <Override PartName="/ppt/embeddings/oleObject1.xls" ContentType="application/vnd.ms-excel"/>
  <Override PartName="/ppt/embeddings/oleObject1.xlsx" ContentType="application/vnd.openxmlformats-officedocument.spreadsheetml.sheet"/>
  <Override PartName="/ppt/embeddings/oleObject2.xls" ContentType="application/vnd.ms-excel"/>
  <Override PartName="/ppt/embeddings/oleObject3.xls" ContentType="application/vnd.ms-excel"/>
  <Override PartName="/ppt/embeddings/oleObject4.xls" ContentType="application/vnd.ms-excel"/>
  <Override PartName="/ppt/slides/_rels/slide18.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16.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2.xml.rels" ContentType="application/vnd.openxmlformats-package.relationships+xml"/>
  <Override PartName="/ppt/slides/_rels/slide12.xml.rels" ContentType="application/vnd.openxmlformats-package.relationships+xml"/>
  <Override PartName="/ppt/slides/_rels/slide4.xml.rels" ContentType="application/vnd.openxmlformats-package.relationships+xml"/>
  <Override PartName="/ppt/slides/_rels/slide8.xml.rels" ContentType="application/vnd.openxmlformats-package.relationships+xml"/>
  <Override PartName="/ppt/slides/_rels/slide23.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29.xml.rels" ContentType="application/vnd.openxmlformats-package.relationships+xml"/>
  <Override PartName="/ppt/slides/_rels/slide15.xml.rels" ContentType="application/vnd.openxmlformats-package.relationships+xml"/>
  <Override PartName="/ppt/slides/_rels/slide20.xml.rels" ContentType="application/vnd.openxmlformats-package.relationships+xml"/>
  <Override PartName="/ppt/slides/_rels/slide31.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27.xml.rels" ContentType="application/vnd.openxmlformats-package.relationships+xml"/>
  <Override PartName="/ppt/slides/_rels/slide21.xml.rels" ContentType="application/vnd.openxmlformats-package.relationships+xml"/>
  <Override PartName="/ppt/slides/_rels/slide28.xml.rels" ContentType="application/vnd.openxmlformats-package.relationships+xml"/>
  <Override PartName="/ppt/slides/_rels/slide6.xml.rels" ContentType="application/vnd.openxmlformats-package.relationships+xml"/>
  <Override PartName="/ppt/slides/_rels/slide26.xml.rels" ContentType="application/vnd.openxmlformats-package.relationships+xml"/>
  <Override PartName="/ppt/slides/_rels/slide2.xml.rels" ContentType="application/vnd.openxmlformats-package.relationships+xml"/>
  <Override PartName="/ppt/slides/_rels/slide24.xml.rels" ContentType="application/vnd.openxmlformats-package.relationships+xml"/>
  <Override PartName="/ppt/slides/_rels/slide3.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19.xml.rels" ContentType="application/vnd.openxmlformats-package.relationships+xml"/>
  <Override PartName="/ppt/slides/slide19.xml" ContentType="application/vnd.openxmlformats-officedocument.presentationml.slide+xml"/>
  <Override PartName="/ppt/slides/slide2.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25.xml" ContentType="application/vnd.openxmlformats-officedocument.presentationml.slide+xml"/>
  <Override PartName="/ppt/slides/slide4.xml" ContentType="application/vnd.openxmlformats-officedocument.presentationml.slide+xml"/>
  <Override PartName="/ppt/slides/slide26.xml" ContentType="application/vnd.openxmlformats-officedocument.presentationml.slide+xml"/>
  <Override PartName="/ppt/slides/slide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29.xml" ContentType="application/vnd.openxmlformats-officedocument.presentationml.slide+xml"/>
  <Override PartName="/ppt/slides/slide7.xml" ContentType="application/vnd.openxmlformats-officedocument.presentationml.slide+xml"/>
  <Override PartName="/ppt/slides/slide2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2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23.xml" ContentType="application/vnd.openxmlformats-officedocument.presentationml.slide+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30.xml" ContentType="application/vnd.openxmlformats-officedocument.presentationml.slide+xml"/>
  <Override PartName="/ppt/slides/slide15.xml" ContentType="application/vnd.openxmlformats-officedocument.presentationml.slide+xml"/>
  <Override PartName="/ppt/slides/slide3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x="9144000" cy="6858000"/>
  <p:notesSz cx="9144000" cy="685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presProps" Target="presProps.xml"/>
</Relationships>
</file>

<file path=ppt/charts/chart14.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2160" spc="-1" strike="noStrike">
                <a:solidFill>
                  <a:srgbClr val="000000"/>
                </a:solidFill>
                <a:latin typeface="Calibri"/>
                <a:ea typeface="DejaVu Sans"/>
              </a:defRPr>
            </a:pPr>
            <a:r>
              <a:rPr b="1" sz="2160" spc="-1" strike="noStrike">
                <a:solidFill>
                  <a:srgbClr val="000000"/>
                </a:solidFill>
                <a:latin typeface="Calibri"/>
                <a:ea typeface="DejaVu Sans"/>
              </a:rPr>
              <a:t>Sales</a:t>
            </a:r>
          </a:p>
        </c:rich>
      </c:tx>
      <c:overlay val="0"/>
      <c:spPr>
        <a:noFill/>
        <a:ln w="0">
          <a:noFill/>
        </a:ln>
      </c:spPr>
    </c:title>
    <c:autoTitleDeleted val="0"/>
    <c:plotArea>
      <c:pieChart>
        <c:varyColors val="1"/>
        <c:ser>
          <c:idx val="0"/>
          <c:order val="0"/>
          <c:tx>
            <c:strRef>
              <c:f>label 0</c:f>
              <c:strCache>
                <c:ptCount val="1"/>
                <c:pt idx="0">
                  <c:v>Sales</c:v>
                </c:pt>
              </c:strCache>
            </c:strRef>
          </c:tx>
          <c:spPr>
            <a:solidFill>
              <a:srgbClr val="4f81bd"/>
            </a:solidFill>
            <a:ln w="0">
              <a:noFill/>
            </a:ln>
          </c:spPr>
          <c:explosion val="0"/>
          <c:dPt>
            <c:idx val="0"/>
            <c:spPr>
              <a:solidFill>
                <a:srgbClr val="4f81bd"/>
              </a:solidFill>
              <a:ln w="0">
                <a:noFill/>
              </a:ln>
            </c:spPr>
          </c:dPt>
          <c:dPt>
            <c:idx val="1"/>
            <c:spPr>
              <a:solidFill>
                <a:srgbClr val="c0504d"/>
              </a:solidFill>
              <a:ln w="0">
                <a:noFill/>
              </a:ln>
            </c:spPr>
          </c:dPt>
          <c:dPt>
            <c:idx val="2"/>
            <c:spPr>
              <a:solidFill>
                <a:srgbClr val="9bbb59"/>
              </a:solidFill>
              <a:ln w="0">
                <a:noFill/>
              </a:ln>
            </c:spPr>
          </c:dPt>
          <c:dPt>
            <c:idx val="3"/>
            <c:spPr>
              <a:solidFill>
                <a:srgbClr val="8064a2"/>
              </a:solidFill>
              <a:ln w="0">
                <a:noFill/>
              </a:ln>
            </c:spPr>
          </c:dPt>
          <c:dLbls>
            <c:dLbl>
              <c:idx val="0"/>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dLbl>
            <c:dLbl>
              <c:idx val="1"/>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dLbl>
            <c:dLbl>
              <c:idx val="2"/>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dLbl>
            <c:dLbl>
              <c:idx val="3"/>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dLbl>
            <c:txPr>
              <a:bodyPr wrap="square"/>
              <a:lstStyle/>
              <a:p>
                <a:pPr>
                  <a:defRPr b="0" sz="1800" spc="-1" strike="noStrike">
                    <a:solidFill>
                      <a:srgbClr val="000000"/>
                    </a:solidFill>
                    <a:latin typeface="Calibri"/>
                    <a:ea typeface="DejaVu Sans"/>
                  </a:defRPr>
                </a:pPr>
              </a:p>
            </c:txPr>
            <c:dLblPos val="bestFit"/>
            <c:showLegendKey val="0"/>
            <c:showVal val="0"/>
            <c:showCatName val="0"/>
            <c:showSerName val="0"/>
            <c:showPercent val="0"/>
            <c:separator>; </c:separator>
            <c:showLeaderLines val="1"/>
          </c:dLbls>
          <c:cat>
            <c:strRef>
              <c:f>categories</c:f>
              <c:strCache>
                <c:ptCount val="4"/>
                <c:pt idx="0">
                  <c:v>1st Qtr</c:v>
                </c:pt>
                <c:pt idx="1">
                  <c:v>2nd Qtr</c:v>
                </c:pt>
                <c:pt idx="2">
                  <c:v>3rd Qtr</c:v>
                </c:pt>
                <c:pt idx="3">
                  <c:v>4th Qtr</c:v>
                </c:pt>
              </c:strCache>
            </c:strRef>
          </c:cat>
          <c:val>
            <c:numRef>
              <c:f>0</c:f>
              <c:numCache>
                <c:formatCode>General</c:formatCode>
                <c:ptCount val="4"/>
                <c:pt idx="0">
                  <c:v>8.2</c:v>
                </c:pt>
                <c:pt idx="1">
                  <c:v>3.2</c:v>
                </c:pt>
                <c:pt idx="2">
                  <c:v>1.4</c:v>
                </c:pt>
                <c:pt idx="3">
                  <c:v>1.2</c:v>
                </c:pt>
              </c:numCache>
            </c:numRef>
          </c:val>
        </c:ser>
        <c:firstSliceAng val="0"/>
      </c:pieChart>
      <c:spPr>
        <a:noFill/>
        <a:ln w="0">
          <a:noFill/>
        </a:ln>
      </c:spPr>
    </c:plotArea>
    <c:legend>
      <c:legendPos val="r"/>
      <c:overlay val="0"/>
      <c:spPr>
        <a:noFill/>
        <a:ln w="0">
          <a:noFill/>
        </a:ln>
      </c:spPr>
      <c:txPr>
        <a:bodyPr/>
        <a:lstStyle/>
        <a:p>
          <a:pPr>
            <a:defRPr b="0" sz="1800" spc="-1" strike="noStrike">
              <a:solidFill>
                <a:srgbClr val="000000"/>
              </a:solidFill>
              <a:latin typeface="Calibri"/>
              <a:ea typeface="DejaVu Sans"/>
            </a:defRPr>
          </a:pPr>
        </a:p>
      </c:txPr>
    </c:legend>
    <c:plotVisOnly val="1"/>
    <c:dispBlanksAs val="gap"/>
  </c:chart>
  <c:spPr>
    <a:noFill/>
    <a:ln w="9360">
      <a:solidFill>
        <a:srgbClr val="d9d9d9"/>
      </a:solidFill>
      <a:round/>
    </a:ln>
  </c:spPr>
</c:chartSpace>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8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85"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86"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87"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88"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64A4E28-93A2-4E86-8B9C-3B548469028D}"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2857680" y="514440"/>
            <a:ext cx="3428280" cy="2571120"/>
          </a:xfrm>
          <a:prstGeom prst="rect">
            <a:avLst/>
          </a:prstGeom>
          <a:ln w="0">
            <a:noFill/>
          </a:ln>
        </p:spPr>
      </p:sp>
      <p:sp>
        <p:nvSpPr>
          <p:cNvPr id="730"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rPr>
              <a:t>Insert the logo where it says logo, or delete the textbox all together.</a:t>
            </a:r>
            <a:endParaRPr b="0" lang="en-US" sz="2000" spc="-1" strike="noStrike">
              <a:latin typeface="Arial"/>
            </a:endParaRPr>
          </a:p>
          <a:p>
            <a:pPr marL="216000" indent="-216000">
              <a:lnSpc>
                <a:spcPct val="100000"/>
              </a:lnSpc>
              <a:buNone/>
              <a:tabLst>
                <a:tab algn="l" pos="0"/>
              </a:tabLst>
            </a:pPr>
            <a:r>
              <a:rPr b="0" lang="en-US" sz="2000" spc="-1" strike="noStrike">
                <a:latin typeface="Corbel"/>
              </a:rPr>
              <a:t>To check Spelling – Open the “Review” tab at the top of the page and click “Spelling” to proceed.”</a:t>
            </a:r>
            <a:endParaRPr b="0" lang="en-US" sz="2000" spc="-1" strike="noStrike">
              <a:latin typeface="Arial"/>
            </a:endParaRPr>
          </a:p>
          <a:p>
            <a:pPr marL="216000" indent="-216000">
              <a:lnSpc>
                <a:spcPct val="100000"/>
              </a:lnSpc>
              <a:buNone/>
              <a:tabLst>
                <a:tab algn="l" pos="0"/>
              </a:tabLst>
            </a:pPr>
            <a:r>
              <a:rPr b="1" lang="en-US" sz="2000" spc="-1" strike="noStrike">
                <a:latin typeface="Corbel"/>
              </a:rPr>
              <a:t>Additional PowerPoint helpful hints:</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“C” – to copy</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“X” – to cut</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“V” – to paste</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“Z” – to undo previous function</a:t>
            </a:r>
            <a:endParaRPr b="0" lang="en-US" sz="2000" spc="-1" strike="noStrike">
              <a:latin typeface="Arial"/>
            </a:endParaRPr>
          </a:p>
          <a:p>
            <a:pPr marL="216000" indent="-216000">
              <a:lnSpc>
                <a:spcPct val="100000"/>
              </a:lnSpc>
              <a:buNone/>
              <a:tabLst>
                <a:tab algn="l" pos="0"/>
              </a:tabLst>
            </a:pPr>
            <a:r>
              <a:rPr b="0" lang="en-US" sz="2000" spc="-1" strike="noStrike">
                <a:latin typeface="Corbel"/>
              </a:rPr>
              <a:t>Control “Y” – to repeat previous function</a:t>
            </a:r>
            <a:endParaRPr b="0" lang="en-US" sz="2000" spc="-1" strike="noStrike">
              <a:latin typeface="Arial"/>
            </a:endParaRPr>
          </a:p>
          <a:p>
            <a:pPr marL="216000" indent="-216000">
              <a:lnSpc>
                <a:spcPct val="100000"/>
              </a:lnSpc>
              <a:buNone/>
              <a:tabLst>
                <a:tab algn="l" pos="0"/>
              </a:tabLst>
            </a:pPr>
            <a:r>
              <a:rPr b="0" lang="en-US" sz="2000" spc="-1" strike="noStrike">
                <a:latin typeface="Corbel"/>
              </a:rPr>
              <a:t>To move text boxes, click once in the text area and a dotted rectangle should appear surrounding the text with small circles on each corner.  If you move your curser over one of these dotted lines a plus sign with arrows on each tip will appear.  You can then use the arrow keys to move up/down/side to side or you can “click and drag” to a desired location and then release.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31" name="PlaceHolder 3"/>
          <p:cNvSpPr>
            <a:spLocks noGrp="1"/>
          </p:cNvSpPr>
          <p:nvPr>
            <p:ph type="sldNum" idx="4"/>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520435AF-B7D8-48F7-9D42-F8203AFBEEE2}"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2857680" y="514440"/>
            <a:ext cx="3428280" cy="2571120"/>
          </a:xfrm>
          <a:prstGeom prst="rect">
            <a:avLst/>
          </a:prstGeom>
          <a:ln w="0">
            <a:noFill/>
          </a:ln>
        </p:spPr>
      </p:sp>
      <p:sp>
        <p:nvSpPr>
          <p:cNvPr id="733"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rPr>
              <a:t>To edit double click anywhere in the pie chart to “Convert.” (Note: older editions of PowerPoint will automatically convert to allow editing).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Clr>
                <a:srgbClr val="000000"/>
              </a:buClr>
              <a:buFont typeface="StarSymbol"/>
              <a:buAutoNum type="arabicPeriod"/>
              <a:tabLst>
                <a:tab algn="l" pos="0"/>
              </a:tabLst>
            </a:pPr>
            <a:r>
              <a:rPr b="1" lang="en-US" sz="2000" spc="-1" strike="noStrike">
                <a:latin typeface="Corbel"/>
              </a:rPr>
              <a:t>To edit data </a:t>
            </a:r>
            <a:r>
              <a:rPr b="0" lang="en-US" sz="2000" spc="-1" strike="noStrike">
                <a:latin typeface="Corbel"/>
              </a:rPr>
              <a:t>– At the bottom of the chart click “Sheet 1” and an Excel spreadsheet will appear allowing you to adjust any of the advertising amounts (monthly spending).  For any $0 amounts “left click” on the row number, then “right click” to select “delete.”  Once finished go back to the pie chart by clicking “Chart 1” (to the left of “Sheet 1”).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1" lang="en-US" sz="2000" spc="-1" strike="noStrike">
                <a:latin typeface="Corbel"/>
              </a:rPr>
              <a:t>2. To move or delete values (“%’s) – </a:t>
            </a:r>
            <a:r>
              <a:rPr b="0" lang="en-US" sz="2000" spc="-1" strike="noStrike">
                <a:latin typeface="Corbel"/>
              </a:rPr>
              <a:t>If you move your cursor over one of the values and “single click” all values will be selected (small boxes surrounding each %).  A “second click” on the desired cell will select only that one value.  At that point you can either “delete” or “click and drag” from the text box border (if a plus sign with arrows appears) to a desired location.  If you mistakenly click inside the cell (allowing you to change the actual values) click on the border to take you out of that function and start again.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1" lang="en-US" sz="2000" spc="-1" strike="noStrike">
                <a:latin typeface="Corbel"/>
              </a:rPr>
              <a:t>3. To move the whole pie chart</a:t>
            </a:r>
            <a:r>
              <a:rPr b="0" lang="en-US" sz="2000" spc="-1" strike="noStrike">
                <a:latin typeface="Corbel"/>
              </a:rPr>
              <a:t> – Single click just outside the pie and a box should appear that surrounds the entire pie chart.  With your curser in the “white space” just outside the pie chart you should be able to “click and drag” the total pie chart up/down or to either side.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34" name="PlaceHolder 3"/>
          <p:cNvSpPr>
            <a:spLocks noGrp="1"/>
          </p:cNvSpPr>
          <p:nvPr>
            <p:ph type="sldNum" idx="5"/>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966CAD51-3B77-43DE-9CCC-51D3E62F5652}"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2857680" y="514440"/>
            <a:ext cx="3428280" cy="2571120"/>
          </a:xfrm>
          <a:prstGeom prst="rect">
            <a:avLst/>
          </a:prstGeom>
          <a:ln w="0">
            <a:noFill/>
          </a:ln>
        </p:spPr>
      </p:sp>
      <p:sp>
        <p:nvSpPr>
          <p:cNvPr id="736"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rPr>
              <a:t>To edit double click anywhere in the pie chart to “Convert.” (Note: older editions of PowerPoint will automatically convert to allow editing).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Clr>
                <a:srgbClr val="000000"/>
              </a:buClr>
              <a:buFont typeface="StarSymbol"/>
              <a:buAutoNum type="arabicPeriod"/>
              <a:tabLst>
                <a:tab algn="l" pos="0"/>
              </a:tabLst>
            </a:pPr>
            <a:r>
              <a:rPr b="1" lang="en-US" sz="2000" spc="-1" strike="noStrike">
                <a:latin typeface="Corbel"/>
              </a:rPr>
              <a:t>To edit data </a:t>
            </a:r>
            <a:r>
              <a:rPr b="0" lang="en-US" sz="2000" spc="-1" strike="noStrike">
                <a:latin typeface="Corbel"/>
              </a:rPr>
              <a:t>– At the bottom of the chart click “Sheet 1” and an Excel spreadsheet will appear allowing you to adjust any of the advertising amounts (monthly spending).  For any $0 amounts “left click” on the row number, then “right click” to select “delete.”  Once finished go back to the pie chart by clicking “Chart 1” (to the left of “Sheet 1”).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1" lang="en-US" sz="2000" spc="-1" strike="noStrike">
                <a:latin typeface="Corbel"/>
              </a:rPr>
              <a:t>2. To move or delete values (“%’s) – </a:t>
            </a:r>
            <a:r>
              <a:rPr b="0" lang="en-US" sz="2000" spc="-1" strike="noStrike">
                <a:latin typeface="Corbel"/>
              </a:rPr>
              <a:t>If you move your cursor over one of the values and “single click” all values will be selected (small boxes surrounding each %).  A “second click” on the desired cell will select only that one value.  At that point you can either “delete” or “click and drag” from the text box border (if a plus sign with arrows appears) to a desired location.  If you mistakenly click inside the cell (allowing you to change the actual values) click on the border to take you out of that function and start again.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a:p>
            <a:pPr marL="216000" indent="-216000">
              <a:lnSpc>
                <a:spcPct val="100000"/>
              </a:lnSpc>
              <a:buNone/>
              <a:tabLst>
                <a:tab algn="l" pos="0"/>
              </a:tabLst>
            </a:pPr>
            <a:r>
              <a:rPr b="1" lang="en-US" sz="2000" spc="-1" strike="noStrike">
                <a:latin typeface="Corbel"/>
              </a:rPr>
              <a:t>3. To move the whole pie chart</a:t>
            </a:r>
            <a:r>
              <a:rPr b="0" lang="en-US" sz="2000" spc="-1" strike="noStrike">
                <a:latin typeface="Corbel"/>
              </a:rPr>
              <a:t> – Single click just outside the pie and a box should appear that surrounds the entire pie chart.  With your curser in the “white space” just outside the pie chart you should be able to “click and drag” the total pie chart up/down or to either side.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37" name="PlaceHolder 3"/>
          <p:cNvSpPr>
            <a:spLocks noGrp="1"/>
          </p:cNvSpPr>
          <p:nvPr>
            <p:ph type="sldNum" idx="6"/>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F52DBCEA-03E6-4328-B069-F78154C24FCC}"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2857680" y="514440"/>
            <a:ext cx="3428280" cy="2571120"/>
          </a:xfrm>
          <a:prstGeom prst="rect">
            <a:avLst/>
          </a:prstGeom>
          <a:ln w="0">
            <a:noFill/>
          </a:ln>
        </p:spPr>
      </p:sp>
      <p:sp>
        <p:nvSpPr>
          <p:cNvPr id="739"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ea typeface="ＭＳ Ｐゴシック"/>
              </a:rPr>
              <a:t>Double-click on the individual spreadsheets (Brand Equity, Spike and Slow Performing Months) to open in Microsoft Excel where you can enter your schedules. You can then “copy” and “paste” the full schedule to other spreadsheets on this page as a starting point (vs. retyping).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40" name="PlaceHolder 3"/>
          <p:cNvSpPr>
            <a:spLocks noGrp="1"/>
          </p:cNvSpPr>
          <p:nvPr>
            <p:ph type="sldNum" idx="7"/>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BEEE92C6-919D-4470-8AA3-95081B3C7503}"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2857680" y="514440"/>
            <a:ext cx="3428280" cy="2571120"/>
          </a:xfrm>
          <a:prstGeom prst="rect">
            <a:avLst/>
          </a:prstGeom>
          <a:ln w="0">
            <a:noFill/>
          </a:ln>
        </p:spPr>
      </p:sp>
      <p:sp>
        <p:nvSpPr>
          <p:cNvPr id="742" name="PlaceHolder 2"/>
          <p:cNvSpPr>
            <a:spLocks noGrp="1"/>
          </p:cNvSpPr>
          <p:nvPr>
            <p:ph type="body"/>
          </p:nvPr>
        </p:nvSpPr>
        <p:spPr>
          <a:xfrm>
            <a:off x="914400" y="3257640"/>
            <a:ext cx="7314480" cy="308556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n-US" sz="2000" spc="-1" strike="noStrike">
                <a:latin typeface="Corbel"/>
                <a:ea typeface="ＭＳ Ｐゴシック"/>
              </a:rPr>
              <a:t>Double-click on the individual spreadsheets (Brand Equity, Spike and Slow Performing Months) to open in Microsoft Excel where you can enter your schedules. You can then “copy” and “paste” the full schedule to other spreadsheets on this page as a starting point (vs. retyping).   </a:t>
            </a:r>
            <a:endParaRPr b="0" lang="en-US" sz="2000" spc="-1" strike="noStrike">
              <a:latin typeface="Arial"/>
            </a:endParaRPr>
          </a:p>
          <a:p>
            <a:pPr marL="216000" indent="-216000">
              <a:lnSpc>
                <a:spcPct val="100000"/>
              </a:lnSpc>
              <a:buNone/>
              <a:tabLst>
                <a:tab algn="l" pos="0"/>
              </a:tabLst>
            </a:pPr>
            <a:endParaRPr b="0" lang="en-US" sz="2000" spc="-1" strike="noStrike">
              <a:latin typeface="Arial"/>
            </a:endParaRPr>
          </a:p>
        </p:txBody>
      </p:sp>
      <p:sp>
        <p:nvSpPr>
          <p:cNvPr id="743" name="PlaceHolder 3"/>
          <p:cNvSpPr>
            <a:spLocks noGrp="1"/>
          </p:cNvSpPr>
          <p:nvPr>
            <p:ph type="sldNum" idx="8"/>
          </p:nvPr>
        </p:nvSpPr>
        <p:spPr>
          <a:xfrm>
            <a:off x="5180040" y="6513480"/>
            <a:ext cx="3961800" cy="342360"/>
          </a:xfrm>
          <a:prstGeom prst="rect">
            <a:avLst/>
          </a:prstGeom>
          <a:noFill/>
          <a:ln w="0">
            <a:noFill/>
          </a:ln>
        </p:spPr>
        <p:txBody>
          <a:bodyPr numCol="1" spcCol="0" lIns="0" rIns="0" tIns="0" bIns="0" anchor="b">
            <a:noAutofit/>
          </a:bodyPr>
          <a:lstStyle>
            <a:lvl1pPr algn="r">
              <a:lnSpc>
                <a:spcPct val="100000"/>
              </a:lnSpc>
              <a:buNone/>
              <a:defRPr b="0" lang="en-US" sz="1200" spc="-1" strike="noStrike">
                <a:solidFill>
                  <a:srgbClr val="000000"/>
                </a:solidFill>
                <a:latin typeface="Corbel"/>
              </a:defRPr>
            </a:lvl1pPr>
          </a:lstStyle>
          <a:p>
            <a:pPr algn="r">
              <a:lnSpc>
                <a:spcPct val="100000"/>
              </a:lnSpc>
              <a:buNone/>
            </a:pPr>
            <a:fld id="{0D777FD6-060D-4A7E-9635-BAE16306DB1D}" type="slidenum">
              <a:rPr b="0" lang="en-US" sz="1200" spc="-1" strike="noStrike">
                <a:solidFill>
                  <a:srgbClr val="000000"/>
                </a:solidFill>
                <a:latin typeface="Corbel"/>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7"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2"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7" descr="Michael Guld PPT Design_Master_Title2.png"/>
          <p:cNvPicPr/>
          <p:nvPr/>
        </p:nvPicPr>
        <p:blipFill>
          <a:blip r:embed="rId2"/>
          <a:stretch/>
        </p:blipFill>
        <p:spPr>
          <a:xfrm>
            <a:off x="0" y="0"/>
            <a:ext cx="9143280" cy="6857280"/>
          </a:xfrm>
          <a:prstGeom prst="rect">
            <a:avLst/>
          </a:prstGeom>
          <a:ln w="0">
            <a:noFill/>
          </a:ln>
        </p:spPr>
      </p:pic>
      <p:sp>
        <p:nvSpPr>
          <p:cNvPr id="1" name="Text Box 4"/>
          <p:cNvSpPr/>
          <p:nvPr/>
        </p:nvSpPr>
        <p:spPr>
          <a:xfrm>
            <a:off x="457200" y="6095880"/>
            <a:ext cx="8228880" cy="3034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700" spc="-1" strike="noStrike">
                <a:solidFill>
                  <a:srgbClr val="7b8364"/>
                </a:solidFill>
                <a:latin typeface="Corbel"/>
                <a:ea typeface="Corbel"/>
              </a:rPr>
              <a:t>Copyright © 1984-2017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b="0" lang="en-US" sz="700" spc="-1" strike="noStrike">
              <a:latin typeface="Arial"/>
            </a:endParaRPr>
          </a:p>
        </p:txBody>
      </p:sp>
      <p:sp>
        <p:nvSpPr>
          <p:cNvPr id="2" name="Title 4"/>
          <p:cNvSpPr/>
          <p:nvPr/>
        </p:nvSpPr>
        <p:spPr>
          <a:xfrm>
            <a:off x="1133640" y="3200400"/>
            <a:ext cx="3885480" cy="39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2800" spc="-1" strike="noStrike">
                <a:solidFill>
                  <a:srgbClr val="4e5e53"/>
                </a:solidFill>
                <a:latin typeface="Corbel"/>
                <a:ea typeface="Corbel"/>
              </a:rPr>
              <a:t>Presented To:</a:t>
            </a:r>
            <a:endParaRPr b="0" lang="en-US" sz="2800" spc="-1" strike="noStrike">
              <a:latin typeface="Arial"/>
            </a:endParaRPr>
          </a:p>
        </p:txBody>
      </p:sp>
      <p:sp>
        <p:nvSpPr>
          <p:cNvPr id="3" name="Title 4"/>
          <p:cNvSpPr/>
          <p:nvPr/>
        </p:nvSpPr>
        <p:spPr>
          <a:xfrm>
            <a:off x="1133640" y="4800600"/>
            <a:ext cx="3885480" cy="39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2800" spc="-1" strike="noStrike">
                <a:solidFill>
                  <a:srgbClr val="4e5e53"/>
                </a:solidFill>
                <a:latin typeface="Corbel"/>
                <a:ea typeface="Corbel"/>
              </a:rPr>
              <a:t>Presented By:</a:t>
            </a:r>
            <a:endParaRPr b="0" lang="en-US" sz="2800" spc="-1" strike="noStrike">
              <a:latin typeface="Arial"/>
            </a:endParaRPr>
          </a:p>
        </p:txBody>
      </p:sp>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Picture 8" descr="Michael Guld PPT Design_Master.png"/>
          <p:cNvPicPr/>
          <p:nvPr/>
        </p:nvPicPr>
        <p:blipFill>
          <a:blip r:embed="rId2"/>
          <a:stretch/>
        </p:blipFill>
        <p:spPr>
          <a:xfrm>
            <a:off x="0" y="0"/>
            <a:ext cx="9143280" cy="6857280"/>
          </a:xfrm>
          <a:prstGeom prst="rect">
            <a:avLst/>
          </a:prstGeom>
          <a:ln w="0">
            <a:noFill/>
          </a:ln>
        </p:spPr>
      </p:pic>
      <p:sp>
        <p:nvSpPr>
          <p:cNvPr id="43" name="Rectangle 5"/>
          <p:cNvSpPr/>
          <p:nvPr/>
        </p:nvSpPr>
        <p:spPr>
          <a:xfrm>
            <a:off x="28440" y="6553080"/>
            <a:ext cx="3018600" cy="32508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1" lang="en-US" sz="800" spc="-1" strike="noStrike">
                <a:solidFill>
                  <a:srgbClr val="ffffff"/>
                </a:solidFill>
                <a:latin typeface="Corbel"/>
                <a:ea typeface="DejaVu Sans"/>
              </a:rPr>
              <a:t>Copyright © 1984-2017  Executive Decision Systems, Inc. </a:t>
            </a:r>
            <a:endParaRPr b="0" lang="en-US" sz="800" spc="-1" strike="noStrike">
              <a:latin typeface="Arial"/>
            </a:endParaRPr>
          </a:p>
          <a:p>
            <a:pPr>
              <a:lnSpc>
                <a:spcPct val="100000"/>
              </a:lnSpc>
              <a:buNone/>
            </a:pPr>
            <a:r>
              <a:rPr b="1" lang="en-US" sz="800" spc="-1" strike="noStrike">
                <a:solidFill>
                  <a:srgbClr val="ffffff"/>
                </a:solidFill>
                <a:latin typeface="Corbel"/>
                <a:ea typeface="DejaVu Sans"/>
              </a:rPr>
              <a:t>and  The Guld Resource Group, LLC</a:t>
            </a:r>
            <a:r>
              <a:rPr b="0" lang="en-US" sz="800" spc="-1" strike="noStrike">
                <a:solidFill>
                  <a:srgbClr val="ffffff"/>
                </a:solidFill>
                <a:latin typeface="Corbel"/>
                <a:ea typeface="DejaVu Sans"/>
              </a:rPr>
              <a:t> </a:t>
            </a:r>
            <a:endParaRPr b="0" lang="en-US" sz="800" spc="-1" strike="noStrike">
              <a:latin typeface="Arial"/>
            </a:endParaRPr>
          </a:p>
        </p:txBody>
      </p:sp>
      <p:sp>
        <p:nvSpPr>
          <p:cNvPr id="44" name="Text Box 4"/>
          <p:cNvSpPr/>
          <p:nvPr/>
        </p:nvSpPr>
        <p:spPr>
          <a:xfrm>
            <a:off x="7670880" y="6629400"/>
            <a:ext cx="1091520" cy="144360"/>
          </a:xfrm>
          <a:prstGeom prst="rect">
            <a:avLst/>
          </a:prstGeom>
          <a:noFill/>
          <a:ln w="0">
            <a:noFill/>
          </a:ln>
        </p:spPr>
        <p:style>
          <a:lnRef idx="0"/>
          <a:fillRef idx="0"/>
          <a:effectRef idx="0"/>
          <a:fontRef idx="minor"/>
        </p:style>
        <p:txBody>
          <a:bodyPr lIns="0" rIns="0" tIns="0" bIns="0" anchor="t">
            <a:spAutoFit/>
          </a:bodyPr>
          <a:p>
            <a:pPr algn="r">
              <a:lnSpc>
                <a:spcPct val="95000"/>
              </a:lnSpc>
              <a:buNone/>
            </a:pPr>
            <a:r>
              <a:rPr b="0" lang="en-US" sz="1000" spc="-1" strike="noStrike">
                <a:solidFill>
                  <a:srgbClr val="ffffff"/>
                </a:solidFill>
                <a:latin typeface="Corbel"/>
                <a:ea typeface="DejaVu Sans"/>
              </a:rPr>
              <a:t>-CONFIDENTIAL-</a:t>
            </a:r>
            <a:endParaRPr b="0" lang="en-US" sz="1000" spc="-1" strike="noStrike">
              <a:latin typeface="Arial"/>
            </a:endParaRPr>
          </a:p>
        </p:txBody>
      </p:sp>
      <p:sp>
        <p:nvSpPr>
          <p:cNvPr id="4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6"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png"/><Relationship Id="rId22" Type="http://schemas.openxmlformats.org/officeDocument/2006/relationships/image" Target="../media/image30.png"/><Relationship Id="rId23" Type="http://schemas.openxmlformats.org/officeDocument/2006/relationships/image" Target="../media/image31.png"/><Relationship Id="rId24" Type="http://schemas.openxmlformats.org/officeDocument/2006/relationships/image" Target="../media/image32.png"/><Relationship Id="rId25" Type="http://schemas.openxmlformats.org/officeDocument/2006/relationships/image" Target="../media/image33.png"/><Relationship Id="rId26" Type="http://schemas.openxmlformats.org/officeDocument/2006/relationships/image" Target="../media/image34.png"/><Relationship Id="rId27"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chart" Target="../charts/chart14.xml"/><Relationship Id="rId2" Type="http://schemas.openxmlformats.org/officeDocument/2006/relationships/slideLayout" Target="../slideLayouts/slideLayout1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oleObject" Target="../embeddings/oleObject1.xls"/><Relationship Id="rId2" Type="http://schemas.openxmlformats.org/officeDocument/2006/relationships/image" Target="../media/image35.wmf"/><Relationship Id="rId3" Type="http://schemas.openxmlformats.org/officeDocument/2006/relationships/slideLayout" Target="../slideLayouts/slideLayout1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oleObject" Target="../embeddings/oleObject1.xls"/><Relationship Id="rId2" Type="http://schemas.openxmlformats.org/officeDocument/2006/relationships/image" Target="../media/image42.wmf"/><Relationship Id="rId3"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43.wmf"/><Relationship Id="rId3" Type="http://schemas.openxmlformats.org/officeDocument/2006/relationships/oleObject" Target="../embeddings/oleObject2.xls"/><Relationship Id="rId4" Type="http://schemas.openxmlformats.org/officeDocument/2006/relationships/image" Target="../media/image44.wmf"/><Relationship Id="rId5" Type="http://schemas.openxmlformats.org/officeDocument/2006/relationships/oleObject" Target="../embeddings/oleObject3.xls"/><Relationship Id="rId6" Type="http://schemas.openxmlformats.org/officeDocument/2006/relationships/image" Target="../media/image45.wmf"/><Relationship Id="rId7" Type="http://schemas.openxmlformats.org/officeDocument/2006/relationships/oleObject" Target="../embeddings/oleObject4.xls"/><Relationship Id="rId8" Type="http://schemas.openxmlformats.org/officeDocument/2006/relationships/image" Target="../media/image46.wmf"/><Relationship Id="rId9" Type="http://schemas.openxmlformats.org/officeDocument/2006/relationships/slideLayout" Target="../slideLayouts/slideLayout13.xml"/><Relationship Id="rId10"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6.png"/><Relationship Id="rId1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 Id="rId10" Type="http://schemas.openxmlformats.org/officeDocument/2006/relationships/image" Target="../media/image75.png"/><Relationship Id="rId11" Type="http://schemas.openxmlformats.org/officeDocument/2006/relationships/image" Target="../media/image76.png"/><Relationship Id="rId12" Type="http://schemas.openxmlformats.org/officeDocument/2006/relationships/image" Target="../media/image77.png"/><Relationship Id="rId13" Type="http://schemas.openxmlformats.org/officeDocument/2006/relationships/image" Target="../media/image78.png"/><Relationship Id="rId14"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oleObject" Target="../embeddings/oleObject1.xls"/><Relationship Id="rId2" Type="http://schemas.openxmlformats.org/officeDocument/2006/relationships/image" Target="../media/image79.wmf"/><Relationship Id="rId3"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80.wmf"/><Relationship Id="rId3" Type="http://schemas.openxmlformats.org/officeDocument/2006/relationships/oleObject" Target="../embeddings/oleObject2.xls"/><Relationship Id="rId4" Type="http://schemas.openxmlformats.org/officeDocument/2006/relationships/image" Target="../media/image81.wmf"/><Relationship Id="rId5" Type="http://schemas.openxmlformats.org/officeDocument/2006/relationships/oleObject" Target="../embeddings/oleObject3.xls"/><Relationship Id="rId6" Type="http://schemas.openxmlformats.org/officeDocument/2006/relationships/image" Target="../media/image82.wmf"/><Relationship Id="rId7" Type="http://schemas.openxmlformats.org/officeDocument/2006/relationships/oleObject" Target="../embeddings/oleObject4.xls"/><Relationship Id="rId8" Type="http://schemas.openxmlformats.org/officeDocument/2006/relationships/image" Target="../media/image83.wmf"/><Relationship Id="rId9" Type="http://schemas.openxmlformats.org/officeDocument/2006/relationships/slideLayout" Target="../slideLayouts/slideLayout13.xml"/><Relationship Id="rId10"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84.png"/><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 Id="rId9" Type="http://schemas.openxmlformats.org/officeDocument/2006/relationships/image" Target="../media/image92.png"/><Relationship Id="rId10" Type="http://schemas.openxmlformats.org/officeDocument/2006/relationships/image" Target="../media/image93.png"/><Relationship Id="rId1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image" Target="../media/image102.png"/><Relationship Id="rId10"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103.pn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image" Target="../media/image109.png"/><Relationship Id="rId8" Type="http://schemas.openxmlformats.org/officeDocument/2006/relationships/image" Target="../media/image110.png"/><Relationship Id="rId9" Type="http://schemas.openxmlformats.org/officeDocument/2006/relationships/image" Target="../media/image111.png"/><Relationship Id="rId10" Type="http://schemas.openxmlformats.org/officeDocument/2006/relationships/image" Target="../media/image112.png"/><Relationship Id="rId11" Type="http://schemas.openxmlformats.org/officeDocument/2006/relationships/image" Target="../media/image113.png"/><Relationship Id="rId12" Type="http://schemas.openxmlformats.org/officeDocument/2006/relationships/image" Target="../media/image114.png"/><Relationship Id="rId13" Type="http://schemas.openxmlformats.org/officeDocument/2006/relationships/image" Target="../media/image115.png"/><Relationship Id="rId14"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oleObject" Target="../embeddings/oleObject1.xls"/><Relationship Id="rId2" Type="http://schemas.openxmlformats.org/officeDocument/2006/relationships/image" Target="../media/image116.wmf"/><Relationship Id="rId3" Type="http://schemas.openxmlformats.org/officeDocument/2006/relationships/image" Target="../media/image117.png"/><Relationship Id="rId4" Type="http://schemas.openxmlformats.org/officeDocument/2006/relationships/image" Target="../media/image118.png"/><Relationship Id="rId5"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oleObject" Target="../embeddings/oleObject1.xls"/><Relationship Id="rId2" Type="http://schemas.openxmlformats.org/officeDocument/2006/relationships/image" Target="../media/image119.wmf"/><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122.png"/><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image" Target="../media/image128.png"/><Relationship Id="rId8" Type="http://schemas.openxmlformats.org/officeDocument/2006/relationships/image" Target="../media/image129.png"/><Relationship Id="rId9" Type="http://schemas.openxmlformats.org/officeDocument/2006/relationships/image" Target="../media/image130.png"/><Relationship Id="rId10" Type="http://schemas.openxmlformats.org/officeDocument/2006/relationships/image" Target="../media/image131.png"/><Relationship Id="rId1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Title 4"/>
          <p:cNvSpPr/>
          <p:nvPr/>
        </p:nvSpPr>
        <p:spPr>
          <a:xfrm>
            <a:off x="1600200" y="3722760"/>
            <a:ext cx="3885480" cy="380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US" sz="1800" spc="-1" strike="noStrike">
                <a:solidFill>
                  <a:srgbClr val="00274d"/>
                </a:solidFill>
                <a:latin typeface="Corbel"/>
                <a:ea typeface="Corbel"/>
              </a:rPr>
              <a:t>{{Name}} </a:t>
            </a:r>
            <a:endParaRPr b="0" lang="en-US" sz="1800" spc="-1" strike="noStrike">
              <a:latin typeface="Arial"/>
            </a:endParaRPr>
          </a:p>
        </p:txBody>
      </p:sp>
      <p:sp>
        <p:nvSpPr>
          <p:cNvPr id="90" name="Title 4"/>
          <p:cNvSpPr/>
          <p:nvPr/>
        </p:nvSpPr>
        <p:spPr>
          <a:xfrm>
            <a:off x="1600200" y="5322960"/>
            <a:ext cx="3885480" cy="380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US" sz="1800" spc="-1" strike="noStrike">
                <a:solidFill>
                  <a:srgbClr val="00274d"/>
                </a:solidFill>
                <a:latin typeface="Corbel"/>
                <a:ea typeface="Corbel"/>
              </a:rPr>
              <a:t>Your Name </a:t>
            </a:r>
            <a:endParaRPr b="0" lang="en-US" sz="1800" spc="-1" strike="noStrike">
              <a:latin typeface="Arial"/>
            </a:endParaRPr>
          </a:p>
        </p:txBody>
      </p:sp>
      <p:sp>
        <p:nvSpPr>
          <p:cNvPr id="91" name="Title 4"/>
          <p:cNvSpPr/>
          <p:nvPr/>
        </p:nvSpPr>
        <p:spPr>
          <a:xfrm>
            <a:off x="1600200" y="4114800"/>
            <a:ext cx="3885480" cy="380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US" sz="1800" spc="-1" strike="noStrike">
                <a:solidFill>
                  <a:srgbClr val="00274d"/>
                </a:solidFill>
                <a:latin typeface="Corbel"/>
                <a:ea typeface="Corbel"/>
              </a:rPr>
              <a:t>{{CompanyName}}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Team Commitment</a:t>
            </a:r>
            <a:endParaRPr b="0" lang="en-US" sz="4000" spc="-1" strike="noStrike">
              <a:latin typeface="Arial"/>
            </a:endParaRPr>
          </a:p>
        </p:txBody>
      </p:sp>
      <p:sp>
        <p:nvSpPr>
          <p:cNvPr id="93"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A5E92EA9-ECF8-42F6-8E44-9DAF1D93F60E}"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94" name="Text Box 13"/>
          <p:cNvSpPr/>
          <p:nvPr/>
        </p:nvSpPr>
        <p:spPr>
          <a:xfrm>
            <a:off x="565200" y="1312920"/>
            <a:ext cx="403488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274d"/>
                </a:solidFill>
                <a:latin typeface="Corbel"/>
                <a:ea typeface="Corbel"/>
              </a:rPr>
              <a:t>The following proposal will be submitted to</a:t>
            </a:r>
            <a:endParaRPr b="0" lang="en-US" sz="1400" spc="-1" strike="noStrike">
              <a:latin typeface="Arial"/>
            </a:endParaRPr>
          </a:p>
        </p:txBody>
      </p:sp>
      <p:sp>
        <p:nvSpPr>
          <p:cNvPr id="95" name="TextBox 13"/>
          <p:cNvSpPr/>
          <p:nvPr/>
        </p:nvSpPr>
        <p:spPr>
          <a:xfrm>
            <a:off x="3987000" y="1239840"/>
            <a:ext cx="263052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1" lang="en-US" sz="1800" spc="-1" strike="noStrike">
                <a:solidFill>
                  <a:srgbClr val="00274d"/>
                </a:solidFill>
                <a:latin typeface="Corbel"/>
                <a:ea typeface="Corbel"/>
              </a:rPr>
              <a:t>Premium Auto Centers</a:t>
            </a:r>
            <a:endParaRPr b="0" lang="en-US" sz="1800" spc="-1" strike="noStrike">
              <a:latin typeface="Arial"/>
            </a:endParaRPr>
          </a:p>
        </p:txBody>
      </p:sp>
      <p:sp>
        <p:nvSpPr>
          <p:cNvPr id="96" name="Text Box 4"/>
          <p:cNvSpPr/>
          <p:nvPr/>
        </p:nvSpPr>
        <p:spPr>
          <a:xfrm>
            <a:off x="565200" y="1719360"/>
            <a:ext cx="8012880" cy="101124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274d"/>
                </a:solidFill>
                <a:latin typeface="Corbel"/>
                <a:ea typeface="Corbel"/>
              </a:rPr>
              <a:t>Your department will be involved in providing these services. Please read our proposal, recommend and bring to our attention any ways in which you feel we can more adequately satisfy our client’s needs. When you are prepared to commit to our clients the necessary effort to make them “more than satisfied,” with the results of our plan, please sign the following certification on behalf of you and your team.</a:t>
            </a:r>
            <a:endParaRPr b="0" lang="en-US" sz="1400" spc="-1" strike="noStrike">
              <a:latin typeface="Arial"/>
            </a:endParaRPr>
          </a:p>
        </p:txBody>
      </p:sp>
      <p:sp>
        <p:nvSpPr>
          <p:cNvPr id="97" name="Text Box 6"/>
          <p:cNvSpPr/>
          <p:nvPr/>
        </p:nvSpPr>
        <p:spPr>
          <a:xfrm>
            <a:off x="7659720" y="3322800"/>
            <a:ext cx="47700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Arial"/>
                <a:ea typeface="DejaVu Sans"/>
              </a:rPr>
              <a:t>Date</a:t>
            </a:r>
            <a:endParaRPr b="0" lang="en-US" sz="1400" spc="-1" strike="noStrike">
              <a:latin typeface="Arial"/>
            </a:endParaRPr>
          </a:p>
        </p:txBody>
      </p:sp>
      <p:sp>
        <p:nvSpPr>
          <p:cNvPr id="98" name="Text Box 8"/>
          <p:cNvSpPr/>
          <p:nvPr/>
        </p:nvSpPr>
        <p:spPr>
          <a:xfrm>
            <a:off x="7659720" y="6070680"/>
            <a:ext cx="47700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Arial"/>
                <a:ea typeface="DejaVu Sans"/>
              </a:rPr>
              <a:t>Date</a:t>
            </a:r>
            <a:endParaRPr b="0" lang="en-US" sz="1400" spc="-1" strike="noStrike">
              <a:latin typeface="Arial"/>
            </a:endParaRPr>
          </a:p>
        </p:txBody>
      </p:sp>
      <p:sp>
        <p:nvSpPr>
          <p:cNvPr id="99" name="Text Box 10"/>
          <p:cNvSpPr/>
          <p:nvPr/>
        </p:nvSpPr>
        <p:spPr>
          <a:xfrm>
            <a:off x="7659720" y="5146560"/>
            <a:ext cx="47700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Arial"/>
                <a:ea typeface="DejaVu Sans"/>
              </a:rPr>
              <a:t>Date</a:t>
            </a:r>
            <a:endParaRPr b="0" lang="en-US" sz="1400" spc="-1" strike="noStrike">
              <a:latin typeface="Arial"/>
            </a:endParaRPr>
          </a:p>
        </p:txBody>
      </p:sp>
      <p:sp>
        <p:nvSpPr>
          <p:cNvPr id="100" name="Text Box 12"/>
          <p:cNvSpPr/>
          <p:nvPr/>
        </p:nvSpPr>
        <p:spPr>
          <a:xfrm>
            <a:off x="7659720" y="4233960"/>
            <a:ext cx="47700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Arial"/>
                <a:ea typeface="DejaVu Sans"/>
              </a:rPr>
              <a:t>Date</a:t>
            </a:r>
            <a:endParaRPr b="0" lang="en-US" sz="1400" spc="-1" strike="noStrike">
              <a:latin typeface="Arial"/>
            </a:endParaRPr>
          </a:p>
        </p:txBody>
      </p:sp>
      <p:sp>
        <p:nvSpPr>
          <p:cNvPr id="101" name="Text Box 8"/>
          <p:cNvSpPr/>
          <p:nvPr/>
        </p:nvSpPr>
        <p:spPr>
          <a:xfrm>
            <a:off x="588960" y="4191120"/>
            <a:ext cx="3290040" cy="294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400" spc="-1" strike="noStrike">
                <a:solidFill>
                  <a:srgbClr val="000000"/>
                </a:solidFill>
                <a:latin typeface="Arial"/>
                <a:ea typeface="DejaVu Sans"/>
              </a:rPr>
              <a:t>Sales Manager Name</a:t>
            </a:r>
            <a:endParaRPr b="0" lang="en-US" sz="1400" spc="-1" strike="noStrike">
              <a:latin typeface="Arial"/>
            </a:endParaRPr>
          </a:p>
        </p:txBody>
      </p:sp>
      <p:sp>
        <p:nvSpPr>
          <p:cNvPr id="102" name="Text Box 8"/>
          <p:cNvSpPr/>
          <p:nvPr/>
        </p:nvSpPr>
        <p:spPr>
          <a:xfrm>
            <a:off x="3897360" y="4191120"/>
            <a:ext cx="3634560" cy="294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400" spc="-1" strike="noStrike">
                <a:solidFill>
                  <a:srgbClr val="000000"/>
                </a:solidFill>
                <a:latin typeface="Arial"/>
                <a:ea typeface="DejaVu Sans"/>
              </a:rPr>
              <a:t>Sales Manager</a:t>
            </a:r>
            <a:endParaRPr b="0" lang="en-US" sz="1400" spc="-1" strike="noStrike">
              <a:latin typeface="Arial"/>
            </a:endParaRPr>
          </a:p>
        </p:txBody>
      </p:sp>
      <p:sp>
        <p:nvSpPr>
          <p:cNvPr id="103" name="Text Box 8"/>
          <p:cNvSpPr/>
          <p:nvPr/>
        </p:nvSpPr>
        <p:spPr>
          <a:xfrm>
            <a:off x="588960" y="5105520"/>
            <a:ext cx="3290040" cy="294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400" spc="-1" strike="noStrike">
                <a:solidFill>
                  <a:srgbClr val="000000"/>
                </a:solidFill>
                <a:latin typeface="Arial"/>
                <a:ea typeface="DejaVu Sans"/>
              </a:rPr>
              <a:t>Digital Sales Manager Name</a:t>
            </a:r>
            <a:endParaRPr b="0" lang="en-US" sz="1400" spc="-1" strike="noStrike">
              <a:latin typeface="Arial"/>
            </a:endParaRPr>
          </a:p>
        </p:txBody>
      </p:sp>
      <p:sp>
        <p:nvSpPr>
          <p:cNvPr id="104" name="Text Box 8"/>
          <p:cNvSpPr/>
          <p:nvPr/>
        </p:nvSpPr>
        <p:spPr>
          <a:xfrm>
            <a:off x="3886200" y="5105520"/>
            <a:ext cx="3634560" cy="294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400" spc="-1" strike="noStrike">
                <a:solidFill>
                  <a:srgbClr val="000000"/>
                </a:solidFill>
                <a:latin typeface="Arial"/>
                <a:ea typeface="DejaVu Sans"/>
              </a:rPr>
              <a:t>Digital Sales Manager</a:t>
            </a:r>
            <a:endParaRPr b="0" lang="en-US" sz="1400" spc="-1" strike="noStrike">
              <a:latin typeface="Arial"/>
            </a:endParaRPr>
          </a:p>
        </p:txBody>
      </p:sp>
      <p:sp>
        <p:nvSpPr>
          <p:cNvPr id="105" name="Text Box 8"/>
          <p:cNvSpPr/>
          <p:nvPr/>
        </p:nvSpPr>
        <p:spPr>
          <a:xfrm>
            <a:off x="593640" y="6019920"/>
            <a:ext cx="3291840" cy="294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400" spc="-1" strike="noStrike">
                <a:solidFill>
                  <a:srgbClr val="000000"/>
                </a:solidFill>
                <a:latin typeface="Arial"/>
                <a:ea typeface="DejaVu Sans"/>
              </a:rPr>
              <a:t>Creative Services Directors Name</a:t>
            </a:r>
            <a:endParaRPr b="0" lang="en-US" sz="1400" spc="-1" strike="noStrike">
              <a:latin typeface="Arial"/>
            </a:endParaRPr>
          </a:p>
        </p:txBody>
      </p:sp>
      <p:sp>
        <p:nvSpPr>
          <p:cNvPr id="106" name="Text Box 8"/>
          <p:cNvSpPr/>
          <p:nvPr/>
        </p:nvSpPr>
        <p:spPr>
          <a:xfrm>
            <a:off x="3897360" y="6019920"/>
            <a:ext cx="3634560" cy="294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400" spc="-1" strike="noStrike">
                <a:solidFill>
                  <a:srgbClr val="000000"/>
                </a:solidFill>
                <a:latin typeface="Arial"/>
                <a:ea typeface="DejaVu Sans"/>
              </a:rPr>
              <a:t>Creative Services Director</a:t>
            </a:r>
            <a:endParaRPr b="0" lang="en-US" sz="1400" spc="-1" strike="noStrike">
              <a:latin typeface="Arial"/>
            </a:endParaRPr>
          </a:p>
        </p:txBody>
      </p:sp>
      <p:sp>
        <p:nvSpPr>
          <p:cNvPr id="107" name="Text Box 8"/>
          <p:cNvSpPr/>
          <p:nvPr/>
        </p:nvSpPr>
        <p:spPr>
          <a:xfrm>
            <a:off x="588960" y="3276720"/>
            <a:ext cx="3290040" cy="294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400" spc="-1" strike="noStrike">
                <a:solidFill>
                  <a:srgbClr val="000000"/>
                </a:solidFill>
                <a:latin typeface="Arial"/>
                <a:ea typeface="DejaVu Sans"/>
              </a:rPr>
              <a:t>Your Name</a:t>
            </a:r>
            <a:endParaRPr b="0" lang="en-US" sz="1400" spc="-1" strike="noStrike">
              <a:latin typeface="Arial"/>
            </a:endParaRPr>
          </a:p>
        </p:txBody>
      </p:sp>
      <p:sp>
        <p:nvSpPr>
          <p:cNvPr id="108" name="Text Box 8"/>
          <p:cNvSpPr/>
          <p:nvPr/>
        </p:nvSpPr>
        <p:spPr>
          <a:xfrm>
            <a:off x="3886200" y="3276720"/>
            <a:ext cx="3634560" cy="294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400" spc="-1" strike="noStrike">
                <a:solidFill>
                  <a:srgbClr val="000000"/>
                </a:solidFill>
                <a:latin typeface="Arial"/>
                <a:ea typeface="DejaVu Sans"/>
              </a:rPr>
              <a:t>Integrated Marketing Specialist </a:t>
            </a:r>
            <a:endParaRPr b="0" lang="en-US" sz="1400" spc="-1" strike="noStrike">
              <a:latin typeface="Arial"/>
            </a:endParaRPr>
          </a:p>
        </p:txBody>
      </p:sp>
      <p:pic>
        <p:nvPicPr>
          <p:cNvPr id="109" name="Picture 5" descr=""/>
          <p:cNvPicPr/>
          <p:nvPr/>
        </p:nvPicPr>
        <p:blipFill>
          <a:blip r:embed="rId1"/>
          <a:stretch/>
        </p:blipFill>
        <p:spPr>
          <a:xfrm>
            <a:off x="533520" y="3330720"/>
            <a:ext cx="7619400" cy="21600"/>
          </a:xfrm>
          <a:prstGeom prst="rect">
            <a:avLst/>
          </a:prstGeom>
          <a:ln w="0">
            <a:noFill/>
          </a:ln>
        </p:spPr>
      </p:pic>
      <p:pic>
        <p:nvPicPr>
          <p:cNvPr id="110" name="Picture 5" descr=""/>
          <p:cNvPicPr/>
          <p:nvPr/>
        </p:nvPicPr>
        <p:blipFill>
          <a:blip r:embed="rId2"/>
          <a:stretch/>
        </p:blipFill>
        <p:spPr>
          <a:xfrm>
            <a:off x="609480" y="4245120"/>
            <a:ext cx="7619400" cy="21600"/>
          </a:xfrm>
          <a:prstGeom prst="rect">
            <a:avLst/>
          </a:prstGeom>
          <a:ln w="0">
            <a:noFill/>
          </a:ln>
        </p:spPr>
      </p:pic>
      <p:pic>
        <p:nvPicPr>
          <p:cNvPr id="111" name="Picture 5" descr=""/>
          <p:cNvPicPr/>
          <p:nvPr/>
        </p:nvPicPr>
        <p:blipFill>
          <a:blip r:embed="rId3"/>
          <a:stretch/>
        </p:blipFill>
        <p:spPr>
          <a:xfrm>
            <a:off x="609480" y="5159520"/>
            <a:ext cx="7619400" cy="21600"/>
          </a:xfrm>
          <a:prstGeom prst="rect">
            <a:avLst/>
          </a:prstGeom>
          <a:ln w="0">
            <a:noFill/>
          </a:ln>
        </p:spPr>
      </p:pic>
      <p:pic>
        <p:nvPicPr>
          <p:cNvPr id="112" name="Picture 5" descr=""/>
          <p:cNvPicPr/>
          <p:nvPr/>
        </p:nvPicPr>
        <p:blipFill>
          <a:blip r:embed="rId4"/>
          <a:stretch/>
        </p:blipFill>
        <p:spPr>
          <a:xfrm>
            <a:off x="609480" y="6073920"/>
            <a:ext cx="7619400" cy="216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Rounded Rectangle 35"/>
          <p:cNvSpPr/>
          <p:nvPr/>
        </p:nvSpPr>
        <p:spPr>
          <a:xfrm>
            <a:off x="938160" y="1981080"/>
            <a:ext cx="1065960" cy="286560"/>
          </a:xfrm>
          <a:prstGeom prst="roundRect">
            <a:avLst>
              <a:gd name="adj" fmla="val 16667"/>
            </a:avLst>
          </a:prstGeom>
          <a:solidFill>
            <a:schemeClr val="bg1"/>
          </a:solidFill>
          <a:ln w="25400">
            <a:solidFill>
              <a:srgbClr val="00274d"/>
            </a:solidFill>
            <a:round/>
          </a:ln>
        </p:spPr>
        <p:style>
          <a:lnRef idx="0"/>
          <a:fillRef idx="0"/>
          <a:effectRef idx="0"/>
          <a:fontRef idx="minor"/>
        </p:style>
      </p:sp>
      <p:sp>
        <p:nvSpPr>
          <p:cNvPr id="114" name="Text Box 7"/>
          <p:cNvSpPr/>
          <p:nvPr/>
        </p:nvSpPr>
        <p:spPr>
          <a:xfrm>
            <a:off x="976320" y="2036880"/>
            <a:ext cx="988200" cy="173160"/>
          </a:xfrm>
          <a:prstGeom prst="rect">
            <a:avLst/>
          </a:prstGeom>
          <a:solidFill>
            <a:schemeClr val="bg1"/>
          </a:solidFill>
          <a:ln w="0">
            <a:noFill/>
          </a:ln>
        </p:spPr>
        <p:style>
          <a:lnRef idx="0"/>
          <a:fillRef idx="0"/>
          <a:effectRef idx="0"/>
          <a:fontRef idx="minor"/>
        </p:style>
        <p:txBody>
          <a:bodyPr lIns="0" rIns="0" tIns="0" bIns="0" anchor="t">
            <a:spAutoFit/>
          </a:bodyPr>
          <a:p>
            <a:pPr algn="ctr">
              <a:lnSpc>
                <a:spcPct val="95000"/>
              </a:lnSpc>
              <a:buNone/>
            </a:pPr>
            <a:r>
              <a:rPr b="1" lang="en-US" sz="1200" spc="-1" strike="noStrike">
                <a:solidFill>
                  <a:srgbClr val="00274d"/>
                </a:solidFill>
                <a:latin typeface="Corbel"/>
                <a:ea typeface="Corbel"/>
              </a:rPr>
              <a:t>1</a:t>
            </a:r>
            <a:r>
              <a:rPr b="1" lang="en-US" sz="1200" spc="-1" strike="noStrike" baseline="30000">
                <a:solidFill>
                  <a:srgbClr val="00274d"/>
                </a:solidFill>
                <a:latin typeface="Corbel"/>
                <a:ea typeface="Corbel"/>
              </a:rPr>
              <a:t>st</a:t>
            </a:r>
            <a:r>
              <a:rPr b="1" lang="en-US" sz="1200" spc="-1" strike="noStrike">
                <a:solidFill>
                  <a:srgbClr val="00274d"/>
                </a:solidFill>
                <a:latin typeface="Corbel"/>
                <a:ea typeface="Corbel"/>
              </a:rPr>
              <a:t> Tier</a:t>
            </a:r>
            <a:endParaRPr b="0" lang="en-US" sz="1200" spc="-1" strike="noStrike">
              <a:latin typeface="Arial"/>
            </a:endParaRPr>
          </a:p>
        </p:txBody>
      </p:sp>
      <p:sp>
        <p:nvSpPr>
          <p:cNvPr id="115" name="Text Box 8"/>
          <p:cNvSpPr/>
          <p:nvPr/>
        </p:nvSpPr>
        <p:spPr>
          <a:xfrm>
            <a:off x="2117880" y="2028960"/>
            <a:ext cx="2329560" cy="1879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300" spc="-1" strike="noStrike">
                <a:solidFill>
                  <a:srgbClr val="00274d"/>
                </a:solidFill>
                <a:latin typeface="Corbel"/>
                <a:ea typeface="Corbel"/>
              </a:rPr>
              <a:t>Midas</a:t>
            </a:r>
            <a:endParaRPr b="0" lang="en-US" sz="1300" spc="-1" strike="noStrike">
              <a:latin typeface="Arial"/>
            </a:endParaRPr>
          </a:p>
        </p:txBody>
      </p:sp>
      <p:sp>
        <p:nvSpPr>
          <p:cNvPr id="116" name="Text Box 9"/>
          <p:cNvSpPr/>
          <p:nvPr/>
        </p:nvSpPr>
        <p:spPr>
          <a:xfrm>
            <a:off x="2208240" y="2319480"/>
            <a:ext cx="2280600" cy="1587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100" spc="-1" strike="noStrike">
                <a:solidFill>
                  <a:srgbClr val="00274d"/>
                </a:solidFill>
                <a:latin typeface="Corbel"/>
                <a:ea typeface="Corbel"/>
              </a:rPr>
              <a:t>#1 in Market Revenue</a:t>
            </a:r>
            <a:endParaRPr b="0" lang="en-US" sz="1100" spc="-1" strike="noStrike">
              <a:latin typeface="Arial"/>
            </a:endParaRPr>
          </a:p>
        </p:txBody>
      </p:sp>
      <p:sp>
        <p:nvSpPr>
          <p:cNvPr id="117" name="Rounded Rectangle 40"/>
          <p:cNvSpPr/>
          <p:nvPr/>
        </p:nvSpPr>
        <p:spPr>
          <a:xfrm>
            <a:off x="4710240" y="1981080"/>
            <a:ext cx="1065960" cy="286560"/>
          </a:xfrm>
          <a:prstGeom prst="roundRect">
            <a:avLst>
              <a:gd name="adj" fmla="val 16667"/>
            </a:avLst>
          </a:prstGeom>
          <a:solidFill>
            <a:srgbClr val="ffffff"/>
          </a:solidFill>
          <a:ln w="25400">
            <a:solidFill>
              <a:srgbClr val="00274d"/>
            </a:solidFill>
            <a:round/>
          </a:ln>
        </p:spPr>
        <p:style>
          <a:lnRef idx="0"/>
          <a:fillRef idx="0"/>
          <a:effectRef idx="0"/>
          <a:fontRef idx="minor"/>
        </p:style>
      </p:sp>
      <p:sp>
        <p:nvSpPr>
          <p:cNvPr id="118" name="Text Box 11"/>
          <p:cNvSpPr/>
          <p:nvPr/>
        </p:nvSpPr>
        <p:spPr>
          <a:xfrm>
            <a:off x="4751280" y="2036880"/>
            <a:ext cx="982080" cy="17316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buNone/>
            </a:pPr>
            <a:r>
              <a:rPr b="1" lang="en-US" sz="1200" spc="-1" strike="noStrike">
                <a:solidFill>
                  <a:srgbClr val="00274d"/>
                </a:solidFill>
                <a:latin typeface="Corbel"/>
                <a:ea typeface="Corbel"/>
              </a:rPr>
              <a:t>2</a:t>
            </a:r>
            <a:r>
              <a:rPr b="1" lang="en-US" sz="1200" spc="-1" strike="noStrike" baseline="30000">
                <a:solidFill>
                  <a:srgbClr val="00274d"/>
                </a:solidFill>
                <a:latin typeface="Corbel"/>
                <a:ea typeface="Corbel"/>
              </a:rPr>
              <a:t>nd</a:t>
            </a:r>
            <a:r>
              <a:rPr b="1" lang="en-US" sz="1200" spc="-1" strike="noStrike">
                <a:solidFill>
                  <a:srgbClr val="00274d"/>
                </a:solidFill>
                <a:latin typeface="Corbel"/>
                <a:ea typeface="Corbel"/>
              </a:rPr>
              <a:t> Tier</a:t>
            </a:r>
            <a:endParaRPr b="0" lang="en-US" sz="1200" spc="-1" strike="noStrike">
              <a:latin typeface="Arial"/>
            </a:endParaRPr>
          </a:p>
        </p:txBody>
      </p:sp>
      <p:sp>
        <p:nvSpPr>
          <p:cNvPr id="119" name="Text Box 13"/>
          <p:cNvSpPr/>
          <p:nvPr/>
        </p:nvSpPr>
        <p:spPr>
          <a:xfrm>
            <a:off x="5948280" y="2319480"/>
            <a:ext cx="2053440" cy="1587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100" spc="-1" strike="noStrike">
                <a:solidFill>
                  <a:srgbClr val="00274d"/>
                </a:solidFill>
                <a:latin typeface="Corbel"/>
                <a:ea typeface="Corbel"/>
              </a:rPr>
              <a:t>#2 in Market Revenue</a:t>
            </a:r>
            <a:endParaRPr b="0" lang="en-US" sz="1100" spc="-1" strike="noStrike">
              <a:latin typeface="Arial"/>
            </a:endParaRPr>
          </a:p>
        </p:txBody>
      </p:sp>
      <p:sp>
        <p:nvSpPr>
          <p:cNvPr id="120" name="Rounded Rectangle 44"/>
          <p:cNvSpPr/>
          <p:nvPr/>
        </p:nvSpPr>
        <p:spPr>
          <a:xfrm>
            <a:off x="938160" y="2682720"/>
            <a:ext cx="1065960" cy="288360"/>
          </a:xfrm>
          <a:prstGeom prst="roundRect">
            <a:avLst>
              <a:gd name="adj" fmla="val 16667"/>
            </a:avLst>
          </a:prstGeom>
          <a:solidFill>
            <a:srgbClr val="ffffff"/>
          </a:solidFill>
          <a:ln w="25400">
            <a:solidFill>
              <a:srgbClr val="00274d"/>
            </a:solidFill>
            <a:round/>
          </a:ln>
        </p:spPr>
        <p:style>
          <a:lnRef idx="0"/>
          <a:fillRef idx="0"/>
          <a:effectRef idx="0"/>
          <a:fontRef idx="minor"/>
        </p:style>
      </p:sp>
      <p:sp>
        <p:nvSpPr>
          <p:cNvPr id="121" name="Text Box 15"/>
          <p:cNvSpPr/>
          <p:nvPr/>
        </p:nvSpPr>
        <p:spPr>
          <a:xfrm>
            <a:off x="982800" y="2739960"/>
            <a:ext cx="975600" cy="17316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buNone/>
            </a:pPr>
            <a:r>
              <a:rPr b="1" lang="en-US" sz="1200" spc="-1" strike="noStrike">
                <a:solidFill>
                  <a:srgbClr val="00274d"/>
                </a:solidFill>
                <a:latin typeface="Corbel"/>
                <a:ea typeface="Corbel"/>
              </a:rPr>
              <a:t>3</a:t>
            </a:r>
            <a:r>
              <a:rPr b="1" lang="en-US" sz="1200" spc="-1" strike="noStrike" baseline="30000">
                <a:solidFill>
                  <a:srgbClr val="00274d"/>
                </a:solidFill>
                <a:latin typeface="Corbel"/>
                <a:ea typeface="Corbel"/>
              </a:rPr>
              <a:t>rd</a:t>
            </a:r>
            <a:r>
              <a:rPr b="1" lang="en-US" sz="1200" spc="-1" strike="noStrike">
                <a:solidFill>
                  <a:srgbClr val="00274d"/>
                </a:solidFill>
                <a:latin typeface="Corbel"/>
                <a:ea typeface="Corbel"/>
              </a:rPr>
              <a:t>  Tier</a:t>
            </a:r>
            <a:endParaRPr b="0" lang="en-US" sz="1200" spc="-1" strike="noStrike">
              <a:latin typeface="Arial"/>
            </a:endParaRPr>
          </a:p>
        </p:txBody>
      </p:sp>
      <p:sp>
        <p:nvSpPr>
          <p:cNvPr id="122" name="Text Box 17"/>
          <p:cNvSpPr/>
          <p:nvPr/>
        </p:nvSpPr>
        <p:spPr>
          <a:xfrm>
            <a:off x="2200320" y="3005280"/>
            <a:ext cx="2509200" cy="1587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100" spc="-1" strike="noStrike">
                <a:solidFill>
                  <a:srgbClr val="00274d"/>
                </a:solidFill>
                <a:latin typeface="Corbel"/>
                <a:ea typeface="Corbel"/>
              </a:rPr>
              <a:t>#3 in Market Revenue</a:t>
            </a:r>
            <a:endParaRPr b="0" lang="en-US" sz="1100" spc="-1" strike="noStrike">
              <a:latin typeface="Arial"/>
            </a:endParaRPr>
          </a:p>
        </p:txBody>
      </p:sp>
      <p:sp>
        <p:nvSpPr>
          <p:cNvPr id="123" name="Rounded Rectangle 48"/>
          <p:cNvSpPr/>
          <p:nvPr/>
        </p:nvSpPr>
        <p:spPr>
          <a:xfrm>
            <a:off x="4710240" y="2682720"/>
            <a:ext cx="1065960" cy="288360"/>
          </a:xfrm>
          <a:prstGeom prst="roundRect">
            <a:avLst>
              <a:gd name="adj" fmla="val 16667"/>
            </a:avLst>
          </a:prstGeom>
          <a:solidFill>
            <a:srgbClr val="ffffff"/>
          </a:solidFill>
          <a:ln w="25400">
            <a:solidFill>
              <a:srgbClr val="00274d"/>
            </a:solidFill>
            <a:round/>
          </a:ln>
        </p:spPr>
        <p:style>
          <a:lnRef idx="0"/>
          <a:fillRef idx="0"/>
          <a:effectRef idx="0"/>
          <a:fontRef idx="minor"/>
        </p:style>
      </p:sp>
      <p:sp>
        <p:nvSpPr>
          <p:cNvPr id="124" name="Text Box 19"/>
          <p:cNvSpPr/>
          <p:nvPr/>
        </p:nvSpPr>
        <p:spPr>
          <a:xfrm>
            <a:off x="4748040" y="2739960"/>
            <a:ext cx="988200" cy="17316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buNone/>
            </a:pPr>
            <a:r>
              <a:rPr b="1" lang="en-US" sz="1200" spc="-1" strike="noStrike">
                <a:solidFill>
                  <a:srgbClr val="00274d"/>
                </a:solidFill>
                <a:latin typeface="Corbel"/>
                <a:ea typeface="Corbel"/>
              </a:rPr>
              <a:t>4</a:t>
            </a:r>
            <a:r>
              <a:rPr b="1" lang="en-US" sz="1200" spc="-1" strike="noStrike" baseline="30000">
                <a:solidFill>
                  <a:srgbClr val="00274d"/>
                </a:solidFill>
                <a:latin typeface="Corbel"/>
                <a:ea typeface="Corbel"/>
              </a:rPr>
              <a:t>th</a:t>
            </a:r>
            <a:r>
              <a:rPr b="1" lang="en-US" sz="1200" spc="-1" strike="noStrike">
                <a:solidFill>
                  <a:srgbClr val="00274d"/>
                </a:solidFill>
                <a:latin typeface="Corbel"/>
                <a:ea typeface="Corbel"/>
              </a:rPr>
              <a:t> Tier</a:t>
            </a:r>
            <a:endParaRPr b="0" lang="en-US" sz="1200" spc="-1" strike="noStrike">
              <a:latin typeface="Arial"/>
            </a:endParaRPr>
          </a:p>
        </p:txBody>
      </p:sp>
      <p:sp>
        <p:nvSpPr>
          <p:cNvPr id="125" name="Text Box 21"/>
          <p:cNvSpPr/>
          <p:nvPr/>
        </p:nvSpPr>
        <p:spPr>
          <a:xfrm>
            <a:off x="5975280" y="3005280"/>
            <a:ext cx="1553400" cy="1587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100" spc="-1" strike="noStrike">
                <a:solidFill>
                  <a:srgbClr val="00274d"/>
                </a:solidFill>
                <a:latin typeface="Corbel"/>
                <a:ea typeface="Corbel"/>
              </a:rPr>
              <a:t>#4 in Market Revenue</a:t>
            </a:r>
            <a:endParaRPr b="0" lang="en-US" sz="1100" spc="-1" strike="noStrike">
              <a:latin typeface="Arial"/>
            </a:endParaRPr>
          </a:p>
        </p:txBody>
      </p:sp>
      <p:sp>
        <p:nvSpPr>
          <p:cNvPr id="126" name="Text Box 8"/>
          <p:cNvSpPr/>
          <p:nvPr/>
        </p:nvSpPr>
        <p:spPr>
          <a:xfrm>
            <a:off x="5875200" y="2038320"/>
            <a:ext cx="2331360" cy="1879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300" spc="-1" strike="noStrike">
                <a:solidFill>
                  <a:srgbClr val="00274d"/>
                </a:solidFill>
                <a:latin typeface="Corbel"/>
                <a:ea typeface="Corbel"/>
              </a:rPr>
              <a:t>Firestone</a:t>
            </a:r>
            <a:endParaRPr b="0" lang="en-US" sz="1300" spc="-1" strike="noStrike">
              <a:latin typeface="Arial"/>
            </a:endParaRPr>
          </a:p>
        </p:txBody>
      </p:sp>
      <p:sp>
        <p:nvSpPr>
          <p:cNvPr id="127" name="Text Box 8"/>
          <p:cNvSpPr/>
          <p:nvPr/>
        </p:nvSpPr>
        <p:spPr>
          <a:xfrm>
            <a:off x="2103480" y="2724120"/>
            <a:ext cx="2331360" cy="1879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300" spc="-1" strike="noStrike">
                <a:solidFill>
                  <a:srgbClr val="00274d"/>
                </a:solidFill>
                <a:latin typeface="Corbel"/>
                <a:ea typeface="Corbel"/>
              </a:rPr>
              <a:t>Jiffy Lube</a:t>
            </a:r>
            <a:endParaRPr b="0" lang="en-US" sz="1300" spc="-1" strike="noStrike">
              <a:latin typeface="Arial"/>
            </a:endParaRPr>
          </a:p>
        </p:txBody>
      </p:sp>
      <p:sp>
        <p:nvSpPr>
          <p:cNvPr id="128" name="Text Box 8"/>
          <p:cNvSpPr/>
          <p:nvPr/>
        </p:nvSpPr>
        <p:spPr>
          <a:xfrm>
            <a:off x="5875200" y="2724120"/>
            <a:ext cx="2505960" cy="1879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300" spc="-1" strike="noStrike">
                <a:solidFill>
                  <a:srgbClr val="00274d"/>
                </a:solidFill>
                <a:latin typeface="Corbel"/>
                <a:ea typeface="Corbel"/>
              </a:rPr>
              <a:t>Billy Bob's</a:t>
            </a:r>
            <a:endParaRPr b="0" lang="en-US" sz="1300" spc="-1" strike="noStrike">
              <a:latin typeface="Arial"/>
            </a:endParaRPr>
          </a:p>
        </p:txBody>
      </p:sp>
      <p:sp>
        <p:nvSpPr>
          <p:cNvPr id="129" name="Text Box 5"/>
          <p:cNvSpPr/>
          <p:nvPr/>
        </p:nvSpPr>
        <p:spPr>
          <a:xfrm>
            <a:off x="609480" y="1370160"/>
            <a:ext cx="2777400" cy="3459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1. How long have you been in business? </a:t>
            </a:r>
            <a:endParaRPr b="0" lang="en-US" sz="1200" spc="-1" strike="noStrike">
              <a:latin typeface="Arial"/>
            </a:endParaRPr>
          </a:p>
        </p:txBody>
      </p:sp>
      <p:sp>
        <p:nvSpPr>
          <p:cNvPr id="130" name="Text Box 6"/>
          <p:cNvSpPr/>
          <p:nvPr/>
        </p:nvSpPr>
        <p:spPr>
          <a:xfrm>
            <a:off x="4378320" y="1386000"/>
            <a:ext cx="1439280" cy="3459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How many locations? </a:t>
            </a:r>
            <a:endParaRPr b="0" lang="en-US" sz="1200" spc="-1" strike="noStrike">
              <a:latin typeface="Arial"/>
            </a:endParaRPr>
          </a:p>
        </p:txBody>
      </p:sp>
      <p:sp>
        <p:nvSpPr>
          <p:cNvPr id="131" name="TextBox 18"/>
          <p:cNvSpPr/>
          <p:nvPr/>
        </p:nvSpPr>
        <p:spPr>
          <a:xfrm>
            <a:off x="3303720" y="1322280"/>
            <a:ext cx="92160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12  Years</a:t>
            </a:r>
            <a:endParaRPr b="0" lang="en-US" sz="1200" spc="-1" strike="noStrike">
              <a:latin typeface="Arial"/>
            </a:endParaRPr>
          </a:p>
        </p:txBody>
      </p:sp>
      <p:sp>
        <p:nvSpPr>
          <p:cNvPr id="132" name="TextBox 19"/>
          <p:cNvSpPr/>
          <p:nvPr/>
        </p:nvSpPr>
        <p:spPr>
          <a:xfrm>
            <a:off x="5818320" y="1332000"/>
            <a:ext cx="61668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5</a:t>
            </a:r>
            <a:endParaRPr b="0" lang="en-US" sz="1200" spc="-1" strike="noStrike">
              <a:latin typeface="Arial"/>
            </a:endParaRPr>
          </a:p>
        </p:txBody>
      </p:sp>
      <p:sp>
        <p:nvSpPr>
          <p:cNvPr id="133" name="Text Box 6"/>
          <p:cNvSpPr/>
          <p:nvPr/>
        </p:nvSpPr>
        <p:spPr>
          <a:xfrm>
            <a:off x="6359400" y="1386000"/>
            <a:ext cx="14392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Plans to Expand? </a:t>
            </a:r>
            <a:endParaRPr b="0" lang="en-US" sz="1200" spc="-1" strike="noStrike">
              <a:latin typeface="Arial"/>
            </a:endParaRPr>
          </a:p>
        </p:txBody>
      </p:sp>
      <p:sp>
        <p:nvSpPr>
          <p:cNvPr id="134" name="TextBox 19"/>
          <p:cNvSpPr/>
          <p:nvPr/>
        </p:nvSpPr>
        <p:spPr>
          <a:xfrm>
            <a:off x="7593120" y="1332000"/>
            <a:ext cx="8233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Yes</a:t>
            </a:r>
            <a:endParaRPr b="0" lang="en-US" sz="1200" spc="-1" strike="noStrike">
              <a:latin typeface="Arial"/>
            </a:endParaRPr>
          </a:p>
        </p:txBody>
      </p:sp>
      <p:sp>
        <p:nvSpPr>
          <p:cNvPr id="135"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Marketplace Competition</a:t>
            </a:r>
            <a:endParaRPr b="0" lang="en-US" sz="4000" spc="-1" strike="noStrike">
              <a:latin typeface="Arial"/>
            </a:endParaRPr>
          </a:p>
        </p:txBody>
      </p:sp>
      <p:sp>
        <p:nvSpPr>
          <p:cNvPr id="136"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FCA1D5FB-F4CE-4E51-94A2-C45EB12855D9}"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137" name="Text Box 10"/>
          <p:cNvSpPr/>
          <p:nvPr/>
        </p:nvSpPr>
        <p:spPr>
          <a:xfrm>
            <a:off x="623880" y="3494160"/>
            <a:ext cx="273780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2. Who is your main competition?</a:t>
            </a:r>
            <a:endParaRPr b="0" lang="en-US" sz="1200" spc="-1" strike="noStrike">
              <a:latin typeface="Arial"/>
            </a:endParaRPr>
          </a:p>
        </p:txBody>
      </p:sp>
      <p:sp>
        <p:nvSpPr>
          <p:cNvPr id="138" name="TextBox 23"/>
          <p:cNvSpPr/>
          <p:nvPr/>
        </p:nvSpPr>
        <p:spPr>
          <a:xfrm>
            <a:off x="1268280" y="3809880"/>
            <a:ext cx="356004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Midas</a:t>
            </a:r>
            <a:endParaRPr b="0" lang="en-US" sz="1200" spc="-1" strike="noStrike">
              <a:latin typeface="Arial"/>
            </a:endParaRPr>
          </a:p>
        </p:txBody>
      </p:sp>
      <p:sp>
        <p:nvSpPr>
          <p:cNvPr id="139" name="TextBox 24"/>
          <p:cNvSpPr/>
          <p:nvPr/>
        </p:nvSpPr>
        <p:spPr>
          <a:xfrm>
            <a:off x="5100480" y="3809880"/>
            <a:ext cx="342036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Firestone</a:t>
            </a:r>
            <a:endParaRPr b="0" lang="en-US" sz="1200" spc="-1" strike="noStrike">
              <a:latin typeface="Arial"/>
            </a:endParaRPr>
          </a:p>
        </p:txBody>
      </p:sp>
      <p:sp>
        <p:nvSpPr>
          <p:cNvPr id="140" name="Text Box 13"/>
          <p:cNvSpPr/>
          <p:nvPr/>
        </p:nvSpPr>
        <p:spPr>
          <a:xfrm>
            <a:off x="852480" y="4330800"/>
            <a:ext cx="24519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A. What are their strengths? </a:t>
            </a:r>
            <a:endParaRPr b="0" lang="en-US" sz="1200" spc="-1" strike="noStrike">
              <a:latin typeface="Arial"/>
            </a:endParaRPr>
          </a:p>
        </p:txBody>
      </p:sp>
      <p:sp>
        <p:nvSpPr>
          <p:cNvPr id="141" name="Text Box 16"/>
          <p:cNvSpPr/>
          <p:nvPr/>
        </p:nvSpPr>
        <p:spPr>
          <a:xfrm>
            <a:off x="852480" y="5330880"/>
            <a:ext cx="26470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B. What are their weaknesses? </a:t>
            </a:r>
            <a:endParaRPr b="0" lang="en-US" sz="1200" spc="-1" strike="noStrike">
              <a:latin typeface="Arial"/>
            </a:endParaRPr>
          </a:p>
        </p:txBody>
      </p:sp>
      <p:sp>
        <p:nvSpPr>
          <p:cNvPr id="142" name="TextBox 25"/>
          <p:cNvSpPr/>
          <p:nvPr/>
        </p:nvSpPr>
        <p:spPr>
          <a:xfrm>
            <a:off x="1276200" y="4572000"/>
            <a:ext cx="3552120" cy="62928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Midas has a national reputation and a large advertising budget and 4 locations.  </a:t>
            </a:r>
            <a:endParaRPr b="0" lang="en-US" sz="1200" spc="-1" strike="noStrike">
              <a:latin typeface="Arial"/>
            </a:endParaRPr>
          </a:p>
          <a:p>
            <a:pPr>
              <a:lnSpc>
                <a:spcPct val="100000"/>
              </a:lnSpc>
              <a:buNone/>
            </a:pPr>
            <a:endParaRPr b="0" lang="en-US" sz="1200" spc="-1" strike="noStrike">
              <a:latin typeface="Arial"/>
            </a:endParaRPr>
          </a:p>
        </p:txBody>
      </p:sp>
      <p:sp>
        <p:nvSpPr>
          <p:cNvPr id="143" name="TextBox 26"/>
          <p:cNvSpPr/>
          <p:nvPr/>
        </p:nvSpPr>
        <p:spPr>
          <a:xfrm>
            <a:off x="5078520" y="4572000"/>
            <a:ext cx="3428280" cy="81180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While known primarily for tires, Firestone has rebranded itself as a full automotive repair center.</a:t>
            </a:r>
            <a:endParaRPr b="0" lang="en-US" sz="1200" spc="-1" strike="noStrike">
              <a:latin typeface="Arial"/>
            </a:endParaRPr>
          </a:p>
          <a:p>
            <a:pPr>
              <a:lnSpc>
                <a:spcPct val="100000"/>
              </a:lnSpc>
              <a:buNone/>
            </a:pPr>
            <a:endParaRPr b="0" lang="en-US" sz="1200" spc="-1" strike="noStrike">
              <a:latin typeface="Arial"/>
            </a:endParaRPr>
          </a:p>
        </p:txBody>
      </p:sp>
      <p:sp>
        <p:nvSpPr>
          <p:cNvPr id="144" name="TextBox 28"/>
          <p:cNvSpPr/>
          <p:nvPr/>
        </p:nvSpPr>
        <p:spPr>
          <a:xfrm>
            <a:off x="1208160" y="5572080"/>
            <a:ext cx="3552120" cy="62928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While they do total car care Midas is still known primarily for Mufflers.</a:t>
            </a:r>
            <a:endParaRPr b="0" lang="en-US" sz="1200" spc="-1" strike="noStrike">
              <a:latin typeface="Arial"/>
            </a:endParaRPr>
          </a:p>
          <a:p>
            <a:pPr>
              <a:lnSpc>
                <a:spcPct val="100000"/>
              </a:lnSpc>
              <a:buNone/>
            </a:pPr>
            <a:endParaRPr b="0" lang="en-US" sz="1200" spc="-1" strike="noStrike">
              <a:latin typeface="Arial"/>
            </a:endParaRPr>
          </a:p>
        </p:txBody>
      </p:sp>
      <p:sp>
        <p:nvSpPr>
          <p:cNvPr id="145" name="TextBox 29"/>
          <p:cNvSpPr/>
          <p:nvPr/>
        </p:nvSpPr>
        <p:spPr>
          <a:xfrm>
            <a:off x="5078520" y="5572080"/>
            <a:ext cx="3428280" cy="81180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Locally Firestone has not done a good job of standing behind their work and has a mixed reputation.</a:t>
            </a:r>
            <a:endParaRPr b="0" lang="en-US" sz="1200" spc="-1" strike="noStrike">
              <a:latin typeface="Arial"/>
            </a:endParaRPr>
          </a:p>
          <a:p>
            <a:pPr>
              <a:lnSpc>
                <a:spcPct val="100000"/>
              </a:lnSpc>
              <a:buNone/>
            </a:pP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 Box 7"/>
          <p:cNvSpPr/>
          <p:nvPr/>
        </p:nvSpPr>
        <p:spPr>
          <a:xfrm>
            <a:off x="609480" y="4495680"/>
            <a:ext cx="678600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3. What  are the biggest misconceptions consumers have about your business? </a:t>
            </a:r>
            <a:endParaRPr b="0" lang="en-US" sz="1200" spc="-1" strike="noStrike">
              <a:latin typeface="Arial"/>
            </a:endParaRPr>
          </a:p>
        </p:txBody>
      </p:sp>
      <p:sp>
        <p:nvSpPr>
          <p:cNvPr id="147" name="Text Box 8"/>
          <p:cNvSpPr/>
          <p:nvPr/>
        </p:nvSpPr>
        <p:spPr>
          <a:xfrm>
            <a:off x="615960" y="5486400"/>
            <a:ext cx="44632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4. What are your most distinctive selling advantages? </a:t>
            </a:r>
            <a:endParaRPr b="0" lang="en-US" sz="1200" spc="-1" strike="noStrike">
              <a:latin typeface="Arial"/>
            </a:endParaRPr>
          </a:p>
        </p:txBody>
      </p:sp>
      <p:sp>
        <p:nvSpPr>
          <p:cNvPr id="148" name="TextBox 20"/>
          <p:cNvSpPr/>
          <p:nvPr/>
        </p:nvSpPr>
        <p:spPr>
          <a:xfrm>
            <a:off x="809640" y="4624560"/>
            <a:ext cx="7681320" cy="62928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That the service technicians do not have the technical expertise of the national shops and that Premium does not perform major repairs or factory scheduled maintenance.    </a:t>
            </a:r>
            <a:endParaRPr b="0" lang="en-US" sz="1200" spc="-1" strike="noStrike">
              <a:latin typeface="Arial"/>
            </a:endParaRPr>
          </a:p>
          <a:p>
            <a:pPr>
              <a:lnSpc>
                <a:spcPct val="100000"/>
              </a:lnSpc>
              <a:buNone/>
            </a:pPr>
            <a:endParaRPr b="0" lang="en-US" sz="1200" spc="-1" strike="noStrike">
              <a:latin typeface="Arial"/>
            </a:endParaRPr>
          </a:p>
        </p:txBody>
      </p:sp>
      <p:sp>
        <p:nvSpPr>
          <p:cNvPr id="149" name="TextBox 21"/>
          <p:cNvSpPr/>
          <p:nvPr/>
        </p:nvSpPr>
        <p:spPr>
          <a:xfrm>
            <a:off x="814320" y="5699160"/>
            <a:ext cx="7708320" cy="11768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Jim Smith is a hand's on owner/operator, personally guaranteeing all work (even giving out mobile number).  All personnel are encouraged and empowered to do whatever it takes to provide an outstanding customer experience.  As the major locally owned auto repair center, the desired image is one of caring for the customer, standing behind all their work and providing a world-class customer experience from the first call until the customer's keys are returned.</a:t>
            </a:r>
            <a:endParaRPr b="0" lang="en-US" sz="1200" spc="-1" strike="noStrike">
              <a:latin typeface="Arial"/>
            </a:endParaRPr>
          </a:p>
          <a:p>
            <a:pPr>
              <a:lnSpc>
                <a:spcPct val="100000"/>
              </a:lnSpc>
              <a:buNone/>
            </a:pPr>
            <a:endParaRPr b="0" lang="en-US" sz="1200" spc="-1" strike="noStrike">
              <a:latin typeface="Arial"/>
            </a:endParaRPr>
          </a:p>
        </p:txBody>
      </p:sp>
      <p:sp>
        <p:nvSpPr>
          <p:cNvPr id="150" name="Text Box 22"/>
          <p:cNvSpPr/>
          <p:nvPr/>
        </p:nvSpPr>
        <p:spPr>
          <a:xfrm>
            <a:off x="630360" y="642960"/>
            <a:ext cx="7817760" cy="3754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300" spc="-1" strike="noStrike">
                <a:solidFill>
                  <a:srgbClr val="00274d"/>
                </a:solidFill>
                <a:latin typeface="Corbel"/>
                <a:ea typeface="Corbel"/>
              </a:rPr>
              <a:t>If you had the power to improve three things in your marketing, what would they be in order of their priority?</a:t>
            </a:r>
            <a:endParaRPr b="0" lang="en-US" sz="1300" spc="-1" strike="noStrike">
              <a:latin typeface="Arial"/>
            </a:endParaRPr>
          </a:p>
        </p:txBody>
      </p:sp>
      <p:sp>
        <p:nvSpPr>
          <p:cNvPr id="151" name="Text Box 23"/>
          <p:cNvSpPr/>
          <p:nvPr/>
        </p:nvSpPr>
        <p:spPr>
          <a:xfrm>
            <a:off x="609480" y="1093680"/>
            <a:ext cx="30096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400" spc="-1" strike="noStrike">
                <a:solidFill>
                  <a:srgbClr val="00274d"/>
                </a:solidFill>
                <a:latin typeface="Corbel"/>
                <a:ea typeface="Corbel"/>
              </a:rPr>
              <a:t>1.</a:t>
            </a:r>
            <a:endParaRPr b="0" lang="en-US" sz="1400" spc="-1" strike="noStrike">
              <a:latin typeface="Arial"/>
            </a:endParaRPr>
          </a:p>
        </p:txBody>
      </p:sp>
      <p:sp>
        <p:nvSpPr>
          <p:cNvPr id="152" name="Text Box 24"/>
          <p:cNvSpPr/>
          <p:nvPr/>
        </p:nvSpPr>
        <p:spPr>
          <a:xfrm>
            <a:off x="3352680" y="1093680"/>
            <a:ext cx="30096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400" spc="-1" strike="noStrike">
                <a:solidFill>
                  <a:srgbClr val="00274d"/>
                </a:solidFill>
                <a:latin typeface="Corbel"/>
                <a:ea typeface="Corbel"/>
              </a:rPr>
              <a:t>2.</a:t>
            </a:r>
            <a:endParaRPr b="0" lang="en-US" sz="1400" spc="-1" strike="noStrike">
              <a:latin typeface="Arial"/>
            </a:endParaRPr>
          </a:p>
        </p:txBody>
      </p:sp>
      <p:sp>
        <p:nvSpPr>
          <p:cNvPr id="153" name="Text Box 25"/>
          <p:cNvSpPr/>
          <p:nvPr/>
        </p:nvSpPr>
        <p:spPr>
          <a:xfrm>
            <a:off x="5979960" y="1093680"/>
            <a:ext cx="29916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400" spc="-1" strike="noStrike">
                <a:solidFill>
                  <a:srgbClr val="00274d"/>
                </a:solidFill>
                <a:latin typeface="Corbel"/>
                <a:ea typeface="Corbel"/>
              </a:rPr>
              <a:t>3.</a:t>
            </a:r>
            <a:endParaRPr b="0" lang="en-US" sz="1400" spc="-1" strike="noStrike">
              <a:latin typeface="Arial"/>
            </a:endParaRPr>
          </a:p>
        </p:txBody>
      </p:sp>
      <p:sp>
        <p:nvSpPr>
          <p:cNvPr id="154" name="TextBox 51"/>
          <p:cNvSpPr/>
          <p:nvPr/>
        </p:nvSpPr>
        <p:spPr>
          <a:xfrm>
            <a:off x="836640" y="1069920"/>
            <a:ext cx="2467800" cy="44676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Make Promotional Events Stronger</a:t>
            </a:r>
            <a:endParaRPr b="0" lang="en-US" sz="1200" spc="-1" strike="noStrike">
              <a:latin typeface="Arial"/>
            </a:endParaRPr>
          </a:p>
        </p:txBody>
      </p:sp>
      <p:sp>
        <p:nvSpPr>
          <p:cNvPr id="155" name="TextBox 52"/>
          <p:cNvSpPr/>
          <p:nvPr/>
        </p:nvSpPr>
        <p:spPr>
          <a:xfrm>
            <a:off x="3511440" y="1069920"/>
            <a:ext cx="246780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Tech recruitment</a:t>
            </a:r>
            <a:endParaRPr b="0" lang="en-US" sz="1200" spc="-1" strike="noStrike">
              <a:latin typeface="Arial"/>
            </a:endParaRPr>
          </a:p>
        </p:txBody>
      </p:sp>
      <p:sp>
        <p:nvSpPr>
          <p:cNvPr id="156" name="TextBox 53"/>
          <p:cNvSpPr/>
          <p:nvPr/>
        </p:nvSpPr>
        <p:spPr>
          <a:xfrm>
            <a:off x="6186600" y="1069920"/>
            <a:ext cx="2467800" cy="44676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Expand Target Consumers (by age, sex, geography)</a:t>
            </a:r>
            <a:endParaRPr b="0" lang="en-US" sz="1200" spc="-1" strike="noStrike">
              <a:latin typeface="Arial"/>
            </a:endParaRPr>
          </a:p>
        </p:txBody>
      </p:sp>
      <p:sp>
        <p:nvSpPr>
          <p:cNvPr id="157" name="Text Box 27"/>
          <p:cNvSpPr/>
          <p:nvPr/>
        </p:nvSpPr>
        <p:spPr>
          <a:xfrm>
            <a:off x="5237280" y="2131920"/>
            <a:ext cx="3287160" cy="15228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000" spc="-1" strike="noStrike">
                <a:solidFill>
                  <a:srgbClr val="00274d"/>
                </a:solidFill>
                <a:latin typeface="Corbel"/>
                <a:ea typeface="Corbel"/>
              </a:rPr>
              <a:t>Grow New Traffic/Lead Calls </a:t>
            </a:r>
            <a:endParaRPr b="0" lang="en-US" sz="1000" spc="-1" strike="noStrike">
              <a:latin typeface="Arial"/>
            </a:endParaRPr>
          </a:p>
        </p:txBody>
      </p:sp>
      <p:sp>
        <p:nvSpPr>
          <p:cNvPr id="158" name="Text Box 28"/>
          <p:cNvSpPr/>
          <p:nvPr/>
        </p:nvSpPr>
        <p:spPr>
          <a:xfrm>
            <a:off x="5235480" y="3613320"/>
            <a:ext cx="3417120" cy="15228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000" spc="-1" strike="noStrike">
                <a:solidFill>
                  <a:srgbClr val="00274d"/>
                </a:solidFill>
                <a:latin typeface="Corbel"/>
                <a:ea typeface="Corbel"/>
              </a:rPr>
              <a:t>Improve Reputation and Listing Management</a:t>
            </a:r>
            <a:endParaRPr b="0" lang="en-US" sz="1000" spc="-1" strike="noStrike">
              <a:latin typeface="Arial"/>
            </a:endParaRPr>
          </a:p>
        </p:txBody>
      </p:sp>
      <p:sp>
        <p:nvSpPr>
          <p:cNvPr id="159" name="Text Box 29"/>
          <p:cNvSpPr/>
          <p:nvPr/>
        </p:nvSpPr>
        <p:spPr>
          <a:xfrm>
            <a:off x="1536840" y="3589200"/>
            <a:ext cx="335052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274d"/>
                </a:solidFill>
                <a:latin typeface="Corbel"/>
                <a:ea typeface="Corbel"/>
              </a:rPr>
              <a:t>Establish a Quarterly Spike/Seasonal Campaign</a:t>
            </a:r>
            <a:endParaRPr b="0" lang="en-US" sz="1000" spc="-1" strike="noStrike">
              <a:latin typeface="Arial"/>
            </a:endParaRPr>
          </a:p>
        </p:txBody>
      </p:sp>
      <p:sp>
        <p:nvSpPr>
          <p:cNvPr id="160" name="Text Box 30"/>
          <p:cNvSpPr/>
          <p:nvPr/>
        </p:nvSpPr>
        <p:spPr>
          <a:xfrm>
            <a:off x="5248440" y="2333520"/>
            <a:ext cx="360612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Expand Target Consumers (by age, sex, geography)</a:t>
            </a:r>
            <a:endParaRPr b="0" lang="en-US" sz="1000" spc="-1" strike="noStrike">
              <a:latin typeface="Arial"/>
            </a:endParaRPr>
          </a:p>
        </p:txBody>
      </p:sp>
      <p:sp>
        <p:nvSpPr>
          <p:cNvPr id="161" name="Text Box 31"/>
          <p:cNvSpPr/>
          <p:nvPr/>
        </p:nvSpPr>
        <p:spPr>
          <a:xfrm>
            <a:off x="5235480" y="4211640"/>
            <a:ext cx="341712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Tech recruitment</a:t>
            </a:r>
            <a:endParaRPr b="0" lang="en-US" sz="1000" spc="-1" strike="noStrike">
              <a:latin typeface="Arial"/>
            </a:endParaRPr>
          </a:p>
        </p:txBody>
      </p:sp>
      <p:sp>
        <p:nvSpPr>
          <p:cNvPr id="162" name="Text Box 32"/>
          <p:cNvSpPr/>
          <p:nvPr/>
        </p:nvSpPr>
        <p:spPr>
          <a:xfrm>
            <a:off x="1539720" y="2541600"/>
            <a:ext cx="306144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274d"/>
                </a:solidFill>
                <a:latin typeface="Corbel"/>
                <a:ea typeface="Corbel"/>
              </a:rPr>
              <a:t>Utilize Co-op/Vendor Dollars</a:t>
            </a:r>
            <a:r>
              <a:rPr b="0" lang="en-US" sz="1000" spc="-1" strike="noStrike">
                <a:solidFill>
                  <a:srgbClr val="00274d"/>
                </a:solidFill>
                <a:latin typeface="Corbel"/>
                <a:ea typeface="Corbel"/>
              </a:rPr>
              <a:t>	</a:t>
            </a:r>
            <a:endParaRPr b="0" lang="en-US" sz="1000" spc="-1" strike="noStrike">
              <a:latin typeface="Arial"/>
            </a:endParaRPr>
          </a:p>
        </p:txBody>
      </p:sp>
      <p:sp>
        <p:nvSpPr>
          <p:cNvPr id="163" name="Text Box 33"/>
          <p:cNvSpPr/>
          <p:nvPr/>
        </p:nvSpPr>
        <p:spPr>
          <a:xfrm>
            <a:off x="5237280" y="1736640"/>
            <a:ext cx="32853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Retain/Recapture Consumers </a:t>
            </a:r>
            <a:endParaRPr b="0" lang="en-US" sz="1000" spc="-1" strike="noStrike">
              <a:latin typeface="Arial"/>
            </a:endParaRPr>
          </a:p>
        </p:txBody>
      </p:sp>
      <p:sp>
        <p:nvSpPr>
          <p:cNvPr id="164" name="Text Box 35"/>
          <p:cNvSpPr/>
          <p:nvPr/>
        </p:nvSpPr>
        <p:spPr>
          <a:xfrm>
            <a:off x="5237280" y="2530440"/>
            <a:ext cx="32871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Change Consumer Attitudes</a:t>
            </a:r>
            <a:endParaRPr b="0" lang="en-US" sz="1000" spc="-1" strike="noStrike">
              <a:latin typeface="Arial"/>
            </a:endParaRPr>
          </a:p>
        </p:txBody>
      </p:sp>
      <p:sp>
        <p:nvSpPr>
          <p:cNvPr id="165" name="Text Box 36"/>
          <p:cNvSpPr/>
          <p:nvPr/>
        </p:nvSpPr>
        <p:spPr>
          <a:xfrm>
            <a:off x="5237280" y="3171960"/>
            <a:ext cx="341712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Maintain Market Dominance</a:t>
            </a:r>
            <a:endParaRPr b="0" lang="en-US" sz="1000" spc="-1" strike="noStrike">
              <a:latin typeface="Arial"/>
            </a:endParaRPr>
          </a:p>
        </p:txBody>
      </p:sp>
      <p:sp>
        <p:nvSpPr>
          <p:cNvPr id="166" name="Text Box 37"/>
          <p:cNvSpPr/>
          <p:nvPr/>
        </p:nvSpPr>
        <p:spPr>
          <a:xfrm>
            <a:off x="1544760" y="3807000"/>
            <a:ext cx="335052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Develop Database Marketing (Email &amp; Text)</a:t>
            </a:r>
            <a:endParaRPr b="0" lang="en-US" sz="1000" spc="-1" strike="noStrike">
              <a:latin typeface="Arial"/>
            </a:endParaRPr>
          </a:p>
        </p:txBody>
      </p:sp>
      <p:sp>
        <p:nvSpPr>
          <p:cNvPr id="167" name="Text Box 38"/>
          <p:cNvSpPr/>
          <p:nvPr/>
        </p:nvSpPr>
        <p:spPr>
          <a:xfrm>
            <a:off x="5245200" y="3828960"/>
            <a:ext cx="3417120" cy="15228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0" lang="en-US" sz="1000" spc="-1" strike="noStrike">
                <a:solidFill>
                  <a:srgbClr val="00274d"/>
                </a:solidFill>
                <a:latin typeface="Corbel"/>
                <a:ea typeface="Corbel"/>
              </a:rPr>
              <a:t>Enhance Website (Mobile, Responsive, SEO, SEM)</a:t>
            </a:r>
            <a:endParaRPr b="0" lang="en-US" sz="1000" spc="-1" strike="noStrike">
              <a:latin typeface="Arial"/>
            </a:endParaRPr>
          </a:p>
        </p:txBody>
      </p:sp>
      <p:sp>
        <p:nvSpPr>
          <p:cNvPr id="168" name="Text Box 40"/>
          <p:cNvSpPr/>
          <p:nvPr/>
        </p:nvSpPr>
        <p:spPr>
          <a:xfrm>
            <a:off x="1531800" y="3171960"/>
            <a:ext cx="335052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Make Promotional Events Stronger</a:t>
            </a:r>
            <a:endParaRPr b="0" lang="en-US" sz="1000" spc="-1" strike="noStrike">
              <a:latin typeface="Arial"/>
            </a:endParaRPr>
          </a:p>
        </p:txBody>
      </p:sp>
      <p:sp>
        <p:nvSpPr>
          <p:cNvPr id="169" name="Text Box 41"/>
          <p:cNvSpPr/>
          <p:nvPr/>
        </p:nvSpPr>
        <p:spPr>
          <a:xfrm>
            <a:off x="5248440" y="4021200"/>
            <a:ext cx="3418920" cy="15228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000" spc="-1" strike="noStrike">
                <a:solidFill>
                  <a:srgbClr val="00274d"/>
                </a:solidFill>
                <a:latin typeface="Corbel"/>
                <a:ea typeface="Corbel"/>
              </a:rPr>
              <a:t>Increase Market Share</a:t>
            </a:r>
            <a:endParaRPr b="0" lang="en-US" sz="1000" spc="-1" strike="noStrike">
              <a:latin typeface="Arial"/>
            </a:endParaRPr>
          </a:p>
        </p:txBody>
      </p:sp>
      <p:sp>
        <p:nvSpPr>
          <p:cNvPr id="170" name="Text Box 42"/>
          <p:cNvSpPr/>
          <p:nvPr/>
        </p:nvSpPr>
        <p:spPr>
          <a:xfrm>
            <a:off x="1544760" y="2368440"/>
            <a:ext cx="306000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274d"/>
                </a:solidFill>
                <a:latin typeface="Corbel"/>
                <a:ea typeface="Corbel"/>
              </a:rPr>
              <a:t>Promote Off-price Items/Services</a:t>
            </a:r>
            <a:endParaRPr b="0" lang="en-US" sz="1000" spc="-1" strike="noStrike">
              <a:latin typeface="Arial"/>
            </a:endParaRPr>
          </a:p>
        </p:txBody>
      </p:sp>
      <p:sp>
        <p:nvSpPr>
          <p:cNvPr id="171" name="Text Box 43"/>
          <p:cNvSpPr/>
          <p:nvPr/>
        </p:nvSpPr>
        <p:spPr>
          <a:xfrm>
            <a:off x="1539720" y="3371760"/>
            <a:ext cx="3349080" cy="15228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000" spc="-1" strike="noStrike">
                <a:solidFill>
                  <a:srgbClr val="00274d"/>
                </a:solidFill>
                <a:latin typeface="Corbel"/>
                <a:ea typeface="Corbel"/>
              </a:rPr>
              <a:t>Develop Digital/Mobile/Social Strategies</a:t>
            </a:r>
            <a:endParaRPr b="0" lang="en-US" sz="1000" spc="-1" strike="noStrike">
              <a:latin typeface="Arial"/>
            </a:endParaRPr>
          </a:p>
        </p:txBody>
      </p:sp>
      <p:sp>
        <p:nvSpPr>
          <p:cNvPr id="172" name="Text Box 45"/>
          <p:cNvSpPr/>
          <p:nvPr/>
        </p:nvSpPr>
        <p:spPr>
          <a:xfrm>
            <a:off x="1530360" y="1974960"/>
            <a:ext cx="306000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Feature Specific Products/Services</a:t>
            </a:r>
            <a:endParaRPr b="0" lang="en-US" sz="1000" spc="-1" strike="noStrike">
              <a:latin typeface="Arial"/>
            </a:endParaRPr>
          </a:p>
        </p:txBody>
      </p:sp>
      <p:sp>
        <p:nvSpPr>
          <p:cNvPr id="173" name="Text Box 47"/>
          <p:cNvSpPr/>
          <p:nvPr/>
        </p:nvSpPr>
        <p:spPr>
          <a:xfrm>
            <a:off x="1544760" y="4211640"/>
            <a:ext cx="33519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Develop Specially Staged Events</a:t>
            </a:r>
            <a:endParaRPr b="0" lang="en-US" sz="1000" spc="-1" strike="noStrike">
              <a:latin typeface="Arial"/>
            </a:endParaRPr>
          </a:p>
        </p:txBody>
      </p:sp>
      <p:sp>
        <p:nvSpPr>
          <p:cNvPr id="174" name="Text Box 48"/>
          <p:cNvSpPr/>
          <p:nvPr/>
        </p:nvSpPr>
        <p:spPr>
          <a:xfrm>
            <a:off x="1530360" y="1776240"/>
            <a:ext cx="30585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Introduce New Department/Products/Services</a:t>
            </a:r>
            <a:endParaRPr b="0" lang="en-US" sz="1000" spc="-1" strike="noStrike">
              <a:latin typeface="Arial"/>
            </a:endParaRPr>
          </a:p>
        </p:txBody>
      </p:sp>
      <p:sp>
        <p:nvSpPr>
          <p:cNvPr id="175" name="TextBox 50"/>
          <p:cNvSpPr/>
          <p:nvPr/>
        </p:nvSpPr>
        <p:spPr>
          <a:xfrm>
            <a:off x="5145120" y="3338640"/>
            <a:ext cx="2532960" cy="23400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1" lang="en-US" sz="1000" spc="-1" strike="noStrike">
                <a:solidFill>
                  <a:srgbClr val="00274d"/>
                </a:solidFill>
                <a:latin typeface="Corbel"/>
                <a:ea typeface="Corbel"/>
              </a:rPr>
              <a:t>Elevate Business Brand/Image</a:t>
            </a:r>
            <a:endParaRPr b="0" lang="en-US" sz="1000" spc="-1" strike="noStrike">
              <a:latin typeface="Arial"/>
            </a:endParaRPr>
          </a:p>
        </p:txBody>
      </p:sp>
      <p:sp>
        <p:nvSpPr>
          <p:cNvPr id="176" name="Rectangle 75"/>
          <p:cNvSpPr/>
          <p:nvPr/>
        </p:nvSpPr>
        <p:spPr>
          <a:xfrm>
            <a:off x="1616040" y="1465200"/>
            <a:ext cx="1456920" cy="2797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1" lang="en-US" sz="1300" spc="-1" strike="noStrike" u="sng">
                <a:solidFill>
                  <a:srgbClr val="00274d"/>
                </a:solidFill>
                <a:uFillTx/>
                <a:latin typeface="Corbel"/>
                <a:ea typeface="DejaVu Sans"/>
              </a:rPr>
              <a:t>Product/Service</a:t>
            </a:r>
            <a:r>
              <a:rPr b="1" lang="en-US" sz="1100" spc="-1" strike="noStrike">
                <a:solidFill>
                  <a:srgbClr val="00274d"/>
                </a:solidFill>
                <a:latin typeface="Corbel"/>
                <a:ea typeface="DejaVu Sans"/>
              </a:rPr>
              <a:t> </a:t>
            </a:r>
            <a:endParaRPr b="0" lang="en-US" sz="1100" spc="-1" strike="noStrike">
              <a:latin typeface="Arial"/>
            </a:endParaRPr>
          </a:p>
        </p:txBody>
      </p:sp>
      <p:sp>
        <p:nvSpPr>
          <p:cNvPr id="177" name="Rectangle 76"/>
          <p:cNvSpPr/>
          <p:nvPr/>
        </p:nvSpPr>
        <p:spPr>
          <a:xfrm>
            <a:off x="1452600" y="2125800"/>
            <a:ext cx="3536280" cy="23400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000" spc="-1" strike="noStrike">
                <a:solidFill>
                  <a:srgbClr val="00274d"/>
                </a:solidFill>
                <a:latin typeface="Corbel"/>
                <a:ea typeface="DejaVu Sans"/>
              </a:rPr>
              <a:t>Call Attention To Brands/Private Labels Carried</a:t>
            </a:r>
            <a:endParaRPr b="0" lang="en-US" sz="1000" spc="-1" strike="noStrike">
              <a:latin typeface="Arial"/>
            </a:endParaRPr>
          </a:p>
        </p:txBody>
      </p:sp>
      <p:sp>
        <p:nvSpPr>
          <p:cNvPr id="178" name="Rectangle 77"/>
          <p:cNvSpPr/>
          <p:nvPr/>
        </p:nvSpPr>
        <p:spPr>
          <a:xfrm>
            <a:off x="1807200" y="2763720"/>
            <a:ext cx="105156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1" lang="en-US" sz="1300" spc="-1" strike="noStrike" u="sng">
                <a:solidFill>
                  <a:srgbClr val="00274d"/>
                </a:solidFill>
                <a:uFillTx/>
                <a:latin typeface="Corbel"/>
                <a:ea typeface="DejaVu Sans"/>
              </a:rPr>
              <a:t>Promotion</a:t>
            </a:r>
            <a:r>
              <a:rPr b="1" lang="en-US" sz="1800" spc="-1" strike="noStrike">
                <a:solidFill>
                  <a:srgbClr val="00274d"/>
                </a:solidFill>
                <a:latin typeface="Corbel"/>
                <a:ea typeface="DejaVu Sans"/>
              </a:rPr>
              <a:t> </a:t>
            </a:r>
            <a:endParaRPr b="0" lang="en-US" sz="1800" spc="-1" strike="noStrike">
              <a:latin typeface="Arial"/>
            </a:endParaRPr>
          </a:p>
        </p:txBody>
      </p:sp>
      <p:sp>
        <p:nvSpPr>
          <p:cNvPr id="179" name="Text Box 35"/>
          <p:cNvSpPr/>
          <p:nvPr/>
        </p:nvSpPr>
        <p:spPr>
          <a:xfrm>
            <a:off x="1547640" y="4011480"/>
            <a:ext cx="33519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Initiate Cause Marketing Programs</a:t>
            </a:r>
            <a:endParaRPr b="0" lang="en-US" sz="1000" spc="-1" strike="noStrike">
              <a:latin typeface="Arial"/>
            </a:endParaRPr>
          </a:p>
        </p:txBody>
      </p:sp>
      <p:sp>
        <p:nvSpPr>
          <p:cNvPr id="180" name="Rectangle 79"/>
          <p:cNvSpPr/>
          <p:nvPr/>
        </p:nvSpPr>
        <p:spPr>
          <a:xfrm>
            <a:off x="5392440" y="1447920"/>
            <a:ext cx="1018080" cy="2797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1" lang="en-US" sz="1300" spc="-1" strike="noStrike" u="sng">
                <a:solidFill>
                  <a:srgbClr val="00274d"/>
                </a:solidFill>
                <a:uFillTx/>
                <a:latin typeface="Corbel"/>
                <a:ea typeface="DejaVu Sans"/>
              </a:rPr>
              <a:t>Consumer</a:t>
            </a:r>
            <a:r>
              <a:rPr b="1" lang="en-US" sz="1100" spc="-1" strike="noStrike">
                <a:solidFill>
                  <a:srgbClr val="00274d"/>
                </a:solidFill>
                <a:latin typeface="Corbel"/>
                <a:ea typeface="DejaVu Sans"/>
              </a:rPr>
              <a:t> </a:t>
            </a:r>
            <a:endParaRPr b="0" lang="en-US" sz="1100" spc="-1" strike="noStrike">
              <a:latin typeface="Arial"/>
            </a:endParaRPr>
          </a:p>
        </p:txBody>
      </p:sp>
      <p:sp>
        <p:nvSpPr>
          <p:cNvPr id="181" name="Text Box 33"/>
          <p:cNvSpPr/>
          <p:nvPr/>
        </p:nvSpPr>
        <p:spPr>
          <a:xfrm>
            <a:off x="5237280" y="1935000"/>
            <a:ext cx="32853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Increase Frequency of Customer Visits</a:t>
            </a:r>
            <a:endParaRPr b="0" lang="en-US" sz="1000" spc="-1" strike="noStrike">
              <a:latin typeface="Arial"/>
            </a:endParaRPr>
          </a:p>
        </p:txBody>
      </p:sp>
      <p:sp>
        <p:nvSpPr>
          <p:cNvPr id="182" name="Rectangle 81"/>
          <p:cNvSpPr/>
          <p:nvPr/>
        </p:nvSpPr>
        <p:spPr>
          <a:xfrm>
            <a:off x="5620320" y="2841480"/>
            <a:ext cx="679680" cy="2797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1" lang="en-US" sz="1300" spc="-1" strike="noStrike" u="sng">
                <a:solidFill>
                  <a:srgbClr val="00274d"/>
                </a:solidFill>
                <a:uFillTx/>
                <a:latin typeface="Corbel"/>
                <a:ea typeface="DejaVu Sans"/>
              </a:rPr>
              <a:t>Brand</a:t>
            </a:r>
            <a:r>
              <a:rPr b="1" lang="en-US" sz="1100" spc="-1" strike="noStrike">
                <a:solidFill>
                  <a:srgbClr val="00274d"/>
                </a:solidFill>
                <a:latin typeface="Corbel"/>
                <a:ea typeface="DejaVu Sans"/>
              </a:rPr>
              <a:t> </a:t>
            </a:r>
            <a:endParaRPr b="0" lang="en-US" sz="1100" spc="-1" strike="noStrike">
              <a:latin typeface="Arial"/>
            </a:endParaRPr>
          </a:p>
        </p:txBody>
      </p:sp>
      <p:sp>
        <p:nvSpPr>
          <p:cNvPr id="183"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B47F7809-82E4-4EB6-8890-2A42391B9C82}" type="slidenum">
              <a:rPr b="0" lang="en-US" sz="1100" spc="-1" strike="noStrike">
                <a:solidFill>
                  <a:srgbClr val="ffffff"/>
                </a:solidFill>
                <a:latin typeface="Corbel"/>
                <a:ea typeface="Corbel"/>
              </a:rPr>
              <a:t>&lt;number&gt;</a:t>
            </a:fld>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Text Box 11"/>
          <p:cNvSpPr/>
          <p:nvPr/>
        </p:nvSpPr>
        <p:spPr>
          <a:xfrm>
            <a:off x="695160" y="2992320"/>
            <a:ext cx="3412440" cy="3459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6.    a. What are your poorest performing months? </a:t>
            </a:r>
            <a:endParaRPr b="0" lang="en-US" sz="1200" spc="-1" strike="noStrike">
              <a:latin typeface="Arial"/>
            </a:endParaRPr>
          </a:p>
        </p:txBody>
      </p:sp>
      <p:sp>
        <p:nvSpPr>
          <p:cNvPr id="185" name="Text Box 14"/>
          <p:cNvSpPr/>
          <p:nvPr/>
        </p:nvSpPr>
        <p:spPr>
          <a:xfrm>
            <a:off x="930240" y="3586320"/>
            <a:ext cx="2769480" cy="3459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b. What are your best performing months?</a:t>
            </a:r>
            <a:endParaRPr b="0" lang="en-US" sz="1200" spc="-1" strike="noStrike">
              <a:latin typeface="Arial"/>
            </a:endParaRPr>
          </a:p>
        </p:txBody>
      </p:sp>
      <p:sp>
        <p:nvSpPr>
          <p:cNvPr id="186" name="Text Box 15"/>
          <p:cNvSpPr/>
          <p:nvPr/>
        </p:nvSpPr>
        <p:spPr>
          <a:xfrm>
            <a:off x="4446720" y="2976480"/>
            <a:ext cx="3772800" cy="3459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7. a. What is the most frequent compliment that you get?</a:t>
            </a:r>
            <a:endParaRPr b="0" lang="en-US" sz="1200" spc="-1" strike="noStrike">
              <a:latin typeface="Arial"/>
            </a:endParaRPr>
          </a:p>
        </p:txBody>
      </p:sp>
      <p:sp>
        <p:nvSpPr>
          <p:cNvPr id="187" name="TextBox 20"/>
          <p:cNvSpPr/>
          <p:nvPr/>
        </p:nvSpPr>
        <p:spPr>
          <a:xfrm>
            <a:off x="1128600" y="3112920"/>
            <a:ext cx="298548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November, December, January</a:t>
            </a:r>
            <a:endParaRPr b="0" lang="en-US" sz="1200" spc="-1" strike="noStrike">
              <a:latin typeface="Arial"/>
            </a:endParaRPr>
          </a:p>
        </p:txBody>
      </p:sp>
      <p:sp>
        <p:nvSpPr>
          <p:cNvPr id="188" name="TextBox 22"/>
          <p:cNvSpPr/>
          <p:nvPr/>
        </p:nvSpPr>
        <p:spPr>
          <a:xfrm>
            <a:off x="1090440" y="3741840"/>
            <a:ext cx="279504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May, June, August</a:t>
            </a:r>
            <a:endParaRPr b="0" lang="en-US" sz="1200" spc="-1" strike="noStrike">
              <a:latin typeface="Arial"/>
            </a:endParaRPr>
          </a:p>
        </p:txBody>
      </p:sp>
      <p:sp>
        <p:nvSpPr>
          <p:cNvPr id="189" name="Text Box 15"/>
          <p:cNvSpPr/>
          <p:nvPr/>
        </p:nvSpPr>
        <p:spPr>
          <a:xfrm>
            <a:off x="4562640" y="3811680"/>
            <a:ext cx="3710880" cy="3459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 </a:t>
            </a:r>
            <a:r>
              <a:rPr b="1" i="1" lang="en-US" sz="1200" spc="-1" strike="noStrike">
                <a:solidFill>
                  <a:srgbClr val="00274d"/>
                </a:solidFill>
                <a:latin typeface="Corbel"/>
                <a:ea typeface="Corbel"/>
              </a:rPr>
              <a:t>b. What is the most frequent complaint that you get?</a:t>
            </a:r>
            <a:endParaRPr b="0" lang="en-US" sz="1200" spc="-1" strike="noStrike">
              <a:latin typeface="Arial"/>
            </a:endParaRPr>
          </a:p>
        </p:txBody>
      </p:sp>
      <p:sp>
        <p:nvSpPr>
          <p:cNvPr id="190" name="TextBox 25"/>
          <p:cNvSpPr/>
          <p:nvPr/>
        </p:nvSpPr>
        <p:spPr>
          <a:xfrm>
            <a:off x="4759200" y="3129120"/>
            <a:ext cx="3621960" cy="62928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Your staff has consistently gone over and above to enhace the customer experience. </a:t>
            </a:r>
            <a:endParaRPr b="0" lang="en-US" sz="1200" spc="-1" strike="noStrike">
              <a:latin typeface="Arial"/>
            </a:endParaRPr>
          </a:p>
          <a:p>
            <a:pPr>
              <a:lnSpc>
                <a:spcPct val="100000"/>
              </a:lnSpc>
              <a:buNone/>
            </a:pPr>
            <a:endParaRPr b="0" lang="en-US" sz="1200" spc="-1" strike="noStrike">
              <a:latin typeface="Arial"/>
            </a:endParaRPr>
          </a:p>
        </p:txBody>
      </p:sp>
      <p:sp>
        <p:nvSpPr>
          <p:cNvPr id="191" name="TextBox 26"/>
          <p:cNvSpPr/>
          <p:nvPr/>
        </p:nvSpPr>
        <p:spPr>
          <a:xfrm>
            <a:off x="4748040" y="3963960"/>
            <a:ext cx="3556800" cy="81180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While only marginally higher than other competitors, it has been an issue since the beginning of the recession. </a:t>
            </a:r>
            <a:endParaRPr b="0" lang="en-US" sz="1200" spc="-1" strike="noStrike">
              <a:latin typeface="Arial"/>
            </a:endParaRPr>
          </a:p>
          <a:p>
            <a:pPr>
              <a:lnSpc>
                <a:spcPct val="100000"/>
              </a:lnSpc>
              <a:buNone/>
            </a:pPr>
            <a:endParaRPr b="0" lang="en-US" sz="1200" spc="-1" strike="noStrike">
              <a:latin typeface="Arial"/>
            </a:endParaRPr>
          </a:p>
        </p:txBody>
      </p:sp>
      <p:sp>
        <p:nvSpPr>
          <p:cNvPr id="192" name="Text Box 14"/>
          <p:cNvSpPr/>
          <p:nvPr/>
        </p:nvSpPr>
        <p:spPr>
          <a:xfrm>
            <a:off x="930240" y="4141800"/>
            <a:ext cx="2769480" cy="3459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c.  What are your best performing days?</a:t>
            </a:r>
            <a:endParaRPr b="0" lang="en-US" sz="1200" spc="-1" strike="noStrike">
              <a:latin typeface="Arial"/>
            </a:endParaRPr>
          </a:p>
        </p:txBody>
      </p:sp>
      <p:sp>
        <p:nvSpPr>
          <p:cNvPr id="193" name="TextBox 22"/>
          <p:cNvSpPr/>
          <p:nvPr/>
        </p:nvSpPr>
        <p:spPr>
          <a:xfrm>
            <a:off x="1130400" y="4268880"/>
            <a:ext cx="275508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Friday, Monday</a:t>
            </a:r>
            <a:endParaRPr b="0" lang="en-US" sz="1200" spc="-1" strike="noStrike">
              <a:latin typeface="Arial"/>
            </a:endParaRPr>
          </a:p>
        </p:txBody>
      </p:sp>
      <p:sp>
        <p:nvSpPr>
          <p:cNvPr id="194" name="Text Box 19"/>
          <p:cNvSpPr/>
          <p:nvPr/>
        </p:nvSpPr>
        <p:spPr>
          <a:xfrm>
            <a:off x="695160" y="932040"/>
            <a:ext cx="655740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5. What image do you want your company’s name to project to your consumers? </a:t>
            </a:r>
            <a:endParaRPr b="0" lang="en-US" sz="1200" spc="-1" strike="noStrike">
              <a:latin typeface="Arial"/>
            </a:endParaRPr>
          </a:p>
        </p:txBody>
      </p:sp>
      <p:sp>
        <p:nvSpPr>
          <p:cNvPr id="195" name="Text Box 20"/>
          <p:cNvSpPr/>
          <p:nvPr/>
        </p:nvSpPr>
        <p:spPr>
          <a:xfrm>
            <a:off x="1116000" y="2405160"/>
            <a:ext cx="37821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Does your current slogan project the same image? </a:t>
            </a:r>
            <a:endParaRPr b="0" lang="en-US" sz="1200" spc="-1" strike="noStrike">
              <a:latin typeface="Arial"/>
            </a:endParaRPr>
          </a:p>
        </p:txBody>
      </p:sp>
      <p:sp>
        <p:nvSpPr>
          <p:cNvPr id="196" name="TextBox 27"/>
          <p:cNvSpPr/>
          <p:nvPr/>
        </p:nvSpPr>
        <p:spPr>
          <a:xfrm>
            <a:off x="1147680" y="1090440"/>
            <a:ext cx="7050960" cy="81180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As the major locally owned auto repair center, the desired image is one of caring for the customer, standing behind all their work and providing a world-class customer experience from the first call until the customer's keys are returned.</a:t>
            </a:r>
            <a:endParaRPr b="0" lang="en-US" sz="1200" spc="-1" strike="noStrike">
              <a:latin typeface="Arial"/>
            </a:endParaRPr>
          </a:p>
          <a:p>
            <a:pPr>
              <a:lnSpc>
                <a:spcPct val="100000"/>
              </a:lnSpc>
              <a:buNone/>
            </a:pPr>
            <a:endParaRPr b="0" lang="en-US" sz="1200" spc="-1" strike="noStrike">
              <a:latin typeface="Arial"/>
            </a:endParaRPr>
          </a:p>
        </p:txBody>
      </p:sp>
      <p:sp>
        <p:nvSpPr>
          <p:cNvPr id="197" name="TextBox 30"/>
          <p:cNvSpPr/>
          <p:nvPr/>
        </p:nvSpPr>
        <p:spPr>
          <a:xfrm>
            <a:off x="4449600" y="2351160"/>
            <a:ext cx="36205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Yes</a:t>
            </a:r>
            <a:endParaRPr b="0" lang="en-US" sz="1200" spc="-1" strike="noStrike">
              <a:latin typeface="Arial"/>
            </a:endParaRPr>
          </a:p>
        </p:txBody>
      </p:sp>
      <p:sp>
        <p:nvSpPr>
          <p:cNvPr id="198" name="Text Box 20"/>
          <p:cNvSpPr/>
          <p:nvPr/>
        </p:nvSpPr>
        <p:spPr>
          <a:xfrm>
            <a:off x="1130400" y="1979640"/>
            <a:ext cx="37821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274d"/>
                </a:solidFill>
                <a:latin typeface="Corbel"/>
                <a:ea typeface="Corbel"/>
              </a:rPr>
              <a:t>Current company slogan</a:t>
            </a:r>
            <a:endParaRPr b="0" lang="en-US" sz="1200" spc="-1" strike="noStrike">
              <a:latin typeface="Arial"/>
            </a:endParaRPr>
          </a:p>
        </p:txBody>
      </p:sp>
      <p:sp>
        <p:nvSpPr>
          <p:cNvPr id="199" name="TextBox 30"/>
          <p:cNvSpPr/>
          <p:nvPr/>
        </p:nvSpPr>
        <p:spPr>
          <a:xfrm>
            <a:off x="1359000" y="2133720"/>
            <a:ext cx="648900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"Taking care of you, your car and your community"</a:t>
            </a:r>
            <a:endParaRPr b="0" lang="en-US" sz="1200" spc="-1" strike="noStrike">
              <a:latin typeface="Arial"/>
            </a:endParaRPr>
          </a:p>
        </p:txBody>
      </p:sp>
      <p:sp>
        <p:nvSpPr>
          <p:cNvPr id="200" name="Text Box 15"/>
          <p:cNvSpPr/>
          <p:nvPr/>
        </p:nvSpPr>
        <p:spPr>
          <a:xfrm>
            <a:off x="685800" y="4878360"/>
            <a:ext cx="3299760" cy="54756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i="1" lang="en-US" sz="1200" spc="-1" strike="noStrike">
                <a:solidFill>
                  <a:srgbClr val="00274d"/>
                </a:solidFill>
                <a:latin typeface="Corbel"/>
                <a:ea typeface="Corbel"/>
              </a:rPr>
              <a:t>8. </a:t>
            </a:r>
            <a:r>
              <a:rPr b="1" lang="en-US" sz="1200" spc="-1" strike="noStrike">
                <a:solidFill>
                  <a:srgbClr val="00274d"/>
                </a:solidFill>
                <a:latin typeface="Corbel"/>
                <a:ea typeface="Corbel"/>
              </a:rPr>
              <a:t>What digital marketing strategies are you currently utilizing? What are your goals and how do you measure the effectiveness</a:t>
            </a:r>
            <a:r>
              <a:rPr b="0" lang="en-US" sz="1200" spc="-1" strike="noStrike">
                <a:solidFill>
                  <a:srgbClr val="00274d"/>
                </a:solidFill>
                <a:latin typeface="Corbel"/>
                <a:ea typeface="Corbel"/>
              </a:rPr>
              <a:t>? </a:t>
            </a:r>
            <a:endParaRPr b="0" lang="en-US" sz="1200" spc="-1" strike="noStrike">
              <a:latin typeface="Arial"/>
            </a:endParaRPr>
          </a:p>
        </p:txBody>
      </p:sp>
      <p:sp>
        <p:nvSpPr>
          <p:cNvPr id="201" name="Text Box 15"/>
          <p:cNvSpPr/>
          <p:nvPr/>
        </p:nvSpPr>
        <p:spPr>
          <a:xfrm>
            <a:off x="4449600" y="4878360"/>
            <a:ext cx="3896640" cy="72972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i="1" lang="en-US" sz="1200" spc="-1" strike="noStrike">
                <a:solidFill>
                  <a:srgbClr val="00274d"/>
                </a:solidFill>
                <a:latin typeface="Corbel"/>
                <a:ea typeface="Corbel"/>
              </a:rPr>
              <a:t>9. </a:t>
            </a:r>
            <a:r>
              <a:rPr b="1" lang="en-US" sz="1200" spc="-1" strike="noStrike">
                <a:solidFill>
                  <a:srgbClr val="00274d"/>
                </a:solidFill>
                <a:latin typeface="Corbel"/>
                <a:ea typeface="Corbel"/>
              </a:rPr>
              <a:t>Do you have a social media strategy (i.e. Facebook, Google+, Twitter, Instagram, etc.)?  If so, what are your goals and how do you measure the effectiveness?</a:t>
            </a:r>
            <a:endParaRPr b="0" lang="en-US" sz="1200" spc="-1" strike="noStrike">
              <a:latin typeface="Arial"/>
            </a:endParaRPr>
          </a:p>
        </p:txBody>
      </p:sp>
      <p:sp>
        <p:nvSpPr>
          <p:cNvPr id="202" name="TextBox 20"/>
          <p:cNvSpPr/>
          <p:nvPr/>
        </p:nvSpPr>
        <p:spPr>
          <a:xfrm>
            <a:off x="685800" y="5446800"/>
            <a:ext cx="3428280" cy="81180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At the current time, very few digital strategies have been utilized, but you wish to explore strategic options.  </a:t>
            </a:r>
            <a:endParaRPr b="0" lang="en-US" sz="1200" spc="-1" strike="noStrike">
              <a:latin typeface="Arial"/>
            </a:endParaRPr>
          </a:p>
          <a:p>
            <a:pPr>
              <a:lnSpc>
                <a:spcPct val="100000"/>
              </a:lnSpc>
              <a:buNone/>
            </a:pPr>
            <a:endParaRPr b="0" lang="en-US" sz="1200" spc="-1" strike="noStrike">
              <a:latin typeface="Arial"/>
            </a:endParaRPr>
          </a:p>
        </p:txBody>
      </p:sp>
      <p:sp>
        <p:nvSpPr>
          <p:cNvPr id="203" name="TextBox 20"/>
          <p:cNvSpPr/>
          <p:nvPr/>
        </p:nvSpPr>
        <p:spPr>
          <a:xfrm>
            <a:off x="4572000" y="5446800"/>
            <a:ext cx="3961800" cy="81180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While you currently have a Facebook page, you have not had the time to post or fully engage in any social media marketing strategies.  </a:t>
            </a:r>
            <a:endParaRPr b="0" lang="en-US" sz="1200" spc="-1" strike="noStrike">
              <a:latin typeface="Arial"/>
            </a:endParaRPr>
          </a:p>
          <a:p>
            <a:pPr>
              <a:lnSpc>
                <a:spcPct val="100000"/>
              </a:lnSpc>
              <a:buNone/>
            </a:pPr>
            <a:endParaRPr b="0" lang="en-US" sz="1200" spc="-1" strike="noStrike">
              <a:latin typeface="Arial"/>
            </a:endParaRPr>
          </a:p>
        </p:txBody>
      </p:sp>
      <p:sp>
        <p:nvSpPr>
          <p:cNvPr id="204"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8DEF285B-2B8B-4952-9F9F-530390192FDB}" type="slidenum">
              <a:rPr b="0" lang="en-US" sz="1100" spc="-1" strike="noStrike">
                <a:solidFill>
                  <a:srgbClr val="ffffff"/>
                </a:solidFill>
                <a:latin typeface="Corbel"/>
                <a:ea typeface="Corbel"/>
              </a:rPr>
              <a:t>&lt;number&gt;</a:t>
            </a:fld>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Rectangle 39"/>
          <p:cNvSpPr/>
          <p:nvPr/>
        </p:nvSpPr>
        <p:spPr>
          <a:xfrm>
            <a:off x="838080" y="1969920"/>
            <a:ext cx="342360" cy="272160"/>
          </a:xfrm>
          <a:prstGeom prst="rect">
            <a:avLst/>
          </a:prstGeom>
          <a:solidFill>
            <a:srgbClr val="4e5e53"/>
          </a:solidFill>
          <a:ln w="9525">
            <a:noFill/>
          </a:ln>
          <a:effectLst>
            <a:outerShdw blurRad="39960" dir="5400000" dist="23040" rotWithShape="0">
              <a:srgbClr val="000000">
                <a:alpha val="35000"/>
              </a:srgbClr>
            </a:outerShdw>
          </a:effectLst>
        </p:spPr>
        <p:style>
          <a:lnRef idx="0"/>
          <a:fillRef idx="0"/>
          <a:effectRef idx="0"/>
          <a:fontRef idx="minor"/>
        </p:style>
      </p:sp>
      <p:sp>
        <p:nvSpPr>
          <p:cNvPr id="206" name="Rectangle 40"/>
          <p:cNvSpPr/>
          <p:nvPr/>
        </p:nvSpPr>
        <p:spPr>
          <a:xfrm>
            <a:off x="2971800" y="1969920"/>
            <a:ext cx="342360" cy="272160"/>
          </a:xfrm>
          <a:prstGeom prst="rect">
            <a:avLst/>
          </a:prstGeom>
          <a:solidFill>
            <a:srgbClr val="4e5e53"/>
          </a:solidFill>
          <a:ln w="9525">
            <a:noFill/>
          </a:ln>
          <a:effectLst>
            <a:outerShdw blurRad="39960" dir="5400000" dist="23040" rotWithShape="0">
              <a:srgbClr val="000000">
                <a:alpha val="35000"/>
              </a:srgbClr>
            </a:outerShdw>
          </a:effectLst>
        </p:spPr>
        <p:style>
          <a:lnRef idx="0"/>
          <a:fillRef idx="0"/>
          <a:effectRef idx="0"/>
          <a:fontRef idx="minor"/>
        </p:style>
      </p:sp>
      <p:sp>
        <p:nvSpPr>
          <p:cNvPr id="207" name="Rectangle 41"/>
          <p:cNvSpPr/>
          <p:nvPr/>
        </p:nvSpPr>
        <p:spPr>
          <a:xfrm>
            <a:off x="4800600" y="1969920"/>
            <a:ext cx="342360" cy="272160"/>
          </a:xfrm>
          <a:prstGeom prst="rect">
            <a:avLst/>
          </a:prstGeom>
          <a:solidFill>
            <a:srgbClr val="4e5e53"/>
          </a:solidFill>
          <a:ln w="9525">
            <a:noFill/>
          </a:ln>
          <a:effectLst>
            <a:outerShdw blurRad="39960" dir="5400000" dist="23040" rotWithShape="0">
              <a:srgbClr val="000000">
                <a:alpha val="35000"/>
              </a:srgbClr>
            </a:outerShdw>
          </a:effectLst>
        </p:spPr>
        <p:style>
          <a:lnRef idx="0"/>
          <a:fillRef idx="0"/>
          <a:effectRef idx="0"/>
          <a:fontRef idx="minor"/>
        </p:style>
      </p:sp>
      <p:sp>
        <p:nvSpPr>
          <p:cNvPr id="208" name="Rectangle 42"/>
          <p:cNvSpPr/>
          <p:nvPr/>
        </p:nvSpPr>
        <p:spPr>
          <a:xfrm>
            <a:off x="6858000" y="1969920"/>
            <a:ext cx="342360" cy="272160"/>
          </a:xfrm>
          <a:prstGeom prst="rect">
            <a:avLst/>
          </a:prstGeom>
          <a:solidFill>
            <a:srgbClr val="4e5e53"/>
          </a:solidFill>
          <a:ln w="9525">
            <a:noFill/>
          </a:ln>
          <a:effectLst>
            <a:outerShdw blurRad="39960" dir="5400000" dist="23040" rotWithShape="0">
              <a:srgbClr val="000000">
                <a:alpha val="35000"/>
              </a:srgbClr>
            </a:outerShdw>
          </a:effectLst>
        </p:spPr>
        <p:style>
          <a:lnRef idx="0"/>
          <a:fillRef idx="0"/>
          <a:effectRef idx="0"/>
          <a:fontRef idx="minor"/>
        </p:style>
      </p:sp>
      <p:sp>
        <p:nvSpPr>
          <p:cNvPr id="209" name="Text Box 6"/>
          <p:cNvSpPr/>
          <p:nvPr/>
        </p:nvSpPr>
        <p:spPr>
          <a:xfrm>
            <a:off x="525600" y="762120"/>
            <a:ext cx="798264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400" spc="-1" strike="noStrike">
                <a:solidFill>
                  <a:srgbClr val="00274d"/>
                </a:solidFill>
                <a:latin typeface="Corbel"/>
                <a:ea typeface="Corbel"/>
              </a:rPr>
              <a:t>II. Determining a business’ needed investment in target.</a:t>
            </a:r>
            <a:r>
              <a:rPr b="0" lang="en-US" sz="1400" spc="-1" strike="noStrike">
                <a:solidFill>
                  <a:srgbClr val="00274d"/>
                </a:solidFill>
                <a:latin typeface="Corbel"/>
                <a:ea typeface="Corbel"/>
              </a:rPr>
              <a:t> </a:t>
            </a:r>
            <a:endParaRPr b="0" lang="en-US" sz="1400" spc="-1" strike="noStrike">
              <a:latin typeface="Arial"/>
            </a:endParaRPr>
          </a:p>
        </p:txBody>
      </p:sp>
      <p:sp>
        <p:nvSpPr>
          <p:cNvPr id="210" name="Text Box 8"/>
          <p:cNvSpPr/>
          <p:nvPr/>
        </p:nvSpPr>
        <p:spPr>
          <a:xfrm>
            <a:off x="725400" y="1282680"/>
            <a:ext cx="396972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274d"/>
                </a:solidFill>
                <a:latin typeface="Corbel"/>
                <a:ea typeface="Corbel"/>
              </a:rPr>
              <a:t>A. What percentage of your “target” consumers are Men? </a:t>
            </a:r>
            <a:endParaRPr b="0" lang="en-US" sz="1200" spc="-1" strike="noStrike">
              <a:latin typeface="Arial"/>
            </a:endParaRPr>
          </a:p>
        </p:txBody>
      </p:sp>
      <p:sp>
        <p:nvSpPr>
          <p:cNvPr id="211" name="Text Box 9"/>
          <p:cNvSpPr/>
          <p:nvPr/>
        </p:nvSpPr>
        <p:spPr>
          <a:xfrm>
            <a:off x="5437080" y="1295280"/>
            <a:ext cx="7120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274d"/>
                </a:solidFill>
                <a:latin typeface="Corbel"/>
                <a:ea typeface="Corbel"/>
              </a:rPr>
              <a:t>Women?</a:t>
            </a:r>
            <a:endParaRPr b="0" lang="en-US" sz="1200" spc="-1" strike="noStrike">
              <a:latin typeface="Arial"/>
            </a:endParaRPr>
          </a:p>
        </p:txBody>
      </p:sp>
      <p:sp>
        <p:nvSpPr>
          <p:cNvPr id="212" name="Text Box 10"/>
          <p:cNvSpPr/>
          <p:nvPr/>
        </p:nvSpPr>
        <p:spPr>
          <a:xfrm>
            <a:off x="725400" y="1635120"/>
            <a:ext cx="51807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274d"/>
                </a:solidFill>
                <a:latin typeface="Corbel"/>
                <a:ea typeface="Corbel"/>
              </a:rPr>
              <a:t>B. What is the perceived income of your “target” consumer’s household? </a:t>
            </a:r>
            <a:endParaRPr b="0" lang="en-US" sz="1200" spc="-1" strike="noStrike">
              <a:latin typeface="Arial"/>
            </a:endParaRPr>
          </a:p>
        </p:txBody>
      </p:sp>
      <p:sp>
        <p:nvSpPr>
          <p:cNvPr id="213" name="Text Box 13"/>
          <p:cNvSpPr/>
          <p:nvPr/>
        </p:nvSpPr>
        <p:spPr>
          <a:xfrm>
            <a:off x="525600" y="3595680"/>
            <a:ext cx="1577160" cy="2023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400" spc="-1" strike="noStrike">
                <a:solidFill>
                  <a:srgbClr val="00274d"/>
                </a:solidFill>
                <a:latin typeface="Corbel"/>
                <a:ea typeface="Corbel"/>
              </a:rPr>
              <a:t>III. Lenograph</a:t>
            </a:r>
            <a:endParaRPr b="0" lang="en-US" sz="1400" spc="-1" strike="noStrike">
              <a:latin typeface="Arial"/>
            </a:endParaRPr>
          </a:p>
        </p:txBody>
      </p:sp>
      <p:sp>
        <p:nvSpPr>
          <p:cNvPr id="214" name="Text Box 16"/>
          <p:cNvSpPr/>
          <p:nvPr/>
        </p:nvSpPr>
        <p:spPr>
          <a:xfrm>
            <a:off x="388800" y="5411880"/>
            <a:ext cx="1220040" cy="202320"/>
          </a:xfrm>
          <a:prstGeom prst="rect">
            <a:avLst/>
          </a:prstGeom>
          <a:noFill/>
          <a:ln w="0">
            <a:noFill/>
          </a:ln>
        </p:spPr>
        <p:style>
          <a:lnRef idx="0"/>
          <a:fillRef idx="0"/>
          <a:effectRef idx="0"/>
          <a:fontRef idx="minor"/>
        </p:style>
        <p:txBody>
          <a:bodyPr lIns="0" rIns="0" tIns="0" bIns="0" anchor="t">
            <a:spAutoFit/>
          </a:bodyPr>
          <a:p>
            <a:pPr algn="r">
              <a:lnSpc>
                <a:spcPct val="95000"/>
              </a:lnSpc>
              <a:buNone/>
            </a:pPr>
            <a:r>
              <a:rPr b="1" lang="en-US" sz="1400" spc="-1" strike="noStrike">
                <a:solidFill>
                  <a:srgbClr val="00274d"/>
                </a:solidFill>
                <a:latin typeface="Corbel"/>
                <a:ea typeface="Corbel"/>
              </a:rPr>
              <a:t>HAVE</a:t>
            </a:r>
            <a:endParaRPr b="0" lang="en-US" sz="1400" spc="-1" strike="noStrike">
              <a:latin typeface="Arial"/>
            </a:endParaRPr>
          </a:p>
        </p:txBody>
      </p:sp>
      <p:sp>
        <p:nvSpPr>
          <p:cNvPr id="215" name="Text Box 17"/>
          <p:cNvSpPr/>
          <p:nvPr/>
        </p:nvSpPr>
        <p:spPr>
          <a:xfrm>
            <a:off x="388800" y="5891040"/>
            <a:ext cx="1232640" cy="202320"/>
          </a:xfrm>
          <a:prstGeom prst="rect">
            <a:avLst/>
          </a:prstGeom>
          <a:noFill/>
          <a:ln w="0">
            <a:noFill/>
          </a:ln>
        </p:spPr>
        <p:style>
          <a:lnRef idx="0"/>
          <a:fillRef idx="0"/>
          <a:effectRef idx="0"/>
          <a:fontRef idx="minor"/>
        </p:style>
        <p:txBody>
          <a:bodyPr lIns="0" rIns="0" tIns="0" bIns="0" anchor="t">
            <a:spAutoFit/>
          </a:bodyPr>
          <a:p>
            <a:pPr algn="r">
              <a:lnSpc>
                <a:spcPct val="95000"/>
              </a:lnSpc>
              <a:buNone/>
            </a:pPr>
            <a:r>
              <a:rPr b="1" lang="en-US" sz="1400" spc="-1" strike="noStrike">
                <a:solidFill>
                  <a:srgbClr val="00274d"/>
                </a:solidFill>
                <a:latin typeface="Corbel"/>
                <a:ea typeface="Corbel"/>
              </a:rPr>
              <a:t>WANT</a:t>
            </a:r>
            <a:endParaRPr b="0" lang="en-US" sz="1400" spc="-1" strike="noStrike">
              <a:latin typeface="Arial"/>
            </a:endParaRPr>
          </a:p>
        </p:txBody>
      </p:sp>
      <p:sp>
        <p:nvSpPr>
          <p:cNvPr id="216" name="TextBox 26"/>
          <p:cNvSpPr/>
          <p:nvPr/>
        </p:nvSpPr>
        <p:spPr>
          <a:xfrm>
            <a:off x="4586400" y="1228680"/>
            <a:ext cx="61200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40</a:t>
            </a:r>
            <a:endParaRPr b="0" lang="en-US" sz="1200" spc="-1" strike="noStrike">
              <a:latin typeface="Arial"/>
            </a:endParaRPr>
          </a:p>
        </p:txBody>
      </p:sp>
      <p:sp>
        <p:nvSpPr>
          <p:cNvPr id="217" name="TextBox 27"/>
          <p:cNvSpPr/>
          <p:nvPr/>
        </p:nvSpPr>
        <p:spPr>
          <a:xfrm>
            <a:off x="6269040" y="1255680"/>
            <a:ext cx="7405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60</a:t>
            </a:r>
            <a:endParaRPr b="0" lang="en-US" sz="1200" spc="-1" strike="noStrike">
              <a:latin typeface="Arial"/>
            </a:endParaRPr>
          </a:p>
        </p:txBody>
      </p:sp>
      <p:graphicFrame>
        <p:nvGraphicFramePr>
          <p:cNvPr id="218" name="Table 21"/>
          <p:cNvGraphicFramePr/>
          <p:nvPr/>
        </p:nvGraphicFramePr>
        <p:xfrm>
          <a:off x="1692360" y="4829040"/>
          <a:ext cx="6857640" cy="1342440"/>
        </p:xfrm>
        <a:graphic>
          <a:graphicData uri="http://schemas.openxmlformats.org/drawingml/2006/table">
            <a:tbl>
              <a:tblPr/>
              <a:tblGrid>
                <a:gridCol w="1143000"/>
                <a:gridCol w="1143000"/>
                <a:gridCol w="1143000"/>
                <a:gridCol w="1143000"/>
                <a:gridCol w="1143000"/>
                <a:gridCol w="1143000"/>
              </a:tblGrid>
              <a:tr h="442800">
                <a:tc>
                  <a:txBody>
                    <a:bodyPr lIns="74520" rIns="74520" anchor="t">
                      <a:noAutofit/>
                    </a:bodyPr>
                    <a:p>
                      <a:pPr algn="ctr">
                        <a:lnSpc>
                          <a:spcPct val="100000"/>
                        </a:lnSpc>
                        <a:buNone/>
                        <a:tabLst>
                          <a:tab algn="l" pos="0"/>
                        </a:tabLst>
                      </a:pPr>
                      <a:r>
                        <a:rPr b="0" lang="en-US" sz="2100" spc="-1" strike="noStrike">
                          <a:solidFill>
                            <a:srgbClr val="00274d"/>
                          </a:solidFill>
                          <a:latin typeface="Corbel"/>
                        </a:rPr>
                        <a:t>12-18</a:t>
                      </a:r>
                      <a:endParaRPr b="0" lang="en-US" sz="2100" spc="-1" strike="noStrike">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lIns="74520" rIns="74520" anchor="t">
                      <a:noAutofit/>
                    </a:bodyPr>
                    <a:p>
                      <a:pPr algn="ctr">
                        <a:lnSpc>
                          <a:spcPct val="100000"/>
                        </a:lnSpc>
                        <a:buNone/>
                        <a:tabLst>
                          <a:tab algn="l" pos="0"/>
                        </a:tabLst>
                      </a:pPr>
                      <a:r>
                        <a:rPr b="0" lang="en-US" sz="2100" spc="-1" strike="noStrike">
                          <a:solidFill>
                            <a:srgbClr val="00274d"/>
                          </a:solidFill>
                          <a:latin typeface="Corbel"/>
                        </a:rPr>
                        <a:t>19-25</a:t>
                      </a:r>
                      <a:endParaRPr b="0" lang="en-US" sz="2100" spc="-1" strike="noStrike">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lIns="74520" rIns="74520" anchor="t">
                      <a:noAutofit/>
                    </a:bodyPr>
                    <a:p>
                      <a:pPr algn="ctr">
                        <a:lnSpc>
                          <a:spcPct val="100000"/>
                        </a:lnSpc>
                        <a:buNone/>
                        <a:tabLst>
                          <a:tab algn="l" pos="0"/>
                        </a:tabLst>
                      </a:pPr>
                      <a:r>
                        <a:rPr b="0" lang="en-US" sz="2100" spc="-1" strike="noStrike">
                          <a:solidFill>
                            <a:srgbClr val="00274d"/>
                          </a:solidFill>
                          <a:latin typeface="Corbel"/>
                        </a:rPr>
                        <a:t>26-35</a:t>
                      </a:r>
                      <a:endParaRPr b="0" lang="en-US" sz="2100" spc="-1" strike="noStrike">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lIns="74520" rIns="74520" anchor="t">
                      <a:noAutofit/>
                    </a:bodyPr>
                    <a:p>
                      <a:pPr algn="ctr">
                        <a:lnSpc>
                          <a:spcPct val="100000"/>
                        </a:lnSpc>
                        <a:buNone/>
                        <a:tabLst>
                          <a:tab algn="l" pos="0"/>
                        </a:tabLst>
                      </a:pPr>
                      <a:r>
                        <a:rPr b="0" lang="en-US" sz="2100" spc="-1" strike="noStrike">
                          <a:solidFill>
                            <a:srgbClr val="00274d"/>
                          </a:solidFill>
                          <a:latin typeface="Corbel"/>
                        </a:rPr>
                        <a:t>36-45</a:t>
                      </a:r>
                      <a:endParaRPr b="0" lang="en-US" sz="2100" spc="-1" strike="noStrike">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lIns="74520" rIns="74520" anchor="t">
                      <a:noAutofit/>
                    </a:bodyPr>
                    <a:p>
                      <a:pPr algn="ctr">
                        <a:lnSpc>
                          <a:spcPct val="100000"/>
                        </a:lnSpc>
                        <a:buNone/>
                        <a:tabLst>
                          <a:tab algn="l" pos="0"/>
                        </a:tabLst>
                      </a:pPr>
                      <a:r>
                        <a:rPr b="0" lang="en-US" sz="2100" spc="-1" strike="noStrike">
                          <a:solidFill>
                            <a:srgbClr val="00274d"/>
                          </a:solidFill>
                          <a:latin typeface="Corbel"/>
                        </a:rPr>
                        <a:t>46-55</a:t>
                      </a:r>
                      <a:endParaRPr b="0" lang="en-US" sz="2100" spc="-1" strike="noStrike">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xBody>
                    <a:bodyPr lIns="74520" rIns="74520" anchor="t">
                      <a:noAutofit/>
                    </a:bodyPr>
                    <a:p>
                      <a:pPr algn="ctr">
                        <a:lnSpc>
                          <a:spcPct val="100000"/>
                        </a:lnSpc>
                        <a:buNone/>
                        <a:tabLst>
                          <a:tab algn="l" pos="0"/>
                        </a:tabLst>
                      </a:pPr>
                      <a:r>
                        <a:rPr b="0" lang="en-US" sz="2100" spc="-1" strike="noStrike">
                          <a:solidFill>
                            <a:srgbClr val="00274d"/>
                          </a:solidFill>
                          <a:latin typeface="Corbel"/>
                        </a:rPr>
                        <a:t>56+</a:t>
                      </a:r>
                      <a:endParaRPr b="0" lang="en-US" sz="2100" spc="-1" strike="noStrike">
                        <a:latin typeface="Arial"/>
                      </a:endParaRPr>
                    </a:p>
                  </a:txBody>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r>
              <a:tr h="449640">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r>
              <a:tr h="450360">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c>
                  <a:tcPr anchor="t" marL="74520" marR="7452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
        <p:nvSpPr>
          <p:cNvPr id="219" name="TextBox 36"/>
          <p:cNvSpPr/>
          <p:nvPr/>
        </p:nvSpPr>
        <p:spPr>
          <a:xfrm>
            <a:off x="1623960" y="5317920"/>
            <a:ext cx="113292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0</a:t>
            </a:r>
            <a:endParaRPr b="0" lang="en-US" sz="1300" spc="-1" strike="noStrike">
              <a:latin typeface="Arial"/>
            </a:endParaRPr>
          </a:p>
        </p:txBody>
      </p:sp>
      <p:sp>
        <p:nvSpPr>
          <p:cNvPr id="220" name="TextBox 37"/>
          <p:cNvSpPr/>
          <p:nvPr/>
        </p:nvSpPr>
        <p:spPr>
          <a:xfrm>
            <a:off x="2859120" y="5317920"/>
            <a:ext cx="113292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0</a:t>
            </a:r>
            <a:endParaRPr b="0" lang="en-US" sz="1300" spc="-1" strike="noStrike">
              <a:latin typeface="Arial"/>
            </a:endParaRPr>
          </a:p>
        </p:txBody>
      </p:sp>
      <p:sp>
        <p:nvSpPr>
          <p:cNvPr id="221" name="TextBox 38"/>
          <p:cNvSpPr/>
          <p:nvPr/>
        </p:nvSpPr>
        <p:spPr>
          <a:xfrm>
            <a:off x="4024440" y="5317920"/>
            <a:ext cx="113292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3</a:t>
            </a:r>
            <a:endParaRPr b="0" lang="en-US" sz="1300" spc="-1" strike="noStrike">
              <a:latin typeface="Arial"/>
            </a:endParaRPr>
          </a:p>
        </p:txBody>
      </p:sp>
      <p:sp>
        <p:nvSpPr>
          <p:cNvPr id="222" name="TextBox 39"/>
          <p:cNvSpPr/>
          <p:nvPr/>
        </p:nvSpPr>
        <p:spPr>
          <a:xfrm>
            <a:off x="5122800" y="5317920"/>
            <a:ext cx="113112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8</a:t>
            </a:r>
            <a:endParaRPr b="0" lang="en-US" sz="1300" spc="-1" strike="noStrike">
              <a:latin typeface="Arial"/>
            </a:endParaRPr>
          </a:p>
        </p:txBody>
      </p:sp>
      <p:sp>
        <p:nvSpPr>
          <p:cNvPr id="223" name="TextBox 40"/>
          <p:cNvSpPr/>
          <p:nvPr/>
        </p:nvSpPr>
        <p:spPr>
          <a:xfrm>
            <a:off x="6288120" y="5317920"/>
            <a:ext cx="113292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9</a:t>
            </a:r>
            <a:endParaRPr b="0" lang="en-US" sz="1300" spc="-1" strike="noStrike">
              <a:latin typeface="Arial"/>
            </a:endParaRPr>
          </a:p>
        </p:txBody>
      </p:sp>
      <p:sp>
        <p:nvSpPr>
          <p:cNvPr id="224" name="TextBox 41"/>
          <p:cNvSpPr/>
          <p:nvPr/>
        </p:nvSpPr>
        <p:spPr>
          <a:xfrm>
            <a:off x="7451640" y="5317920"/>
            <a:ext cx="98820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10</a:t>
            </a:r>
            <a:endParaRPr b="0" lang="en-US" sz="1300" spc="-1" strike="noStrike">
              <a:latin typeface="Arial"/>
            </a:endParaRPr>
          </a:p>
        </p:txBody>
      </p:sp>
      <p:sp>
        <p:nvSpPr>
          <p:cNvPr id="225" name="TextBox 42"/>
          <p:cNvSpPr/>
          <p:nvPr/>
        </p:nvSpPr>
        <p:spPr>
          <a:xfrm>
            <a:off x="1622520" y="5795640"/>
            <a:ext cx="112644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0</a:t>
            </a:r>
            <a:endParaRPr b="0" lang="en-US" sz="1300" spc="-1" strike="noStrike">
              <a:latin typeface="Arial"/>
            </a:endParaRPr>
          </a:p>
        </p:txBody>
      </p:sp>
      <p:sp>
        <p:nvSpPr>
          <p:cNvPr id="226" name="TextBox 43"/>
          <p:cNvSpPr/>
          <p:nvPr/>
        </p:nvSpPr>
        <p:spPr>
          <a:xfrm>
            <a:off x="2857680" y="5795640"/>
            <a:ext cx="112464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7</a:t>
            </a:r>
            <a:endParaRPr b="0" lang="en-US" sz="1300" spc="-1" strike="noStrike">
              <a:latin typeface="Arial"/>
            </a:endParaRPr>
          </a:p>
        </p:txBody>
      </p:sp>
      <p:sp>
        <p:nvSpPr>
          <p:cNvPr id="227" name="TextBox 44"/>
          <p:cNvSpPr/>
          <p:nvPr/>
        </p:nvSpPr>
        <p:spPr>
          <a:xfrm>
            <a:off x="4022640" y="5795640"/>
            <a:ext cx="112644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10</a:t>
            </a:r>
            <a:endParaRPr b="0" lang="en-US" sz="1300" spc="-1" strike="noStrike">
              <a:latin typeface="Arial"/>
            </a:endParaRPr>
          </a:p>
        </p:txBody>
      </p:sp>
      <p:sp>
        <p:nvSpPr>
          <p:cNvPr id="228" name="TextBox 45"/>
          <p:cNvSpPr/>
          <p:nvPr/>
        </p:nvSpPr>
        <p:spPr>
          <a:xfrm>
            <a:off x="5121360" y="5795640"/>
            <a:ext cx="112464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10</a:t>
            </a:r>
            <a:endParaRPr b="0" lang="en-US" sz="1300" spc="-1" strike="noStrike">
              <a:latin typeface="Arial"/>
            </a:endParaRPr>
          </a:p>
        </p:txBody>
      </p:sp>
      <p:sp>
        <p:nvSpPr>
          <p:cNvPr id="229" name="TextBox 46"/>
          <p:cNvSpPr/>
          <p:nvPr/>
        </p:nvSpPr>
        <p:spPr>
          <a:xfrm>
            <a:off x="6286680" y="5795640"/>
            <a:ext cx="112464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9</a:t>
            </a:r>
            <a:endParaRPr b="0" lang="en-US" sz="1300" spc="-1" strike="noStrike">
              <a:latin typeface="Arial"/>
            </a:endParaRPr>
          </a:p>
        </p:txBody>
      </p:sp>
      <p:sp>
        <p:nvSpPr>
          <p:cNvPr id="230" name="TextBox 47"/>
          <p:cNvSpPr/>
          <p:nvPr/>
        </p:nvSpPr>
        <p:spPr>
          <a:xfrm>
            <a:off x="7491240" y="5795640"/>
            <a:ext cx="980280" cy="27936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0" lang="en-US" sz="1300" spc="-1" strike="noStrike">
                <a:solidFill>
                  <a:srgbClr val="00274d"/>
                </a:solidFill>
                <a:latin typeface="Corbel"/>
                <a:ea typeface="Corbel"/>
              </a:rPr>
              <a:t>8</a:t>
            </a:r>
            <a:endParaRPr b="0" lang="en-US" sz="1300" spc="-1" strike="noStrike">
              <a:latin typeface="Arial"/>
            </a:endParaRPr>
          </a:p>
        </p:txBody>
      </p:sp>
      <p:sp>
        <p:nvSpPr>
          <p:cNvPr id="231" name="TextBox 48"/>
          <p:cNvSpPr/>
          <p:nvPr/>
        </p:nvSpPr>
        <p:spPr>
          <a:xfrm>
            <a:off x="1470960" y="3581280"/>
            <a:ext cx="6536520" cy="4471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100" spc="-1" strike="noStrike">
                <a:solidFill>
                  <a:srgbClr val="00274d"/>
                </a:solidFill>
                <a:latin typeface="Corbel"/>
                <a:ea typeface="Corbel"/>
              </a:rPr>
              <a:t>A Lenograph is a picture of consumption by target values expressed by ratings 1-10, ten being highest.</a:t>
            </a:r>
            <a:endParaRPr b="0" lang="en-US" sz="1100" spc="-1" strike="noStrike">
              <a:latin typeface="Arial"/>
            </a:endParaRPr>
          </a:p>
          <a:p>
            <a:pPr>
              <a:lnSpc>
                <a:spcPct val="100000"/>
              </a:lnSpc>
              <a:buNone/>
            </a:pPr>
            <a:endParaRPr b="0" lang="en-US" sz="1300" spc="-1" strike="noStrike">
              <a:latin typeface="Arial"/>
            </a:endParaRPr>
          </a:p>
        </p:txBody>
      </p:sp>
      <p:sp>
        <p:nvSpPr>
          <p:cNvPr id="232" name="Rectangle 1"/>
          <p:cNvSpPr/>
          <p:nvPr/>
        </p:nvSpPr>
        <p:spPr>
          <a:xfrm>
            <a:off x="627120" y="2411280"/>
            <a:ext cx="6863760" cy="435960"/>
          </a:xfrm>
          <a:prstGeom prst="rect">
            <a:avLst/>
          </a:prstGeom>
          <a:noFill/>
          <a:ln w="0">
            <a:noFill/>
          </a:ln>
        </p:spPr>
        <p:style>
          <a:lnRef idx="0"/>
          <a:fillRef idx="0"/>
          <a:effectRef idx="0"/>
          <a:fontRef idx="minor"/>
        </p:style>
        <p:txBody>
          <a:bodyPr lIns="90000" rIns="90000" tIns="45000" bIns="45000" anchor="t">
            <a:spAutoFit/>
          </a:bodyPr>
          <a:p>
            <a:pPr>
              <a:lnSpc>
                <a:spcPct val="95000"/>
              </a:lnSpc>
              <a:buNone/>
            </a:pPr>
            <a:r>
              <a:rPr b="0" lang="en-US" sz="1200" spc="-1" strike="noStrike">
                <a:solidFill>
                  <a:srgbClr val="00274d"/>
                </a:solidFill>
                <a:latin typeface="Corbel"/>
                <a:ea typeface="DejaVu Sans"/>
              </a:rPr>
              <a:t>C. How else would you describe your ideal “target” consumer  (i.e. geo-targeting, home value, behavior,    lifestyle, interests, family structure, etc)?</a:t>
            </a:r>
            <a:endParaRPr b="0" lang="en-US" sz="1200" spc="-1" strike="noStrike">
              <a:latin typeface="Arial"/>
            </a:endParaRPr>
          </a:p>
        </p:txBody>
      </p:sp>
      <p:sp>
        <p:nvSpPr>
          <p:cNvPr id="233" name="TextBox 27"/>
          <p:cNvSpPr/>
          <p:nvPr/>
        </p:nvSpPr>
        <p:spPr>
          <a:xfrm>
            <a:off x="911160" y="2865600"/>
            <a:ext cx="6850800" cy="62928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The target customers are families with multiple cars who can afford the repairs that are being recommended.  The target zip codes are 27612, 27614, 27615 and 27616. </a:t>
            </a:r>
            <a:endParaRPr b="0" lang="en-US" sz="1200" spc="-1" strike="noStrike">
              <a:latin typeface="Arial"/>
            </a:endParaRPr>
          </a:p>
          <a:p>
            <a:pPr>
              <a:lnSpc>
                <a:spcPct val="100000"/>
              </a:lnSpc>
              <a:buNone/>
            </a:pPr>
            <a:endParaRPr b="0" lang="en-US" sz="1200" spc="-1" strike="noStrike">
              <a:latin typeface="Arial"/>
            </a:endParaRPr>
          </a:p>
        </p:txBody>
      </p:sp>
      <p:sp>
        <p:nvSpPr>
          <p:cNvPr id="234"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14212AA5-E90E-40A4-9A20-A14637313F53}"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235" name="Text Box 12"/>
          <p:cNvSpPr/>
          <p:nvPr/>
        </p:nvSpPr>
        <p:spPr>
          <a:xfrm>
            <a:off x="914400" y="2030400"/>
            <a:ext cx="783360" cy="178560"/>
          </a:xfrm>
          <a:prstGeom prst="rect">
            <a:avLst/>
          </a:prstGeom>
          <a:noFill/>
          <a:ln w="0">
            <a:noFill/>
          </a:ln>
        </p:spPr>
        <p:style>
          <a:lnRef idx="0"/>
          <a:fillRef idx="0"/>
          <a:effectRef idx="0"/>
          <a:fontRef idx="minor"/>
        </p:style>
      </p:sp>
      <p:sp>
        <p:nvSpPr>
          <p:cNvPr id="236" name="Text Box 11"/>
          <p:cNvSpPr/>
          <p:nvPr/>
        </p:nvSpPr>
        <p:spPr>
          <a:xfrm>
            <a:off x="3048120" y="2030400"/>
            <a:ext cx="639000" cy="178560"/>
          </a:xfrm>
          <a:prstGeom prst="rect">
            <a:avLst/>
          </a:prstGeom>
          <a:noFill/>
          <a:ln w="0">
            <a:noFill/>
          </a:ln>
        </p:spPr>
        <p:style>
          <a:lnRef idx="0"/>
          <a:fillRef idx="0"/>
          <a:effectRef idx="0"/>
          <a:fontRef idx="minor"/>
        </p:style>
      </p:sp>
      <p:sp>
        <p:nvSpPr>
          <p:cNvPr id="237" name="Text Box 12"/>
          <p:cNvSpPr/>
          <p:nvPr/>
        </p:nvSpPr>
        <p:spPr>
          <a:xfrm>
            <a:off x="4888080" y="2030400"/>
            <a:ext cx="82620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ffc000"/>
                </a:solidFill>
                <a:latin typeface="Corbel"/>
                <a:ea typeface="Corbel"/>
              </a:rPr>
              <a:t>X</a:t>
            </a:r>
            <a:endParaRPr b="0" lang="en-US" sz="1200" spc="-1" strike="noStrike">
              <a:latin typeface="Arial"/>
            </a:endParaRPr>
          </a:p>
        </p:txBody>
      </p:sp>
      <p:sp>
        <p:nvSpPr>
          <p:cNvPr id="238" name="Text Box 11"/>
          <p:cNvSpPr/>
          <p:nvPr/>
        </p:nvSpPr>
        <p:spPr>
          <a:xfrm>
            <a:off x="6934320" y="2030400"/>
            <a:ext cx="791280" cy="175320"/>
          </a:xfrm>
          <a:prstGeom prst="rect">
            <a:avLst/>
          </a:prstGeom>
          <a:noFill/>
          <a:ln w="0">
            <a:noFill/>
          </a:ln>
        </p:spPr>
        <p:style>
          <a:lnRef idx="0"/>
          <a:fillRef idx="0"/>
          <a:effectRef idx="0"/>
          <a:fontRef idx="minor"/>
        </p:style>
      </p:sp>
      <p:grpSp>
        <p:nvGrpSpPr>
          <p:cNvPr id="239" name="Group 35"/>
          <p:cNvGrpSpPr/>
          <p:nvPr/>
        </p:nvGrpSpPr>
        <p:grpSpPr>
          <a:xfrm>
            <a:off x="3081240" y="4243320"/>
            <a:ext cx="4156920" cy="1928160"/>
            <a:chOff x="3081240" y="4243320"/>
            <a:chExt cx="4156920" cy="1928160"/>
          </a:xfrm>
        </p:grpSpPr>
        <p:pic>
          <p:nvPicPr>
            <p:cNvPr id="240" name="Picture 19" descr=""/>
            <p:cNvPicPr/>
            <p:nvPr/>
          </p:nvPicPr>
          <p:blipFill>
            <a:blip r:embed="rId1"/>
            <a:stretch/>
          </p:blipFill>
          <p:spPr>
            <a:xfrm>
              <a:off x="3081240" y="4243320"/>
              <a:ext cx="3197160" cy="1928160"/>
            </a:xfrm>
            <a:prstGeom prst="rect">
              <a:avLst/>
            </a:prstGeom>
            <a:ln w="0">
              <a:noFill/>
            </a:ln>
          </p:spPr>
        </p:pic>
        <p:sp>
          <p:nvSpPr>
            <p:cNvPr id="241" name="Text Box 20"/>
            <p:cNvSpPr/>
            <p:nvPr/>
          </p:nvSpPr>
          <p:spPr>
            <a:xfrm>
              <a:off x="3927240" y="4368240"/>
              <a:ext cx="2363040" cy="23112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1600" spc="-1" strike="noStrike">
                  <a:solidFill>
                    <a:srgbClr val="000000"/>
                  </a:solidFill>
                  <a:latin typeface="Arial"/>
                  <a:ea typeface="DejaVu Sans"/>
                </a:rPr>
                <a:t>TARGET 85% </a:t>
              </a:r>
              <a:endParaRPr b="0" lang="en-US" sz="1600" spc="-1" strike="noStrike">
                <a:latin typeface="Arial"/>
              </a:endParaRPr>
            </a:p>
          </p:txBody>
        </p:sp>
        <p:pic>
          <p:nvPicPr>
            <p:cNvPr id="242" name="Picture 21" descr=""/>
            <p:cNvPicPr/>
            <p:nvPr/>
          </p:nvPicPr>
          <p:blipFill>
            <a:blip r:embed="rId2"/>
            <a:stretch/>
          </p:blipFill>
          <p:spPr>
            <a:xfrm>
              <a:off x="5987520" y="4430880"/>
              <a:ext cx="1250640" cy="437400"/>
            </a:xfrm>
            <a:prstGeom prst="rect">
              <a:avLst/>
            </a:prstGeom>
            <a:ln w="0">
              <a:noFill/>
            </a:ln>
          </p:spPr>
        </p:pic>
      </p:grpSp>
      <p:sp>
        <p:nvSpPr>
          <p:cNvPr id="243" name="TextBox 1"/>
          <p:cNvSpPr/>
          <p:nvPr/>
        </p:nvSpPr>
        <p:spPr>
          <a:xfrm>
            <a:off x="1182960" y="1990800"/>
            <a:ext cx="102852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200" spc="-1" strike="noStrike">
                <a:solidFill>
                  <a:srgbClr val="000000"/>
                </a:solidFill>
                <a:latin typeface="Corbel"/>
                <a:ea typeface="DejaVu Sans"/>
              </a:rPr>
              <a:t>Under $50K</a:t>
            </a:r>
            <a:endParaRPr b="0" lang="en-US" sz="1200" spc="-1" strike="noStrike">
              <a:latin typeface="Arial"/>
            </a:endParaRPr>
          </a:p>
        </p:txBody>
      </p:sp>
      <p:sp>
        <p:nvSpPr>
          <p:cNvPr id="244" name="TextBox 1"/>
          <p:cNvSpPr/>
          <p:nvPr/>
        </p:nvSpPr>
        <p:spPr>
          <a:xfrm>
            <a:off x="3354480" y="1990800"/>
            <a:ext cx="106452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200" spc="-1" strike="noStrike">
                <a:solidFill>
                  <a:srgbClr val="000000"/>
                </a:solidFill>
                <a:latin typeface="Corbel"/>
                <a:ea typeface="DejaVu Sans"/>
              </a:rPr>
              <a:t>$50K-$99K</a:t>
            </a:r>
            <a:endParaRPr b="0" lang="en-US" sz="1200" spc="-1" strike="noStrike">
              <a:latin typeface="Arial"/>
            </a:endParaRPr>
          </a:p>
        </p:txBody>
      </p:sp>
      <p:sp>
        <p:nvSpPr>
          <p:cNvPr id="245" name="TextBox 2"/>
          <p:cNvSpPr/>
          <p:nvPr/>
        </p:nvSpPr>
        <p:spPr>
          <a:xfrm>
            <a:off x="5150160" y="1990800"/>
            <a:ext cx="11322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200" spc="-1" strike="noStrike">
                <a:solidFill>
                  <a:srgbClr val="000000"/>
                </a:solidFill>
                <a:latin typeface="Corbel"/>
                <a:ea typeface="DejaVu Sans"/>
              </a:rPr>
              <a:t>$100K-$149K</a:t>
            </a:r>
            <a:endParaRPr b="0" lang="en-US" sz="1200" spc="-1" strike="noStrike">
              <a:latin typeface="Arial"/>
            </a:endParaRPr>
          </a:p>
        </p:txBody>
      </p:sp>
      <p:sp>
        <p:nvSpPr>
          <p:cNvPr id="246" name="TextBox 3"/>
          <p:cNvSpPr/>
          <p:nvPr/>
        </p:nvSpPr>
        <p:spPr>
          <a:xfrm>
            <a:off x="7170120" y="1990800"/>
            <a:ext cx="99648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200" spc="-1" strike="noStrike">
                <a:solidFill>
                  <a:srgbClr val="000000"/>
                </a:solidFill>
                <a:latin typeface="Corbel"/>
                <a:ea typeface="DejaVu Sans"/>
              </a:rPr>
              <a:t>$150K Plus</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Text Box 4"/>
          <p:cNvSpPr/>
          <p:nvPr/>
        </p:nvSpPr>
        <p:spPr>
          <a:xfrm>
            <a:off x="422280" y="533520"/>
            <a:ext cx="8263800" cy="40464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i="1" lang="en-US" sz="1400" spc="-1" strike="noStrike">
                <a:solidFill>
                  <a:srgbClr val="00274d"/>
                </a:solidFill>
                <a:latin typeface="Corbel"/>
                <a:ea typeface="Corbel"/>
              </a:rPr>
              <a:t>I. Determination of </a:t>
            </a:r>
            <a:r>
              <a:rPr b="1" i="1" lang="en-US" sz="1400" spc="-1" strike="noStrike">
                <a:solidFill>
                  <a:srgbClr val="7b8364"/>
                </a:solidFill>
                <a:latin typeface="Corbel"/>
                <a:ea typeface="Corbel"/>
              </a:rPr>
              <a:t>T</a:t>
            </a:r>
            <a:r>
              <a:rPr b="1" i="1" lang="en-US" sz="1400" spc="-1" strike="noStrike">
                <a:solidFill>
                  <a:srgbClr val="00274d"/>
                </a:solidFill>
                <a:latin typeface="Corbel"/>
                <a:ea typeface="Corbel"/>
              </a:rPr>
              <a:t>otal </a:t>
            </a:r>
            <a:r>
              <a:rPr b="1" i="1" lang="en-US" sz="1400" spc="-1" strike="noStrike">
                <a:solidFill>
                  <a:srgbClr val="7b8364"/>
                </a:solidFill>
                <a:latin typeface="Corbel"/>
                <a:ea typeface="Corbel"/>
              </a:rPr>
              <a:t>A</a:t>
            </a:r>
            <a:r>
              <a:rPr b="1" i="1" lang="en-US" sz="1400" spc="-1" strike="noStrike">
                <a:solidFill>
                  <a:srgbClr val="00274d"/>
                </a:solidFill>
                <a:latin typeface="Corbel"/>
                <a:ea typeface="Corbel"/>
              </a:rPr>
              <a:t>dvertising </a:t>
            </a:r>
            <a:r>
              <a:rPr b="1" i="1" lang="en-US" sz="1400" spc="-1" strike="noStrike">
                <a:solidFill>
                  <a:srgbClr val="7b8364"/>
                </a:solidFill>
                <a:latin typeface="Corbel"/>
                <a:ea typeface="Corbel"/>
              </a:rPr>
              <a:t>I</a:t>
            </a:r>
            <a:r>
              <a:rPr b="1" i="1" lang="en-US" sz="1400" spc="-1" strike="noStrike">
                <a:solidFill>
                  <a:srgbClr val="00274d"/>
                </a:solidFill>
                <a:latin typeface="Corbel"/>
                <a:ea typeface="Corbel"/>
              </a:rPr>
              <a:t>nvestment (</a:t>
            </a:r>
            <a:r>
              <a:rPr b="1" i="1" lang="en-US" sz="1400" spc="-1" strike="noStrike">
                <a:solidFill>
                  <a:srgbClr val="7b8364"/>
                </a:solidFill>
                <a:latin typeface="Corbel"/>
                <a:ea typeface="Corbel"/>
              </a:rPr>
              <a:t>TAI</a:t>
            </a:r>
            <a:r>
              <a:rPr b="1" i="1" lang="en-US" sz="1400" spc="-1" strike="noStrike">
                <a:solidFill>
                  <a:srgbClr val="00274d"/>
                </a:solidFill>
                <a:latin typeface="Corbel"/>
                <a:ea typeface="Corbel"/>
              </a:rPr>
              <a:t>). This is what the client should put back in their business for reinvestment.</a:t>
            </a:r>
            <a:endParaRPr b="0" lang="en-US" sz="1400" spc="-1" strike="noStrike">
              <a:latin typeface="Arial"/>
            </a:endParaRPr>
          </a:p>
        </p:txBody>
      </p:sp>
      <p:sp>
        <p:nvSpPr>
          <p:cNvPr id="248" name="TextBox 46"/>
          <p:cNvSpPr/>
          <p:nvPr/>
        </p:nvSpPr>
        <p:spPr>
          <a:xfrm>
            <a:off x="6183360" y="5529240"/>
            <a:ext cx="212652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200" spc="-1" strike="noStrike">
                <a:solidFill>
                  <a:srgbClr val="00274d"/>
                </a:solidFill>
                <a:latin typeface="Corbel"/>
                <a:ea typeface="Corbel"/>
              </a:rPr>
              <a:t>$2,400,000</a:t>
            </a:r>
            <a:endParaRPr b="0" lang="en-US" sz="1200" spc="-1" strike="noStrike">
              <a:latin typeface="Arial"/>
            </a:endParaRPr>
          </a:p>
        </p:txBody>
      </p:sp>
      <p:pic>
        <p:nvPicPr>
          <p:cNvPr id="249" name="Picture 16" descr=""/>
          <p:cNvPicPr/>
          <p:nvPr/>
        </p:nvPicPr>
        <p:blipFill>
          <a:blip r:embed="rId1"/>
          <a:stretch/>
        </p:blipFill>
        <p:spPr>
          <a:xfrm>
            <a:off x="1104840" y="5796000"/>
            <a:ext cx="2133000" cy="19800"/>
          </a:xfrm>
          <a:prstGeom prst="rect">
            <a:avLst/>
          </a:prstGeom>
          <a:ln w="0">
            <a:noFill/>
          </a:ln>
        </p:spPr>
      </p:pic>
      <p:sp>
        <p:nvSpPr>
          <p:cNvPr id="250" name="Text Box 21"/>
          <p:cNvSpPr/>
          <p:nvPr/>
        </p:nvSpPr>
        <p:spPr>
          <a:xfrm>
            <a:off x="6116760" y="5821200"/>
            <a:ext cx="2378880" cy="34632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1200" spc="-1" strike="noStrike">
                <a:solidFill>
                  <a:srgbClr val="00274d"/>
                </a:solidFill>
                <a:latin typeface="Corbel"/>
                <a:ea typeface="Corbel"/>
              </a:rPr>
              <a:t>Stretch Gross Sales Goals </a:t>
            </a:r>
            <a:br>
              <a:rPr sz="1200"/>
            </a:br>
            <a:r>
              <a:rPr b="1" lang="en-US" sz="1200" spc="-1" strike="noStrike">
                <a:solidFill>
                  <a:srgbClr val="00274d"/>
                </a:solidFill>
                <a:latin typeface="Corbel"/>
                <a:ea typeface="Corbel"/>
              </a:rPr>
              <a:t>Next 12 Months</a:t>
            </a:r>
            <a:endParaRPr b="0" lang="en-US" sz="1200" spc="-1" strike="noStrike">
              <a:latin typeface="Arial"/>
            </a:endParaRPr>
          </a:p>
        </p:txBody>
      </p:sp>
      <p:sp>
        <p:nvSpPr>
          <p:cNvPr id="251" name="Text Box 15"/>
          <p:cNvSpPr/>
          <p:nvPr/>
        </p:nvSpPr>
        <p:spPr>
          <a:xfrm>
            <a:off x="650880" y="5575320"/>
            <a:ext cx="2991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C.</a:t>
            </a:r>
            <a:endParaRPr b="0" lang="en-US" sz="1200" spc="-1" strike="noStrike">
              <a:latin typeface="Arial"/>
            </a:endParaRPr>
          </a:p>
        </p:txBody>
      </p:sp>
      <p:sp>
        <p:nvSpPr>
          <p:cNvPr id="252" name="Text Box 22"/>
          <p:cNvSpPr/>
          <p:nvPr/>
        </p:nvSpPr>
        <p:spPr>
          <a:xfrm>
            <a:off x="3817800" y="5848200"/>
            <a:ext cx="17470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Adv % of Gross Sales</a:t>
            </a:r>
            <a:endParaRPr b="0" lang="en-US" sz="1200" spc="-1" strike="noStrike">
              <a:latin typeface="Arial"/>
            </a:endParaRPr>
          </a:p>
        </p:txBody>
      </p:sp>
      <p:sp>
        <p:nvSpPr>
          <p:cNvPr id="253" name="TextBox 47"/>
          <p:cNvSpPr/>
          <p:nvPr/>
        </p:nvSpPr>
        <p:spPr>
          <a:xfrm>
            <a:off x="3490920" y="5553000"/>
            <a:ext cx="212508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200" spc="-1" strike="noStrike">
                <a:solidFill>
                  <a:srgbClr val="00274d"/>
                </a:solidFill>
                <a:latin typeface="Corbel"/>
                <a:ea typeface="Corbel"/>
              </a:rPr>
              <a:t>5.00%</a:t>
            </a:r>
            <a:endParaRPr b="0" lang="en-US" sz="1200" spc="-1" strike="noStrike">
              <a:latin typeface="Arial"/>
            </a:endParaRPr>
          </a:p>
        </p:txBody>
      </p:sp>
      <p:pic>
        <p:nvPicPr>
          <p:cNvPr id="254" name="Picture 17" descr=""/>
          <p:cNvPicPr/>
          <p:nvPr/>
        </p:nvPicPr>
        <p:blipFill>
          <a:blip r:embed="rId2"/>
          <a:stretch/>
        </p:blipFill>
        <p:spPr>
          <a:xfrm>
            <a:off x="3579840" y="5796000"/>
            <a:ext cx="2135880" cy="19800"/>
          </a:xfrm>
          <a:prstGeom prst="rect">
            <a:avLst/>
          </a:prstGeom>
          <a:ln w="0">
            <a:noFill/>
          </a:ln>
        </p:spPr>
      </p:pic>
      <p:sp>
        <p:nvSpPr>
          <p:cNvPr id="255" name="Text Box 19"/>
          <p:cNvSpPr/>
          <p:nvPr/>
        </p:nvSpPr>
        <p:spPr>
          <a:xfrm>
            <a:off x="3386160" y="5632560"/>
            <a:ext cx="22464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a:t>
            </a:r>
            <a:endParaRPr b="0" lang="en-US" sz="1200" spc="-1" strike="noStrike">
              <a:latin typeface="Arial"/>
            </a:endParaRPr>
          </a:p>
        </p:txBody>
      </p:sp>
      <p:sp>
        <p:nvSpPr>
          <p:cNvPr id="256" name="Text Box 23"/>
          <p:cNvSpPr/>
          <p:nvPr/>
        </p:nvSpPr>
        <p:spPr>
          <a:xfrm>
            <a:off x="1373040" y="5821200"/>
            <a:ext cx="1596240" cy="34632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1200" spc="-1" strike="noStrike">
                <a:solidFill>
                  <a:srgbClr val="00274d"/>
                </a:solidFill>
                <a:latin typeface="Corbel"/>
                <a:ea typeface="Corbel"/>
              </a:rPr>
              <a:t>Stretch Goal</a:t>
            </a:r>
            <a:endParaRPr b="0" lang="en-US" sz="1200" spc="-1" strike="noStrike">
              <a:latin typeface="Arial"/>
            </a:endParaRPr>
          </a:p>
          <a:p>
            <a:pPr algn="ctr">
              <a:lnSpc>
                <a:spcPct val="95000"/>
              </a:lnSpc>
              <a:buNone/>
            </a:pPr>
            <a:r>
              <a:rPr b="1" lang="en-US" sz="1200" spc="-1" strike="noStrike">
                <a:solidFill>
                  <a:srgbClr val="00274d"/>
                </a:solidFill>
                <a:latin typeface="Corbel"/>
                <a:ea typeface="Corbel"/>
              </a:rPr>
              <a:t>Total Adv Investment</a:t>
            </a:r>
            <a:endParaRPr b="0" lang="en-US" sz="1200" spc="-1" strike="noStrike">
              <a:latin typeface="Arial"/>
            </a:endParaRPr>
          </a:p>
        </p:txBody>
      </p:sp>
      <p:sp>
        <p:nvSpPr>
          <p:cNvPr id="257" name="TextBox 48"/>
          <p:cNvSpPr/>
          <p:nvPr/>
        </p:nvSpPr>
        <p:spPr>
          <a:xfrm>
            <a:off x="1058760" y="5548320"/>
            <a:ext cx="212508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200" spc="-1" strike="noStrike">
                <a:solidFill>
                  <a:srgbClr val="00274d"/>
                </a:solidFill>
                <a:latin typeface="Corbel"/>
                <a:ea typeface="Corbel"/>
              </a:rPr>
              <a:t>$120,000</a:t>
            </a:r>
            <a:endParaRPr b="0" lang="en-US" sz="1200" spc="-1" strike="noStrike">
              <a:latin typeface="Arial"/>
            </a:endParaRPr>
          </a:p>
        </p:txBody>
      </p:sp>
      <p:pic>
        <p:nvPicPr>
          <p:cNvPr id="258" name="Picture 18" descr=""/>
          <p:cNvPicPr/>
          <p:nvPr/>
        </p:nvPicPr>
        <p:blipFill>
          <a:blip r:embed="rId3"/>
          <a:stretch/>
        </p:blipFill>
        <p:spPr>
          <a:xfrm>
            <a:off x="6140520" y="5796000"/>
            <a:ext cx="2134440" cy="19800"/>
          </a:xfrm>
          <a:prstGeom prst="rect">
            <a:avLst/>
          </a:prstGeom>
          <a:ln w="0">
            <a:noFill/>
          </a:ln>
        </p:spPr>
      </p:pic>
      <p:sp>
        <p:nvSpPr>
          <p:cNvPr id="259" name="Text Box 20"/>
          <p:cNvSpPr/>
          <p:nvPr/>
        </p:nvSpPr>
        <p:spPr>
          <a:xfrm>
            <a:off x="5924520" y="5632560"/>
            <a:ext cx="22464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a:t>
            </a:r>
            <a:endParaRPr b="0" lang="en-US" sz="1200" spc="-1" strike="noStrike">
              <a:latin typeface="Arial"/>
            </a:endParaRPr>
          </a:p>
        </p:txBody>
      </p:sp>
      <p:sp>
        <p:nvSpPr>
          <p:cNvPr id="260" name="Text Box 12"/>
          <p:cNvSpPr/>
          <p:nvPr/>
        </p:nvSpPr>
        <p:spPr>
          <a:xfrm>
            <a:off x="1006560" y="5094360"/>
            <a:ext cx="2134440" cy="34632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1200" spc="-1" strike="noStrike">
                <a:solidFill>
                  <a:srgbClr val="00274d"/>
                </a:solidFill>
                <a:latin typeface="Corbel"/>
                <a:ea typeface="Corbel"/>
              </a:rPr>
              <a:t>Total Adv Investment</a:t>
            </a:r>
            <a:endParaRPr b="0" lang="en-US" sz="1200" spc="-1" strike="noStrike">
              <a:latin typeface="Arial"/>
            </a:endParaRPr>
          </a:p>
          <a:p>
            <a:pPr algn="ctr">
              <a:lnSpc>
                <a:spcPct val="95000"/>
              </a:lnSpc>
              <a:buNone/>
            </a:pPr>
            <a:r>
              <a:rPr b="1" lang="en-US" sz="1200" spc="-1" strike="noStrike">
                <a:solidFill>
                  <a:srgbClr val="00274d"/>
                </a:solidFill>
                <a:latin typeface="Corbel"/>
                <a:ea typeface="Corbel"/>
              </a:rPr>
              <a:t>Next 12 Months</a:t>
            </a:r>
            <a:endParaRPr b="0" lang="en-US" sz="1200" spc="-1" strike="noStrike">
              <a:latin typeface="Arial"/>
            </a:endParaRPr>
          </a:p>
        </p:txBody>
      </p:sp>
      <p:sp>
        <p:nvSpPr>
          <p:cNvPr id="261" name="TextBox 43"/>
          <p:cNvSpPr/>
          <p:nvPr/>
        </p:nvSpPr>
        <p:spPr>
          <a:xfrm>
            <a:off x="1074600" y="4799160"/>
            <a:ext cx="212508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200" spc="-1" strike="noStrike">
                <a:solidFill>
                  <a:srgbClr val="00274d"/>
                </a:solidFill>
                <a:latin typeface="Corbel"/>
                <a:ea typeface="Corbel"/>
              </a:rPr>
              <a:t>$100,000</a:t>
            </a:r>
            <a:endParaRPr b="0" lang="en-US" sz="1200" spc="-1" strike="noStrike">
              <a:latin typeface="Arial"/>
            </a:endParaRPr>
          </a:p>
        </p:txBody>
      </p:sp>
      <p:pic>
        <p:nvPicPr>
          <p:cNvPr id="262" name="Picture 7" descr=""/>
          <p:cNvPicPr/>
          <p:nvPr/>
        </p:nvPicPr>
        <p:blipFill>
          <a:blip r:embed="rId4"/>
          <a:stretch/>
        </p:blipFill>
        <p:spPr>
          <a:xfrm>
            <a:off x="1006560" y="5041800"/>
            <a:ext cx="2134440" cy="18360"/>
          </a:xfrm>
          <a:prstGeom prst="rect">
            <a:avLst/>
          </a:prstGeom>
          <a:ln w="0">
            <a:noFill/>
          </a:ln>
        </p:spPr>
      </p:pic>
      <p:sp>
        <p:nvSpPr>
          <p:cNvPr id="263" name="Text Box 13"/>
          <p:cNvSpPr/>
          <p:nvPr/>
        </p:nvSpPr>
        <p:spPr>
          <a:xfrm>
            <a:off x="3817800" y="5094360"/>
            <a:ext cx="17470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Adv % of Gross Sales</a:t>
            </a:r>
            <a:endParaRPr b="0" lang="en-US" sz="1200" spc="-1" strike="noStrike">
              <a:latin typeface="Arial"/>
            </a:endParaRPr>
          </a:p>
        </p:txBody>
      </p:sp>
      <p:sp>
        <p:nvSpPr>
          <p:cNvPr id="264" name="TextBox 44"/>
          <p:cNvSpPr/>
          <p:nvPr/>
        </p:nvSpPr>
        <p:spPr>
          <a:xfrm>
            <a:off x="3679920" y="4799160"/>
            <a:ext cx="212652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200" spc="-1" strike="noStrike">
                <a:solidFill>
                  <a:srgbClr val="00274d"/>
                </a:solidFill>
                <a:latin typeface="Corbel"/>
                <a:ea typeface="Corbel"/>
              </a:rPr>
              <a:t>4.55%</a:t>
            </a:r>
            <a:endParaRPr b="0" lang="en-US" sz="1200" spc="-1" strike="noStrike">
              <a:latin typeface="Arial"/>
            </a:endParaRPr>
          </a:p>
        </p:txBody>
      </p:sp>
      <p:pic>
        <p:nvPicPr>
          <p:cNvPr id="265" name="Picture 8" descr=""/>
          <p:cNvPicPr/>
          <p:nvPr/>
        </p:nvPicPr>
        <p:blipFill>
          <a:blip r:embed="rId5"/>
          <a:stretch/>
        </p:blipFill>
        <p:spPr>
          <a:xfrm>
            <a:off x="3679920" y="5041800"/>
            <a:ext cx="2135880" cy="18360"/>
          </a:xfrm>
          <a:prstGeom prst="rect">
            <a:avLst/>
          </a:prstGeom>
          <a:ln w="0">
            <a:noFill/>
          </a:ln>
        </p:spPr>
      </p:pic>
      <p:sp>
        <p:nvSpPr>
          <p:cNvPr id="266" name="Text Box 14"/>
          <p:cNvSpPr/>
          <p:nvPr/>
        </p:nvSpPr>
        <p:spPr>
          <a:xfrm>
            <a:off x="6045120" y="5094360"/>
            <a:ext cx="26632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Estimated Gross Sales next 12 mos.</a:t>
            </a:r>
            <a:endParaRPr b="0" lang="en-US" sz="1200" spc="-1" strike="noStrike">
              <a:latin typeface="Arial"/>
            </a:endParaRPr>
          </a:p>
        </p:txBody>
      </p:sp>
      <p:sp>
        <p:nvSpPr>
          <p:cNvPr id="267" name="TextBox 45"/>
          <p:cNvSpPr/>
          <p:nvPr/>
        </p:nvSpPr>
        <p:spPr>
          <a:xfrm>
            <a:off x="6012000" y="4799160"/>
            <a:ext cx="246780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200" spc="-1" strike="noStrike">
                <a:solidFill>
                  <a:srgbClr val="00274d"/>
                </a:solidFill>
                <a:latin typeface="Corbel"/>
                <a:ea typeface="Corbel"/>
              </a:rPr>
              <a:t>$2,200,000</a:t>
            </a:r>
            <a:endParaRPr b="0" lang="en-US" sz="1200" spc="-1" strike="noStrike">
              <a:latin typeface="Arial"/>
            </a:endParaRPr>
          </a:p>
        </p:txBody>
      </p:sp>
      <p:pic>
        <p:nvPicPr>
          <p:cNvPr id="268" name="Picture 9" descr=""/>
          <p:cNvPicPr/>
          <p:nvPr/>
        </p:nvPicPr>
        <p:blipFill>
          <a:blip r:embed="rId6"/>
          <a:stretch/>
        </p:blipFill>
        <p:spPr>
          <a:xfrm>
            <a:off x="6156360" y="5041800"/>
            <a:ext cx="2134440" cy="18360"/>
          </a:xfrm>
          <a:prstGeom prst="rect">
            <a:avLst/>
          </a:prstGeom>
          <a:ln w="0">
            <a:noFill/>
          </a:ln>
        </p:spPr>
      </p:pic>
      <p:sp>
        <p:nvSpPr>
          <p:cNvPr id="269" name="Text Box 10"/>
          <p:cNvSpPr/>
          <p:nvPr/>
        </p:nvSpPr>
        <p:spPr>
          <a:xfrm>
            <a:off x="3406680" y="4876920"/>
            <a:ext cx="22464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a:t>
            </a:r>
            <a:endParaRPr b="0" lang="en-US" sz="1200" spc="-1" strike="noStrike">
              <a:latin typeface="Arial"/>
            </a:endParaRPr>
          </a:p>
        </p:txBody>
      </p:sp>
      <p:sp>
        <p:nvSpPr>
          <p:cNvPr id="270" name="Text Box 11"/>
          <p:cNvSpPr/>
          <p:nvPr/>
        </p:nvSpPr>
        <p:spPr>
          <a:xfrm>
            <a:off x="5924520" y="4876920"/>
            <a:ext cx="22464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a:t>
            </a:r>
            <a:endParaRPr b="0" lang="en-US" sz="1200" spc="-1" strike="noStrike">
              <a:latin typeface="Arial"/>
            </a:endParaRPr>
          </a:p>
        </p:txBody>
      </p:sp>
      <p:sp>
        <p:nvSpPr>
          <p:cNvPr id="271" name="Text Box 6"/>
          <p:cNvSpPr/>
          <p:nvPr/>
        </p:nvSpPr>
        <p:spPr>
          <a:xfrm>
            <a:off x="636480" y="4821120"/>
            <a:ext cx="2991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B.</a:t>
            </a:r>
            <a:endParaRPr b="0" lang="en-US" sz="1200" spc="-1" strike="noStrike">
              <a:latin typeface="Arial"/>
            </a:endParaRPr>
          </a:p>
        </p:txBody>
      </p:sp>
      <p:sp>
        <p:nvSpPr>
          <p:cNvPr id="272" name="Text Box 25"/>
          <p:cNvSpPr/>
          <p:nvPr/>
        </p:nvSpPr>
        <p:spPr>
          <a:xfrm>
            <a:off x="1300320" y="1111320"/>
            <a:ext cx="266472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A. Previous Year’s Media Allocation</a:t>
            </a:r>
            <a:endParaRPr b="0" lang="en-US" sz="1200" spc="-1" strike="noStrike">
              <a:latin typeface="Arial"/>
            </a:endParaRPr>
          </a:p>
        </p:txBody>
      </p:sp>
      <p:sp>
        <p:nvSpPr>
          <p:cNvPr id="273" name="Text Box 26"/>
          <p:cNvSpPr/>
          <p:nvPr/>
        </p:nvSpPr>
        <p:spPr>
          <a:xfrm>
            <a:off x="477720" y="4319640"/>
            <a:ext cx="1675800" cy="173160"/>
          </a:xfrm>
          <a:prstGeom prst="rect">
            <a:avLst/>
          </a:prstGeom>
          <a:noFill/>
          <a:ln w="0">
            <a:noFill/>
          </a:ln>
        </p:spPr>
        <p:style>
          <a:lnRef idx="0"/>
          <a:fillRef idx="0"/>
          <a:effectRef idx="0"/>
          <a:fontRef idx="minor"/>
        </p:style>
        <p:txBody>
          <a:bodyPr lIns="0" rIns="0" tIns="0" bIns="0" anchor="t">
            <a:spAutoFit/>
          </a:bodyPr>
          <a:p>
            <a:pPr algn="r">
              <a:lnSpc>
                <a:spcPct val="95000"/>
              </a:lnSpc>
              <a:spcAft>
                <a:spcPts val="1074"/>
              </a:spcAft>
              <a:buNone/>
            </a:pPr>
            <a:r>
              <a:rPr b="1" lang="en-US" sz="1200" spc="-1" strike="noStrike">
                <a:solidFill>
                  <a:srgbClr val="00274d"/>
                </a:solidFill>
                <a:latin typeface="Corbel"/>
                <a:ea typeface="Corbel"/>
              </a:rPr>
              <a:t>Total Adv. Investment</a:t>
            </a:r>
            <a:endParaRPr b="0" lang="en-US" sz="1200" spc="-1" strike="noStrike">
              <a:latin typeface="Arial"/>
            </a:endParaRPr>
          </a:p>
        </p:txBody>
      </p:sp>
      <p:pic>
        <p:nvPicPr>
          <p:cNvPr id="274" name="Picture 27" descr=""/>
          <p:cNvPicPr/>
          <p:nvPr/>
        </p:nvPicPr>
        <p:blipFill>
          <a:blip r:embed="rId7"/>
          <a:stretch/>
        </p:blipFill>
        <p:spPr>
          <a:xfrm>
            <a:off x="2200320" y="1622520"/>
            <a:ext cx="1828080" cy="19800"/>
          </a:xfrm>
          <a:prstGeom prst="rect">
            <a:avLst/>
          </a:prstGeom>
          <a:ln w="0">
            <a:noFill/>
          </a:ln>
        </p:spPr>
      </p:pic>
      <p:pic>
        <p:nvPicPr>
          <p:cNvPr id="275" name="Picture 27" descr=""/>
          <p:cNvPicPr/>
          <p:nvPr/>
        </p:nvPicPr>
        <p:blipFill>
          <a:blip r:embed="rId8"/>
          <a:stretch/>
        </p:blipFill>
        <p:spPr>
          <a:xfrm>
            <a:off x="2222640" y="1943280"/>
            <a:ext cx="1828080" cy="21600"/>
          </a:xfrm>
          <a:prstGeom prst="rect">
            <a:avLst/>
          </a:prstGeom>
          <a:ln w="0">
            <a:noFill/>
          </a:ln>
        </p:spPr>
      </p:pic>
      <p:pic>
        <p:nvPicPr>
          <p:cNvPr id="276" name="Picture 27" descr=""/>
          <p:cNvPicPr/>
          <p:nvPr/>
        </p:nvPicPr>
        <p:blipFill>
          <a:blip r:embed="rId9"/>
          <a:stretch/>
        </p:blipFill>
        <p:spPr>
          <a:xfrm>
            <a:off x="2222640" y="2238480"/>
            <a:ext cx="1828080" cy="19800"/>
          </a:xfrm>
          <a:prstGeom prst="rect">
            <a:avLst/>
          </a:prstGeom>
          <a:ln w="0">
            <a:noFill/>
          </a:ln>
        </p:spPr>
      </p:pic>
      <p:pic>
        <p:nvPicPr>
          <p:cNvPr id="277" name="Picture 27" descr=""/>
          <p:cNvPicPr/>
          <p:nvPr/>
        </p:nvPicPr>
        <p:blipFill>
          <a:blip r:embed="rId10"/>
          <a:stretch/>
        </p:blipFill>
        <p:spPr>
          <a:xfrm>
            <a:off x="2222640" y="2581200"/>
            <a:ext cx="1828080" cy="19800"/>
          </a:xfrm>
          <a:prstGeom prst="rect">
            <a:avLst/>
          </a:prstGeom>
          <a:ln w="0">
            <a:noFill/>
          </a:ln>
        </p:spPr>
      </p:pic>
      <p:pic>
        <p:nvPicPr>
          <p:cNvPr id="278" name="Picture 27" descr=""/>
          <p:cNvPicPr/>
          <p:nvPr/>
        </p:nvPicPr>
        <p:blipFill>
          <a:blip r:embed="rId11"/>
          <a:stretch/>
        </p:blipFill>
        <p:spPr>
          <a:xfrm>
            <a:off x="2222640" y="2876400"/>
            <a:ext cx="1828080" cy="19800"/>
          </a:xfrm>
          <a:prstGeom prst="rect">
            <a:avLst/>
          </a:prstGeom>
          <a:ln w="0">
            <a:noFill/>
          </a:ln>
        </p:spPr>
      </p:pic>
      <p:pic>
        <p:nvPicPr>
          <p:cNvPr id="279" name="Picture 27" descr=""/>
          <p:cNvPicPr/>
          <p:nvPr/>
        </p:nvPicPr>
        <p:blipFill>
          <a:blip r:embed="rId12"/>
          <a:stretch/>
        </p:blipFill>
        <p:spPr>
          <a:xfrm>
            <a:off x="2222640" y="3195720"/>
            <a:ext cx="1828080" cy="21600"/>
          </a:xfrm>
          <a:prstGeom prst="rect">
            <a:avLst/>
          </a:prstGeom>
          <a:ln w="0">
            <a:noFill/>
          </a:ln>
        </p:spPr>
      </p:pic>
      <p:pic>
        <p:nvPicPr>
          <p:cNvPr id="280" name="Picture 27" descr=""/>
          <p:cNvPicPr/>
          <p:nvPr/>
        </p:nvPicPr>
        <p:blipFill>
          <a:blip r:embed="rId13"/>
          <a:stretch/>
        </p:blipFill>
        <p:spPr>
          <a:xfrm>
            <a:off x="2222640" y="3495600"/>
            <a:ext cx="1828080" cy="19800"/>
          </a:xfrm>
          <a:prstGeom prst="rect">
            <a:avLst/>
          </a:prstGeom>
          <a:ln w="0">
            <a:noFill/>
          </a:ln>
        </p:spPr>
      </p:pic>
      <p:pic>
        <p:nvPicPr>
          <p:cNvPr id="281" name="Picture 27" descr=""/>
          <p:cNvPicPr/>
          <p:nvPr/>
        </p:nvPicPr>
        <p:blipFill>
          <a:blip r:embed="rId14"/>
          <a:stretch/>
        </p:blipFill>
        <p:spPr>
          <a:xfrm>
            <a:off x="2222640" y="3790800"/>
            <a:ext cx="1828080" cy="21600"/>
          </a:xfrm>
          <a:prstGeom prst="rect">
            <a:avLst/>
          </a:prstGeom>
          <a:ln w="0">
            <a:noFill/>
          </a:ln>
        </p:spPr>
      </p:pic>
      <p:pic>
        <p:nvPicPr>
          <p:cNvPr id="282" name="Picture 27" descr=""/>
          <p:cNvPicPr/>
          <p:nvPr/>
        </p:nvPicPr>
        <p:blipFill>
          <a:blip r:embed="rId15"/>
          <a:stretch/>
        </p:blipFill>
        <p:spPr>
          <a:xfrm>
            <a:off x="2222640" y="4113360"/>
            <a:ext cx="1828080" cy="19800"/>
          </a:xfrm>
          <a:prstGeom prst="rect">
            <a:avLst/>
          </a:prstGeom>
          <a:ln w="0">
            <a:noFill/>
          </a:ln>
        </p:spPr>
      </p:pic>
      <p:sp>
        <p:nvSpPr>
          <p:cNvPr id="283" name="TextBox 34"/>
          <p:cNvSpPr/>
          <p:nvPr/>
        </p:nvSpPr>
        <p:spPr>
          <a:xfrm>
            <a:off x="2151720" y="141588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$30,000</a:t>
            </a:r>
            <a:endParaRPr b="0" lang="en-US" sz="1200" spc="-1" strike="noStrike">
              <a:latin typeface="Arial"/>
            </a:endParaRPr>
          </a:p>
        </p:txBody>
      </p:sp>
      <p:sp>
        <p:nvSpPr>
          <p:cNvPr id="284" name="TextBox 35"/>
          <p:cNvSpPr/>
          <p:nvPr/>
        </p:nvSpPr>
        <p:spPr>
          <a:xfrm>
            <a:off x="2153160" y="170172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$14,000</a:t>
            </a:r>
            <a:endParaRPr b="0" lang="en-US" sz="1200" spc="-1" strike="noStrike">
              <a:latin typeface="Arial"/>
            </a:endParaRPr>
          </a:p>
        </p:txBody>
      </p:sp>
      <p:sp>
        <p:nvSpPr>
          <p:cNvPr id="285" name="TextBox 36"/>
          <p:cNvSpPr/>
          <p:nvPr/>
        </p:nvSpPr>
        <p:spPr>
          <a:xfrm>
            <a:off x="2170800" y="3244680"/>
            <a:ext cx="3351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$0</a:t>
            </a:r>
            <a:endParaRPr b="0" lang="en-US" sz="1200" spc="-1" strike="noStrike">
              <a:latin typeface="Arial"/>
            </a:endParaRPr>
          </a:p>
        </p:txBody>
      </p:sp>
      <p:sp>
        <p:nvSpPr>
          <p:cNvPr id="286" name="TextBox 37"/>
          <p:cNvSpPr/>
          <p:nvPr/>
        </p:nvSpPr>
        <p:spPr>
          <a:xfrm>
            <a:off x="2152440" y="234000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$10,000</a:t>
            </a:r>
            <a:endParaRPr b="0" lang="en-US" sz="1200" spc="-1" strike="noStrike">
              <a:latin typeface="Arial"/>
            </a:endParaRPr>
          </a:p>
        </p:txBody>
      </p:sp>
      <p:sp>
        <p:nvSpPr>
          <p:cNvPr id="287" name="TextBox 38"/>
          <p:cNvSpPr/>
          <p:nvPr/>
        </p:nvSpPr>
        <p:spPr>
          <a:xfrm>
            <a:off x="2152080" y="263520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$7,000</a:t>
            </a:r>
            <a:endParaRPr b="0" lang="en-US" sz="1200" spc="-1" strike="noStrike">
              <a:latin typeface="Arial"/>
            </a:endParaRPr>
          </a:p>
        </p:txBody>
      </p:sp>
      <p:sp>
        <p:nvSpPr>
          <p:cNvPr id="288" name="TextBox 39"/>
          <p:cNvSpPr/>
          <p:nvPr/>
        </p:nvSpPr>
        <p:spPr>
          <a:xfrm>
            <a:off x="2174040" y="3549600"/>
            <a:ext cx="3351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$0</a:t>
            </a:r>
            <a:endParaRPr b="0" lang="en-US" sz="1200" spc="-1" strike="noStrike">
              <a:latin typeface="Arial"/>
            </a:endParaRPr>
          </a:p>
        </p:txBody>
      </p:sp>
      <p:sp>
        <p:nvSpPr>
          <p:cNvPr id="289" name="TextBox 40"/>
          <p:cNvSpPr/>
          <p:nvPr/>
        </p:nvSpPr>
        <p:spPr>
          <a:xfrm>
            <a:off x="2152080" y="290196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$7,000</a:t>
            </a:r>
            <a:endParaRPr b="0" lang="en-US" sz="1200" spc="-1" strike="noStrike">
              <a:latin typeface="Arial"/>
            </a:endParaRPr>
          </a:p>
        </p:txBody>
      </p:sp>
      <p:sp>
        <p:nvSpPr>
          <p:cNvPr id="290" name="TextBox 41"/>
          <p:cNvSpPr/>
          <p:nvPr/>
        </p:nvSpPr>
        <p:spPr>
          <a:xfrm>
            <a:off x="2152440" y="198288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$12,000</a:t>
            </a:r>
            <a:endParaRPr b="0" lang="en-US" sz="1200" spc="-1" strike="noStrike">
              <a:latin typeface="Arial"/>
            </a:endParaRPr>
          </a:p>
        </p:txBody>
      </p:sp>
      <p:sp>
        <p:nvSpPr>
          <p:cNvPr id="291" name="TextBox 41"/>
          <p:cNvSpPr/>
          <p:nvPr/>
        </p:nvSpPr>
        <p:spPr>
          <a:xfrm>
            <a:off x="2172240" y="3859200"/>
            <a:ext cx="3351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$0</a:t>
            </a:r>
            <a:endParaRPr b="0" lang="en-US" sz="1200" spc="-1" strike="noStrike">
              <a:latin typeface="Arial"/>
            </a:endParaRPr>
          </a:p>
        </p:txBody>
      </p:sp>
      <p:pic>
        <p:nvPicPr>
          <p:cNvPr id="292" name="Picture 34" descr=""/>
          <p:cNvPicPr/>
          <p:nvPr/>
        </p:nvPicPr>
        <p:blipFill>
          <a:blip r:embed="rId16"/>
          <a:stretch/>
        </p:blipFill>
        <p:spPr>
          <a:xfrm>
            <a:off x="2246400" y="4460760"/>
            <a:ext cx="1828080" cy="19800"/>
          </a:xfrm>
          <a:prstGeom prst="rect">
            <a:avLst/>
          </a:prstGeom>
          <a:ln w="0">
            <a:noFill/>
          </a:ln>
        </p:spPr>
      </p:pic>
      <p:sp>
        <p:nvSpPr>
          <p:cNvPr id="293" name="TextBox 42"/>
          <p:cNvSpPr/>
          <p:nvPr/>
        </p:nvSpPr>
        <p:spPr>
          <a:xfrm>
            <a:off x="2166840" y="421812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$80,000</a:t>
            </a:r>
            <a:endParaRPr b="0" lang="en-US" sz="1200" spc="-1" strike="noStrike">
              <a:latin typeface="Arial"/>
            </a:endParaRPr>
          </a:p>
        </p:txBody>
      </p:sp>
      <p:sp>
        <p:nvSpPr>
          <p:cNvPr id="294" name="Text Box 25"/>
          <p:cNvSpPr/>
          <p:nvPr/>
        </p:nvSpPr>
        <p:spPr>
          <a:xfrm>
            <a:off x="5470560" y="1111320"/>
            <a:ext cx="28378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274d"/>
                </a:solidFill>
                <a:latin typeface="Corbel"/>
                <a:ea typeface="Corbel"/>
              </a:rPr>
              <a:t>Proposed 12 Month Media Allocation:</a:t>
            </a:r>
            <a:endParaRPr b="0" lang="en-US" sz="1200" spc="-1" strike="noStrike">
              <a:latin typeface="Arial"/>
            </a:endParaRPr>
          </a:p>
        </p:txBody>
      </p:sp>
      <p:pic>
        <p:nvPicPr>
          <p:cNvPr id="295" name="Picture 27" descr=""/>
          <p:cNvPicPr/>
          <p:nvPr/>
        </p:nvPicPr>
        <p:blipFill>
          <a:blip r:embed="rId17"/>
          <a:stretch/>
        </p:blipFill>
        <p:spPr>
          <a:xfrm>
            <a:off x="6620040" y="1622520"/>
            <a:ext cx="1828080" cy="19800"/>
          </a:xfrm>
          <a:prstGeom prst="rect">
            <a:avLst/>
          </a:prstGeom>
          <a:ln w="0">
            <a:noFill/>
          </a:ln>
        </p:spPr>
      </p:pic>
      <p:pic>
        <p:nvPicPr>
          <p:cNvPr id="296" name="Picture 27" descr=""/>
          <p:cNvPicPr/>
          <p:nvPr/>
        </p:nvPicPr>
        <p:blipFill>
          <a:blip r:embed="rId18"/>
          <a:stretch/>
        </p:blipFill>
        <p:spPr>
          <a:xfrm>
            <a:off x="6642000" y="1943280"/>
            <a:ext cx="1828080" cy="21600"/>
          </a:xfrm>
          <a:prstGeom prst="rect">
            <a:avLst/>
          </a:prstGeom>
          <a:ln w="0">
            <a:noFill/>
          </a:ln>
        </p:spPr>
      </p:pic>
      <p:pic>
        <p:nvPicPr>
          <p:cNvPr id="297" name="Picture 27" descr=""/>
          <p:cNvPicPr/>
          <p:nvPr/>
        </p:nvPicPr>
        <p:blipFill>
          <a:blip r:embed="rId19"/>
          <a:stretch/>
        </p:blipFill>
        <p:spPr>
          <a:xfrm>
            <a:off x="6642000" y="2238480"/>
            <a:ext cx="1828080" cy="19800"/>
          </a:xfrm>
          <a:prstGeom prst="rect">
            <a:avLst/>
          </a:prstGeom>
          <a:ln w="0">
            <a:noFill/>
          </a:ln>
        </p:spPr>
      </p:pic>
      <p:pic>
        <p:nvPicPr>
          <p:cNvPr id="298" name="Picture 27" descr=""/>
          <p:cNvPicPr/>
          <p:nvPr/>
        </p:nvPicPr>
        <p:blipFill>
          <a:blip r:embed="rId20"/>
          <a:stretch/>
        </p:blipFill>
        <p:spPr>
          <a:xfrm>
            <a:off x="6642000" y="2581200"/>
            <a:ext cx="1828080" cy="19800"/>
          </a:xfrm>
          <a:prstGeom prst="rect">
            <a:avLst/>
          </a:prstGeom>
          <a:ln w="0">
            <a:noFill/>
          </a:ln>
        </p:spPr>
      </p:pic>
      <p:pic>
        <p:nvPicPr>
          <p:cNvPr id="299" name="Picture 27" descr=""/>
          <p:cNvPicPr/>
          <p:nvPr/>
        </p:nvPicPr>
        <p:blipFill>
          <a:blip r:embed="rId21"/>
          <a:stretch/>
        </p:blipFill>
        <p:spPr>
          <a:xfrm>
            <a:off x="6642000" y="2876400"/>
            <a:ext cx="1828080" cy="19800"/>
          </a:xfrm>
          <a:prstGeom prst="rect">
            <a:avLst/>
          </a:prstGeom>
          <a:ln w="0">
            <a:noFill/>
          </a:ln>
        </p:spPr>
      </p:pic>
      <p:pic>
        <p:nvPicPr>
          <p:cNvPr id="300" name="Picture 27" descr=""/>
          <p:cNvPicPr/>
          <p:nvPr/>
        </p:nvPicPr>
        <p:blipFill>
          <a:blip r:embed="rId22"/>
          <a:stretch/>
        </p:blipFill>
        <p:spPr>
          <a:xfrm>
            <a:off x="6642000" y="3195720"/>
            <a:ext cx="1828080" cy="21600"/>
          </a:xfrm>
          <a:prstGeom prst="rect">
            <a:avLst/>
          </a:prstGeom>
          <a:ln w="0">
            <a:noFill/>
          </a:ln>
        </p:spPr>
      </p:pic>
      <p:pic>
        <p:nvPicPr>
          <p:cNvPr id="301" name="Picture 27" descr=""/>
          <p:cNvPicPr/>
          <p:nvPr/>
        </p:nvPicPr>
        <p:blipFill>
          <a:blip r:embed="rId23"/>
          <a:stretch/>
        </p:blipFill>
        <p:spPr>
          <a:xfrm>
            <a:off x="6642000" y="3495600"/>
            <a:ext cx="1828080" cy="19800"/>
          </a:xfrm>
          <a:prstGeom prst="rect">
            <a:avLst/>
          </a:prstGeom>
          <a:ln w="0">
            <a:noFill/>
          </a:ln>
        </p:spPr>
      </p:pic>
      <p:pic>
        <p:nvPicPr>
          <p:cNvPr id="302" name="Picture 27" descr=""/>
          <p:cNvPicPr/>
          <p:nvPr/>
        </p:nvPicPr>
        <p:blipFill>
          <a:blip r:embed="rId24"/>
          <a:stretch/>
        </p:blipFill>
        <p:spPr>
          <a:xfrm>
            <a:off x="6642000" y="3790800"/>
            <a:ext cx="1828080" cy="21600"/>
          </a:xfrm>
          <a:prstGeom prst="rect">
            <a:avLst/>
          </a:prstGeom>
          <a:ln w="0">
            <a:noFill/>
          </a:ln>
        </p:spPr>
      </p:pic>
      <p:pic>
        <p:nvPicPr>
          <p:cNvPr id="303" name="Picture 27" descr=""/>
          <p:cNvPicPr/>
          <p:nvPr/>
        </p:nvPicPr>
        <p:blipFill>
          <a:blip r:embed="rId25"/>
          <a:stretch/>
        </p:blipFill>
        <p:spPr>
          <a:xfrm>
            <a:off x="6642000" y="4113360"/>
            <a:ext cx="1828080" cy="19800"/>
          </a:xfrm>
          <a:prstGeom prst="rect">
            <a:avLst/>
          </a:prstGeom>
          <a:ln w="0">
            <a:noFill/>
          </a:ln>
        </p:spPr>
      </p:pic>
      <p:sp>
        <p:nvSpPr>
          <p:cNvPr id="304" name="TextBox 34"/>
          <p:cNvSpPr/>
          <p:nvPr/>
        </p:nvSpPr>
        <p:spPr>
          <a:xfrm>
            <a:off x="6575400" y="141588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$24,000</a:t>
            </a:r>
            <a:endParaRPr b="0" lang="en-US" sz="1200" spc="-1" strike="noStrike">
              <a:latin typeface="Arial"/>
            </a:endParaRPr>
          </a:p>
        </p:txBody>
      </p:sp>
      <p:sp>
        <p:nvSpPr>
          <p:cNvPr id="305" name="TextBox 35"/>
          <p:cNvSpPr/>
          <p:nvPr/>
        </p:nvSpPr>
        <p:spPr>
          <a:xfrm>
            <a:off x="6575400" y="170172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$24,000</a:t>
            </a:r>
            <a:endParaRPr b="0" lang="en-US" sz="1200" spc="-1" strike="noStrike">
              <a:latin typeface="Arial"/>
            </a:endParaRPr>
          </a:p>
        </p:txBody>
      </p:sp>
      <p:sp>
        <p:nvSpPr>
          <p:cNvPr id="306" name="TextBox 36"/>
          <p:cNvSpPr/>
          <p:nvPr/>
        </p:nvSpPr>
        <p:spPr>
          <a:xfrm>
            <a:off x="6572160" y="199692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$12,000</a:t>
            </a:r>
            <a:endParaRPr b="0" lang="en-US" sz="1200" spc="-1" strike="noStrike">
              <a:latin typeface="Arial"/>
            </a:endParaRPr>
          </a:p>
        </p:txBody>
      </p:sp>
      <p:sp>
        <p:nvSpPr>
          <p:cNvPr id="307" name="TextBox 37"/>
          <p:cNvSpPr/>
          <p:nvPr/>
        </p:nvSpPr>
        <p:spPr>
          <a:xfrm>
            <a:off x="6579720" y="234000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$6,000</a:t>
            </a:r>
            <a:endParaRPr b="0" lang="en-US" sz="1200" spc="-1" strike="noStrike">
              <a:latin typeface="Arial"/>
            </a:endParaRPr>
          </a:p>
        </p:txBody>
      </p:sp>
      <p:sp>
        <p:nvSpPr>
          <p:cNvPr id="308" name="TextBox 38"/>
          <p:cNvSpPr/>
          <p:nvPr/>
        </p:nvSpPr>
        <p:spPr>
          <a:xfrm>
            <a:off x="6572880" y="263520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$16,000</a:t>
            </a:r>
            <a:endParaRPr b="0" lang="en-US" sz="1200" spc="-1" strike="noStrike">
              <a:latin typeface="Arial"/>
            </a:endParaRPr>
          </a:p>
        </p:txBody>
      </p:sp>
      <p:sp>
        <p:nvSpPr>
          <p:cNvPr id="309" name="TextBox 39"/>
          <p:cNvSpPr/>
          <p:nvPr/>
        </p:nvSpPr>
        <p:spPr>
          <a:xfrm>
            <a:off x="6579720" y="295416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$6,000</a:t>
            </a:r>
            <a:endParaRPr b="0" lang="en-US" sz="1200" spc="-1" strike="noStrike">
              <a:latin typeface="Arial"/>
            </a:endParaRPr>
          </a:p>
        </p:txBody>
      </p:sp>
      <p:sp>
        <p:nvSpPr>
          <p:cNvPr id="310" name="TextBox 40"/>
          <p:cNvSpPr/>
          <p:nvPr/>
        </p:nvSpPr>
        <p:spPr>
          <a:xfrm>
            <a:off x="6572160" y="325440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$12,000</a:t>
            </a:r>
            <a:endParaRPr b="0" lang="en-US" sz="1200" spc="-1" strike="noStrike">
              <a:latin typeface="Arial"/>
            </a:endParaRPr>
          </a:p>
        </p:txBody>
      </p:sp>
      <p:sp>
        <p:nvSpPr>
          <p:cNvPr id="311" name="TextBox 41"/>
          <p:cNvSpPr/>
          <p:nvPr/>
        </p:nvSpPr>
        <p:spPr>
          <a:xfrm>
            <a:off x="6591960" y="3556080"/>
            <a:ext cx="3351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$0</a:t>
            </a:r>
            <a:endParaRPr b="0" lang="en-US" sz="1200" spc="-1" strike="noStrike">
              <a:latin typeface="Arial"/>
            </a:endParaRPr>
          </a:p>
        </p:txBody>
      </p:sp>
      <p:sp>
        <p:nvSpPr>
          <p:cNvPr id="312" name="TextBox 41"/>
          <p:cNvSpPr/>
          <p:nvPr/>
        </p:nvSpPr>
        <p:spPr>
          <a:xfrm>
            <a:off x="6591960" y="3859200"/>
            <a:ext cx="3351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$0</a:t>
            </a:r>
            <a:endParaRPr b="0" lang="en-US" sz="1200" spc="-1" strike="noStrike">
              <a:latin typeface="Arial"/>
            </a:endParaRPr>
          </a:p>
        </p:txBody>
      </p:sp>
      <p:pic>
        <p:nvPicPr>
          <p:cNvPr id="313" name="Picture 34" descr=""/>
          <p:cNvPicPr/>
          <p:nvPr/>
        </p:nvPicPr>
        <p:blipFill>
          <a:blip r:embed="rId26"/>
          <a:stretch/>
        </p:blipFill>
        <p:spPr>
          <a:xfrm>
            <a:off x="6665760" y="4460760"/>
            <a:ext cx="1828080" cy="19800"/>
          </a:xfrm>
          <a:prstGeom prst="rect">
            <a:avLst/>
          </a:prstGeom>
          <a:ln w="0">
            <a:noFill/>
          </a:ln>
        </p:spPr>
      </p:pic>
      <p:sp>
        <p:nvSpPr>
          <p:cNvPr id="314" name="TextBox 42"/>
          <p:cNvSpPr/>
          <p:nvPr/>
        </p:nvSpPr>
        <p:spPr>
          <a:xfrm>
            <a:off x="6577920" y="4218120"/>
            <a:ext cx="8046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$100,000</a:t>
            </a:r>
            <a:endParaRPr b="0" lang="en-US" sz="1200" spc="-1" strike="noStrike">
              <a:latin typeface="Arial"/>
            </a:endParaRPr>
          </a:p>
        </p:txBody>
      </p:sp>
      <p:sp>
        <p:nvSpPr>
          <p:cNvPr id="315" name="TextBox 34"/>
          <p:cNvSpPr/>
          <p:nvPr/>
        </p:nvSpPr>
        <p:spPr>
          <a:xfrm>
            <a:off x="4329000" y="1415880"/>
            <a:ext cx="222012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Radio</a:t>
            </a:r>
            <a:endParaRPr b="0" lang="en-US" sz="1200" spc="-1" strike="noStrike">
              <a:latin typeface="Arial"/>
            </a:endParaRPr>
          </a:p>
        </p:txBody>
      </p:sp>
      <p:sp>
        <p:nvSpPr>
          <p:cNvPr id="316" name="TextBox 35"/>
          <p:cNvSpPr/>
          <p:nvPr/>
        </p:nvSpPr>
        <p:spPr>
          <a:xfrm>
            <a:off x="4324320" y="1701720"/>
            <a:ext cx="223128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Television</a:t>
            </a:r>
            <a:endParaRPr b="0" lang="en-US" sz="1200" spc="-1" strike="noStrike">
              <a:latin typeface="Arial"/>
            </a:endParaRPr>
          </a:p>
        </p:txBody>
      </p:sp>
      <p:sp>
        <p:nvSpPr>
          <p:cNvPr id="317" name="TextBox 36"/>
          <p:cNvSpPr/>
          <p:nvPr/>
        </p:nvSpPr>
        <p:spPr>
          <a:xfrm>
            <a:off x="4329000" y="1996920"/>
            <a:ext cx="222012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Digital</a:t>
            </a:r>
            <a:endParaRPr b="0" lang="en-US" sz="1200" spc="-1" strike="noStrike">
              <a:latin typeface="Arial"/>
            </a:endParaRPr>
          </a:p>
        </p:txBody>
      </p:sp>
      <p:sp>
        <p:nvSpPr>
          <p:cNvPr id="318" name="TextBox 37"/>
          <p:cNvSpPr/>
          <p:nvPr/>
        </p:nvSpPr>
        <p:spPr>
          <a:xfrm>
            <a:off x="4329000" y="2340000"/>
            <a:ext cx="222012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Station Website</a:t>
            </a:r>
            <a:endParaRPr b="0" lang="en-US" sz="1200" spc="-1" strike="noStrike">
              <a:latin typeface="Arial"/>
            </a:endParaRPr>
          </a:p>
        </p:txBody>
      </p:sp>
      <p:sp>
        <p:nvSpPr>
          <p:cNvPr id="319" name="TextBox 38"/>
          <p:cNvSpPr/>
          <p:nvPr/>
        </p:nvSpPr>
        <p:spPr>
          <a:xfrm>
            <a:off x="4324320" y="2635200"/>
            <a:ext cx="223128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Social Media</a:t>
            </a:r>
            <a:endParaRPr b="0" lang="en-US" sz="1200" spc="-1" strike="noStrike">
              <a:latin typeface="Arial"/>
            </a:endParaRPr>
          </a:p>
        </p:txBody>
      </p:sp>
      <p:sp>
        <p:nvSpPr>
          <p:cNvPr id="320" name="TextBox 39"/>
          <p:cNvSpPr/>
          <p:nvPr/>
        </p:nvSpPr>
        <p:spPr>
          <a:xfrm>
            <a:off x="4329000" y="2954160"/>
            <a:ext cx="222012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Yellow Pages</a:t>
            </a:r>
            <a:endParaRPr b="0" lang="en-US" sz="1200" spc="-1" strike="noStrike">
              <a:latin typeface="Arial"/>
            </a:endParaRPr>
          </a:p>
        </p:txBody>
      </p:sp>
      <p:sp>
        <p:nvSpPr>
          <p:cNvPr id="321" name="TextBox 40"/>
          <p:cNvSpPr/>
          <p:nvPr/>
        </p:nvSpPr>
        <p:spPr>
          <a:xfrm>
            <a:off x="4309920" y="3281400"/>
            <a:ext cx="222012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SEM</a:t>
            </a:r>
            <a:endParaRPr b="0" lang="en-US" sz="1200" spc="-1" strike="noStrike">
              <a:latin typeface="Arial"/>
            </a:endParaRPr>
          </a:p>
        </p:txBody>
      </p:sp>
      <p:sp>
        <p:nvSpPr>
          <p:cNvPr id="322" name="TextBox 41"/>
          <p:cNvSpPr/>
          <p:nvPr/>
        </p:nvSpPr>
        <p:spPr>
          <a:xfrm>
            <a:off x="4329000" y="3556080"/>
            <a:ext cx="2220120" cy="267480"/>
          </a:xfrm>
          <a:prstGeom prst="rect">
            <a:avLst/>
          </a:prstGeom>
          <a:noFill/>
          <a:ln w="0">
            <a:noFill/>
          </a:ln>
        </p:spPr>
        <p:style>
          <a:lnRef idx="0"/>
          <a:fillRef idx="0"/>
          <a:effectRef idx="0"/>
          <a:fontRef idx="minor"/>
        </p:style>
      </p:sp>
      <p:sp>
        <p:nvSpPr>
          <p:cNvPr id="323" name="TextBox 41"/>
          <p:cNvSpPr/>
          <p:nvPr/>
        </p:nvSpPr>
        <p:spPr>
          <a:xfrm>
            <a:off x="4329000" y="3859200"/>
            <a:ext cx="2220120" cy="267480"/>
          </a:xfrm>
          <a:prstGeom prst="rect">
            <a:avLst/>
          </a:prstGeom>
          <a:noFill/>
          <a:ln w="0">
            <a:noFill/>
          </a:ln>
        </p:spPr>
        <p:style>
          <a:lnRef idx="0"/>
          <a:fillRef idx="0"/>
          <a:effectRef idx="0"/>
          <a:fontRef idx="minor"/>
        </p:style>
      </p:sp>
      <p:sp>
        <p:nvSpPr>
          <p:cNvPr id="324" name="TextBox 42"/>
          <p:cNvSpPr/>
          <p:nvPr/>
        </p:nvSpPr>
        <p:spPr>
          <a:xfrm>
            <a:off x="4651200" y="4218120"/>
            <a:ext cx="191556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1" lang="en-US" sz="1200" spc="-1" strike="noStrike">
                <a:solidFill>
                  <a:srgbClr val="00274d"/>
                </a:solidFill>
                <a:latin typeface="Corbel"/>
                <a:ea typeface="Corbel"/>
              </a:rPr>
              <a:t>Total Adv. Investment</a:t>
            </a:r>
            <a:endParaRPr b="0" lang="en-US" sz="1200" spc="-1" strike="noStrike">
              <a:latin typeface="Arial"/>
            </a:endParaRPr>
          </a:p>
        </p:txBody>
      </p:sp>
      <p:sp>
        <p:nvSpPr>
          <p:cNvPr id="325" name="TextBox 34"/>
          <p:cNvSpPr/>
          <p:nvPr/>
        </p:nvSpPr>
        <p:spPr>
          <a:xfrm>
            <a:off x="231840" y="1415880"/>
            <a:ext cx="197424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Print</a:t>
            </a:r>
            <a:endParaRPr b="0" lang="en-US" sz="1200" spc="-1" strike="noStrike">
              <a:latin typeface="Arial"/>
            </a:endParaRPr>
          </a:p>
        </p:txBody>
      </p:sp>
      <p:sp>
        <p:nvSpPr>
          <p:cNvPr id="326" name="TextBox 35"/>
          <p:cNvSpPr/>
          <p:nvPr/>
        </p:nvSpPr>
        <p:spPr>
          <a:xfrm>
            <a:off x="228600" y="1701720"/>
            <a:ext cx="198360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Cable</a:t>
            </a:r>
            <a:endParaRPr b="0" lang="en-US" sz="1200" spc="-1" strike="noStrike">
              <a:latin typeface="Arial"/>
            </a:endParaRPr>
          </a:p>
        </p:txBody>
      </p:sp>
      <p:sp>
        <p:nvSpPr>
          <p:cNvPr id="327" name="TextBox 36"/>
          <p:cNvSpPr/>
          <p:nvPr/>
        </p:nvSpPr>
        <p:spPr>
          <a:xfrm>
            <a:off x="231840" y="1996920"/>
            <a:ext cx="197424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Yellow Pages</a:t>
            </a:r>
            <a:endParaRPr b="0" lang="en-US" sz="1200" spc="-1" strike="noStrike">
              <a:latin typeface="Arial"/>
            </a:endParaRPr>
          </a:p>
        </p:txBody>
      </p:sp>
      <p:sp>
        <p:nvSpPr>
          <p:cNvPr id="328" name="TextBox 37"/>
          <p:cNvSpPr/>
          <p:nvPr/>
        </p:nvSpPr>
        <p:spPr>
          <a:xfrm>
            <a:off x="231840" y="2340000"/>
            <a:ext cx="197424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Direct Mail</a:t>
            </a:r>
            <a:endParaRPr b="0" lang="en-US" sz="1200" spc="-1" strike="noStrike">
              <a:latin typeface="Arial"/>
            </a:endParaRPr>
          </a:p>
        </p:txBody>
      </p:sp>
      <p:sp>
        <p:nvSpPr>
          <p:cNvPr id="329" name="TextBox 38"/>
          <p:cNvSpPr/>
          <p:nvPr/>
        </p:nvSpPr>
        <p:spPr>
          <a:xfrm>
            <a:off x="228600" y="2635200"/>
            <a:ext cx="198360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Television</a:t>
            </a:r>
            <a:endParaRPr b="0" lang="en-US" sz="1200" spc="-1" strike="noStrike">
              <a:latin typeface="Arial"/>
            </a:endParaRPr>
          </a:p>
        </p:txBody>
      </p:sp>
      <p:sp>
        <p:nvSpPr>
          <p:cNvPr id="330" name="TextBox 39"/>
          <p:cNvSpPr/>
          <p:nvPr/>
        </p:nvSpPr>
        <p:spPr>
          <a:xfrm>
            <a:off x="231840" y="2954160"/>
            <a:ext cx="1974240" cy="264240"/>
          </a:xfrm>
          <a:prstGeom prst="rect">
            <a:avLst/>
          </a:prstGeom>
          <a:noFill/>
          <a:ln w="0">
            <a:noFill/>
          </a:ln>
        </p:spPr>
        <p:style>
          <a:lnRef idx="0"/>
          <a:fillRef idx="0"/>
          <a:effectRef idx="0"/>
          <a:fontRef idx="minor"/>
        </p:style>
        <p:txBody>
          <a:bodyPr lIns="82440" rIns="82440" tIns="41040" bIns="41040" anchor="t">
            <a:spAutoFit/>
          </a:bodyPr>
          <a:p>
            <a:pPr algn="r">
              <a:lnSpc>
                <a:spcPct val="100000"/>
              </a:lnSpc>
              <a:buNone/>
            </a:pPr>
            <a:r>
              <a:rPr b="0" lang="en-US" sz="1200" spc="-1" strike="noStrike">
                <a:solidFill>
                  <a:srgbClr val="00274d"/>
                </a:solidFill>
                <a:latin typeface="Corbel"/>
                <a:ea typeface="Corbel"/>
              </a:rPr>
              <a:t>Radio</a:t>
            </a:r>
            <a:endParaRPr b="0" lang="en-US" sz="1200" spc="-1" strike="noStrike">
              <a:latin typeface="Arial"/>
            </a:endParaRPr>
          </a:p>
        </p:txBody>
      </p:sp>
      <p:sp>
        <p:nvSpPr>
          <p:cNvPr id="331" name="TextBox 40"/>
          <p:cNvSpPr/>
          <p:nvPr/>
        </p:nvSpPr>
        <p:spPr>
          <a:xfrm>
            <a:off x="231840" y="3254400"/>
            <a:ext cx="1974240" cy="267480"/>
          </a:xfrm>
          <a:prstGeom prst="rect">
            <a:avLst/>
          </a:prstGeom>
          <a:noFill/>
          <a:ln w="0">
            <a:noFill/>
          </a:ln>
        </p:spPr>
        <p:style>
          <a:lnRef idx="0"/>
          <a:fillRef idx="0"/>
          <a:effectRef idx="0"/>
          <a:fontRef idx="minor"/>
        </p:style>
      </p:sp>
      <p:sp>
        <p:nvSpPr>
          <p:cNvPr id="332" name="TextBox 41"/>
          <p:cNvSpPr/>
          <p:nvPr/>
        </p:nvSpPr>
        <p:spPr>
          <a:xfrm>
            <a:off x="231840" y="3556080"/>
            <a:ext cx="1974240" cy="267480"/>
          </a:xfrm>
          <a:prstGeom prst="rect">
            <a:avLst/>
          </a:prstGeom>
          <a:noFill/>
          <a:ln w="0">
            <a:noFill/>
          </a:ln>
        </p:spPr>
        <p:style>
          <a:lnRef idx="0"/>
          <a:fillRef idx="0"/>
          <a:effectRef idx="0"/>
          <a:fontRef idx="minor"/>
        </p:style>
      </p:sp>
      <p:sp>
        <p:nvSpPr>
          <p:cNvPr id="333" name="TextBox 41"/>
          <p:cNvSpPr/>
          <p:nvPr/>
        </p:nvSpPr>
        <p:spPr>
          <a:xfrm>
            <a:off x="231840" y="3859200"/>
            <a:ext cx="1974240" cy="267480"/>
          </a:xfrm>
          <a:prstGeom prst="rect">
            <a:avLst/>
          </a:prstGeom>
          <a:noFill/>
          <a:ln w="0">
            <a:noFill/>
          </a:ln>
        </p:spPr>
        <p:style>
          <a:lnRef idx="0"/>
          <a:fillRef idx="0"/>
          <a:effectRef idx="0"/>
          <a:fontRef idx="minor"/>
        </p:style>
      </p:sp>
      <p:sp>
        <p:nvSpPr>
          <p:cNvPr id="334"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E7C6F208-B9ED-4067-96E8-B2146D5A0718}" type="slidenum">
              <a:rPr b="0" lang="en-US" sz="1100" spc="-1" strike="noStrike">
                <a:solidFill>
                  <a:srgbClr val="ffffff"/>
                </a:solidFill>
                <a:latin typeface="Corbel"/>
                <a:ea typeface="Corbel"/>
              </a:rPr>
              <a:t>&lt;number&gt;</a:t>
            </a:fld>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TextBox 8"/>
          <p:cNvSpPr/>
          <p:nvPr/>
        </p:nvSpPr>
        <p:spPr>
          <a:xfrm>
            <a:off x="914400" y="5964120"/>
            <a:ext cx="362412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800" spc="-1" strike="noStrike">
                <a:solidFill>
                  <a:srgbClr val="00274d"/>
                </a:solidFill>
                <a:latin typeface="Corbel"/>
                <a:ea typeface="Corbel"/>
              </a:rPr>
              <a:t>Total Advertising Investment (TAI):</a:t>
            </a:r>
            <a:endParaRPr b="0" lang="en-US" sz="1800" spc="-1" strike="noStrike">
              <a:latin typeface="Arial"/>
            </a:endParaRPr>
          </a:p>
        </p:txBody>
      </p:sp>
      <p:sp>
        <p:nvSpPr>
          <p:cNvPr id="336" name="TextBox 10"/>
          <p:cNvSpPr/>
          <p:nvPr/>
        </p:nvSpPr>
        <p:spPr>
          <a:xfrm>
            <a:off x="5715000" y="5964120"/>
            <a:ext cx="2878920" cy="3560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800" spc="-1" strike="noStrike">
                <a:solidFill>
                  <a:srgbClr val="00274d"/>
                </a:solidFill>
                <a:latin typeface="Corbel"/>
                <a:ea typeface="Corbel"/>
              </a:rPr>
              <a:t>$80,000</a:t>
            </a:r>
            <a:endParaRPr b="0" lang="en-US" sz="1800" spc="-1" strike="noStrike">
              <a:latin typeface="Arial"/>
            </a:endParaRPr>
          </a:p>
        </p:txBody>
      </p:sp>
      <p:sp>
        <p:nvSpPr>
          <p:cNvPr id="337" name="Slide Number Placeholder 1"/>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B7262FB1-5991-4E80-A879-C80A30F0F0FD}"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338" name="Rectangle 8"/>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Previous Year’s Media Allocation</a:t>
            </a:r>
            <a:endParaRPr b="0" lang="en-US" sz="4000" spc="-1" strike="noStrike">
              <a:latin typeface="Arial"/>
            </a:endParaRPr>
          </a:p>
        </p:txBody>
      </p:sp>
      <p:graphicFrame>
        <p:nvGraphicFramePr>
          <p:cNvPr id="339" name="Chart 3"/>
          <p:cNvGraphicFramePr/>
          <p:nvPr/>
        </p:nvGraphicFramePr>
        <p:xfrm>
          <a:off x="1523880" y="1397160"/>
          <a:ext cx="6095160" cy="406332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TextBox 6"/>
          <p:cNvSpPr/>
          <p:nvPr/>
        </p:nvSpPr>
        <p:spPr>
          <a:xfrm>
            <a:off x="914400" y="5964120"/>
            <a:ext cx="362412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800" spc="-1" strike="noStrike">
                <a:solidFill>
                  <a:srgbClr val="00274d"/>
                </a:solidFill>
                <a:latin typeface="Corbel"/>
                <a:ea typeface="Corbel"/>
              </a:rPr>
              <a:t>Total Advertising Investment (TAI):</a:t>
            </a:r>
            <a:endParaRPr b="0" lang="en-US" sz="1800" spc="-1" strike="noStrike">
              <a:latin typeface="Arial"/>
            </a:endParaRPr>
          </a:p>
        </p:txBody>
      </p:sp>
      <p:sp>
        <p:nvSpPr>
          <p:cNvPr id="341" name="TextBox 7"/>
          <p:cNvSpPr/>
          <p:nvPr/>
        </p:nvSpPr>
        <p:spPr>
          <a:xfrm>
            <a:off x="5715000" y="5964120"/>
            <a:ext cx="2878920" cy="3560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800" spc="-1" strike="noStrike">
                <a:solidFill>
                  <a:srgbClr val="00274d"/>
                </a:solidFill>
                <a:latin typeface="Corbel"/>
                <a:ea typeface="Corbel"/>
              </a:rPr>
              <a:t>$100,000</a:t>
            </a:r>
            <a:endParaRPr b="0" lang="en-US" sz="1800" spc="-1" strike="noStrike">
              <a:latin typeface="Arial"/>
            </a:endParaRPr>
          </a:p>
        </p:txBody>
      </p:sp>
      <p:sp>
        <p:nvSpPr>
          <p:cNvPr id="342"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3A8D1EBA-2651-41A6-B665-5F7B3E7E880D}"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343"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12294a"/>
                </a:solidFill>
                <a:latin typeface="Corbel"/>
                <a:ea typeface="Corbel"/>
              </a:rPr>
              <a:t>Proposed 12 Month Media Allocation</a:t>
            </a:r>
            <a:endParaRPr b="0" lang="en-US" sz="4000" spc="-1" strike="noStrike">
              <a:latin typeface="Arial"/>
            </a:endParaRPr>
          </a:p>
        </p:txBody>
      </p:sp>
      <p:graphicFrame>
        <p:nvGraphicFramePr>
          <p:cNvPr id="344" name="Chart 5"/>
          <p:cNvGraphicFramePr/>
          <p:nvPr/>
        </p:nvGraphicFramePr>
        <p:xfrm>
          <a:off x="-9360" y="1352520"/>
          <a:ext cx="8590680" cy="4664880"/>
        </p:xfrm>
        <a:graphic>
          <a:graphicData uri="http://schemas.openxmlformats.org/presentationml/2006/ole">
            <p:oleObj progId="Excel.Chart.8" r:id="rId1" spid="">
              <p:embed/>
              <p:pic>
                <p:nvPicPr>
                  <p:cNvPr id="345" name="Chart 5" descr=""/>
                  <p:cNvPicPr/>
                  <p:nvPr/>
                </p:nvPicPr>
                <p:blipFill>
                  <a:blip r:embed="rId2"/>
                  <a:stretch/>
                </p:blipFill>
                <p:spPr>
                  <a:xfrm>
                    <a:off x="-9360" y="1352520"/>
                    <a:ext cx="8590680" cy="4664880"/>
                  </a:xfrm>
                  <a:prstGeom prst="rect">
                    <a:avLst/>
                  </a:prstGeom>
                  <a:ln w="0">
                    <a:noFill/>
                  </a:ln>
                </p:spPr>
              </p:pic>
            </p:oleObj>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6" name="Picture 10" descr=""/>
          <p:cNvPicPr/>
          <p:nvPr/>
        </p:nvPicPr>
        <p:blipFill>
          <a:blip r:embed="rId1"/>
          <a:srcRect l="1121" t="1785" r="924" b="1417"/>
          <a:stretch/>
        </p:blipFill>
        <p:spPr>
          <a:xfrm>
            <a:off x="608040" y="1676520"/>
            <a:ext cx="7927200" cy="4277520"/>
          </a:xfrm>
          <a:prstGeom prst="rect">
            <a:avLst/>
          </a:prstGeom>
          <a:ln w="9525">
            <a:solidFill>
              <a:srgbClr val="00274d"/>
            </a:solidFill>
            <a:miter/>
          </a:ln>
        </p:spPr>
      </p:pic>
      <p:sp>
        <p:nvSpPr>
          <p:cNvPr id="347" name="Text Box 13"/>
          <p:cNvSpPr/>
          <p:nvPr/>
        </p:nvSpPr>
        <p:spPr>
          <a:xfrm>
            <a:off x="750960" y="1757520"/>
            <a:ext cx="7641360" cy="82749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Corbel"/>
                <a:ea typeface="DejaVu Sans"/>
              </a:rPr>
              <a:t>To help </a:t>
            </a:r>
            <a:r>
              <a:rPr b="1" lang="en-US" sz="1400" spc="-1" strike="noStrike">
                <a:solidFill>
                  <a:srgbClr val="000000"/>
                </a:solidFill>
                <a:latin typeface="Corbel"/>
                <a:ea typeface="DejaVu Sans"/>
              </a:rPr>
              <a:t>change consumer attitudes </a:t>
            </a:r>
            <a:r>
              <a:rPr b="0" lang="en-US" sz="1400" spc="-1" strike="noStrike">
                <a:solidFill>
                  <a:srgbClr val="000000"/>
                </a:solidFill>
                <a:latin typeface="Corbel"/>
                <a:ea typeface="DejaVu Sans"/>
              </a:rPr>
              <a:t>about automotive service (a lack of trust), I would encourage you to be featured in all commercials.  No one can better represent the trust and expertise that you offer.  This will also highlight the benefits of local ownership backed by the national Premium brand franchise</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To </a:t>
            </a:r>
            <a:r>
              <a:rPr b="1" lang="en-US" sz="1400" spc="-1" strike="noStrike">
                <a:solidFill>
                  <a:srgbClr val="000000"/>
                </a:solidFill>
                <a:latin typeface="Corbel"/>
                <a:ea typeface="DejaVu Sans"/>
              </a:rPr>
              <a:t>expand your target market </a:t>
            </a:r>
            <a:r>
              <a:rPr b="0" lang="en-US" sz="1400" spc="-1" strike="noStrike">
                <a:solidFill>
                  <a:srgbClr val="000000"/>
                </a:solidFill>
                <a:latin typeface="Corbel"/>
                <a:ea typeface="DejaVu Sans"/>
              </a:rPr>
              <a:t>to the largest potential market, focus the creative in your campaigns around the primary drivers of automotive service, which include oil changes and state inspections.  While in the store, you can individually sell other needed services such as tires, brakes, etc. </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Focus on the outstanding customer experience and the customer service guarantee that will separate yourselves from the competition.  </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To </a:t>
            </a:r>
            <a:r>
              <a:rPr b="1" lang="en-US" sz="1400" spc="-1" strike="noStrike">
                <a:solidFill>
                  <a:srgbClr val="000000"/>
                </a:solidFill>
                <a:latin typeface="Corbel"/>
                <a:ea typeface="DejaVu Sans"/>
              </a:rPr>
              <a:t>enhance your image in the market</a:t>
            </a:r>
            <a:r>
              <a:rPr b="0" lang="en-US" sz="1400" spc="-1" strike="noStrike">
                <a:solidFill>
                  <a:srgbClr val="000000"/>
                </a:solidFill>
                <a:latin typeface="Corbel"/>
                <a:ea typeface="DejaVu Sans"/>
              </a:rPr>
              <a:t>, form partnerships with local non-profits in cause marketing campaigns that will make a difference in the community</a:t>
            </a:r>
            <a:endParaRPr b="0" lang="en-US" sz="1400" spc="-1" strike="noStrike">
              <a:latin typeface="Arial"/>
            </a:endParaRPr>
          </a:p>
          <a:p>
            <a:pPr marL="205920" indent="-205920">
              <a:lnSpc>
                <a:spcPct val="95000"/>
              </a:lnSpc>
              <a:buClr>
                <a:srgbClr val="000000"/>
              </a:buClr>
              <a:buFont typeface="Corbel"/>
              <a:buAutoNum type="arabicPeriod"/>
            </a:pPr>
            <a:r>
              <a:rPr b="0" lang="en-US" sz="1400" spc="-1" strike="noStrike">
                <a:solidFill>
                  <a:srgbClr val="000000"/>
                </a:solidFill>
                <a:latin typeface="Corbel"/>
                <a:ea typeface="DejaVu Sans"/>
              </a:rPr>
              <a:t>Sponsor blood drives at your locations, whereas with a donation of blood each patron receives a free oil change.  This provides a triple win helping to drive new donations, providing a value added for blood donors and for Midas it will increase the potential customer base while providing an outstanding community service (saving lives).  </a:t>
            </a:r>
            <a:endParaRPr b="0" lang="en-US" sz="1400" spc="-1" strike="noStrike">
              <a:latin typeface="Arial"/>
            </a:endParaRPr>
          </a:p>
          <a:p>
            <a:pPr marL="205920" indent="-205920">
              <a:lnSpc>
                <a:spcPct val="95000"/>
              </a:lnSpc>
              <a:buClr>
                <a:srgbClr val="000000"/>
              </a:buClr>
              <a:buFont typeface="Corbel"/>
              <a:buAutoNum type="arabicPeriod"/>
            </a:pPr>
            <a:r>
              <a:rPr b="0" lang="en-US" sz="1400" spc="-1" strike="noStrike">
                <a:solidFill>
                  <a:srgbClr val="000000"/>
                </a:solidFill>
                <a:latin typeface="Corbel"/>
                <a:ea typeface="DejaVu Sans"/>
              </a:rPr>
              <a:t>To encourage donations to the local Food Bank, consider offering a free oil change ($30 value) for every $10 donation inspection.  This will not only help to feed hungry children, it will also promote goodwill in the community while building repeat business.  </a:t>
            </a:r>
            <a:endParaRPr b="0" lang="en-US" sz="1400" spc="-1" strike="noStrike">
              <a:latin typeface="Arial"/>
            </a:endParaRPr>
          </a:p>
          <a:p>
            <a:pPr>
              <a:lnSpc>
                <a:spcPct val="95000"/>
              </a:lnSpc>
              <a:buNone/>
            </a:pPr>
            <a:endParaRPr b="0" lang="en-US" sz="13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p:txBody>
      </p:sp>
      <p:sp>
        <p:nvSpPr>
          <p:cNvPr id="348"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Marketing Strategies</a:t>
            </a:r>
            <a:endParaRPr b="0" lang="en-US" sz="4000" spc="-1" strike="noStrike">
              <a:latin typeface="Arial"/>
            </a:endParaRPr>
          </a:p>
        </p:txBody>
      </p:sp>
      <p:sp>
        <p:nvSpPr>
          <p:cNvPr id="349"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4009E6B3-2CC9-495D-93E0-D838A199B588}" type="slidenum">
              <a:rPr b="0" lang="en-US" sz="1100" spc="-1" strike="noStrike">
                <a:solidFill>
                  <a:srgbClr val="ffffff"/>
                </a:solidFill>
                <a:latin typeface="Corbel"/>
                <a:ea typeface="Corbel"/>
              </a:rPr>
              <a:t>&lt;number&gt;</a:t>
            </a:fld>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Creative Concepts I</a:t>
            </a:r>
            <a:endParaRPr b="0" lang="en-US" sz="4000" spc="-1" strike="noStrike">
              <a:latin typeface="Arial"/>
            </a:endParaRPr>
          </a:p>
        </p:txBody>
      </p:sp>
      <p:sp>
        <p:nvSpPr>
          <p:cNvPr id="351" name="Text Box 9"/>
          <p:cNvSpPr/>
          <p:nvPr/>
        </p:nvSpPr>
        <p:spPr>
          <a:xfrm>
            <a:off x="609480" y="1295280"/>
            <a:ext cx="3031560" cy="5788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2000" spc="-1" strike="noStrike">
                <a:solidFill>
                  <a:srgbClr val="00274d"/>
                </a:solidFill>
                <a:latin typeface="Corbel"/>
                <a:ea typeface="Corbel"/>
              </a:rPr>
              <a:t>Title:</a:t>
            </a:r>
            <a:endParaRPr b="0" lang="en-US" sz="2000" spc="-1" strike="noStrike">
              <a:latin typeface="Arial"/>
            </a:endParaRPr>
          </a:p>
          <a:p>
            <a:pPr>
              <a:lnSpc>
                <a:spcPct val="95000"/>
              </a:lnSpc>
              <a:buNone/>
            </a:pPr>
            <a:r>
              <a:rPr b="0" lang="en-US" sz="2000" spc="-1" strike="noStrike">
                <a:solidFill>
                  <a:srgbClr val="00274d"/>
                </a:solidFill>
                <a:latin typeface="Corbel"/>
                <a:ea typeface="Corbel"/>
              </a:rPr>
              <a:t>Length: </a:t>
            </a:r>
            <a:endParaRPr b="0" lang="en-US" sz="2000" spc="-1" strike="noStrike">
              <a:latin typeface="Arial"/>
            </a:endParaRPr>
          </a:p>
        </p:txBody>
      </p:sp>
      <p:grpSp>
        <p:nvGrpSpPr>
          <p:cNvPr id="352" name="Group 2"/>
          <p:cNvGrpSpPr/>
          <p:nvPr/>
        </p:nvGrpSpPr>
        <p:grpSpPr>
          <a:xfrm>
            <a:off x="457200" y="2075040"/>
            <a:ext cx="3963240" cy="4795560"/>
            <a:chOff x="457200" y="2075040"/>
            <a:chExt cx="3963240" cy="4795560"/>
          </a:xfrm>
        </p:grpSpPr>
        <p:pic>
          <p:nvPicPr>
            <p:cNvPr id="353" name="Picture 10" descr=""/>
            <p:cNvPicPr/>
            <p:nvPr/>
          </p:nvPicPr>
          <p:blipFill>
            <a:blip r:embed="rId1"/>
            <a:srcRect l="1121" t="1785" r="924" b="1417"/>
            <a:stretch/>
          </p:blipFill>
          <p:spPr>
            <a:xfrm>
              <a:off x="457200" y="2455920"/>
              <a:ext cx="3963240" cy="3886200"/>
            </a:xfrm>
            <a:prstGeom prst="rect">
              <a:avLst/>
            </a:prstGeom>
            <a:ln w="9525">
              <a:solidFill>
                <a:srgbClr val="00274d"/>
              </a:solidFill>
              <a:miter/>
            </a:ln>
          </p:spPr>
        </p:pic>
        <p:sp>
          <p:nvSpPr>
            <p:cNvPr id="354" name="Text Box 13"/>
            <p:cNvSpPr/>
            <p:nvPr/>
          </p:nvSpPr>
          <p:spPr>
            <a:xfrm>
              <a:off x="604800" y="2565720"/>
              <a:ext cx="3668400" cy="43048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Corbel"/>
                  <a:ea typeface="DejaVu Sans"/>
                </a:rPr>
                <a:t>Owner Mark Smith voicing</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Hi I’m Mark Smith, owner of Premium Auto Service Centers…and each and every day our community has critical needs for more than 400 donations of blood.  One donation of blood can save 3 lives.  We’ve teamed up with (local blood donation center) to help our community.  From now until (date) when you donate blood you’ll get a free oil change from Premium Auto Centers.  That’s right…give us a small amount of your fluids and we will give you ours.  Go to (website) for more information on donations center hours and how to sign up.  Premium Auto Centers…taking care of you, your car and our community.  </a:t>
              </a:r>
              <a:endParaRPr b="0" lang="en-US" sz="14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p:txBody>
        </p:sp>
        <p:sp>
          <p:nvSpPr>
            <p:cNvPr id="355" name="Text Box 9"/>
            <p:cNvSpPr/>
            <p:nvPr/>
          </p:nvSpPr>
          <p:spPr>
            <a:xfrm>
              <a:off x="1981800" y="2075040"/>
              <a:ext cx="913680" cy="28944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2000" spc="-1" strike="noStrike">
                  <a:solidFill>
                    <a:srgbClr val="00274d"/>
                  </a:solidFill>
                  <a:latin typeface="Corbel"/>
                  <a:ea typeface="Corbel"/>
                </a:rPr>
                <a:t>Audio: </a:t>
              </a:r>
              <a:endParaRPr b="0" lang="en-US" sz="2000" spc="-1" strike="noStrike">
                <a:latin typeface="Arial"/>
              </a:endParaRPr>
            </a:p>
          </p:txBody>
        </p:sp>
      </p:grpSp>
      <p:sp>
        <p:nvSpPr>
          <p:cNvPr id="356"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D10EA186-5560-4410-8F48-7ADB5032BDC6}" type="slidenum">
              <a:rPr b="0" lang="en-US" sz="1100" spc="-1" strike="noStrike">
                <a:solidFill>
                  <a:srgbClr val="ffffff"/>
                </a:solidFill>
                <a:latin typeface="Corbel"/>
                <a:ea typeface="Corbel"/>
              </a:rPr>
              <a:t>&lt;number&gt;</a:t>
            </a:fld>
            <a:endParaRPr b="0" lang="en-US" sz="1100" spc="-1" strike="noStrike">
              <a:latin typeface="Arial"/>
            </a:endParaRPr>
          </a:p>
        </p:txBody>
      </p:sp>
      <p:grpSp>
        <p:nvGrpSpPr>
          <p:cNvPr id="357" name="Group 1"/>
          <p:cNvGrpSpPr/>
          <p:nvPr/>
        </p:nvGrpSpPr>
        <p:grpSpPr>
          <a:xfrm>
            <a:off x="4722840" y="2075040"/>
            <a:ext cx="3963240" cy="4266360"/>
            <a:chOff x="4722840" y="2075040"/>
            <a:chExt cx="3963240" cy="4266360"/>
          </a:xfrm>
        </p:grpSpPr>
        <p:pic>
          <p:nvPicPr>
            <p:cNvPr id="358" name="Picture 10" descr=""/>
            <p:cNvPicPr/>
            <p:nvPr/>
          </p:nvPicPr>
          <p:blipFill>
            <a:blip r:embed="rId2"/>
            <a:srcRect l="1121" t="1785" r="924" b="1417"/>
            <a:stretch/>
          </p:blipFill>
          <p:spPr>
            <a:xfrm>
              <a:off x="4722840" y="2455920"/>
              <a:ext cx="3963240" cy="3885480"/>
            </a:xfrm>
            <a:prstGeom prst="rect">
              <a:avLst/>
            </a:prstGeom>
            <a:ln w="9525">
              <a:solidFill>
                <a:srgbClr val="00274d"/>
              </a:solidFill>
              <a:miter/>
            </a:ln>
          </p:spPr>
        </p:pic>
        <p:sp>
          <p:nvSpPr>
            <p:cNvPr id="359" name="Text Box 13"/>
            <p:cNvSpPr/>
            <p:nvPr/>
          </p:nvSpPr>
          <p:spPr>
            <a:xfrm>
              <a:off x="4870440" y="2565720"/>
              <a:ext cx="3668400" cy="37270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Corbel"/>
                  <a:ea typeface="DejaVu Sans"/>
                </a:rPr>
                <a:t>Filming Mark Smith in front of a Premium Auto Center location…starting a little further back but slowly zooming in.  After the Mark Smith introduction integrate B-roll video footage of blood donation centers…coming back to Mark Smith at the close and tagline.  </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Include Premium Auto Center locations, telephone numbers and website at the bottom of the screen throughout the full commercial.  </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When referring to the donation center hours, locations and sign up include the (local donation center) website and telephone number.  </a:t>
              </a:r>
              <a:endParaRPr b="0" lang="en-US" sz="14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p:txBody>
        </p:sp>
        <p:sp>
          <p:nvSpPr>
            <p:cNvPr id="360" name="Text Box 9"/>
            <p:cNvSpPr/>
            <p:nvPr/>
          </p:nvSpPr>
          <p:spPr>
            <a:xfrm>
              <a:off x="6247440" y="2075040"/>
              <a:ext cx="913680" cy="28944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2000" spc="-1" strike="noStrike">
                  <a:solidFill>
                    <a:srgbClr val="00274d"/>
                  </a:solidFill>
                  <a:latin typeface="Corbel"/>
                  <a:ea typeface="Corbel"/>
                </a:rPr>
                <a:t>Video: </a:t>
              </a:r>
              <a:endParaRPr b="0" lang="en-US" sz="2000" spc="-1" strike="noStrike">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Creative Concepts II</a:t>
            </a:r>
            <a:endParaRPr b="0" lang="en-US" sz="4000" spc="-1" strike="noStrike">
              <a:latin typeface="Arial"/>
            </a:endParaRPr>
          </a:p>
        </p:txBody>
      </p:sp>
      <p:sp>
        <p:nvSpPr>
          <p:cNvPr id="362" name="Text Box 9"/>
          <p:cNvSpPr/>
          <p:nvPr/>
        </p:nvSpPr>
        <p:spPr>
          <a:xfrm>
            <a:off x="609480" y="1295280"/>
            <a:ext cx="3031560" cy="5788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2000" spc="-1" strike="noStrike">
                <a:solidFill>
                  <a:srgbClr val="00274d"/>
                </a:solidFill>
                <a:latin typeface="Corbel"/>
                <a:ea typeface="Corbel"/>
              </a:rPr>
              <a:t>Title:</a:t>
            </a:r>
            <a:endParaRPr b="0" lang="en-US" sz="2000" spc="-1" strike="noStrike">
              <a:latin typeface="Arial"/>
            </a:endParaRPr>
          </a:p>
          <a:p>
            <a:pPr>
              <a:lnSpc>
                <a:spcPct val="95000"/>
              </a:lnSpc>
              <a:buNone/>
            </a:pPr>
            <a:r>
              <a:rPr b="0" lang="en-US" sz="2000" spc="-1" strike="noStrike">
                <a:solidFill>
                  <a:srgbClr val="00274d"/>
                </a:solidFill>
                <a:latin typeface="Corbel"/>
                <a:ea typeface="Corbel"/>
              </a:rPr>
              <a:t>Length: </a:t>
            </a:r>
            <a:endParaRPr b="0" lang="en-US" sz="2000" spc="-1" strike="noStrike">
              <a:latin typeface="Arial"/>
            </a:endParaRPr>
          </a:p>
        </p:txBody>
      </p:sp>
      <p:grpSp>
        <p:nvGrpSpPr>
          <p:cNvPr id="363" name="Group 2"/>
          <p:cNvGrpSpPr/>
          <p:nvPr/>
        </p:nvGrpSpPr>
        <p:grpSpPr>
          <a:xfrm>
            <a:off x="455760" y="2057400"/>
            <a:ext cx="3963240" cy="4651560"/>
            <a:chOff x="455760" y="2057400"/>
            <a:chExt cx="3963240" cy="4651560"/>
          </a:xfrm>
        </p:grpSpPr>
        <p:pic>
          <p:nvPicPr>
            <p:cNvPr id="364" name="Picture 10" descr=""/>
            <p:cNvPicPr/>
            <p:nvPr/>
          </p:nvPicPr>
          <p:blipFill>
            <a:blip r:embed="rId1"/>
            <a:srcRect l="1121" t="1785" r="924" b="1417"/>
            <a:stretch/>
          </p:blipFill>
          <p:spPr>
            <a:xfrm>
              <a:off x="455760" y="2438280"/>
              <a:ext cx="3963240" cy="3884760"/>
            </a:xfrm>
            <a:prstGeom prst="rect">
              <a:avLst/>
            </a:prstGeom>
            <a:ln w="9525">
              <a:solidFill>
                <a:srgbClr val="00274d"/>
              </a:solidFill>
              <a:miter/>
            </a:ln>
          </p:spPr>
        </p:pic>
        <p:sp>
          <p:nvSpPr>
            <p:cNvPr id="365" name="Text Box 13"/>
            <p:cNvSpPr/>
            <p:nvPr/>
          </p:nvSpPr>
          <p:spPr>
            <a:xfrm>
              <a:off x="603000" y="2548080"/>
              <a:ext cx="3668400" cy="41608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Corbel"/>
                  <a:ea typeface="DejaVu Sans"/>
                </a:rPr>
                <a:t>Mark Smith Voicing</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Hi, I’m Mark Smith…owner of Premium Auto Centers and I recently learned that 18% of the children in our community are chronically hungry…that means that they do not know where their next meal is coming from.  While we can’t solve all the world’s problems…I am committed to making a difference in our own backyard.  That’s why from now through (date) visit any of our 4 Premium Auto Center locations and make a $10 donation to the FoodBank and I will give you a free oil change.  That’s right a donation of $10 gets you a $30 value oil change and a 45 point courtesy check.  Premium Auto Centers…taking care of you, your car and our community</a:t>
              </a:r>
              <a:endParaRPr b="0" lang="en-US" sz="14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p:txBody>
        </p:sp>
        <p:sp>
          <p:nvSpPr>
            <p:cNvPr id="366" name="Text Box 9"/>
            <p:cNvSpPr/>
            <p:nvPr/>
          </p:nvSpPr>
          <p:spPr>
            <a:xfrm>
              <a:off x="1980360" y="2057400"/>
              <a:ext cx="913680" cy="28944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2000" spc="-1" strike="noStrike">
                  <a:solidFill>
                    <a:srgbClr val="00274d"/>
                  </a:solidFill>
                  <a:latin typeface="Corbel"/>
                  <a:ea typeface="Corbel"/>
                </a:rPr>
                <a:t>Audio: </a:t>
              </a:r>
              <a:endParaRPr b="0" lang="en-US" sz="2000" spc="-1" strike="noStrike">
                <a:latin typeface="Arial"/>
              </a:endParaRPr>
            </a:p>
          </p:txBody>
        </p:sp>
      </p:grpSp>
      <p:sp>
        <p:nvSpPr>
          <p:cNvPr id="367"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AF153600-62FB-4CF6-B9F1-0CF752F3A5C7}" type="slidenum">
              <a:rPr b="0" lang="en-US" sz="1100" spc="-1" strike="noStrike">
                <a:solidFill>
                  <a:srgbClr val="ffffff"/>
                </a:solidFill>
                <a:latin typeface="Corbel"/>
                <a:ea typeface="Corbel"/>
              </a:rPr>
              <a:t>&lt;number&gt;</a:t>
            </a:fld>
            <a:endParaRPr b="0" lang="en-US" sz="1100" spc="-1" strike="noStrike">
              <a:latin typeface="Arial"/>
            </a:endParaRPr>
          </a:p>
        </p:txBody>
      </p:sp>
      <p:grpSp>
        <p:nvGrpSpPr>
          <p:cNvPr id="368" name="Group 1"/>
          <p:cNvGrpSpPr/>
          <p:nvPr/>
        </p:nvGrpSpPr>
        <p:grpSpPr>
          <a:xfrm>
            <a:off x="4724280" y="2057400"/>
            <a:ext cx="3963240" cy="4266360"/>
            <a:chOff x="4724280" y="2057400"/>
            <a:chExt cx="3963240" cy="4266360"/>
          </a:xfrm>
        </p:grpSpPr>
        <p:pic>
          <p:nvPicPr>
            <p:cNvPr id="369" name="Picture 10" descr=""/>
            <p:cNvPicPr/>
            <p:nvPr/>
          </p:nvPicPr>
          <p:blipFill>
            <a:blip r:embed="rId2"/>
            <a:srcRect l="1121" t="1785" r="924" b="1417"/>
            <a:stretch/>
          </p:blipFill>
          <p:spPr>
            <a:xfrm>
              <a:off x="4724280" y="2438280"/>
              <a:ext cx="3963240" cy="3885480"/>
            </a:xfrm>
            <a:prstGeom prst="rect">
              <a:avLst/>
            </a:prstGeom>
            <a:ln w="9525">
              <a:solidFill>
                <a:srgbClr val="00274d"/>
              </a:solidFill>
              <a:miter/>
            </a:ln>
          </p:spPr>
        </p:pic>
        <p:sp>
          <p:nvSpPr>
            <p:cNvPr id="370" name="Text Box 13"/>
            <p:cNvSpPr/>
            <p:nvPr/>
          </p:nvSpPr>
          <p:spPr>
            <a:xfrm>
              <a:off x="4871880" y="2548080"/>
              <a:ext cx="3668400" cy="332280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400" spc="-1" strike="noStrike">
                  <a:solidFill>
                    <a:srgbClr val="000000"/>
                  </a:solidFill>
                  <a:latin typeface="Corbel"/>
                  <a:ea typeface="DejaVu Sans"/>
                </a:rPr>
                <a:t>Filming Mark Smith at the (FoodBank) in front of the half stocked shelves of food.  </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Opening of Mark Smith introduction…followed by B-roll footage of the FoodBank location and outreach programs feeding kids.  Video back to Mark Smith for the close and tagline.  </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r>
                <a:rPr b="0" lang="en-US" sz="1400" spc="-1" strike="noStrike">
                  <a:solidFill>
                    <a:srgbClr val="000000"/>
                  </a:solidFill>
                  <a:latin typeface="Corbel"/>
                  <a:ea typeface="DejaVu Sans"/>
                </a:rPr>
                <a:t>Premium Auto Center logo, locations, telephone numbers and website on the bottom third throughout…as well as the FoodBank logo and website.  </a:t>
              </a:r>
              <a:endParaRPr b="0" lang="en-US" sz="1400" spc="-1" strike="noStrike">
                <a:latin typeface="Arial"/>
              </a:endParaRPr>
            </a:p>
            <a:p>
              <a:pPr>
                <a:lnSpc>
                  <a:spcPct val="95000"/>
                </a:lnSpc>
                <a:buNone/>
              </a:pPr>
              <a:endParaRPr b="0" lang="en-US" sz="14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p:txBody>
        </p:sp>
        <p:sp>
          <p:nvSpPr>
            <p:cNvPr id="371" name="Text Box 9"/>
            <p:cNvSpPr/>
            <p:nvPr/>
          </p:nvSpPr>
          <p:spPr>
            <a:xfrm>
              <a:off x="6249240" y="2057400"/>
              <a:ext cx="913680" cy="28944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2000" spc="-1" strike="noStrike">
                  <a:solidFill>
                    <a:srgbClr val="00274d"/>
                  </a:solidFill>
                  <a:latin typeface="Corbel"/>
                  <a:ea typeface="Corbel"/>
                </a:rPr>
                <a:t>Video: </a:t>
              </a:r>
              <a:endParaRPr b="0" lang="en-US" sz="2000" spc="-1" strike="noStrike">
                <a:latin typeface="Arial"/>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2" name="Picture 10" descr=""/>
          <p:cNvPicPr/>
          <p:nvPr/>
        </p:nvPicPr>
        <p:blipFill>
          <a:blip r:embed="rId1"/>
          <a:srcRect l="1121" t="1785" r="924" b="1417"/>
          <a:stretch/>
        </p:blipFill>
        <p:spPr>
          <a:xfrm>
            <a:off x="608040" y="1676520"/>
            <a:ext cx="7927200" cy="4277520"/>
          </a:xfrm>
          <a:prstGeom prst="rect">
            <a:avLst/>
          </a:prstGeom>
          <a:ln w="9525">
            <a:solidFill>
              <a:srgbClr val="00274d"/>
            </a:solidFill>
            <a:miter/>
          </a:ln>
        </p:spPr>
      </p:pic>
      <p:sp>
        <p:nvSpPr>
          <p:cNvPr id="373" name="Text Box 13"/>
          <p:cNvSpPr/>
          <p:nvPr/>
        </p:nvSpPr>
        <p:spPr>
          <a:xfrm>
            <a:off x="750960" y="1757520"/>
            <a:ext cx="7641360" cy="382428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300" spc="-1" strike="noStrike">
                <a:solidFill>
                  <a:srgbClr val="00274d"/>
                </a:solidFill>
                <a:latin typeface="Corbel"/>
                <a:ea typeface="Corbel"/>
              </a:rPr>
              <a:t>Replace this text with your Digital/Mobile/Social strategies.</a:t>
            </a:r>
            <a:endParaRPr b="0" lang="en-US" sz="13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a:p>
            <a:pPr>
              <a:lnSpc>
                <a:spcPct val="95000"/>
              </a:lnSpc>
              <a:buNone/>
            </a:pPr>
            <a:endParaRPr b="0" lang="en-US" sz="1200" spc="-1" strike="noStrike">
              <a:latin typeface="Arial"/>
            </a:endParaRPr>
          </a:p>
        </p:txBody>
      </p:sp>
      <p:sp>
        <p:nvSpPr>
          <p:cNvPr id="374"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Digital/Mobile/Social Strategies</a:t>
            </a:r>
            <a:endParaRPr b="0" lang="en-US" sz="4000" spc="-1" strike="noStrike">
              <a:latin typeface="Arial"/>
            </a:endParaRPr>
          </a:p>
        </p:txBody>
      </p:sp>
      <p:sp>
        <p:nvSpPr>
          <p:cNvPr id="375"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8E01E70F-3D2E-46BD-949D-6AC48F827B9A}" type="slidenum">
              <a:rPr b="0" lang="en-US" sz="1100" spc="-1" strike="noStrike">
                <a:solidFill>
                  <a:srgbClr val="ffffff"/>
                </a:solidFill>
                <a:latin typeface="Corbel"/>
                <a:ea typeface="Corbel"/>
              </a:rPr>
              <a:t>&lt;number&gt;</a:t>
            </a:fld>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48DAA448-8927-4B5D-BB6C-92A16AB8C62D}"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377"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Long Range Strategic Plans </a:t>
            </a:r>
            <a:endParaRPr b="0" lang="en-US" sz="4000" spc="-1" strike="noStrike">
              <a:latin typeface="Arial"/>
            </a:endParaRPr>
          </a:p>
        </p:txBody>
      </p:sp>
      <p:sp>
        <p:nvSpPr>
          <p:cNvPr id="378" name="Rectangle 1"/>
          <p:cNvSpPr/>
          <p:nvPr/>
        </p:nvSpPr>
        <p:spPr>
          <a:xfrm>
            <a:off x="152280" y="2009880"/>
            <a:ext cx="2133000" cy="379080"/>
          </a:xfrm>
          <a:prstGeom prst="rect">
            <a:avLst/>
          </a:prstGeom>
          <a:noFill/>
          <a:ln w="0">
            <a:noFill/>
          </a:ln>
        </p:spPr>
        <p:style>
          <a:lnRef idx="0"/>
          <a:fillRef idx="0"/>
          <a:effectRef idx="0"/>
          <a:fontRef idx="minor"/>
        </p:style>
        <p:txBody>
          <a:bodyPr lIns="90000" rIns="90000" tIns="45000" bIns="45000" anchor="t">
            <a:spAutoFit/>
          </a:bodyPr>
          <a:p>
            <a:pPr marL="168120" indent="-19080" algn="r">
              <a:lnSpc>
                <a:spcPct val="95000"/>
              </a:lnSpc>
              <a:buNone/>
              <a:tabLst>
                <a:tab algn="l" pos="0"/>
              </a:tabLst>
            </a:pPr>
            <a:r>
              <a:rPr b="0" lang="en-US" sz="2000" spc="-1" strike="noStrike">
                <a:solidFill>
                  <a:srgbClr val="00274d"/>
                </a:solidFill>
                <a:latin typeface="Corbel"/>
                <a:ea typeface="Corbel"/>
              </a:rPr>
              <a:t>SATURATION</a:t>
            </a:r>
            <a:endParaRPr b="0" lang="en-US" sz="2000" spc="-1" strike="noStrike">
              <a:latin typeface="Arial"/>
            </a:endParaRPr>
          </a:p>
        </p:txBody>
      </p:sp>
      <p:sp>
        <p:nvSpPr>
          <p:cNvPr id="379" name="Rectangle 17"/>
          <p:cNvSpPr/>
          <p:nvPr/>
        </p:nvSpPr>
        <p:spPr>
          <a:xfrm>
            <a:off x="152280" y="3565440"/>
            <a:ext cx="2133000" cy="379080"/>
          </a:xfrm>
          <a:prstGeom prst="rect">
            <a:avLst/>
          </a:prstGeom>
          <a:noFill/>
          <a:ln w="0">
            <a:noFill/>
          </a:ln>
        </p:spPr>
        <p:style>
          <a:lnRef idx="0"/>
          <a:fillRef idx="0"/>
          <a:effectRef idx="0"/>
          <a:fontRef idx="minor"/>
        </p:style>
        <p:txBody>
          <a:bodyPr lIns="90000" rIns="90000" tIns="45000" bIns="45000" anchor="t">
            <a:spAutoFit/>
          </a:bodyPr>
          <a:p>
            <a:pPr marL="168120" indent="-19080" algn="r">
              <a:lnSpc>
                <a:spcPct val="95000"/>
              </a:lnSpc>
              <a:buNone/>
              <a:tabLst>
                <a:tab algn="l" pos="0"/>
              </a:tabLst>
            </a:pPr>
            <a:r>
              <a:rPr b="0" lang="en-US" sz="2000" spc="-1" strike="noStrike">
                <a:solidFill>
                  <a:srgbClr val="00274d"/>
                </a:solidFill>
                <a:latin typeface="Corbel"/>
                <a:ea typeface="Corbel"/>
              </a:rPr>
              <a:t>PENETRATION</a:t>
            </a:r>
            <a:endParaRPr b="0" lang="en-US" sz="2000" spc="-1" strike="noStrike">
              <a:latin typeface="Arial"/>
            </a:endParaRPr>
          </a:p>
        </p:txBody>
      </p:sp>
      <p:sp>
        <p:nvSpPr>
          <p:cNvPr id="380" name="Rectangle 18"/>
          <p:cNvSpPr/>
          <p:nvPr/>
        </p:nvSpPr>
        <p:spPr>
          <a:xfrm>
            <a:off x="152280" y="5172120"/>
            <a:ext cx="2133000" cy="379080"/>
          </a:xfrm>
          <a:prstGeom prst="rect">
            <a:avLst/>
          </a:prstGeom>
          <a:noFill/>
          <a:ln w="0">
            <a:noFill/>
          </a:ln>
        </p:spPr>
        <p:style>
          <a:lnRef idx="0"/>
          <a:fillRef idx="0"/>
          <a:effectRef idx="0"/>
          <a:fontRef idx="minor"/>
        </p:style>
        <p:txBody>
          <a:bodyPr lIns="90000" rIns="90000" tIns="45000" bIns="45000" anchor="t">
            <a:spAutoFit/>
          </a:bodyPr>
          <a:p>
            <a:pPr marL="168120" indent="-19080" algn="r">
              <a:lnSpc>
                <a:spcPct val="95000"/>
              </a:lnSpc>
              <a:buNone/>
              <a:tabLst>
                <a:tab algn="l" pos="0"/>
              </a:tabLst>
            </a:pPr>
            <a:r>
              <a:rPr b="0" lang="en-US" sz="2000" spc="-1" strike="noStrike">
                <a:solidFill>
                  <a:srgbClr val="00274d"/>
                </a:solidFill>
                <a:latin typeface="Corbel"/>
                <a:ea typeface="Corbel"/>
              </a:rPr>
              <a:t>DOMINANCE</a:t>
            </a:r>
            <a:endParaRPr b="0" lang="en-US" sz="2000" spc="-1" strike="noStrike">
              <a:latin typeface="Arial"/>
            </a:endParaRPr>
          </a:p>
        </p:txBody>
      </p:sp>
      <p:sp>
        <p:nvSpPr>
          <p:cNvPr id="381" name="Right Arrow 19"/>
          <p:cNvSpPr/>
          <p:nvPr/>
        </p:nvSpPr>
        <p:spPr>
          <a:xfrm>
            <a:off x="2484360" y="1905120"/>
            <a:ext cx="1324800" cy="596160"/>
          </a:xfrm>
          <a:prstGeom prst="rightArrow">
            <a:avLst>
              <a:gd name="adj1" fmla="val 50000"/>
              <a:gd name="adj2" fmla="val 50000"/>
            </a:avLst>
          </a:prstGeom>
          <a:solidFill>
            <a:srgbClr val="121b2f"/>
          </a:solidFill>
          <a:ln>
            <a:noFill/>
          </a:ln>
        </p:spPr>
        <p:style>
          <a:lnRef idx="2">
            <a:schemeClr val="accent1">
              <a:shade val="50000"/>
            </a:schemeClr>
          </a:lnRef>
          <a:fillRef idx="1">
            <a:schemeClr val="accent1"/>
          </a:fillRef>
          <a:effectRef idx="0">
            <a:schemeClr val="accent1"/>
          </a:effectRef>
          <a:fontRef idx="minor"/>
        </p:style>
      </p:sp>
      <p:sp>
        <p:nvSpPr>
          <p:cNvPr id="382" name="Right Arrow 20"/>
          <p:cNvSpPr/>
          <p:nvPr/>
        </p:nvSpPr>
        <p:spPr>
          <a:xfrm>
            <a:off x="2484360" y="3424320"/>
            <a:ext cx="1324800" cy="669240"/>
          </a:xfrm>
          <a:prstGeom prst="rightArrow">
            <a:avLst>
              <a:gd name="adj1" fmla="val 50000"/>
              <a:gd name="adj2" fmla="val 49943"/>
            </a:avLst>
          </a:prstGeom>
          <a:solidFill>
            <a:srgbClr val="4e5e53"/>
          </a:solidFill>
          <a:ln w="0">
            <a:noFill/>
          </a:ln>
        </p:spPr>
        <p:style>
          <a:lnRef idx="0"/>
          <a:fillRef idx="0"/>
          <a:effectRef idx="0"/>
          <a:fontRef idx="minor"/>
        </p:style>
      </p:sp>
      <p:sp>
        <p:nvSpPr>
          <p:cNvPr id="383" name="Right Arrow 21"/>
          <p:cNvSpPr/>
          <p:nvPr/>
        </p:nvSpPr>
        <p:spPr>
          <a:xfrm>
            <a:off x="2484360" y="5030640"/>
            <a:ext cx="1324800" cy="669240"/>
          </a:xfrm>
          <a:prstGeom prst="rightArrow">
            <a:avLst>
              <a:gd name="adj1" fmla="val 50000"/>
              <a:gd name="adj2" fmla="val 49943"/>
            </a:avLst>
          </a:prstGeom>
          <a:solidFill>
            <a:srgbClr val="a5a172"/>
          </a:solidFill>
          <a:ln w="0">
            <a:noFill/>
          </a:ln>
        </p:spPr>
        <p:style>
          <a:lnRef idx="0"/>
          <a:fillRef idx="0"/>
          <a:effectRef idx="0"/>
          <a:fontRef idx="minor"/>
        </p:style>
      </p:sp>
      <p:sp>
        <p:nvSpPr>
          <p:cNvPr id="384" name="Rectangle 22"/>
          <p:cNvSpPr/>
          <p:nvPr/>
        </p:nvSpPr>
        <p:spPr>
          <a:xfrm>
            <a:off x="3657600" y="2009880"/>
            <a:ext cx="1751760" cy="379080"/>
          </a:xfrm>
          <a:prstGeom prst="rect">
            <a:avLst/>
          </a:prstGeom>
          <a:noFill/>
          <a:ln w="0">
            <a:noFill/>
          </a:ln>
        </p:spPr>
        <p:style>
          <a:lnRef idx="0"/>
          <a:fillRef idx="0"/>
          <a:effectRef idx="0"/>
          <a:fontRef idx="minor"/>
        </p:style>
        <p:txBody>
          <a:bodyPr lIns="90000" rIns="90000" tIns="45000" bIns="45000" anchor="t">
            <a:spAutoFit/>
          </a:bodyPr>
          <a:p>
            <a:pPr marL="168120" indent="-19080" algn="ctr">
              <a:lnSpc>
                <a:spcPct val="95000"/>
              </a:lnSpc>
              <a:buNone/>
              <a:tabLst>
                <a:tab algn="l" pos="0"/>
              </a:tabLst>
            </a:pPr>
            <a:r>
              <a:rPr b="0" lang="en-US" sz="2000" spc="-1" strike="noStrike">
                <a:solidFill>
                  <a:srgbClr val="00274d"/>
                </a:solidFill>
                <a:latin typeface="Corbel"/>
                <a:ea typeface="Corbel"/>
              </a:rPr>
              <a:t>13 WEEKS</a:t>
            </a:r>
            <a:endParaRPr b="0" lang="en-US" sz="2000" spc="-1" strike="noStrike">
              <a:latin typeface="Arial"/>
            </a:endParaRPr>
          </a:p>
        </p:txBody>
      </p:sp>
      <p:sp>
        <p:nvSpPr>
          <p:cNvPr id="385" name="Rectangle 23"/>
          <p:cNvSpPr/>
          <p:nvPr/>
        </p:nvSpPr>
        <p:spPr>
          <a:xfrm>
            <a:off x="3657600" y="3565440"/>
            <a:ext cx="1751760" cy="379080"/>
          </a:xfrm>
          <a:prstGeom prst="rect">
            <a:avLst/>
          </a:prstGeom>
          <a:noFill/>
          <a:ln w="0">
            <a:noFill/>
          </a:ln>
        </p:spPr>
        <p:style>
          <a:lnRef idx="0"/>
          <a:fillRef idx="0"/>
          <a:effectRef idx="0"/>
          <a:fontRef idx="minor"/>
        </p:style>
        <p:txBody>
          <a:bodyPr lIns="90000" rIns="90000" tIns="45000" bIns="45000" anchor="t">
            <a:spAutoFit/>
          </a:bodyPr>
          <a:p>
            <a:pPr marL="168120" indent="-19080" algn="ctr">
              <a:lnSpc>
                <a:spcPct val="95000"/>
              </a:lnSpc>
              <a:buNone/>
              <a:tabLst>
                <a:tab algn="l" pos="0"/>
              </a:tabLst>
            </a:pPr>
            <a:r>
              <a:rPr b="0" lang="en-US" sz="2000" spc="-1" strike="noStrike">
                <a:solidFill>
                  <a:srgbClr val="00274d"/>
                </a:solidFill>
                <a:latin typeface="Corbel"/>
                <a:ea typeface="Corbel"/>
              </a:rPr>
              <a:t>26 WEEKS</a:t>
            </a:r>
            <a:endParaRPr b="0" lang="en-US" sz="2000" spc="-1" strike="noStrike">
              <a:latin typeface="Arial"/>
            </a:endParaRPr>
          </a:p>
        </p:txBody>
      </p:sp>
      <p:sp>
        <p:nvSpPr>
          <p:cNvPr id="386" name="Rectangle 24"/>
          <p:cNvSpPr/>
          <p:nvPr/>
        </p:nvSpPr>
        <p:spPr>
          <a:xfrm>
            <a:off x="3657600" y="5172120"/>
            <a:ext cx="1751760" cy="379080"/>
          </a:xfrm>
          <a:prstGeom prst="rect">
            <a:avLst/>
          </a:prstGeom>
          <a:noFill/>
          <a:ln w="0">
            <a:noFill/>
          </a:ln>
        </p:spPr>
        <p:style>
          <a:lnRef idx="0"/>
          <a:fillRef idx="0"/>
          <a:effectRef idx="0"/>
          <a:fontRef idx="minor"/>
        </p:style>
        <p:txBody>
          <a:bodyPr lIns="90000" rIns="90000" tIns="45000" bIns="45000" anchor="t">
            <a:spAutoFit/>
          </a:bodyPr>
          <a:p>
            <a:pPr marL="168120" indent="-19080" algn="ctr">
              <a:lnSpc>
                <a:spcPct val="95000"/>
              </a:lnSpc>
              <a:buNone/>
              <a:tabLst>
                <a:tab algn="l" pos="0"/>
              </a:tabLst>
            </a:pPr>
            <a:r>
              <a:rPr b="0" lang="en-US" sz="2000" spc="-1" strike="noStrike">
                <a:solidFill>
                  <a:srgbClr val="00274d"/>
                </a:solidFill>
                <a:latin typeface="Corbel"/>
                <a:ea typeface="Corbel"/>
              </a:rPr>
              <a:t>52 WEEKS</a:t>
            </a:r>
            <a:endParaRPr b="0" lang="en-US" sz="2000" spc="-1" strike="noStrike">
              <a:latin typeface="Arial"/>
            </a:endParaRPr>
          </a:p>
        </p:txBody>
      </p:sp>
      <p:sp>
        <p:nvSpPr>
          <p:cNvPr id="387" name="Rectangle 31"/>
          <p:cNvSpPr/>
          <p:nvPr/>
        </p:nvSpPr>
        <p:spPr>
          <a:xfrm>
            <a:off x="6781680" y="2009880"/>
            <a:ext cx="2133000" cy="379080"/>
          </a:xfrm>
          <a:prstGeom prst="rect">
            <a:avLst/>
          </a:prstGeom>
          <a:noFill/>
          <a:ln w="0">
            <a:noFill/>
          </a:ln>
        </p:spPr>
        <p:style>
          <a:lnRef idx="0"/>
          <a:fillRef idx="0"/>
          <a:effectRef idx="0"/>
          <a:fontRef idx="minor"/>
        </p:style>
        <p:txBody>
          <a:bodyPr lIns="90000" rIns="90000" tIns="45000" bIns="45000" anchor="t">
            <a:spAutoFit/>
          </a:bodyPr>
          <a:p>
            <a:pPr marL="168120" indent="-19080">
              <a:lnSpc>
                <a:spcPct val="95000"/>
              </a:lnSpc>
              <a:buNone/>
              <a:tabLst>
                <a:tab algn="l" pos="0"/>
              </a:tabLst>
            </a:pPr>
            <a:r>
              <a:rPr b="0" lang="en-US" sz="2000" spc="-1" strike="noStrike">
                <a:solidFill>
                  <a:srgbClr val="00274d"/>
                </a:solidFill>
                <a:latin typeface="Corbel"/>
                <a:ea typeface="Corbel"/>
              </a:rPr>
              <a:t>AWARENESS</a:t>
            </a:r>
            <a:endParaRPr b="0" lang="en-US" sz="2000" spc="-1" strike="noStrike">
              <a:latin typeface="Arial"/>
            </a:endParaRPr>
          </a:p>
        </p:txBody>
      </p:sp>
      <p:sp>
        <p:nvSpPr>
          <p:cNvPr id="388" name="Rectangle 32"/>
          <p:cNvSpPr/>
          <p:nvPr/>
        </p:nvSpPr>
        <p:spPr>
          <a:xfrm>
            <a:off x="6781680" y="3565440"/>
            <a:ext cx="2133000" cy="379080"/>
          </a:xfrm>
          <a:prstGeom prst="rect">
            <a:avLst/>
          </a:prstGeom>
          <a:noFill/>
          <a:ln w="0">
            <a:noFill/>
          </a:ln>
        </p:spPr>
        <p:style>
          <a:lnRef idx="0"/>
          <a:fillRef idx="0"/>
          <a:effectRef idx="0"/>
          <a:fontRef idx="minor"/>
        </p:style>
        <p:txBody>
          <a:bodyPr lIns="90000" rIns="90000" tIns="45000" bIns="45000" anchor="t">
            <a:spAutoFit/>
          </a:bodyPr>
          <a:p>
            <a:pPr marL="168120" indent="-19080">
              <a:lnSpc>
                <a:spcPct val="95000"/>
              </a:lnSpc>
              <a:buNone/>
              <a:tabLst>
                <a:tab algn="l" pos="0"/>
              </a:tabLst>
            </a:pPr>
            <a:r>
              <a:rPr b="0" lang="en-US" sz="2000" spc="-1" strike="noStrike">
                <a:solidFill>
                  <a:srgbClr val="00274d"/>
                </a:solidFill>
                <a:latin typeface="Corbel"/>
                <a:ea typeface="Corbel"/>
              </a:rPr>
              <a:t>RECOGNITION</a:t>
            </a:r>
            <a:endParaRPr b="0" lang="en-US" sz="2000" spc="-1" strike="noStrike">
              <a:latin typeface="Arial"/>
            </a:endParaRPr>
          </a:p>
        </p:txBody>
      </p:sp>
      <p:sp>
        <p:nvSpPr>
          <p:cNvPr id="389" name="Rectangle 33"/>
          <p:cNvSpPr/>
          <p:nvPr/>
        </p:nvSpPr>
        <p:spPr>
          <a:xfrm>
            <a:off x="6781680" y="5172120"/>
            <a:ext cx="2133000" cy="379080"/>
          </a:xfrm>
          <a:prstGeom prst="rect">
            <a:avLst/>
          </a:prstGeom>
          <a:noFill/>
          <a:ln w="0">
            <a:noFill/>
          </a:ln>
        </p:spPr>
        <p:style>
          <a:lnRef idx="0"/>
          <a:fillRef idx="0"/>
          <a:effectRef idx="0"/>
          <a:fontRef idx="minor"/>
        </p:style>
        <p:txBody>
          <a:bodyPr lIns="90000" rIns="90000" tIns="45000" bIns="45000" anchor="t">
            <a:spAutoFit/>
          </a:bodyPr>
          <a:p>
            <a:pPr marL="168120" indent="-19080">
              <a:lnSpc>
                <a:spcPct val="95000"/>
              </a:lnSpc>
              <a:buNone/>
              <a:tabLst>
                <a:tab algn="l" pos="0"/>
              </a:tabLst>
            </a:pPr>
            <a:r>
              <a:rPr b="0" lang="en-US" sz="2000" spc="-1" strike="noStrike">
                <a:solidFill>
                  <a:srgbClr val="00274d"/>
                </a:solidFill>
                <a:latin typeface="Corbel"/>
                <a:ea typeface="Corbel"/>
              </a:rPr>
              <a:t>ACCEPTANCE</a:t>
            </a:r>
            <a:endParaRPr b="0" lang="en-US" sz="2000" spc="-1" strike="noStrike">
              <a:latin typeface="Arial"/>
            </a:endParaRPr>
          </a:p>
        </p:txBody>
      </p:sp>
      <p:sp>
        <p:nvSpPr>
          <p:cNvPr id="390" name="Right Arrow 34"/>
          <p:cNvSpPr/>
          <p:nvPr/>
        </p:nvSpPr>
        <p:spPr>
          <a:xfrm>
            <a:off x="5486400" y="1905120"/>
            <a:ext cx="1324800" cy="596160"/>
          </a:xfrm>
          <a:prstGeom prst="rightArrow">
            <a:avLst>
              <a:gd name="adj1" fmla="val 50000"/>
              <a:gd name="adj2" fmla="val 50000"/>
            </a:avLst>
          </a:prstGeom>
          <a:solidFill>
            <a:srgbClr val="121b2f"/>
          </a:solidFill>
          <a:ln>
            <a:noFill/>
          </a:ln>
        </p:spPr>
        <p:style>
          <a:lnRef idx="2">
            <a:schemeClr val="accent1">
              <a:shade val="50000"/>
            </a:schemeClr>
          </a:lnRef>
          <a:fillRef idx="1">
            <a:schemeClr val="accent1"/>
          </a:fillRef>
          <a:effectRef idx="0">
            <a:schemeClr val="accent1"/>
          </a:effectRef>
          <a:fontRef idx="minor"/>
        </p:style>
      </p:sp>
      <p:sp>
        <p:nvSpPr>
          <p:cNvPr id="391" name="Right Arrow 35"/>
          <p:cNvSpPr/>
          <p:nvPr/>
        </p:nvSpPr>
        <p:spPr>
          <a:xfrm>
            <a:off x="5486400" y="3424320"/>
            <a:ext cx="1324800" cy="669240"/>
          </a:xfrm>
          <a:prstGeom prst="rightArrow">
            <a:avLst>
              <a:gd name="adj1" fmla="val 50000"/>
              <a:gd name="adj2" fmla="val 49943"/>
            </a:avLst>
          </a:prstGeom>
          <a:solidFill>
            <a:srgbClr val="4e5e53"/>
          </a:solidFill>
          <a:ln w="0">
            <a:noFill/>
          </a:ln>
        </p:spPr>
        <p:style>
          <a:lnRef idx="0"/>
          <a:fillRef idx="0"/>
          <a:effectRef idx="0"/>
          <a:fontRef idx="minor"/>
        </p:style>
      </p:sp>
      <p:sp>
        <p:nvSpPr>
          <p:cNvPr id="392" name="Right Arrow 36"/>
          <p:cNvSpPr/>
          <p:nvPr/>
        </p:nvSpPr>
        <p:spPr>
          <a:xfrm>
            <a:off x="5486400" y="5030640"/>
            <a:ext cx="1324800" cy="669240"/>
          </a:xfrm>
          <a:prstGeom prst="rightArrow">
            <a:avLst>
              <a:gd name="adj1" fmla="val 50000"/>
              <a:gd name="adj2" fmla="val 49943"/>
            </a:avLst>
          </a:prstGeom>
          <a:solidFill>
            <a:srgbClr val="a5a172"/>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FD31F07F-E7BE-4EA6-B1E7-33CABD2F13E9}" type="slidenum">
              <a:rPr b="0" lang="en-US" sz="1100" spc="-1" strike="noStrike">
                <a:solidFill>
                  <a:srgbClr val="ffffff"/>
                </a:solidFill>
                <a:latin typeface="Corbel"/>
                <a:ea typeface="Corbel"/>
              </a:rPr>
              <a:t>&lt;number&gt;</a:t>
            </a:fld>
            <a:endParaRPr b="0" lang="en-US" sz="1100" spc="-1" strike="noStrike">
              <a:latin typeface="Arial"/>
            </a:endParaRPr>
          </a:p>
        </p:txBody>
      </p:sp>
      <p:grpSp>
        <p:nvGrpSpPr>
          <p:cNvPr id="394" name="Group 22"/>
          <p:cNvGrpSpPr/>
          <p:nvPr/>
        </p:nvGrpSpPr>
        <p:grpSpPr>
          <a:xfrm>
            <a:off x="952560" y="2057400"/>
            <a:ext cx="7238160" cy="740880"/>
            <a:chOff x="952560" y="2057400"/>
            <a:chExt cx="7238160" cy="740880"/>
          </a:xfrm>
        </p:grpSpPr>
        <p:sp>
          <p:nvSpPr>
            <p:cNvPr id="395" name="TextBox 5"/>
            <p:cNvSpPr/>
            <p:nvPr/>
          </p:nvSpPr>
          <p:spPr>
            <a:xfrm>
              <a:off x="2552760" y="2057400"/>
              <a:ext cx="5637960" cy="740880"/>
            </a:xfrm>
            <a:prstGeom prst="roundRect">
              <a:avLst>
                <a:gd name="adj" fmla="val 16667"/>
              </a:avLst>
            </a:prstGeom>
            <a:solidFill>
              <a:srgbClr val="ffffff"/>
            </a:solidFill>
            <a:ln>
              <a:solidFill>
                <a:srgbClr val="0f1a31"/>
              </a:solidFill>
              <a:round/>
            </a:ln>
          </p:spPr>
          <p:style>
            <a:lnRef idx="2">
              <a:schemeClr val="dk1"/>
            </a:lnRef>
            <a:fillRef idx="1">
              <a:schemeClr val="lt1"/>
            </a:fillRef>
            <a:effectRef idx="0">
              <a:schemeClr val="dk1"/>
            </a:effectRef>
            <a:fontRef idx="minor"/>
          </p:style>
          <p:txBody>
            <a:bodyPr lIns="90000" rIns="90000" tIns="45000" bIns="45000" anchor="t">
              <a:spAutoFit/>
            </a:bodyPr>
            <a:p>
              <a:pPr marL="168120" indent="-19080">
                <a:lnSpc>
                  <a:spcPct val="95000"/>
                </a:lnSpc>
                <a:buNone/>
                <a:tabLst>
                  <a:tab algn="l" pos="0"/>
                </a:tabLst>
              </a:pPr>
              <a:r>
                <a:rPr b="0" lang="en-US" sz="2000" spc="-1" strike="noStrike">
                  <a:solidFill>
                    <a:srgbClr val="00274d"/>
                  </a:solidFill>
                  <a:latin typeface="Corbel"/>
                  <a:ea typeface="DejaVu Sans"/>
                </a:rPr>
                <a:t>Long-term investments placed for a year usually achieve lower rates.</a:t>
              </a:r>
              <a:endParaRPr b="0" lang="en-US" sz="2000" spc="-1" strike="noStrike">
                <a:latin typeface="Arial"/>
              </a:endParaRPr>
            </a:p>
          </p:txBody>
        </p:sp>
        <p:sp>
          <p:nvSpPr>
            <p:cNvPr id="396" name="Right Arrow 10"/>
            <p:cNvSpPr/>
            <p:nvPr/>
          </p:nvSpPr>
          <p:spPr>
            <a:xfrm>
              <a:off x="952560" y="2090880"/>
              <a:ext cx="1523160" cy="685080"/>
            </a:xfrm>
            <a:prstGeom prst="rightArrow">
              <a:avLst>
                <a:gd name="adj1" fmla="val 50000"/>
                <a:gd name="adj2" fmla="val 50000"/>
              </a:avLst>
            </a:prstGeom>
            <a:solidFill>
              <a:srgbClr val="121b2f"/>
            </a:solidFill>
            <a:ln>
              <a:noFill/>
            </a:ln>
          </p:spPr>
          <p:style>
            <a:lnRef idx="2">
              <a:schemeClr val="accent1">
                <a:shade val="50000"/>
              </a:schemeClr>
            </a:lnRef>
            <a:fillRef idx="1">
              <a:schemeClr val="accent1"/>
            </a:fillRef>
            <a:effectRef idx="0">
              <a:schemeClr val="accent1"/>
            </a:effectRef>
            <a:fontRef idx="minor"/>
          </p:style>
        </p:sp>
      </p:grpSp>
      <p:grpSp>
        <p:nvGrpSpPr>
          <p:cNvPr id="397" name="Group 21"/>
          <p:cNvGrpSpPr/>
          <p:nvPr/>
        </p:nvGrpSpPr>
        <p:grpSpPr>
          <a:xfrm>
            <a:off x="952560" y="2900520"/>
            <a:ext cx="7238160" cy="769320"/>
            <a:chOff x="952560" y="2900520"/>
            <a:chExt cx="7238160" cy="769320"/>
          </a:xfrm>
        </p:grpSpPr>
        <p:sp>
          <p:nvSpPr>
            <p:cNvPr id="398" name="TextBox 6"/>
            <p:cNvSpPr/>
            <p:nvPr/>
          </p:nvSpPr>
          <p:spPr>
            <a:xfrm>
              <a:off x="2552760" y="2910600"/>
              <a:ext cx="5637960" cy="740880"/>
            </a:xfrm>
            <a:prstGeom prst="roundRect">
              <a:avLst>
                <a:gd name="adj" fmla="val 16667"/>
              </a:avLst>
            </a:prstGeom>
            <a:noFill/>
            <a:ln w="19050">
              <a:solidFill>
                <a:srgbClr val="2f424a"/>
              </a:solidFill>
              <a:round/>
            </a:ln>
            <a:scene3d>
              <a:camera prst="orthographicFront"/>
              <a:lightRig dir="t" rig="threePt"/>
            </a:scene3d>
          </p:spPr>
          <p:style>
            <a:lnRef idx="0"/>
            <a:fillRef idx="0"/>
            <a:effectRef idx="0"/>
            <a:fontRef idx="minor"/>
          </p:style>
          <p:txBody>
            <a:bodyPr lIns="90000" rIns="90000" tIns="45000" bIns="45000" anchor="t">
              <a:spAutoFit/>
            </a:bodyPr>
            <a:p>
              <a:pPr marL="168120" indent="-19080">
                <a:lnSpc>
                  <a:spcPct val="95000"/>
                </a:lnSpc>
                <a:buNone/>
                <a:tabLst>
                  <a:tab algn="l" pos="0"/>
                </a:tabLst>
              </a:pPr>
              <a:r>
                <a:rPr b="0" lang="en-US" sz="2000" spc="-1" strike="noStrike">
                  <a:solidFill>
                    <a:srgbClr val="00274d"/>
                  </a:solidFill>
                  <a:latin typeface="Corbel"/>
                  <a:ea typeface="Corbel"/>
                </a:rPr>
                <a:t>Advertising “Away from the Clutter” gains the competitive edge.</a:t>
              </a:r>
              <a:endParaRPr b="0" lang="en-US" sz="2000" spc="-1" strike="noStrike">
                <a:latin typeface="Arial"/>
              </a:endParaRPr>
            </a:p>
          </p:txBody>
        </p:sp>
        <p:sp>
          <p:nvSpPr>
            <p:cNvPr id="399" name="Right Arrow 11"/>
            <p:cNvSpPr/>
            <p:nvPr/>
          </p:nvSpPr>
          <p:spPr>
            <a:xfrm>
              <a:off x="952560" y="2900520"/>
              <a:ext cx="1523160" cy="769320"/>
            </a:xfrm>
            <a:prstGeom prst="rightArrow">
              <a:avLst>
                <a:gd name="adj1" fmla="val 50000"/>
                <a:gd name="adj2" fmla="val 50001"/>
              </a:avLst>
            </a:prstGeom>
            <a:solidFill>
              <a:srgbClr val="2f424a"/>
            </a:solidFill>
            <a:ln w="0">
              <a:noFill/>
            </a:ln>
          </p:spPr>
          <p:style>
            <a:lnRef idx="0"/>
            <a:fillRef idx="0"/>
            <a:effectRef idx="0"/>
            <a:fontRef idx="minor"/>
          </p:style>
        </p:sp>
      </p:grpSp>
      <p:grpSp>
        <p:nvGrpSpPr>
          <p:cNvPr id="400" name="Group 2"/>
          <p:cNvGrpSpPr/>
          <p:nvPr/>
        </p:nvGrpSpPr>
        <p:grpSpPr>
          <a:xfrm>
            <a:off x="952560" y="5484960"/>
            <a:ext cx="7238160" cy="767520"/>
            <a:chOff x="952560" y="5484960"/>
            <a:chExt cx="7238160" cy="767520"/>
          </a:xfrm>
        </p:grpSpPr>
        <p:sp>
          <p:nvSpPr>
            <p:cNvPr id="401" name="TextBox 9"/>
            <p:cNvSpPr/>
            <p:nvPr/>
          </p:nvSpPr>
          <p:spPr>
            <a:xfrm>
              <a:off x="2552760" y="5495040"/>
              <a:ext cx="5637960" cy="740880"/>
            </a:xfrm>
            <a:prstGeom prst="roundRect">
              <a:avLst>
                <a:gd name="adj" fmla="val 16667"/>
              </a:avLst>
            </a:prstGeom>
            <a:noFill/>
            <a:ln w="19050">
              <a:solidFill>
                <a:srgbClr val="a5a172"/>
              </a:solidFill>
              <a:round/>
            </a:ln>
            <a:scene3d>
              <a:camera prst="orthographicFront"/>
              <a:lightRig dir="t" rig="threePt"/>
            </a:scene3d>
          </p:spPr>
          <p:style>
            <a:lnRef idx="0"/>
            <a:fillRef idx="0"/>
            <a:effectRef idx="0"/>
            <a:fontRef idx="minor"/>
          </p:style>
          <p:txBody>
            <a:bodyPr lIns="90000" rIns="90000" tIns="45000" bIns="45000" anchor="t">
              <a:spAutoFit/>
            </a:bodyPr>
            <a:p>
              <a:pPr marL="168120" indent="-19080">
                <a:lnSpc>
                  <a:spcPct val="95000"/>
                </a:lnSpc>
                <a:buNone/>
                <a:tabLst>
                  <a:tab algn="l" pos="0"/>
                </a:tabLst>
              </a:pPr>
              <a:r>
                <a:rPr b="0" lang="en-US" sz="2000" spc="-1" strike="noStrike">
                  <a:solidFill>
                    <a:srgbClr val="00274d"/>
                  </a:solidFill>
                  <a:latin typeface="Corbel"/>
                  <a:ea typeface="DejaVu Sans"/>
                </a:rPr>
                <a:t>All successful businesses consider long-range strategic planning a smart business decision.</a:t>
              </a:r>
              <a:endParaRPr b="0" lang="en-US" sz="2000" spc="-1" strike="noStrike">
                <a:latin typeface="Arial"/>
              </a:endParaRPr>
            </a:p>
          </p:txBody>
        </p:sp>
        <p:sp>
          <p:nvSpPr>
            <p:cNvPr id="402" name="Right Arrow 14"/>
            <p:cNvSpPr/>
            <p:nvPr/>
          </p:nvSpPr>
          <p:spPr>
            <a:xfrm>
              <a:off x="952560" y="5484960"/>
              <a:ext cx="1523160" cy="767520"/>
            </a:xfrm>
            <a:prstGeom prst="rightArrow">
              <a:avLst>
                <a:gd name="adj1" fmla="val 50000"/>
                <a:gd name="adj2" fmla="val 50001"/>
              </a:avLst>
            </a:prstGeom>
            <a:solidFill>
              <a:srgbClr val="a5a172"/>
            </a:solidFill>
            <a:ln w="0">
              <a:noFill/>
            </a:ln>
          </p:spPr>
          <p:style>
            <a:lnRef idx="0"/>
            <a:fillRef idx="0"/>
            <a:effectRef idx="0"/>
            <a:fontRef idx="minor"/>
          </p:style>
        </p:sp>
      </p:grpSp>
      <p:sp>
        <p:nvSpPr>
          <p:cNvPr id="403"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Advantages to </a:t>
            </a:r>
            <a:endParaRPr b="0" lang="en-US" sz="4000" spc="-1" strike="noStrike">
              <a:latin typeface="Arial"/>
            </a:endParaRPr>
          </a:p>
          <a:p>
            <a:pPr algn="ctr">
              <a:lnSpc>
                <a:spcPct val="100000"/>
              </a:lnSpc>
              <a:buNone/>
            </a:pPr>
            <a:r>
              <a:rPr b="1" lang="en-US" sz="4000" spc="-1" strike="noStrike">
                <a:solidFill>
                  <a:srgbClr val="00274d"/>
                </a:solidFill>
                <a:latin typeface="Corbel"/>
                <a:ea typeface="Corbel"/>
              </a:rPr>
              <a:t>Long-Range Strategic Planning</a:t>
            </a:r>
            <a:endParaRPr b="0" lang="en-US" sz="4000" spc="-1" strike="noStrike">
              <a:latin typeface="Arial"/>
            </a:endParaRPr>
          </a:p>
        </p:txBody>
      </p:sp>
      <p:grpSp>
        <p:nvGrpSpPr>
          <p:cNvPr id="404" name="Group 20"/>
          <p:cNvGrpSpPr/>
          <p:nvPr/>
        </p:nvGrpSpPr>
        <p:grpSpPr>
          <a:xfrm>
            <a:off x="952560" y="3762360"/>
            <a:ext cx="7238160" cy="767520"/>
            <a:chOff x="952560" y="3762360"/>
            <a:chExt cx="7238160" cy="767520"/>
          </a:xfrm>
        </p:grpSpPr>
        <p:sp>
          <p:nvSpPr>
            <p:cNvPr id="405" name="Right Arrow 12"/>
            <p:cNvSpPr/>
            <p:nvPr/>
          </p:nvSpPr>
          <p:spPr>
            <a:xfrm>
              <a:off x="952560" y="3762360"/>
              <a:ext cx="1523160" cy="767520"/>
            </a:xfrm>
            <a:prstGeom prst="rightArrow">
              <a:avLst>
                <a:gd name="adj1" fmla="val 50000"/>
                <a:gd name="adj2" fmla="val 50001"/>
              </a:avLst>
            </a:prstGeom>
            <a:solidFill>
              <a:srgbClr val="4e5e53"/>
            </a:solidFill>
            <a:ln w="0">
              <a:noFill/>
            </a:ln>
          </p:spPr>
          <p:style>
            <a:lnRef idx="0"/>
            <a:fillRef idx="0"/>
            <a:effectRef idx="0"/>
            <a:fontRef idx="minor"/>
          </p:style>
        </p:sp>
        <p:sp>
          <p:nvSpPr>
            <p:cNvPr id="406" name="TextBox 17"/>
            <p:cNvSpPr/>
            <p:nvPr/>
          </p:nvSpPr>
          <p:spPr>
            <a:xfrm>
              <a:off x="2552760" y="3771000"/>
              <a:ext cx="5637960" cy="740880"/>
            </a:xfrm>
            <a:prstGeom prst="roundRect">
              <a:avLst>
                <a:gd name="adj" fmla="val 16667"/>
              </a:avLst>
            </a:prstGeom>
            <a:noFill/>
            <a:ln w="19050">
              <a:solidFill>
                <a:srgbClr val="4e5e53"/>
              </a:solidFill>
              <a:round/>
            </a:ln>
            <a:scene3d>
              <a:camera prst="orthographicFront"/>
              <a:lightRig dir="t" rig="threePt"/>
            </a:scene3d>
          </p:spPr>
          <p:style>
            <a:lnRef idx="0"/>
            <a:fillRef idx="0"/>
            <a:effectRef idx="0"/>
            <a:fontRef idx="minor"/>
          </p:style>
          <p:txBody>
            <a:bodyPr lIns="90000" rIns="90000" tIns="45000" bIns="45000" anchor="t">
              <a:spAutoFit/>
            </a:bodyPr>
            <a:p>
              <a:pPr marL="168120" indent="-19080">
                <a:lnSpc>
                  <a:spcPct val="95000"/>
                </a:lnSpc>
                <a:buNone/>
                <a:tabLst>
                  <a:tab algn="l" pos="0"/>
                </a:tabLst>
              </a:pPr>
              <a:r>
                <a:rPr b="0" lang="en-US" sz="2000" spc="-1" strike="noStrike">
                  <a:solidFill>
                    <a:srgbClr val="00274d"/>
                  </a:solidFill>
                  <a:latin typeface="Corbel"/>
                  <a:ea typeface="Corbel"/>
                </a:rPr>
                <a:t>Consistent continuity creates lasting impressions, not short-term attention. </a:t>
              </a:r>
              <a:endParaRPr b="0" lang="en-US" sz="2000" spc="-1" strike="noStrike">
                <a:latin typeface="Arial"/>
              </a:endParaRPr>
            </a:p>
          </p:txBody>
        </p:sp>
      </p:grpSp>
      <p:grpSp>
        <p:nvGrpSpPr>
          <p:cNvPr id="407" name="Group 3"/>
          <p:cNvGrpSpPr/>
          <p:nvPr/>
        </p:nvGrpSpPr>
        <p:grpSpPr>
          <a:xfrm>
            <a:off x="952560" y="4622760"/>
            <a:ext cx="7238160" cy="769320"/>
            <a:chOff x="952560" y="4622760"/>
            <a:chExt cx="7238160" cy="769320"/>
          </a:xfrm>
        </p:grpSpPr>
        <p:sp>
          <p:nvSpPr>
            <p:cNvPr id="408" name="Right Arrow 13"/>
            <p:cNvSpPr/>
            <p:nvPr/>
          </p:nvSpPr>
          <p:spPr>
            <a:xfrm>
              <a:off x="952560" y="4622760"/>
              <a:ext cx="1523160" cy="769320"/>
            </a:xfrm>
            <a:prstGeom prst="rightArrow">
              <a:avLst>
                <a:gd name="adj1" fmla="val 50000"/>
                <a:gd name="adj2" fmla="val 50001"/>
              </a:avLst>
            </a:prstGeom>
            <a:solidFill>
              <a:srgbClr val="7b8364"/>
            </a:solidFill>
            <a:ln w="0">
              <a:noFill/>
            </a:ln>
          </p:spPr>
          <p:style>
            <a:lnRef idx="0"/>
            <a:fillRef idx="0"/>
            <a:effectRef idx="0"/>
            <a:fontRef idx="minor"/>
          </p:style>
        </p:sp>
        <p:sp>
          <p:nvSpPr>
            <p:cNvPr id="409" name="TextBox 18"/>
            <p:cNvSpPr/>
            <p:nvPr/>
          </p:nvSpPr>
          <p:spPr>
            <a:xfrm>
              <a:off x="2552760" y="4631400"/>
              <a:ext cx="5637960" cy="740880"/>
            </a:xfrm>
            <a:prstGeom prst="roundRect">
              <a:avLst>
                <a:gd name="adj" fmla="val 16667"/>
              </a:avLst>
            </a:prstGeom>
            <a:noFill/>
            <a:ln w="19050">
              <a:solidFill>
                <a:srgbClr val="7b8364"/>
              </a:solidFill>
              <a:round/>
            </a:ln>
            <a:scene3d>
              <a:camera prst="orthographicFront"/>
              <a:lightRig dir="t" rig="threePt"/>
            </a:scene3d>
          </p:spPr>
          <p:style>
            <a:lnRef idx="0"/>
            <a:fillRef idx="0"/>
            <a:effectRef idx="0"/>
            <a:fontRef idx="minor"/>
          </p:style>
          <p:txBody>
            <a:bodyPr lIns="90000" rIns="90000" tIns="45000" bIns="45000" anchor="t">
              <a:spAutoFit/>
            </a:bodyPr>
            <a:p>
              <a:pPr marL="168120" indent="-19080">
                <a:lnSpc>
                  <a:spcPct val="95000"/>
                </a:lnSpc>
                <a:buNone/>
                <a:tabLst>
                  <a:tab algn="l" pos="0"/>
                </a:tabLst>
              </a:pPr>
              <a:r>
                <a:rPr b="0" lang="en-US" sz="2000" spc="-1" strike="noStrike">
                  <a:solidFill>
                    <a:srgbClr val="00274d"/>
                  </a:solidFill>
                  <a:latin typeface="Corbel"/>
                  <a:ea typeface="Corbel"/>
                </a:rPr>
                <a:t>Consistent advertising creates the image of credibility and stability.</a:t>
              </a:r>
              <a:endParaRPr b="0" lang="en-US" sz="2000" spc="-1" strike="noStrike">
                <a:latin typeface="Arial"/>
              </a:endParaRPr>
            </a:p>
          </p:txBody>
        </p:sp>
      </p:gr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87F20C52-72FB-4326-91E4-BA7A4C35DF78}"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411" name="PlaceHolder 1"/>
          <p:cNvSpPr>
            <a:spLocks noGrp="1"/>
          </p:cNvSpPr>
          <p:nvPr>
            <p:ph type="title"/>
          </p:nvPr>
        </p:nvSpPr>
        <p:spPr>
          <a:xfrm>
            <a:off x="309600" y="304920"/>
            <a:ext cx="8524080" cy="615240"/>
          </a:xfrm>
          <a:prstGeom prst="rect">
            <a:avLst/>
          </a:prstGeom>
          <a:noFill/>
          <a:ln w="0">
            <a:noFill/>
          </a:ln>
        </p:spPr>
        <p:txBody>
          <a:bodyPr numCol="1" spcCol="0" lIns="0" rIns="0" tIns="0" bIns="0" anchor="t">
            <a:noAutofit/>
          </a:bodyPr>
          <a:p>
            <a:pPr algn="ctr">
              <a:lnSpc>
                <a:spcPct val="100000"/>
              </a:lnSpc>
              <a:buNone/>
            </a:pPr>
            <a:r>
              <a:rPr b="1" lang="en-US" sz="4000" spc="-1" strike="noStrike">
                <a:solidFill>
                  <a:srgbClr val="000000"/>
                </a:solidFill>
                <a:latin typeface="Corbel"/>
                <a:ea typeface="Corbel"/>
              </a:rPr>
              <a:t>Proposed Schedule – Plan A</a:t>
            </a:r>
            <a:endParaRPr b="0" lang="en-US" sz="4000" spc="-1" strike="noStrike">
              <a:latin typeface="Arial"/>
            </a:endParaRPr>
          </a:p>
        </p:txBody>
      </p:sp>
      <p:sp>
        <p:nvSpPr>
          <p:cNvPr id="412" name="Text Box 5"/>
          <p:cNvSpPr/>
          <p:nvPr/>
        </p:nvSpPr>
        <p:spPr>
          <a:xfrm>
            <a:off x="422280" y="1093680"/>
            <a:ext cx="8367120" cy="49176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1400" spc="-1" strike="noStrike">
                <a:solidFill>
                  <a:srgbClr val="000000"/>
                </a:solidFill>
                <a:latin typeface="Arial"/>
                <a:ea typeface="DejaVu Sans"/>
              </a:rPr>
              <a:t>BUDGET BREAKOUT BY MONTH (For Next 12 Months)</a:t>
            </a:r>
            <a:endParaRPr b="0" lang="en-US" sz="1400" spc="-1" strike="noStrike">
              <a:latin typeface="Arial"/>
            </a:endParaRPr>
          </a:p>
          <a:p>
            <a:pPr algn="ctr">
              <a:lnSpc>
                <a:spcPct val="95000"/>
              </a:lnSpc>
              <a:buNone/>
            </a:pPr>
            <a:r>
              <a:rPr b="1" i="1" lang="en-US" sz="2000" spc="-1" strike="noStrike">
                <a:solidFill>
                  <a:srgbClr val="000000"/>
                </a:solidFill>
                <a:latin typeface="Arial"/>
                <a:ea typeface="DejaVu Sans"/>
              </a:rPr>
              <a:t>Proposed Media Plan</a:t>
            </a:r>
            <a:endParaRPr b="0" lang="en-US" sz="2000" spc="-1" strike="noStrike">
              <a:latin typeface="Arial"/>
            </a:endParaRPr>
          </a:p>
        </p:txBody>
      </p:sp>
      <p:sp>
        <p:nvSpPr>
          <p:cNvPr id="413" name="Rectangle 7"/>
          <p:cNvSpPr/>
          <p:nvPr/>
        </p:nvSpPr>
        <p:spPr>
          <a:xfrm>
            <a:off x="7275600" y="3219480"/>
            <a:ext cx="204120" cy="205560"/>
          </a:xfrm>
          <a:prstGeom prst="rect">
            <a:avLst/>
          </a:prstGeom>
          <a:solidFill>
            <a:srgbClr val="00b050"/>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414" name="TextBox 27"/>
          <p:cNvSpPr/>
          <p:nvPr/>
        </p:nvSpPr>
        <p:spPr>
          <a:xfrm>
            <a:off x="7487640" y="3151080"/>
            <a:ext cx="1162440" cy="2797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300" spc="-1" strike="noStrike">
                <a:solidFill>
                  <a:srgbClr val="000000"/>
                </a:solidFill>
                <a:latin typeface="Arial"/>
                <a:ea typeface="DejaVu Sans"/>
              </a:rPr>
              <a:t>Spike Months</a:t>
            </a:r>
            <a:endParaRPr b="0" lang="en-US" sz="1300" spc="-1" strike="noStrike">
              <a:latin typeface="Arial"/>
            </a:endParaRPr>
          </a:p>
        </p:txBody>
      </p:sp>
      <p:graphicFrame>
        <p:nvGraphicFramePr>
          <p:cNvPr id="415" name="Chart 5"/>
          <p:cNvGraphicFramePr/>
          <p:nvPr/>
        </p:nvGraphicFramePr>
        <p:xfrm>
          <a:off x="608040" y="2103480"/>
          <a:ext cx="6546240" cy="3534480"/>
        </p:xfrm>
        <a:graphic>
          <a:graphicData uri="http://schemas.openxmlformats.org/presentationml/2006/ole">
            <p:oleObj progId="Excel.Sheet.8" r:id="rId1" spid="">
              <p:embed/>
              <p:pic>
                <p:nvPicPr>
                  <p:cNvPr id="416" name="Chart 5" descr=""/>
                  <p:cNvPicPr/>
                  <p:nvPr/>
                </p:nvPicPr>
                <p:blipFill>
                  <a:blip r:embed="rId2"/>
                  <a:stretch/>
                </p:blipFill>
                <p:spPr>
                  <a:xfrm>
                    <a:off x="608040" y="2103480"/>
                    <a:ext cx="6546240" cy="3534480"/>
                  </a:xfrm>
                  <a:prstGeom prst="rect">
                    <a:avLst/>
                  </a:prstGeom>
                  <a:ln w="0">
                    <a:noFill/>
                  </a:ln>
                </p:spPr>
              </p:pic>
            </p:oleObj>
          </a:graphicData>
        </a:graphic>
      </p:graphicFrame>
      <p:sp>
        <p:nvSpPr>
          <p:cNvPr id="417" name="Text Box 5"/>
          <p:cNvSpPr/>
          <p:nvPr/>
        </p:nvSpPr>
        <p:spPr>
          <a:xfrm>
            <a:off x="422280" y="1596960"/>
            <a:ext cx="8367120" cy="26028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1800" spc="-1" strike="noStrike">
                <a:solidFill>
                  <a:srgbClr val="000000"/>
                </a:solidFill>
                <a:latin typeface="Arial"/>
                <a:ea typeface="DejaVu Sans"/>
              </a:rPr>
              <a:t>WWWW</a:t>
            </a:r>
            <a:endParaRPr b="0" lang="en-US" sz="1800" spc="-1" strike="noStrike">
              <a:latin typeface="Arial"/>
            </a:endParaRPr>
          </a:p>
        </p:txBody>
      </p:sp>
      <p:sp>
        <p:nvSpPr>
          <p:cNvPr id="418" name="Rectangle 11"/>
          <p:cNvSpPr/>
          <p:nvPr/>
        </p:nvSpPr>
        <p:spPr>
          <a:xfrm>
            <a:off x="7275600" y="3643200"/>
            <a:ext cx="204120" cy="204120"/>
          </a:xfrm>
          <a:prstGeom prst="rect">
            <a:avLst/>
          </a:prstGeom>
          <a:solidFill>
            <a:srgbClr val="0000ff"/>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419" name="TextBox 28"/>
          <p:cNvSpPr/>
          <p:nvPr/>
        </p:nvSpPr>
        <p:spPr>
          <a:xfrm>
            <a:off x="7493040" y="3505320"/>
            <a:ext cx="1015200" cy="67572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300" spc="-1" strike="noStrike">
                <a:solidFill>
                  <a:srgbClr val="000000"/>
                </a:solidFill>
                <a:latin typeface="Arial"/>
                <a:ea typeface="DejaVu Sans"/>
              </a:rPr>
              <a:t>Brand Equity Months</a:t>
            </a:r>
            <a:endParaRPr b="0" lang="en-US" sz="1300" spc="-1" strike="noStrike">
              <a:latin typeface="Arial"/>
            </a:endParaRPr>
          </a:p>
        </p:txBody>
      </p:sp>
      <p:sp>
        <p:nvSpPr>
          <p:cNvPr id="420" name="Rectangle 13"/>
          <p:cNvSpPr/>
          <p:nvPr/>
        </p:nvSpPr>
        <p:spPr>
          <a:xfrm>
            <a:off x="7275600" y="4316400"/>
            <a:ext cx="204120" cy="205560"/>
          </a:xfrm>
          <a:prstGeom prst="rect">
            <a:avLst/>
          </a:prstGeom>
          <a:solidFill>
            <a:srgbClr val="ce0000"/>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421" name="TextBox 29"/>
          <p:cNvSpPr/>
          <p:nvPr/>
        </p:nvSpPr>
        <p:spPr>
          <a:xfrm>
            <a:off x="7527600" y="4248000"/>
            <a:ext cx="1107360" cy="2797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300" spc="-1" strike="noStrike">
                <a:solidFill>
                  <a:srgbClr val="000000"/>
                </a:solidFill>
                <a:latin typeface="Arial"/>
                <a:ea typeface="DejaVu Sans"/>
              </a:rPr>
              <a:t>Slow Months</a:t>
            </a:r>
            <a:endParaRPr b="0" lang="en-US" sz="13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Proposed Schedule – Plan A   </a:t>
            </a:r>
            <a:endParaRPr b="0" lang="en-US" sz="4000" spc="-1" strike="noStrike">
              <a:latin typeface="Arial"/>
            </a:endParaRPr>
          </a:p>
        </p:txBody>
      </p:sp>
      <p:sp>
        <p:nvSpPr>
          <p:cNvPr id="423"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9F9F7B84-B2A7-47E4-BC04-56C006B6F844}"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424" name="Text Box 7"/>
          <p:cNvSpPr/>
          <p:nvPr/>
        </p:nvSpPr>
        <p:spPr>
          <a:xfrm>
            <a:off x="7620120" y="3330720"/>
            <a:ext cx="1142280" cy="117900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1" lang="en-US" sz="1800" spc="-1" strike="noStrike">
                <a:solidFill>
                  <a:srgbClr val="00274d"/>
                </a:solidFill>
                <a:latin typeface="Corbel"/>
                <a:ea typeface="Corbel"/>
              </a:rPr>
              <a:t>Spike </a:t>
            </a:r>
            <a:endParaRPr b="0" lang="en-US" sz="1800" spc="-1" strike="noStrike">
              <a:latin typeface="Arial"/>
            </a:endParaRPr>
          </a:p>
          <a:p>
            <a:pPr algn="ctr">
              <a:lnSpc>
                <a:spcPct val="100000"/>
              </a:lnSpc>
              <a:buNone/>
            </a:pPr>
            <a:r>
              <a:rPr b="1" lang="en-US" sz="1800" spc="-1" strike="noStrike">
                <a:solidFill>
                  <a:srgbClr val="00274d"/>
                </a:solidFill>
                <a:latin typeface="Corbel"/>
                <a:ea typeface="Corbel"/>
              </a:rPr>
              <a:t>Monthly Schedule</a:t>
            </a:r>
            <a:endParaRPr b="0" lang="en-US" sz="1800" spc="-1" strike="noStrike">
              <a:latin typeface="Arial"/>
            </a:endParaRPr>
          </a:p>
        </p:txBody>
      </p:sp>
      <p:sp>
        <p:nvSpPr>
          <p:cNvPr id="425" name="Text Box 8"/>
          <p:cNvSpPr/>
          <p:nvPr/>
        </p:nvSpPr>
        <p:spPr>
          <a:xfrm>
            <a:off x="7620120" y="1189440"/>
            <a:ext cx="1142280" cy="172728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1" lang="en-US" sz="1800" spc="-1" strike="noStrike">
                <a:solidFill>
                  <a:srgbClr val="00274d"/>
                </a:solidFill>
                <a:latin typeface="Corbel"/>
                <a:ea typeface="Corbel"/>
              </a:rPr>
              <a:t>Build </a:t>
            </a:r>
            <a:endParaRPr b="0" lang="en-US" sz="1800" spc="-1" strike="noStrike">
              <a:latin typeface="Arial"/>
            </a:endParaRPr>
          </a:p>
          <a:p>
            <a:pPr algn="ctr">
              <a:lnSpc>
                <a:spcPct val="100000"/>
              </a:lnSpc>
              <a:buNone/>
            </a:pPr>
            <a:r>
              <a:rPr b="1" lang="en-US" sz="1800" spc="-1" strike="noStrike">
                <a:solidFill>
                  <a:srgbClr val="00274d"/>
                </a:solidFill>
                <a:latin typeface="Corbel"/>
                <a:ea typeface="Corbel"/>
              </a:rPr>
              <a:t>Brand </a:t>
            </a:r>
            <a:endParaRPr b="0" lang="en-US" sz="1800" spc="-1" strike="noStrike">
              <a:latin typeface="Arial"/>
            </a:endParaRPr>
          </a:p>
          <a:p>
            <a:pPr algn="ctr">
              <a:lnSpc>
                <a:spcPct val="100000"/>
              </a:lnSpc>
              <a:buNone/>
            </a:pPr>
            <a:r>
              <a:rPr b="1" lang="en-US" sz="1800" spc="-1" strike="noStrike">
                <a:solidFill>
                  <a:srgbClr val="00274d"/>
                </a:solidFill>
                <a:latin typeface="Corbel"/>
                <a:ea typeface="Corbel"/>
              </a:rPr>
              <a:t>Equity Monthly Schedule</a:t>
            </a:r>
            <a:endParaRPr b="0" lang="en-US" sz="1800" spc="-1" strike="noStrike">
              <a:latin typeface="Arial"/>
            </a:endParaRPr>
          </a:p>
        </p:txBody>
      </p:sp>
      <p:sp>
        <p:nvSpPr>
          <p:cNvPr id="426" name="Text Box 9"/>
          <p:cNvSpPr/>
          <p:nvPr/>
        </p:nvSpPr>
        <p:spPr>
          <a:xfrm>
            <a:off x="7543800" y="4938840"/>
            <a:ext cx="1294560" cy="117900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1" lang="en-US" sz="1800" spc="-1" strike="noStrike">
                <a:solidFill>
                  <a:srgbClr val="00274d"/>
                </a:solidFill>
                <a:latin typeface="Corbel"/>
                <a:ea typeface="Corbel"/>
              </a:rPr>
              <a:t>Slow Performing Monthly Schedule</a:t>
            </a:r>
            <a:endParaRPr b="0" lang="en-US" sz="1800" spc="-1" strike="noStrike">
              <a:latin typeface="Arial"/>
            </a:endParaRPr>
          </a:p>
        </p:txBody>
      </p:sp>
      <p:graphicFrame>
        <p:nvGraphicFramePr>
          <p:cNvPr id="427" name="Object 1"/>
          <p:cNvGraphicFramePr/>
          <p:nvPr/>
        </p:nvGraphicFramePr>
        <p:xfrm>
          <a:off x="3957480" y="3233880"/>
          <a:ext cx="1227960" cy="389880"/>
        </p:xfrm>
        <a:graphic>
          <a:graphicData uri="http://schemas.openxmlformats.org/presentationml/2006/ole">
            <p:oleObj progId="Excel.Sheet.12" r:id="rId1" spid="">
              <p:embed/>
              <p:pic>
                <p:nvPicPr>
                  <p:cNvPr id="428" name="Object 1" descr=""/>
                  <p:cNvPicPr/>
                  <p:nvPr/>
                </p:nvPicPr>
                <p:blipFill>
                  <a:blip r:embed="rId2"/>
                  <a:stretch/>
                </p:blipFill>
                <p:spPr>
                  <a:xfrm>
                    <a:off x="3957480" y="3233880"/>
                    <a:ext cx="1227960" cy="389880"/>
                  </a:xfrm>
                  <a:prstGeom prst="rect">
                    <a:avLst/>
                  </a:prstGeom>
                  <a:ln w="0">
                    <a:noFill/>
                  </a:ln>
                </p:spPr>
              </p:pic>
            </p:oleObj>
          </a:graphicData>
        </a:graphic>
      </p:graphicFrame>
      <p:graphicFrame>
        <p:nvGraphicFramePr>
          <p:cNvPr id="429" name="Object 1"/>
          <p:cNvGraphicFramePr/>
          <p:nvPr/>
        </p:nvGraphicFramePr>
        <p:xfrm>
          <a:off x="380880" y="1262160"/>
          <a:ext cx="6857280" cy="1553400"/>
        </p:xfrm>
        <a:graphic>
          <a:graphicData uri="http://schemas.openxmlformats.org/presentationml/2006/ole">
            <p:oleObj progId="Excel.Sheet.8" r:id="rId3" spid="">
              <p:embed/>
              <p:pic>
                <p:nvPicPr>
                  <p:cNvPr id="430" name="Object 1" descr=""/>
                  <p:cNvPicPr/>
                  <p:nvPr/>
                </p:nvPicPr>
                <p:blipFill>
                  <a:blip r:embed="rId4"/>
                  <a:stretch/>
                </p:blipFill>
                <p:spPr>
                  <a:xfrm>
                    <a:off x="380880" y="1262160"/>
                    <a:ext cx="6857280" cy="1553400"/>
                  </a:xfrm>
                  <a:prstGeom prst="rect">
                    <a:avLst/>
                  </a:prstGeom>
                  <a:ln w="0">
                    <a:noFill/>
                  </a:ln>
                </p:spPr>
              </p:pic>
            </p:oleObj>
          </a:graphicData>
        </a:graphic>
      </p:graphicFrame>
      <p:graphicFrame>
        <p:nvGraphicFramePr>
          <p:cNvPr id="431" name="Object 2"/>
          <p:cNvGraphicFramePr/>
          <p:nvPr/>
        </p:nvGraphicFramePr>
        <p:xfrm>
          <a:off x="399960" y="3065400"/>
          <a:ext cx="6857280" cy="1483560"/>
        </p:xfrm>
        <a:graphic>
          <a:graphicData uri="http://schemas.openxmlformats.org/presentationml/2006/ole">
            <p:oleObj progId="Excel.Sheet.8" r:id="rId5" spid="">
              <p:embed/>
              <p:pic>
                <p:nvPicPr>
                  <p:cNvPr id="432" name="Object 2" descr=""/>
                  <p:cNvPicPr/>
                  <p:nvPr/>
                </p:nvPicPr>
                <p:blipFill>
                  <a:blip r:embed="rId6"/>
                  <a:stretch/>
                </p:blipFill>
                <p:spPr>
                  <a:xfrm>
                    <a:off x="399960" y="3065400"/>
                    <a:ext cx="6857280" cy="1483560"/>
                  </a:xfrm>
                  <a:prstGeom prst="rect">
                    <a:avLst/>
                  </a:prstGeom>
                  <a:ln w="0">
                    <a:noFill/>
                  </a:ln>
                </p:spPr>
              </p:pic>
            </p:oleObj>
          </a:graphicData>
        </a:graphic>
      </p:graphicFrame>
      <p:graphicFrame>
        <p:nvGraphicFramePr>
          <p:cNvPr id="433" name="Object 3"/>
          <p:cNvGraphicFramePr/>
          <p:nvPr/>
        </p:nvGraphicFramePr>
        <p:xfrm>
          <a:off x="399960" y="4743360"/>
          <a:ext cx="6857280" cy="1580400"/>
        </p:xfrm>
        <a:graphic>
          <a:graphicData uri="http://schemas.openxmlformats.org/presentationml/2006/ole">
            <p:oleObj progId="Excel.Sheet.8" r:id="rId7" spid="">
              <p:embed/>
              <p:pic>
                <p:nvPicPr>
                  <p:cNvPr id="434" name="Object 3" descr=""/>
                  <p:cNvPicPr/>
                  <p:nvPr/>
                </p:nvPicPr>
                <p:blipFill>
                  <a:blip r:embed="rId8"/>
                  <a:stretch/>
                </p:blipFill>
                <p:spPr>
                  <a:xfrm>
                    <a:off x="399960" y="4743360"/>
                    <a:ext cx="6857280" cy="1580400"/>
                  </a:xfrm>
                  <a:prstGeom prst="rect">
                    <a:avLst/>
                  </a:prstGeom>
                  <a:ln w="0">
                    <a:noFill/>
                  </a:ln>
                </p:spPr>
              </p:pic>
            </p:oleObj>
          </a:graphicData>
        </a:graphic>
      </p:graphicFrame>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Text Box 5"/>
          <p:cNvSpPr/>
          <p:nvPr/>
        </p:nvSpPr>
        <p:spPr>
          <a:xfrm>
            <a:off x="0" y="1828800"/>
            <a:ext cx="9143280" cy="57888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i="1" lang="en-US" sz="2000" spc="-1" strike="noStrike">
                <a:solidFill>
                  <a:srgbClr val="00274d"/>
                </a:solidFill>
                <a:latin typeface="Corbel"/>
                <a:ea typeface="Corbel"/>
              </a:rPr>
              <a:t>Brand Equity Schedule</a:t>
            </a:r>
            <a:endParaRPr b="0" lang="en-US" sz="2000" spc="-1" strike="noStrike">
              <a:latin typeface="Arial"/>
            </a:endParaRPr>
          </a:p>
          <a:p>
            <a:pPr algn="ctr">
              <a:lnSpc>
                <a:spcPct val="95000"/>
              </a:lnSpc>
              <a:buNone/>
            </a:pPr>
            <a:r>
              <a:rPr b="1" i="1" lang="en-US" sz="2000" spc="-1" strike="noStrike">
                <a:solidFill>
                  <a:srgbClr val="00274d"/>
                </a:solidFill>
                <a:latin typeface="Corbel"/>
                <a:ea typeface="Corbel"/>
              </a:rPr>
              <a:t>Monthly Station Summary</a:t>
            </a:r>
            <a:endParaRPr b="0" lang="en-US" sz="2000" spc="-1" strike="noStrike">
              <a:latin typeface="Arial"/>
            </a:endParaRPr>
          </a:p>
        </p:txBody>
      </p:sp>
      <p:sp>
        <p:nvSpPr>
          <p:cNvPr id="436" name="Text Box 5"/>
          <p:cNvSpPr/>
          <p:nvPr/>
        </p:nvSpPr>
        <p:spPr>
          <a:xfrm>
            <a:off x="0" y="1380960"/>
            <a:ext cx="9143280" cy="28944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2000" spc="-1" strike="noStrike">
                <a:solidFill>
                  <a:srgbClr val="00274d"/>
                </a:solidFill>
                <a:latin typeface="Corbel"/>
                <a:ea typeface="Corbel"/>
              </a:rPr>
              <a:t>Premium Auto Centers</a:t>
            </a:r>
            <a:endParaRPr b="0" lang="en-US" sz="2000" spc="-1" strike="noStrike">
              <a:latin typeface="Arial"/>
            </a:endParaRPr>
          </a:p>
        </p:txBody>
      </p:sp>
      <p:sp>
        <p:nvSpPr>
          <p:cNvPr id="437"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Proposed Schedule – Plan A   </a:t>
            </a:r>
            <a:endParaRPr b="0" lang="en-US" sz="4000" spc="-1" strike="noStrike">
              <a:latin typeface="Arial"/>
            </a:endParaRPr>
          </a:p>
        </p:txBody>
      </p:sp>
      <p:sp>
        <p:nvSpPr>
          <p:cNvPr id="438"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5253C605-8C5F-447B-9630-073EDEC6C3EE}"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439" name="Rectangle 1"/>
          <p:cNvSpPr/>
          <p:nvPr/>
        </p:nvSpPr>
        <p:spPr>
          <a:xfrm>
            <a:off x="1042920" y="2733840"/>
            <a:ext cx="10695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274d"/>
                </a:solidFill>
                <a:latin typeface="Corbel"/>
                <a:ea typeface="DejaVu Sans"/>
              </a:rPr>
              <a:t>Market:  </a:t>
            </a:r>
            <a:endParaRPr b="0" lang="en-US" sz="1800" spc="-1" strike="noStrike">
              <a:latin typeface="Arial"/>
            </a:endParaRPr>
          </a:p>
        </p:txBody>
      </p:sp>
      <p:sp>
        <p:nvSpPr>
          <p:cNvPr id="440" name="Rectangle 2"/>
          <p:cNvSpPr/>
          <p:nvPr/>
        </p:nvSpPr>
        <p:spPr>
          <a:xfrm>
            <a:off x="1066680" y="3195720"/>
            <a:ext cx="45712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274d"/>
                </a:solidFill>
                <a:latin typeface="Corbel"/>
                <a:ea typeface="DejaVu Sans"/>
              </a:rPr>
              <a:t>Average Monthly Broadcast Reach: </a:t>
            </a:r>
            <a:endParaRPr b="0" lang="en-US" sz="1800" spc="-1" strike="noStrike">
              <a:latin typeface="Arial"/>
            </a:endParaRPr>
          </a:p>
        </p:txBody>
      </p:sp>
      <p:sp>
        <p:nvSpPr>
          <p:cNvPr id="441" name="Rectangle 3"/>
          <p:cNvSpPr/>
          <p:nvPr/>
        </p:nvSpPr>
        <p:spPr>
          <a:xfrm>
            <a:off x="944280" y="3692520"/>
            <a:ext cx="41832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274d"/>
                </a:solidFill>
                <a:latin typeface="Corbel"/>
                <a:ea typeface="DejaVu Sans"/>
              </a:rPr>
              <a:t>Average Monthly Broadcast Frequency:</a:t>
            </a:r>
            <a:endParaRPr b="0" lang="en-US" sz="1800" spc="-1" strike="noStrike">
              <a:latin typeface="Arial"/>
            </a:endParaRPr>
          </a:p>
        </p:txBody>
      </p:sp>
      <p:sp>
        <p:nvSpPr>
          <p:cNvPr id="442" name="Rectangle 4"/>
          <p:cNvSpPr/>
          <p:nvPr/>
        </p:nvSpPr>
        <p:spPr>
          <a:xfrm>
            <a:off x="938160" y="4195800"/>
            <a:ext cx="46785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274d"/>
                </a:solidFill>
                <a:latin typeface="Corbel"/>
                <a:ea typeface="DejaVu Sans"/>
              </a:rPr>
              <a:t>Average Monthly Digital Gross Impressions: </a:t>
            </a:r>
            <a:endParaRPr b="0" lang="en-US" sz="1800" spc="-1" strike="noStrike">
              <a:latin typeface="Arial"/>
            </a:endParaRPr>
          </a:p>
        </p:txBody>
      </p:sp>
      <p:sp>
        <p:nvSpPr>
          <p:cNvPr id="443" name="Rectangle 5"/>
          <p:cNvSpPr/>
          <p:nvPr/>
        </p:nvSpPr>
        <p:spPr>
          <a:xfrm>
            <a:off x="1031760" y="4697280"/>
            <a:ext cx="45712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274d"/>
                </a:solidFill>
                <a:latin typeface="Corbel"/>
                <a:ea typeface="DejaVu Sans"/>
              </a:rPr>
              <a:t>Average Monthly Advertising Investment: </a:t>
            </a:r>
            <a:endParaRPr b="0" lang="en-US" sz="1800" spc="-1" strike="noStrike">
              <a:latin typeface="Arial"/>
            </a:endParaRPr>
          </a:p>
        </p:txBody>
      </p:sp>
      <p:sp>
        <p:nvSpPr>
          <p:cNvPr id="444" name="Rectangle 6"/>
          <p:cNvSpPr/>
          <p:nvPr/>
        </p:nvSpPr>
        <p:spPr>
          <a:xfrm>
            <a:off x="952560" y="5154480"/>
            <a:ext cx="29030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274d"/>
                </a:solidFill>
                <a:latin typeface="Corbel"/>
                <a:ea typeface="DejaVu Sans"/>
              </a:rPr>
              <a:t>Average Daily Investment: </a:t>
            </a:r>
            <a:endParaRPr b="0" lang="en-US" sz="1800" spc="-1" strike="noStrike">
              <a:latin typeface="Arial"/>
            </a:endParaRPr>
          </a:p>
        </p:txBody>
      </p:sp>
      <p:sp>
        <p:nvSpPr>
          <p:cNvPr id="445" name="TextBox 11"/>
          <p:cNvSpPr/>
          <p:nvPr/>
        </p:nvSpPr>
        <p:spPr>
          <a:xfrm>
            <a:off x="4551840" y="3205080"/>
            <a:ext cx="86112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800" spc="-1" strike="noStrike">
                <a:solidFill>
                  <a:srgbClr val="00274d"/>
                </a:solidFill>
                <a:latin typeface="Corbel"/>
                <a:ea typeface="Corbel"/>
              </a:rPr>
              <a:t>80,000</a:t>
            </a:r>
            <a:endParaRPr b="0" lang="en-US" sz="1800" spc="-1" strike="noStrike">
              <a:latin typeface="Arial"/>
            </a:endParaRPr>
          </a:p>
        </p:txBody>
      </p:sp>
      <p:sp>
        <p:nvSpPr>
          <p:cNvPr id="446" name="TextBox 12"/>
          <p:cNvSpPr/>
          <p:nvPr/>
        </p:nvSpPr>
        <p:spPr>
          <a:xfrm>
            <a:off x="5018760" y="3701880"/>
            <a:ext cx="29088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800" spc="-1" strike="noStrike">
                <a:solidFill>
                  <a:srgbClr val="00274d"/>
                </a:solidFill>
                <a:latin typeface="Corbel"/>
                <a:ea typeface="Corbel"/>
              </a:rPr>
              <a:t>3</a:t>
            </a:r>
            <a:endParaRPr b="0" lang="en-US" sz="1800" spc="-1" strike="noStrike">
              <a:latin typeface="Arial"/>
            </a:endParaRPr>
          </a:p>
        </p:txBody>
      </p:sp>
      <p:sp>
        <p:nvSpPr>
          <p:cNvPr id="447" name="TextBox 13"/>
          <p:cNvSpPr/>
          <p:nvPr/>
        </p:nvSpPr>
        <p:spPr>
          <a:xfrm>
            <a:off x="2057400" y="2743200"/>
            <a:ext cx="3504600" cy="3560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800" spc="-1" strike="noStrike">
                <a:solidFill>
                  <a:srgbClr val="00274d"/>
                </a:solidFill>
                <a:latin typeface="Corbel"/>
                <a:ea typeface="Corbel"/>
              </a:rPr>
              <a:t>Any Market USA</a:t>
            </a:r>
            <a:endParaRPr b="0" lang="en-US" sz="1800" spc="-1" strike="noStrike">
              <a:latin typeface="Arial"/>
            </a:endParaRPr>
          </a:p>
        </p:txBody>
      </p:sp>
      <p:sp>
        <p:nvSpPr>
          <p:cNvPr id="448" name="TextBox 14"/>
          <p:cNvSpPr/>
          <p:nvPr/>
        </p:nvSpPr>
        <p:spPr>
          <a:xfrm>
            <a:off x="5454360" y="4203720"/>
            <a:ext cx="98748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800" spc="-1" strike="noStrike">
                <a:solidFill>
                  <a:srgbClr val="00274d"/>
                </a:solidFill>
                <a:latin typeface="Corbel"/>
                <a:ea typeface="Corbel"/>
              </a:rPr>
              <a:t>100,000</a:t>
            </a:r>
            <a:endParaRPr b="0" lang="en-US" sz="1800" spc="-1" strike="noStrike">
              <a:latin typeface="Arial"/>
            </a:endParaRPr>
          </a:p>
        </p:txBody>
      </p:sp>
      <p:sp>
        <p:nvSpPr>
          <p:cNvPr id="449" name="TextBox 20"/>
          <p:cNvSpPr/>
          <p:nvPr/>
        </p:nvSpPr>
        <p:spPr>
          <a:xfrm>
            <a:off x="3733920" y="5164200"/>
            <a:ext cx="3398040" cy="3560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800" spc="-1" strike="noStrike">
                <a:solidFill>
                  <a:srgbClr val="00274d"/>
                </a:solidFill>
                <a:latin typeface="Corbel"/>
                <a:ea typeface="Corbel"/>
              </a:rPr>
              <a:t>$100</a:t>
            </a:r>
            <a:endParaRPr b="0" lang="en-US" sz="1800" spc="-1" strike="noStrike">
              <a:latin typeface="Arial"/>
            </a:endParaRPr>
          </a:p>
        </p:txBody>
      </p:sp>
      <p:sp>
        <p:nvSpPr>
          <p:cNvPr id="450" name="TextBox 21"/>
          <p:cNvSpPr/>
          <p:nvPr/>
        </p:nvSpPr>
        <p:spPr>
          <a:xfrm>
            <a:off x="5259240" y="4707000"/>
            <a:ext cx="3426840" cy="3560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800" spc="-1" strike="noStrike">
                <a:solidFill>
                  <a:srgbClr val="00274d"/>
                </a:solidFill>
                <a:latin typeface="Corbel"/>
                <a:ea typeface="Corbel"/>
              </a:rPr>
              <a:t>$3,000</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Break Even Analysis – Plan A  </a:t>
            </a:r>
            <a:endParaRPr b="0" lang="en-US" sz="4000" spc="-1" strike="noStrike">
              <a:latin typeface="Arial"/>
            </a:endParaRPr>
          </a:p>
        </p:txBody>
      </p:sp>
      <p:sp>
        <p:nvSpPr>
          <p:cNvPr id="452"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97135DE8-F471-4F04-8781-15DBBA65E98E}" type="slidenum">
              <a:rPr b="0" lang="en-US" sz="1100" spc="-1" strike="noStrike">
                <a:solidFill>
                  <a:srgbClr val="ffffff"/>
                </a:solidFill>
                <a:latin typeface="Corbel"/>
                <a:ea typeface="Corbel"/>
              </a:rPr>
              <a:t>&lt;number&gt;</a:t>
            </a:fld>
            <a:endParaRPr b="0" lang="en-US" sz="1100" spc="-1" strike="noStrike">
              <a:latin typeface="Arial"/>
            </a:endParaRPr>
          </a:p>
        </p:txBody>
      </p:sp>
      <p:pic>
        <p:nvPicPr>
          <p:cNvPr id="453" name="Picture 5" descr=""/>
          <p:cNvPicPr/>
          <p:nvPr/>
        </p:nvPicPr>
        <p:blipFill>
          <a:blip r:embed="rId1"/>
          <a:stretch/>
        </p:blipFill>
        <p:spPr>
          <a:xfrm>
            <a:off x="6316560" y="1824120"/>
            <a:ext cx="1553400" cy="18360"/>
          </a:xfrm>
          <a:prstGeom prst="rect">
            <a:avLst/>
          </a:prstGeom>
          <a:ln w="0">
            <a:noFill/>
          </a:ln>
        </p:spPr>
      </p:pic>
      <p:pic>
        <p:nvPicPr>
          <p:cNvPr id="454" name="Picture 6" descr=""/>
          <p:cNvPicPr/>
          <p:nvPr/>
        </p:nvPicPr>
        <p:blipFill>
          <a:blip r:embed="rId2"/>
          <a:stretch/>
        </p:blipFill>
        <p:spPr>
          <a:xfrm>
            <a:off x="6324480" y="2228760"/>
            <a:ext cx="1553400" cy="18360"/>
          </a:xfrm>
          <a:prstGeom prst="rect">
            <a:avLst/>
          </a:prstGeom>
          <a:ln w="0">
            <a:noFill/>
          </a:ln>
        </p:spPr>
      </p:pic>
      <p:pic>
        <p:nvPicPr>
          <p:cNvPr id="455" name="Picture 7" descr=""/>
          <p:cNvPicPr/>
          <p:nvPr/>
        </p:nvPicPr>
        <p:blipFill>
          <a:blip r:embed="rId3"/>
          <a:stretch/>
        </p:blipFill>
        <p:spPr>
          <a:xfrm>
            <a:off x="6324480" y="2670120"/>
            <a:ext cx="1553400" cy="18360"/>
          </a:xfrm>
          <a:prstGeom prst="rect">
            <a:avLst/>
          </a:prstGeom>
          <a:ln w="0">
            <a:noFill/>
          </a:ln>
        </p:spPr>
      </p:pic>
      <p:pic>
        <p:nvPicPr>
          <p:cNvPr id="456" name="Picture 8" descr=""/>
          <p:cNvPicPr/>
          <p:nvPr/>
        </p:nvPicPr>
        <p:blipFill>
          <a:blip r:embed="rId4"/>
          <a:stretch/>
        </p:blipFill>
        <p:spPr>
          <a:xfrm>
            <a:off x="6324480" y="3132000"/>
            <a:ext cx="1553400" cy="18360"/>
          </a:xfrm>
          <a:prstGeom prst="rect">
            <a:avLst/>
          </a:prstGeom>
          <a:ln w="0">
            <a:noFill/>
          </a:ln>
        </p:spPr>
      </p:pic>
      <p:pic>
        <p:nvPicPr>
          <p:cNvPr id="457" name="Picture 9" descr=""/>
          <p:cNvPicPr/>
          <p:nvPr/>
        </p:nvPicPr>
        <p:blipFill>
          <a:blip r:embed="rId5"/>
          <a:stretch/>
        </p:blipFill>
        <p:spPr>
          <a:xfrm>
            <a:off x="6324480" y="3502080"/>
            <a:ext cx="1553400" cy="18360"/>
          </a:xfrm>
          <a:prstGeom prst="rect">
            <a:avLst/>
          </a:prstGeom>
          <a:ln w="0">
            <a:noFill/>
          </a:ln>
        </p:spPr>
      </p:pic>
      <p:pic>
        <p:nvPicPr>
          <p:cNvPr id="458" name="Picture 10" descr=""/>
          <p:cNvPicPr/>
          <p:nvPr/>
        </p:nvPicPr>
        <p:blipFill>
          <a:blip r:embed="rId6"/>
          <a:stretch/>
        </p:blipFill>
        <p:spPr>
          <a:xfrm>
            <a:off x="6324480" y="3956040"/>
            <a:ext cx="1553400" cy="18360"/>
          </a:xfrm>
          <a:prstGeom prst="rect">
            <a:avLst/>
          </a:prstGeom>
          <a:ln w="0">
            <a:noFill/>
          </a:ln>
        </p:spPr>
      </p:pic>
      <p:pic>
        <p:nvPicPr>
          <p:cNvPr id="459" name="Picture 11" descr=""/>
          <p:cNvPicPr/>
          <p:nvPr/>
        </p:nvPicPr>
        <p:blipFill>
          <a:blip r:embed="rId7"/>
          <a:stretch/>
        </p:blipFill>
        <p:spPr>
          <a:xfrm>
            <a:off x="6324480" y="4354560"/>
            <a:ext cx="1553400" cy="18360"/>
          </a:xfrm>
          <a:prstGeom prst="rect">
            <a:avLst/>
          </a:prstGeom>
          <a:ln w="0">
            <a:noFill/>
          </a:ln>
        </p:spPr>
      </p:pic>
      <p:pic>
        <p:nvPicPr>
          <p:cNvPr id="460" name="Picture 12" descr=""/>
          <p:cNvPicPr/>
          <p:nvPr/>
        </p:nvPicPr>
        <p:blipFill>
          <a:blip r:embed="rId8"/>
          <a:stretch/>
        </p:blipFill>
        <p:spPr>
          <a:xfrm>
            <a:off x="6384960" y="4776840"/>
            <a:ext cx="1553400" cy="18360"/>
          </a:xfrm>
          <a:prstGeom prst="rect">
            <a:avLst/>
          </a:prstGeom>
          <a:ln w="0">
            <a:noFill/>
          </a:ln>
        </p:spPr>
      </p:pic>
      <p:sp>
        <p:nvSpPr>
          <p:cNvPr id="461" name="Rectangle 14"/>
          <p:cNvSpPr/>
          <p:nvPr/>
        </p:nvSpPr>
        <p:spPr>
          <a:xfrm>
            <a:off x="0" y="1585800"/>
            <a:ext cx="6384240" cy="4163760"/>
          </a:xfrm>
          <a:prstGeom prst="rect">
            <a:avLst/>
          </a:prstGeom>
          <a:noFill/>
          <a:ln w="0">
            <a:noFill/>
          </a:ln>
        </p:spPr>
        <p:style>
          <a:lnRef idx="0"/>
          <a:fillRef idx="0"/>
          <a:effectRef idx="0"/>
          <a:fontRef idx="minor"/>
        </p:style>
        <p:txBody>
          <a:bodyPr lIns="82440" rIns="82440" tIns="41040" bIns="41040" anchor="t">
            <a:spAutoFit/>
          </a:bodyPr>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A. Average sale (ticket, transaction, invoice)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B. Gross profit margin on average sale (sale less variable costs)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C. Closing or conversion rate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D. Projected prospect value ( </a:t>
            </a:r>
            <a:r>
              <a:rPr b="1" lang="en-US" sz="1400" spc="-1" strike="noStrike">
                <a:solidFill>
                  <a:srgbClr val="7b8364"/>
                </a:solidFill>
                <a:latin typeface="Corbel"/>
                <a:ea typeface="DejaVu Sans"/>
              </a:rPr>
              <a:t>= A * B * C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E. Client base monthly advertising investment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F. Monthly prospects needed to pay for advertising investment ( </a:t>
            </a:r>
            <a:r>
              <a:rPr b="1" lang="en-US" sz="1400" spc="-1" strike="noStrike">
                <a:solidFill>
                  <a:srgbClr val="7b8364"/>
                </a:solidFill>
                <a:latin typeface="Corbel"/>
                <a:ea typeface="DejaVu Sans"/>
              </a:rPr>
              <a:t>= E / D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G. Monthly # of sales from prospects needed to break even ( </a:t>
            </a:r>
            <a:r>
              <a:rPr b="1" lang="en-US" sz="1400" spc="-1" strike="noStrike">
                <a:solidFill>
                  <a:srgbClr val="7b8364"/>
                </a:solidFill>
                <a:latin typeface="Corbel"/>
                <a:ea typeface="DejaVu Sans"/>
              </a:rPr>
              <a:t>= F * C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H. Gross sales per month needed to break even ( </a:t>
            </a:r>
            <a:r>
              <a:rPr b="1" lang="en-US" sz="1400" spc="-1" strike="noStrike">
                <a:solidFill>
                  <a:srgbClr val="7b8364"/>
                </a:solidFill>
                <a:latin typeface="Corbel"/>
                <a:ea typeface="DejaVu Sans"/>
              </a:rPr>
              <a:t>= G * A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Clr>
                <a:srgbClr val="00274d"/>
              </a:buClr>
              <a:buFont typeface="StarSymbol"/>
              <a:buAutoNum type="romanUcPeriod"/>
              <a:tabLst>
                <a:tab algn="l" pos="0"/>
              </a:tabLst>
            </a:pPr>
            <a:r>
              <a:rPr b="1" lang="en-US" sz="1400" spc="-1" strike="noStrike">
                <a:solidFill>
                  <a:srgbClr val="00274d"/>
                </a:solidFill>
                <a:latin typeface="Corbel"/>
                <a:ea typeface="Corbel"/>
              </a:rPr>
              <a:t> </a:t>
            </a:r>
            <a:r>
              <a:rPr b="1" lang="en-US" sz="1400" spc="-1" strike="noStrike">
                <a:solidFill>
                  <a:srgbClr val="00274d"/>
                </a:solidFill>
                <a:latin typeface="Corbel"/>
                <a:ea typeface="Corbel"/>
              </a:rPr>
              <a:t>Number of months to run in proposed marketing plan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J.  Additional gross sales per year needed to break even ( </a:t>
            </a:r>
            <a:r>
              <a:rPr b="1" lang="en-US" sz="1400" spc="-1" strike="noStrike">
                <a:solidFill>
                  <a:srgbClr val="7b8364"/>
                </a:solidFill>
                <a:latin typeface="Corbel"/>
                <a:ea typeface="Corbel"/>
              </a:rPr>
              <a:t>= H * I </a:t>
            </a:r>
            <a:r>
              <a:rPr b="1" lang="en-US" sz="1400" spc="-1" strike="noStrike">
                <a:solidFill>
                  <a:srgbClr val="00274d"/>
                </a:solidFill>
                <a:latin typeface="Corbel"/>
                <a:ea typeface="Corbel"/>
              </a:rPr>
              <a:t>) =</a:t>
            </a:r>
            <a:endParaRPr b="0" lang="en-US" sz="1400" spc="-1" strike="noStrike">
              <a:latin typeface="Arial"/>
            </a:endParaRPr>
          </a:p>
        </p:txBody>
      </p:sp>
      <p:sp>
        <p:nvSpPr>
          <p:cNvPr id="462" name="TextBox 11"/>
          <p:cNvSpPr/>
          <p:nvPr/>
        </p:nvSpPr>
        <p:spPr>
          <a:xfrm>
            <a:off x="6375240" y="157464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$10,000</a:t>
            </a:r>
            <a:endParaRPr b="0" lang="en-US" sz="1200" spc="-1" strike="noStrike">
              <a:latin typeface="Arial"/>
            </a:endParaRPr>
          </a:p>
        </p:txBody>
      </p:sp>
      <p:sp>
        <p:nvSpPr>
          <p:cNvPr id="463" name="TextBox 12"/>
          <p:cNvSpPr/>
          <p:nvPr/>
        </p:nvSpPr>
        <p:spPr>
          <a:xfrm>
            <a:off x="6380280" y="1974960"/>
            <a:ext cx="4708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33%</a:t>
            </a:r>
            <a:endParaRPr b="0" lang="en-US" sz="1200" spc="-1" strike="noStrike">
              <a:latin typeface="Arial"/>
            </a:endParaRPr>
          </a:p>
        </p:txBody>
      </p:sp>
      <p:sp>
        <p:nvSpPr>
          <p:cNvPr id="464" name="TextBox 13"/>
          <p:cNvSpPr/>
          <p:nvPr/>
        </p:nvSpPr>
        <p:spPr>
          <a:xfrm>
            <a:off x="6384240" y="2403360"/>
            <a:ext cx="4708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25%</a:t>
            </a:r>
            <a:endParaRPr b="0" lang="en-US" sz="1200" spc="-1" strike="noStrike">
              <a:latin typeface="Arial"/>
            </a:endParaRPr>
          </a:p>
        </p:txBody>
      </p:sp>
      <p:sp>
        <p:nvSpPr>
          <p:cNvPr id="465" name="TextBox 14"/>
          <p:cNvSpPr/>
          <p:nvPr/>
        </p:nvSpPr>
        <p:spPr>
          <a:xfrm>
            <a:off x="6381000" y="288936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$825</a:t>
            </a:r>
            <a:endParaRPr b="0" lang="en-US" sz="1200" spc="-1" strike="noStrike">
              <a:latin typeface="Arial"/>
            </a:endParaRPr>
          </a:p>
        </p:txBody>
      </p:sp>
      <p:sp>
        <p:nvSpPr>
          <p:cNvPr id="466" name="TextBox 15"/>
          <p:cNvSpPr/>
          <p:nvPr/>
        </p:nvSpPr>
        <p:spPr>
          <a:xfrm>
            <a:off x="6377400" y="324792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$3,000</a:t>
            </a:r>
            <a:endParaRPr b="0" lang="en-US" sz="1200" spc="-1" strike="noStrike">
              <a:latin typeface="Arial"/>
            </a:endParaRPr>
          </a:p>
        </p:txBody>
      </p:sp>
      <p:sp>
        <p:nvSpPr>
          <p:cNvPr id="467" name="TextBox 16"/>
          <p:cNvSpPr/>
          <p:nvPr/>
        </p:nvSpPr>
        <p:spPr>
          <a:xfrm>
            <a:off x="6390360" y="3701880"/>
            <a:ext cx="3780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3.6</a:t>
            </a:r>
            <a:endParaRPr b="0" lang="en-US" sz="1200" spc="-1" strike="noStrike">
              <a:latin typeface="Arial"/>
            </a:endParaRPr>
          </a:p>
        </p:txBody>
      </p:sp>
      <p:sp>
        <p:nvSpPr>
          <p:cNvPr id="468" name="TextBox 17"/>
          <p:cNvSpPr/>
          <p:nvPr/>
        </p:nvSpPr>
        <p:spPr>
          <a:xfrm>
            <a:off x="6400800" y="4102200"/>
            <a:ext cx="217116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0.9</a:t>
            </a:r>
            <a:endParaRPr b="0" lang="en-US" sz="1200" spc="-1" strike="noStrike">
              <a:latin typeface="Arial"/>
            </a:endParaRPr>
          </a:p>
        </p:txBody>
      </p:sp>
      <p:sp>
        <p:nvSpPr>
          <p:cNvPr id="469" name="TextBox 18"/>
          <p:cNvSpPr/>
          <p:nvPr/>
        </p:nvSpPr>
        <p:spPr>
          <a:xfrm>
            <a:off x="6400800" y="451188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$9,090</a:t>
            </a:r>
            <a:endParaRPr b="0" lang="en-US" sz="1200" spc="-1" strike="noStrike">
              <a:latin typeface="Arial"/>
            </a:endParaRPr>
          </a:p>
        </p:txBody>
      </p:sp>
      <p:pic>
        <p:nvPicPr>
          <p:cNvPr id="470" name="Picture 12" descr=""/>
          <p:cNvPicPr/>
          <p:nvPr/>
        </p:nvPicPr>
        <p:blipFill>
          <a:blip r:embed="rId9"/>
          <a:stretch/>
        </p:blipFill>
        <p:spPr>
          <a:xfrm>
            <a:off x="6384960" y="5141880"/>
            <a:ext cx="1553400" cy="18360"/>
          </a:xfrm>
          <a:prstGeom prst="rect">
            <a:avLst/>
          </a:prstGeom>
          <a:ln w="0">
            <a:noFill/>
          </a:ln>
        </p:spPr>
      </p:pic>
      <p:pic>
        <p:nvPicPr>
          <p:cNvPr id="471" name="Picture 12" descr=""/>
          <p:cNvPicPr/>
          <p:nvPr/>
        </p:nvPicPr>
        <p:blipFill>
          <a:blip r:embed="rId10"/>
          <a:stretch/>
        </p:blipFill>
        <p:spPr>
          <a:xfrm>
            <a:off x="6369120" y="5541840"/>
            <a:ext cx="1553400" cy="18360"/>
          </a:xfrm>
          <a:prstGeom prst="rect">
            <a:avLst/>
          </a:prstGeom>
          <a:ln w="0">
            <a:noFill/>
          </a:ln>
        </p:spPr>
      </p:pic>
      <p:sp>
        <p:nvSpPr>
          <p:cNvPr id="472" name="TextBox 18"/>
          <p:cNvSpPr/>
          <p:nvPr/>
        </p:nvSpPr>
        <p:spPr>
          <a:xfrm>
            <a:off x="6400800" y="486756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12</a:t>
            </a:r>
            <a:endParaRPr b="0" lang="en-US" sz="1200" spc="-1" strike="noStrike">
              <a:latin typeface="Arial"/>
            </a:endParaRPr>
          </a:p>
        </p:txBody>
      </p:sp>
      <p:sp>
        <p:nvSpPr>
          <p:cNvPr id="473" name="TextBox 18"/>
          <p:cNvSpPr/>
          <p:nvPr/>
        </p:nvSpPr>
        <p:spPr>
          <a:xfrm>
            <a:off x="6400800" y="527688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$109,090</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52FF4306-3CEA-40A6-87DB-EAA2DCBD661C}"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475"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Lifetime Value Analysis – Plan A  </a:t>
            </a:r>
            <a:endParaRPr b="0" lang="en-US" sz="4000" spc="-1" strike="noStrike">
              <a:latin typeface="Arial"/>
            </a:endParaRPr>
          </a:p>
        </p:txBody>
      </p:sp>
      <p:pic>
        <p:nvPicPr>
          <p:cNvPr id="476" name="Picture 5" descr=""/>
          <p:cNvPicPr/>
          <p:nvPr/>
        </p:nvPicPr>
        <p:blipFill>
          <a:blip r:embed="rId1"/>
          <a:stretch/>
        </p:blipFill>
        <p:spPr>
          <a:xfrm>
            <a:off x="6316560" y="1824120"/>
            <a:ext cx="1553400" cy="18360"/>
          </a:xfrm>
          <a:prstGeom prst="rect">
            <a:avLst/>
          </a:prstGeom>
          <a:ln w="0">
            <a:noFill/>
          </a:ln>
        </p:spPr>
      </p:pic>
      <p:pic>
        <p:nvPicPr>
          <p:cNvPr id="477" name="Picture 6" descr=""/>
          <p:cNvPicPr/>
          <p:nvPr/>
        </p:nvPicPr>
        <p:blipFill>
          <a:blip r:embed="rId2"/>
          <a:stretch/>
        </p:blipFill>
        <p:spPr>
          <a:xfrm>
            <a:off x="6324480" y="2228760"/>
            <a:ext cx="1553400" cy="18360"/>
          </a:xfrm>
          <a:prstGeom prst="rect">
            <a:avLst/>
          </a:prstGeom>
          <a:ln w="0">
            <a:noFill/>
          </a:ln>
        </p:spPr>
      </p:pic>
      <p:pic>
        <p:nvPicPr>
          <p:cNvPr id="478" name="Picture 7" descr=""/>
          <p:cNvPicPr/>
          <p:nvPr/>
        </p:nvPicPr>
        <p:blipFill>
          <a:blip r:embed="rId3"/>
          <a:stretch/>
        </p:blipFill>
        <p:spPr>
          <a:xfrm>
            <a:off x="6324480" y="2670120"/>
            <a:ext cx="1553400" cy="18360"/>
          </a:xfrm>
          <a:prstGeom prst="rect">
            <a:avLst/>
          </a:prstGeom>
          <a:ln w="0">
            <a:noFill/>
          </a:ln>
        </p:spPr>
      </p:pic>
      <p:pic>
        <p:nvPicPr>
          <p:cNvPr id="479" name="Picture 8" descr=""/>
          <p:cNvPicPr/>
          <p:nvPr/>
        </p:nvPicPr>
        <p:blipFill>
          <a:blip r:embed="rId4"/>
          <a:stretch/>
        </p:blipFill>
        <p:spPr>
          <a:xfrm>
            <a:off x="6324480" y="3132000"/>
            <a:ext cx="1553400" cy="18360"/>
          </a:xfrm>
          <a:prstGeom prst="rect">
            <a:avLst/>
          </a:prstGeom>
          <a:ln w="0">
            <a:noFill/>
          </a:ln>
        </p:spPr>
      </p:pic>
      <p:pic>
        <p:nvPicPr>
          <p:cNvPr id="480" name="Picture 9" descr=""/>
          <p:cNvPicPr/>
          <p:nvPr/>
        </p:nvPicPr>
        <p:blipFill>
          <a:blip r:embed="rId5"/>
          <a:stretch/>
        </p:blipFill>
        <p:spPr>
          <a:xfrm>
            <a:off x="6324480" y="3502080"/>
            <a:ext cx="1553400" cy="18360"/>
          </a:xfrm>
          <a:prstGeom prst="rect">
            <a:avLst/>
          </a:prstGeom>
          <a:ln w="0">
            <a:noFill/>
          </a:ln>
        </p:spPr>
      </p:pic>
      <p:pic>
        <p:nvPicPr>
          <p:cNvPr id="481" name="Picture 10" descr=""/>
          <p:cNvPicPr/>
          <p:nvPr/>
        </p:nvPicPr>
        <p:blipFill>
          <a:blip r:embed="rId6"/>
          <a:stretch/>
        </p:blipFill>
        <p:spPr>
          <a:xfrm>
            <a:off x="6324480" y="3956040"/>
            <a:ext cx="1553400" cy="18360"/>
          </a:xfrm>
          <a:prstGeom prst="rect">
            <a:avLst/>
          </a:prstGeom>
          <a:ln w="0">
            <a:noFill/>
          </a:ln>
        </p:spPr>
      </p:pic>
      <p:pic>
        <p:nvPicPr>
          <p:cNvPr id="482" name="Picture 11" descr=""/>
          <p:cNvPicPr/>
          <p:nvPr/>
        </p:nvPicPr>
        <p:blipFill>
          <a:blip r:embed="rId7"/>
          <a:stretch/>
        </p:blipFill>
        <p:spPr>
          <a:xfrm>
            <a:off x="6324480" y="4354560"/>
            <a:ext cx="1553400" cy="18360"/>
          </a:xfrm>
          <a:prstGeom prst="rect">
            <a:avLst/>
          </a:prstGeom>
          <a:ln w="0">
            <a:noFill/>
          </a:ln>
        </p:spPr>
      </p:pic>
      <p:pic>
        <p:nvPicPr>
          <p:cNvPr id="483" name="Picture 12" descr=""/>
          <p:cNvPicPr/>
          <p:nvPr/>
        </p:nvPicPr>
        <p:blipFill>
          <a:blip r:embed="rId8"/>
          <a:stretch/>
        </p:blipFill>
        <p:spPr>
          <a:xfrm>
            <a:off x="6384960" y="4776840"/>
            <a:ext cx="1553400" cy="18360"/>
          </a:xfrm>
          <a:prstGeom prst="rect">
            <a:avLst/>
          </a:prstGeom>
          <a:ln w="0">
            <a:noFill/>
          </a:ln>
        </p:spPr>
      </p:pic>
      <p:sp>
        <p:nvSpPr>
          <p:cNvPr id="484" name="Rectangle 14"/>
          <p:cNvSpPr/>
          <p:nvPr/>
        </p:nvSpPr>
        <p:spPr>
          <a:xfrm>
            <a:off x="0" y="1585800"/>
            <a:ext cx="6384240" cy="3755160"/>
          </a:xfrm>
          <a:prstGeom prst="rect">
            <a:avLst/>
          </a:prstGeom>
          <a:noFill/>
          <a:ln w="0">
            <a:noFill/>
          </a:ln>
        </p:spPr>
        <p:style>
          <a:lnRef idx="0"/>
          <a:fillRef idx="0"/>
          <a:effectRef idx="0"/>
          <a:fontRef idx="minor"/>
        </p:style>
        <p:txBody>
          <a:bodyPr lIns="82440" rIns="82440" tIns="41040" bIns="41040" anchor="t">
            <a:spAutoFit/>
          </a:bodyPr>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A. Average sale (ticket, transaction, invoice)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B. Times gross profit margin on average sale (sale less variable costs)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C. Equals gross profit per average sale ( </a:t>
            </a:r>
            <a:r>
              <a:rPr b="1" lang="en-US" sz="1400" spc="-1" strike="noStrike">
                <a:solidFill>
                  <a:srgbClr val="7b8364"/>
                </a:solidFill>
                <a:latin typeface="Corbel"/>
                <a:ea typeface="DejaVu Sans"/>
              </a:rPr>
              <a:t>A * B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D. Times the average repeat sales per year (per customer/client)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E. Equals the average customer/client value per year ( </a:t>
            </a:r>
            <a:r>
              <a:rPr b="1" lang="en-US" sz="1400" spc="-1" strike="noStrike">
                <a:solidFill>
                  <a:srgbClr val="7b8364"/>
                </a:solidFill>
                <a:latin typeface="Corbel"/>
                <a:ea typeface="DejaVu Sans"/>
              </a:rPr>
              <a:t>C * D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F. Times the average number of years of patronage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G. Equals the lifetime value of one customer/client ( </a:t>
            </a:r>
            <a:r>
              <a:rPr b="1" lang="en-US" sz="1400" spc="-1" strike="noStrike">
                <a:solidFill>
                  <a:srgbClr val="7b8364"/>
                </a:solidFill>
                <a:latin typeface="Corbel"/>
                <a:ea typeface="DejaVu Sans"/>
              </a:rPr>
              <a:t>E * F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H. So if your base monthly advertising investment averages =</a:t>
            </a:r>
            <a:endParaRPr b="0" lang="en-US" sz="1400" spc="-1" strike="noStrike">
              <a:latin typeface="Arial"/>
            </a:endParaRPr>
          </a:p>
          <a:p>
            <a:pPr marL="457200" indent="-307800" algn="r">
              <a:lnSpc>
                <a:spcPct val="95000"/>
              </a:lnSpc>
              <a:spcAft>
                <a:spcPts val="1624"/>
              </a:spcAft>
              <a:buClr>
                <a:srgbClr val="00274d"/>
              </a:buClr>
              <a:buFont typeface="StarSymbol"/>
              <a:buAutoNum type="romanUcPeriod"/>
              <a:tabLst>
                <a:tab algn="l" pos="0"/>
              </a:tabLst>
            </a:pPr>
            <a:r>
              <a:rPr b="1" lang="en-US" sz="1400" spc="-1" strike="noStrike">
                <a:solidFill>
                  <a:srgbClr val="00274d"/>
                </a:solidFill>
                <a:latin typeface="Corbel"/>
                <a:ea typeface="DejaVu Sans"/>
              </a:rPr>
              <a:t> </a:t>
            </a:r>
            <a:r>
              <a:rPr b="1" lang="en-US" sz="1400" spc="-1" strike="noStrike">
                <a:solidFill>
                  <a:srgbClr val="00274d"/>
                </a:solidFill>
                <a:latin typeface="Corbel"/>
                <a:ea typeface="DejaVu Sans"/>
              </a:rPr>
              <a:t>Then monthly customers/clients needed to break even ( </a:t>
            </a:r>
            <a:r>
              <a:rPr b="1" lang="en-US" sz="1400" spc="-1" strike="noStrike">
                <a:solidFill>
                  <a:srgbClr val="7b8364"/>
                </a:solidFill>
                <a:latin typeface="Corbel"/>
                <a:ea typeface="DejaVu Sans"/>
              </a:rPr>
              <a:t>H / G </a:t>
            </a:r>
            <a:r>
              <a:rPr b="1" lang="en-US" sz="1400" spc="-1" strike="noStrike">
                <a:solidFill>
                  <a:srgbClr val="00274d"/>
                </a:solidFill>
                <a:latin typeface="Corbel"/>
                <a:ea typeface="DejaVu Sans"/>
              </a:rPr>
              <a:t>) </a:t>
            </a:r>
            <a:r>
              <a:rPr b="1" lang="en-US" sz="1400" spc="-1" strike="noStrike">
                <a:solidFill>
                  <a:srgbClr val="00274d"/>
                </a:solidFill>
                <a:latin typeface="Corbel"/>
                <a:ea typeface="Corbel"/>
              </a:rPr>
              <a:t>=</a:t>
            </a:r>
            <a:endParaRPr b="0" lang="en-US" sz="1400" spc="-1" strike="noStrike">
              <a:latin typeface="Arial"/>
            </a:endParaRPr>
          </a:p>
        </p:txBody>
      </p:sp>
      <p:sp>
        <p:nvSpPr>
          <p:cNvPr id="485" name="TextBox 11"/>
          <p:cNvSpPr/>
          <p:nvPr/>
        </p:nvSpPr>
        <p:spPr>
          <a:xfrm>
            <a:off x="6382800" y="157464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$300</a:t>
            </a:r>
            <a:endParaRPr b="0" lang="en-US" sz="1200" spc="-1" strike="noStrike">
              <a:latin typeface="Arial"/>
            </a:endParaRPr>
          </a:p>
        </p:txBody>
      </p:sp>
      <p:sp>
        <p:nvSpPr>
          <p:cNvPr id="486" name="TextBox 12"/>
          <p:cNvSpPr/>
          <p:nvPr/>
        </p:nvSpPr>
        <p:spPr>
          <a:xfrm>
            <a:off x="6384240" y="1974960"/>
            <a:ext cx="4708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50%</a:t>
            </a:r>
            <a:endParaRPr b="0" lang="en-US" sz="1200" spc="-1" strike="noStrike">
              <a:latin typeface="Arial"/>
            </a:endParaRPr>
          </a:p>
        </p:txBody>
      </p:sp>
      <p:sp>
        <p:nvSpPr>
          <p:cNvPr id="487" name="TextBox 13"/>
          <p:cNvSpPr/>
          <p:nvPr/>
        </p:nvSpPr>
        <p:spPr>
          <a:xfrm>
            <a:off x="6379560" y="240336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$150</a:t>
            </a:r>
            <a:endParaRPr b="0" lang="en-US" sz="1200" spc="-1" strike="noStrike">
              <a:latin typeface="Arial"/>
            </a:endParaRPr>
          </a:p>
        </p:txBody>
      </p:sp>
      <p:sp>
        <p:nvSpPr>
          <p:cNvPr id="488" name="TextBox 14"/>
          <p:cNvSpPr/>
          <p:nvPr/>
        </p:nvSpPr>
        <p:spPr>
          <a:xfrm>
            <a:off x="6393960" y="2889360"/>
            <a:ext cx="24984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a:t>
            </a:r>
            <a:endParaRPr b="0" lang="en-US" sz="1200" spc="-1" strike="noStrike">
              <a:latin typeface="Arial"/>
            </a:endParaRPr>
          </a:p>
        </p:txBody>
      </p:sp>
      <p:sp>
        <p:nvSpPr>
          <p:cNvPr id="489" name="TextBox 15"/>
          <p:cNvSpPr/>
          <p:nvPr/>
        </p:nvSpPr>
        <p:spPr>
          <a:xfrm>
            <a:off x="6385320" y="324792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$450</a:t>
            </a:r>
            <a:endParaRPr b="0" lang="en-US" sz="1200" spc="-1" strike="noStrike">
              <a:latin typeface="Arial"/>
            </a:endParaRPr>
          </a:p>
        </p:txBody>
      </p:sp>
      <p:sp>
        <p:nvSpPr>
          <p:cNvPr id="490" name="TextBox 16"/>
          <p:cNvSpPr/>
          <p:nvPr/>
        </p:nvSpPr>
        <p:spPr>
          <a:xfrm>
            <a:off x="6393960" y="3701880"/>
            <a:ext cx="24984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a:t>
            </a:r>
            <a:endParaRPr b="0" lang="en-US" sz="1200" spc="-1" strike="noStrike">
              <a:latin typeface="Arial"/>
            </a:endParaRPr>
          </a:p>
        </p:txBody>
      </p:sp>
      <p:sp>
        <p:nvSpPr>
          <p:cNvPr id="491" name="TextBox 17"/>
          <p:cNvSpPr/>
          <p:nvPr/>
        </p:nvSpPr>
        <p:spPr>
          <a:xfrm>
            <a:off x="6400800" y="4102200"/>
            <a:ext cx="217116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$1,350</a:t>
            </a:r>
            <a:endParaRPr b="0" lang="en-US" sz="1200" spc="-1" strike="noStrike">
              <a:latin typeface="Arial"/>
            </a:endParaRPr>
          </a:p>
        </p:txBody>
      </p:sp>
      <p:sp>
        <p:nvSpPr>
          <p:cNvPr id="492" name="TextBox 18"/>
          <p:cNvSpPr/>
          <p:nvPr/>
        </p:nvSpPr>
        <p:spPr>
          <a:xfrm>
            <a:off x="6400800" y="451188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$3,000</a:t>
            </a:r>
            <a:endParaRPr b="0" lang="en-US" sz="1200" spc="-1" strike="noStrike">
              <a:latin typeface="Arial"/>
            </a:endParaRPr>
          </a:p>
        </p:txBody>
      </p:sp>
      <p:pic>
        <p:nvPicPr>
          <p:cNvPr id="493" name="Picture 12" descr=""/>
          <p:cNvPicPr/>
          <p:nvPr/>
        </p:nvPicPr>
        <p:blipFill>
          <a:blip r:embed="rId9"/>
          <a:stretch/>
        </p:blipFill>
        <p:spPr>
          <a:xfrm>
            <a:off x="6384960" y="5141880"/>
            <a:ext cx="1553400" cy="18360"/>
          </a:xfrm>
          <a:prstGeom prst="rect">
            <a:avLst/>
          </a:prstGeom>
          <a:ln w="0">
            <a:noFill/>
          </a:ln>
        </p:spPr>
      </p:pic>
      <p:sp>
        <p:nvSpPr>
          <p:cNvPr id="494" name="TextBox 18"/>
          <p:cNvSpPr/>
          <p:nvPr/>
        </p:nvSpPr>
        <p:spPr>
          <a:xfrm>
            <a:off x="6400800" y="486756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2.2</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Digital ROI Calculator – Plan A  </a:t>
            </a:r>
            <a:endParaRPr b="0" lang="en-US" sz="4000" spc="-1" strike="noStrike">
              <a:latin typeface="Arial"/>
            </a:endParaRPr>
          </a:p>
        </p:txBody>
      </p:sp>
      <p:sp>
        <p:nvSpPr>
          <p:cNvPr id="496"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13B8D171-1387-41FE-B780-A7A17667F426}" type="slidenum">
              <a:rPr b="0" lang="en-US" sz="1100" spc="-1" strike="noStrike">
                <a:solidFill>
                  <a:srgbClr val="ffffff"/>
                </a:solidFill>
                <a:latin typeface="Corbel"/>
                <a:ea typeface="Corbel"/>
              </a:rPr>
              <a:t>&lt;number&gt;</a:t>
            </a:fld>
            <a:endParaRPr b="0" lang="en-US" sz="1100" spc="-1" strike="noStrike">
              <a:latin typeface="Arial"/>
            </a:endParaRPr>
          </a:p>
        </p:txBody>
      </p:sp>
      <p:pic>
        <p:nvPicPr>
          <p:cNvPr id="497" name="Picture 5" descr=""/>
          <p:cNvPicPr/>
          <p:nvPr/>
        </p:nvPicPr>
        <p:blipFill>
          <a:blip r:embed="rId1"/>
          <a:stretch/>
        </p:blipFill>
        <p:spPr>
          <a:xfrm>
            <a:off x="6316560" y="1468440"/>
            <a:ext cx="1553400" cy="18360"/>
          </a:xfrm>
          <a:prstGeom prst="rect">
            <a:avLst/>
          </a:prstGeom>
          <a:ln w="0">
            <a:noFill/>
          </a:ln>
        </p:spPr>
      </p:pic>
      <p:pic>
        <p:nvPicPr>
          <p:cNvPr id="498" name="Picture 6" descr=""/>
          <p:cNvPicPr/>
          <p:nvPr/>
        </p:nvPicPr>
        <p:blipFill>
          <a:blip r:embed="rId2"/>
          <a:stretch/>
        </p:blipFill>
        <p:spPr>
          <a:xfrm>
            <a:off x="6324480" y="1873080"/>
            <a:ext cx="1553400" cy="18360"/>
          </a:xfrm>
          <a:prstGeom prst="rect">
            <a:avLst/>
          </a:prstGeom>
          <a:ln w="0">
            <a:noFill/>
          </a:ln>
        </p:spPr>
      </p:pic>
      <p:pic>
        <p:nvPicPr>
          <p:cNvPr id="499" name="Picture 7" descr=""/>
          <p:cNvPicPr/>
          <p:nvPr/>
        </p:nvPicPr>
        <p:blipFill>
          <a:blip r:embed="rId3"/>
          <a:stretch/>
        </p:blipFill>
        <p:spPr>
          <a:xfrm>
            <a:off x="6324480" y="2314440"/>
            <a:ext cx="1553400" cy="18360"/>
          </a:xfrm>
          <a:prstGeom prst="rect">
            <a:avLst/>
          </a:prstGeom>
          <a:ln w="0">
            <a:noFill/>
          </a:ln>
        </p:spPr>
      </p:pic>
      <p:pic>
        <p:nvPicPr>
          <p:cNvPr id="500" name="Picture 8" descr=""/>
          <p:cNvPicPr/>
          <p:nvPr/>
        </p:nvPicPr>
        <p:blipFill>
          <a:blip r:embed="rId4"/>
          <a:stretch/>
        </p:blipFill>
        <p:spPr>
          <a:xfrm>
            <a:off x="6324480" y="2776680"/>
            <a:ext cx="1553400" cy="18360"/>
          </a:xfrm>
          <a:prstGeom prst="rect">
            <a:avLst/>
          </a:prstGeom>
          <a:ln w="0">
            <a:noFill/>
          </a:ln>
        </p:spPr>
      </p:pic>
      <p:pic>
        <p:nvPicPr>
          <p:cNvPr id="501" name="Picture 9" descr=""/>
          <p:cNvPicPr/>
          <p:nvPr/>
        </p:nvPicPr>
        <p:blipFill>
          <a:blip r:embed="rId5"/>
          <a:stretch/>
        </p:blipFill>
        <p:spPr>
          <a:xfrm>
            <a:off x="6324480" y="3146400"/>
            <a:ext cx="1553400" cy="18360"/>
          </a:xfrm>
          <a:prstGeom prst="rect">
            <a:avLst/>
          </a:prstGeom>
          <a:ln w="0">
            <a:noFill/>
          </a:ln>
        </p:spPr>
      </p:pic>
      <p:pic>
        <p:nvPicPr>
          <p:cNvPr id="502" name="Picture 10" descr=""/>
          <p:cNvPicPr/>
          <p:nvPr/>
        </p:nvPicPr>
        <p:blipFill>
          <a:blip r:embed="rId6"/>
          <a:stretch/>
        </p:blipFill>
        <p:spPr>
          <a:xfrm>
            <a:off x="6324480" y="3600360"/>
            <a:ext cx="1553400" cy="18360"/>
          </a:xfrm>
          <a:prstGeom prst="rect">
            <a:avLst/>
          </a:prstGeom>
          <a:ln w="0">
            <a:noFill/>
          </a:ln>
        </p:spPr>
      </p:pic>
      <p:pic>
        <p:nvPicPr>
          <p:cNvPr id="503" name="Picture 11" descr=""/>
          <p:cNvPicPr/>
          <p:nvPr/>
        </p:nvPicPr>
        <p:blipFill>
          <a:blip r:embed="rId7"/>
          <a:stretch/>
        </p:blipFill>
        <p:spPr>
          <a:xfrm>
            <a:off x="6324480" y="3998880"/>
            <a:ext cx="1553400" cy="18360"/>
          </a:xfrm>
          <a:prstGeom prst="rect">
            <a:avLst/>
          </a:prstGeom>
          <a:ln w="0">
            <a:noFill/>
          </a:ln>
        </p:spPr>
      </p:pic>
      <p:pic>
        <p:nvPicPr>
          <p:cNvPr id="504" name="Picture 12" descr=""/>
          <p:cNvPicPr/>
          <p:nvPr/>
        </p:nvPicPr>
        <p:blipFill>
          <a:blip r:embed="rId8"/>
          <a:stretch/>
        </p:blipFill>
        <p:spPr>
          <a:xfrm>
            <a:off x="6384960" y="4421160"/>
            <a:ext cx="1553400" cy="18360"/>
          </a:xfrm>
          <a:prstGeom prst="rect">
            <a:avLst/>
          </a:prstGeom>
          <a:ln w="0">
            <a:noFill/>
          </a:ln>
        </p:spPr>
      </p:pic>
      <p:sp>
        <p:nvSpPr>
          <p:cNvPr id="505" name="Rectangle 14"/>
          <p:cNvSpPr/>
          <p:nvPr/>
        </p:nvSpPr>
        <p:spPr>
          <a:xfrm>
            <a:off x="0" y="1230480"/>
            <a:ext cx="6384240" cy="5187240"/>
          </a:xfrm>
          <a:prstGeom prst="rect">
            <a:avLst/>
          </a:prstGeom>
          <a:noFill/>
          <a:ln w="0">
            <a:noFill/>
          </a:ln>
        </p:spPr>
        <p:style>
          <a:lnRef idx="0"/>
          <a:fillRef idx="0"/>
          <a:effectRef idx="0"/>
          <a:fontRef idx="minor"/>
        </p:style>
        <p:txBody>
          <a:bodyPr lIns="82440" rIns="82440" tIns="41040" bIns="41040" anchor="t">
            <a:spAutoFit/>
          </a:bodyPr>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A. Monthly Digital Investment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B. Cost Per Thousand ( CPM )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C. Monthly Impressions ( </a:t>
            </a:r>
            <a:r>
              <a:rPr b="1" lang="en-US" sz="1400" spc="-1" strike="noStrike">
                <a:solidFill>
                  <a:srgbClr val="7b8364"/>
                </a:solidFill>
                <a:latin typeface="Corbel"/>
                <a:ea typeface="DejaVu Sans"/>
              </a:rPr>
              <a:t>= A / B * 1,000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D. Click Through Rate ( .01%, .1%, etc.)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E. Monthly # Clicks ( </a:t>
            </a:r>
            <a:r>
              <a:rPr b="1" lang="en-US" sz="1400" spc="-1" strike="noStrike">
                <a:solidFill>
                  <a:srgbClr val="7b8364"/>
                </a:solidFill>
                <a:latin typeface="Corbel"/>
                <a:ea typeface="DejaVu Sans"/>
              </a:rPr>
              <a:t>= C * D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F. Cost Per Click ( </a:t>
            </a:r>
            <a:r>
              <a:rPr b="1" lang="en-US" sz="1400" spc="-1" strike="noStrike">
                <a:solidFill>
                  <a:srgbClr val="7b8364"/>
                </a:solidFill>
                <a:latin typeface="Corbel"/>
                <a:ea typeface="DejaVu Sans"/>
              </a:rPr>
              <a:t>= A / E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G. Sales Conversion Percentage ( 2%, 10%, etc.)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H. Monthly Number of Conversions ( </a:t>
            </a:r>
            <a:r>
              <a:rPr b="1" lang="en-US" sz="1400" spc="-1" strike="noStrike">
                <a:solidFill>
                  <a:srgbClr val="7b8364"/>
                </a:solidFill>
                <a:latin typeface="Corbel"/>
                <a:ea typeface="DejaVu Sans"/>
              </a:rPr>
              <a:t>= E * G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Clr>
                <a:srgbClr val="00274d"/>
              </a:buClr>
              <a:buFont typeface="StarSymbol"/>
              <a:buAutoNum type="romanUcPeriod"/>
              <a:tabLst>
                <a:tab algn="l" pos="0"/>
              </a:tabLst>
            </a:pPr>
            <a:r>
              <a:rPr b="1" lang="en-US" sz="1400" spc="-1" strike="noStrike">
                <a:solidFill>
                  <a:srgbClr val="00274d"/>
                </a:solidFill>
                <a:latin typeface="Corbel"/>
                <a:ea typeface="Corbel"/>
              </a:rPr>
              <a:t> </a:t>
            </a:r>
            <a:r>
              <a:rPr b="1" lang="en-US" sz="1400" spc="-1" strike="noStrike">
                <a:solidFill>
                  <a:srgbClr val="00274d"/>
                </a:solidFill>
                <a:latin typeface="Corbel"/>
                <a:ea typeface="Corbel"/>
              </a:rPr>
              <a:t>Cost per Conversion ( </a:t>
            </a:r>
            <a:r>
              <a:rPr b="1" lang="en-US" sz="1400" spc="-1" strike="noStrike">
                <a:solidFill>
                  <a:srgbClr val="7b8364"/>
                </a:solidFill>
                <a:latin typeface="Corbel"/>
                <a:ea typeface="Corbel"/>
              </a:rPr>
              <a:t>= A / H </a:t>
            </a:r>
            <a:r>
              <a:rPr b="1" lang="en-US" sz="1400" spc="-1" strike="noStrike">
                <a:solidFill>
                  <a:srgbClr val="00274d"/>
                </a:solidFill>
                <a:latin typeface="Corbel"/>
                <a:ea typeface="Corbel"/>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J. Project Gross Profit Per Conversion ($100, $1,000, etc.)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K. Monthly Gross Profit Generated From all Conversions ( </a:t>
            </a:r>
            <a:r>
              <a:rPr b="1" lang="en-US" sz="1400" spc="-1" strike="noStrike">
                <a:solidFill>
                  <a:srgbClr val="7b8364"/>
                </a:solidFill>
                <a:latin typeface="Corbel"/>
                <a:ea typeface="Corbel"/>
              </a:rPr>
              <a:t>= H * J </a:t>
            </a:r>
            <a:r>
              <a:rPr b="1" lang="en-US" sz="1400" spc="-1" strike="noStrike">
                <a:solidFill>
                  <a:srgbClr val="00274d"/>
                </a:solidFill>
                <a:latin typeface="Corbel"/>
                <a:ea typeface="Corbel"/>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L. $ Monthly Return on Investment ( </a:t>
            </a:r>
            <a:r>
              <a:rPr b="1" lang="en-US" sz="1400" spc="-1" strike="noStrike">
                <a:solidFill>
                  <a:srgbClr val="7b8364"/>
                </a:solidFill>
                <a:latin typeface="Corbel"/>
                <a:ea typeface="Corbel"/>
              </a:rPr>
              <a:t>= K – A </a:t>
            </a:r>
            <a:r>
              <a:rPr b="1" lang="en-US" sz="1400" spc="-1" strike="noStrike">
                <a:solidFill>
                  <a:srgbClr val="00274d"/>
                </a:solidFill>
                <a:latin typeface="Corbel"/>
                <a:ea typeface="Corbel"/>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M. % Monthly Return on Investment ( </a:t>
            </a:r>
            <a:r>
              <a:rPr b="1" lang="en-US" sz="1400" spc="-1" strike="noStrike">
                <a:solidFill>
                  <a:srgbClr val="7b8364"/>
                </a:solidFill>
                <a:latin typeface="Corbel"/>
                <a:ea typeface="Corbel"/>
              </a:rPr>
              <a:t>= L / A </a:t>
            </a:r>
            <a:r>
              <a:rPr b="1" lang="en-US" sz="1400" spc="-1" strike="noStrike">
                <a:solidFill>
                  <a:srgbClr val="00274d"/>
                </a:solidFill>
                <a:latin typeface="Corbel"/>
                <a:ea typeface="Corbel"/>
              </a:rPr>
              <a:t>) =  </a:t>
            </a:r>
            <a:endParaRPr b="0" lang="en-US" sz="1400" spc="-1" strike="noStrike">
              <a:latin typeface="Arial"/>
            </a:endParaRPr>
          </a:p>
        </p:txBody>
      </p:sp>
      <p:sp>
        <p:nvSpPr>
          <p:cNvPr id="506" name="TextBox 11"/>
          <p:cNvSpPr/>
          <p:nvPr/>
        </p:nvSpPr>
        <p:spPr>
          <a:xfrm>
            <a:off x="6378120" y="121932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$1,000</a:t>
            </a:r>
            <a:endParaRPr b="0" lang="en-US" sz="1200" spc="-1" strike="noStrike">
              <a:latin typeface="Arial"/>
            </a:endParaRPr>
          </a:p>
        </p:txBody>
      </p:sp>
      <p:sp>
        <p:nvSpPr>
          <p:cNvPr id="507" name="TextBox 12"/>
          <p:cNvSpPr/>
          <p:nvPr/>
        </p:nvSpPr>
        <p:spPr>
          <a:xfrm>
            <a:off x="6375960" y="161928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$15.00</a:t>
            </a:r>
            <a:endParaRPr b="0" lang="en-US" sz="1200" spc="-1" strike="noStrike">
              <a:latin typeface="Arial"/>
            </a:endParaRPr>
          </a:p>
        </p:txBody>
      </p:sp>
      <p:sp>
        <p:nvSpPr>
          <p:cNvPr id="508" name="TextBox 13"/>
          <p:cNvSpPr/>
          <p:nvPr/>
        </p:nvSpPr>
        <p:spPr>
          <a:xfrm>
            <a:off x="6377400" y="204804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66,667</a:t>
            </a:r>
            <a:endParaRPr b="0" lang="en-US" sz="1200" spc="-1" strike="noStrike">
              <a:latin typeface="Arial"/>
            </a:endParaRPr>
          </a:p>
        </p:txBody>
      </p:sp>
      <p:sp>
        <p:nvSpPr>
          <p:cNvPr id="509" name="TextBox 14"/>
          <p:cNvSpPr/>
          <p:nvPr/>
        </p:nvSpPr>
        <p:spPr>
          <a:xfrm>
            <a:off x="6381360" y="2533680"/>
            <a:ext cx="59904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0.05%</a:t>
            </a:r>
            <a:endParaRPr b="0" lang="en-US" sz="1200" spc="-1" strike="noStrike">
              <a:latin typeface="Arial"/>
            </a:endParaRPr>
          </a:p>
        </p:txBody>
      </p:sp>
      <p:sp>
        <p:nvSpPr>
          <p:cNvPr id="510" name="TextBox 15"/>
          <p:cNvSpPr/>
          <p:nvPr/>
        </p:nvSpPr>
        <p:spPr>
          <a:xfrm>
            <a:off x="6387120" y="2892600"/>
            <a:ext cx="3351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33</a:t>
            </a:r>
            <a:endParaRPr b="0" lang="en-US" sz="1200" spc="-1" strike="noStrike">
              <a:latin typeface="Arial"/>
            </a:endParaRPr>
          </a:p>
        </p:txBody>
      </p:sp>
      <p:sp>
        <p:nvSpPr>
          <p:cNvPr id="511" name="TextBox 16"/>
          <p:cNvSpPr/>
          <p:nvPr/>
        </p:nvSpPr>
        <p:spPr>
          <a:xfrm>
            <a:off x="6385680" y="3346560"/>
            <a:ext cx="4204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$30</a:t>
            </a:r>
            <a:endParaRPr b="0" lang="en-US" sz="1200" spc="-1" strike="noStrike">
              <a:latin typeface="Arial"/>
            </a:endParaRPr>
          </a:p>
        </p:txBody>
      </p:sp>
      <p:sp>
        <p:nvSpPr>
          <p:cNvPr id="512" name="TextBox 17"/>
          <p:cNvSpPr/>
          <p:nvPr/>
        </p:nvSpPr>
        <p:spPr>
          <a:xfrm>
            <a:off x="6400800" y="3746520"/>
            <a:ext cx="217116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1%</a:t>
            </a:r>
            <a:endParaRPr b="0" lang="en-US" sz="1200" spc="-1" strike="noStrike">
              <a:latin typeface="Arial"/>
            </a:endParaRPr>
          </a:p>
        </p:txBody>
      </p:sp>
      <p:sp>
        <p:nvSpPr>
          <p:cNvPr id="513" name="TextBox 18"/>
          <p:cNvSpPr/>
          <p:nvPr/>
        </p:nvSpPr>
        <p:spPr>
          <a:xfrm>
            <a:off x="6400800" y="415620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0</a:t>
            </a:r>
            <a:endParaRPr b="0" lang="en-US" sz="1200" spc="-1" strike="noStrike">
              <a:latin typeface="Arial"/>
            </a:endParaRPr>
          </a:p>
        </p:txBody>
      </p:sp>
      <p:pic>
        <p:nvPicPr>
          <p:cNvPr id="514" name="Picture 12" descr=""/>
          <p:cNvPicPr/>
          <p:nvPr/>
        </p:nvPicPr>
        <p:blipFill>
          <a:blip r:embed="rId9"/>
          <a:stretch/>
        </p:blipFill>
        <p:spPr>
          <a:xfrm>
            <a:off x="6384960" y="4786200"/>
            <a:ext cx="1553400" cy="18360"/>
          </a:xfrm>
          <a:prstGeom prst="rect">
            <a:avLst/>
          </a:prstGeom>
          <a:ln w="0">
            <a:noFill/>
          </a:ln>
        </p:spPr>
      </p:pic>
      <p:pic>
        <p:nvPicPr>
          <p:cNvPr id="515" name="Picture 12" descr=""/>
          <p:cNvPicPr/>
          <p:nvPr/>
        </p:nvPicPr>
        <p:blipFill>
          <a:blip r:embed="rId10"/>
          <a:stretch/>
        </p:blipFill>
        <p:spPr>
          <a:xfrm>
            <a:off x="6369120" y="5186520"/>
            <a:ext cx="1553400" cy="18360"/>
          </a:xfrm>
          <a:prstGeom prst="rect">
            <a:avLst/>
          </a:prstGeom>
          <a:ln w="0">
            <a:noFill/>
          </a:ln>
        </p:spPr>
      </p:pic>
      <p:sp>
        <p:nvSpPr>
          <p:cNvPr id="516" name="TextBox 18"/>
          <p:cNvSpPr/>
          <p:nvPr/>
        </p:nvSpPr>
        <p:spPr>
          <a:xfrm>
            <a:off x="6400800" y="451188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$3,000</a:t>
            </a:r>
            <a:endParaRPr b="0" lang="en-US" sz="1200" spc="-1" strike="noStrike">
              <a:latin typeface="Arial"/>
            </a:endParaRPr>
          </a:p>
        </p:txBody>
      </p:sp>
      <p:sp>
        <p:nvSpPr>
          <p:cNvPr id="517" name="TextBox 18"/>
          <p:cNvSpPr/>
          <p:nvPr/>
        </p:nvSpPr>
        <p:spPr>
          <a:xfrm>
            <a:off x="6400800" y="492120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$3,333</a:t>
            </a:r>
            <a:endParaRPr b="0" lang="en-US" sz="1200" spc="-1" strike="noStrike">
              <a:latin typeface="Arial"/>
            </a:endParaRPr>
          </a:p>
        </p:txBody>
      </p:sp>
      <p:pic>
        <p:nvPicPr>
          <p:cNvPr id="518" name="Picture 12" descr=""/>
          <p:cNvPicPr/>
          <p:nvPr/>
        </p:nvPicPr>
        <p:blipFill>
          <a:blip r:embed="rId11"/>
          <a:stretch/>
        </p:blipFill>
        <p:spPr>
          <a:xfrm>
            <a:off x="6369120" y="5969160"/>
            <a:ext cx="1553400" cy="18360"/>
          </a:xfrm>
          <a:prstGeom prst="rect">
            <a:avLst/>
          </a:prstGeom>
          <a:ln w="0">
            <a:noFill/>
          </a:ln>
        </p:spPr>
      </p:pic>
      <p:pic>
        <p:nvPicPr>
          <p:cNvPr id="519" name="Picture 12" descr=""/>
          <p:cNvPicPr/>
          <p:nvPr/>
        </p:nvPicPr>
        <p:blipFill>
          <a:blip r:embed="rId12"/>
          <a:stretch/>
        </p:blipFill>
        <p:spPr>
          <a:xfrm>
            <a:off x="6369120" y="5587920"/>
            <a:ext cx="1553400" cy="18360"/>
          </a:xfrm>
          <a:prstGeom prst="rect">
            <a:avLst/>
          </a:prstGeom>
          <a:ln w="0">
            <a:noFill/>
          </a:ln>
        </p:spPr>
      </p:pic>
      <p:sp>
        <p:nvSpPr>
          <p:cNvPr id="520" name="TextBox 18"/>
          <p:cNvSpPr/>
          <p:nvPr/>
        </p:nvSpPr>
        <p:spPr>
          <a:xfrm>
            <a:off x="6400800" y="533736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$1,111</a:t>
            </a:r>
            <a:endParaRPr b="0" lang="en-US" sz="1200" spc="-1" strike="noStrike">
              <a:latin typeface="Arial"/>
            </a:endParaRPr>
          </a:p>
        </p:txBody>
      </p:sp>
      <p:sp>
        <p:nvSpPr>
          <p:cNvPr id="521" name="TextBox 18"/>
          <p:cNvSpPr/>
          <p:nvPr/>
        </p:nvSpPr>
        <p:spPr>
          <a:xfrm>
            <a:off x="6400800" y="571824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$111</a:t>
            </a:r>
            <a:endParaRPr b="0" lang="en-US" sz="1200" spc="-1" strike="noStrike">
              <a:latin typeface="Arial"/>
            </a:endParaRPr>
          </a:p>
        </p:txBody>
      </p:sp>
      <p:pic>
        <p:nvPicPr>
          <p:cNvPr id="522" name="Picture 12" descr=""/>
          <p:cNvPicPr/>
          <p:nvPr/>
        </p:nvPicPr>
        <p:blipFill>
          <a:blip r:embed="rId13"/>
          <a:stretch/>
        </p:blipFill>
        <p:spPr>
          <a:xfrm>
            <a:off x="6369120" y="6350040"/>
            <a:ext cx="1553400" cy="18360"/>
          </a:xfrm>
          <a:prstGeom prst="rect">
            <a:avLst/>
          </a:prstGeom>
          <a:ln w="0">
            <a:noFill/>
          </a:ln>
        </p:spPr>
      </p:pic>
      <p:sp>
        <p:nvSpPr>
          <p:cNvPr id="523" name="TextBox 18"/>
          <p:cNvSpPr/>
          <p:nvPr/>
        </p:nvSpPr>
        <p:spPr>
          <a:xfrm>
            <a:off x="6400800" y="609912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11%</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A9DC8D6A-F869-4568-B708-7F02720D7123}"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525" name="PlaceHolder 1"/>
          <p:cNvSpPr>
            <a:spLocks noGrp="1"/>
          </p:cNvSpPr>
          <p:nvPr>
            <p:ph type="title"/>
          </p:nvPr>
        </p:nvSpPr>
        <p:spPr>
          <a:xfrm>
            <a:off x="309600" y="372960"/>
            <a:ext cx="8524080" cy="615240"/>
          </a:xfrm>
          <a:prstGeom prst="rect">
            <a:avLst/>
          </a:prstGeom>
          <a:noFill/>
          <a:ln w="0">
            <a:noFill/>
          </a:ln>
        </p:spPr>
        <p:txBody>
          <a:bodyPr numCol="1" spcCol="0" lIns="0" rIns="0" tIns="0" bIns="0" anchor="t">
            <a:noAutofit/>
          </a:bodyPr>
          <a:p>
            <a:pPr algn="ctr">
              <a:lnSpc>
                <a:spcPct val="100000"/>
              </a:lnSpc>
              <a:buNone/>
            </a:pPr>
            <a:r>
              <a:rPr b="1" lang="en-US" sz="4000" spc="-1" strike="noStrike">
                <a:solidFill>
                  <a:srgbClr val="000000"/>
                </a:solidFill>
                <a:latin typeface="Corbel"/>
                <a:ea typeface="Corbel"/>
              </a:rPr>
              <a:t>Proposed Schedule – Plan B</a:t>
            </a:r>
            <a:endParaRPr b="0" lang="en-US" sz="4000" spc="-1" strike="noStrike">
              <a:latin typeface="Arial"/>
            </a:endParaRPr>
          </a:p>
        </p:txBody>
      </p:sp>
      <p:sp>
        <p:nvSpPr>
          <p:cNvPr id="526" name="Text Box 5"/>
          <p:cNvSpPr/>
          <p:nvPr/>
        </p:nvSpPr>
        <p:spPr>
          <a:xfrm>
            <a:off x="457200" y="1150920"/>
            <a:ext cx="8228880" cy="49176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1400" spc="-1" strike="noStrike">
                <a:solidFill>
                  <a:srgbClr val="000000"/>
                </a:solidFill>
                <a:latin typeface="Arial"/>
                <a:ea typeface="DejaVu Sans"/>
              </a:rPr>
              <a:t>BUDGET BREAKOUT BY MONTH (For Next 12 Months) </a:t>
            </a:r>
            <a:endParaRPr b="0" lang="en-US" sz="1400" spc="-1" strike="noStrike">
              <a:latin typeface="Arial"/>
            </a:endParaRPr>
          </a:p>
          <a:p>
            <a:pPr algn="ctr">
              <a:lnSpc>
                <a:spcPct val="95000"/>
              </a:lnSpc>
              <a:buNone/>
            </a:pPr>
            <a:r>
              <a:rPr b="1" i="1" lang="en-US" sz="2000" spc="-1" strike="noStrike">
                <a:solidFill>
                  <a:srgbClr val="000000"/>
                </a:solidFill>
                <a:latin typeface="Arial"/>
                <a:ea typeface="DejaVu Sans"/>
              </a:rPr>
              <a:t>Proposed Media Plan</a:t>
            </a:r>
            <a:endParaRPr b="0" lang="en-US" sz="2000" spc="-1" strike="noStrike">
              <a:latin typeface="Arial"/>
            </a:endParaRPr>
          </a:p>
        </p:txBody>
      </p:sp>
      <p:sp>
        <p:nvSpPr>
          <p:cNvPr id="527" name="Rectangle 7"/>
          <p:cNvSpPr/>
          <p:nvPr/>
        </p:nvSpPr>
        <p:spPr>
          <a:xfrm>
            <a:off x="7343640" y="3346560"/>
            <a:ext cx="205560" cy="204120"/>
          </a:xfrm>
          <a:prstGeom prst="rect">
            <a:avLst/>
          </a:prstGeom>
          <a:solidFill>
            <a:srgbClr val="00b050"/>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528" name="TextBox 27"/>
          <p:cNvSpPr/>
          <p:nvPr/>
        </p:nvSpPr>
        <p:spPr>
          <a:xfrm>
            <a:off x="7556760" y="3278160"/>
            <a:ext cx="1162440" cy="2797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300" spc="-1" strike="noStrike">
                <a:solidFill>
                  <a:srgbClr val="000000"/>
                </a:solidFill>
                <a:latin typeface="Arial"/>
                <a:ea typeface="DejaVu Sans"/>
              </a:rPr>
              <a:t>Spike Months</a:t>
            </a:r>
            <a:endParaRPr b="0" lang="en-US" sz="1300" spc="-1" strike="noStrike">
              <a:latin typeface="Arial"/>
            </a:endParaRPr>
          </a:p>
        </p:txBody>
      </p:sp>
      <p:graphicFrame>
        <p:nvGraphicFramePr>
          <p:cNvPr id="529" name="Chart 5"/>
          <p:cNvGraphicFramePr/>
          <p:nvPr/>
        </p:nvGraphicFramePr>
        <p:xfrm>
          <a:off x="593640" y="2179800"/>
          <a:ext cx="6543000" cy="3534480"/>
        </p:xfrm>
        <a:graphic>
          <a:graphicData uri="http://schemas.openxmlformats.org/presentationml/2006/ole">
            <p:oleObj progId="Excel.Sheet.8" r:id="rId1" spid="">
              <p:embed/>
              <p:pic>
                <p:nvPicPr>
                  <p:cNvPr id="530" name="Chart 5" descr=""/>
                  <p:cNvPicPr/>
                  <p:nvPr/>
                </p:nvPicPr>
                <p:blipFill>
                  <a:blip r:embed="rId2"/>
                  <a:stretch/>
                </p:blipFill>
                <p:spPr>
                  <a:xfrm>
                    <a:off x="593640" y="2179800"/>
                    <a:ext cx="6543000" cy="3534480"/>
                  </a:xfrm>
                  <a:prstGeom prst="rect">
                    <a:avLst/>
                  </a:prstGeom>
                  <a:ln w="0">
                    <a:noFill/>
                  </a:ln>
                </p:spPr>
              </p:pic>
            </p:oleObj>
          </a:graphicData>
        </a:graphic>
      </p:graphicFrame>
      <p:sp>
        <p:nvSpPr>
          <p:cNvPr id="531" name="Text Box 5"/>
          <p:cNvSpPr/>
          <p:nvPr/>
        </p:nvSpPr>
        <p:spPr>
          <a:xfrm>
            <a:off x="460440" y="1665360"/>
            <a:ext cx="8365320" cy="26028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1800" spc="-1" strike="noStrike">
                <a:solidFill>
                  <a:srgbClr val="000000"/>
                </a:solidFill>
                <a:latin typeface="Arial"/>
                <a:ea typeface="DejaVu Sans"/>
              </a:rPr>
              <a:t>WWWW</a:t>
            </a:r>
            <a:endParaRPr b="0" lang="en-US" sz="1800" spc="-1" strike="noStrike">
              <a:latin typeface="Arial"/>
            </a:endParaRPr>
          </a:p>
        </p:txBody>
      </p:sp>
      <p:sp>
        <p:nvSpPr>
          <p:cNvPr id="532" name="Rectangle 11"/>
          <p:cNvSpPr/>
          <p:nvPr/>
        </p:nvSpPr>
        <p:spPr>
          <a:xfrm>
            <a:off x="7343640" y="3794040"/>
            <a:ext cx="205560" cy="205560"/>
          </a:xfrm>
          <a:prstGeom prst="rect">
            <a:avLst/>
          </a:prstGeom>
          <a:solidFill>
            <a:srgbClr val="0000ff"/>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533" name="TextBox 28"/>
          <p:cNvSpPr/>
          <p:nvPr/>
        </p:nvSpPr>
        <p:spPr>
          <a:xfrm>
            <a:off x="7561440" y="3657600"/>
            <a:ext cx="1017000" cy="67572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300" spc="-1" strike="noStrike">
                <a:solidFill>
                  <a:srgbClr val="000000"/>
                </a:solidFill>
                <a:latin typeface="Arial"/>
                <a:ea typeface="DejaVu Sans"/>
              </a:rPr>
              <a:t>Brand Equity Months</a:t>
            </a:r>
            <a:endParaRPr b="0" lang="en-US" sz="1300" spc="-1" strike="noStrike">
              <a:latin typeface="Arial"/>
            </a:endParaRPr>
          </a:p>
        </p:txBody>
      </p:sp>
      <p:sp>
        <p:nvSpPr>
          <p:cNvPr id="534" name="Rectangle 13"/>
          <p:cNvSpPr/>
          <p:nvPr/>
        </p:nvSpPr>
        <p:spPr>
          <a:xfrm>
            <a:off x="7343640" y="4443480"/>
            <a:ext cx="205560" cy="205560"/>
          </a:xfrm>
          <a:prstGeom prst="rect">
            <a:avLst/>
          </a:prstGeom>
          <a:solidFill>
            <a:srgbClr val="ce0000"/>
          </a:solidFill>
          <a:ln w="9525">
            <a:solidFill>
              <a:srgbClr val="000000"/>
            </a:solidFill>
            <a:miter/>
          </a:ln>
          <a:effectLst>
            <a:outerShdw blurRad="65520" dir="5400000" dist="38160" rotWithShape="0">
              <a:srgbClr val="808080">
                <a:alpha val="40000"/>
              </a:srgbClr>
            </a:outerShdw>
          </a:effectLst>
        </p:spPr>
        <p:style>
          <a:lnRef idx="0"/>
          <a:fillRef idx="0"/>
          <a:effectRef idx="0"/>
          <a:fontRef idx="minor"/>
        </p:style>
      </p:sp>
      <p:sp>
        <p:nvSpPr>
          <p:cNvPr id="535" name="TextBox 29"/>
          <p:cNvSpPr/>
          <p:nvPr/>
        </p:nvSpPr>
        <p:spPr>
          <a:xfrm>
            <a:off x="7596000" y="4375080"/>
            <a:ext cx="1107360" cy="2797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300" spc="-1" strike="noStrike">
                <a:solidFill>
                  <a:srgbClr val="000000"/>
                </a:solidFill>
                <a:latin typeface="Arial"/>
                <a:ea typeface="DejaVu Sans"/>
              </a:rPr>
              <a:t>Slow Months</a:t>
            </a:r>
            <a:endParaRPr b="0" lang="en-US" sz="13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Proposed Schedule – Plan B   </a:t>
            </a:r>
            <a:endParaRPr b="0" lang="en-US" sz="4000" spc="-1" strike="noStrike">
              <a:latin typeface="Arial"/>
            </a:endParaRPr>
          </a:p>
        </p:txBody>
      </p:sp>
      <p:sp>
        <p:nvSpPr>
          <p:cNvPr id="537"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7AF16B9F-9279-494A-BDFC-0F3650E452D2}"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538" name="Text Box 7"/>
          <p:cNvSpPr/>
          <p:nvPr/>
        </p:nvSpPr>
        <p:spPr>
          <a:xfrm>
            <a:off x="7620120" y="3330720"/>
            <a:ext cx="1142280" cy="117900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1" lang="en-US" sz="1800" spc="-1" strike="noStrike">
                <a:solidFill>
                  <a:srgbClr val="00274d"/>
                </a:solidFill>
                <a:latin typeface="Corbel"/>
                <a:ea typeface="Corbel"/>
              </a:rPr>
              <a:t>Spike </a:t>
            </a:r>
            <a:endParaRPr b="0" lang="en-US" sz="1800" spc="-1" strike="noStrike">
              <a:latin typeface="Arial"/>
            </a:endParaRPr>
          </a:p>
          <a:p>
            <a:pPr algn="ctr">
              <a:lnSpc>
                <a:spcPct val="100000"/>
              </a:lnSpc>
              <a:buNone/>
            </a:pPr>
            <a:r>
              <a:rPr b="1" lang="en-US" sz="1800" spc="-1" strike="noStrike">
                <a:solidFill>
                  <a:srgbClr val="00274d"/>
                </a:solidFill>
                <a:latin typeface="Corbel"/>
                <a:ea typeface="Corbel"/>
              </a:rPr>
              <a:t>Monthly Schedule</a:t>
            </a:r>
            <a:endParaRPr b="0" lang="en-US" sz="1800" spc="-1" strike="noStrike">
              <a:latin typeface="Arial"/>
            </a:endParaRPr>
          </a:p>
        </p:txBody>
      </p:sp>
      <p:sp>
        <p:nvSpPr>
          <p:cNvPr id="539" name="Text Box 8"/>
          <p:cNvSpPr/>
          <p:nvPr/>
        </p:nvSpPr>
        <p:spPr>
          <a:xfrm>
            <a:off x="7620120" y="1189440"/>
            <a:ext cx="1142280" cy="1727280"/>
          </a:xfrm>
          <a:prstGeom prst="rect">
            <a:avLst/>
          </a:prstGeom>
          <a:noFill/>
          <a:ln w="0">
            <a:noFill/>
          </a:ln>
        </p:spPr>
        <p:style>
          <a:lnRef idx="0"/>
          <a:fillRef idx="0"/>
          <a:effectRef idx="0"/>
          <a:fontRef idx="minor"/>
        </p:style>
        <p:txBody>
          <a:bodyPr lIns="82440" rIns="82440" tIns="41040" bIns="41040" anchor="ctr">
            <a:spAutoFit/>
          </a:bodyPr>
          <a:p>
            <a:pPr algn="ctr">
              <a:lnSpc>
                <a:spcPct val="100000"/>
              </a:lnSpc>
              <a:buNone/>
            </a:pPr>
            <a:r>
              <a:rPr b="1" lang="en-US" sz="1800" spc="-1" strike="noStrike">
                <a:solidFill>
                  <a:srgbClr val="00274d"/>
                </a:solidFill>
                <a:latin typeface="Corbel"/>
                <a:ea typeface="Corbel"/>
              </a:rPr>
              <a:t>Build </a:t>
            </a:r>
            <a:endParaRPr b="0" lang="en-US" sz="1800" spc="-1" strike="noStrike">
              <a:latin typeface="Arial"/>
            </a:endParaRPr>
          </a:p>
          <a:p>
            <a:pPr algn="ctr">
              <a:lnSpc>
                <a:spcPct val="100000"/>
              </a:lnSpc>
              <a:buNone/>
            </a:pPr>
            <a:r>
              <a:rPr b="1" lang="en-US" sz="1800" spc="-1" strike="noStrike">
                <a:solidFill>
                  <a:srgbClr val="00274d"/>
                </a:solidFill>
                <a:latin typeface="Corbel"/>
                <a:ea typeface="Corbel"/>
              </a:rPr>
              <a:t>Brand </a:t>
            </a:r>
            <a:endParaRPr b="0" lang="en-US" sz="1800" spc="-1" strike="noStrike">
              <a:latin typeface="Arial"/>
            </a:endParaRPr>
          </a:p>
          <a:p>
            <a:pPr algn="ctr">
              <a:lnSpc>
                <a:spcPct val="100000"/>
              </a:lnSpc>
              <a:buNone/>
            </a:pPr>
            <a:r>
              <a:rPr b="1" lang="en-US" sz="1800" spc="-1" strike="noStrike">
                <a:solidFill>
                  <a:srgbClr val="00274d"/>
                </a:solidFill>
                <a:latin typeface="Corbel"/>
                <a:ea typeface="Corbel"/>
              </a:rPr>
              <a:t>Equity Monthly Schedule</a:t>
            </a:r>
            <a:endParaRPr b="0" lang="en-US" sz="1800" spc="-1" strike="noStrike">
              <a:latin typeface="Arial"/>
            </a:endParaRPr>
          </a:p>
        </p:txBody>
      </p:sp>
      <p:sp>
        <p:nvSpPr>
          <p:cNvPr id="540" name="Text Box 9"/>
          <p:cNvSpPr/>
          <p:nvPr/>
        </p:nvSpPr>
        <p:spPr>
          <a:xfrm>
            <a:off x="7543800" y="4938840"/>
            <a:ext cx="1294560" cy="117900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1" lang="en-US" sz="1800" spc="-1" strike="noStrike">
                <a:solidFill>
                  <a:srgbClr val="00274d"/>
                </a:solidFill>
                <a:latin typeface="Corbel"/>
                <a:ea typeface="Corbel"/>
              </a:rPr>
              <a:t>Slow Performing Monthly Schedule</a:t>
            </a:r>
            <a:endParaRPr b="0" lang="en-US" sz="1800" spc="-1" strike="noStrike">
              <a:latin typeface="Arial"/>
            </a:endParaRPr>
          </a:p>
        </p:txBody>
      </p:sp>
      <p:graphicFrame>
        <p:nvGraphicFramePr>
          <p:cNvPr id="541" name="Object 1"/>
          <p:cNvGraphicFramePr/>
          <p:nvPr/>
        </p:nvGraphicFramePr>
        <p:xfrm>
          <a:off x="3957480" y="3233880"/>
          <a:ext cx="1227960" cy="389880"/>
        </p:xfrm>
        <a:graphic>
          <a:graphicData uri="http://schemas.openxmlformats.org/presentationml/2006/ole">
            <p:oleObj progId="Excel.Sheet.12" r:id="rId1" spid="">
              <p:embed/>
              <p:pic>
                <p:nvPicPr>
                  <p:cNvPr id="542" name="Object 1" descr=""/>
                  <p:cNvPicPr/>
                  <p:nvPr/>
                </p:nvPicPr>
                <p:blipFill>
                  <a:blip r:embed="rId2"/>
                  <a:stretch/>
                </p:blipFill>
                <p:spPr>
                  <a:xfrm>
                    <a:off x="3957480" y="3233880"/>
                    <a:ext cx="1227960" cy="389880"/>
                  </a:xfrm>
                  <a:prstGeom prst="rect">
                    <a:avLst/>
                  </a:prstGeom>
                  <a:ln w="0">
                    <a:noFill/>
                  </a:ln>
                </p:spPr>
              </p:pic>
            </p:oleObj>
          </a:graphicData>
        </a:graphic>
      </p:graphicFrame>
      <p:graphicFrame>
        <p:nvGraphicFramePr>
          <p:cNvPr id="543" name="Object 1"/>
          <p:cNvGraphicFramePr/>
          <p:nvPr/>
        </p:nvGraphicFramePr>
        <p:xfrm>
          <a:off x="380880" y="1262160"/>
          <a:ext cx="6876360" cy="1580400"/>
        </p:xfrm>
        <a:graphic>
          <a:graphicData uri="http://schemas.openxmlformats.org/presentationml/2006/ole">
            <p:oleObj progId="Excel.Sheet.8" r:id="rId3" spid="">
              <p:embed/>
              <p:pic>
                <p:nvPicPr>
                  <p:cNvPr id="544" name="Object 1" descr=""/>
                  <p:cNvPicPr/>
                  <p:nvPr/>
                </p:nvPicPr>
                <p:blipFill>
                  <a:blip r:embed="rId4"/>
                  <a:stretch/>
                </p:blipFill>
                <p:spPr>
                  <a:xfrm>
                    <a:off x="380880" y="1262160"/>
                    <a:ext cx="6876360" cy="1580400"/>
                  </a:xfrm>
                  <a:prstGeom prst="rect">
                    <a:avLst/>
                  </a:prstGeom>
                  <a:ln w="0">
                    <a:noFill/>
                  </a:ln>
                </p:spPr>
              </p:pic>
            </p:oleObj>
          </a:graphicData>
        </a:graphic>
      </p:graphicFrame>
      <p:graphicFrame>
        <p:nvGraphicFramePr>
          <p:cNvPr id="545" name="Object 2"/>
          <p:cNvGraphicFramePr/>
          <p:nvPr/>
        </p:nvGraphicFramePr>
        <p:xfrm>
          <a:off x="399960" y="2997360"/>
          <a:ext cx="6857280" cy="1580400"/>
        </p:xfrm>
        <a:graphic>
          <a:graphicData uri="http://schemas.openxmlformats.org/presentationml/2006/ole">
            <p:oleObj progId="Excel.Sheet.8" r:id="rId5" spid="">
              <p:embed/>
              <p:pic>
                <p:nvPicPr>
                  <p:cNvPr id="546" name="Object 2" descr=""/>
                  <p:cNvPicPr/>
                  <p:nvPr/>
                </p:nvPicPr>
                <p:blipFill>
                  <a:blip r:embed="rId6"/>
                  <a:stretch/>
                </p:blipFill>
                <p:spPr>
                  <a:xfrm>
                    <a:off x="399960" y="2997360"/>
                    <a:ext cx="6857280" cy="1580400"/>
                  </a:xfrm>
                  <a:prstGeom prst="rect">
                    <a:avLst/>
                  </a:prstGeom>
                  <a:ln w="0">
                    <a:noFill/>
                  </a:ln>
                </p:spPr>
              </p:pic>
            </p:oleObj>
          </a:graphicData>
        </a:graphic>
      </p:graphicFrame>
      <p:graphicFrame>
        <p:nvGraphicFramePr>
          <p:cNvPr id="547" name="Object 3"/>
          <p:cNvGraphicFramePr/>
          <p:nvPr/>
        </p:nvGraphicFramePr>
        <p:xfrm>
          <a:off x="399960" y="4743360"/>
          <a:ext cx="6857280" cy="1580400"/>
        </p:xfrm>
        <a:graphic>
          <a:graphicData uri="http://schemas.openxmlformats.org/presentationml/2006/ole">
            <p:oleObj progId="Excel.Sheet.8" r:id="rId7" spid="">
              <p:embed/>
              <p:pic>
                <p:nvPicPr>
                  <p:cNvPr id="548" name="Object 3" descr=""/>
                  <p:cNvPicPr/>
                  <p:nvPr/>
                </p:nvPicPr>
                <p:blipFill>
                  <a:blip r:embed="rId8"/>
                  <a:stretch/>
                </p:blipFill>
                <p:spPr>
                  <a:xfrm>
                    <a:off x="399960" y="4743360"/>
                    <a:ext cx="6857280" cy="1580400"/>
                  </a:xfrm>
                  <a:prstGeom prst="rect">
                    <a:avLst/>
                  </a:prstGeom>
                  <a:ln w="0">
                    <a:noFill/>
                  </a:ln>
                </p:spPr>
              </p:pic>
            </p:oleObj>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Text Box 5"/>
          <p:cNvSpPr/>
          <p:nvPr/>
        </p:nvSpPr>
        <p:spPr>
          <a:xfrm>
            <a:off x="0" y="1828800"/>
            <a:ext cx="9143280" cy="57888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i="1" lang="en-US" sz="2000" spc="-1" strike="noStrike">
                <a:solidFill>
                  <a:srgbClr val="00274d"/>
                </a:solidFill>
                <a:latin typeface="Corbel"/>
                <a:ea typeface="Corbel"/>
              </a:rPr>
              <a:t>Brand Equity Schedule</a:t>
            </a:r>
            <a:endParaRPr b="0" lang="en-US" sz="2000" spc="-1" strike="noStrike">
              <a:latin typeface="Arial"/>
            </a:endParaRPr>
          </a:p>
          <a:p>
            <a:pPr algn="ctr">
              <a:lnSpc>
                <a:spcPct val="95000"/>
              </a:lnSpc>
              <a:buNone/>
            </a:pPr>
            <a:r>
              <a:rPr b="1" i="1" lang="en-US" sz="2000" spc="-1" strike="noStrike">
                <a:solidFill>
                  <a:srgbClr val="00274d"/>
                </a:solidFill>
                <a:latin typeface="Corbel"/>
                <a:ea typeface="Corbel"/>
              </a:rPr>
              <a:t>Monthly Station Summary</a:t>
            </a:r>
            <a:endParaRPr b="0" lang="en-US" sz="2000" spc="-1" strike="noStrike">
              <a:latin typeface="Arial"/>
            </a:endParaRPr>
          </a:p>
        </p:txBody>
      </p:sp>
      <p:sp>
        <p:nvSpPr>
          <p:cNvPr id="550" name="Text Box 5"/>
          <p:cNvSpPr/>
          <p:nvPr/>
        </p:nvSpPr>
        <p:spPr>
          <a:xfrm>
            <a:off x="0" y="1380960"/>
            <a:ext cx="9143280" cy="28944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2000" spc="-1" strike="noStrike">
                <a:solidFill>
                  <a:srgbClr val="00274d"/>
                </a:solidFill>
                <a:latin typeface="Corbel"/>
                <a:ea typeface="Corbel"/>
              </a:rPr>
              <a:t>Premium Auto Centers</a:t>
            </a:r>
            <a:endParaRPr b="0" lang="en-US" sz="2000" spc="-1" strike="noStrike">
              <a:latin typeface="Arial"/>
            </a:endParaRPr>
          </a:p>
        </p:txBody>
      </p:sp>
      <p:sp>
        <p:nvSpPr>
          <p:cNvPr id="551"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Proposed Schedule – Plan B   </a:t>
            </a:r>
            <a:endParaRPr b="0" lang="en-US" sz="4000" spc="-1" strike="noStrike">
              <a:latin typeface="Arial"/>
            </a:endParaRPr>
          </a:p>
        </p:txBody>
      </p:sp>
      <p:sp>
        <p:nvSpPr>
          <p:cNvPr id="552"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98B38BC7-90E0-4D0C-9D95-DF91A3F96AEC}"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553" name="Rectangle 1"/>
          <p:cNvSpPr/>
          <p:nvPr/>
        </p:nvSpPr>
        <p:spPr>
          <a:xfrm>
            <a:off x="1042920" y="2733840"/>
            <a:ext cx="10695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274d"/>
                </a:solidFill>
                <a:latin typeface="Corbel"/>
                <a:ea typeface="DejaVu Sans"/>
              </a:rPr>
              <a:t>Market:  </a:t>
            </a:r>
            <a:endParaRPr b="0" lang="en-US" sz="1800" spc="-1" strike="noStrike">
              <a:latin typeface="Arial"/>
            </a:endParaRPr>
          </a:p>
        </p:txBody>
      </p:sp>
      <p:sp>
        <p:nvSpPr>
          <p:cNvPr id="554" name="Rectangle 2"/>
          <p:cNvSpPr/>
          <p:nvPr/>
        </p:nvSpPr>
        <p:spPr>
          <a:xfrm>
            <a:off x="1066680" y="3195720"/>
            <a:ext cx="45712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274d"/>
                </a:solidFill>
                <a:latin typeface="Corbel"/>
                <a:ea typeface="DejaVu Sans"/>
              </a:rPr>
              <a:t>Average Monthly Broadcast Reach: </a:t>
            </a:r>
            <a:endParaRPr b="0" lang="en-US" sz="1800" spc="-1" strike="noStrike">
              <a:latin typeface="Arial"/>
            </a:endParaRPr>
          </a:p>
        </p:txBody>
      </p:sp>
      <p:sp>
        <p:nvSpPr>
          <p:cNvPr id="555" name="Rectangle 3"/>
          <p:cNvSpPr/>
          <p:nvPr/>
        </p:nvSpPr>
        <p:spPr>
          <a:xfrm>
            <a:off x="944280" y="3692520"/>
            <a:ext cx="41832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274d"/>
                </a:solidFill>
                <a:latin typeface="Corbel"/>
                <a:ea typeface="DejaVu Sans"/>
              </a:rPr>
              <a:t>Average Monthly Broadcast Frequency:</a:t>
            </a:r>
            <a:endParaRPr b="0" lang="en-US" sz="1800" spc="-1" strike="noStrike">
              <a:latin typeface="Arial"/>
            </a:endParaRPr>
          </a:p>
        </p:txBody>
      </p:sp>
      <p:sp>
        <p:nvSpPr>
          <p:cNvPr id="556" name="Rectangle 4"/>
          <p:cNvSpPr/>
          <p:nvPr/>
        </p:nvSpPr>
        <p:spPr>
          <a:xfrm>
            <a:off x="938160" y="4195800"/>
            <a:ext cx="46785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274d"/>
                </a:solidFill>
                <a:latin typeface="Corbel"/>
                <a:ea typeface="DejaVu Sans"/>
              </a:rPr>
              <a:t>Average Monthly Digital Gross Impressions: </a:t>
            </a:r>
            <a:endParaRPr b="0" lang="en-US" sz="1800" spc="-1" strike="noStrike">
              <a:latin typeface="Arial"/>
            </a:endParaRPr>
          </a:p>
        </p:txBody>
      </p:sp>
      <p:sp>
        <p:nvSpPr>
          <p:cNvPr id="557" name="Rectangle 5"/>
          <p:cNvSpPr/>
          <p:nvPr/>
        </p:nvSpPr>
        <p:spPr>
          <a:xfrm>
            <a:off x="1031760" y="4697280"/>
            <a:ext cx="45712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274d"/>
                </a:solidFill>
                <a:latin typeface="Corbel"/>
                <a:ea typeface="DejaVu Sans"/>
              </a:rPr>
              <a:t>Average Monthly Advertising Investment: </a:t>
            </a:r>
            <a:endParaRPr b="0" lang="en-US" sz="1800" spc="-1" strike="noStrike">
              <a:latin typeface="Arial"/>
            </a:endParaRPr>
          </a:p>
        </p:txBody>
      </p:sp>
      <p:sp>
        <p:nvSpPr>
          <p:cNvPr id="558" name="Rectangle 6"/>
          <p:cNvSpPr/>
          <p:nvPr/>
        </p:nvSpPr>
        <p:spPr>
          <a:xfrm>
            <a:off x="952560" y="5154480"/>
            <a:ext cx="29030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274d"/>
                </a:solidFill>
                <a:latin typeface="Corbel"/>
                <a:ea typeface="DejaVu Sans"/>
              </a:rPr>
              <a:t>Average Daily Investment: </a:t>
            </a:r>
            <a:endParaRPr b="0" lang="en-US" sz="1800" spc="-1" strike="noStrike">
              <a:latin typeface="Arial"/>
            </a:endParaRPr>
          </a:p>
        </p:txBody>
      </p:sp>
      <p:sp>
        <p:nvSpPr>
          <p:cNvPr id="559" name="TextBox 12"/>
          <p:cNvSpPr/>
          <p:nvPr/>
        </p:nvSpPr>
        <p:spPr>
          <a:xfrm>
            <a:off x="5018760" y="3701880"/>
            <a:ext cx="29088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800" spc="-1" strike="noStrike">
                <a:solidFill>
                  <a:srgbClr val="00274d"/>
                </a:solidFill>
                <a:latin typeface="Corbel"/>
                <a:ea typeface="Corbel"/>
              </a:rPr>
              <a:t>3</a:t>
            </a:r>
            <a:endParaRPr b="0" lang="en-US" sz="1800" spc="-1" strike="noStrike">
              <a:latin typeface="Arial"/>
            </a:endParaRPr>
          </a:p>
        </p:txBody>
      </p:sp>
      <p:sp>
        <p:nvSpPr>
          <p:cNvPr id="560" name="TextBox 13"/>
          <p:cNvSpPr/>
          <p:nvPr/>
        </p:nvSpPr>
        <p:spPr>
          <a:xfrm>
            <a:off x="2057400" y="2743200"/>
            <a:ext cx="3504600" cy="3560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800" spc="-1" strike="noStrike">
                <a:solidFill>
                  <a:srgbClr val="00274d"/>
                </a:solidFill>
                <a:latin typeface="Corbel"/>
                <a:ea typeface="Corbel"/>
              </a:rPr>
              <a:t>Any Market USA</a:t>
            </a:r>
            <a:endParaRPr b="0" lang="en-US" sz="1800" spc="-1" strike="noStrike">
              <a:latin typeface="Arial"/>
            </a:endParaRPr>
          </a:p>
        </p:txBody>
      </p:sp>
      <p:sp>
        <p:nvSpPr>
          <p:cNvPr id="561" name="TextBox 14"/>
          <p:cNvSpPr/>
          <p:nvPr/>
        </p:nvSpPr>
        <p:spPr>
          <a:xfrm>
            <a:off x="5454360" y="4203720"/>
            <a:ext cx="98748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800" spc="-1" strike="noStrike">
                <a:solidFill>
                  <a:srgbClr val="00274d"/>
                </a:solidFill>
                <a:latin typeface="Corbel"/>
                <a:ea typeface="Corbel"/>
              </a:rPr>
              <a:t>100,000</a:t>
            </a:r>
            <a:endParaRPr b="0" lang="en-US" sz="1800" spc="-1" strike="noStrike">
              <a:latin typeface="Arial"/>
            </a:endParaRPr>
          </a:p>
        </p:txBody>
      </p:sp>
      <p:sp>
        <p:nvSpPr>
          <p:cNvPr id="562" name="TextBox 20"/>
          <p:cNvSpPr/>
          <p:nvPr/>
        </p:nvSpPr>
        <p:spPr>
          <a:xfrm>
            <a:off x="3733920" y="5164200"/>
            <a:ext cx="3398040" cy="3560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800" spc="-1" strike="noStrike">
                <a:solidFill>
                  <a:srgbClr val="00274d"/>
                </a:solidFill>
                <a:latin typeface="Corbel"/>
                <a:ea typeface="Corbel"/>
              </a:rPr>
              <a:t>$133</a:t>
            </a:r>
            <a:endParaRPr b="0" lang="en-US" sz="1800" spc="-1" strike="noStrike">
              <a:latin typeface="Arial"/>
            </a:endParaRPr>
          </a:p>
        </p:txBody>
      </p:sp>
      <p:sp>
        <p:nvSpPr>
          <p:cNvPr id="563" name="TextBox 21"/>
          <p:cNvSpPr/>
          <p:nvPr/>
        </p:nvSpPr>
        <p:spPr>
          <a:xfrm>
            <a:off x="5259240" y="4707000"/>
            <a:ext cx="3426840" cy="3560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800" spc="-1" strike="noStrike">
                <a:solidFill>
                  <a:srgbClr val="00274d"/>
                </a:solidFill>
                <a:latin typeface="Corbel"/>
                <a:ea typeface="Corbel"/>
              </a:rPr>
              <a:t>$4,000</a:t>
            </a:r>
            <a:endParaRPr b="0" lang="en-US" sz="1800" spc="-1" strike="noStrike">
              <a:latin typeface="Arial"/>
            </a:endParaRPr>
          </a:p>
        </p:txBody>
      </p:sp>
      <p:sp>
        <p:nvSpPr>
          <p:cNvPr id="564" name="TextBox 11"/>
          <p:cNvSpPr/>
          <p:nvPr/>
        </p:nvSpPr>
        <p:spPr>
          <a:xfrm>
            <a:off x="4537800" y="3205080"/>
            <a:ext cx="987480" cy="3560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800" spc="-1" strike="noStrike">
                <a:solidFill>
                  <a:srgbClr val="00274d"/>
                </a:solidFill>
                <a:latin typeface="Corbel"/>
                <a:ea typeface="Corbel"/>
              </a:rPr>
              <a:t>120,000</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Break Even Analysis – Plan B  </a:t>
            </a:r>
            <a:endParaRPr b="0" lang="en-US" sz="4000" spc="-1" strike="noStrike">
              <a:latin typeface="Arial"/>
            </a:endParaRPr>
          </a:p>
        </p:txBody>
      </p:sp>
      <p:sp>
        <p:nvSpPr>
          <p:cNvPr id="566"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E5D0CF59-B8AE-4E57-949B-4FF69BF040FF}" type="slidenum">
              <a:rPr b="0" lang="en-US" sz="1100" spc="-1" strike="noStrike">
                <a:solidFill>
                  <a:srgbClr val="ffffff"/>
                </a:solidFill>
                <a:latin typeface="Corbel"/>
                <a:ea typeface="Corbel"/>
              </a:rPr>
              <a:t>&lt;number&gt;</a:t>
            </a:fld>
            <a:endParaRPr b="0" lang="en-US" sz="1100" spc="-1" strike="noStrike">
              <a:latin typeface="Arial"/>
            </a:endParaRPr>
          </a:p>
        </p:txBody>
      </p:sp>
      <p:pic>
        <p:nvPicPr>
          <p:cNvPr id="567" name="Picture 5" descr=""/>
          <p:cNvPicPr/>
          <p:nvPr/>
        </p:nvPicPr>
        <p:blipFill>
          <a:blip r:embed="rId1"/>
          <a:stretch/>
        </p:blipFill>
        <p:spPr>
          <a:xfrm>
            <a:off x="6316560" y="1824120"/>
            <a:ext cx="1553400" cy="18360"/>
          </a:xfrm>
          <a:prstGeom prst="rect">
            <a:avLst/>
          </a:prstGeom>
          <a:ln w="0">
            <a:noFill/>
          </a:ln>
        </p:spPr>
      </p:pic>
      <p:pic>
        <p:nvPicPr>
          <p:cNvPr id="568" name="Picture 6" descr=""/>
          <p:cNvPicPr/>
          <p:nvPr/>
        </p:nvPicPr>
        <p:blipFill>
          <a:blip r:embed="rId2"/>
          <a:stretch/>
        </p:blipFill>
        <p:spPr>
          <a:xfrm>
            <a:off x="6324480" y="2228760"/>
            <a:ext cx="1553400" cy="18360"/>
          </a:xfrm>
          <a:prstGeom prst="rect">
            <a:avLst/>
          </a:prstGeom>
          <a:ln w="0">
            <a:noFill/>
          </a:ln>
        </p:spPr>
      </p:pic>
      <p:pic>
        <p:nvPicPr>
          <p:cNvPr id="569" name="Picture 7" descr=""/>
          <p:cNvPicPr/>
          <p:nvPr/>
        </p:nvPicPr>
        <p:blipFill>
          <a:blip r:embed="rId3"/>
          <a:stretch/>
        </p:blipFill>
        <p:spPr>
          <a:xfrm>
            <a:off x="6324480" y="2670120"/>
            <a:ext cx="1553400" cy="18360"/>
          </a:xfrm>
          <a:prstGeom prst="rect">
            <a:avLst/>
          </a:prstGeom>
          <a:ln w="0">
            <a:noFill/>
          </a:ln>
        </p:spPr>
      </p:pic>
      <p:pic>
        <p:nvPicPr>
          <p:cNvPr id="570" name="Picture 8" descr=""/>
          <p:cNvPicPr/>
          <p:nvPr/>
        </p:nvPicPr>
        <p:blipFill>
          <a:blip r:embed="rId4"/>
          <a:stretch/>
        </p:blipFill>
        <p:spPr>
          <a:xfrm>
            <a:off x="6324480" y="3132000"/>
            <a:ext cx="1553400" cy="18360"/>
          </a:xfrm>
          <a:prstGeom prst="rect">
            <a:avLst/>
          </a:prstGeom>
          <a:ln w="0">
            <a:noFill/>
          </a:ln>
        </p:spPr>
      </p:pic>
      <p:pic>
        <p:nvPicPr>
          <p:cNvPr id="571" name="Picture 9" descr=""/>
          <p:cNvPicPr/>
          <p:nvPr/>
        </p:nvPicPr>
        <p:blipFill>
          <a:blip r:embed="rId5"/>
          <a:stretch/>
        </p:blipFill>
        <p:spPr>
          <a:xfrm>
            <a:off x="6324480" y="3502080"/>
            <a:ext cx="1553400" cy="18360"/>
          </a:xfrm>
          <a:prstGeom prst="rect">
            <a:avLst/>
          </a:prstGeom>
          <a:ln w="0">
            <a:noFill/>
          </a:ln>
        </p:spPr>
      </p:pic>
      <p:pic>
        <p:nvPicPr>
          <p:cNvPr id="572" name="Picture 10" descr=""/>
          <p:cNvPicPr/>
          <p:nvPr/>
        </p:nvPicPr>
        <p:blipFill>
          <a:blip r:embed="rId6"/>
          <a:stretch/>
        </p:blipFill>
        <p:spPr>
          <a:xfrm>
            <a:off x="6324480" y="3956040"/>
            <a:ext cx="1553400" cy="18360"/>
          </a:xfrm>
          <a:prstGeom prst="rect">
            <a:avLst/>
          </a:prstGeom>
          <a:ln w="0">
            <a:noFill/>
          </a:ln>
        </p:spPr>
      </p:pic>
      <p:pic>
        <p:nvPicPr>
          <p:cNvPr id="573" name="Picture 11" descr=""/>
          <p:cNvPicPr/>
          <p:nvPr/>
        </p:nvPicPr>
        <p:blipFill>
          <a:blip r:embed="rId7"/>
          <a:stretch/>
        </p:blipFill>
        <p:spPr>
          <a:xfrm>
            <a:off x="6324480" y="4354560"/>
            <a:ext cx="1553400" cy="18360"/>
          </a:xfrm>
          <a:prstGeom prst="rect">
            <a:avLst/>
          </a:prstGeom>
          <a:ln w="0">
            <a:noFill/>
          </a:ln>
        </p:spPr>
      </p:pic>
      <p:pic>
        <p:nvPicPr>
          <p:cNvPr id="574" name="Picture 12" descr=""/>
          <p:cNvPicPr/>
          <p:nvPr/>
        </p:nvPicPr>
        <p:blipFill>
          <a:blip r:embed="rId8"/>
          <a:stretch/>
        </p:blipFill>
        <p:spPr>
          <a:xfrm>
            <a:off x="6384960" y="4776840"/>
            <a:ext cx="1553400" cy="18360"/>
          </a:xfrm>
          <a:prstGeom prst="rect">
            <a:avLst/>
          </a:prstGeom>
          <a:ln w="0">
            <a:noFill/>
          </a:ln>
        </p:spPr>
      </p:pic>
      <p:sp>
        <p:nvSpPr>
          <p:cNvPr id="575" name="Rectangle 14"/>
          <p:cNvSpPr/>
          <p:nvPr/>
        </p:nvSpPr>
        <p:spPr>
          <a:xfrm>
            <a:off x="0" y="1585800"/>
            <a:ext cx="6384240" cy="4163760"/>
          </a:xfrm>
          <a:prstGeom prst="rect">
            <a:avLst/>
          </a:prstGeom>
          <a:noFill/>
          <a:ln w="0">
            <a:noFill/>
          </a:ln>
        </p:spPr>
        <p:style>
          <a:lnRef idx="0"/>
          <a:fillRef idx="0"/>
          <a:effectRef idx="0"/>
          <a:fontRef idx="minor"/>
        </p:style>
        <p:txBody>
          <a:bodyPr lIns="82440" rIns="82440" tIns="41040" bIns="41040" anchor="t">
            <a:spAutoFit/>
          </a:bodyPr>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A. Average sale (ticket, transaction, invoice)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B. Gross profit margin on average sale (sale less variable costs)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C. Closing or conversion rate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D. Projected prospect value ( </a:t>
            </a:r>
            <a:r>
              <a:rPr b="1" lang="en-US" sz="1400" spc="-1" strike="noStrike">
                <a:solidFill>
                  <a:srgbClr val="7b8364"/>
                </a:solidFill>
                <a:latin typeface="Corbel"/>
                <a:ea typeface="DejaVu Sans"/>
              </a:rPr>
              <a:t>= A * B * C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E. Client base monthly advertising investment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F. Monthly prospects needed to pay for advertising investment ( </a:t>
            </a:r>
            <a:r>
              <a:rPr b="1" lang="en-US" sz="1400" spc="-1" strike="noStrike">
                <a:solidFill>
                  <a:srgbClr val="7b8364"/>
                </a:solidFill>
                <a:latin typeface="Corbel"/>
                <a:ea typeface="DejaVu Sans"/>
              </a:rPr>
              <a:t>= E / D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G. Monthly # of sales from prospects needed to break even ( </a:t>
            </a:r>
            <a:r>
              <a:rPr b="1" lang="en-US" sz="1400" spc="-1" strike="noStrike">
                <a:solidFill>
                  <a:srgbClr val="7b8364"/>
                </a:solidFill>
                <a:latin typeface="Corbel"/>
                <a:ea typeface="DejaVu Sans"/>
              </a:rPr>
              <a:t>= F * C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H. Gross sales per month needed to break even ( </a:t>
            </a:r>
            <a:r>
              <a:rPr b="1" lang="en-US" sz="1400" spc="-1" strike="noStrike">
                <a:solidFill>
                  <a:srgbClr val="7b8364"/>
                </a:solidFill>
                <a:latin typeface="Corbel"/>
                <a:ea typeface="DejaVu Sans"/>
              </a:rPr>
              <a:t>= G * A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Clr>
                <a:srgbClr val="00274d"/>
              </a:buClr>
              <a:buFont typeface="StarSymbol"/>
              <a:buAutoNum type="romanUcPeriod"/>
              <a:tabLst>
                <a:tab algn="l" pos="0"/>
              </a:tabLst>
            </a:pPr>
            <a:r>
              <a:rPr b="1" lang="en-US" sz="1400" spc="-1" strike="noStrike">
                <a:solidFill>
                  <a:srgbClr val="00274d"/>
                </a:solidFill>
                <a:latin typeface="Corbel"/>
                <a:ea typeface="Corbel"/>
              </a:rPr>
              <a:t> </a:t>
            </a:r>
            <a:r>
              <a:rPr b="1" lang="en-US" sz="1400" spc="-1" strike="noStrike">
                <a:solidFill>
                  <a:srgbClr val="00274d"/>
                </a:solidFill>
                <a:latin typeface="Corbel"/>
                <a:ea typeface="Corbel"/>
              </a:rPr>
              <a:t>Number of months to run in proposed marketing plan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J.  Additional gross sales per year needed to break even ( </a:t>
            </a:r>
            <a:r>
              <a:rPr b="1" lang="en-US" sz="1400" spc="-1" strike="noStrike">
                <a:solidFill>
                  <a:srgbClr val="7b8364"/>
                </a:solidFill>
                <a:latin typeface="Corbel"/>
                <a:ea typeface="Corbel"/>
              </a:rPr>
              <a:t>= H * I </a:t>
            </a:r>
            <a:r>
              <a:rPr b="1" lang="en-US" sz="1400" spc="-1" strike="noStrike">
                <a:solidFill>
                  <a:srgbClr val="00274d"/>
                </a:solidFill>
                <a:latin typeface="Corbel"/>
                <a:ea typeface="Corbel"/>
              </a:rPr>
              <a:t>) =</a:t>
            </a:r>
            <a:endParaRPr b="0" lang="en-US" sz="1400" spc="-1" strike="noStrike">
              <a:latin typeface="Arial"/>
            </a:endParaRPr>
          </a:p>
        </p:txBody>
      </p:sp>
      <p:sp>
        <p:nvSpPr>
          <p:cNvPr id="576" name="TextBox 11"/>
          <p:cNvSpPr/>
          <p:nvPr/>
        </p:nvSpPr>
        <p:spPr>
          <a:xfrm>
            <a:off x="6375240" y="1574640"/>
            <a:ext cx="7192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$10,000</a:t>
            </a:r>
            <a:endParaRPr b="0" lang="en-US" sz="1200" spc="-1" strike="noStrike">
              <a:latin typeface="Arial"/>
            </a:endParaRPr>
          </a:p>
        </p:txBody>
      </p:sp>
      <p:sp>
        <p:nvSpPr>
          <p:cNvPr id="577" name="TextBox 12"/>
          <p:cNvSpPr/>
          <p:nvPr/>
        </p:nvSpPr>
        <p:spPr>
          <a:xfrm>
            <a:off x="6380280" y="1974960"/>
            <a:ext cx="4708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33%</a:t>
            </a:r>
            <a:endParaRPr b="0" lang="en-US" sz="1200" spc="-1" strike="noStrike">
              <a:latin typeface="Arial"/>
            </a:endParaRPr>
          </a:p>
        </p:txBody>
      </p:sp>
      <p:sp>
        <p:nvSpPr>
          <p:cNvPr id="578" name="TextBox 13"/>
          <p:cNvSpPr/>
          <p:nvPr/>
        </p:nvSpPr>
        <p:spPr>
          <a:xfrm>
            <a:off x="6384240" y="2403360"/>
            <a:ext cx="4708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25%</a:t>
            </a:r>
            <a:endParaRPr b="0" lang="en-US" sz="1200" spc="-1" strike="noStrike">
              <a:latin typeface="Arial"/>
            </a:endParaRPr>
          </a:p>
        </p:txBody>
      </p:sp>
      <p:sp>
        <p:nvSpPr>
          <p:cNvPr id="579" name="TextBox 14"/>
          <p:cNvSpPr/>
          <p:nvPr/>
        </p:nvSpPr>
        <p:spPr>
          <a:xfrm>
            <a:off x="6381000" y="288936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$825</a:t>
            </a:r>
            <a:endParaRPr b="0" lang="en-US" sz="1200" spc="-1" strike="noStrike">
              <a:latin typeface="Arial"/>
            </a:endParaRPr>
          </a:p>
        </p:txBody>
      </p:sp>
      <p:sp>
        <p:nvSpPr>
          <p:cNvPr id="580" name="TextBox 15"/>
          <p:cNvSpPr/>
          <p:nvPr/>
        </p:nvSpPr>
        <p:spPr>
          <a:xfrm>
            <a:off x="6383880" y="324792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$4,000</a:t>
            </a:r>
            <a:endParaRPr b="0" lang="en-US" sz="1200" spc="-1" strike="noStrike">
              <a:latin typeface="Arial"/>
            </a:endParaRPr>
          </a:p>
        </p:txBody>
      </p:sp>
      <p:sp>
        <p:nvSpPr>
          <p:cNvPr id="581" name="TextBox 16"/>
          <p:cNvSpPr/>
          <p:nvPr/>
        </p:nvSpPr>
        <p:spPr>
          <a:xfrm>
            <a:off x="6394320" y="3701880"/>
            <a:ext cx="3780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4.8</a:t>
            </a:r>
            <a:endParaRPr b="0" lang="en-US" sz="1200" spc="-1" strike="noStrike">
              <a:latin typeface="Arial"/>
            </a:endParaRPr>
          </a:p>
        </p:txBody>
      </p:sp>
      <p:sp>
        <p:nvSpPr>
          <p:cNvPr id="582" name="TextBox 17"/>
          <p:cNvSpPr/>
          <p:nvPr/>
        </p:nvSpPr>
        <p:spPr>
          <a:xfrm>
            <a:off x="6400800" y="4102200"/>
            <a:ext cx="217116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1.2</a:t>
            </a:r>
            <a:endParaRPr b="0" lang="en-US" sz="1200" spc="-1" strike="noStrike">
              <a:latin typeface="Arial"/>
            </a:endParaRPr>
          </a:p>
        </p:txBody>
      </p:sp>
      <p:sp>
        <p:nvSpPr>
          <p:cNvPr id="583" name="TextBox 18"/>
          <p:cNvSpPr/>
          <p:nvPr/>
        </p:nvSpPr>
        <p:spPr>
          <a:xfrm>
            <a:off x="6400800" y="451188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$12,121</a:t>
            </a:r>
            <a:endParaRPr b="0" lang="en-US" sz="1200" spc="-1" strike="noStrike">
              <a:latin typeface="Arial"/>
            </a:endParaRPr>
          </a:p>
        </p:txBody>
      </p:sp>
      <p:pic>
        <p:nvPicPr>
          <p:cNvPr id="584" name="Picture 12" descr=""/>
          <p:cNvPicPr/>
          <p:nvPr/>
        </p:nvPicPr>
        <p:blipFill>
          <a:blip r:embed="rId9"/>
          <a:stretch/>
        </p:blipFill>
        <p:spPr>
          <a:xfrm>
            <a:off x="6384960" y="5141880"/>
            <a:ext cx="1553400" cy="18360"/>
          </a:xfrm>
          <a:prstGeom prst="rect">
            <a:avLst/>
          </a:prstGeom>
          <a:ln w="0">
            <a:noFill/>
          </a:ln>
        </p:spPr>
      </p:pic>
      <p:pic>
        <p:nvPicPr>
          <p:cNvPr id="585" name="Picture 12" descr=""/>
          <p:cNvPicPr/>
          <p:nvPr/>
        </p:nvPicPr>
        <p:blipFill>
          <a:blip r:embed="rId10"/>
          <a:stretch/>
        </p:blipFill>
        <p:spPr>
          <a:xfrm>
            <a:off x="6369120" y="5541840"/>
            <a:ext cx="1553400" cy="18360"/>
          </a:xfrm>
          <a:prstGeom prst="rect">
            <a:avLst/>
          </a:prstGeom>
          <a:ln w="0">
            <a:noFill/>
          </a:ln>
        </p:spPr>
      </p:pic>
      <p:sp>
        <p:nvSpPr>
          <p:cNvPr id="586" name="TextBox 18"/>
          <p:cNvSpPr/>
          <p:nvPr/>
        </p:nvSpPr>
        <p:spPr>
          <a:xfrm>
            <a:off x="6400800" y="486756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12</a:t>
            </a:r>
            <a:endParaRPr b="0" lang="en-US" sz="1200" spc="-1" strike="noStrike">
              <a:latin typeface="Arial"/>
            </a:endParaRPr>
          </a:p>
        </p:txBody>
      </p:sp>
      <p:sp>
        <p:nvSpPr>
          <p:cNvPr id="587" name="TextBox 18"/>
          <p:cNvSpPr/>
          <p:nvPr/>
        </p:nvSpPr>
        <p:spPr>
          <a:xfrm>
            <a:off x="6400800" y="527688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$145,455</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E0BB49A2-E9D4-4455-8B8C-2353E815C72B}"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589"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Lifetime Value Analysis – Plan B  </a:t>
            </a:r>
            <a:endParaRPr b="0" lang="en-US" sz="4000" spc="-1" strike="noStrike">
              <a:latin typeface="Arial"/>
            </a:endParaRPr>
          </a:p>
        </p:txBody>
      </p:sp>
      <p:pic>
        <p:nvPicPr>
          <p:cNvPr id="590" name="Picture 5" descr=""/>
          <p:cNvPicPr/>
          <p:nvPr/>
        </p:nvPicPr>
        <p:blipFill>
          <a:blip r:embed="rId1"/>
          <a:stretch/>
        </p:blipFill>
        <p:spPr>
          <a:xfrm>
            <a:off x="6316560" y="1824120"/>
            <a:ext cx="1553400" cy="18360"/>
          </a:xfrm>
          <a:prstGeom prst="rect">
            <a:avLst/>
          </a:prstGeom>
          <a:ln w="0">
            <a:noFill/>
          </a:ln>
        </p:spPr>
      </p:pic>
      <p:pic>
        <p:nvPicPr>
          <p:cNvPr id="591" name="Picture 6" descr=""/>
          <p:cNvPicPr/>
          <p:nvPr/>
        </p:nvPicPr>
        <p:blipFill>
          <a:blip r:embed="rId2"/>
          <a:stretch/>
        </p:blipFill>
        <p:spPr>
          <a:xfrm>
            <a:off x="6324480" y="2228760"/>
            <a:ext cx="1553400" cy="18360"/>
          </a:xfrm>
          <a:prstGeom prst="rect">
            <a:avLst/>
          </a:prstGeom>
          <a:ln w="0">
            <a:noFill/>
          </a:ln>
        </p:spPr>
      </p:pic>
      <p:pic>
        <p:nvPicPr>
          <p:cNvPr id="592" name="Picture 7" descr=""/>
          <p:cNvPicPr/>
          <p:nvPr/>
        </p:nvPicPr>
        <p:blipFill>
          <a:blip r:embed="rId3"/>
          <a:stretch/>
        </p:blipFill>
        <p:spPr>
          <a:xfrm>
            <a:off x="6324480" y="2670120"/>
            <a:ext cx="1553400" cy="18360"/>
          </a:xfrm>
          <a:prstGeom prst="rect">
            <a:avLst/>
          </a:prstGeom>
          <a:ln w="0">
            <a:noFill/>
          </a:ln>
        </p:spPr>
      </p:pic>
      <p:pic>
        <p:nvPicPr>
          <p:cNvPr id="593" name="Picture 8" descr=""/>
          <p:cNvPicPr/>
          <p:nvPr/>
        </p:nvPicPr>
        <p:blipFill>
          <a:blip r:embed="rId4"/>
          <a:stretch/>
        </p:blipFill>
        <p:spPr>
          <a:xfrm>
            <a:off x="6324480" y="3132000"/>
            <a:ext cx="1553400" cy="18360"/>
          </a:xfrm>
          <a:prstGeom prst="rect">
            <a:avLst/>
          </a:prstGeom>
          <a:ln w="0">
            <a:noFill/>
          </a:ln>
        </p:spPr>
      </p:pic>
      <p:pic>
        <p:nvPicPr>
          <p:cNvPr id="594" name="Picture 9" descr=""/>
          <p:cNvPicPr/>
          <p:nvPr/>
        </p:nvPicPr>
        <p:blipFill>
          <a:blip r:embed="rId5"/>
          <a:stretch/>
        </p:blipFill>
        <p:spPr>
          <a:xfrm>
            <a:off x="6324480" y="3502080"/>
            <a:ext cx="1553400" cy="18360"/>
          </a:xfrm>
          <a:prstGeom prst="rect">
            <a:avLst/>
          </a:prstGeom>
          <a:ln w="0">
            <a:noFill/>
          </a:ln>
        </p:spPr>
      </p:pic>
      <p:pic>
        <p:nvPicPr>
          <p:cNvPr id="595" name="Picture 10" descr=""/>
          <p:cNvPicPr/>
          <p:nvPr/>
        </p:nvPicPr>
        <p:blipFill>
          <a:blip r:embed="rId6"/>
          <a:stretch/>
        </p:blipFill>
        <p:spPr>
          <a:xfrm>
            <a:off x="6324480" y="3956040"/>
            <a:ext cx="1553400" cy="18360"/>
          </a:xfrm>
          <a:prstGeom prst="rect">
            <a:avLst/>
          </a:prstGeom>
          <a:ln w="0">
            <a:noFill/>
          </a:ln>
        </p:spPr>
      </p:pic>
      <p:pic>
        <p:nvPicPr>
          <p:cNvPr id="596" name="Picture 11" descr=""/>
          <p:cNvPicPr/>
          <p:nvPr/>
        </p:nvPicPr>
        <p:blipFill>
          <a:blip r:embed="rId7"/>
          <a:stretch/>
        </p:blipFill>
        <p:spPr>
          <a:xfrm>
            <a:off x="6324480" y="4354560"/>
            <a:ext cx="1553400" cy="18360"/>
          </a:xfrm>
          <a:prstGeom prst="rect">
            <a:avLst/>
          </a:prstGeom>
          <a:ln w="0">
            <a:noFill/>
          </a:ln>
        </p:spPr>
      </p:pic>
      <p:pic>
        <p:nvPicPr>
          <p:cNvPr id="597" name="Picture 12" descr=""/>
          <p:cNvPicPr/>
          <p:nvPr/>
        </p:nvPicPr>
        <p:blipFill>
          <a:blip r:embed="rId8"/>
          <a:stretch/>
        </p:blipFill>
        <p:spPr>
          <a:xfrm>
            <a:off x="6384960" y="4776840"/>
            <a:ext cx="1553400" cy="18360"/>
          </a:xfrm>
          <a:prstGeom prst="rect">
            <a:avLst/>
          </a:prstGeom>
          <a:ln w="0">
            <a:noFill/>
          </a:ln>
        </p:spPr>
      </p:pic>
      <p:sp>
        <p:nvSpPr>
          <p:cNvPr id="598" name="Rectangle 14"/>
          <p:cNvSpPr/>
          <p:nvPr/>
        </p:nvSpPr>
        <p:spPr>
          <a:xfrm>
            <a:off x="0" y="1585800"/>
            <a:ext cx="6384240" cy="3755160"/>
          </a:xfrm>
          <a:prstGeom prst="rect">
            <a:avLst/>
          </a:prstGeom>
          <a:noFill/>
          <a:ln w="0">
            <a:noFill/>
          </a:ln>
        </p:spPr>
        <p:style>
          <a:lnRef idx="0"/>
          <a:fillRef idx="0"/>
          <a:effectRef idx="0"/>
          <a:fontRef idx="minor"/>
        </p:style>
        <p:txBody>
          <a:bodyPr lIns="82440" rIns="82440" tIns="41040" bIns="41040" anchor="t">
            <a:spAutoFit/>
          </a:bodyPr>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A. Average sale (ticket, transaction, invoice)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B. Times gross profit margin on average sale (sale less variable costs)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C. Equals gross profit per average sale ( </a:t>
            </a:r>
            <a:r>
              <a:rPr b="1" lang="en-US" sz="1400" spc="-1" strike="noStrike">
                <a:solidFill>
                  <a:srgbClr val="7b8364"/>
                </a:solidFill>
                <a:latin typeface="Corbel"/>
                <a:ea typeface="DejaVu Sans"/>
              </a:rPr>
              <a:t>A * B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D. Times the average repeat sales per year (per customer/client)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E. Equals the average customer/client value per year ( </a:t>
            </a:r>
            <a:r>
              <a:rPr b="1" lang="en-US" sz="1400" spc="-1" strike="noStrike">
                <a:solidFill>
                  <a:srgbClr val="7b8364"/>
                </a:solidFill>
                <a:latin typeface="Corbel"/>
                <a:ea typeface="DejaVu Sans"/>
              </a:rPr>
              <a:t>C * D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F. Times the average number of years of patronage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G. Equals the lifetime value of one customer/client ( </a:t>
            </a:r>
            <a:r>
              <a:rPr b="1" lang="en-US" sz="1400" spc="-1" strike="noStrike">
                <a:solidFill>
                  <a:srgbClr val="7b8364"/>
                </a:solidFill>
                <a:latin typeface="Corbel"/>
                <a:ea typeface="DejaVu Sans"/>
              </a:rPr>
              <a:t>E * F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H. So if your base monthly advertising investment averages =</a:t>
            </a:r>
            <a:endParaRPr b="0" lang="en-US" sz="1400" spc="-1" strike="noStrike">
              <a:latin typeface="Arial"/>
            </a:endParaRPr>
          </a:p>
          <a:p>
            <a:pPr marL="457200" indent="-307800" algn="r">
              <a:lnSpc>
                <a:spcPct val="95000"/>
              </a:lnSpc>
              <a:spcAft>
                <a:spcPts val="1624"/>
              </a:spcAft>
              <a:buClr>
                <a:srgbClr val="00274d"/>
              </a:buClr>
              <a:buFont typeface="StarSymbol"/>
              <a:buAutoNum type="romanUcPeriod"/>
              <a:tabLst>
                <a:tab algn="l" pos="0"/>
              </a:tabLst>
            </a:pPr>
            <a:r>
              <a:rPr b="1" lang="en-US" sz="1400" spc="-1" strike="noStrike">
                <a:solidFill>
                  <a:srgbClr val="00274d"/>
                </a:solidFill>
                <a:latin typeface="Corbel"/>
                <a:ea typeface="DejaVu Sans"/>
              </a:rPr>
              <a:t> </a:t>
            </a:r>
            <a:r>
              <a:rPr b="1" lang="en-US" sz="1400" spc="-1" strike="noStrike">
                <a:solidFill>
                  <a:srgbClr val="00274d"/>
                </a:solidFill>
                <a:latin typeface="Corbel"/>
                <a:ea typeface="DejaVu Sans"/>
              </a:rPr>
              <a:t>Then monthly customers/clients needed to break even ( </a:t>
            </a:r>
            <a:r>
              <a:rPr b="1" lang="en-US" sz="1400" spc="-1" strike="noStrike">
                <a:solidFill>
                  <a:srgbClr val="7b8364"/>
                </a:solidFill>
                <a:latin typeface="Corbel"/>
                <a:ea typeface="DejaVu Sans"/>
              </a:rPr>
              <a:t>H / G </a:t>
            </a:r>
            <a:r>
              <a:rPr b="1" lang="en-US" sz="1400" spc="-1" strike="noStrike">
                <a:solidFill>
                  <a:srgbClr val="00274d"/>
                </a:solidFill>
                <a:latin typeface="Corbel"/>
                <a:ea typeface="DejaVu Sans"/>
              </a:rPr>
              <a:t>) </a:t>
            </a:r>
            <a:r>
              <a:rPr b="1" lang="en-US" sz="1400" spc="-1" strike="noStrike">
                <a:solidFill>
                  <a:srgbClr val="00274d"/>
                </a:solidFill>
                <a:latin typeface="Corbel"/>
                <a:ea typeface="Corbel"/>
              </a:rPr>
              <a:t>=</a:t>
            </a:r>
            <a:endParaRPr b="0" lang="en-US" sz="1400" spc="-1" strike="noStrike">
              <a:latin typeface="Arial"/>
            </a:endParaRPr>
          </a:p>
        </p:txBody>
      </p:sp>
      <p:sp>
        <p:nvSpPr>
          <p:cNvPr id="599" name="TextBox 11"/>
          <p:cNvSpPr/>
          <p:nvPr/>
        </p:nvSpPr>
        <p:spPr>
          <a:xfrm>
            <a:off x="6382800" y="157464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$300</a:t>
            </a:r>
            <a:endParaRPr b="0" lang="en-US" sz="1200" spc="-1" strike="noStrike">
              <a:latin typeface="Arial"/>
            </a:endParaRPr>
          </a:p>
        </p:txBody>
      </p:sp>
      <p:sp>
        <p:nvSpPr>
          <p:cNvPr id="600" name="TextBox 12"/>
          <p:cNvSpPr/>
          <p:nvPr/>
        </p:nvSpPr>
        <p:spPr>
          <a:xfrm>
            <a:off x="6384240" y="1974960"/>
            <a:ext cx="4708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50%</a:t>
            </a:r>
            <a:endParaRPr b="0" lang="en-US" sz="1200" spc="-1" strike="noStrike">
              <a:latin typeface="Arial"/>
            </a:endParaRPr>
          </a:p>
        </p:txBody>
      </p:sp>
      <p:sp>
        <p:nvSpPr>
          <p:cNvPr id="601" name="TextBox 13"/>
          <p:cNvSpPr/>
          <p:nvPr/>
        </p:nvSpPr>
        <p:spPr>
          <a:xfrm>
            <a:off x="6379560" y="240336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$150</a:t>
            </a:r>
            <a:endParaRPr b="0" lang="en-US" sz="1200" spc="-1" strike="noStrike">
              <a:latin typeface="Arial"/>
            </a:endParaRPr>
          </a:p>
        </p:txBody>
      </p:sp>
      <p:sp>
        <p:nvSpPr>
          <p:cNvPr id="602" name="TextBox 14"/>
          <p:cNvSpPr/>
          <p:nvPr/>
        </p:nvSpPr>
        <p:spPr>
          <a:xfrm>
            <a:off x="6397920" y="2889360"/>
            <a:ext cx="24984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2</a:t>
            </a:r>
            <a:endParaRPr b="0" lang="en-US" sz="1200" spc="-1" strike="noStrike">
              <a:latin typeface="Arial"/>
            </a:endParaRPr>
          </a:p>
        </p:txBody>
      </p:sp>
      <p:sp>
        <p:nvSpPr>
          <p:cNvPr id="603" name="TextBox 15"/>
          <p:cNvSpPr/>
          <p:nvPr/>
        </p:nvSpPr>
        <p:spPr>
          <a:xfrm>
            <a:off x="6382800" y="324792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$300</a:t>
            </a:r>
            <a:endParaRPr b="0" lang="en-US" sz="1200" spc="-1" strike="noStrike">
              <a:latin typeface="Arial"/>
            </a:endParaRPr>
          </a:p>
        </p:txBody>
      </p:sp>
      <p:sp>
        <p:nvSpPr>
          <p:cNvPr id="604" name="TextBox 16"/>
          <p:cNvSpPr/>
          <p:nvPr/>
        </p:nvSpPr>
        <p:spPr>
          <a:xfrm>
            <a:off x="6393960" y="3701880"/>
            <a:ext cx="24984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a:t>
            </a:r>
            <a:endParaRPr b="0" lang="en-US" sz="1200" spc="-1" strike="noStrike">
              <a:latin typeface="Arial"/>
            </a:endParaRPr>
          </a:p>
        </p:txBody>
      </p:sp>
      <p:sp>
        <p:nvSpPr>
          <p:cNvPr id="605" name="TextBox 17"/>
          <p:cNvSpPr/>
          <p:nvPr/>
        </p:nvSpPr>
        <p:spPr>
          <a:xfrm>
            <a:off x="6400800" y="4102200"/>
            <a:ext cx="217116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$900</a:t>
            </a:r>
            <a:endParaRPr b="0" lang="en-US" sz="1200" spc="-1" strike="noStrike">
              <a:latin typeface="Arial"/>
            </a:endParaRPr>
          </a:p>
        </p:txBody>
      </p:sp>
      <p:sp>
        <p:nvSpPr>
          <p:cNvPr id="606" name="TextBox 18"/>
          <p:cNvSpPr/>
          <p:nvPr/>
        </p:nvSpPr>
        <p:spPr>
          <a:xfrm>
            <a:off x="6400800" y="451188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$4,000</a:t>
            </a:r>
            <a:endParaRPr b="0" lang="en-US" sz="1200" spc="-1" strike="noStrike">
              <a:latin typeface="Arial"/>
            </a:endParaRPr>
          </a:p>
        </p:txBody>
      </p:sp>
      <p:pic>
        <p:nvPicPr>
          <p:cNvPr id="607" name="Picture 12" descr=""/>
          <p:cNvPicPr/>
          <p:nvPr/>
        </p:nvPicPr>
        <p:blipFill>
          <a:blip r:embed="rId9"/>
          <a:stretch/>
        </p:blipFill>
        <p:spPr>
          <a:xfrm>
            <a:off x="6384960" y="5141880"/>
            <a:ext cx="1553400" cy="18360"/>
          </a:xfrm>
          <a:prstGeom prst="rect">
            <a:avLst/>
          </a:prstGeom>
          <a:ln w="0">
            <a:noFill/>
          </a:ln>
        </p:spPr>
      </p:pic>
      <p:sp>
        <p:nvSpPr>
          <p:cNvPr id="608" name="TextBox 18"/>
          <p:cNvSpPr/>
          <p:nvPr/>
        </p:nvSpPr>
        <p:spPr>
          <a:xfrm>
            <a:off x="6400800" y="486756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4.4</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Digital ROI Calculator – Plan B  </a:t>
            </a:r>
            <a:endParaRPr b="0" lang="en-US" sz="4000" spc="-1" strike="noStrike">
              <a:latin typeface="Arial"/>
            </a:endParaRPr>
          </a:p>
        </p:txBody>
      </p:sp>
      <p:sp>
        <p:nvSpPr>
          <p:cNvPr id="610"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41C661AE-02D4-43CF-B56D-0AF7A0692B27}" type="slidenum">
              <a:rPr b="0" lang="en-US" sz="1100" spc="-1" strike="noStrike">
                <a:solidFill>
                  <a:srgbClr val="ffffff"/>
                </a:solidFill>
                <a:latin typeface="Corbel"/>
                <a:ea typeface="Corbel"/>
              </a:rPr>
              <a:t>&lt;number&gt;</a:t>
            </a:fld>
            <a:endParaRPr b="0" lang="en-US" sz="1100" spc="-1" strike="noStrike">
              <a:latin typeface="Arial"/>
            </a:endParaRPr>
          </a:p>
        </p:txBody>
      </p:sp>
      <p:pic>
        <p:nvPicPr>
          <p:cNvPr id="611" name="Picture 5" descr=""/>
          <p:cNvPicPr/>
          <p:nvPr/>
        </p:nvPicPr>
        <p:blipFill>
          <a:blip r:embed="rId1"/>
          <a:stretch/>
        </p:blipFill>
        <p:spPr>
          <a:xfrm>
            <a:off x="6316560" y="1468440"/>
            <a:ext cx="1553400" cy="18360"/>
          </a:xfrm>
          <a:prstGeom prst="rect">
            <a:avLst/>
          </a:prstGeom>
          <a:ln w="0">
            <a:noFill/>
          </a:ln>
        </p:spPr>
      </p:pic>
      <p:pic>
        <p:nvPicPr>
          <p:cNvPr id="612" name="Picture 6" descr=""/>
          <p:cNvPicPr/>
          <p:nvPr/>
        </p:nvPicPr>
        <p:blipFill>
          <a:blip r:embed="rId2"/>
          <a:stretch/>
        </p:blipFill>
        <p:spPr>
          <a:xfrm>
            <a:off x="6324480" y="1873080"/>
            <a:ext cx="1553400" cy="18360"/>
          </a:xfrm>
          <a:prstGeom prst="rect">
            <a:avLst/>
          </a:prstGeom>
          <a:ln w="0">
            <a:noFill/>
          </a:ln>
        </p:spPr>
      </p:pic>
      <p:pic>
        <p:nvPicPr>
          <p:cNvPr id="613" name="Picture 7" descr=""/>
          <p:cNvPicPr/>
          <p:nvPr/>
        </p:nvPicPr>
        <p:blipFill>
          <a:blip r:embed="rId3"/>
          <a:stretch/>
        </p:blipFill>
        <p:spPr>
          <a:xfrm>
            <a:off x="6324480" y="2314440"/>
            <a:ext cx="1553400" cy="18360"/>
          </a:xfrm>
          <a:prstGeom prst="rect">
            <a:avLst/>
          </a:prstGeom>
          <a:ln w="0">
            <a:noFill/>
          </a:ln>
        </p:spPr>
      </p:pic>
      <p:pic>
        <p:nvPicPr>
          <p:cNvPr id="614" name="Picture 8" descr=""/>
          <p:cNvPicPr/>
          <p:nvPr/>
        </p:nvPicPr>
        <p:blipFill>
          <a:blip r:embed="rId4"/>
          <a:stretch/>
        </p:blipFill>
        <p:spPr>
          <a:xfrm>
            <a:off x="6324480" y="2776680"/>
            <a:ext cx="1553400" cy="18360"/>
          </a:xfrm>
          <a:prstGeom prst="rect">
            <a:avLst/>
          </a:prstGeom>
          <a:ln w="0">
            <a:noFill/>
          </a:ln>
        </p:spPr>
      </p:pic>
      <p:pic>
        <p:nvPicPr>
          <p:cNvPr id="615" name="Picture 9" descr=""/>
          <p:cNvPicPr/>
          <p:nvPr/>
        </p:nvPicPr>
        <p:blipFill>
          <a:blip r:embed="rId5"/>
          <a:stretch/>
        </p:blipFill>
        <p:spPr>
          <a:xfrm>
            <a:off x="6324480" y="3146400"/>
            <a:ext cx="1553400" cy="18360"/>
          </a:xfrm>
          <a:prstGeom prst="rect">
            <a:avLst/>
          </a:prstGeom>
          <a:ln w="0">
            <a:noFill/>
          </a:ln>
        </p:spPr>
      </p:pic>
      <p:pic>
        <p:nvPicPr>
          <p:cNvPr id="616" name="Picture 10" descr=""/>
          <p:cNvPicPr/>
          <p:nvPr/>
        </p:nvPicPr>
        <p:blipFill>
          <a:blip r:embed="rId6"/>
          <a:stretch/>
        </p:blipFill>
        <p:spPr>
          <a:xfrm>
            <a:off x="6324480" y="3600360"/>
            <a:ext cx="1553400" cy="18360"/>
          </a:xfrm>
          <a:prstGeom prst="rect">
            <a:avLst/>
          </a:prstGeom>
          <a:ln w="0">
            <a:noFill/>
          </a:ln>
        </p:spPr>
      </p:pic>
      <p:pic>
        <p:nvPicPr>
          <p:cNvPr id="617" name="Picture 11" descr=""/>
          <p:cNvPicPr/>
          <p:nvPr/>
        </p:nvPicPr>
        <p:blipFill>
          <a:blip r:embed="rId7"/>
          <a:stretch/>
        </p:blipFill>
        <p:spPr>
          <a:xfrm>
            <a:off x="6324480" y="3998880"/>
            <a:ext cx="1553400" cy="18360"/>
          </a:xfrm>
          <a:prstGeom prst="rect">
            <a:avLst/>
          </a:prstGeom>
          <a:ln w="0">
            <a:noFill/>
          </a:ln>
        </p:spPr>
      </p:pic>
      <p:pic>
        <p:nvPicPr>
          <p:cNvPr id="618" name="Picture 12" descr=""/>
          <p:cNvPicPr/>
          <p:nvPr/>
        </p:nvPicPr>
        <p:blipFill>
          <a:blip r:embed="rId8"/>
          <a:stretch/>
        </p:blipFill>
        <p:spPr>
          <a:xfrm>
            <a:off x="6384960" y="4421160"/>
            <a:ext cx="1553400" cy="18360"/>
          </a:xfrm>
          <a:prstGeom prst="rect">
            <a:avLst/>
          </a:prstGeom>
          <a:ln w="0">
            <a:noFill/>
          </a:ln>
        </p:spPr>
      </p:pic>
      <p:sp>
        <p:nvSpPr>
          <p:cNvPr id="619" name="Rectangle 14"/>
          <p:cNvSpPr/>
          <p:nvPr/>
        </p:nvSpPr>
        <p:spPr>
          <a:xfrm>
            <a:off x="0" y="1230480"/>
            <a:ext cx="6384240" cy="5187240"/>
          </a:xfrm>
          <a:prstGeom prst="rect">
            <a:avLst/>
          </a:prstGeom>
          <a:noFill/>
          <a:ln w="0">
            <a:noFill/>
          </a:ln>
        </p:spPr>
        <p:style>
          <a:lnRef idx="0"/>
          <a:fillRef idx="0"/>
          <a:effectRef idx="0"/>
          <a:fontRef idx="minor"/>
        </p:style>
        <p:txBody>
          <a:bodyPr lIns="82440" rIns="82440" tIns="41040" bIns="41040" anchor="t">
            <a:spAutoFit/>
          </a:bodyPr>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A. Monthly Digital Investment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B. Cost Per Thousand ( CPM )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C. Monthly Impressions ( </a:t>
            </a:r>
            <a:r>
              <a:rPr b="1" lang="en-US" sz="1400" spc="-1" strike="noStrike">
                <a:solidFill>
                  <a:srgbClr val="7b8364"/>
                </a:solidFill>
                <a:latin typeface="Corbel"/>
                <a:ea typeface="DejaVu Sans"/>
              </a:rPr>
              <a:t>= A / B * 1,000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D. Click Through Rate ( .01%, .1%, etc.)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E. Monthly # Clicks ( </a:t>
            </a:r>
            <a:r>
              <a:rPr b="1" lang="en-US" sz="1400" spc="-1" strike="noStrike">
                <a:solidFill>
                  <a:srgbClr val="7b8364"/>
                </a:solidFill>
                <a:latin typeface="Corbel"/>
                <a:ea typeface="DejaVu Sans"/>
              </a:rPr>
              <a:t>= C * D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F. Cost Per Click ( </a:t>
            </a:r>
            <a:r>
              <a:rPr b="1" lang="en-US" sz="1400" spc="-1" strike="noStrike">
                <a:solidFill>
                  <a:srgbClr val="7b8364"/>
                </a:solidFill>
                <a:latin typeface="Corbel"/>
                <a:ea typeface="DejaVu Sans"/>
              </a:rPr>
              <a:t>= A / E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G. Sales Conversion Percentage ( 2%, 10%, etc.)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DejaVu Sans"/>
              </a:rPr>
              <a:t>H. Monthly Number of Conversions ( </a:t>
            </a:r>
            <a:r>
              <a:rPr b="1" lang="en-US" sz="1400" spc="-1" strike="noStrike">
                <a:solidFill>
                  <a:srgbClr val="7b8364"/>
                </a:solidFill>
                <a:latin typeface="Corbel"/>
                <a:ea typeface="DejaVu Sans"/>
              </a:rPr>
              <a:t>= E * G </a:t>
            </a:r>
            <a:r>
              <a:rPr b="1" lang="en-US" sz="1400" spc="-1" strike="noStrike">
                <a:solidFill>
                  <a:srgbClr val="00274d"/>
                </a:solidFill>
                <a:latin typeface="Corbel"/>
                <a:ea typeface="DejaVu Sans"/>
              </a:rPr>
              <a:t>) =</a:t>
            </a:r>
            <a:endParaRPr b="0" lang="en-US" sz="1400" spc="-1" strike="noStrike">
              <a:latin typeface="Arial"/>
            </a:endParaRPr>
          </a:p>
          <a:p>
            <a:pPr marL="457200" indent="-307800" algn="r">
              <a:lnSpc>
                <a:spcPct val="95000"/>
              </a:lnSpc>
              <a:spcAft>
                <a:spcPts val="1624"/>
              </a:spcAft>
              <a:buClr>
                <a:srgbClr val="00274d"/>
              </a:buClr>
              <a:buFont typeface="StarSymbol"/>
              <a:buAutoNum type="romanUcPeriod"/>
              <a:tabLst>
                <a:tab algn="l" pos="0"/>
              </a:tabLst>
            </a:pPr>
            <a:r>
              <a:rPr b="1" lang="en-US" sz="1400" spc="-1" strike="noStrike">
                <a:solidFill>
                  <a:srgbClr val="00274d"/>
                </a:solidFill>
                <a:latin typeface="Corbel"/>
                <a:ea typeface="Corbel"/>
              </a:rPr>
              <a:t> </a:t>
            </a:r>
            <a:r>
              <a:rPr b="1" lang="en-US" sz="1400" spc="-1" strike="noStrike">
                <a:solidFill>
                  <a:srgbClr val="00274d"/>
                </a:solidFill>
                <a:latin typeface="Corbel"/>
                <a:ea typeface="Corbel"/>
              </a:rPr>
              <a:t>Cost per Conversion ( </a:t>
            </a:r>
            <a:r>
              <a:rPr b="1" lang="en-US" sz="1400" spc="-1" strike="noStrike">
                <a:solidFill>
                  <a:srgbClr val="7b8364"/>
                </a:solidFill>
                <a:latin typeface="Corbel"/>
                <a:ea typeface="Corbel"/>
              </a:rPr>
              <a:t>= A / H </a:t>
            </a:r>
            <a:r>
              <a:rPr b="1" lang="en-US" sz="1400" spc="-1" strike="noStrike">
                <a:solidFill>
                  <a:srgbClr val="00274d"/>
                </a:solidFill>
                <a:latin typeface="Corbel"/>
                <a:ea typeface="Corbel"/>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J. Project Gross Profit Per Conversion ($100, $1,000, etc.)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K. Monthly Gross Profit Generated From all Conversions ( </a:t>
            </a:r>
            <a:r>
              <a:rPr b="1" lang="en-US" sz="1400" spc="-1" strike="noStrike">
                <a:solidFill>
                  <a:srgbClr val="7b8364"/>
                </a:solidFill>
                <a:latin typeface="Corbel"/>
                <a:ea typeface="Corbel"/>
              </a:rPr>
              <a:t>= H * J </a:t>
            </a:r>
            <a:r>
              <a:rPr b="1" lang="en-US" sz="1400" spc="-1" strike="noStrike">
                <a:solidFill>
                  <a:srgbClr val="00274d"/>
                </a:solidFill>
                <a:latin typeface="Corbel"/>
                <a:ea typeface="Corbel"/>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L. $ Monthly Return on Investment ( </a:t>
            </a:r>
            <a:r>
              <a:rPr b="1" lang="en-US" sz="1400" spc="-1" strike="noStrike">
                <a:solidFill>
                  <a:srgbClr val="7b8364"/>
                </a:solidFill>
                <a:latin typeface="Corbel"/>
                <a:ea typeface="Corbel"/>
              </a:rPr>
              <a:t>= K – A </a:t>
            </a:r>
            <a:r>
              <a:rPr b="1" lang="en-US" sz="1400" spc="-1" strike="noStrike">
                <a:solidFill>
                  <a:srgbClr val="00274d"/>
                </a:solidFill>
                <a:latin typeface="Corbel"/>
                <a:ea typeface="Corbel"/>
              </a:rPr>
              <a:t>) =</a:t>
            </a:r>
            <a:endParaRPr b="0" lang="en-US" sz="1400" spc="-1" strike="noStrike">
              <a:latin typeface="Arial"/>
            </a:endParaRPr>
          </a:p>
          <a:p>
            <a:pPr marL="457200" indent="-307800" algn="r">
              <a:lnSpc>
                <a:spcPct val="95000"/>
              </a:lnSpc>
              <a:spcAft>
                <a:spcPts val="1624"/>
              </a:spcAft>
              <a:buNone/>
              <a:tabLst>
                <a:tab algn="l" pos="0"/>
              </a:tabLst>
            </a:pPr>
            <a:r>
              <a:rPr b="1" lang="en-US" sz="1400" spc="-1" strike="noStrike">
                <a:solidFill>
                  <a:srgbClr val="00274d"/>
                </a:solidFill>
                <a:latin typeface="Corbel"/>
                <a:ea typeface="Corbel"/>
              </a:rPr>
              <a:t>M. % Monthly Return on Investment ( </a:t>
            </a:r>
            <a:r>
              <a:rPr b="1" lang="en-US" sz="1400" spc="-1" strike="noStrike">
                <a:solidFill>
                  <a:srgbClr val="7b8364"/>
                </a:solidFill>
                <a:latin typeface="Corbel"/>
                <a:ea typeface="Corbel"/>
              </a:rPr>
              <a:t>= L / A </a:t>
            </a:r>
            <a:r>
              <a:rPr b="1" lang="en-US" sz="1400" spc="-1" strike="noStrike">
                <a:solidFill>
                  <a:srgbClr val="00274d"/>
                </a:solidFill>
                <a:latin typeface="Corbel"/>
                <a:ea typeface="Corbel"/>
              </a:rPr>
              <a:t>) =  </a:t>
            </a:r>
            <a:endParaRPr b="0" lang="en-US" sz="1400" spc="-1" strike="noStrike">
              <a:latin typeface="Arial"/>
            </a:endParaRPr>
          </a:p>
        </p:txBody>
      </p:sp>
      <p:sp>
        <p:nvSpPr>
          <p:cNvPr id="620" name="TextBox 11"/>
          <p:cNvSpPr/>
          <p:nvPr/>
        </p:nvSpPr>
        <p:spPr>
          <a:xfrm>
            <a:off x="6378120" y="121932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$1,000</a:t>
            </a:r>
            <a:endParaRPr b="0" lang="en-US" sz="1200" spc="-1" strike="noStrike">
              <a:latin typeface="Arial"/>
            </a:endParaRPr>
          </a:p>
        </p:txBody>
      </p:sp>
      <p:sp>
        <p:nvSpPr>
          <p:cNvPr id="621" name="TextBox 12"/>
          <p:cNvSpPr/>
          <p:nvPr/>
        </p:nvSpPr>
        <p:spPr>
          <a:xfrm>
            <a:off x="6375960" y="161928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$15.00</a:t>
            </a:r>
            <a:endParaRPr b="0" lang="en-US" sz="1200" spc="-1" strike="noStrike">
              <a:latin typeface="Arial"/>
            </a:endParaRPr>
          </a:p>
        </p:txBody>
      </p:sp>
      <p:sp>
        <p:nvSpPr>
          <p:cNvPr id="622" name="TextBox 13"/>
          <p:cNvSpPr/>
          <p:nvPr/>
        </p:nvSpPr>
        <p:spPr>
          <a:xfrm>
            <a:off x="6377400" y="2048040"/>
            <a:ext cx="6339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66,667</a:t>
            </a:r>
            <a:endParaRPr b="0" lang="en-US" sz="1200" spc="-1" strike="noStrike">
              <a:latin typeface="Arial"/>
            </a:endParaRPr>
          </a:p>
        </p:txBody>
      </p:sp>
      <p:sp>
        <p:nvSpPr>
          <p:cNvPr id="623" name="TextBox 14"/>
          <p:cNvSpPr/>
          <p:nvPr/>
        </p:nvSpPr>
        <p:spPr>
          <a:xfrm>
            <a:off x="6381360" y="2533680"/>
            <a:ext cx="59904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0.05%</a:t>
            </a:r>
            <a:endParaRPr b="0" lang="en-US" sz="1200" spc="-1" strike="noStrike">
              <a:latin typeface="Arial"/>
            </a:endParaRPr>
          </a:p>
        </p:txBody>
      </p:sp>
      <p:sp>
        <p:nvSpPr>
          <p:cNvPr id="624" name="TextBox 15"/>
          <p:cNvSpPr/>
          <p:nvPr/>
        </p:nvSpPr>
        <p:spPr>
          <a:xfrm>
            <a:off x="6387120" y="2892600"/>
            <a:ext cx="33516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33</a:t>
            </a:r>
            <a:endParaRPr b="0" lang="en-US" sz="1200" spc="-1" strike="noStrike">
              <a:latin typeface="Arial"/>
            </a:endParaRPr>
          </a:p>
        </p:txBody>
      </p:sp>
      <p:sp>
        <p:nvSpPr>
          <p:cNvPr id="625" name="TextBox 16"/>
          <p:cNvSpPr/>
          <p:nvPr/>
        </p:nvSpPr>
        <p:spPr>
          <a:xfrm>
            <a:off x="6385680" y="3346560"/>
            <a:ext cx="42048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274d"/>
                </a:solidFill>
                <a:latin typeface="Corbel"/>
                <a:ea typeface="Corbel"/>
              </a:rPr>
              <a:t>$30</a:t>
            </a:r>
            <a:endParaRPr b="0" lang="en-US" sz="1200" spc="-1" strike="noStrike">
              <a:latin typeface="Arial"/>
            </a:endParaRPr>
          </a:p>
        </p:txBody>
      </p:sp>
      <p:sp>
        <p:nvSpPr>
          <p:cNvPr id="626" name="TextBox 17"/>
          <p:cNvSpPr/>
          <p:nvPr/>
        </p:nvSpPr>
        <p:spPr>
          <a:xfrm>
            <a:off x="6400800" y="3746520"/>
            <a:ext cx="217116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274d"/>
                </a:solidFill>
                <a:latin typeface="Corbel"/>
                <a:ea typeface="Corbel"/>
              </a:rPr>
              <a:t>1%</a:t>
            </a:r>
            <a:endParaRPr b="0" lang="en-US" sz="1200" spc="-1" strike="noStrike">
              <a:latin typeface="Arial"/>
            </a:endParaRPr>
          </a:p>
        </p:txBody>
      </p:sp>
      <p:sp>
        <p:nvSpPr>
          <p:cNvPr id="627" name="TextBox 18"/>
          <p:cNvSpPr/>
          <p:nvPr/>
        </p:nvSpPr>
        <p:spPr>
          <a:xfrm>
            <a:off x="6400800" y="415620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0</a:t>
            </a:r>
            <a:endParaRPr b="0" lang="en-US" sz="1200" spc="-1" strike="noStrike">
              <a:latin typeface="Arial"/>
            </a:endParaRPr>
          </a:p>
        </p:txBody>
      </p:sp>
      <p:pic>
        <p:nvPicPr>
          <p:cNvPr id="628" name="Picture 12" descr=""/>
          <p:cNvPicPr/>
          <p:nvPr/>
        </p:nvPicPr>
        <p:blipFill>
          <a:blip r:embed="rId9"/>
          <a:stretch/>
        </p:blipFill>
        <p:spPr>
          <a:xfrm>
            <a:off x="6384960" y="4786200"/>
            <a:ext cx="1553400" cy="18360"/>
          </a:xfrm>
          <a:prstGeom prst="rect">
            <a:avLst/>
          </a:prstGeom>
          <a:ln w="0">
            <a:noFill/>
          </a:ln>
        </p:spPr>
      </p:pic>
      <p:pic>
        <p:nvPicPr>
          <p:cNvPr id="629" name="Picture 12" descr=""/>
          <p:cNvPicPr/>
          <p:nvPr/>
        </p:nvPicPr>
        <p:blipFill>
          <a:blip r:embed="rId10"/>
          <a:stretch/>
        </p:blipFill>
        <p:spPr>
          <a:xfrm>
            <a:off x="6369120" y="5186520"/>
            <a:ext cx="1553400" cy="18360"/>
          </a:xfrm>
          <a:prstGeom prst="rect">
            <a:avLst/>
          </a:prstGeom>
          <a:ln w="0">
            <a:noFill/>
          </a:ln>
        </p:spPr>
      </p:pic>
      <p:sp>
        <p:nvSpPr>
          <p:cNvPr id="630" name="TextBox 18"/>
          <p:cNvSpPr/>
          <p:nvPr/>
        </p:nvSpPr>
        <p:spPr>
          <a:xfrm>
            <a:off x="6400800" y="451188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$3,000</a:t>
            </a:r>
            <a:endParaRPr b="0" lang="en-US" sz="1200" spc="-1" strike="noStrike">
              <a:latin typeface="Arial"/>
            </a:endParaRPr>
          </a:p>
        </p:txBody>
      </p:sp>
      <p:sp>
        <p:nvSpPr>
          <p:cNvPr id="631" name="TextBox 18"/>
          <p:cNvSpPr/>
          <p:nvPr/>
        </p:nvSpPr>
        <p:spPr>
          <a:xfrm>
            <a:off x="6400800" y="492120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$3,333</a:t>
            </a:r>
            <a:endParaRPr b="0" lang="en-US" sz="1200" spc="-1" strike="noStrike">
              <a:latin typeface="Arial"/>
            </a:endParaRPr>
          </a:p>
        </p:txBody>
      </p:sp>
      <p:pic>
        <p:nvPicPr>
          <p:cNvPr id="632" name="Picture 12" descr=""/>
          <p:cNvPicPr/>
          <p:nvPr/>
        </p:nvPicPr>
        <p:blipFill>
          <a:blip r:embed="rId11"/>
          <a:stretch/>
        </p:blipFill>
        <p:spPr>
          <a:xfrm>
            <a:off x="6369120" y="5969160"/>
            <a:ext cx="1553400" cy="18360"/>
          </a:xfrm>
          <a:prstGeom prst="rect">
            <a:avLst/>
          </a:prstGeom>
          <a:ln w="0">
            <a:noFill/>
          </a:ln>
        </p:spPr>
      </p:pic>
      <p:pic>
        <p:nvPicPr>
          <p:cNvPr id="633" name="Picture 12" descr=""/>
          <p:cNvPicPr/>
          <p:nvPr/>
        </p:nvPicPr>
        <p:blipFill>
          <a:blip r:embed="rId12"/>
          <a:stretch/>
        </p:blipFill>
        <p:spPr>
          <a:xfrm>
            <a:off x="6369120" y="5587920"/>
            <a:ext cx="1553400" cy="18360"/>
          </a:xfrm>
          <a:prstGeom prst="rect">
            <a:avLst/>
          </a:prstGeom>
          <a:ln w="0">
            <a:noFill/>
          </a:ln>
        </p:spPr>
      </p:pic>
      <p:sp>
        <p:nvSpPr>
          <p:cNvPr id="634" name="TextBox 18"/>
          <p:cNvSpPr/>
          <p:nvPr/>
        </p:nvSpPr>
        <p:spPr>
          <a:xfrm>
            <a:off x="6400800" y="533736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$1,111</a:t>
            </a:r>
            <a:endParaRPr b="0" lang="en-US" sz="1200" spc="-1" strike="noStrike">
              <a:latin typeface="Arial"/>
            </a:endParaRPr>
          </a:p>
        </p:txBody>
      </p:sp>
      <p:sp>
        <p:nvSpPr>
          <p:cNvPr id="635" name="TextBox 18"/>
          <p:cNvSpPr/>
          <p:nvPr/>
        </p:nvSpPr>
        <p:spPr>
          <a:xfrm>
            <a:off x="6400800" y="571824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$111</a:t>
            </a:r>
            <a:endParaRPr b="0" lang="en-US" sz="1200" spc="-1" strike="noStrike">
              <a:latin typeface="Arial"/>
            </a:endParaRPr>
          </a:p>
        </p:txBody>
      </p:sp>
      <p:pic>
        <p:nvPicPr>
          <p:cNvPr id="636" name="Picture 12" descr=""/>
          <p:cNvPicPr/>
          <p:nvPr/>
        </p:nvPicPr>
        <p:blipFill>
          <a:blip r:embed="rId13"/>
          <a:stretch/>
        </p:blipFill>
        <p:spPr>
          <a:xfrm>
            <a:off x="6369120" y="6350040"/>
            <a:ext cx="1553400" cy="18360"/>
          </a:xfrm>
          <a:prstGeom prst="rect">
            <a:avLst/>
          </a:prstGeom>
          <a:ln w="0">
            <a:noFill/>
          </a:ln>
        </p:spPr>
      </p:pic>
      <p:sp>
        <p:nvSpPr>
          <p:cNvPr id="637" name="TextBox 18"/>
          <p:cNvSpPr/>
          <p:nvPr/>
        </p:nvSpPr>
        <p:spPr>
          <a:xfrm>
            <a:off x="6400800" y="6099120"/>
            <a:ext cx="2331360" cy="264240"/>
          </a:xfrm>
          <a:prstGeom prst="rect">
            <a:avLst/>
          </a:prstGeom>
          <a:noFill/>
          <a:ln w="0">
            <a:noFill/>
          </a:ln>
        </p:spPr>
        <p:style>
          <a:lnRef idx="0"/>
          <a:fillRef idx="0"/>
          <a:effectRef idx="0"/>
          <a:fontRef idx="minor"/>
        </p:style>
        <p:txBody>
          <a:bodyPr lIns="82440" rIns="82440" tIns="41040" bIns="41040" anchor="b">
            <a:spAutoFit/>
          </a:bodyPr>
          <a:p>
            <a:pPr>
              <a:lnSpc>
                <a:spcPct val="100000"/>
              </a:lnSpc>
              <a:buNone/>
            </a:pPr>
            <a:r>
              <a:rPr b="0" lang="en-US" sz="1200" spc="-1" strike="noStrike">
                <a:solidFill>
                  <a:srgbClr val="00274d"/>
                </a:solidFill>
                <a:latin typeface="Corbel"/>
                <a:ea typeface="Corbel"/>
              </a:rPr>
              <a:t>11%</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C48D81BE-F0A8-4A3C-AA50-5690CADEF1A3}"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639" name="Text Box 5"/>
          <p:cNvSpPr/>
          <p:nvPr/>
        </p:nvSpPr>
        <p:spPr>
          <a:xfrm>
            <a:off x="496800" y="1071720"/>
            <a:ext cx="19774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0000"/>
                </a:solidFill>
                <a:latin typeface="Arial"/>
                <a:ea typeface="DejaVu Sans"/>
              </a:rPr>
              <a:t>For the benefit of the client,</a:t>
            </a:r>
            <a:endParaRPr b="0" lang="en-US" sz="1200" spc="-1" strike="noStrike">
              <a:latin typeface="Arial"/>
            </a:endParaRPr>
          </a:p>
        </p:txBody>
      </p:sp>
      <p:sp>
        <p:nvSpPr>
          <p:cNvPr id="640" name="Text Box 22"/>
          <p:cNvSpPr/>
          <p:nvPr/>
        </p:nvSpPr>
        <p:spPr>
          <a:xfrm>
            <a:off x="5351400" y="1060560"/>
            <a:ext cx="3334680" cy="17316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0" lang="en-US" sz="1200" spc="-1" strike="noStrike">
                <a:solidFill>
                  <a:srgbClr val="000000"/>
                </a:solidFill>
                <a:latin typeface="Arial"/>
                <a:ea typeface="DejaVu Sans"/>
              </a:rPr>
              <a:t>agrees to develop a marketing strategy to help:</a:t>
            </a:r>
            <a:endParaRPr b="0" lang="en-US" sz="1200" spc="-1" strike="noStrike">
              <a:latin typeface="Arial"/>
            </a:endParaRPr>
          </a:p>
        </p:txBody>
      </p:sp>
      <p:sp>
        <p:nvSpPr>
          <p:cNvPr id="641" name="TextBox 24"/>
          <p:cNvSpPr/>
          <p:nvPr/>
        </p:nvSpPr>
        <p:spPr>
          <a:xfrm>
            <a:off x="2435400" y="1014480"/>
            <a:ext cx="291564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1" lang="en-US" sz="1200" spc="-1" strike="noStrike" u="sng">
                <a:solidFill>
                  <a:srgbClr val="000000"/>
                </a:solidFill>
                <a:uFillTx/>
                <a:latin typeface="Arial"/>
                <a:ea typeface="DejaVu Sans"/>
              </a:rPr>
              <a:t>WWWW</a:t>
            </a:r>
            <a:endParaRPr b="0" lang="en-US" sz="1200" spc="-1" strike="noStrike">
              <a:latin typeface="Arial"/>
            </a:endParaRPr>
          </a:p>
        </p:txBody>
      </p:sp>
      <p:sp>
        <p:nvSpPr>
          <p:cNvPr id="642" name="Rectangle 1"/>
          <p:cNvSpPr/>
          <p:nvPr/>
        </p:nvSpPr>
        <p:spPr>
          <a:xfrm>
            <a:off x="0" y="30492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12294a"/>
                </a:solidFill>
                <a:latin typeface="Corbel"/>
                <a:ea typeface="Corbel"/>
              </a:rPr>
              <a:t>Plan A  </a:t>
            </a:r>
            <a:endParaRPr b="0" lang="en-US" sz="4000" spc="-1" strike="noStrike">
              <a:latin typeface="Arial"/>
            </a:endParaRPr>
          </a:p>
        </p:txBody>
      </p:sp>
      <p:sp>
        <p:nvSpPr>
          <p:cNvPr id="643" name="Text Box 23"/>
          <p:cNvSpPr/>
          <p:nvPr/>
        </p:nvSpPr>
        <p:spPr>
          <a:xfrm>
            <a:off x="2479680" y="1320840"/>
            <a:ext cx="3772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ff6600"/>
                </a:solidFill>
                <a:latin typeface="Arial"/>
                <a:ea typeface="DejaVu Sans"/>
              </a:rPr>
              <a:t>1. </a:t>
            </a:r>
            <a:endParaRPr b="0" lang="en-US" sz="1200" spc="-1" strike="noStrike">
              <a:latin typeface="Arial"/>
            </a:endParaRPr>
          </a:p>
        </p:txBody>
      </p:sp>
      <p:sp>
        <p:nvSpPr>
          <p:cNvPr id="644" name="Text Box 24"/>
          <p:cNvSpPr/>
          <p:nvPr/>
        </p:nvSpPr>
        <p:spPr>
          <a:xfrm>
            <a:off x="2479680" y="1612800"/>
            <a:ext cx="3088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ff6600"/>
                </a:solidFill>
                <a:latin typeface="Arial"/>
                <a:ea typeface="DejaVu Sans"/>
              </a:rPr>
              <a:t>2. </a:t>
            </a:r>
            <a:endParaRPr b="0" lang="en-US" sz="1200" spc="-1" strike="noStrike">
              <a:latin typeface="Arial"/>
            </a:endParaRPr>
          </a:p>
        </p:txBody>
      </p:sp>
      <p:sp>
        <p:nvSpPr>
          <p:cNvPr id="645" name="Text Box 25"/>
          <p:cNvSpPr/>
          <p:nvPr/>
        </p:nvSpPr>
        <p:spPr>
          <a:xfrm>
            <a:off x="2479680" y="1916280"/>
            <a:ext cx="3088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ff6600"/>
                </a:solidFill>
                <a:latin typeface="Arial"/>
                <a:ea typeface="DejaVu Sans"/>
              </a:rPr>
              <a:t>3. </a:t>
            </a:r>
            <a:endParaRPr b="0" lang="en-US" sz="1200" spc="-1" strike="noStrike">
              <a:latin typeface="Arial"/>
            </a:endParaRPr>
          </a:p>
        </p:txBody>
      </p:sp>
      <p:sp>
        <p:nvSpPr>
          <p:cNvPr id="646" name="TextBox 27"/>
          <p:cNvSpPr/>
          <p:nvPr/>
        </p:nvSpPr>
        <p:spPr>
          <a:xfrm>
            <a:off x="2789280" y="1268280"/>
            <a:ext cx="56905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0000"/>
                </a:solidFill>
                <a:latin typeface="Arial"/>
                <a:ea typeface="DejaVu Sans"/>
              </a:rPr>
              <a:t>Make Promotional Events Stronger</a:t>
            </a:r>
            <a:endParaRPr b="0" lang="en-US" sz="1200" spc="-1" strike="noStrike">
              <a:latin typeface="Arial"/>
            </a:endParaRPr>
          </a:p>
        </p:txBody>
      </p:sp>
      <p:sp>
        <p:nvSpPr>
          <p:cNvPr id="647" name="TextBox 28"/>
          <p:cNvSpPr/>
          <p:nvPr/>
        </p:nvSpPr>
        <p:spPr>
          <a:xfrm>
            <a:off x="2789280" y="1558800"/>
            <a:ext cx="56905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0000"/>
                </a:solidFill>
                <a:latin typeface="Arial"/>
                <a:ea typeface="DejaVu Sans"/>
              </a:rPr>
              <a:t>Tech recruitment</a:t>
            </a:r>
            <a:endParaRPr b="0" lang="en-US" sz="1200" spc="-1" strike="noStrike">
              <a:latin typeface="Arial"/>
            </a:endParaRPr>
          </a:p>
        </p:txBody>
      </p:sp>
      <p:sp>
        <p:nvSpPr>
          <p:cNvPr id="648" name="TextBox 29"/>
          <p:cNvSpPr/>
          <p:nvPr/>
        </p:nvSpPr>
        <p:spPr>
          <a:xfrm>
            <a:off x="2789280" y="1855800"/>
            <a:ext cx="56905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0000"/>
                </a:solidFill>
                <a:latin typeface="Arial"/>
                <a:ea typeface="DejaVu Sans"/>
              </a:rPr>
              <a:t>Expand Target Consumers (by age, sex, geography)</a:t>
            </a:r>
            <a:endParaRPr b="0" lang="en-US" sz="1200" spc="-1" strike="noStrike">
              <a:latin typeface="Arial"/>
            </a:endParaRPr>
          </a:p>
        </p:txBody>
      </p:sp>
      <p:sp>
        <p:nvSpPr>
          <p:cNvPr id="649" name="Text Box 6"/>
          <p:cNvSpPr/>
          <p:nvPr/>
        </p:nvSpPr>
        <p:spPr>
          <a:xfrm>
            <a:off x="498600" y="2238480"/>
            <a:ext cx="23853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0000"/>
                </a:solidFill>
                <a:latin typeface="Arial"/>
                <a:ea typeface="DejaVu Sans"/>
              </a:rPr>
              <a:t>In return for fulfilling stated goals, </a:t>
            </a:r>
            <a:endParaRPr b="0" lang="en-US" sz="1200" spc="-1" strike="noStrike">
              <a:latin typeface="Arial"/>
            </a:endParaRPr>
          </a:p>
        </p:txBody>
      </p:sp>
      <p:sp>
        <p:nvSpPr>
          <p:cNvPr id="650" name="Text Box 7"/>
          <p:cNvSpPr/>
          <p:nvPr/>
        </p:nvSpPr>
        <p:spPr>
          <a:xfrm>
            <a:off x="380880" y="3956040"/>
            <a:ext cx="8381160" cy="365040"/>
          </a:xfrm>
          <a:prstGeom prst="rect">
            <a:avLst/>
          </a:prstGeom>
          <a:noFill/>
          <a:ln w="0">
            <a:noFill/>
          </a:ln>
        </p:spPr>
        <p:style>
          <a:lnRef idx="0"/>
          <a:fillRef idx="0"/>
          <a:effectRef idx="0"/>
          <a:fontRef idx="minor"/>
        </p:style>
        <p:txBody>
          <a:bodyPr lIns="0" rIns="0" tIns="0" bIns="0" anchor="t">
            <a:spAutoFit/>
          </a:bodyPr>
          <a:p>
            <a:pPr algn="ctr">
              <a:lnSpc>
                <a:spcPct val="100000"/>
              </a:lnSpc>
              <a:buNone/>
            </a:pPr>
            <a:r>
              <a:rPr b="1" lang="en-US" sz="800" spc="-1" strike="noStrike">
                <a:solidFill>
                  <a:srgbClr val="000000"/>
                </a:solidFill>
                <a:latin typeface="Arial"/>
                <a:ea typeface="DejaVu Sans"/>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b="0" lang="en-US" sz="800" spc="-1" strike="noStrike">
              <a:latin typeface="Arial"/>
            </a:endParaRPr>
          </a:p>
        </p:txBody>
      </p:sp>
      <p:sp>
        <p:nvSpPr>
          <p:cNvPr id="651" name="Text Box 8"/>
          <p:cNvSpPr/>
          <p:nvPr/>
        </p:nvSpPr>
        <p:spPr>
          <a:xfrm>
            <a:off x="498600" y="4610160"/>
            <a:ext cx="770832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u="sng">
                <a:solidFill>
                  <a:srgbClr val="000000"/>
                </a:solidFill>
                <a:uFillTx/>
                <a:latin typeface="Arial"/>
                <a:ea typeface="DejaVu Sans"/>
              </a:rPr>
              <a:t>Analysis of Schedule:</a:t>
            </a:r>
            <a:endParaRPr b="0" lang="en-US" sz="1200" spc="-1" strike="noStrike">
              <a:latin typeface="Arial"/>
            </a:endParaRPr>
          </a:p>
        </p:txBody>
      </p:sp>
      <p:sp>
        <p:nvSpPr>
          <p:cNvPr id="652" name="Text Box 9"/>
          <p:cNvSpPr/>
          <p:nvPr/>
        </p:nvSpPr>
        <p:spPr>
          <a:xfrm>
            <a:off x="527040" y="4876920"/>
            <a:ext cx="32727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0000"/>
                </a:solidFill>
                <a:latin typeface="Arial"/>
                <a:ea typeface="DejaVu Sans"/>
              </a:rPr>
              <a:t>AVERAGE MONTHLY CLIENT INVESTMENT</a:t>
            </a:r>
            <a:endParaRPr b="0" lang="en-US" sz="1200" spc="-1" strike="noStrike">
              <a:latin typeface="Arial"/>
            </a:endParaRPr>
          </a:p>
        </p:txBody>
      </p:sp>
      <p:sp>
        <p:nvSpPr>
          <p:cNvPr id="653" name="Text Box 10"/>
          <p:cNvSpPr/>
          <p:nvPr/>
        </p:nvSpPr>
        <p:spPr>
          <a:xfrm>
            <a:off x="527040" y="5149800"/>
            <a:ext cx="301860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0000"/>
                </a:solidFill>
                <a:latin typeface="Arial"/>
                <a:ea typeface="DejaVu Sans"/>
              </a:rPr>
              <a:t>AVERAGE DAILY CLIENT INVESTMENT </a:t>
            </a:r>
            <a:endParaRPr b="0" lang="en-US" sz="1200" spc="-1" strike="noStrike">
              <a:latin typeface="Arial"/>
            </a:endParaRPr>
          </a:p>
        </p:txBody>
      </p:sp>
      <p:sp>
        <p:nvSpPr>
          <p:cNvPr id="654" name="Text Box 17"/>
          <p:cNvSpPr/>
          <p:nvPr/>
        </p:nvSpPr>
        <p:spPr>
          <a:xfrm>
            <a:off x="4308480" y="5540400"/>
            <a:ext cx="282024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0000"/>
                </a:solidFill>
                <a:latin typeface="Arial"/>
                <a:ea typeface="DejaVu Sans"/>
              </a:rPr>
              <a:t>Thank you for your trust and confidence.</a:t>
            </a:r>
            <a:endParaRPr b="0" lang="en-US" sz="1200" spc="-1" strike="noStrike">
              <a:latin typeface="Arial"/>
            </a:endParaRPr>
          </a:p>
        </p:txBody>
      </p:sp>
      <p:sp>
        <p:nvSpPr>
          <p:cNvPr id="655" name="Text Box 19"/>
          <p:cNvSpPr/>
          <p:nvPr/>
        </p:nvSpPr>
        <p:spPr>
          <a:xfrm>
            <a:off x="3941640" y="2598840"/>
            <a:ext cx="12646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0000"/>
                </a:solidFill>
                <a:latin typeface="Arial"/>
                <a:ea typeface="DejaVu Sans"/>
              </a:rPr>
              <a:t>FLIGHT DATES:</a:t>
            </a:r>
            <a:endParaRPr b="0" lang="en-US" sz="1200" spc="-1" strike="noStrike">
              <a:latin typeface="Arial"/>
            </a:endParaRPr>
          </a:p>
        </p:txBody>
      </p:sp>
      <p:sp>
        <p:nvSpPr>
          <p:cNvPr id="656" name="Text Box 20"/>
          <p:cNvSpPr/>
          <p:nvPr/>
        </p:nvSpPr>
        <p:spPr>
          <a:xfrm>
            <a:off x="4419720" y="2238480"/>
            <a:ext cx="33490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0000"/>
                </a:solidFill>
                <a:latin typeface="Arial"/>
                <a:ea typeface="DejaVu Sans"/>
              </a:rPr>
              <a:t>agrees to invest in the following long-term plan:</a:t>
            </a:r>
            <a:endParaRPr b="0" lang="en-US" sz="1200" spc="-1" strike="noStrike">
              <a:latin typeface="Arial"/>
            </a:endParaRPr>
          </a:p>
        </p:txBody>
      </p:sp>
      <p:sp>
        <p:nvSpPr>
          <p:cNvPr id="657" name="TextBox 26"/>
          <p:cNvSpPr/>
          <p:nvPr/>
        </p:nvSpPr>
        <p:spPr>
          <a:xfrm>
            <a:off x="2697120" y="2198520"/>
            <a:ext cx="183744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0000"/>
                </a:solidFill>
                <a:latin typeface="Arial"/>
                <a:ea typeface="DejaVu Sans"/>
              </a:rPr>
              <a:t>Premium Auto Centers</a:t>
            </a:r>
            <a:endParaRPr b="0" lang="en-US" sz="1200" spc="-1" strike="noStrike">
              <a:latin typeface="Arial"/>
            </a:endParaRPr>
          </a:p>
        </p:txBody>
      </p:sp>
      <p:sp>
        <p:nvSpPr>
          <p:cNvPr id="658" name="TextBox 30"/>
          <p:cNvSpPr/>
          <p:nvPr/>
        </p:nvSpPr>
        <p:spPr>
          <a:xfrm>
            <a:off x="3817800" y="4807080"/>
            <a:ext cx="63432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0000"/>
                </a:solidFill>
                <a:latin typeface="Arial"/>
                <a:ea typeface="DejaVu Sans"/>
              </a:rPr>
              <a:t>$3,500</a:t>
            </a:r>
            <a:endParaRPr b="0" lang="en-US" sz="1200" spc="-1" strike="noStrike">
              <a:latin typeface="Arial"/>
            </a:endParaRPr>
          </a:p>
        </p:txBody>
      </p:sp>
      <p:sp>
        <p:nvSpPr>
          <p:cNvPr id="659" name="TextBox 31"/>
          <p:cNvSpPr/>
          <p:nvPr/>
        </p:nvSpPr>
        <p:spPr>
          <a:xfrm>
            <a:off x="3817800" y="5092560"/>
            <a:ext cx="49464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0000"/>
                </a:solidFill>
                <a:latin typeface="Arial"/>
                <a:ea typeface="DejaVu Sans"/>
              </a:rPr>
              <a:t>$116</a:t>
            </a:r>
            <a:endParaRPr b="0" lang="en-US" sz="1200" spc="-1" strike="noStrike">
              <a:latin typeface="Arial"/>
            </a:endParaRPr>
          </a:p>
        </p:txBody>
      </p:sp>
      <p:graphicFrame>
        <p:nvGraphicFramePr>
          <p:cNvPr id="660" name="Object 1"/>
          <p:cNvGraphicFramePr/>
          <p:nvPr/>
        </p:nvGraphicFramePr>
        <p:xfrm>
          <a:off x="344520" y="2916360"/>
          <a:ext cx="8381160" cy="832680"/>
        </p:xfrm>
        <a:graphic>
          <a:graphicData uri="http://schemas.openxmlformats.org/presentationml/2006/ole">
            <p:oleObj progId="Excel.Sheet.8" r:id="rId1" spid="">
              <p:embed/>
              <p:pic>
                <p:nvPicPr>
                  <p:cNvPr id="661" name="Object 1" descr=""/>
                  <p:cNvPicPr/>
                  <p:nvPr/>
                </p:nvPicPr>
                <p:blipFill>
                  <a:blip r:embed="rId2"/>
                  <a:stretch/>
                </p:blipFill>
                <p:spPr>
                  <a:xfrm>
                    <a:off x="344520" y="2916360"/>
                    <a:ext cx="8381160" cy="832680"/>
                  </a:xfrm>
                  <a:prstGeom prst="rect">
                    <a:avLst/>
                  </a:prstGeom>
                  <a:ln w="0">
                    <a:noFill/>
                  </a:ln>
                </p:spPr>
              </p:pic>
            </p:oleObj>
          </a:graphicData>
        </a:graphic>
      </p:graphicFrame>
      <p:pic>
        <p:nvPicPr>
          <p:cNvPr id="662" name="Picture 11" descr=""/>
          <p:cNvPicPr/>
          <p:nvPr/>
        </p:nvPicPr>
        <p:blipFill>
          <a:blip r:embed="rId3"/>
          <a:stretch/>
        </p:blipFill>
        <p:spPr>
          <a:xfrm>
            <a:off x="1751040" y="6103800"/>
            <a:ext cx="2972520" cy="19800"/>
          </a:xfrm>
          <a:prstGeom prst="rect">
            <a:avLst/>
          </a:prstGeom>
          <a:ln w="0">
            <a:noFill/>
          </a:ln>
        </p:spPr>
      </p:pic>
      <p:pic>
        <p:nvPicPr>
          <p:cNvPr id="663" name="Picture 12" descr=""/>
          <p:cNvPicPr/>
          <p:nvPr/>
        </p:nvPicPr>
        <p:blipFill>
          <a:blip r:embed="rId4"/>
          <a:stretch/>
        </p:blipFill>
        <p:spPr>
          <a:xfrm>
            <a:off x="5334120" y="6103800"/>
            <a:ext cx="2972520" cy="19800"/>
          </a:xfrm>
          <a:prstGeom prst="rect">
            <a:avLst/>
          </a:prstGeom>
          <a:ln w="0">
            <a:noFill/>
          </a:ln>
        </p:spPr>
      </p:pic>
      <p:sp>
        <p:nvSpPr>
          <p:cNvPr id="664" name="Text Box 13"/>
          <p:cNvSpPr/>
          <p:nvPr/>
        </p:nvSpPr>
        <p:spPr>
          <a:xfrm>
            <a:off x="1700280" y="6149880"/>
            <a:ext cx="8121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0000"/>
                </a:solidFill>
                <a:latin typeface="Arial"/>
                <a:ea typeface="DejaVu Sans"/>
              </a:rPr>
              <a:t>Accepted for</a:t>
            </a:r>
            <a:endParaRPr b="0" lang="en-US" sz="1000" spc="-1" strike="noStrike">
              <a:latin typeface="Arial"/>
            </a:endParaRPr>
          </a:p>
        </p:txBody>
      </p:sp>
      <p:sp>
        <p:nvSpPr>
          <p:cNvPr id="665" name="Text Box 14"/>
          <p:cNvSpPr/>
          <p:nvPr/>
        </p:nvSpPr>
        <p:spPr>
          <a:xfrm>
            <a:off x="5297400" y="6162840"/>
            <a:ext cx="8103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0000"/>
                </a:solidFill>
                <a:latin typeface="Arial"/>
                <a:ea typeface="DejaVu Sans"/>
              </a:rPr>
              <a:t>Accepted for</a:t>
            </a:r>
            <a:endParaRPr b="0" lang="en-US" sz="1000" spc="-1" strike="noStrike">
              <a:latin typeface="Arial"/>
            </a:endParaRPr>
          </a:p>
        </p:txBody>
      </p:sp>
      <p:sp>
        <p:nvSpPr>
          <p:cNvPr id="666" name="Text Box 15"/>
          <p:cNvSpPr/>
          <p:nvPr/>
        </p:nvSpPr>
        <p:spPr>
          <a:xfrm>
            <a:off x="4537080" y="6162840"/>
            <a:ext cx="36900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0000"/>
                </a:solidFill>
                <a:latin typeface="Arial"/>
                <a:ea typeface="DejaVu Sans"/>
              </a:rPr>
              <a:t>Date</a:t>
            </a:r>
            <a:endParaRPr b="0" lang="en-US" sz="1000" spc="-1" strike="noStrike">
              <a:latin typeface="Arial"/>
            </a:endParaRPr>
          </a:p>
        </p:txBody>
      </p:sp>
      <p:sp>
        <p:nvSpPr>
          <p:cNvPr id="667" name="Text Box 16"/>
          <p:cNvSpPr/>
          <p:nvPr/>
        </p:nvSpPr>
        <p:spPr>
          <a:xfrm>
            <a:off x="8116920" y="6178680"/>
            <a:ext cx="45324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0000"/>
                </a:solidFill>
                <a:latin typeface="Arial"/>
                <a:ea typeface="DejaVu Sans"/>
              </a:rPr>
              <a:t>Date</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BA3B52F7-E471-4B5B-8278-6687EE125127}"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669" name="Text Box 5"/>
          <p:cNvSpPr/>
          <p:nvPr/>
        </p:nvSpPr>
        <p:spPr>
          <a:xfrm>
            <a:off x="496800" y="1071720"/>
            <a:ext cx="19774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0000"/>
                </a:solidFill>
                <a:latin typeface="Arial"/>
                <a:ea typeface="DejaVu Sans"/>
              </a:rPr>
              <a:t>For the benefit of the client,</a:t>
            </a:r>
            <a:endParaRPr b="0" lang="en-US" sz="1200" spc="-1" strike="noStrike">
              <a:latin typeface="Arial"/>
            </a:endParaRPr>
          </a:p>
        </p:txBody>
      </p:sp>
      <p:sp>
        <p:nvSpPr>
          <p:cNvPr id="670" name="Text Box 22"/>
          <p:cNvSpPr/>
          <p:nvPr/>
        </p:nvSpPr>
        <p:spPr>
          <a:xfrm>
            <a:off x="5351400" y="1060560"/>
            <a:ext cx="3334680" cy="17316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0" lang="en-US" sz="1200" spc="-1" strike="noStrike">
                <a:solidFill>
                  <a:srgbClr val="000000"/>
                </a:solidFill>
                <a:latin typeface="Arial"/>
                <a:ea typeface="DejaVu Sans"/>
              </a:rPr>
              <a:t>agrees to develop a marketing strategy to help:</a:t>
            </a:r>
            <a:endParaRPr b="0" lang="en-US" sz="1200" spc="-1" strike="noStrike">
              <a:latin typeface="Arial"/>
            </a:endParaRPr>
          </a:p>
        </p:txBody>
      </p:sp>
      <p:sp>
        <p:nvSpPr>
          <p:cNvPr id="671" name="TextBox 24"/>
          <p:cNvSpPr/>
          <p:nvPr/>
        </p:nvSpPr>
        <p:spPr>
          <a:xfrm>
            <a:off x="2435400" y="1014480"/>
            <a:ext cx="291564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1" lang="en-US" sz="1200" spc="-1" strike="noStrike" u="sng">
                <a:solidFill>
                  <a:srgbClr val="000000"/>
                </a:solidFill>
                <a:uFillTx/>
                <a:latin typeface="Arial"/>
                <a:ea typeface="DejaVu Sans"/>
              </a:rPr>
              <a:t>WWWW</a:t>
            </a:r>
            <a:endParaRPr b="0" lang="en-US" sz="1200" spc="-1" strike="noStrike">
              <a:latin typeface="Arial"/>
            </a:endParaRPr>
          </a:p>
        </p:txBody>
      </p:sp>
      <p:sp>
        <p:nvSpPr>
          <p:cNvPr id="672" name="Rectangle 1"/>
          <p:cNvSpPr/>
          <p:nvPr/>
        </p:nvSpPr>
        <p:spPr>
          <a:xfrm>
            <a:off x="0" y="30492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12294a"/>
                </a:solidFill>
                <a:latin typeface="Corbel"/>
                <a:ea typeface="Corbel"/>
              </a:rPr>
              <a:t>Plan B  </a:t>
            </a:r>
            <a:endParaRPr b="0" lang="en-US" sz="4000" spc="-1" strike="noStrike">
              <a:latin typeface="Arial"/>
            </a:endParaRPr>
          </a:p>
        </p:txBody>
      </p:sp>
      <p:sp>
        <p:nvSpPr>
          <p:cNvPr id="673" name="Text Box 23"/>
          <p:cNvSpPr/>
          <p:nvPr/>
        </p:nvSpPr>
        <p:spPr>
          <a:xfrm>
            <a:off x="2479680" y="1320840"/>
            <a:ext cx="3772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ff6600"/>
                </a:solidFill>
                <a:latin typeface="Arial"/>
                <a:ea typeface="DejaVu Sans"/>
              </a:rPr>
              <a:t>1. </a:t>
            </a:r>
            <a:endParaRPr b="0" lang="en-US" sz="1200" spc="-1" strike="noStrike">
              <a:latin typeface="Arial"/>
            </a:endParaRPr>
          </a:p>
        </p:txBody>
      </p:sp>
      <p:sp>
        <p:nvSpPr>
          <p:cNvPr id="674" name="Text Box 24"/>
          <p:cNvSpPr/>
          <p:nvPr/>
        </p:nvSpPr>
        <p:spPr>
          <a:xfrm>
            <a:off x="2479680" y="1612800"/>
            <a:ext cx="3088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ff6600"/>
                </a:solidFill>
                <a:latin typeface="Arial"/>
                <a:ea typeface="DejaVu Sans"/>
              </a:rPr>
              <a:t>2. </a:t>
            </a:r>
            <a:endParaRPr b="0" lang="en-US" sz="1200" spc="-1" strike="noStrike">
              <a:latin typeface="Arial"/>
            </a:endParaRPr>
          </a:p>
        </p:txBody>
      </p:sp>
      <p:sp>
        <p:nvSpPr>
          <p:cNvPr id="675" name="Text Box 25"/>
          <p:cNvSpPr/>
          <p:nvPr/>
        </p:nvSpPr>
        <p:spPr>
          <a:xfrm>
            <a:off x="2479680" y="1916280"/>
            <a:ext cx="3088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ff6600"/>
                </a:solidFill>
                <a:latin typeface="Arial"/>
                <a:ea typeface="DejaVu Sans"/>
              </a:rPr>
              <a:t>3. </a:t>
            </a:r>
            <a:endParaRPr b="0" lang="en-US" sz="1200" spc="-1" strike="noStrike">
              <a:latin typeface="Arial"/>
            </a:endParaRPr>
          </a:p>
        </p:txBody>
      </p:sp>
      <p:sp>
        <p:nvSpPr>
          <p:cNvPr id="676" name="TextBox 27"/>
          <p:cNvSpPr/>
          <p:nvPr/>
        </p:nvSpPr>
        <p:spPr>
          <a:xfrm>
            <a:off x="2789280" y="1268280"/>
            <a:ext cx="56905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0000"/>
                </a:solidFill>
                <a:latin typeface="Arial"/>
                <a:ea typeface="DejaVu Sans"/>
              </a:rPr>
              <a:t>Make Promotional Events Stronger</a:t>
            </a:r>
            <a:endParaRPr b="0" lang="en-US" sz="1200" spc="-1" strike="noStrike">
              <a:latin typeface="Arial"/>
            </a:endParaRPr>
          </a:p>
        </p:txBody>
      </p:sp>
      <p:sp>
        <p:nvSpPr>
          <p:cNvPr id="677" name="TextBox 28"/>
          <p:cNvSpPr/>
          <p:nvPr/>
        </p:nvSpPr>
        <p:spPr>
          <a:xfrm>
            <a:off x="2789280" y="1558800"/>
            <a:ext cx="56905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0000"/>
                </a:solidFill>
                <a:latin typeface="Arial"/>
                <a:ea typeface="DejaVu Sans"/>
              </a:rPr>
              <a:t>Tech recruitment</a:t>
            </a:r>
            <a:endParaRPr b="0" lang="en-US" sz="1200" spc="-1" strike="noStrike">
              <a:latin typeface="Arial"/>
            </a:endParaRPr>
          </a:p>
        </p:txBody>
      </p:sp>
      <p:sp>
        <p:nvSpPr>
          <p:cNvPr id="678" name="TextBox 29"/>
          <p:cNvSpPr/>
          <p:nvPr/>
        </p:nvSpPr>
        <p:spPr>
          <a:xfrm>
            <a:off x="2789280" y="1855800"/>
            <a:ext cx="569052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0000"/>
                </a:solidFill>
                <a:latin typeface="Arial"/>
                <a:ea typeface="DejaVu Sans"/>
              </a:rPr>
              <a:t>Expand Target Consumers (by age, sex, geography)</a:t>
            </a:r>
            <a:endParaRPr b="0" lang="en-US" sz="1200" spc="-1" strike="noStrike">
              <a:latin typeface="Arial"/>
            </a:endParaRPr>
          </a:p>
        </p:txBody>
      </p:sp>
      <p:sp>
        <p:nvSpPr>
          <p:cNvPr id="679" name="Text Box 6"/>
          <p:cNvSpPr/>
          <p:nvPr/>
        </p:nvSpPr>
        <p:spPr>
          <a:xfrm>
            <a:off x="498600" y="2238480"/>
            <a:ext cx="23853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0000"/>
                </a:solidFill>
                <a:latin typeface="Arial"/>
                <a:ea typeface="DejaVu Sans"/>
              </a:rPr>
              <a:t>In return for fulfilling stated goals, </a:t>
            </a:r>
            <a:endParaRPr b="0" lang="en-US" sz="1200" spc="-1" strike="noStrike">
              <a:latin typeface="Arial"/>
            </a:endParaRPr>
          </a:p>
        </p:txBody>
      </p:sp>
      <p:sp>
        <p:nvSpPr>
          <p:cNvPr id="680" name="Text Box 7"/>
          <p:cNvSpPr/>
          <p:nvPr/>
        </p:nvSpPr>
        <p:spPr>
          <a:xfrm>
            <a:off x="380880" y="3956040"/>
            <a:ext cx="8381160" cy="365040"/>
          </a:xfrm>
          <a:prstGeom prst="rect">
            <a:avLst/>
          </a:prstGeom>
          <a:noFill/>
          <a:ln w="0">
            <a:noFill/>
          </a:ln>
        </p:spPr>
        <p:style>
          <a:lnRef idx="0"/>
          <a:fillRef idx="0"/>
          <a:effectRef idx="0"/>
          <a:fontRef idx="minor"/>
        </p:style>
        <p:txBody>
          <a:bodyPr lIns="0" rIns="0" tIns="0" bIns="0" anchor="t">
            <a:spAutoFit/>
          </a:bodyPr>
          <a:p>
            <a:pPr algn="ctr">
              <a:lnSpc>
                <a:spcPct val="100000"/>
              </a:lnSpc>
              <a:buNone/>
            </a:pPr>
            <a:r>
              <a:rPr b="1" lang="en-US" sz="800" spc="-1" strike="noStrike">
                <a:solidFill>
                  <a:srgbClr val="000000"/>
                </a:solidFill>
                <a:latin typeface="Arial"/>
                <a:ea typeface="DejaVu Sans"/>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b="0" lang="en-US" sz="800" spc="-1" strike="noStrike">
              <a:latin typeface="Arial"/>
            </a:endParaRPr>
          </a:p>
        </p:txBody>
      </p:sp>
      <p:sp>
        <p:nvSpPr>
          <p:cNvPr id="681" name="Text Box 8"/>
          <p:cNvSpPr/>
          <p:nvPr/>
        </p:nvSpPr>
        <p:spPr>
          <a:xfrm>
            <a:off x="498600" y="4610160"/>
            <a:ext cx="770832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u="sng">
                <a:solidFill>
                  <a:srgbClr val="000000"/>
                </a:solidFill>
                <a:uFillTx/>
                <a:latin typeface="Arial"/>
                <a:ea typeface="DejaVu Sans"/>
              </a:rPr>
              <a:t>Analysis of Schedule:</a:t>
            </a:r>
            <a:endParaRPr b="0" lang="en-US" sz="1200" spc="-1" strike="noStrike">
              <a:latin typeface="Arial"/>
            </a:endParaRPr>
          </a:p>
        </p:txBody>
      </p:sp>
      <p:sp>
        <p:nvSpPr>
          <p:cNvPr id="682" name="Text Box 9"/>
          <p:cNvSpPr/>
          <p:nvPr/>
        </p:nvSpPr>
        <p:spPr>
          <a:xfrm>
            <a:off x="527040" y="4876920"/>
            <a:ext cx="327276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0000"/>
                </a:solidFill>
                <a:latin typeface="Arial"/>
                <a:ea typeface="DejaVu Sans"/>
              </a:rPr>
              <a:t>AVERAGE MONTHLY CLIENT INVESTMENT</a:t>
            </a:r>
            <a:endParaRPr b="0" lang="en-US" sz="1200" spc="-1" strike="noStrike">
              <a:latin typeface="Arial"/>
            </a:endParaRPr>
          </a:p>
        </p:txBody>
      </p:sp>
      <p:sp>
        <p:nvSpPr>
          <p:cNvPr id="683" name="Text Box 10"/>
          <p:cNvSpPr/>
          <p:nvPr/>
        </p:nvSpPr>
        <p:spPr>
          <a:xfrm>
            <a:off x="527040" y="5149800"/>
            <a:ext cx="301860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200" spc="-1" strike="noStrike">
                <a:solidFill>
                  <a:srgbClr val="000000"/>
                </a:solidFill>
                <a:latin typeface="Arial"/>
                <a:ea typeface="DejaVu Sans"/>
              </a:rPr>
              <a:t>AVERAGE DAILY CLIENT INVESTMENT </a:t>
            </a:r>
            <a:endParaRPr b="0" lang="en-US" sz="1200" spc="-1" strike="noStrike">
              <a:latin typeface="Arial"/>
            </a:endParaRPr>
          </a:p>
        </p:txBody>
      </p:sp>
      <p:sp>
        <p:nvSpPr>
          <p:cNvPr id="684" name="Text Box 17"/>
          <p:cNvSpPr/>
          <p:nvPr/>
        </p:nvSpPr>
        <p:spPr>
          <a:xfrm>
            <a:off x="4308480" y="5540400"/>
            <a:ext cx="282024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0000"/>
                </a:solidFill>
                <a:latin typeface="Arial"/>
                <a:ea typeface="DejaVu Sans"/>
              </a:rPr>
              <a:t>Thank you for your trust and confidence.</a:t>
            </a:r>
            <a:endParaRPr b="0" lang="en-US" sz="1200" spc="-1" strike="noStrike">
              <a:latin typeface="Arial"/>
            </a:endParaRPr>
          </a:p>
        </p:txBody>
      </p:sp>
      <p:sp>
        <p:nvSpPr>
          <p:cNvPr id="685" name="Text Box 19"/>
          <p:cNvSpPr/>
          <p:nvPr/>
        </p:nvSpPr>
        <p:spPr>
          <a:xfrm>
            <a:off x="3941640" y="2598840"/>
            <a:ext cx="12646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200" spc="-1" strike="noStrike">
                <a:solidFill>
                  <a:srgbClr val="000000"/>
                </a:solidFill>
                <a:latin typeface="Arial"/>
                <a:ea typeface="DejaVu Sans"/>
              </a:rPr>
              <a:t>FLIGHT DATES:</a:t>
            </a:r>
            <a:endParaRPr b="0" lang="en-US" sz="1200" spc="-1" strike="noStrike">
              <a:latin typeface="Arial"/>
            </a:endParaRPr>
          </a:p>
        </p:txBody>
      </p:sp>
      <p:sp>
        <p:nvSpPr>
          <p:cNvPr id="686" name="Text Box 20"/>
          <p:cNvSpPr/>
          <p:nvPr/>
        </p:nvSpPr>
        <p:spPr>
          <a:xfrm>
            <a:off x="4419720" y="2238480"/>
            <a:ext cx="3349080" cy="1731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200" spc="-1" strike="noStrike">
                <a:solidFill>
                  <a:srgbClr val="000000"/>
                </a:solidFill>
                <a:latin typeface="Arial"/>
                <a:ea typeface="DejaVu Sans"/>
              </a:rPr>
              <a:t>agrees to invest in the following long-term plan:</a:t>
            </a:r>
            <a:endParaRPr b="0" lang="en-US" sz="1200" spc="-1" strike="noStrike">
              <a:latin typeface="Arial"/>
            </a:endParaRPr>
          </a:p>
        </p:txBody>
      </p:sp>
      <p:sp>
        <p:nvSpPr>
          <p:cNvPr id="687" name="TextBox 26"/>
          <p:cNvSpPr/>
          <p:nvPr/>
        </p:nvSpPr>
        <p:spPr>
          <a:xfrm>
            <a:off x="2697120" y="2198520"/>
            <a:ext cx="1837440" cy="26424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200" spc="-1" strike="noStrike">
                <a:solidFill>
                  <a:srgbClr val="000000"/>
                </a:solidFill>
                <a:latin typeface="Arial"/>
                <a:ea typeface="DejaVu Sans"/>
              </a:rPr>
              <a:t>Premium Auto Centers</a:t>
            </a:r>
            <a:endParaRPr b="0" lang="en-US" sz="1200" spc="-1" strike="noStrike">
              <a:latin typeface="Arial"/>
            </a:endParaRPr>
          </a:p>
        </p:txBody>
      </p:sp>
      <p:sp>
        <p:nvSpPr>
          <p:cNvPr id="688" name="TextBox 30"/>
          <p:cNvSpPr/>
          <p:nvPr/>
        </p:nvSpPr>
        <p:spPr>
          <a:xfrm>
            <a:off x="3817800" y="4807080"/>
            <a:ext cx="63432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0000"/>
                </a:solidFill>
                <a:latin typeface="Arial"/>
                <a:ea typeface="DejaVu Sans"/>
              </a:rPr>
              <a:t>$4,500</a:t>
            </a:r>
            <a:endParaRPr b="0" lang="en-US" sz="1200" spc="-1" strike="noStrike">
              <a:latin typeface="Arial"/>
            </a:endParaRPr>
          </a:p>
        </p:txBody>
      </p:sp>
      <p:sp>
        <p:nvSpPr>
          <p:cNvPr id="689" name="TextBox 31"/>
          <p:cNvSpPr/>
          <p:nvPr/>
        </p:nvSpPr>
        <p:spPr>
          <a:xfrm>
            <a:off x="3817800" y="5092560"/>
            <a:ext cx="505800" cy="26424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200" spc="-1" strike="noStrike">
                <a:solidFill>
                  <a:srgbClr val="000000"/>
                </a:solidFill>
                <a:latin typeface="Arial"/>
                <a:ea typeface="DejaVu Sans"/>
              </a:rPr>
              <a:t>$150</a:t>
            </a:r>
            <a:endParaRPr b="0" lang="en-US" sz="1200" spc="-1" strike="noStrike">
              <a:latin typeface="Arial"/>
            </a:endParaRPr>
          </a:p>
        </p:txBody>
      </p:sp>
      <p:graphicFrame>
        <p:nvGraphicFramePr>
          <p:cNvPr id="690" name="Object 1"/>
          <p:cNvGraphicFramePr/>
          <p:nvPr/>
        </p:nvGraphicFramePr>
        <p:xfrm>
          <a:off x="334800" y="2940120"/>
          <a:ext cx="8400240" cy="777240"/>
        </p:xfrm>
        <a:graphic>
          <a:graphicData uri="http://schemas.openxmlformats.org/presentationml/2006/ole">
            <p:oleObj progId="Excel.Sheet.8" r:id="rId1" spid="">
              <p:embed/>
              <p:pic>
                <p:nvPicPr>
                  <p:cNvPr id="691" name="Object 1" descr=""/>
                  <p:cNvPicPr/>
                  <p:nvPr/>
                </p:nvPicPr>
                <p:blipFill>
                  <a:blip r:embed="rId2"/>
                  <a:stretch/>
                </p:blipFill>
                <p:spPr>
                  <a:xfrm>
                    <a:off x="334800" y="2940120"/>
                    <a:ext cx="8400240" cy="777240"/>
                  </a:xfrm>
                  <a:prstGeom prst="rect">
                    <a:avLst/>
                  </a:prstGeom>
                  <a:ln w="0">
                    <a:noFill/>
                  </a:ln>
                </p:spPr>
              </p:pic>
            </p:oleObj>
          </a:graphicData>
        </a:graphic>
      </p:graphicFrame>
      <p:pic>
        <p:nvPicPr>
          <p:cNvPr id="692" name="Picture 11" descr=""/>
          <p:cNvPicPr/>
          <p:nvPr/>
        </p:nvPicPr>
        <p:blipFill>
          <a:blip r:embed="rId3"/>
          <a:stretch/>
        </p:blipFill>
        <p:spPr>
          <a:xfrm>
            <a:off x="1751040" y="6103800"/>
            <a:ext cx="2972520" cy="19800"/>
          </a:xfrm>
          <a:prstGeom prst="rect">
            <a:avLst/>
          </a:prstGeom>
          <a:ln w="0">
            <a:noFill/>
          </a:ln>
        </p:spPr>
      </p:pic>
      <p:pic>
        <p:nvPicPr>
          <p:cNvPr id="693" name="Picture 12" descr=""/>
          <p:cNvPicPr/>
          <p:nvPr/>
        </p:nvPicPr>
        <p:blipFill>
          <a:blip r:embed="rId4"/>
          <a:stretch/>
        </p:blipFill>
        <p:spPr>
          <a:xfrm>
            <a:off x="5334120" y="6103800"/>
            <a:ext cx="2972520" cy="19800"/>
          </a:xfrm>
          <a:prstGeom prst="rect">
            <a:avLst/>
          </a:prstGeom>
          <a:ln w="0">
            <a:noFill/>
          </a:ln>
        </p:spPr>
      </p:pic>
      <p:sp>
        <p:nvSpPr>
          <p:cNvPr id="694" name="Text Box 13"/>
          <p:cNvSpPr/>
          <p:nvPr/>
        </p:nvSpPr>
        <p:spPr>
          <a:xfrm>
            <a:off x="1700280" y="6149880"/>
            <a:ext cx="8121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0000"/>
                </a:solidFill>
                <a:latin typeface="Arial"/>
                <a:ea typeface="DejaVu Sans"/>
              </a:rPr>
              <a:t>Accepted for</a:t>
            </a:r>
            <a:endParaRPr b="0" lang="en-US" sz="1000" spc="-1" strike="noStrike">
              <a:latin typeface="Arial"/>
            </a:endParaRPr>
          </a:p>
        </p:txBody>
      </p:sp>
      <p:sp>
        <p:nvSpPr>
          <p:cNvPr id="695" name="Text Box 14"/>
          <p:cNvSpPr/>
          <p:nvPr/>
        </p:nvSpPr>
        <p:spPr>
          <a:xfrm>
            <a:off x="5297400" y="6162840"/>
            <a:ext cx="81036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0000"/>
                </a:solidFill>
                <a:latin typeface="Arial"/>
                <a:ea typeface="DejaVu Sans"/>
              </a:rPr>
              <a:t>Accepted for</a:t>
            </a:r>
            <a:endParaRPr b="0" lang="en-US" sz="1000" spc="-1" strike="noStrike">
              <a:latin typeface="Arial"/>
            </a:endParaRPr>
          </a:p>
        </p:txBody>
      </p:sp>
      <p:sp>
        <p:nvSpPr>
          <p:cNvPr id="696" name="Text Box 15"/>
          <p:cNvSpPr/>
          <p:nvPr/>
        </p:nvSpPr>
        <p:spPr>
          <a:xfrm>
            <a:off x="4537080" y="6162840"/>
            <a:ext cx="36900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0000"/>
                </a:solidFill>
                <a:latin typeface="Arial"/>
                <a:ea typeface="DejaVu Sans"/>
              </a:rPr>
              <a:t>Date</a:t>
            </a:r>
            <a:endParaRPr b="0" lang="en-US" sz="1000" spc="-1" strike="noStrike">
              <a:latin typeface="Arial"/>
            </a:endParaRPr>
          </a:p>
        </p:txBody>
      </p:sp>
      <p:sp>
        <p:nvSpPr>
          <p:cNvPr id="697" name="Text Box 16"/>
          <p:cNvSpPr/>
          <p:nvPr/>
        </p:nvSpPr>
        <p:spPr>
          <a:xfrm>
            <a:off x="8116920" y="6178680"/>
            <a:ext cx="45324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0" lang="en-US" sz="1000" spc="-1" strike="noStrike">
                <a:solidFill>
                  <a:srgbClr val="000000"/>
                </a:solidFill>
                <a:latin typeface="Arial"/>
                <a:ea typeface="DejaVu Sans"/>
              </a:rPr>
              <a:t>Date</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Client Policy Agreement </a:t>
            </a:r>
            <a:endParaRPr b="0" lang="en-US" sz="4000" spc="-1" strike="noStrike">
              <a:latin typeface="Arial"/>
            </a:endParaRPr>
          </a:p>
        </p:txBody>
      </p:sp>
      <p:sp>
        <p:nvSpPr>
          <p:cNvPr id="699"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F5A1D026-B62D-4EB3-BC9C-F2A5987AC99C}"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700" name="Text Box 5"/>
          <p:cNvSpPr/>
          <p:nvPr/>
        </p:nvSpPr>
        <p:spPr>
          <a:xfrm>
            <a:off x="0" y="1701720"/>
            <a:ext cx="9143280" cy="578880"/>
          </a:xfrm>
          <a:prstGeom prst="rect">
            <a:avLst/>
          </a:prstGeom>
          <a:noFill/>
          <a:ln w="0">
            <a:noFill/>
          </a:ln>
        </p:spPr>
        <p:style>
          <a:lnRef idx="0"/>
          <a:fillRef idx="0"/>
          <a:effectRef idx="0"/>
          <a:fontRef idx="minor"/>
        </p:style>
        <p:txBody>
          <a:bodyPr lIns="0" rIns="0" tIns="0" bIns="0" anchor="t">
            <a:spAutoFit/>
          </a:bodyPr>
          <a:p>
            <a:pPr algn="ctr">
              <a:lnSpc>
                <a:spcPct val="95000"/>
              </a:lnSpc>
              <a:buNone/>
            </a:pPr>
            <a:r>
              <a:rPr b="1" lang="en-US" sz="2000" spc="-1" strike="noStrike">
                <a:solidFill>
                  <a:srgbClr val="00274d"/>
                </a:solidFill>
                <a:latin typeface="Corbel"/>
                <a:ea typeface="Corbel"/>
              </a:rPr>
              <a:t>We have an agreement, which we will discuss with all</a:t>
            </a:r>
            <a:br>
              <a:rPr sz="2000"/>
            </a:br>
            <a:r>
              <a:rPr b="1" lang="en-US" sz="2000" spc="-1" strike="noStrike">
                <a:solidFill>
                  <a:srgbClr val="00274d"/>
                </a:solidFill>
                <a:latin typeface="Corbel"/>
                <a:ea typeface="Corbel"/>
              </a:rPr>
              <a:t>of our business partners and review throughout the year</a:t>
            </a:r>
            <a:endParaRPr b="0" lang="en-US" sz="2000" spc="-1" strike="noStrike">
              <a:latin typeface="Arial"/>
            </a:endParaRPr>
          </a:p>
        </p:txBody>
      </p:sp>
      <p:sp>
        <p:nvSpPr>
          <p:cNvPr id="701" name="Text Box 5"/>
          <p:cNvSpPr/>
          <p:nvPr/>
        </p:nvSpPr>
        <p:spPr>
          <a:xfrm>
            <a:off x="495360" y="2495520"/>
            <a:ext cx="8152560" cy="3959640"/>
          </a:xfrm>
          <a:prstGeom prst="rect">
            <a:avLst/>
          </a:prstGeom>
          <a:noFill/>
          <a:ln w="0">
            <a:noFill/>
          </a:ln>
        </p:spPr>
        <p:style>
          <a:lnRef idx="0"/>
          <a:fillRef idx="0"/>
          <a:effectRef idx="0"/>
          <a:fontRef idx="minor"/>
        </p:style>
        <p:txBody>
          <a:bodyPr lIns="0" rIns="0" tIns="0" bIns="0" anchor="t">
            <a:spAutoFit/>
          </a:bodyPr>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We will conduct a confidential needs analysis (Database) to gain a complete understanding of your business, your market and your stated objectives.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You will be supplied with a customized Summary of Conclusions and Recommendations (SCR) that is tailored to help you achieve your business goals.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You can be sure that your Marketing Representative will be professional, objective and totally focused on your needs (vs. what’s only in the best interest of the station group).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You will be offered total production and digital services and once complete, we will provide all creative to you for your final approval before going on-air or on-line.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The order will be placed as requested and you can expect a duplicate of your submitted broadcast schedules and net figures so that you know all times and costs.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You will be contacted following the first week on air to ensure that everything is running as scheduled. </a:t>
            </a:r>
            <a:r>
              <a:rPr b="0" lang="en-US" sz="1300" spc="-1" strike="noStrike">
                <a:solidFill>
                  <a:srgbClr val="00274d"/>
                </a:solidFill>
                <a:latin typeface="Corbel"/>
                <a:ea typeface="Corbel"/>
              </a:rPr>
              <a:t>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You will be provided with the latest qualitative research and will be continuously updated on relevant market information and changes.</a:t>
            </a:r>
            <a:r>
              <a:rPr b="0" lang="en-US" sz="1300" spc="-1" strike="noStrike">
                <a:solidFill>
                  <a:srgbClr val="00274d"/>
                </a:solidFill>
                <a:latin typeface="Corbel"/>
                <a:ea typeface="Corbel"/>
              </a:rPr>
              <a:t>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You can expect an exceptional customer experience including follow-through on all promises made and prompt return phone calls.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While we will be in constant contact, you will be asked to formally evaluate </a:t>
            </a:r>
            <a:r>
              <a:rPr b="0" i="1" lang="en-US" sz="1300" spc="-1" strike="noStrike">
                <a:solidFill>
                  <a:srgbClr val="00274d"/>
                </a:solidFill>
                <a:latin typeface="Corbel"/>
                <a:ea typeface="Corbel"/>
              </a:rPr>
              <a:t>our performance</a:t>
            </a:r>
            <a:r>
              <a:rPr b="0" lang="en-US" sz="1300" spc="-1" strike="noStrike">
                <a:solidFill>
                  <a:srgbClr val="00274d"/>
                </a:solidFill>
                <a:latin typeface="Corbel"/>
                <a:ea typeface="Corbel"/>
              </a:rPr>
              <a:t> and </a:t>
            </a:r>
            <a:r>
              <a:rPr b="0" i="1" lang="en-US" sz="1300" spc="-1" strike="noStrike">
                <a:solidFill>
                  <a:srgbClr val="00274d"/>
                </a:solidFill>
                <a:latin typeface="Corbel"/>
                <a:ea typeface="Corbel"/>
              </a:rPr>
              <a:t>your results</a:t>
            </a:r>
            <a:r>
              <a:rPr b="0" lang="en-US" sz="1300" spc="-1" strike="noStrike">
                <a:solidFill>
                  <a:srgbClr val="00274d"/>
                </a:solidFill>
                <a:latin typeface="Corbel"/>
                <a:ea typeface="Corbel"/>
              </a:rPr>
              <a:t> every 3, 6, 9 and 12 months.  </a:t>
            </a:r>
            <a:endParaRPr b="0" lang="en-US" sz="1300" spc="-1" strike="noStrike">
              <a:latin typeface="Arial"/>
            </a:endParaRPr>
          </a:p>
          <a:p>
            <a:pPr marL="343080" indent="-343080">
              <a:lnSpc>
                <a:spcPct val="100000"/>
              </a:lnSpc>
              <a:buClr>
                <a:srgbClr val="00274d"/>
              </a:buClr>
              <a:buFont typeface="Calibri"/>
              <a:buAutoNum type="arabicPeriod"/>
            </a:pPr>
            <a:r>
              <a:rPr b="0" lang="en-US" sz="1300" spc="-1" strike="noStrike">
                <a:solidFill>
                  <a:srgbClr val="00274d"/>
                </a:solidFill>
                <a:latin typeface="Corbel"/>
                <a:ea typeface="Corbel"/>
              </a:rPr>
              <a:t>If any of the above conditions are not met, please contact ___________________ at _____________________.</a:t>
            </a:r>
            <a:endParaRPr b="0" lang="en-US" sz="1300" spc="-1" strike="noStrike">
              <a:latin typeface="Arial"/>
            </a:endParaRPr>
          </a:p>
        </p:txBody>
      </p:sp>
      <p:sp>
        <p:nvSpPr>
          <p:cNvPr id="702" name="TextBox 4"/>
          <p:cNvSpPr/>
          <p:nvPr/>
        </p:nvSpPr>
        <p:spPr>
          <a:xfrm>
            <a:off x="4800600" y="5751360"/>
            <a:ext cx="130248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200" spc="-1" strike="noStrike">
                <a:solidFill>
                  <a:srgbClr val="00274d"/>
                </a:solidFill>
                <a:latin typeface="Corbel"/>
                <a:ea typeface="Corbel"/>
              </a:rPr>
              <a:t>Your Name </a:t>
            </a:r>
            <a:endParaRPr b="0" lang="en-US" sz="1200" spc="-1" strike="noStrike">
              <a:latin typeface="Arial"/>
            </a:endParaRPr>
          </a:p>
        </p:txBody>
      </p:sp>
      <p:sp>
        <p:nvSpPr>
          <p:cNvPr id="703" name="TextBox 4"/>
          <p:cNvSpPr/>
          <p:nvPr/>
        </p:nvSpPr>
        <p:spPr>
          <a:xfrm>
            <a:off x="6629400" y="5751360"/>
            <a:ext cx="1302480" cy="26424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200" spc="-1" strike="noStrike">
                <a:solidFill>
                  <a:srgbClr val="00274d"/>
                </a:solidFill>
                <a:latin typeface="Corbel"/>
                <a:ea typeface="Corbel"/>
              </a:rPr>
              <a:t>(555) 555-5555</a:t>
            </a:r>
            <a:endParaRPr b="0" lang="en-US" sz="1200" spc="-1" strike="noStrike">
              <a:latin typeface="Arial"/>
            </a:endParaRPr>
          </a:p>
        </p:txBody>
      </p:sp>
      <p:sp>
        <p:nvSpPr>
          <p:cNvPr id="704" name="TextBox 1"/>
          <p:cNvSpPr/>
          <p:nvPr/>
        </p:nvSpPr>
        <p:spPr>
          <a:xfrm>
            <a:off x="3546360" y="1371600"/>
            <a:ext cx="114264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2000" spc="-1" strike="noStrike">
                <a:solidFill>
                  <a:srgbClr val="00274d"/>
                </a:solidFill>
                <a:latin typeface="Corbel"/>
                <a:ea typeface="Corbel"/>
              </a:rPr>
              <a:t>WWWW</a:t>
            </a:r>
            <a:endParaRPr b="0" lang="en-US" sz="2000" spc="-1" strike="noStrike">
              <a:latin typeface="Arial"/>
            </a:endParaRPr>
          </a:p>
        </p:txBody>
      </p:sp>
      <p:sp>
        <p:nvSpPr>
          <p:cNvPr id="705" name="TextBox 2"/>
          <p:cNvSpPr/>
          <p:nvPr/>
        </p:nvSpPr>
        <p:spPr>
          <a:xfrm>
            <a:off x="3179880" y="1371600"/>
            <a:ext cx="45648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000" spc="-1" strike="noStrike">
                <a:solidFill>
                  <a:srgbClr val="00274d"/>
                </a:solidFill>
                <a:latin typeface="Corbel"/>
                <a:ea typeface="Corbel"/>
              </a:rPr>
              <a:t>At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Rectangle 1"/>
          <p:cNvSpPr/>
          <p:nvPr/>
        </p:nvSpPr>
        <p:spPr>
          <a:xfrm>
            <a:off x="0" y="457200"/>
            <a:ext cx="9143280" cy="761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1" lang="en-US" sz="4000" spc="-1" strike="noStrike">
                <a:solidFill>
                  <a:srgbClr val="00274d"/>
                </a:solidFill>
                <a:latin typeface="Corbel"/>
                <a:ea typeface="Corbel"/>
              </a:rPr>
              <a:t>Sales Service Agreement </a:t>
            </a:r>
            <a:endParaRPr b="0" lang="en-US" sz="4000" spc="-1" strike="noStrike">
              <a:latin typeface="Arial"/>
            </a:endParaRPr>
          </a:p>
        </p:txBody>
      </p:sp>
      <p:sp>
        <p:nvSpPr>
          <p:cNvPr id="707" name="Slide Number Placeholder 4"/>
          <p:cNvSpPr/>
          <p:nvPr/>
        </p:nvSpPr>
        <p:spPr>
          <a:xfrm>
            <a:off x="8686800" y="6553080"/>
            <a:ext cx="380160" cy="30420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pPr>
            <a:fld id="{7D248993-44DF-4970-AA08-A465604E4ABB}" type="slidenum">
              <a:rPr b="0" lang="en-US" sz="1100" spc="-1" strike="noStrike">
                <a:solidFill>
                  <a:srgbClr val="ffffff"/>
                </a:solidFill>
                <a:latin typeface="Corbel"/>
                <a:ea typeface="Corbel"/>
              </a:rPr>
              <a:t>&lt;number&gt;</a:t>
            </a:fld>
            <a:endParaRPr b="0" lang="en-US" sz="1100" spc="-1" strike="noStrike">
              <a:latin typeface="Arial"/>
            </a:endParaRPr>
          </a:p>
        </p:txBody>
      </p:sp>
      <p:sp>
        <p:nvSpPr>
          <p:cNvPr id="708" name="Text Box 4"/>
          <p:cNvSpPr/>
          <p:nvPr/>
        </p:nvSpPr>
        <p:spPr>
          <a:xfrm>
            <a:off x="1030320" y="2795760"/>
            <a:ext cx="6589080" cy="2845440"/>
          </a:xfrm>
          <a:prstGeom prst="rect">
            <a:avLst/>
          </a:prstGeom>
          <a:noFill/>
          <a:ln w="0">
            <a:noFill/>
          </a:ln>
        </p:spPr>
        <p:style>
          <a:lnRef idx="0"/>
          <a:fillRef idx="0"/>
          <a:effectRef idx="0"/>
          <a:fontRef idx="minor"/>
        </p:style>
        <p:txBody>
          <a:bodyPr lIns="0" rIns="0" tIns="0" bIns="0" anchor="t">
            <a:spAutoFit/>
          </a:bodyPr>
          <a:p>
            <a:pPr marL="171360" indent="-171360">
              <a:lnSpc>
                <a:spcPct val="100000"/>
              </a:lnSpc>
              <a:buClr>
                <a:srgbClr val="00274d"/>
              </a:buClr>
              <a:buFont typeface="Arial"/>
              <a:buChar char="•"/>
            </a:pPr>
            <a:r>
              <a:rPr b="0" lang="en-US" sz="1100" spc="-1" strike="noStrike">
                <a:solidFill>
                  <a:srgbClr val="00274d"/>
                </a:solidFill>
                <a:latin typeface="Corbel"/>
                <a:ea typeface="Corbel"/>
              </a:rPr>
              <a:t>The Marketing Representative has a full understanding of my business needs, goals and objectives.                                                                                                                                                       </a:t>
            </a:r>
            <a:endParaRPr b="0" lang="en-US" sz="1100" spc="-1" strike="noStrike">
              <a:latin typeface="Arial"/>
            </a:endParaRPr>
          </a:p>
          <a:p>
            <a:pPr>
              <a:lnSpc>
                <a:spcPct val="100000"/>
              </a:lnSpc>
              <a:buNone/>
            </a:pPr>
            <a:endParaRPr b="0" lang="en-US" sz="1100" spc="-1" strike="noStrike">
              <a:latin typeface="Arial"/>
            </a:endParaRPr>
          </a:p>
          <a:p>
            <a:pPr marL="171360" indent="-171360">
              <a:lnSpc>
                <a:spcPct val="100000"/>
              </a:lnSpc>
              <a:buClr>
                <a:srgbClr val="00274d"/>
              </a:buClr>
              <a:buFont typeface="Arial"/>
              <a:buChar char="•"/>
            </a:pPr>
            <a:r>
              <a:rPr b="0" lang="en-US" sz="1100" spc="-1" strike="noStrike">
                <a:solidFill>
                  <a:srgbClr val="00274d"/>
                </a:solidFill>
                <a:latin typeface="Corbel"/>
                <a:ea typeface="Corbel"/>
              </a:rPr>
              <a:t>He/she has been in constant contact to make sure that the program is running as planned.                                                                                                      </a:t>
            </a:r>
            <a:endParaRPr b="0" lang="en-US" sz="1100" spc="-1" strike="noStrike">
              <a:latin typeface="Arial"/>
            </a:endParaRPr>
          </a:p>
          <a:p>
            <a:pPr>
              <a:lnSpc>
                <a:spcPct val="100000"/>
              </a:lnSpc>
              <a:buNone/>
            </a:pPr>
            <a:endParaRPr b="0" lang="en-US" sz="1100" spc="-1" strike="noStrike">
              <a:latin typeface="Arial"/>
            </a:endParaRPr>
          </a:p>
          <a:p>
            <a:pPr marL="171360" indent="-171360">
              <a:lnSpc>
                <a:spcPct val="100000"/>
              </a:lnSpc>
              <a:buClr>
                <a:srgbClr val="00274d"/>
              </a:buClr>
              <a:buFont typeface="Arial"/>
              <a:buChar char="•"/>
            </a:pPr>
            <a:r>
              <a:rPr b="0" lang="en-US" sz="1100" spc="-1" strike="noStrike">
                <a:solidFill>
                  <a:srgbClr val="00274d"/>
                </a:solidFill>
                <a:latin typeface="Corbel"/>
                <a:ea typeface="Corbel"/>
              </a:rPr>
              <a:t>Statement/Invoice questions have been handled in a timely fashion. </a:t>
            </a:r>
            <a:r>
              <a:rPr b="0" lang="en-US" sz="1100" spc="-1" strike="noStrike">
                <a:solidFill>
                  <a:srgbClr val="00274d"/>
                </a:solidFill>
                <a:latin typeface="Corbel"/>
                <a:ea typeface="Corbel"/>
              </a:rPr>
              <a:t>	</a:t>
            </a:r>
            <a:endParaRPr b="0" lang="en-US" sz="1100" spc="-1" strike="noStrike">
              <a:latin typeface="Arial"/>
            </a:endParaRPr>
          </a:p>
          <a:p>
            <a:pPr>
              <a:lnSpc>
                <a:spcPct val="100000"/>
              </a:lnSpc>
              <a:buNone/>
              <a:tabLst>
                <a:tab algn="l" pos="0"/>
              </a:tabLst>
            </a:pPr>
            <a:r>
              <a:rPr b="0" lang="en-US" sz="1100" spc="-1" strike="noStrike">
                <a:solidFill>
                  <a:srgbClr val="00274d"/>
                </a:solidFill>
                <a:latin typeface="Corbel"/>
                <a:ea typeface="Corbel"/>
              </a:rPr>
              <a:t>	</a:t>
            </a:r>
            <a:r>
              <a:rPr b="0" lang="en-US" sz="1100" spc="-1" strike="noStrike">
                <a:solidFill>
                  <a:srgbClr val="00274d"/>
                </a:solidFill>
                <a:latin typeface="Corbel"/>
                <a:ea typeface="Corbel"/>
              </a:rPr>
              <a:t>	</a:t>
            </a:r>
            <a:r>
              <a:rPr b="0" lang="en-US" sz="1100" spc="-1" strike="noStrike">
                <a:solidFill>
                  <a:srgbClr val="00274d"/>
                </a:solidFill>
                <a:latin typeface="Corbel"/>
                <a:ea typeface="Corbel"/>
              </a:rPr>
              <a:t>	</a:t>
            </a:r>
            <a:endParaRPr b="0" lang="en-US" sz="1100" spc="-1" strike="noStrike">
              <a:latin typeface="Arial"/>
            </a:endParaRPr>
          </a:p>
          <a:p>
            <a:pPr marL="171360" indent="-171360">
              <a:lnSpc>
                <a:spcPct val="100000"/>
              </a:lnSpc>
              <a:buClr>
                <a:srgbClr val="00274d"/>
              </a:buClr>
              <a:buFont typeface="Arial"/>
              <a:buChar char="•"/>
              <a:tabLst>
                <a:tab algn="l" pos="0"/>
              </a:tabLst>
            </a:pPr>
            <a:r>
              <a:rPr b="0" lang="en-US" sz="1100" spc="-1" strike="noStrike">
                <a:solidFill>
                  <a:srgbClr val="00274d"/>
                </a:solidFill>
                <a:latin typeface="Corbel"/>
                <a:ea typeface="Corbel"/>
              </a:rPr>
              <a:t>Client calls have been returned within a reasonable time frame.</a:t>
            </a:r>
            <a:r>
              <a:rPr b="0" lang="en-US" sz="1100" spc="-1" strike="noStrike">
                <a:solidFill>
                  <a:srgbClr val="00274d"/>
                </a:solidFill>
                <a:latin typeface="Corbel"/>
                <a:ea typeface="Corbel"/>
              </a:rPr>
              <a:t>	</a:t>
            </a:r>
            <a:endParaRPr b="0" lang="en-US" sz="1100" spc="-1" strike="noStrike">
              <a:latin typeface="Arial"/>
            </a:endParaRPr>
          </a:p>
          <a:p>
            <a:pPr>
              <a:lnSpc>
                <a:spcPct val="100000"/>
              </a:lnSpc>
              <a:buNone/>
              <a:tabLst>
                <a:tab algn="l" pos="0"/>
              </a:tabLst>
            </a:pPr>
            <a:endParaRPr b="0" lang="en-US" sz="1100" spc="-1" strike="noStrike">
              <a:latin typeface="Arial"/>
            </a:endParaRPr>
          </a:p>
          <a:p>
            <a:pPr marL="171360" indent="-171360">
              <a:lnSpc>
                <a:spcPct val="100000"/>
              </a:lnSpc>
              <a:buClr>
                <a:srgbClr val="00274d"/>
              </a:buClr>
              <a:buFont typeface="Arial"/>
              <a:buChar char="•"/>
              <a:tabLst>
                <a:tab algn="l" pos="0"/>
              </a:tabLst>
            </a:pPr>
            <a:r>
              <a:rPr b="0" lang="en-US" sz="1100" spc="-1" strike="noStrike">
                <a:solidFill>
                  <a:srgbClr val="00274d"/>
                </a:solidFill>
                <a:latin typeface="Corbel"/>
                <a:ea typeface="Corbel"/>
              </a:rPr>
              <a:t>Promises have been kept and commitments have been honored at all times.</a:t>
            </a:r>
            <a:endParaRPr b="0" lang="en-US" sz="1100" spc="-1" strike="noStrike">
              <a:latin typeface="Arial"/>
            </a:endParaRPr>
          </a:p>
          <a:p>
            <a:pPr>
              <a:lnSpc>
                <a:spcPct val="100000"/>
              </a:lnSpc>
              <a:buNone/>
              <a:tabLst>
                <a:tab algn="l" pos="0"/>
              </a:tabLst>
            </a:pPr>
            <a:endParaRPr b="0" lang="en-US" sz="1100" spc="-1" strike="noStrike">
              <a:latin typeface="Arial"/>
            </a:endParaRPr>
          </a:p>
          <a:p>
            <a:pPr marL="171360" indent="-171360">
              <a:lnSpc>
                <a:spcPct val="100000"/>
              </a:lnSpc>
              <a:buClr>
                <a:srgbClr val="00274d"/>
              </a:buClr>
              <a:buFont typeface="Arial"/>
              <a:buChar char="•"/>
              <a:tabLst>
                <a:tab algn="l" pos="0"/>
              </a:tabLst>
            </a:pPr>
            <a:r>
              <a:rPr b="0" lang="en-US" sz="1100" spc="-1" strike="noStrike">
                <a:solidFill>
                  <a:srgbClr val="00274d"/>
                </a:solidFill>
                <a:latin typeface="Corbel"/>
                <a:ea typeface="Corbel"/>
              </a:rPr>
              <a:t>The overall service experience rating I would give my Marketing Representative.                          </a:t>
            </a:r>
            <a:endParaRPr b="0" lang="en-US" sz="1100" spc="-1" strike="noStrike">
              <a:latin typeface="Arial"/>
            </a:endParaRPr>
          </a:p>
          <a:p>
            <a:pPr>
              <a:lnSpc>
                <a:spcPct val="100000"/>
              </a:lnSpc>
              <a:buNone/>
              <a:tabLst>
                <a:tab algn="l" pos="0"/>
              </a:tabLst>
            </a:pPr>
            <a:endParaRPr b="0" lang="en-US" sz="1100" spc="-1" strike="noStrike">
              <a:latin typeface="Arial"/>
            </a:endParaRPr>
          </a:p>
          <a:p>
            <a:pPr marL="171360" indent="-171360">
              <a:lnSpc>
                <a:spcPct val="100000"/>
              </a:lnSpc>
              <a:buClr>
                <a:srgbClr val="00274d"/>
              </a:buClr>
              <a:buFont typeface="Arial"/>
              <a:buChar char="•"/>
              <a:tabLst>
                <a:tab algn="l" pos="0"/>
              </a:tabLst>
            </a:pPr>
            <a:r>
              <a:rPr b="0" lang="en-US" sz="1100" spc="-1" strike="noStrike">
                <a:solidFill>
                  <a:srgbClr val="00274d"/>
                </a:solidFill>
                <a:latin typeface="Corbel"/>
                <a:ea typeface="Corbel"/>
              </a:rPr>
              <a:t>The marketing program has met my expectations given the time period it has been running.                   </a:t>
            </a:r>
            <a:endParaRPr b="0" lang="en-US" sz="1100" spc="-1" strike="noStrike">
              <a:latin typeface="Arial"/>
            </a:endParaRPr>
          </a:p>
          <a:p>
            <a:pPr>
              <a:lnSpc>
                <a:spcPct val="100000"/>
              </a:lnSpc>
              <a:buNone/>
              <a:tabLst>
                <a:tab algn="l" pos="0"/>
              </a:tabLst>
            </a:pPr>
            <a:endParaRPr b="0" lang="en-US" sz="1100" spc="-1" strike="noStrike">
              <a:latin typeface="Arial"/>
            </a:endParaRPr>
          </a:p>
          <a:p>
            <a:pPr marL="171360" indent="-171360">
              <a:lnSpc>
                <a:spcPct val="100000"/>
              </a:lnSpc>
              <a:buClr>
                <a:srgbClr val="00274d"/>
              </a:buClr>
              <a:buFont typeface="Arial"/>
              <a:buChar char="•"/>
              <a:tabLst>
                <a:tab algn="l" pos="0"/>
              </a:tabLst>
            </a:pPr>
            <a:r>
              <a:rPr b="0" lang="en-US" sz="1100" spc="-1" strike="noStrike">
                <a:solidFill>
                  <a:srgbClr val="00274d"/>
                </a:solidFill>
                <a:latin typeface="Corbel"/>
                <a:ea typeface="Corbel"/>
              </a:rPr>
              <a:t>How likely I would be to recommend someone else to this group. </a:t>
            </a:r>
            <a:endParaRPr b="0" lang="en-US" sz="1100" spc="-1" strike="noStrike">
              <a:latin typeface="Arial"/>
            </a:endParaRPr>
          </a:p>
        </p:txBody>
      </p:sp>
      <p:sp>
        <p:nvSpPr>
          <p:cNvPr id="709" name="Text Box 5"/>
          <p:cNvSpPr/>
          <p:nvPr/>
        </p:nvSpPr>
        <p:spPr>
          <a:xfrm>
            <a:off x="496800" y="1393920"/>
            <a:ext cx="8149680" cy="4327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i="1" lang="en-US" sz="1000" spc="-1" strike="noStrike">
                <a:solidFill>
                  <a:srgbClr val="00274d"/>
                </a:solidFill>
                <a:latin typeface="Corbel"/>
                <a:ea typeface="Corbel"/>
              </a:rPr>
              <a:t>The Sales Service Agreement is part of our </a:t>
            </a:r>
            <a:r>
              <a:rPr b="1" lang="en-US" sz="1000" spc="-1" strike="noStrike">
                <a:solidFill>
                  <a:srgbClr val="00274d"/>
                </a:solidFill>
                <a:latin typeface="Corbel"/>
                <a:ea typeface="Corbel"/>
              </a:rPr>
              <a:t>Consumer</a:t>
            </a:r>
            <a:r>
              <a:rPr b="1" i="1" lang="en-US" sz="1000" spc="-1" strike="noStrike">
                <a:solidFill>
                  <a:srgbClr val="00274d"/>
                </a:solidFill>
                <a:latin typeface="Corbel"/>
                <a:ea typeface="Corbel"/>
              </a:rPr>
              <a:t> Satisfaction Index Program (CSI) which is meant to build and serve long-term alliances. Please help me know how well we are servicing you by grading each of the following segments 1 to 5 with 5 being the highest. Place the chosen number on each line.</a:t>
            </a:r>
            <a:endParaRPr b="0" lang="en-US" sz="1000" spc="-1" strike="noStrike">
              <a:latin typeface="Arial"/>
            </a:endParaRPr>
          </a:p>
        </p:txBody>
      </p:sp>
      <p:sp>
        <p:nvSpPr>
          <p:cNvPr id="710" name="Text Box 6"/>
          <p:cNvSpPr/>
          <p:nvPr/>
        </p:nvSpPr>
        <p:spPr>
          <a:xfrm>
            <a:off x="1030320" y="2505240"/>
            <a:ext cx="2174040" cy="1587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100" spc="-1" strike="noStrike">
                <a:solidFill>
                  <a:srgbClr val="00274d"/>
                </a:solidFill>
                <a:latin typeface="Corbel"/>
                <a:ea typeface="Corbel"/>
              </a:rPr>
              <a:t>CONTINUOUS BASIC SERVICE</a:t>
            </a:r>
            <a:endParaRPr b="0" lang="en-US" sz="1100" spc="-1" strike="noStrike">
              <a:latin typeface="Arial"/>
            </a:endParaRPr>
          </a:p>
        </p:txBody>
      </p:sp>
      <p:pic>
        <p:nvPicPr>
          <p:cNvPr id="711" name="Picture 7" descr=""/>
          <p:cNvPicPr/>
          <p:nvPr/>
        </p:nvPicPr>
        <p:blipFill>
          <a:blip r:embed="rId1"/>
          <a:stretch/>
        </p:blipFill>
        <p:spPr>
          <a:xfrm>
            <a:off x="7526160" y="2897280"/>
            <a:ext cx="491400" cy="29520"/>
          </a:xfrm>
          <a:prstGeom prst="rect">
            <a:avLst/>
          </a:prstGeom>
          <a:ln w="0">
            <a:noFill/>
          </a:ln>
        </p:spPr>
      </p:pic>
      <p:pic>
        <p:nvPicPr>
          <p:cNvPr id="712" name="Picture 8" descr=""/>
          <p:cNvPicPr/>
          <p:nvPr/>
        </p:nvPicPr>
        <p:blipFill>
          <a:blip r:embed="rId2"/>
          <a:stretch/>
        </p:blipFill>
        <p:spPr>
          <a:xfrm>
            <a:off x="7526160" y="3220920"/>
            <a:ext cx="491400" cy="29520"/>
          </a:xfrm>
          <a:prstGeom prst="rect">
            <a:avLst/>
          </a:prstGeom>
          <a:ln w="0">
            <a:noFill/>
          </a:ln>
        </p:spPr>
      </p:pic>
      <p:pic>
        <p:nvPicPr>
          <p:cNvPr id="713" name="Picture 9" descr=""/>
          <p:cNvPicPr/>
          <p:nvPr/>
        </p:nvPicPr>
        <p:blipFill>
          <a:blip r:embed="rId3"/>
          <a:stretch/>
        </p:blipFill>
        <p:spPr>
          <a:xfrm>
            <a:off x="7526160" y="3583080"/>
            <a:ext cx="491400" cy="29520"/>
          </a:xfrm>
          <a:prstGeom prst="rect">
            <a:avLst/>
          </a:prstGeom>
          <a:ln w="0">
            <a:noFill/>
          </a:ln>
        </p:spPr>
      </p:pic>
      <p:pic>
        <p:nvPicPr>
          <p:cNvPr id="714" name="Picture 11" descr=""/>
          <p:cNvPicPr/>
          <p:nvPr/>
        </p:nvPicPr>
        <p:blipFill>
          <a:blip r:embed="rId4"/>
          <a:stretch/>
        </p:blipFill>
        <p:spPr>
          <a:xfrm>
            <a:off x="7526160" y="3963960"/>
            <a:ext cx="491400" cy="29520"/>
          </a:xfrm>
          <a:prstGeom prst="rect">
            <a:avLst/>
          </a:prstGeom>
          <a:ln w="0">
            <a:noFill/>
          </a:ln>
        </p:spPr>
      </p:pic>
      <p:pic>
        <p:nvPicPr>
          <p:cNvPr id="715" name="Picture 12" descr=""/>
          <p:cNvPicPr/>
          <p:nvPr/>
        </p:nvPicPr>
        <p:blipFill>
          <a:blip r:embed="rId5"/>
          <a:stretch/>
        </p:blipFill>
        <p:spPr>
          <a:xfrm>
            <a:off x="7526160" y="4572000"/>
            <a:ext cx="491400" cy="30960"/>
          </a:xfrm>
          <a:prstGeom prst="rect">
            <a:avLst/>
          </a:prstGeom>
          <a:ln w="0">
            <a:noFill/>
          </a:ln>
        </p:spPr>
      </p:pic>
      <p:pic>
        <p:nvPicPr>
          <p:cNvPr id="716" name="Picture 13" descr=""/>
          <p:cNvPicPr/>
          <p:nvPr/>
        </p:nvPicPr>
        <p:blipFill>
          <a:blip r:embed="rId6"/>
          <a:stretch/>
        </p:blipFill>
        <p:spPr>
          <a:xfrm>
            <a:off x="7526160" y="4952880"/>
            <a:ext cx="491400" cy="30960"/>
          </a:xfrm>
          <a:prstGeom prst="rect">
            <a:avLst/>
          </a:prstGeom>
          <a:ln w="0">
            <a:noFill/>
          </a:ln>
        </p:spPr>
      </p:pic>
      <p:pic>
        <p:nvPicPr>
          <p:cNvPr id="717" name="Picture 14" descr=""/>
          <p:cNvPicPr/>
          <p:nvPr/>
        </p:nvPicPr>
        <p:blipFill>
          <a:blip r:embed="rId7"/>
          <a:stretch/>
        </p:blipFill>
        <p:spPr>
          <a:xfrm>
            <a:off x="7526160" y="5278320"/>
            <a:ext cx="491400" cy="30960"/>
          </a:xfrm>
          <a:prstGeom prst="rect">
            <a:avLst/>
          </a:prstGeom>
          <a:ln w="0">
            <a:noFill/>
          </a:ln>
        </p:spPr>
      </p:pic>
      <p:pic>
        <p:nvPicPr>
          <p:cNvPr id="718" name="Picture 18" descr=""/>
          <p:cNvPicPr/>
          <p:nvPr/>
        </p:nvPicPr>
        <p:blipFill>
          <a:blip r:embed="rId8"/>
          <a:stretch/>
        </p:blipFill>
        <p:spPr>
          <a:xfrm>
            <a:off x="7526160" y="4255920"/>
            <a:ext cx="491400" cy="35640"/>
          </a:xfrm>
          <a:prstGeom prst="rect">
            <a:avLst/>
          </a:prstGeom>
          <a:ln w="0">
            <a:noFill/>
          </a:ln>
        </p:spPr>
      </p:pic>
      <p:pic>
        <p:nvPicPr>
          <p:cNvPr id="719" name="Picture 20" descr=""/>
          <p:cNvPicPr/>
          <p:nvPr/>
        </p:nvPicPr>
        <p:blipFill>
          <a:blip r:embed="rId9"/>
          <a:stretch/>
        </p:blipFill>
        <p:spPr>
          <a:xfrm>
            <a:off x="1600200" y="5967360"/>
            <a:ext cx="2677320" cy="21600"/>
          </a:xfrm>
          <a:prstGeom prst="rect">
            <a:avLst/>
          </a:prstGeom>
          <a:ln w="0">
            <a:noFill/>
          </a:ln>
        </p:spPr>
      </p:pic>
      <p:sp>
        <p:nvSpPr>
          <p:cNvPr id="720" name="Text Box 21"/>
          <p:cNvSpPr/>
          <p:nvPr/>
        </p:nvSpPr>
        <p:spPr>
          <a:xfrm>
            <a:off x="4767120" y="6026040"/>
            <a:ext cx="102312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Signed by Client</a:t>
            </a:r>
            <a:endParaRPr b="0" lang="en-US" sz="1000" spc="-1" strike="noStrike">
              <a:latin typeface="Arial"/>
            </a:endParaRPr>
          </a:p>
        </p:txBody>
      </p:sp>
      <p:sp>
        <p:nvSpPr>
          <p:cNvPr id="721" name="Text Box 22"/>
          <p:cNvSpPr/>
          <p:nvPr/>
        </p:nvSpPr>
        <p:spPr>
          <a:xfrm>
            <a:off x="1614600" y="6026040"/>
            <a:ext cx="1737720" cy="288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Signed by Account Executive</a:t>
            </a:r>
            <a:endParaRPr b="0" lang="en-US" sz="1000" spc="-1" strike="noStrike">
              <a:latin typeface="Arial"/>
            </a:endParaRPr>
          </a:p>
        </p:txBody>
      </p:sp>
      <p:sp>
        <p:nvSpPr>
          <p:cNvPr id="722" name="Text Box 23"/>
          <p:cNvSpPr/>
          <p:nvPr/>
        </p:nvSpPr>
        <p:spPr>
          <a:xfrm>
            <a:off x="3855960" y="6026040"/>
            <a:ext cx="37080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Date</a:t>
            </a:r>
            <a:endParaRPr b="0" lang="en-US" sz="1000" spc="-1" strike="noStrike">
              <a:latin typeface="Arial"/>
            </a:endParaRPr>
          </a:p>
        </p:txBody>
      </p:sp>
      <p:sp>
        <p:nvSpPr>
          <p:cNvPr id="723" name="Text Box 24"/>
          <p:cNvSpPr/>
          <p:nvPr/>
        </p:nvSpPr>
        <p:spPr>
          <a:xfrm>
            <a:off x="7056360" y="6026040"/>
            <a:ext cx="370800" cy="14436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000" spc="-1" strike="noStrike">
                <a:solidFill>
                  <a:srgbClr val="00274d"/>
                </a:solidFill>
                <a:latin typeface="Corbel"/>
                <a:ea typeface="Corbel"/>
              </a:rPr>
              <a:t>Date</a:t>
            </a:r>
            <a:endParaRPr b="0" lang="en-US" sz="1000" spc="-1" strike="noStrike">
              <a:latin typeface="Arial"/>
            </a:endParaRPr>
          </a:p>
        </p:txBody>
      </p:sp>
      <p:pic>
        <p:nvPicPr>
          <p:cNvPr id="724" name="Picture 25" descr=""/>
          <p:cNvPicPr/>
          <p:nvPr/>
        </p:nvPicPr>
        <p:blipFill>
          <a:blip r:embed="rId10"/>
          <a:stretch/>
        </p:blipFill>
        <p:spPr>
          <a:xfrm>
            <a:off x="4722840" y="5967360"/>
            <a:ext cx="2679120" cy="21600"/>
          </a:xfrm>
          <a:prstGeom prst="rect">
            <a:avLst/>
          </a:prstGeom>
          <a:ln w="0">
            <a:noFill/>
          </a:ln>
        </p:spPr>
      </p:pic>
      <p:sp>
        <p:nvSpPr>
          <p:cNvPr id="725" name="Text Box 28"/>
          <p:cNvSpPr/>
          <p:nvPr/>
        </p:nvSpPr>
        <p:spPr>
          <a:xfrm>
            <a:off x="1074600" y="2060640"/>
            <a:ext cx="2331360" cy="187920"/>
          </a:xfrm>
          <a:prstGeom prst="rect">
            <a:avLst/>
          </a:prstGeom>
          <a:noFill/>
          <a:ln w="0">
            <a:noFill/>
          </a:ln>
        </p:spPr>
        <p:style>
          <a:lnRef idx="0"/>
          <a:fillRef idx="0"/>
          <a:effectRef idx="0"/>
          <a:fontRef idx="minor"/>
        </p:style>
        <p:txBody>
          <a:bodyPr lIns="0" rIns="0" tIns="0" bIns="0" anchor="t">
            <a:spAutoFit/>
          </a:bodyPr>
          <a:p>
            <a:pPr>
              <a:lnSpc>
                <a:spcPct val="95000"/>
              </a:lnSpc>
              <a:buNone/>
            </a:pPr>
            <a:r>
              <a:rPr b="1" lang="en-US" sz="1300" spc="-1" strike="noStrike">
                <a:solidFill>
                  <a:srgbClr val="00274d"/>
                </a:solidFill>
                <a:latin typeface="Corbel"/>
                <a:ea typeface="Corbel"/>
              </a:rPr>
              <a:t>This agreement is between</a:t>
            </a:r>
            <a:endParaRPr b="0" lang="en-US" sz="1300" spc="-1" strike="noStrike">
              <a:latin typeface="Arial"/>
            </a:endParaRPr>
          </a:p>
        </p:txBody>
      </p:sp>
      <p:sp>
        <p:nvSpPr>
          <p:cNvPr id="726" name="TextBox 28"/>
          <p:cNvSpPr/>
          <p:nvPr/>
        </p:nvSpPr>
        <p:spPr>
          <a:xfrm>
            <a:off x="2887560" y="2023920"/>
            <a:ext cx="2637720" cy="279720"/>
          </a:xfrm>
          <a:prstGeom prst="rect">
            <a:avLst/>
          </a:prstGeom>
          <a:noFill/>
          <a:ln w="0">
            <a:noFill/>
          </a:ln>
        </p:spPr>
        <p:style>
          <a:lnRef idx="0"/>
          <a:fillRef idx="0"/>
          <a:effectRef idx="0"/>
          <a:fontRef idx="minor"/>
        </p:style>
        <p:txBody>
          <a:bodyPr lIns="82440" rIns="82440" tIns="41040" bIns="41040" anchor="t">
            <a:spAutoFit/>
          </a:bodyPr>
          <a:p>
            <a:pPr algn="ctr">
              <a:lnSpc>
                <a:spcPct val="100000"/>
              </a:lnSpc>
              <a:buNone/>
            </a:pPr>
            <a:r>
              <a:rPr b="0" lang="en-US" sz="1300" spc="-1" strike="noStrike">
                <a:solidFill>
                  <a:srgbClr val="00274d"/>
                </a:solidFill>
                <a:latin typeface="Corbel"/>
                <a:ea typeface="Corbel"/>
              </a:rPr>
              <a:t>WWWW</a:t>
            </a:r>
            <a:endParaRPr b="0" lang="en-US" sz="1300" spc="-1" strike="noStrike">
              <a:latin typeface="Arial"/>
            </a:endParaRPr>
          </a:p>
        </p:txBody>
      </p:sp>
      <p:sp>
        <p:nvSpPr>
          <p:cNvPr id="727" name="TextBox 29"/>
          <p:cNvSpPr/>
          <p:nvPr/>
        </p:nvSpPr>
        <p:spPr>
          <a:xfrm>
            <a:off x="5123880" y="2023920"/>
            <a:ext cx="275400" cy="279720"/>
          </a:xfrm>
          <a:prstGeom prst="rect">
            <a:avLst/>
          </a:prstGeom>
          <a:noFill/>
          <a:ln w="0">
            <a:noFill/>
          </a:ln>
        </p:spPr>
        <p:style>
          <a:lnRef idx="0"/>
          <a:fillRef idx="0"/>
          <a:effectRef idx="0"/>
          <a:fontRef idx="minor"/>
        </p:style>
        <p:txBody>
          <a:bodyPr wrap="none" lIns="82440" rIns="82440" tIns="41040" bIns="41040" anchor="t">
            <a:spAutoFit/>
          </a:bodyPr>
          <a:p>
            <a:pPr>
              <a:lnSpc>
                <a:spcPct val="100000"/>
              </a:lnSpc>
              <a:buNone/>
            </a:pPr>
            <a:r>
              <a:rPr b="0" lang="en-US" sz="1300" spc="-1" strike="noStrike">
                <a:solidFill>
                  <a:srgbClr val="00274d"/>
                </a:solidFill>
                <a:latin typeface="Corbel"/>
                <a:ea typeface="Corbel"/>
              </a:rPr>
              <a:t>&amp;</a:t>
            </a:r>
            <a:endParaRPr b="0" lang="en-US" sz="1300" spc="-1" strike="noStrike">
              <a:latin typeface="Arial"/>
            </a:endParaRPr>
          </a:p>
        </p:txBody>
      </p:sp>
      <p:sp>
        <p:nvSpPr>
          <p:cNvPr id="728" name="TextBox 30"/>
          <p:cNvSpPr/>
          <p:nvPr/>
        </p:nvSpPr>
        <p:spPr>
          <a:xfrm>
            <a:off x="5394240" y="2014560"/>
            <a:ext cx="3137760" cy="279720"/>
          </a:xfrm>
          <a:prstGeom prst="rect">
            <a:avLst/>
          </a:prstGeom>
          <a:noFill/>
          <a:ln w="0">
            <a:noFill/>
          </a:ln>
        </p:spPr>
        <p:style>
          <a:lnRef idx="0"/>
          <a:fillRef idx="0"/>
          <a:effectRef idx="0"/>
          <a:fontRef idx="minor"/>
        </p:style>
        <p:txBody>
          <a:bodyPr lIns="82440" rIns="82440" tIns="41040" bIns="41040" anchor="t">
            <a:spAutoFit/>
          </a:bodyPr>
          <a:p>
            <a:pPr>
              <a:lnSpc>
                <a:spcPct val="100000"/>
              </a:lnSpc>
              <a:buNone/>
            </a:pPr>
            <a:r>
              <a:rPr b="0" lang="en-US" sz="1300" spc="-1" strike="noStrike">
                <a:solidFill>
                  <a:srgbClr val="00274d"/>
                </a:solidFill>
                <a:latin typeface="Corbel"/>
                <a:ea typeface="Corbel"/>
              </a:rPr>
              <a:t>Premium Auto Centers</a:t>
            </a:r>
            <a:endParaRPr b="0" lang="en-US"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5390</TotalTime>
  <Application>PPTXPresentationEditor/1.1.0.0$MacOSX_AARCH64 LibreOffice_project/e114eadc50a9ff8d8c8a0567d6da8f454beeb84f</Application>
  <AppVersion>15.0000</AppVersion>
  <Words>4989</Words>
  <Paragraphs>653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2017-01-08T22:14:46Z</dcterms:created>
  <dc:creator>Michael Guld</dc:creator>
  <dc:description/>
  <dc:language>en-US</dc:language>
  <cp:lastModifiedBy/>
  <dcterms:modified xsi:type="dcterms:W3CDTF">2025-12-31T16:04:00Z</dcterms:modified>
  <cp:revision>181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2017-01-08T00:00:00Z</vt:filetime>
  </property>
  <property fmtid="{D5CDD505-2E9C-101B-9397-08002B2CF9AE}" pid="3" name="Creator">
    <vt:lpwstr>Adobe InDesign CC 2017 (Macintosh)</vt:lpwstr>
  </property>
  <property fmtid="{D5CDD505-2E9C-101B-9397-08002B2CF9AE}" pid="4" name="LastSaved">
    <vt:filetime>2017-01-09T00:00:00Z</vt:filetime>
  </property>
  <property fmtid="{D5CDD505-2E9C-101B-9397-08002B2CF9AE}" pid="5" name="Notes">
    <vt:i4>5</vt:i4>
  </property>
  <property fmtid="{D5CDD505-2E9C-101B-9397-08002B2CF9AE}" pid="6" name="PresentationFormat">
    <vt:lpwstr>On-screen Show (4:3)</vt:lpwstr>
  </property>
  <property fmtid="{D5CDD505-2E9C-101B-9397-08002B2CF9AE}" pid="7" name="Slides">
    <vt:i4>31</vt:i4>
  </property>
</Properties>
</file>