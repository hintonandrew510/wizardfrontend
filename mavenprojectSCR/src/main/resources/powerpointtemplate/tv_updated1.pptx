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commentAuthors+xml" PartName="/ppt/commentAuthors.xml"/>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73152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w Hinton" initials="" lastIdx="1" clrIdx="0"/>
  <p:cmAuthor id="1" name="andrew hinton" initials="ah" lastIdx="2" clrIdx="1">
    <p:extLst>
      <p:ext uri="{19B8F6BF-5375-455C-9EA6-DF929625EA0E}">
        <p15:presenceInfo xmlns:p15="http://schemas.microsoft.com/office/powerpoint/2012/main" userId="5f6230cd58c9e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B75FC7-DD7D-40D8-B2B2-EE4B611A8D2E}">
  <a:tblStyle styleId="{CFB75FC7-DD7D-40D8-B2B2-EE4B611A8D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9AAC5F-F97D-4193-AF94-6FAFF6667CF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94479"/>
  </p:normalViewPr>
  <p:slideViewPr>
    <p:cSldViewPr snapToGrid="0">
      <p:cViewPr varScale="1">
        <p:scale>
          <a:sx n="73" d="100"/>
          <a:sy n="73" d="100"/>
        </p:scale>
        <p:origin x="368" y="184"/>
      </p:cViewPr>
      <p:guideLst>
        <p:guide orient="horz" pos="2304"/>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slides/slide19.xml" Type="http://schemas.openxmlformats.org/officeDocument/2006/relationships/slide"/><Relationship Id="rId21" Target="slides/slide20.xml" Type="http://schemas.openxmlformats.org/officeDocument/2006/relationships/slide"/><Relationship Id="rId22" Target="slides/slide21.xml" Type="http://schemas.openxmlformats.org/officeDocument/2006/relationships/slide"/><Relationship Id="rId23" Target="slides/slide22.xml" Type="http://schemas.openxmlformats.org/officeDocument/2006/relationships/slide"/><Relationship Id="rId24" Target="slides/slide23.xml" Type="http://schemas.openxmlformats.org/officeDocument/2006/relationships/slide"/><Relationship Id="rId25" Target="slides/slide24.xml" Type="http://schemas.openxmlformats.org/officeDocument/2006/relationships/slide"/><Relationship Id="rId26" Target="slides/slide25.xml" Type="http://schemas.openxmlformats.org/officeDocument/2006/relationships/slide"/><Relationship Id="rId27" Target="slides/slide26.xml" Type="http://schemas.openxmlformats.org/officeDocument/2006/relationships/slide"/><Relationship Id="rId28" Target="slides/slide27.xml" Type="http://schemas.openxmlformats.org/officeDocument/2006/relationships/slide"/><Relationship Id="rId29" Target="slides/slide28.xml" Type="http://schemas.openxmlformats.org/officeDocument/2006/relationships/slide"/><Relationship Id="rId3" Target="slides/slide2.xml" Type="http://schemas.openxmlformats.org/officeDocument/2006/relationships/slide"/><Relationship Id="rId30" Target="slides/slide29.xml" Type="http://schemas.openxmlformats.org/officeDocument/2006/relationships/slide"/><Relationship Id="rId31" Target="slides/slide30.xml" Type="http://schemas.openxmlformats.org/officeDocument/2006/relationships/slide"/><Relationship Id="rId32" Target="slides/slide31.xml" Type="http://schemas.openxmlformats.org/officeDocument/2006/relationships/slide"/><Relationship Id="rId33" Target="slides/slide32.xml" Type="http://schemas.openxmlformats.org/officeDocument/2006/relationships/slide"/><Relationship Id="rId34" Target="slides/slide33.xml" Type="http://schemas.openxmlformats.org/officeDocument/2006/relationships/slide"/><Relationship Id="rId35" Target="slides/slide34.xml" Type="http://schemas.openxmlformats.org/officeDocument/2006/relationships/slide"/><Relationship Id="rId36" Target="slides/slide35.xml" Type="http://schemas.openxmlformats.org/officeDocument/2006/relationships/slide"/><Relationship Id="rId37" Target="slides/slide36.xml" Type="http://schemas.openxmlformats.org/officeDocument/2006/relationships/slide"/><Relationship Id="rId38" Target="slides/slide37.xml" Type="http://schemas.openxmlformats.org/officeDocument/2006/relationships/slide"/><Relationship Id="rId39" Target="notesMasters/notesMaster1.xml" Type="http://schemas.openxmlformats.org/officeDocument/2006/relationships/notesMaster"/><Relationship Id="rId4" Target="slides/slide3.xml" Type="http://schemas.openxmlformats.org/officeDocument/2006/relationships/slide"/><Relationship Id="rId40" Target="commentAuthors.xml" Type="http://schemas.openxmlformats.org/officeDocument/2006/relationships/commentAuthors"/><Relationship Id="rId41" Target="presProps.xml" Type="http://schemas.openxmlformats.org/officeDocument/2006/relationships/presProps"/><Relationship Id="rId42" Target="viewProps.xml" Type="http://schemas.openxmlformats.org/officeDocument/2006/relationships/viewProps"/><Relationship Id="rId43" Target="theme/theme1.xml" Type="http://schemas.openxmlformats.org/officeDocument/2006/relationships/theme"/><Relationship Id="rId44" Target="tableStyles.xml" Type="http://schemas.openxmlformats.org/officeDocument/2006/relationships/tableStyles"/><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03T21:15:26.536" idx="1">
    <p:pos x="6000" y="0"/>
    <p:text>OnePresentedToSlide
</p:text>
  </p:cm>
  <p:cm authorId="1" dt="2026-01-03T21:58:52.260" idx="2">
    <p:pos x="10" y="10"/>
    <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1-03T14:13:19.609" idx="1">
    <p:pos x="10" y="10"/>
    <p:text/>
    <p:extLst>
      <p:ext uri="{C676402C-5697-4E1C-873F-D02D1690AC5C}">
        <p15:threadingInfo xmlns:p15="http://schemas.microsoft.com/office/powerpoint/2012/main" timeZoneBias="480"/>
      </p:ext>
    </p:extLst>
  </p:cm>
</p:cmLst>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1e46e2962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1e46e29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aa4a52d53f_0_155: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aa4a52d53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c1c0fe17c_0_8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c1c0fe17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ab9ca2f465_0_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ab9ca2f46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aa4a52d53f_0_1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aa4a52d53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aa4a52d53f_0_10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aa4a52d53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aa4a52d53f_0_13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aa4a52d53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a4a52d53f_0_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aa4a52d53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aa4a52d53f_0_8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aa4a52d53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ba229fc496_0_46: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ba229fc49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1f3d784ca_0_16:notes"/>
          <p:cNvSpPr>
            <a:spLocks noGrp="1" noRot="1" noChangeAspect="1"/>
          </p:cNvSpPr>
          <p:nvPr>
            <p:ph type="sldImg" idx="2"/>
          </p:nvPr>
        </p:nvSpPr>
        <p:spPr>
          <a:xfrm>
            <a:off x="1286175" y="685800"/>
            <a:ext cx="42861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b1f3d784ca_0_4:notes"/>
          <p:cNvSpPr>
            <a:spLocks noGrp="1" noRot="1" noChangeAspect="1"/>
          </p:cNvSpPr>
          <p:nvPr>
            <p:ph type="sldImg" idx="2"/>
          </p:nvPr>
        </p:nvSpPr>
        <p:spPr>
          <a:xfrm>
            <a:off x="1286175" y="685800"/>
            <a:ext cx="42861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b1f3d784c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d43bcde7a4_0_17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d43bcde7a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a5de39673_0_179: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ba5de396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ab9ca2f465_0_5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ab9ca2f46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43bcde7a4_0_37: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d43bcde7a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d6c288bb60_1_13: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d6c288bb6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b9ca2f465_0_67: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b9ca2f4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b9ca2f465_0_88: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b9ca2f46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aa2a19e2f1_0_0:notes"/>
          <p:cNvSpPr>
            <a:spLocks noGrp="1" noRot="1" noChangeAspect="1"/>
          </p:cNvSpPr>
          <p:nvPr>
            <p:ph type="sldImg" idx="2"/>
          </p:nvPr>
        </p:nvSpPr>
        <p:spPr>
          <a:xfrm>
            <a:off x="1286175" y="685800"/>
            <a:ext cx="42861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aa2a19e2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43bcde7a4_0_4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d43bcde7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ab9ca2f465_0_11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ab9ca2f4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b66e45c5bc_0_2: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b66e45c5b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ba229fc496_0_13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ba229fc49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bb579c7b11_0_24: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a2a19e2f1_0_9:notes"/>
          <p:cNvSpPr>
            <a:spLocks noGrp="1" noRot="1" noChangeAspect="1"/>
          </p:cNvSpPr>
          <p:nvPr>
            <p:ph type="sldImg" idx="2"/>
          </p:nvPr>
        </p:nvSpPr>
        <p:spPr>
          <a:xfrm>
            <a:off x="1286175" y="685800"/>
            <a:ext cx="42861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a2a19e2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c4c5716b7b_0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c4c5716b7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6e7dea56c1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6e7dea56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bb579c7b11_0_45: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bb579c7b1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b579c7b11_0_52: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b579c7b1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b579c7b11_0_88: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b579c7b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bb579c7b11_0_68: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bb579c7b1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a229fc496_0_14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a229fc49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d43bcde7a4_0_14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d43bcde7a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bc1c0fe17c_0_38: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bc1c0fe1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bc1c0fe17c_0_45:notes"/>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bc1c0fe1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2.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l information pag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4000"/>
              <a:buNone/>
              <a:defRPr sz="4000" b="1">
                <a:solidFill>
                  <a:srgbClr val="00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body" idx="1"/>
          </p:nvPr>
        </p:nvSpPr>
        <p:spPr>
          <a:xfrm>
            <a:off x="365750" y="1170425"/>
            <a:ext cx="8408100" cy="13521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SzPts val="1150"/>
              <a:buFont typeface="Verdana"/>
              <a:buChar char="●"/>
              <a:defRPr sz="1150">
                <a:latin typeface="Verdana"/>
                <a:ea typeface="Verdana"/>
                <a:cs typeface="Verdana"/>
                <a:sym typeface="Verdana"/>
              </a:defRPr>
            </a:lvl1pPr>
            <a:lvl2pPr marL="914400" lvl="1" indent="-301625">
              <a:spcBef>
                <a:spcPts val="1600"/>
              </a:spcBef>
              <a:spcAft>
                <a:spcPts val="0"/>
              </a:spcAft>
              <a:buSzPts val="1150"/>
              <a:buFont typeface="Verdana"/>
              <a:buChar char="○"/>
              <a:defRPr sz="1150">
                <a:latin typeface="Verdana"/>
                <a:ea typeface="Verdana"/>
                <a:cs typeface="Verdana"/>
                <a:sym typeface="Verdana"/>
              </a:defRPr>
            </a:lvl2pPr>
            <a:lvl3pPr marL="1371600" lvl="2" indent="-301625">
              <a:spcBef>
                <a:spcPts val="1600"/>
              </a:spcBef>
              <a:spcAft>
                <a:spcPts val="0"/>
              </a:spcAft>
              <a:buSzPts val="1150"/>
              <a:buFont typeface="Verdana"/>
              <a:buChar char="■"/>
              <a:defRPr sz="1150">
                <a:latin typeface="Verdana"/>
                <a:ea typeface="Verdana"/>
                <a:cs typeface="Verdana"/>
                <a:sym typeface="Verdana"/>
              </a:defRPr>
            </a:lvl3pPr>
            <a:lvl4pPr marL="1828800" lvl="3" indent="-301625">
              <a:spcBef>
                <a:spcPts val="1600"/>
              </a:spcBef>
              <a:spcAft>
                <a:spcPts val="0"/>
              </a:spcAft>
              <a:buSzPts val="1150"/>
              <a:buFont typeface="Verdana"/>
              <a:buChar char="●"/>
              <a:defRPr sz="1150">
                <a:latin typeface="Verdana"/>
                <a:ea typeface="Verdana"/>
                <a:cs typeface="Verdana"/>
                <a:sym typeface="Verdana"/>
              </a:defRPr>
            </a:lvl4pPr>
            <a:lvl5pPr marL="2286000" lvl="4" indent="-301625">
              <a:spcBef>
                <a:spcPts val="1600"/>
              </a:spcBef>
              <a:spcAft>
                <a:spcPts val="0"/>
              </a:spcAft>
              <a:buSzPts val="1150"/>
              <a:buFont typeface="Verdana"/>
              <a:buChar char="○"/>
              <a:defRPr sz="1150">
                <a:latin typeface="Verdana"/>
                <a:ea typeface="Verdana"/>
                <a:cs typeface="Verdana"/>
                <a:sym typeface="Verdana"/>
              </a:defRPr>
            </a:lvl5pPr>
            <a:lvl6pPr marL="2743200" lvl="5" indent="-301625">
              <a:spcBef>
                <a:spcPts val="1600"/>
              </a:spcBef>
              <a:spcAft>
                <a:spcPts val="0"/>
              </a:spcAft>
              <a:buSzPts val="1150"/>
              <a:buFont typeface="Verdana"/>
              <a:buChar char="■"/>
              <a:defRPr sz="1150">
                <a:latin typeface="Verdana"/>
                <a:ea typeface="Verdana"/>
                <a:cs typeface="Verdana"/>
                <a:sym typeface="Verdana"/>
              </a:defRPr>
            </a:lvl6pPr>
            <a:lvl7pPr marL="3200400" lvl="6" indent="-301625">
              <a:spcBef>
                <a:spcPts val="1600"/>
              </a:spcBef>
              <a:spcAft>
                <a:spcPts val="0"/>
              </a:spcAft>
              <a:buSzPts val="1150"/>
              <a:buFont typeface="Verdana"/>
              <a:buChar char="●"/>
              <a:defRPr sz="1150">
                <a:latin typeface="Verdana"/>
                <a:ea typeface="Verdana"/>
                <a:cs typeface="Verdana"/>
                <a:sym typeface="Verdana"/>
              </a:defRPr>
            </a:lvl7pPr>
            <a:lvl8pPr marL="3657600" lvl="7" indent="-301625">
              <a:spcBef>
                <a:spcPts val="1600"/>
              </a:spcBef>
              <a:spcAft>
                <a:spcPts val="0"/>
              </a:spcAft>
              <a:buSzPts val="1150"/>
              <a:buFont typeface="Verdana"/>
              <a:buChar char="○"/>
              <a:defRPr sz="1150">
                <a:latin typeface="Verdana"/>
                <a:ea typeface="Verdana"/>
                <a:cs typeface="Verdana"/>
                <a:sym typeface="Verdana"/>
              </a:defRPr>
            </a:lvl8pPr>
            <a:lvl9pPr marL="4114800" lvl="8" indent="-301625">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5" name="Google Shape;15;p2"/>
          <p:cNvSpPr txBox="1">
            <a:spLocks noGrp="1"/>
          </p:cNvSpPr>
          <p:nvPr>
            <p:ph type="body" idx="2"/>
          </p:nvPr>
        </p:nvSpPr>
        <p:spPr>
          <a:xfrm>
            <a:off x="365750" y="32252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6" name="Google Shape;16;p2"/>
          <p:cNvSpPr txBox="1">
            <a:spLocks noGrp="1"/>
          </p:cNvSpPr>
          <p:nvPr>
            <p:ph type="body" idx="3"/>
          </p:nvPr>
        </p:nvSpPr>
        <p:spPr>
          <a:xfrm>
            <a:off x="367950" y="52800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age"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0" y="0"/>
            <a:ext cx="9144000" cy="7315200"/>
          </a:xfrm>
          <a:prstGeom prst="rect">
            <a:avLst/>
          </a:prstGeom>
          <a:noFill/>
          <a:ln>
            <a:noFill/>
          </a:ln>
        </p:spPr>
      </p:pic>
      <p:sp>
        <p:nvSpPr>
          <p:cNvPr id="20" name="Google Shape;20;p3"/>
          <p:cNvSpPr txBox="1"/>
          <p:nvPr/>
        </p:nvSpPr>
        <p:spPr>
          <a:xfrm>
            <a:off x="1677300" y="641316"/>
            <a:ext cx="5789400" cy="119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700" b="1">
                <a:solidFill>
                  <a:srgbClr val="FFFFFF"/>
                </a:solidFill>
              </a:rPr>
              <a:t>Marketing Solutions</a:t>
            </a:r>
            <a:endParaRPr sz="3700" b="1">
              <a:solidFill>
                <a:srgbClr val="FFFFFF"/>
              </a:solidFill>
            </a:endParaRPr>
          </a:p>
        </p:txBody>
      </p:sp>
      <p:sp>
        <p:nvSpPr>
          <p:cNvPr id="21" name="Google Shape;21;p3"/>
          <p:cNvSpPr txBox="1"/>
          <p:nvPr/>
        </p:nvSpPr>
        <p:spPr>
          <a:xfrm>
            <a:off x="1677300" y="1586133"/>
            <a:ext cx="5789400" cy="70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FFFFFF"/>
                </a:solidFill>
              </a:rPr>
              <a:t>Summary, Conclusions, and Recommendations</a:t>
            </a:r>
            <a:endParaRPr b="1">
              <a:solidFill>
                <a:srgbClr val="FFFFFF"/>
              </a:solidFill>
            </a:endParaRPr>
          </a:p>
        </p:txBody>
      </p:sp>
      <p:sp>
        <p:nvSpPr>
          <p:cNvPr id="22" name="Google Shape;22;p3"/>
          <p:cNvSpPr/>
          <p:nvPr/>
        </p:nvSpPr>
        <p:spPr>
          <a:xfrm>
            <a:off x="358500" y="2461653"/>
            <a:ext cx="8427000" cy="4541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endParaRPr sz="2800">
              <a:solidFill>
                <a:srgbClr val="4E5E53"/>
              </a:solidFill>
            </a:endParaRPr>
          </a:p>
        </p:txBody>
      </p:sp>
      <p:sp>
        <p:nvSpPr>
          <p:cNvPr id="23" name="Google Shape;23;p3"/>
          <p:cNvSpPr txBox="1"/>
          <p:nvPr/>
        </p:nvSpPr>
        <p:spPr>
          <a:xfrm>
            <a:off x="598500" y="6457251"/>
            <a:ext cx="7947000" cy="435000"/>
          </a:xfrm>
          <a:prstGeom prst="rect">
            <a:avLst/>
          </a:prstGeom>
          <a:noFill/>
          <a:ln>
            <a:noFill/>
          </a:ln>
        </p:spPr>
        <p:txBody>
          <a:bodyPr spcFirstLastPara="1" wrap="square" lIns="91425" tIns="91425" rIns="91425" bIns="91425" anchor="ctr" anchorCtr="0">
            <a:noAutofit/>
          </a:bodyPr>
          <a:lstStyle/>
          <a:p>
            <a:pPr marL="0" lvl="0" indent="0" algn="l" rtl="0">
              <a:lnSpc>
                <a:spcPct val="95000"/>
              </a:lnSpc>
              <a:spcBef>
                <a:spcPts val="0"/>
              </a:spcBef>
              <a:spcAft>
                <a:spcPts val="0"/>
              </a:spcAft>
              <a:buNone/>
            </a:pPr>
            <a:r>
              <a:rPr lang="en" sz="700"/>
              <a:t>Copyright © 1984-2021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sz="700"/>
          </a:p>
        </p:txBody>
      </p:sp>
      <p:sp>
        <p:nvSpPr>
          <p:cNvPr id="24" name="Google Shape;24;p3"/>
          <p:cNvSpPr txBox="1"/>
          <p:nvPr/>
        </p:nvSpPr>
        <p:spPr>
          <a:xfrm>
            <a:off x="598500" y="2952325"/>
            <a:ext cx="3000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To:</a:t>
            </a:r>
            <a:endParaRPr sz="2800" b="1"/>
          </a:p>
        </p:txBody>
      </p:sp>
      <p:sp>
        <p:nvSpPr>
          <p:cNvPr id="25" name="Google Shape;25;p3"/>
          <p:cNvSpPr txBox="1"/>
          <p:nvPr/>
        </p:nvSpPr>
        <p:spPr>
          <a:xfrm>
            <a:off x="676500" y="4782260"/>
            <a:ext cx="2844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By:</a:t>
            </a:r>
            <a:endParaRPr sz="2800" b="1"/>
          </a:p>
        </p:txBody>
      </p:sp>
      <p:sp>
        <p:nvSpPr>
          <p:cNvPr id="26" name="Google Shape;26;p3"/>
          <p:cNvSpPr txBox="1">
            <a:spLocks noGrp="1"/>
          </p:cNvSpPr>
          <p:nvPr>
            <p:ph type="subTitle" idx="1"/>
          </p:nvPr>
        </p:nvSpPr>
        <p:spPr>
          <a:xfrm>
            <a:off x="2634000" y="3533551"/>
            <a:ext cx="3876000" cy="5598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000000"/>
              </a:buClr>
              <a:buSzPts val="1800"/>
              <a:buNone/>
              <a:defRPr b="1">
                <a:solidFill>
                  <a:srgbClr val="000000"/>
                </a:solidFill>
              </a:defRPr>
            </a:lvl1pPr>
            <a:lvl2pPr lvl="1" algn="ctr">
              <a:spcBef>
                <a:spcPts val="1600"/>
              </a:spcBef>
              <a:spcAft>
                <a:spcPts val="0"/>
              </a:spcAft>
              <a:buClr>
                <a:srgbClr val="000000"/>
              </a:buClr>
              <a:buSzPts val="1800"/>
              <a:buNone/>
              <a:defRPr sz="1800" b="1">
                <a:solidFill>
                  <a:srgbClr val="000000"/>
                </a:solidFill>
              </a:defRPr>
            </a:lvl2pPr>
            <a:lvl3pPr lvl="2" algn="ctr">
              <a:spcBef>
                <a:spcPts val="1600"/>
              </a:spcBef>
              <a:spcAft>
                <a:spcPts val="0"/>
              </a:spcAft>
              <a:buClr>
                <a:srgbClr val="000000"/>
              </a:buClr>
              <a:buSzPts val="1800"/>
              <a:buNone/>
              <a:defRPr sz="1800" b="1">
                <a:solidFill>
                  <a:srgbClr val="000000"/>
                </a:solidFill>
              </a:defRPr>
            </a:lvl3pPr>
            <a:lvl4pPr lvl="3" algn="ctr">
              <a:spcBef>
                <a:spcPts val="1600"/>
              </a:spcBef>
              <a:spcAft>
                <a:spcPts val="0"/>
              </a:spcAft>
              <a:buClr>
                <a:srgbClr val="000000"/>
              </a:buClr>
              <a:buSzPts val="1800"/>
              <a:buNone/>
              <a:defRPr sz="1800" b="1">
                <a:solidFill>
                  <a:srgbClr val="000000"/>
                </a:solidFill>
              </a:defRPr>
            </a:lvl4pPr>
            <a:lvl5pPr lvl="4" algn="ctr">
              <a:spcBef>
                <a:spcPts val="1600"/>
              </a:spcBef>
              <a:spcAft>
                <a:spcPts val="0"/>
              </a:spcAft>
              <a:buClr>
                <a:srgbClr val="000000"/>
              </a:buClr>
              <a:buSzPts val="1800"/>
              <a:buNone/>
              <a:defRPr sz="1800" b="1">
                <a:solidFill>
                  <a:srgbClr val="000000"/>
                </a:solidFill>
              </a:defRPr>
            </a:lvl5pPr>
            <a:lvl6pPr lvl="5" algn="ctr">
              <a:spcBef>
                <a:spcPts val="1600"/>
              </a:spcBef>
              <a:spcAft>
                <a:spcPts val="0"/>
              </a:spcAft>
              <a:buClr>
                <a:srgbClr val="000000"/>
              </a:buClr>
              <a:buSzPts val="1800"/>
              <a:buNone/>
              <a:defRPr sz="1800" b="1">
                <a:solidFill>
                  <a:srgbClr val="000000"/>
                </a:solidFill>
              </a:defRPr>
            </a:lvl6pPr>
            <a:lvl7pPr lvl="6" algn="ctr">
              <a:spcBef>
                <a:spcPts val="1600"/>
              </a:spcBef>
              <a:spcAft>
                <a:spcPts val="0"/>
              </a:spcAft>
              <a:buClr>
                <a:srgbClr val="000000"/>
              </a:buClr>
              <a:buSzPts val="1800"/>
              <a:buNone/>
              <a:defRPr sz="1800" b="1">
                <a:solidFill>
                  <a:srgbClr val="000000"/>
                </a:solidFill>
              </a:defRPr>
            </a:lvl7pPr>
            <a:lvl8pPr lvl="7" algn="ctr">
              <a:spcBef>
                <a:spcPts val="1600"/>
              </a:spcBef>
              <a:spcAft>
                <a:spcPts val="0"/>
              </a:spcAft>
              <a:buClr>
                <a:srgbClr val="000000"/>
              </a:buClr>
              <a:buSzPts val="1800"/>
              <a:buNone/>
              <a:defRPr sz="1800" b="1">
                <a:solidFill>
                  <a:srgbClr val="000000"/>
                </a:solidFill>
              </a:defRPr>
            </a:lvl8pPr>
            <a:lvl9pPr lvl="8" algn="ctr">
              <a:spcBef>
                <a:spcPts val="1600"/>
              </a:spcBef>
              <a:spcAft>
                <a:spcPts val="1600"/>
              </a:spcAft>
              <a:buClr>
                <a:srgbClr val="000000"/>
              </a:buClr>
              <a:buSzPts val="1800"/>
              <a:buNone/>
              <a:defRPr sz="1800" b="1">
                <a:solidFill>
                  <a:srgbClr val="000000"/>
                </a:solidFill>
              </a:defRPr>
            </a:lvl9pPr>
          </a:lstStyle>
          <a:p>
            <a:endParaRPr/>
          </a:p>
        </p:txBody>
      </p:sp>
      <p:sp>
        <p:nvSpPr>
          <p:cNvPr id="27" name="Google Shape;27;p3"/>
          <p:cNvSpPr txBox="1">
            <a:spLocks noGrp="1"/>
          </p:cNvSpPr>
          <p:nvPr>
            <p:ph type="subTitle" idx="2"/>
          </p:nvPr>
        </p:nvSpPr>
        <p:spPr>
          <a:xfrm>
            <a:off x="2634000" y="3996734"/>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8" name="Google Shape;28;p3"/>
          <p:cNvSpPr txBox="1">
            <a:spLocks noGrp="1"/>
          </p:cNvSpPr>
          <p:nvPr>
            <p:ph type="subTitle" idx="3"/>
          </p:nvPr>
        </p:nvSpPr>
        <p:spPr>
          <a:xfrm>
            <a:off x="2634000" y="5284021"/>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9" name="Google Shape;29;p3"/>
          <p:cNvSpPr txBox="1">
            <a:spLocks noGrp="1"/>
          </p:cNvSpPr>
          <p:nvPr>
            <p:ph type="subTitle" idx="4"/>
          </p:nvPr>
        </p:nvSpPr>
        <p:spPr>
          <a:xfrm>
            <a:off x="2634000" y="5696446"/>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b="1"/>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2" name="Google Shape;32;p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body" idx="1"/>
          </p:nvPr>
        </p:nvSpPr>
        <p:spPr>
          <a:xfrm>
            <a:off x="457200" y="1490773"/>
            <a:ext cx="3595500" cy="51414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SzPts val="1100"/>
              <a:buFont typeface="Verdana"/>
              <a:buChar char="●"/>
              <a:defRPr sz="1100">
                <a:latin typeface="Verdana"/>
                <a:ea typeface="Verdana"/>
                <a:cs typeface="Verdana"/>
                <a:sym typeface="Verdana"/>
              </a:defRPr>
            </a:lvl1pPr>
            <a:lvl2pPr marL="914400" lvl="1" indent="-298450">
              <a:spcBef>
                <a:spcPts val="1600"/>
              </a:spcBef>
              <a:spcAft>
                <a:spcPts val="0"/>
              </a:spcAft>
              <a:buSzPts val="1100"/>
              <a:buFont typeface="Verdana"/>
              <a:buChar char="○"/>
              <a:defRPr sz="1100">
                <a:latin typeface="Verdana"/>
                <a:ea typeface="Verdana"/>
                <a:cs typeface="Verdana"/>
                <a:sym typeface="Verdana"/>
              </a:defRPr>
            </a:lvl2pPr>
            <a:lvl3pPr marL="1371600" lvl="2" indent="-298450">
              <a:spcBef>
                <a:spcPts val="1600"/>
              </a:spcBef>
              <a:spcAft>
                <a:spcPts val="0"/>
              </a:spcAft>
              <a:buSzPts val="1100"/>
              <a:buFont typeface="Verdana"/>
              <a:buChar char="■"/>
              <a:defRPr sz="1100">
                <a:latin typeface="Verdana"/>
                <a:ea typeface="Verdana"/>
                <a:cs typeface="Verdana"/>
                <a:sym typeface="Verdana"/>
              </a:defRPr>
            </a:lvl3pPr>
            <a:lvl4pPr marL="1828800" lvl="3" indent="-298450">
              <a:spcBef>
                <a:spcPts val="1600"/>
              </a:spcBef>
              <a:spcAft>
                <a:spcPts val="0"/>
              </a:spcAft>
              <a:buSzPts val="1100"/>
              <a:buFont typeface="Verdana"/>
              <a:buChar char="●"/>
              <a:defRPr sz="1100">
                <a:latin typeface="Verdana"/>
                <a:ea typeface="Verdana"/>
                <a:cs typeface="Verdana"/>
                <a:sym typeface="Verdana"/>
              </a:defRPr>
            </a:lvl4pPr>
            <a:lvl5pPr marL="2286000" lvl="4" indent="-298450">
              <a:spcBef>
                <a:spcPts val="1600"/>
              </a:spcBef>
              <a:spcAft>
                <a:spcPts val="0"/>
              </a:spcAft>
              <a:buSzPts val="1100"/>
              <a:buFont typeface="Verdana"/>
              <a:buChar char="○"/>
              <a:defRPr sz="1100">
                <a:latin typeface="Verdana"/>
                <a:ea typeface="Verdana"/>
                <a:cs typeface="Verdana"/>
                <a:sym typeface="Verdana"/>
              </a:defRPr>
            </a:lvl5pPr>
            <a:lvl6pPr marL="2743200" lvl="5" indent="-298450">
              <a:spcBef>
                <a:spcPts val="1600"/>
              </a:spcBef>
              <a:spcAft>
                <a:spcPts val="0"/>
              </a:spcAft>
              <a:buSzPts val="1100"/>
              <a:buFont typeface="Verdana"/>
              <a:buChar char="■"/>
              <a:defRPr sz="1100">
                <a:latin typeface="Verdana"/>
                <a:ea typeface="Verdana"/>
                <a:cs typeface="Verdana"/>
                <a:sym typeface="Verdana"/>
              </a:defRPr>
            </a:lvl6pPr>
            <a:lvl7pPr marL="3200400" lvl="6" indent="-298450">
              <a:spcBef>
                <a:spcPts val="1600"/>
              </a:spcBef>
              <a:spcAft>
                <a:spcPts val="0"/>
              </a:spcAft>
              <a:buSzPts val="1100"/>
              <a:buFont typeface="Verdana"/>
              <a:buChar char="●"/>
              <a:defRPr sz="1100">
                <a:latin typeface="Verdana"/>
                <a:ea typeface="Verdana"/>
                <a:cs typeface="Verdana"/>
                <a:sym typeface="Verdana"/>
              </a:defRPr>
            </a:lvl7pPr>
            <a:lvl8pPr marL="3657600" lvl="7" indent="-298450">
              <a:spcBef>
                <a:spcPts val="1600"/>
              </a:spcBef>
              <a:spcAft>
                <a:spcPts val="0"/>
              </a:spcAft>
              <a:buSzPts val="1100"/>
              <a:buFont typeface="Verdana"/>
              <a:buChar char="○"/>
              <a:defRPr sz="1100">
                <a:latin typeface="Verdana"/>
                <a:ea typeface="Verdana"/>
                <a:cs typeface="Verdana"/>
                <a:sym typeface="Verdana"/>
              </a:defRPr>
            </a:lvl8pPr>
            <a:lvl9pPr marL="4114800" lvl="8" indent="-298450">
              <a:spcBef>
                <a:spcPts val="1600"/>
              </a:spcBef>
              <a:spcAft>
                <a:spcPts val="1600"/>
              </a:spcAft>
              <a:buSzPts val="1100"/>
              <a:buFont typeface="Verdana"/>
              <a:buChar char="■"/>
              <a:defRPr sz="1100">
                <a:latin typeface="Verdana"/>
                <a:ea typeface="Verdana"/>
                <a:cs typeface="Verdana"/>
                <a:sym typeface="Verdana"/>
              </a:defRPr>
            </a:lvl9pPr>
          </a:lstStyle>
          <a:p>
            <a:endParaRPr/>
          </a:p>
        </p:txBody>
      </p:sp>
      <p:sp>
        <p:nvSpPr>
          <p:cNvPr id="34" name="Google Shape;34;p4"/>
          <p:cNvSpPr txBox="1">
            <a:spLocks noGrp="1"/>
          </p:cNvSpPr>
          <p:nvPr>
            <p:ph type="body" idx="2"/>
          </p:nvPr>
        </p:nvSpPr>
        <p:spPr>
          <a:xfrm>
            <a:off x="5071325" y="1490773"/>
            <a:ext cx="3595500" cy="51414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SzPts val="1100"/>
              <a:buFont typeface="Verdana"/>
              <a:buChar char="●"/>
              <a:defRPr sz="1100">
                <a:latin typeface="Verdana"/>
                <a:ea typeface="Verdana"/>
                <a:cs typeface="Verdana"/>
                <a:sym typeface="Verdana"/>
              </a:defRPr>
            </a:lvl1pPr>
            <a:lvl2pPr marL="914400" lvl="1" indent="-298450" rtl="0">
              <a:spcBef>
                <a:spcPts val="1600"/>
              </a:spcBef>
              <a:spcAft>
                <a:spcPts val="0"/>
              </a:spcAft>
              <a:buSzPts val="1100"/>
              <a:buFont typeface="Verdana"/>
              <a:buChar char="○"/>
              <a:defRPr sz="1100">
                <a:latin typeface="Verdana"/>
                <a:ea typeface="Verdana"/>
                <a:cs typeface="Verdana"/>
                <a:sym typeface="Verdana"/>
              </a:defRPr>
            </a:lvl2pPr>
            <a:lvl3pPr marL="1371600" lvl="2" indent="-298450" rtl="0">
              <a:spcBef>
                <a:spcPts val="1600"/>
              </a:spcBef>
              <a:spcAft>
                <a:spcPts val="0"/>
              </a:spcAft>
              <a:buSzPts val="1100"/>
              <a:buFont typeface="Verdana"/>
              <a:buChar char="■"/>
              <a:defRPr sz="1100">
                <a:latin typeface="Verdana"/>
                <a:ea typeface="Verdana"/>
                <a:cs typeface="Verdana"/>
                <a:sym typeface="Verdana"/>
              </a:defRPr>
            </a:lvl3pPr>
            <a:lvl4pPr marL="1828800" lvl="3" indent="-298450" rtl="0">
              <a:spcBef>
                <a:spcPts val="1600"/>
              </a:spcBef>
              <a:spcAft>
                <a:spcPts val="0"/>
              </a:spcAft>
              <a:buSzPts val="1100"/>
              <a:buFont typeface="Verdana"/>
              <a:buChar char="●"/>
              <a:defRPr sz="1100">
                <a:latin typeface="Verdana"/>
                <a:ea typeface="Verdana"/>
                <a:cs typeface="Verdana"/>
                <a:sym typeface="Verdana"/>
              </a:defRPr>
            </a:lvl4pPr>
            <a:lvl5pPr marL="2286000" lvl="4" indent="-298450" rtl="0">
              <a:spcBef>
                <a:spcPts val="1600"/>
              </a:spcBef>
              <a:spcAft>
                <a:spcPts val="0"/>
              </a:spcAft>
              <a:buSzPts val="1100"/>
              <a:buFont typeface="Verdana"/>
              <a:buChar char="○"/>
              <a:defRPr sz="1100">
                <a:latin typeface="Verdana"/>
                <a:ea typeface="Verdana"/>
                <a:cs typeface="Verdana"/>
                <a:sym typeface="Verdana"/>
              </a:defRPr>
            </a:lvl5pPr>
            <a:lvl6pPr marL="2743200" lvl="5" indent="-298450" rtl="0">
              <a:spcBef>
                <a:spcPts val="1600"/>
              </a:spcBef>
              <a:spcAft>
                <a:spcPts val="0"/>
              </a:spcAft>
              <a:buSzPts val="1100"/>
              <a:buFont typeface="Verdana"/>
              <a:buChar char="■"/>
              <a:defRPr sz="1100">
                <a:latin typeface="Verdana"/>
                <a:ea typeface="Verdana"/>
                <a:cs typeface="Verdana"/>
                <a:sym typeface="Verdana"/>
              </a:defRPr>
            </a:lvl6pPr>
            <a:lvl7pPr marL="3200400" lvl="6" indent="-298450" rtl="0">
              <a:spcBef>
                <a:spcPts val="1600"/>
              </a:spcBef>
              <a:spcAft>
                <a:spcPts val="0"/>
              </a:spcAft>
              <a:buSzPts val="1100"/>
              <a:buFont typeface="Verdana"/>
              <a:buChar char="●"/>
              <a:defRPr sz="1100">
                <a:latin typeface="Verdana"/>
                <a:ea typeface="Verdana"/>
                <a:cs typeface="Verdana"/>
                <a:sym typeface="Verdana"/>
              </a:defRPr>
            </a:lvl7pPr>
            <a:lvl8pPr marL="3657600" lvl="7" indent="-298450" rtl="0">
              <a:spcBef>
                <a:spcPts val="1600"/>
              </a:spcBef>
              <a:spcAft>
                <a:spcPts val="0"/>
              </a:spcAft>
              <a:buSzPts val="1100"/>
              <a:buFont typeface="Verdana"/>
              <a:buChar char="○"/>
              <a:defRPr sz="1100">
                <a:latin typeface="Verdana"/>
                <a:ea typeface="Verdana"/>
                <a:cs typeface="Verdana"/>
                <a:sym typeface="Verdana"/>
              </a:defRPr>
            </a:lvl8pPr>
            <a:lvl9pPr marL="4114800" lvl="8" indent="-298450" rtl="0">
              <a:spcBef>
                <a:spcPts val="1600"/>
              </a:spcBef>
              <a:spcAft>
                <a:spcPts val="1600"/>
              </a:spcAft>
              <a:buSzPts val="1100"/>
              <a:buFont typeface="Verdana"/>
              <a:buChar char="■"/>
              <a:defRPr sz="1100">
                <a:latin typeface="Verdana"/>
                <a:ea typeface="Verdana"/>
                <a:cs typeface="Verdana"/>
                <a:sym typeface="Verdan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woColTx">
  <p:cSld name="TITLE_AND_TWO_COLUMNS">
    <p:spTree>
      <p:nvGrpSpPr>
        <p:cNvPr id="1" name="Shape 35"/>
        <p:cNvGrpSpPr/>
        <p:nvPr/>
      </p:nvGrpSpPr>
      <p:grpSpPr>
        <a:xfrm>
          <a:off x="0" y="0"/>
          <a:ext cx="0" cy="0"/>
          <a:chOff x="0" y="0"/>
          <a:chExt cx="0" cy="0"/>
        </a:xfrm>
      </p:grpSpPr>
      <p:sp>
        <p:nvSpPr>
          <p:cNvPr id="36" name="Google Shape;36;p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5"/>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5"/>
          <p:cNvSpPr txBox="1">
            <a:spLocks noGrp="1"/>
          </p:cNvSpPr>
          <p:nvPr>
            <p:ph type="body" idx="1"/>
          </p:nvPr>
        </p:nvSpPr>
        <p:spPr>
          <a:xfrm>
            <a:off x="457200" y="1170425"/>
            <a:ext cx="8229600" cy="5461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311700" y="790187"/>
            <a:ext cx="2808000" cy="10749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3" name="Google Shape;43;p7"/>
          <p:cNvSpPr txBox="1">
            <a:spLocks noGrp="1"/>
          </p:cNvSpPr>
          <p:nvPr>
            <p:ph type="body" idx="1"/>
          </p:nvPr>
        </p:nvSpPr>
        <p:spPr>
          <a:xfrm>
            <a:off x="311700" y="1976320"/>
            <a:ext cx="2808000" cy="4521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4" name="Google Shape;44;p7"/>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490250" y="640213"/>
            <a:ext cx="6367800" cy="5817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7" name="Google Shape;47;p8"/>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78"/>
            <a:ext cx="4572000" cy="731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265500" y="1753849"/>
            <a:ext cx="4045200" cy="21081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 name="Google Shape;51;p9"/>
          <p:cNvSpPr txBox="1">
            <a:spLocks noGrp="1"/>
          </p:cNvSpPr>
          <p:nvPr>
            <p:ph type="subTitle" idx="1"/>
          </p:nvPr>
        </p:nvSpPr>
        <p:spPr>
          <a:xfrm>
            <a:off x="265500" y="3986596"/>
            <a:ext cx="4045200" cy="175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939500" y="1029796"/>
            <a:ext cx="3837000" cy="52554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6016818"/>
            <a:ext cx="5998800" cy="860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6" name="Google Shape;56;p10"/>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573156"/>
            <a:ext cx="8520600" cy="2792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4483164"/>
            <a:ext cx="8520600" cy="1850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00" y="690382"/>
            <a:ext cx="8520600" cy="814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639076"/>
            <a:ext cx="8520600" cy="48588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632131"/>
            <a:ext cx="548700" cy="55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3">
            <a:alphaModFix/>
          </a:blip>
          <a:srcRect/>
          <a:stretch/>
        </p:blipFill>
        <p:spPr>
          <a:xfrm>
            <a:off x="0" y="0"/>
            <a:ext cx="9144000" cy="7315200"/>
          </a:xfrm>
          <a:prstGeom prst="rect">
            <a:avLst/>
          </a:prstGeom>
          <a:noFill/>
          <a:ln>
            <a:noFill/>
          </a:ln>
        </p:spPr>
      </p:pic>
      <p:sp>
        <p:nvSpPr>
          <p:cNvPr id="10" name="Google Shape;10;p1"/>
          <p:cNvSpPr txBox="1"/>
          <p:nvPr/>
        </p:nvSpPr>
        <p:spPr>
          <a:xfrm>
            <a:off x="311700" y="6987000"/>
            <a:ext cx="6362100" cy="32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a:solidFill>
                  <a:schemeClr val="dk1"/>
                </a:solidFill>
                <a:latin typeface="Verdana"/>
                <a:ea typeface="Verdana"/>
                <a:cs typeface="Verdana"/>
                <a:sym typeface="Verdana"/>
              </a:rPr>
              <a:t>Copyright © 1984-2023  Executive Decision Systems, Inc. and The Guld Resource Group, LLC.</a:t>
            </a:r>
            <a:endParaRPr sz="700" b="1">
              <a:solidFill>
                <a:srgbClr val="FFFFFF"/>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xml" Type="http://schemas.openxmlformats.org/officeDocument/2006/relationships/notesSlide"/><Relationship Id="rId3" Target="../comments/comment1.xml" Type="http://schemas.openxmlformats.org/officeDocument/2006/relationships/comments"/></Relationships>
</file>

<file path=ppt/slides/_rels/slide2.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xml" Type="http://schemas.openxmlformats.org/officeDocument/2006/relationships/notesSlide"/><Relationship Id="rId3" Target="../comments/comment2.xml" Type="http://schemas.openxmlformats.org/officeDocument/2006/relationships/comments"/></Relationships>
</file>

<file path=ppt/slides/_rels/slide3.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3.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1.xml" Type="http://schemas.openxmlformats.org/officeDocument/2006/relationships/notesSlide"/><Relationship Id="rId3" Target="../media/image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7.xml" Type="http://schemas.openxmlformats.org/officeDocument/2006/relationships/notesSlide"/><Relationship Id="rId3" Target="../media/image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34.xml" Type="http://schemas.openxmlformats.org/officeDocument/2006/relationships/notesSlide"/><Relationship Id="rId3" Target="http://wwww.com" TargetMode="External" Type="http://schemas.openxmlformats.org/officeDocument/2006/relationships/hyperlink"/></Relationships>
</file>

<file path=ppt/slides/_rels/slide35.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35.xml" Type="http://schemas.openxmlformats.org/officeDocument/2006/relationships/notesSlide"/><Relationship Id="rId3" Target="http://wwww.com" TargetMode="External" Type="http://schemas.openxmlformats.org/officeDocument/2006/relationships/hyperlink"/></Relationships>
</file>

<file path=ppt/slides/_rels/slide36.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1.xml" Type="http://schemas.openxmlformats.org/officeDocument/2006/relationships/slideLayout"/><Relationship Id="rId2" Target="../notesSlides/notesSlide37.xml" Type="http://schemas.openxmlformats.org/officeDocument/2006/relationships/notesSlid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Shape 66"/>
        <p:cNvGrpSpPr/>
        <p:nvPr/>
      </p:nvGrpSpPr>
      <p:grpSpPr>
        <a:xfrm>
          <a:off x="0" y="0"/>
          <a:ext cx="0" cy="0"/>
          <a:chOff x="0" y="0"/>
          <a:chExt cx="0" cy="0"/>
        </a:xfrm>
      </p:grpSpPr>
      <p:sp>
        <p:nvSpPr>
          <p:cNvPr id="67" name="Google Shape;67;p13"/>
          <p:cNvSpPr txBox="1">
            <a:spLocks noGrp="1"/>
          </p:cNvSpPr>
          <p:nvPr>
            <p:ph idx="1" type="subTitle"/>
          </p:nvPr>
        </p:nvSpPr>
        <p:spPr>
          <a:xfrm>
            <a:off x="1131085" y="3533551"/>
            <a:ext cx="3876000" cy="559800"/>
          </a:xfrm>
          <a:prstGeom prst="rect">
            <a:avLst/>
          </a:prstGeom>
        </p:spPr>
        <p:txBody>
          <a:bodyPr anchor="t" anchorCtr="0" bIns="91425" lIns="91425" rIns="91425" spcFirstLastPara="1" tIns="91425" wrap="square">
            <a:noAutofit/>
          </a:bodyPr>
          <a:lstStyle/>
          <a:p>
            <a:pPr algn="l" indent="0" lvl="0" marL="0" rtl="0">
              <a:spcBef>
                <a:spcPts val="0"/>
              </a:spcBef>
              <a:spcAft>
                <a:spcPts val="0"/>
              </a:spcAft>
              <a:buClr>
                <a:schemeClr val="dk1"/>
              </a:buClr>
              <a:buSzPts val="1100"/>
              <a:buFont typeface="Arial"/>
              <a:buNone/>
            </a:pPr>
            <a:r>
              <a:rPr b="0" lang="en">
                <a:latin typeface="Verdana"/>
                <a:ea typeface="Verdana"/>
                <a:cs typeface="Verdana"/>
                <a:sym typeface="Verdana"/>
              </a:rPr>
              <a:t>clientContactName</a:t>
            </a:r>
            <a:endParaRPr dirty="0">
              <a:solidFill>
                <a:schemeClr val="accent2"/>
              </a:solidFill>
              <a:latin typeface="Verdana"/>
              <a:ea typeface="Verdana"/>
              <a:cs typeface="Verdana"/>
              <a:sym typeface="Verdana"/>
            </a:endParaRPr>
          </a:p>
          <a:p>
            <a:pPr algn="l" indent="0" lvl="0" marL="0" rtl="0">
              <a:spcBef>
                <a:spcPts val="0"/>
              </a:spcBef>
              <a:spcAft>
                <a:spcPts val="1600"/>
              </a:spcAft>
              <a:buNone/>
            </a:pPr>
            <a:endParaRPr dirty="0">
              <a:latin typeface="Verdana"/>
              <a:ea typeface="Verdana"/>
              <a:cs typeface="Verdana"/>
              <a:sym typeface="Verdana"/>
            </a:endParaRPr>
          </a:p>
        </p:txBody>
      </p:sp>
      <p:sp>
        <p:nvSpPr>
          <p:cNvPr id="68" name="Google Shape;68;p13"/>
          <p:cNvSpPr txBox="1">
            <a:spLocks noGrp="1"/>
          </p:cNvSpPr>
          <p:nvPr>
            <p:ph idx="2" type="subTitle"/>
          </p:nvPr>
        </p:nvSpPr>
        <p:spPr>
          <a:xfrm>
            <a:off x="1131085" y="3996734"/>
            <a:ext cx="3876000" cy="5598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dirty="0" lang="en">
                <a:latin typeface="Verdana"/>
                <a:ea typeface="Verdana"/>
                <a:cs typeface="Verdana"/>
                <a:sym typeface="Verdana"/>
              </a:rPr>
              <a:t/>
            </a:r>
            <a:r>
              <a:rPr b="0" dirty="0" err="1" lang="en">
                <a:latin typeface="Verdana"/>
                <a:ea typeface="Verdana"/>
                <a:cs typeface="Verdana"/>
                <a:sym typeface="Verdana"/>
              </a:rPr>
              <a:t>clientBusinessName</a:t>
            </a:r>
            <a:r>
              <a:rPr dirty="0" lang="en">
                <a:latin typeface="Verdana"/>
                <a:ea typeface="Verdana"/>
                <a:cs typeface="Verdana"/>
                <a:sym typeface="Verdana"/>
              </a:rPr>
              <a:t>}}</a:t>
            </a:r>
            <a:endParaRPr dirty="0">
              <a:latin typeface="Verdana"/>
              <a:ea typeface="Verdana"/>
              <a:cs typeface="Verdana"/>
              <a:sym typeface="Verdana"/>
            </a:endParaRPr>
          </a:p>
        </p:txBody>
      </p:sp>
      <p:sp>
        <p:nvSpPr>
          <p:cNvPr id="69" name="Google Shape;69;p13"/>
          <p:cNvSpPr txBox="1">
            <a:spLocks noGrp="1"/>
          </p:cNvSpPr>
          <p:nvPr>
            <p:ph idx="3" type="subTitle"/>
          </p:nvPr>
        </p:nvSpPr>
        <p:spPr>
          <a:xfrm>
            <a:off x="1131075" y="5284026"/>
            <a:ext cx="3876000" cy="559800"/>
          </a:xfrm>
          <a:prstGeom prst="rect">
            <a:avLst/>
          </a:prstGeom>
        </p:spPr>
        <p:txBody>
          <a:bodyPr anchor="t" anchorCtr="0" bIns="91425" lIns="91425" rIns="91425" spcFirstLastPara="1" tIns="91425" wrap="square">
            <a:noAutofit/>
          </a:bodyPr>
          <a:lstStyle/>
          <a:p>
            <a:pPr algn="l" indent="0" lvl="0" marL="0" rtl="0">
              <a:spcBef>
                <a:spcPts val="0"/>
              </a:spcBef>
              <a:spcAft>
                <a:spcPts val="0"/>
              </a:spcAft>
              <a:buNone/>
            </a:pPr>
            <a:r>
              <a:rPr dirty="0" lang="en">
                <a:latin typeface="Verdana"/>
                <a:ea typeface="Verdana"/>
                <a:cs typeface="Verdana"/>
                <a:sym typeface="Verdana"/>
              </a:rPr>
              <a:t/>
            </a:r>
            <a:r>
              <a:rPr b="0" dirty="0" err="1" lang="en">
                <a:latin typeface="Verdana"/>
                <a:ea typeface="Verdana"/>
                <a:cs typeface="Verdana"/>
                <a:sym typeface="Verdana"/>
              </a:rPr>
              <a:t>portfolioManagerName</a:t>
            </a:r>
            <a:r>
              <a:rPr dirty="0" lang="en">
                <a:latin typeface="Verdana"/>
                <a:ea typeface="Verdana"/>
                <a:cs typeface="Verdana"/>
                <a:sym typeface="Verdana"/>
              </a:rPr>
              <a:t>}}</a:t>
            </a:r>
            <a:endParaRPr dirty="0">
              <a:latin typeface="Verdana"/>
              <a:ea typeface="Verdana"/>
              <a:cs typeface="Verdana"/>
              <a:sym typeface="Verdana"/>
            </a:endParaRPr>
          </a:p>
          <a:p>
            <a:pPr algn="l" indent="0" lvl="0" marL="0" rtl="0">
              <a:spcBef>
                <a:spcPts val="1600"/>
              </a:spcBef>
              <a:spcAft>
                <a:spcPts val="1600"/>
              </a:spcAft>
              <a:buNone/>
            </a:pPr>
            <a:endParaRPr dirty="0">
              <a:latin typeface="Verdana"/>
              <a:ea typeface="Verdana"/>
              <a:cs typeface="Verdana"/>
              <a:sym typeface="Verdana"/>
            </a:endParaRPr>
          </a:p>
        </p:txBody>
      </p:sp>
      <p:sp>
        <p:nvSpPr>
          <p:cNvPr id="70" name="Google Shape;70;p13"/>
          <p:cNvSpPr txBox="1">
            <a:spLocks noGrp="1"/>
          </p:cNvSpPr>
          <p:nvPr>
            <p:ph idx="12" type="sldNum"/>
          </p:nvPr>
        </p:nvSpPr>
        <p:spPr>
          <a:xfrm>
            <a:off x="8472458" y="6632131"/>
            <a:ext cx="548700" cy="559800"/>
          </a:xfrm>
          <a:prstGeom prst="rect">
            <a:avLst/>
          </a:prstGeom>
        </p:spPr>
        <p:txBody>
          <a:bodyPr anchor="ctr" anchorCtr="0" bIns="91425" lIns="91425" rIns="91425" spcFirstLastPara="1" tIns="91425" wrap="square">
            <a:noAutofit/>
          </a:bodyPr>
          <a:lstStyle/>
          <a:p>
            <a:pPr algn="r" indent="0" lvl="0" marL="0" rtl="0">
              <a:spcBef>
                <a:spcPts val="0"/>
              </a:spcBef>
              <a:spcAft>
                <a:spcPts val="0"/>
              </a:spcAft>
              <a:buNone/>
            </a:pPr>
            <a:fld id="{00000000-1234-1234-1234-123412341234}" type="slidenum">
              <a:rPr lang="en"/>
              <a:t>1</a:t>
            </a:fld>
            <a:endParaRPr/>
          </a:p>
        </p:txBody>
      </p:sp>
      <p:sp>
        <p:nvSpPr>
          <p:cNvPr id="71" name="Google Shape;71;p13"/>
          <p:cNvSpPr txBox="1">
            <a:spLocks noGrp="1"/>
          </p:cNvSpPr>
          <p:nvPr>
            <p:ph idx="3" type="subTitle"/>
          </p:nvPr>
        </p:nvSpPr>
        <p:spPr>
          <a:xfrm>
            <a:off x="1131075" y="5724550"/>
            <a:ext cx="1890300" cy="559800"/>
          </a:xfrm>
          <a:prstGeom prst="rect">
            <a:avLst/>
          </a:prstGeom>
        </p:spPr>
        <p:txBody>
          <a:bodyPr anchor="t" anchorCtr="0" bIns="91425" lIns="91425" rIns="91425" spcFirstLastPara="1" tIns="91425" wrap="square">
            <a:noAutofit/>
          </a:bodyPr>
          <a:lstStyle/>
          <a:p>
            <a:pPr algn="l" indent="0" lvl="0" marL="0" rtl="0">
              <a:spcBef>
                <a:spcPts val="0"/>
              </a:spcBef>
              <a:spcAft>
                <a:spcPts val="0"/>
              </a:spcAft>
              <a:buNone/>
            </a:pPr>
            <a:r>
              <a:rPr dirty="0" lang="en">
                <a:latin typeface="Verdana"/>
                <a:ea typeface="Verdana"/>
                <a:cs typeface="Verdana"/>
                <a:sym typeface="Verdana"/>
              </a:rPr>
              <a:t/>
            </a:r>
            <a:r>
              <a:rPr b="0" dirty="0" lang="en">
                <a:latin typeface="Verdana"/>
                <a:ea typeface="Verdana"/>
                <a:cs typeface="Verdana"/>
                <a:sym typeface="Verdana"/>
              </a:rPr>
              <a:t>station</a:t>
            </a:r>
            <a:r>
              <a:rPr dirty="0" lang="en">
                <a:latin typeface="Verdana"/>
                <a:ea typeface="Verdana"/>
                <a:cs typeface="Verdana"/>
                <a:sym typeface="Verdana"/>
              </a:rPr>
              <a:t>}}</a:t>
            </a:r>
            <a:endParaRPr dirty="0">
              <a:latin typeface="Verdana"/>
              <a:ea typeface="Verdana"/>
              <a:cs typeface="Verdana"/>
              <a:sym typeface="Verdana"/>
            </a:endParaRPr>
          </a:p>
          <a:p>
            <a:pPr algn="l" indent="0" lvl="0" marL="0" rtl="0">
              <a:spcBef>
                <a:spcPts val="1600"/>
              </a:spcBef>
              <a:spcAft>
                <a:spcPts val="1600"/>
              </a:spcAft>
              <a:buNone/>
            </a:pPr>
            <a:endParaRPr dirty="0">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Shape 75"/>
        <p:cNvGrpSpPr/>
        <p:nvPr/>
      </p:nvGrpSpPr>
      <p:grpSpPr>
        <a:xfrm>
          <a:off x="0" y="0"/>
          <a:ext cx="0" cy="0"/>
          <a:chOff x="0" y="0"/>
          <a:chExt cx="0" cy="0"/>
        </a:xfrm>
      </p:grpSpPr>
      <p:sp>
        <p:nvSpPr>
          <p:cNvPr id="76" name="Google Shape;76;p14"/>
          <p:cNvSpPr txBox="1">
            <a:spLocks noGrp="1"/>
          </p:cNvSpPr>
          <p:nvPr>
            <p:ph type="ctrTitle"/>
          </p:nvPr>
        </p:nvSpPr>
        <p:spPr>
          <a:xfrm>
            <a:off x="693450" y="471127"/>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dirty="0" lang="en"/>
              <a:t>Team Commitment</a:t>
            </a:r>
            <a:endParaRPr dirty="0"/>
          </a:p>
        </p:txBody>
      </p:sp>
      <p:sp>
        <p:nvSpPr>
          <p:cNvPr id="77" name="Google Shape;77;p14"/>
          <p:cNvSpPr txBox="1">
            <a:spLocks noGrp="1"/>
          </p:cNvSpPr>
          <p:nvPr>
            <p:ph idx="1" type="body"/>
          </p:nvPr>
        </p:nvSpPr>
        <p:spPr>
          <a:xfrm>
            <a:off x="458400" y="2172253"/>
            <a:ext cx="8227200" cy="917400"/>
          </a:xfrm>
          <a:prstGeom prst="rect">
            <a:avLst/>
          </a:prstGeom>
        </p:spPr>
        <p:txBody>
          <a:bodyPr anchor="t" anchorCtr="0" bIns="91425" lIns="91425" rIns="91425" spcFirstLastPara="1" tIns="91425" wrap="square">
            <a:noAutofit/>
          </a:bodyPr>
          <a:lstStyle/>
          <a:p>
            <a:pPr algn="l" indent="0" lvl="0" marL="0" rtl="0">
              <a:lnSpc>
                <a:spcPct val="95000"/>
              </a:lnSpc>
              <a:spcBef>
                <a:spcPts val="0"/>
              </a:spcBef>
              <a:spcAft>
                <a:spcPts val="0"/>
              </a:spcAft>
              <a:buClr>
                <a:schemeClr val="dk1"/>
              </a:buClr>
              <a:buSzPts val="1100"/>
              <a:buFont typeface="Arial"/>
              <a:buNone/>
            </a:pPr>
            <a:r>
              <a:rPr lang="en" sz="1150">
                <a:solidFill>
                  <a:srgbClr val="000000"/>
                </a:solidFill>
                <a:latin typeface="Verdana"/>
                <a:ea typeface="Verdana"/>
                <a:cs typeface="Verdana"/>
                <a:sym typeface="Verdana"/>
              </a:rPr>
              <a:t>The creation of this Summary of Conclusions and Recommendations is a team collaboration of media professionals with the goal of exceeding your expectations. Each of the below is committed to the highest standards of professionalism and are personally available should you have any questions or concerns throughout this campaign.</a:t>
            </a:r>
            <a:endParaRPr sz="1150">
              <a:solidFill>
                <a:srgbClr val="000000"/>
              </a:solidFill>
              <a:latin typeface="Verdana"/>
              <a:ea typeface="Verdana"/>
              <a:cs typeface="Verdana"/>
              <a:sym typeface="Verdana"/>
            </a:endParaRPr>
          </a:p>
          <a:p>
            <a:pPr algn="l" indent="0" lvl="0" marL="0" rtl="0">
              <a:spcBef>
                <a:spcPts val="0"/>
              </a:spcBef>
              <a:spcAft>
                <a:spcPts val="1600"/>
              </a:spcAft>
              <a:buNone/>
            </a:pPr>
            <a:endParaRPr sz="1150">
              <a:solidFill>
                <a:srgbClr val="000000"/>
              </a:solidFill>
              <a:latin typeface="Verdana"/>
              <a:ea typeface="Verdana"/>
              <a:cs typeface="Verdana"/>
              <a:sym typeface="Verdana"/>
            </a:endParaRPr>
          </a:p>
        </p:txBody>
      </p:sp>
      <p:sp>
        <p:nvSpPr>
          <p:cNvPr id="78" name="Google Shape;78;p14"/>
          <p:cNvSpPr txBox="1"/>
          <p:nvPr/>
        </p:nvSpPr>
        <p:spPr>
          <a:xfrm>
            <a:off x="954300" y="1321687"/>
            <a:ext cx="7235400" cy="699300"/>
          </a:xfrm>
          <a:prstGeom prst="rect">
            <a:avLst/>
          </a:prstGeom>
          <a:noFill/>
          <a:ln>
            <a:noFill/>
          </a:ln>
        </p:spPr>
        <p:txBody>
          <a:bodyPr anchor="t" anchorCtr="0" bIns="91425" lIns="91425" rIns="91425" spcFirstLastPara="1" tIns="91425" wrap="square">
            <a:noAutofit/>
          </a:bodyPr>
          <a:lstStyle/>
          <a:p>
            <a:pPr algn="ctr" indent="0" lvl="0" marL="0" rtl="0">
              <a:spcBef>
                <a:spcPts val="0"/>
              </a:spcBef>
              <a:spcAft>
                <a:spcPts val="0"/>
              </a:spcAft>
              <a:buNone/>
            </a:pPr>
            <a:r>
              <a:rPr b="1" lang="en" sz="1550">
                <a:latin typeface="Verdana"/>
                <a:ea typeface="Verdana"/>
                <a:cs typeface="Verdana"/>
                <a:sym typeface="Verdana"/>
              </a:rPr>
              <a:t>The following proposal will be submitted to</a:t>
            </a:r>
            <a:endParaRPr b="1" sz="1550">
              <a:latin typeface="Verdana"/>
              <a:ea typeface="Verdana"/>
              <a:cs typeface="Verdana"/>
              <a:sym typeface="Verdana"/>
            </a:endParaRPr>
          </a:p>
          <a:p>
            <a:pPr algn="ctr" indent="0" lvl="0" marL="0" rtl="0">
              <a:spcBef>
                <a:spcPts val="0"/>
              </a:spcBef>
              <a:spcAft>
                <a:spcPts val="0"/>
              </a:spcAft>
              <a:buNone/>
            </a:pPr>
            <a:r>
              <a:rPr b="1" lang="en" sz="1550">
                <a:latin typeface="Verdana"/>
                <a:ea typeface="Verdana"/>
                <a:cs typeface="Verdana"/>
                <a:sym typeface="Verdana"/>
              </a:rPr>
              <a:t>clientBusinessName}}</a:t>
            </a:r>
            <a:endParaRPr b="1" sz="1550">
              <a:latin typeface="Verdana"/>
              <a:ea typeface="Verdana"/>
              <a:cs typeface="Verdana"/>
              <a:sym typeface="Verdana"/>
            </a:endParaRPr>
          </a:p>
        </p:txBody>
      </p:sp>
      <p:sp>
        <p:nvSpPr>
          <p:cNvPr id="79" name="Google Shape;79;p14"/>
          <p:cNvSpPr txBox="1">
            <a:spLocks noGrp="1"/>
          </p:cNvSpPr>
          <p:nvPr>
            <p:ph idx="2" type="body"/>
          </p:nvPr>
        </p:nvSpPr>
        <p:spPr>
          <a:xfrm>
            <a:off x="4517626" y="3739896"/>
            <a:ext cx="4078200" cy="2354100"/>
          </a:xfrm>
          <a:prstGeom prst="rect">
            <a:avLst/>
          </a:prstGeom>
        </p:spPr>
        <p:txBody>
          <a:bodyPr anchor="t" anchorCtr="0" bIns="91425" lIns="91425" rIns="91425" spcFirstLastPara="1" tIns="91425" wrap="square">
            <a:noAutofit/>
          </a:bodyPr>
          <a:lstStyle/>
          <a:p>
            <a:pPr algn="ctr" indent="0" lvl="0" marL="0" rtl="0">
              <a:lnSpc>
                <a:spcPct val="200000"/>
              </a:lnSpc>
              <a:spcBef>
                <a:spcPts val="0"/>
              </a:spcBef>
              <a:spcAft>
                <a:spcPts val="0"/>
              </a:spcAft>
              <a:buNone/>
            </a:pPr>
            <a:r>
              <a:rPr lang="en" sz="1250">
                <a:solidFill>
                  <a:srgbClr val="000000"/>
                </a:solidFill>
                <a:latin typeface="Verdana"/>
                <a:ea typeface="Verdana"/>
                <a:cs typeface="Verdana"/>
                <a:sym typeface="Verdana"/>
              </a:rPr>
              <a:t>topLevelTitle}}</a:t>
            </a:r>
            <a:endParaRPr sz="1250">
              <a:solidFill>
                <a:srgbClr val="000000"/>
              </a:solidFill>
              <a:latin typeface="Verdana"/>
              <a:ea typeface="Verdana"/>
              <a:cs typeface="Verdana"/>
              <a:sym typeface="Verdana"/>
            </a:endParaRPr>
          </a:p>
          <a:p>
            <a:pPr algn="ctr" indent="0" lvl="0" marL="0" rtl="0">
              <a:lnSpc>
                <a:spcPct val="200000"/>
              </a:lnSpc>
              <a:spcBef>
                <a:spcPts val="1600"/>
              </a:spcBef>
              <a:spcAft>
                <a:spcPts val="0"/>
              </a:spcAft>
              <a:buNone/>
            </a:pPr>
            <a:r>
              <a:rPr lang="en" sz="1250">
                <a:solidFill>
                  <a:srgbClr val="000000"/>
                </a:solidFill>
                <a:latin typeface="Verdana"/>
                <a:ea typeface="Verdana"/>
                <a:cs typeface="Verdana"/>
                <a:sym typeface="Verdana"/>
              </a:rPr>
              <a:t>secondLevelTitle}}</a:t>
            </a:r>
            <a:endParaRPr sz="1250">
              <a:solidFill>
                <a:srgbClr val="000000"/>
              </a:solidFill>
              <a:latin typeface="Verdana"/>
              <a:ea typeface="Verdana"/>
              <a:cs typeface="Verdana"/>
              <a:sym typeface="Verdana"/>
            </a:endParaRPr>
          </a:p>
          <a:p>
            <a:pPr algn="ctr" indent="0" lvl="0" marL="0" rtl="0">
              <a:lnSpc>
                <a:spcPct val="200000"/>
              </a:lnSpc>
              <a:spcBef>
                <a:spcPts val="1600"/>
              </a:spcBef>
              <a:spcAft>
                <a:spcPts val="0"/>
              </a:spcAft>
              <a:buNone/>
            </a:pPr>
            <a:r>
              <a:rPr lang="en" sz="1250">
                <a:solidFill>
                  <a:srgbClr val="000000"/>
                </a:solidFill>
                <a:latin typeface="Verdana"/>
                <a:ea typeface="Verdana"/>
                <a:cs typeface="Verdana"/>
                <a:sym typeface="Verdana"/>
              </a:rPr>
              <a:t>thirdLevelTitle}}</a:t>
            </a:r>
            <a:endParaRPr sz="1250">
              <a:solidFill>
                <a:srgbClr val="000000"/>
              </a:solidFill>
              <a:latin typeface="Verdana"/>
              <a:ea typeface="Verdana"/>
              <a:cs typeface="Verdana"/>
              <a:sym typeface="Verdana"/>
            </a:endParaRPr>
          </a:p>
          <a:p>
            <a:pPr algn="ctr" indent="0" lvl="0" marL="0" rtl="0">
              <a:lnSpc>
                <a:spcPct val="200000"/>
              </a:lnSpc>
              <a:spcBef>
                <a:spcPts val="1600"/>
              </a:spcBef>
              <a:spcAft>
                <a:spcPts val="0"/>
              </a:spcAft>
              <a:buClr>
                <a:schemeClr val="dk1"/>
              </a:buClr>
              <a:buSzPts val="1100"/>
              <a:buFont typeface="Arial"/>
              <a:buNone/>
            </a:pPr>
            <a:r>
              <a:rPr lang="en" sz="1250">
                <a:solidFill>
                  <a:srgbClr val="000000"/>
                </a:solidFill>
                <a:latin typeface="Verdana"/>
                <a:ea typeface="Verdana"/>
                <a:cs typeface="Verdana"/>
                <a:sym typeface="Verdana"/>
              </a:rPr>
              <a:t>fourthLevelTitle}}</a:t>
            </a:r>
            <a:endParaRPr sz="1250">
              <a:solidFill>
                <a:srgbClr val="000000"/>
              </a:solidFill>
              <a:latin typeface="Verdana"/>
              <a:ea typeface="Verdana"/>
              <a:cs typeface="Verdana"/>
              <a:sym typeface="Verdana"/>
            </a:endParaRPr>
          </a:p>
          <a:p>
            <a:pPr algn="ctr" indent="0" lvl="0" marL="0" rtl="0">
              <a:lnSpc>
                <a:spcPct val="200000"/>
              </a:lnSpc>
              <a:spcBef>
                <a:spcPts val="1600"/>
              </a:spcBef>
              <a:spcAft>
                <a:spcPts val="1600"/>
              </a:spcAft>
              <a:buNone/>
            </a:pPr>
            <a:endParaRPr sz="1250">
              <a:solidFill>
                <a:srgbClr val="000000"/>
              </a:solidFill>
              <a:latin typeface="Verdana"/>
              <a:ea typeface="Verdana"/>
              <a:cs typeface="Verdana"/>
              <a:sym typeface="Verdana"/>
            </a:endParaRPr>
          </a:p>
        </p:txBody>
      </p:sp>
      <p:sp>
        <p:nvSpPr>
          <p:cNvPr id="80" name="Google Shape;80;p14"/>
          <p:cNvSpPr txBox="1">
            <a:spLocks noGrp="1"/>
          </p:cNvSpPr>
          <p:nvPr>
            <p:ph idx="2" type="body"/>
          </p:nvPr>
        </p:nvSpPr>
        <p:spPr>
          <a:xfrm>
            <a:off x="493776" y="3739896"/>
            <a:ext cx="4078200" cy="2354100"/>
          </a:xfrm>
          <a:prstGeom prst="rect">
            <a:avLst/>
          </a:prstGeom>
        </p:spPr>
        <p:txBody>
          <a:bodyPr anchor="t" anchorCtr="0" bIns="91425" lIns="91425" rIns="91425" spcFirstLastPara="1" tIns="91425" wrap="square">
            <a:noAutofit/>
          </a:bodyPr>
          <a:lstStyle/>
          <a:p>
            <a:pPr algn="ctr" indent="0" lvl="0" marL="0" rtl="0">
              <a:lnSpc>
                <a:spcPct val="200000"/>
              </a:lnSpc>
              <a:spcBef>
                <a:spcPts val="0"/>
              </a:spcBef>
              <a:spcAft>
                <a:spcPts val="0"/>
              </a:spcAft>
              <a:buClr>
                <a:schemeClr val="dk1"/>
              </a:buClr>
              <a:buSzPts val="1100"/>
              <a:buFont typeface="Arial"/>
              <a:buNone/>
            </a:pPr>
            <a:r>
              <a:rPr lang="en" sz="1250">
                <a:solidFill>
                  <a:schemeClr val="dk1"/>
                </a:solidFill>
              </a:rPr>
              <a:t>topLevelName}} </a:t>
            </a:r>
            <a:endParaRPr sz="1250">
              <a:solidFill>
                <a:schemeClr val="dk1"/>
              </a:solidFill>
            </a:endParaRPr>
          </a:p>
          <a:p>
            <a:pPr algn="ctr" indent="0" lvl="0" marL="0" rtl="0">
              <a:lnSpc>
                <a:spcPct val="200000"/>
              </a:lnSpc>
              <a:spcBef>
                <a:spcPts val="1600"/>
              </a:spcBef>
              <a:spcAft>
                <a:spcPts val="0"/>
              </a:spcAft>
              <a:buClr>
                <a:schemeClr val="dk1"/>
              </a:buClr>
              <a:buSzPts val="1100"/>
              <a:buFont typeface="Arial"/>
              <a:buNone/>
            </a:pPr>
            <a:r>
              <a:rPr lang="en" sz="1250">
                <a:solidFill>
                  <a:schemeClr val="dk1"/>
                </a:solidFill>
              </a:rPr>
              <a:t>secondLevelName}}</a:t>
            </a:r>
            <a:endParaRPr sz="1250">
              <a:solidFill>
                <a:schemeClr val="dk1"/>
              </a:solidFill>
            </a:endParaRPr>
          </a:p>
          <a:p>
            <a:pPr algn="ctr" indent="0" lvl="0" marL="0" rtl="0">
              <a:lnSpc>
                <a:spcPct val="200000"/>
              </a:lnSpc>
              <a:spcBef>
                <a:spcPts val="1600"/>
              </a:spcBef>
              <a:spcAft>
                <a:spcPts val="0"/>
              </a:spcAft>
              <a:buClr>
                <a:schemeClr val="dk1"/>
              </a:buClr>
              <a:buSzPts val="1100"/>
              <a:buFont typeface="Arial"/>
              <a:buNone/>
            </a:pPr>
            <a:r>
              <a:rPr lang="en" sz="1250">
                <a:solidFill>
                  <a:schemeClr val="dk1"/>
                </a:solidFill>
              </a:rPr>
              <a:t>thirdLevelName}}</a:t>
            </a:r>
            <a:endParaRPr sz="1250">
              <a:solidFill>
                <a:schemeClr val="dk1"/>
              </a:solidFill>
            </a:endParaRPr>
          </a:p>
          <a:p>
            <a:pPr algn="ctr" indent="0" lvl="0" marL="0" rtl="0">
              <a:lnSpc>
                <a:spcPct val="200000"/>
              </a:lnSpc>
              <a:spcBef>
                <a:spcPts val="1600"/>
              </a:spcBef>
              <a:spcAft>
                <a:spcPts val="0"/>
              </a:spcAft>
              <a:buClr>
                <a:schemeClr val="dk1"/>
              </a:buClr>
              <a:buSzPts val="1100"/>
              <a:buFont typeface="Arial"/>
              <a:buNone/>
            </a:pPr>
            <a:r>
              <a:rPr lang="en" sz="1250">
                <a:solidFill>
                  <a:schemeClr val="dk1"/>
                </a:solidFill>
              </a:rPr>
              <a:t>fourthLevelName}}</a:t>
            </a:r>
            <a:endParaRPr sz="1250">
              <a:solidFill>
                <a:schemeClr val="dk1"/>
              </a:solidFill>
            </a:endParaRPr>
          </a:p>
          <a:p>
            <a:pPr algn="l" indent="0" lvl="0" marL="0" rtl="0">
              <a:spcBef>
                <a:spcPts val="1600"/>
              </a:spcBef>
              <a:spcAft>
                <a:spcPts val="0"/>
              </a:spcAft>
              <a:buClr>
                <a:schemeClr val="dk1"/>
              </a:buClr>
              <a:buSzPts val="1100"/>
              <a:buFont typeface="Arial"/>
              <a:buNone/>
            </a:pPr>
            <a:endParaRPr sz="1250">
              <a:solidFill>
                <a:schemeClr val="dk1"/>
              </a:solidFill>
            </a:endParaRPr>
          </a:p>
          <a:p>
            <a:pPr algn="ctr" indent="0" lvl="0" marL="0" rtl="0">
              <a:lnSpc>
                <a:spcPct val="200000"/>
              </a:lnSpc>
              <a:spcBef>
                <a:spcPts val="1200"/>
              </a:spcBef>
              <a:spcAft>
                <a:spcPts val="1600"/>
              </a:spcAft>
              <a:buNone/>
            </a:pPr>
            <a:endParaRPr sz="1250">
              <a:solidFill>
                <a:srgbClr val="000000"/>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Marketplace Competition</a:t>
            </a:r>
            <a:endParaRPr/>
          </a:p>
        </p:txBody>
      </p:sp>
      <p:sp>
        <p:nvSpPr>
          <p:cNvPr id="86" name="Google Shape;86;p15"/>
          <p:cNvSpPr txBox="1"/>
          <p:nvPr/>
        </p:nvSpPr>
        <p:spPr>
          <a:xfrm>
            <a:off x="364750" y="1283286"/>
            <a:ext cx="34803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latin typeface="Verdana"/>
                <a:ea typeface="Verdana"/>
                <a:cs typeface="Verdana"/>
                <a:sym typeface="Verdana"/>
              </a:rPr>
              <a:t>1. How long have you been in business?</a:t>
            </a:r>
            <a:endParaRPr b="1" sz="1150">
              <a:latin typeface="Verdana"/>
              <a:ea typeface="Verdana"/>
              <a:cs typeface="Verdana"/>
              <a:sym typeface="Verdana"/>
            </a:endParaRPr>
          </a:p>
        </p:txBody>
      </p:sp>
      <p:sp>
        <p:nvSpPr>
          <p:cNvPr id="87" name="Google Shape;87;p15"/>
          <p:cNvSpPr txBox="1"/>
          <p:nvPr/>
        </p:nvSpPr>
        <p:spPr>
          <a:xfrm>
            <a:off x="4722188" y="1283286"/>
            <a:ext cx="20460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latin typeface="Verdana"/>
                <a:ea typeface="Verdana"/>
                <a:cs typeface="Verdana"/>
                <a:sym typeface="Verdana"/>
              </a:rPr>
              <a:t>How many locations?</a:t>
            </a:r>
            <a:endParaRPr b="1" sz="1150">
              <a:latin typeface="Verdana"/>
              <a:ea typeface="Verdana"/>
              <a:cs typeface="Verdana"/>
              <a:sym typeface="Verdana"/>
            </a:endParaRPr>
          </a:p>
        </p:txBody>
      </p:sp>
      <p:sp>
        <p:nvSpPr>
          <p:cNvPr id="88" name="Google Shape;88;p15"/>
          <p:cNvSpPr txBox="1"/>
          <p:nvPr/>
        </p:nvSpPr>
        <p:spPr>
          <a:xfrm>
            <a:off x="7273050" y="1283286"/>
            <a:ext cx="10203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latin typeface="Verdana"/>
                <a:ea typeface="Verdana"/>
                <a:cs typeface="Verdana"/>
                <a:sym typeface="Verdana"/>
              </a:rPr>
              <a:t>Plans to expand?</a:t>
            </a:r>
            <a:endParaRPr b="1" sz="1150">
              <a:latin typeface="Verdana"/>
              <a:ea typeface="Verdana"/>
              <a:cs typeface="Verdana"/>
              <a:sym typeface="Verdana"/>
            </a:endParaRPr>
          </a:p>
        </p:txBody>
      </p:sp>
      <p:sp>
        <p:nvSpPr>
          <p:cNvPr id="89" name="Google Shape;89;p15"/>
          <p:cNvSpPr txBox="1"/>
          <p:nvPr/>
        </p:nvSpPr>
        <p:spPr>
          <a:xfrm>
            <a:off x="3755200" y="1285236"/>
            <a:ext cx="2522400" cy="4299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00">
                <a:solidFill>
                  <a:schemeClr val="dk1"/>
                </a:solidFill>
                <a:latin typeface="Verdana"/>
                <a:ea typeface="Verdana"/>
                <a:cs typeface="Verdana"/>
                <a:sym typeface="Verdana"/>
              </a:rPr>
              <a:t>yearsInBusiness}}</a:t>
            </a:r>
            <a:r>
              <a:rPr lang="en" sz="1150">
                <a:latin typeface="Verdana"/>
                <a:ea typeface="Verdana"/>
                <a:cs typeface="Verdana"/>
                <a:sym typeface="Verdana"/>
              </a:rPr>
              <a:t> years </a:t>
            </a:r>
            <a:endParaRPr sz="1150">
              <a:latin typeface="Verdana"/>
              <a:ea typeface="Verdana"/>
              <a:cs typeface="Verdana"/>
              <a:sym typeface="Verdana"/>
            </a:endParaRPr>
          </a:p>
        </p:txBody>
      </p:sp>
      <p:sp>
        <p:nvSpPr>
          <p:cNvPr id="90" name="Google Shape;90;p15"/>
          <p:cNvSpPr/>
          <p:nvPr/>
        </p:nvSpPr>
        <p:spPr>
          <a:xfrm>
            <a:off x="571250" y="1875649"/>
            <a:ext cx="1301400" cy="480600"/>
          </a:xfrm>
          <a:prstGeom prst="roundRect">
            <a:avLst>
              <a:gd fmla="val 16667" name="adj"/>
            </a:avLst>
          </a:prstGeom>
          <a:noFill/>
          <a:ln cap="flat" cmpd="sng" w="28575">
            <a:solidFill>
              <a:srgbClr val="000000"/>
            </a:solidFill>
            <a:prstDash val="solid"/>
            <a:round/>
            <a:headEnd len="sm" type="none" w="sm"/>
            <a:tailEnd len="sm" type="none" w="sm"/>
          </a:ln>
        </p:spPr>
        <p:txBody>
          <a:bodyPr anchor="ctr" anchorCtr="0" bIns="91425" lIns="91425" rIns="91425" spcFirstLastPara="1" tIns="91425" wrap="square">
            <a:noAutofit/>
          </a:bodyPr>
          <a:lstStyle/>
          <a:p>
            <a:pPr algn="ctr" indent="0" lvl="0" marL="0" rtl="0">
              <a:spcBef>
                <a:spcPts val="0"/>
              </a:spcBef>
              <a:spcAft>
                <a:spcPts val="0"/>
              </a:spcAft>
              <a:buNone/>
            </a:pPr>
            <a:r>
              <a:rPr b="1" lang="en" sz="1150">
                <a:latin typeface="Verdana"/>
                <a:ea typeface="Verdana"/>
                <a:cs typeface="Verdana"/>
                <a:sym typeface="Verdana"/>
              </a:rPr>
              <a:t>1st Tier</a:t>
            </a:r>
            <a:endParaRPr b="1" sz="1150">
              <a:latin typeface="Verdana"/>
              <a:ea typeface="Verdana"/>
              <a:cs typeface="Verdana"/>
              <a:sym typeface="Verdana"/>
            </a:endParaRPr>
          </a:p>
        </p:txBody>
      </p:sp>
      <p:sp>
        <p:nvSpPr>
          <p:cNvPr id="91" name="Google Shape;91;p15"/>
          <p:cNvSpPr/>
          <p:nvPr/>
        </p:nvSpPr>
        <p:spPr>
          <a:xfrm>
            <a:off x="571250" y="2635299"/>
            <a:ext cx="1301400" cy="484500"/>
          </a:xfrm>
          <a:prstGeom prst="roundRect">
            <a:avLst>
              <a:gd fmla="val 16667" name="adj"/>
            </a:avLst>
          </a:prstGeom>
          <a:noFill/>
          <a:ln cap="flat" cmpd="sng" w="28575">
            <a:solidFill>
              <a:srgbClr val="000000"/>
            </a:solidFill>
            <a:prstDash val="solid"/>
            <a:round/>
            <a:headEnd len="sm" type="none" w="sm"/>
            <a:tailEnd len="sm" type="none" w="sm"/>
          </a:ln>
        </p:spPr>
        <p:txBody>
          <a:bodyPr anchor="ctr" anchorCtr="0" bIns="91425" lIns="91425" rIns="91425" spcFirstLastPara="1" tIns="91425" wrap="square">
            <a:noAutofit/>
          </a:bodyPr>
          <a:lstStyle/>
          <a:p>
            <a:pPr algn="ctr" indent="0" lvl="0" marL="0" rtl="0">
              <a:spcBef>
                <a:spcPts val="0"/>
              </a:spcBef>
              <a:spcAft>
                <a:spcPts val="0"/>
              </a:spcAft>
              <a:buNone/>
            </a:pPr>
            <a:r>
              <a:rPr b="1" lang="en" sz="1150">
                <a:latin typeface="Verdana"/>
                <a:ea typeface="Verdana"/>
                <a:cs typeface="Verdana"/>
                <a:sym typeface="Verdana"/>
              </a:rPr>
              <a:t>3rd Tier</a:t>
            </a:r>
            <a:endParaRPr b="1" sz="1150">
              <a:latin typeface="Verdana"/>
              <a:ea typeface="Verdana"/>
              <a:cs typeface="Verdana"/>
              <a:sym typeface="Verdana"/>
            </a:endParaRPr>
          </a:p>
        </p:txBody>
      </p:sp>
      <p:sp>
        <p:nvSpPr>
          <p:cNvPr id="92" name="Google Shape;92;p15"/>
          <p:cNvSpPr/>
          <p:nvPr/>
        </p:nvSpPr>
        <p:spPr>
          <a:xfrm>
            <a:off x="4719300" y="1901786"/>
            <a:ext cx="1301400" cy="484500"/>
          </a:xfrm>
          <a:prstGeom prst="roundRect">
            <a:avLst>
              <a:gd fmla="val 16667" name="adj"/>
            </a:avLst>
          </a:prstGeom>
          <a:noFill/>
          <a:ln cap="flat" cmpd="sng" w="28575">
            <a:solidFill>
              <a:srgbClr val="000000"/>
            </a:solidFill>
            <a:prstDash val="solid"/>
            <a:round/>
            <a:headEnd len="sm" type="none" w="sm"/>
            <a:tailEnd len="sm" type="none" w="sm"/>
          </a:ln>
        </p:spPr>
        <p:txBody>
          <a:bodyPr anchor="ctr" anchorCtr="0" bIns="91425" lIns="91425" rIns="91425" spcFirstLastPara="1" tIns="91425" wrap="square">
            <a:noAutofit/>
          </a:bodyPr>
          <a:lstStyle/>
          <a:p>
            <a:pPr algn="ctr" indent="0" lvl="0" marL="0" rtl="0">
              <a:spcBef>
                <a:spcPts val="0"/>
              </a:spcBef>
              <a:spcAft>
                <a:spcPts val="0"/>
              </a:spcAft>
              <a:buNone/>
            </a:pPr>
            <a:r>
              <a:rPr b="1" lang="en" sz="1150">
                <a:latin typeface="Verdana"/>
                <a:ea typeface="Verdana"/>
                <a:cs typeface="Verdana"/>
                <a:sym typeface="Verdana"/>
              </a:rPr>
              <a:t>2nd Tier</a:t>
            </a:r>
            <a:endParaRPr b="1" sz="1150">
              <a:latin typeface="Verdana"/>
              <a:ea typeface="Verdana"/>
              <a:cs typeface="Verdana"/>
              <a:sym typeface="Verdana"/>
            </a:endParaRPr>
          </a:p>
        </p:txBody>
      </p:sp>
      <p:sp>
        <p:nvSpPr>
          <p:cNvPr id="93" name="Google Shape;93;p15"/>
          <p:cNvSpPr/>
          <p:nvPr/>
        </p:nvSpPr>
        <p:spPr>
          <a:xfrm>
            <a:off x="4719300" y="2635299"/>
            <a:ext cx="1301400" cy="484500"/>
          </a:xfrm>
          <a:prstGeom prst="roundRect">
            <a:avLst>
              <a:gd fmla="val 16667" name="adj"/>
            </a:avLst>
          </a:prstGeom>
          <a:noFill/>
          <a:ln cap="flat" cmpd="sng" w="28575">
            <a:solidFill>
              <a:srgbClr val="000000"/>
            </a:solidFill>
            <a:prstDash val="solid"/>
            <a:round/>
            <a:headEnd len="sm" type="none" w="sm"/>
            <a:tailEnd len="sm" type="none" w="sm"/>
          </a:ln>
        </p:spPr>
        <p:txBody>
          <a:bodyPr anchor="ctr" anchorCtr="0" bIns="91425" lIns="91425" rIns="91425" spcFirstLastPara="1" tIns="91425" wrap="square">
            <a:noAutofit/>
          </a:bodyPr>
          <a:lstStyle/>
          <a:p>
            <a:pPr algn="ctr" indent="0" lvl="0" marL="0" rtl="0">
              <a:spcBef>
                <a:spcPts val="0"/>
              </a:spcBef>
              <a:spcAft>
                <a:spcPts val="0"/>
              </a:spcAft>
              <a:buNone/>
            </a:pPr>
            <a:r>
              <a:rPr b="1" lang="en" sz="1150">
                <a:latin typeface="Verdana"/>
                <a:ea typeface="Verdana"/>
                <a:cs typeface="Verdana"/>
                <a:sym typeface="Verdana"/>
              </a:rPr>
              <a:t>4th Tier</a:t>
            </a:r>
            <a:endParaRPr b="1" sz="1150">
              <a:latin typeface="Verdana"/>
              <a:ea typeface="Verdana"/>
              <a:cs typeface="Verdana"/>
              <a:sym typeface="Verdana"/>
            </a:endParaRPr>
          </a:p>
        </p:txBody>
      </p:sp>
      <p:sp>
        <p:nvSpPr>
          <p:cNvPr id="94" name="Google Shape;94;p15"/>
          <p:cNvSpPr txBox="1"/>
          <p:nvPr/>
        </p:nvSpPr>
        <p:spPr>
          <a:xfrm>
            <a:off x="1872950" y="2600865"/>
            <a:ext cx="2002500" cy="5652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thirdTierBusiness}}</a:t>
            </a:r>
            <a:endParaRPr sz="1150">
              <a:latin typeface="Verdana"/>
              <a:ea typeface="Verdana"/>
              <a:cs typeface="Verdana"/>
              <a:sym typeface="Verdana"/>
            </a:endParaRPr>
          </a:p>
          <a:p>
            <a:pPr algn="l" indent="0" lvl="0" marL="0" rtl="0">
              <a:lnSpc>
                <a:spcPct val="115000"/>
              </a:lnSpc>
              <a:spcBef>
                <a:spcPts val="0"/>
              </a:spcBef>
              <a:spcAft>
                <a:spcPts val="0"/>
              </a:spcAft>
              <a:buNone/>
            </a:pPr>
            <a:r>
              <a:rPr lang="en" sz="1150">
                <a:latin typeface="Verdana"/>
                <a:ea typeface="Verdana"/>
                <a:cs typeface="Verdana"/>
                <a:sym typeface="Verdana"/>
              </a:rPr>
              <a:t>#3 in Market Revenue</a:t>
            </a:r>
            <a:endParaRPr sz="1150">
              <a:latin typeface="Verdana"/>
              <a:ea typeface="Verdana"/>
              <a:cs typeface="Verdana"/>
              <a:sym typeface="Verdana"/>
            </a:endParaRPr>
          </a:p>
        </p:txBody>
      </p:sp>
      <p:sp>
        <p:nvSpPr>
          <p:cNvPr id="95" name="Google Shape;95;p15"/>
          <p:cNvSpPr txBox="1"/>
          <p:nvPr/>
        </p:nvSpPr>
        <p:spPr>
          <a:xfrm>
            <a:off x="6020700" y="2598756"/>
            <a:ext cx="2001900" cy="5670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0"/>
              </a:spcAft>
              <a:buNone/>
            </a:pPr>
            <a:r>
              <a:rPr lang="en" sz="1150">
                <a:latin typeface="Verdana"/>
                <a:ea typeface="Verdana"/>
                <a:cs typeface="Verdana"/>
                <a:sym typeface="Verdana"/>
              </a:rPr>
              <a:t>fourthTierBusiness}}</a:t>
            </a:r>
            <a:endParaRPr sz="1150">
              <a:latin typeface="Verdana"/>
              <a:ea typeface="Verdana"/>
              <a:cs typeface="Verdana"/>
              <a:sym typeface="Verdana"/>
            </a:endParaRPr>
          </a:p>
          <a:p>
            <a:pPr algn="l" indent="0" lvl="0" marL="0" rtl="0">
              <a:lnSpc>
                <a:spcPct val="115000"/>
              </a:lnSpc>
              <a:spcBef>
                <a:spcPts val="0"/>
              </a:spcBef>
              <a:spcAft>
                <a:spcPts val="0"/>
              </a:spcAft>
              <a:buNone/>
            </a:pPr>
            <a:r>
              <a:rPr lang="en" sz="1150">
                <a:latin typeface="Verdana"/>
                <a:ea typeface="Verdana"/>
                <a:cs typeface="Verdana"/>
                <a:sym typeface="Verdana"/>
              </a:rPr>
              <a:t> #1 in Market Revenue</a:t>
            </a:r>
            <a:endParaRPr sz="1150">
              <a:latin typeface="Verdana"/>
              <a:ea typeface="Verdana"/>
              <a:cs typeface="Verdana"/>
              <a:sym typeface="Verdana"/>
            </a:endParaRPr>
          </a:p>
        </p:txBody>
      </p:sp>
      <p:sp>
        <p:nvSpPr>
          <p:cNvPr id="96" name="Google Shape;96;p15"/>
          <p:cNvSpPr txBox="1"/>
          <p:nvPr/>
        </p:nvSpPr>
        <p:spPr>
          <a:xfrm>
            <a:off x="594350" y="3895344"/>
            <a:ext cx="32238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latin typeface="Verdana"/>
                <a:ea typeface="Verdana"/>
                <a:cs typeface="Verdana"/>
                <a:sym typeface="Verdana"/>
              </a:rPr>
              <a:t>A. What are their strengths?</a:t>
            </a:r>
            <a:endParaRPr b="1" sz="1150">
              <a:latin typeface="Verdana"/>
              <a:ea typeface="Verdana"/>
              <a:cs typeface="Verdana"/>
              <a:sym typeface="Verdana"/>
            </a:endParaRPr>
          </a:p>
        </p:txBody>
      </p:sp>
      <p:sp>
        <p:nvSpPr>
          <p:cNvPr id="97" name="Google Shape;97;p15"/>
          <p:cNvSpPr txBox="1"/>
          <p:nvPr/>
        </p:nvSpPr>
        <p:spPr>
          <a:xfrm>
            <a:off x="594350" y="4828944"/>
            <a:ext cx="32238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latin typeface="Verdana"/>
                <a:ea typeface="Verdana"/>
                <a:cs typeface="Verdana"/>
                <a:sym typeface="Verdana"/>
              </a:rPr>
              <a:t>B. What are their weakness?</a:t>
            </a:r>
            <a:endParaRPr b="1" sz="1150">
              <a:latin typeface="Verdana"/>
              <a:ea typeface="Verdana"/>
              <a:cs typeface="Verdana"/>
              <a:sym typeface="Verdana"/>
            </a:endParaRPr>
          </a:p>
        </p:txBody>
      </p:sp>
      <p:sp>
        <p:nvSpPr>
          <p:cNvPr id="98" name="Google Shape;98;p15"/>
          <p:cNvSpPr txBox="1"/>
          <p:nvPr/>
        </p:nvSpPr>
        <p:spPr>
          <a:xfrm>
            <a:off x="823950" y="4176729"/>
            <a:ext cx="3480300" cy="650100"/>
          </a:xfrm>
          <a:prstGeom prst="rect">
            <a:avLst/>
          </a:prstGeom>
          <a:noFill/>
          <a:ln>
            <a:noFill/>
          </a:ln>
        </p:spPr>
        <p:txBody>
          <a:bodyPr anchor="t"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
            </a:r>
            <a:r>
              <a:rPr i="1" lang="en" sz="1150">
                <a:latin typeface="Verdana"/>
                <a:ea typeface="Verdana"/>
                <a:cs typeface="Verdana"/>
                <a:sym typeface="Verdana"/>
              </a:rPr>
              <a:t>competitionStrengthA}}</a:t>
            </a:r>
            <a:endParaRPr i="1" sz="1150">
              <a:latin typeface="Verdana"/>
              <a:ea typeface="Verdana"/>
              <a:cs typeface="Verdana"/>
              <a:sym typeface="Verdana"/>
            </a:endParaRPr>
          </a:p>
          <a:p>
            <a:pPr algn="l" indent="0" lvl="0" marL="0" rtl="0">
              <a:spcBef>
                <a:spcPts val="0"/>
              </a:spcBef>
              <a:spcAft>
                <a:spcPts val="0"/>
              </a:spcAft>
              <a:buNone/>
            </a:pPr>
            <a:endParaRPr sz="1150">
              <a:latin typeface="Verdana"/>
              <a:ea typeface="Verdana"/>
              <a:cs typeface="Verdana"/>
              <a:sym typeface="Verdana"/>
            </a:endParaRPr>
          </a:p>
        </p:txBody>
      </p:sp>
      <p:sp>
        <p:nvSpPr>
          <p:cNvPr id="99" name="Google Shape;99;p15"/>
          <p:cNvSpPr txBox="1"/>
          <p:nvPr/>
        </p:nvSpPr>
        <p:spPr>
          <a:xfrm>
            <a:off x="4947904" y="4179724"/>
            <a:ext cx="3891900" cy="649200"/>
          </a:xfrm>
          <a:prstGeom prst="rect">
            <a:avLst/>
          </a:prstGeom>
          <a:noFill/>
          <a:ln>
            <a:noFill/>
          </a:ln>
        </p:spPr>
        <p:txBody>
          <a:bodyPr anchor="t"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
            </a:r>
            <a:r>
              <a:rPr i="1" lang="en" sz="1150">
                <a:latin typeface="Verdana"/>
                <a:ea typeface="Verdana"/>
                <a:cs typeface="Verdana"/>
                <a:sym typeface="Verdana"/>
              </a:rPr>
              <a:t>competitionStrengthB}}</a:t>
            </a:r>
            <a:endParaRPr sz="1150">
              <a:latin typeface="Verdana"/>
              <a:ea typeface="Verdana"/>
              <a:cs typeface="Verdana"/>
              <a:sym typeface="Verdana"/>
            </a:endParaRPr>
          </a:p>
        </p:txBody>
      </p:sp>
      <p:sp>
        <p:nvSpPr>
          <p:cNvPr id="100" name="Google Shape;100;p15"/>
          <p:cNvSpPr txBox="1"/>
          <p:nvPr/>
        </p:nvSpPr>
        <p:spPr>
          <a:xfrm>
            <a:off x="823950" y="5116979"/>
            <a:ext cx="3480300" cy="429900"/>
          </a:xfrm>
          <a:prstGeom prst="rect">
            <a:avLst/>
          </a:prstGeom>
          <a:noFill/>
          <a:ln>
            <a:noFill/>
          </a:ln>
        </p:spPr>
        <p:txBody>
          <a:bodyPr anchor="t"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
            </a:r>
            <a:r>
              <a:rPr i="1" lang="en" sz="1150">
                <a:latin typeface="Verdana"/>
                <a:ea typeface="Verdana"/>
                <a:cs typeface="Verdana"/>
                <a:sym typeface="Verdana"/>
              </a:rPr>
              <a:t>competitionWeaknessA}}</a:t>
            </a:r>
            <a:endParaRPr i="1" sz="1150">
              <a:latin typeface="Verdana"/>
              <a:ea typeface="Verdana"/>
              <a:cs typeface="Verdana"/>
              <a:sym typeface="Verdana"/>
            </a:endParaRPr>
          </a:p>
          <a:p>
            <a:pPr algn="l" indent="0" lvl="0" marL="0" rtl="0">
              <a:spcBef>
                <a:spcPts val="0"/>
              </a:spcBef>
              <a:spcAft>
                <a:spcPts val="0"/>
              </a:spcAft>
              <a:buNone/>
            </a:pPr>
            <a:endParaRPr sz="1150">
              <a:latin typeface="Verdana"/>
              <a:ea typeface="Verdana"/>
              <a:cs typeface="Verdana"/>
              <a:sym typeface="Verdana"/>
            </a:endParaRPr>
          </a:p>
        </p:txBody>
      </p:sp>
      <p:sp>
        <p:nvSpPr>
          <p:cNvPr id="101" name="Google Shape;101;p15"/>
          <p:cNvSpPr txBox="1"/>
          <p:nvPr/>
        </p:nvSpPr>
        <p:spPr>
          <a:xfrm>
            <a:off x="4947904" y="5119742"/>
            <a:ext cx="4052100" cy="484500"/>
          </a:xfrm>
          <a:prstGeom prst="rect">
            <a:avLst/>
          </a:prstGeom>
          <a:noFill/>
          <a:ln>
            <a:noFill/>
          </a:ln>
        </p:spPr>
        <p:txBody>
          <a:bodyPr anchor="t" anchorCtr="0" bIns="91425" lIns="91425" rIns="91425" spcFirstLastPara="1" tIns="91425" wrap="square">
            <a:noAutofit/>
          </a:bodyPr>
          <a:lstStyle/>
          <a:p>
            <a:pPr algn="l" indent="0" lvl="0" marL="0" marR="114300"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
            </a:r>
            <a:r>
              <a:rPr i="1" lang="en" sz="1150">
                <a:latin typeface="Verdana"/>
                <a:ea typeface="Verdana"/>
                <a:cs typeface="Verdana"/>
                <a:sym typeface="Verdana"/>
              </a:rPr>
              <a:t>competitionWeaknessB}}</a:t>
            </a:r>
            <a:endParaRPr sz="1150">
              <a:latin typeface="Verdana"/>
              <a:ea typeface="Verdana"/>
              <a:cs typeface="Verdana"/>
              <a:sym typeface="Verdana"/>
            </a:endParaRPr>
          </a:p>
          <a:p>
            <a:pPr algn="l" indent="0" lvl="0" marL="152400" marR="152400" rtl="0">
              <a:lnSpc>
                <a:spcPct val="115000"/>
              </a:lnSpc>
              <a:spcBef>
                <a:spcPts val="0"/>
              </a:spcBef>
              <a:spcAft>
                <a:spcPts val="0"/>
              </a:spcAft>
              <a:buClr>
                <a:schemeClr val="dk1"/>
              </a:buClr>
              <a:buSzPts val="1100"/>
              <a:buFont typeface="Arial"/>
              <a:buNone/>
            </a:pPr>
            <a:endParaRPr sz="1150">
              <a:latin typeface="Verdana"/>
              <a:ea typeface="Verdana"/>
              <a:cs typeface="Verdana"/>
              <a:sym typeface="Verdana"/>
            </a:endParaRPr>
          </a:p>
          <a:p>
            <a:pPr algn="l" indent="0" lvl="0" marL="0" rtl="0">
              <a:spcBef>
                <a:spcPts val="0"/>
              </a:spcBef>
              <a:spcAft>
                <a:spcPts val="0"/>
              </a:spcAft>
              <a:buNone/>
            </a:pPr>
            <a:endParaRPr sz="1150">
              <a:latin typeface="Verdana"/>
              <a:ea typeface="Verdana"/>
              <a:cs typeface="Verdana"/>
              <a:sym typeface="Verdana"/>
            </a:endParaRPr>
          </a:p>
        </p:txBody>
      </p:sp>
      <p:sp>
        <p:nvSpPr>
          <p:cNvPr id="102" name="Google Shape;102;p15"/>
          <p:cNvSpPr txBox="1"/>
          <p:nvPr/>
        </p:nvSpPr>
        <p:spPr>
          <a:xfrm>
            <a:off x="6621600" y="1285236"/>
            <a:ext cx="2001900" cy="4299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00">
                <a:solidFill>
                  <a:schemeClr val="dk1"/>
                </a:solidFill>
                <a:latin typeface="Verdana"/>
                <a:ea typeface="Verdana"/>
                <a:cs typeface="Verdana"/>
                <a:sym typeface="Verdana"/>
              </a:rPr>
              <a:t/>
            </a:r>
            <a:r>
              <a:rPr i="1" lang="en" sz="1150">
                <a:solidFill>
                  <a:schemeClr val="dk1"/>
                </a:solidFill>
                <a:latin typeface="Verdana"/>
                <a:ea typeface="Verdana"/>
                <a:cs typeface="Verdana"/>
                <a:sym typeface="Verdana"/>
              </a:rPr>
              <a:t>numberOfLocations</a:t>
            </a:r>
            <a:r>
              <a:rPr lang="en" sz="1100">
                <a:solidFill>
                  <a:schemeClr val="dk1"/>
                </a:solidFill>
                <a:latin typeface="Verdana"/>
                <a:ea typeface="Verdana"/>
                <a:cs typeface="Verdana"/>
                <a:sym typeface="Verdana"/>
              </a:rPr>
              <a:t>}}</a:t>
            </a:r>
            <a:endParaRPr sz="1150">
              <a:latin typeface="Verdana"/>
              <a:ea typeface="Verdana"/>
              <a:cs typeface="Verdana"/>
              <a:sym typeface="Verdana"/>
            </a:endParaRPr>
          </a:p>
        </p:txBody>
      </p:sp>
      <p:sp>
        <p:nvSpPr>
          <p:cNvPr id="103" name="Google Shape;103;p15"/>
          <p:cNvSpPr txBox="1"/>
          <p:nvPr/>
        </p:nvSpPr>
        <p:spPr>
          <a:xfrm>
            <a:off x="8096800" y="1285236"/>
            <a:ext cx="2001900" cy="4299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00">
                <a:solidFill>
                  <a:schemeClr val="dk1"/>
                </a:solidFill>
                <a:latin typeface="Verdana"/>
                <a:ea typeface="Verdana"/>
                <a:cs typeface="Verdana"/>
                <a:sym typeface="Verdana"/>
              </a:rPr>
              <a:t/>
            </a:r>
            <a:r>
              <a:rPr i="1" lang="en" sz="1150">
                <a:solidFill>
                  <a:schemeClr val="dk1"/>
                </a:solidFill>
                <a:latin typeface="Verdana"/>
                <a:ea typeface="Verdana"/>
                <a:cs typeface="Verdana"/>
                <a:sym typeface="Verdana"/>
              </a:rPr>
              <a:t>planToExpand</a:t>
            </a:r>
            <a:r>
              <a:rPr lang="en" sz="1100">
                <a:solidFill>
                  <a:schemeClr val="dk1"/>
                </a:solidFill>
                <a:latin typeface="Verdana"/>
                <a:ea typeface="Verdana"/>
                <a:cs typeface="Verdana"/>
                <a:sym typeface="Verdana"/>
              </a:rPr>
              <a:t>}}</a:t>
            </a:r>
            <a:endParaRPr sz="1150">
              <a:latin typeface="Verdana"/>
              <a:ea typeface="Verdana"/>
              <a:cs typeface="Verdana"/>
              <a:sym typeface="Verdana"/>
            </a:endParaRPr>
          </a:p>
        </p:txBody>
      </p:sp>
      <p:sp>
        <p:nvSpPr>
          <p:cNvPr id="104" name="Google Shape;104;p15"/>
          <p:cNvSpPr txBox="1"/>
          <p:nvPr/>
        </p:nvSpPr>
        <p:spPr>
          <a:xfrm>
            <a:off x="6020695" y="1847088"/>
            <a:ext cx="2001900" cy="5670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
            </a:r>
            <a:r>
              <a:rPr i="1" lang="en" sz="1150">
                <a:solidFill>
                  <a:schemeClr val="dk1"/>
                </a:solidFill>
                <a:latin typeface="Verdana"/>
                <a:ea typeface="Verdana"/>
                <a:cs typeface="Verdana"/>
                <a:sym typeface="Verdana"/>
              </a:rPr>
              <a:t>secondTierBusiness}}</a:t>
            </a:r>
            <a:endParaRPr i="1" sz="1150">
              <a:solidFill>
                <a:schemeClr val="dk1"/>
              </a:solidFill>
              <a:latin typeface="Verdana"/>
              <a:ea typeface="Verdana"/>
              <a:cs typeface="Verdana"/>
              <a:sym typeface="Verdana"/>
            </a:endParaRPr>
          </a:p>
          <a:p>
            <a:pPr algn="l" indent="0" lvl="0" marL="0"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#2 in Market Revenue</a:t>
            </a:r>
            <a:endParaRPr sz="1150">
              <a:solidFill>
                <a:schemeClr val="dk1"/>
              </a:solidFill>
              <a:latin typeface="Verdana"/>
              <a:ea typeface="Verdana"/>
              <a:cs typeface="Verdana"/>
              <a:sym typeface="Verdana"/>
            </a:endParaRPr>
          </a:p>
          <a:p>
            <a:pPr algn="l" indent="0" lvl="0" marL="0" rtl="0">
              <a:spcBef>
                <a:spcPts val="0"/>
              </a:spcBef>
              <a:spcAft>
                <a:spcPts val="0"/>
              </a:spcAft>
              <a:buNone/>
            </a:pPr>
            <a:endParaRPr sz="1150">
              <a:latin typeface="Verdana"/>
              <a:ea typeface="Verdana"/>
              <a:cs typeface="Verdana"/>
              <a:sym typeface="Verdana"/>
            </a:endParaRPr>
          </a:p>
        </p:txBody>
      </p:sp>
      <p:sp>
        <p:nvSpPr>
          <p:cNvPr id="105" name="Google Shape;105;p15"/>
          <p:cNvSpPr txBox="1"/>
          <p:nvPr/>
        </p:nvSpPr>
        <p:spPr>
          <a:xfrm>
            <a:off x="1872950" y="1843250"/>
            <a:ext cx="2002500" cy="5652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0"/>
              </a:spcAft>
              <a:buNone/>
            </a:pPr>
            <a:r>
              <a:rPr lang="en" sz="1150">
                <a:solidFill>
                  <a:schemeClr val="dk1"/>
                </a:solidFill>
                <a:latin typeface="Verdana"/>
                <a:ea typeface="Verdana"/>
                <a:cs typeface="Verdana"/>
                <a:sym typeface="Verdana"/>
              </a:rPr>
              <a:t/>
            </a:r>
            <a:r>
              <a:rPr i="1" lang="en" sz="1150">
                <a:solidFill>
                  <a:schemeClr val="dk1"/>
                </a:solidFill>
                <a:latin typeface="Verdana"/>
                <a:ea typeface="Verdana"/>
                <a:cs typeface="Verdana"/>
                <a:sym typeface="Verdana"/>
              </a:rPr>
              <a:t>firstTierBusiness}}</a:t>
            </a:r>
            <a:endParaRPr i="1" sz="1150">
              <a:solidFill>
                <a:schemeClr val="dk1"/>
              </a:solidFill>
              <a:latin typeface="Verdana"/>
              <a:ea typeface="Verdana"/>
              <a:cs typeface="Verdana"/>
              <a:sym typeface="Verdana"/>
            </a:endParaRPr>
          </a:p>
          <a:p>
            <a:pPr algn="l" indent="0" lvl="0" marL="0" rtl="0">
              <a:lnSpc>
                <a:spcPct val="115000"/>
              </a:lnSpc>
              <a:spcBef>
                <a:spcPts val="0"/>
              </a:spcBef>
              <a:spcAft>
                <a:spcPts val="0"/>
              </a:spcAft>
              <a:buNone/>
            </a:pPr>
            <a:r>
              <a:rPr lang="en" sz="1150">
                <a:solidFill>
                  <a:schemeClr val="dk1"/>
                </a:solidFill>
                <a:latin typeface="Verdana"/>
                <a:ea typeface="Verdana"/>
                <a:cs typeface="Verdana"/>
                <a:sym typeface="Verdana"/>
              </a:rPr>
              <a:t>#1 in Market Revenue</a:t>
            </a:r>
            <a:endParaRPr i="1" sz="1150">
              <a:solidFill>
                <a:schemeClr val="dk1"/>
              </a:solidFill>
              <a:latin typeface="Verdana"/>
              <a:ea typeface="Verdana"/>
              <a:cs typeface="Verdana"/>
              <a:sym typeface="Verdana"/>
            </a:endParaRPr>
          </a:p>
        </p:txBody>
      </p:sp>
      <p:sp>
        <p:nvSpPr>
          <p:cNvPr id="106" name="Google Shape;106;p15"/>
          <p:cNvSpPr txBox="1">
            <a:spLocks noGrp="1"/>
          </p:cNvSpPr>
          <p:nvPr>
            <p:ph idx="1" type="body"/>
          </p:nvPr>
        </p:nvSpPr>
        <p:spPr>
          <a:xfrm>
            <a:off x="365760" y="5860879"/>
            <a:ext cx="8227200" cy="4299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a:solidFill>
                  <a:srgbClr val="000000"/>
                </a:solidFill>
              </a:rPr>
              <a:t>3. </a:t>
            </a:r>
            <a:r>
              <a:rPr b="1" lang="en" sz="1150">
                <a:solidFill>
                  <a:srgbClr val="000000"/>
                </a:solidFill>
                <a:latin typeface="Verdana"/>
                <a:ea typeface="Verdana"/>
                <a:cs typeface="Verdana"/>
                <a:sym typeface="Verdana"/>
              </a:rPr>
              <a:t>What are the biggest misconceptions consumers have about </a:t>
            </a:r>
            <a:r>
              <a:rPr b="1" lang="en">
                <a:solidFill>
                  <a:srgbClr val="000000"/>
                </a:solidFill>
              </a:rPr>
              <a:t>your </a:t>
            </a:r>
            <a:r>
              <a:rPr b="1" lang="en" sz="1150">
                <a:solidFill>
                  <a:srgbClr val="000000"/>
                </a:solidFill>
                <a:latin typeface="Verdana"/>
                <a:ea typeface="Verdana"/>
                <a:cs typeface="Verdana"/>
                <a:sym typeface="Verdana"/>
              </a:rPr>
              <a:t>business?</a:t>
            </a:r>
            <a:endParaRPr b="1" sz="1150">
              <a:solidFill>
                <a:srgbClr val="000000"/>
              </a:solidFill>
              <a:latin typeface="Verdana"/>
              <a:ea typeface="Verdana"/>
              <a:cs typeface="Verdana"/>
              <a:sym typeface="Verdana"/>
            </a:endParaRPr>
          </a:p>
        </p:txBody>
      </p:sp>
      <p:sp>
        <p:nvSpPr>
          <p:cNvPr id="107" name="Google Shape;107;p15"/>
          <p:cNvSpPr txBox="1"/>
          <p:nvPr/>
        </p:nvSpPr>
        <p:spPr>
          <a:xfrm>
            <a:off x="594360" y="6153000"/>
            <a:ext cx="8148900" cy="6993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misconceptions}}</a:t>
            </a:r>
            <a:endParaRPr sz="1100">
              <a:latin typeface="Verdana"/>
              <a:ea typeface="Verdana"/>
              <a:cs typeface="Verdana"/>
              <a:sym typeface="Verdana"/>
            </a:endParaRPr>
          </a:p>
        </p:txBody>
      </p:sp>
      <p:sp>
        <p:nvSpPr>
          <p:cNvPr id="108" name="Google Shape;108;p15"/>
          <p:cNvSpPr txBox="1"/>
          <p:nvPr/>
        </p:nvSpPr>
        <p:spPr>
          <a:xfrm>
            <a:off x="365760" y="3355848"/>
            <a:ext cx="32238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latin typeface="Verdana"/>
                <a:ea typeface="Verdana"/>
                <a:cs typeface="Verdana"/>
                <a:sym typeface="Verdana"/>
              </a:rPr>
              <a:t>2. Who is the main competition?</a:t>
            </a:r>
            <a:endParaRPr b="1" sz="1150">
              <a:latin typeface="Verdana"/>
              <a:ea typeface="Verdana"/>
              <a:cs typeface="Verdana"/>
              <a:sym typeface="Verdana"/>
            </a:endParaRPr>
          </a:p>
        </p:txBody>
      </p:sp>
      <p:sp>
        <p:nvSpPr>
          <p:cNvPr id="109" name="Google Shape;109;p15"/>
          <p:cNvSpPr txBox="1"/>
          <p:nvPr/>
        </p:nvSpPr>
        <p:spPr>
          <a:xfrm>
            <a:off x="595360" y="3637231"/>
            <a:ext cx="3480300" cy="302100"/>
          </a:xfrm>
          <a:prstGeom prst="rect">
            <a:avLst/>
          </a:prstGeom>
          <a:noFill/>
          <a:ln>
            <a:noFill/>
          </a:ln>
        </p:spPr>
        <p:txBody>
          <a:bodyPr anchor="t"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competitionA}}</a:t>
            </a:r>
            <a:endParaRPr sz="1150">
              <a:latin typeface="Verdana"/>
              <a:ea typeface="Verdana"/>
              <a:cs typeface="Verdana"/>
              <a:sym typeface="Verdana"/>
            </a:endParaRPr>
          </a:p>
        </p:txBody>
      </p:sp>
      <p:sp>
        <p:nvSpPr>
          <p:cNvPr id="110" name="Google Shape;110;p15"/>
          <p:cNvSpPr txBox="1"/>
          <p:nvPr/>
        </p:nvSpPr>
        <p:spPr>
          <a:xfrm>
            <a:off x="4719310" y="3640229"/>
            <a:ext cx="3891900" cy="302100"/>
          </a:xfrm>
          <a:prstGeom prst="rect">
            <a:avLst/>
          </a:prstGeom>
          <a:noFill/>
          <a:ln>
            <a:noFill/>
          </a:ln>
        </p:spPr>
        <p:txBody>
          <a:bodyPr anchor="t"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competitionB}}</a:t>
            </a:r>
            <a:endParaRPr sz="115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Shape 114"/>
        <p:cNvGrpSpPr/>
        <p:nvPr/>
      </p:nvGrpSpPr>
      <p:grpSpPr>
        <a:xfrm>
          <a:off x="0" y="0"/>
          <a:ext cx="0" cy="0"/>
          <a:chOff x="0" y="0"/>
          <a:chExt cx="0" cy="0"/>
        </a:xfrm>
      </p:grpSpPr>
      <p:sp>
        <p:nvSpPr>
          <p:cNvPr id="115" name="Google Shape;115;p16"/>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Strategic Marketing I</a:t>
            </a:r>
            <a:endParaRPr/>
          </a:p>
        </p:txBody>
      </p:sp>
      <p:sp>
        <p:nvSpPr>
          <p:cNvPr id="116" name="Google Shape;116;p16"/>
          <p:cNvSpPr txBox="1">
            <a:spLocks noGrp="1"/>
          </p:cNvSpPr>
          <p:nvPr>
            <p:ph idx="1" type="body"/>
          </p:nvPr>
        </p:nvSpPr>
        <p:spPr>
          <a:xfrm>
            <a:off x="365750" y="1170424"/>
            <a:ext cx="8227200" cy="385200"/>
          </a:xfrm>
          <a:prstGeom prst="rect">
            <a:avLst/>
          </a:prstGeom>
        </p:spPr>
        <p:txBody>
          <a:bodyPr anchor="t" anchorCtr="0" bIns="91425" lIns="91425" rIns="91425" spcFirstLastPara="1" tIns="91425" wrap="square">
            <a:noAutofit/>
          </a:bodyPr>
          <a:lstStyle/>
          <a:p>
            <a:pPr algn="l" indent="0" lvl="0" marL="0" rtl="0">
              <a:spcBef>
                <a:spcPts val="0"/>
              </a:spcBef>
              <a:spcAft>
                <a:spcPts val="0"/>
              </a:spcAft>
              <a:buClr>
                <a:schemeClr val="dk1"/>
              </a:buClr>
              <a:buSzPts val="1100"/>
              <a:buFont typeface="Arial"/>
              <a:buNone/>
            </a:pPr>
            <a:r>
              <a:rPr b="1" lang="en">
                <a:solidFill>
                  <a:schemeClr val="dk1"/>
                </a:solidFill>
              </a:rPr>
              <a:t>4. If you had the power to improve three things in your marketing, what would they be in order?</a:t>
            </a:r>
            <a:endParaRPr b="1">
              <a:solidFill>
                <a:schemeClr val="dk1"/>
              </a:solidFill>
            </a:endParaRPr>
          </a:p>
          <a:p>
            <a:pPr algn="l" indent="0" lvl="0" marL="0" rtl="0">
              <a:spcBef>
                <a:spcPts val="1600"/>
              </a:spcBef>
              <a:spcAft>
                <a:spcPts val="0"/>
              </a:spcAft>
              <a:buNone/>
            </a:pPr>
            <a:endParaRPr b="1">
              <a:solidFill>
                <a:srgbClr val="000000"/>
              </a:solidFill>
            </a:endParaRPr>
          </a:p>
        </p:txBody>
      </p:sp>
      <p:sp>
        <p:nvSpPr>
          <p:cNvPr id="117" name="Google Shape;117;p16"/>
          <p:cNvSpPr txBox="1">
            <a:spLocks noGrp="1"/>
          </p:cNvSpPr>
          <p:nvPr>
            <p:ph idx="1" type="body"/>
          </p:nvPr>
        </p:nvSpPr>
        <p:spPr>
          <a:xfrm>
            <a:off x="3542250" y="2231136"/>
            <a:ext cx="2059500" cy="385200"/>
          </a:xfrm>
          <a:prstGeom prst="rect">
            <a:avLst/>
          </a:prstGeom>
        </p:spPr>
        <p:txBody>
          <a:bodyPr anchor="t" anchorCtr="0" bIns="91425" lIns="91425" rIns="91425" spcFirstLastPara="1" tIns="91425" wrap="square">
            <a:noAutofit/>
          </a:bodyPr>
          <a:lstStyle/>
          <a:p>
            <a:pPr algn="ctr" indent="0" lvl="0" marL="0" rtl="0">
              <a:spcBef>
                <a:spcPts val="0"/>
              </a:spcBef>
              <a:spcAft>
                <a:spcPts val="1600"/>
              </a:spcAft>
              <a:buNone/>
            </a:pPr>
            <a:r>
              <a:rPr b="1" lang="en" sz="1400">
                <a:solidFill>
                  <a:srgbClr val="000000"/>
                </a:solidFill>
                <a:latin typeface="Verdana"/>
                <a:ea typeface="Verdana"/>
                <a:cs typeface="Verdana"/>
                <a:sym typeface="Verdana"/>
              </a:rPr>
              <a:t>Client Objectives</a:t>
            </a:r>
            <a:endParaRPr b="1" sz="1400">
              <a:solidFill>
                <a:srgbClr val="000000"/>
              </a:solidFill>
              <a:latin typeface="Verdana"/>
              <a:ea typeface="Verdana"/>
              <a:cs typeface="Verdana"/>
              <a:sym typeface="Verdana"/>
            </a:endParaRPr>
          </a:p>
        </p:txBody>
      </p:sp>
      <p:sp>
        <p:nvSpPr>
          <p:cNvPr id="118" name="Google Shape;118;p16"/>
          <p:cNvSpPr txBox="1">
            <a:spLocks noGrp="1"/>
          </p:cNvSpPr>
          <p:nvPr>
            <p:ph idx="1" type="body"/>
          </p:nvPr>
        </p:nvSpPr>
        <p:spPr>
          <a:xfrm>
            <a:off x="365750" y="2505456"/>
            <a:ext cx="2059500" cy="2994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PRODUCT/SERVICE</a:t>
            </a:r>
            <a:endParaRPr b="1" sz="1150">
              <a:solidFill>
                <a:srgbClr val="000000"/>
              </a:solidFill>
              <a:latin typeface="Verdana"/>
              <a:ea typeface="Verdana"/>
              <a:cs typeface="Verdana"/>
              <a:sym typeface="Verdana"/>
            </a:endParaRPr>
          </a:p>
        </p:txBody>
      </p:sp>
      <p:sp>
        <p:nvSpPr>
          <p:cNvPr id="119" name="Google Shape;119;p16"/>
          <p:cNvSpPr txBox="1">
            <a:spLocks noGrp="1"/>
          </p:cNvSpPr>
          <p:nvPr>
            <p:ph idx="1" type="body"/>
          </p:nvPr>
        </p:nvSpPr>
        <p:spPr>
          <a:xfrm>
            <a:off x="4871475" y="2505456"/>
            <a:ext cx="2059500" cy="3852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CONSUMER</a:t>
            </a:r>
            <a:endParaRPr b="1" sz="1150">
              <a:solidFill>
                <a:srgbClr val="000000"/>
              </a:solidFill>
              <a:latin typeface="Verdana"/>
              <a:ea typeface="Verdana"/>
              <a:cs typeface="Verdana"/>
              <a:sym typeface="Verdana"/>
            </a:endParaRPr>
          </a:p>
        </p:txBody>
      </p:sp>
      <p:sp>
        <p:nvSpPr>
          <p:cNvPr id="120" name="Google Shape;120;p16"/>
          <p:cNvSpPr txBox="1">
            <a:spLocks noGrp="1"/>
          </p:cNvSpPr>
          <p:nvPr>
            <p:ph idx="1" type="body"/>
          </p:nvPr>
        </p:nvSpPr>
        <p:spPr>
          <a:xfrm>
            <a:off x="365738" y="4151376"/>
            <a:ext cx="2059500" cy="3018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PROMOTION</a:t>
            </a:r>
            <a:endParaRPr b="1" sz="1150">
              <a:solidFill>
                <a:srgbClr val="000000"/>
              </a:solidFill>
              <a:latin typeface="Verdana"/>
              <a:ea typeface="Verdana"/>
              <a:cs typeface="Verdana"/>
              <a:sym typeface="Verdana"/>
            </a:endParaRPr>
          </a:p>
        </p:txBody>
      </p:sp>
      <p:sp>
        <p:nvSpPr>
          <p:cNvPr id="121" name="Google Shape;121;p16"/>
          <p:cNvSpPr txBox="1">
            <a:spLocks noGrp="1"/>
          </p:cNvSpPr>
          <p:nvPr>
            <p:ph idx="1" type="body"/>
          </p:nvPr>
        </p:nvSpPr>
        <p:spPr>
          <a:xfrm>
            <a:off x="4871463" y="4151376"/>
            <a:ext cx="2059500" cy="3018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BRAND</a:t>
            </a:r>
            <a:endParaRPr b="1" sz="1150">
              <a:solidFill>
                <a:srgbClr val="000000"/>
              </a:solidFill>
              <a:latin typeface="Verdana"/>
              <a:ea typeface="Verdana"/>
              <a:cs typeface="Verdana"/>
              <a:sym typeface="Verdana"/>
            </a:endParaRPr>
          </a:p>
        </p:txBody>
      </p:sp>
      <p:sp>
        <p:nvSpPr>
          <p:cNvPr id="122" name="Google Shape;122;p16"/>
          <p:cNvSpPr txBox="1">
            <a:spLocks noGrp="1"/>
          </p:cNvSpPr>
          <p:nvPr>
            <p:ph idx="1" type="body"/>
          </p:nvPr>
        </p:nvSpPr>
        <p:spPr>
          <a:xfrm>
            <a:off x="365760" y="5724144"/>
            <a:ext cx="8227200" cy="4299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a:solidFill>
                  <a:srgbClr val="000000"/>
                </a:solidFill>
              </a:rPr>
              <a:t>5. What are your most distinctive selling advantages?</a:t>
            </a:r>
            <a:endParaRPr b="1" sz="1150">
              <a:solidFill>
                <a:srgbClr val="000000"/>
              </a:solidFill>
              <a:latin typeface="Verdana"/>
              <a:ea typeface="Verdana"/>
              <a:cs typeface="Verdana"/>
              <a:sym typeface="Verdana"/>
            </a:endParaRPr>
          </a:p>
        </p:txBody>
      </p:sp>
      <p:sp>
        <p:nvSpPr>
          <p:cNvPr id="123" name="Google Shape;123;p16"/>
          <p:cNvSpPr txBox="1"/>
          <p:nvPr/>
        </p:nvSpPr>
        <p:spPr>
          <a:xfrm>
            <a:off x="594360" y="5971032"/>
            <a:ext cx="8148900" cy="6993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sellingAdvantages}}</a:t>
            </a:r>
            <a:endParaRPr sz="1100">
              <a:latin typeface="Verdana"/>
              <a:ea typeface="Verdana"/>
              <a:cs typeface="Verdana"/>
              <a:sym typeface="Verdana"/>
            </a:endParaRPr>
          </a:p>
        </p:txBody>
      </p:sp>
      <p:graphicFrame>
        <p:nvGraphicFramePr>
          <p:cNvPr id="124" name="Google Shape;124;p16"/>
          <p:cNvGraphicFramePr/>
          <p:nvPr/>
        </p:nvGraphicFramePr>
        <p:xfrm>
          <a:off x="594360"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Introduce New Department/Products/Services</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0"/>
                  </a:ext>
                </a:extLst>
              </a:tr>
              <a:tr h="257850">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Feature Specific Products/Services</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1"/>
                  </a:ext>
                </a:extLst>
              </a:tr>
              <a:tr h="257850">
                <a:tc>
                  <a:txBody>
                    <a:bodyPr/>
                    <a:lstStyle/>
                    <a:p>
                      <a:pPr algn="l" indent="0" lvl="0" marL="0" rtl="0">
                        <a:lnSpc>
                          <a:spcPct val="115000"/>
                        </a:lnSpc>
                        <a:spcBef>
                          <a:spcPts val="0"/>
                        </a:spcBef>
                        <a:spcAft>
                          <a:spcPts val="0"/>
                        </a:spcAft>
                        <a:buNone/>
                      </a:pPr>
                      <a:r>
                        <a:rPr lang="en" sz="1000">
                          <a:latin typeface="Verdana"/>
                          <a:ea typeface="Verdana"/>
                          <a:cs typeface="Verdana"/>
                          <a:sym typeface="Verdana"/>
                        </a:rPr>
                        <a:t>Call Attention to Brands/Private Labels Carried</a:t>
                      </a:r>
                      <a:endParaRPr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2"/>
                  </a:ext>
                </a:extLst>
              </a:tr>
              <a:tr h="257850">
                <a:tc>
                  <a:txBody>
                    <a:bodyPr/>
                    <a:lstStyle/>
                    <a:p>
                      <a:pPr algn="l" indent="0" lvl="0" marL="0" rtl="0">
                        <a:lnSpc>
                          <a:spcPct val="115000"/>
                        </a:lnSpc>
                        <a:spcBef>
                          <a:spcPts val="0"/>
                        </a:spcBef>
                        <a:spcAft>
                          <a:spcPts val="0"/>
                        </a:spcAft>
                        <a:buNone/>
                      </a:pPr>
                      <a:r>
                        <a:rPr lang="en" sz="1000">
                          <a:latin typeface="Verdana"/>
                          <a:ea typeface="Verdana"/>
                          <a:cs typeface="Verdana"/>
                          <a:sym typeface="Verdana"/>
                        </a:rPr>
                        <a:t>Promote Off-price Items/Services</a:t>
                      </a:r>
                      <a:endParaRPr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3"/>
                  </a:ext>
                </a:extLst>
              </a:tr>
              <a:tr h="257850">
                <a:tc>
                  <a:txBody>
                    <a:bodyPr/>
                    <a:lstStyle/>
                    <a:p>
                      <a:pPr algn="l" indent="0" lvl="0" marL="0" rtl="0">
                        <a:lnSpc>
                          <a:spcPct val="115000"/>
                        </a:lnSpc>
                        <a:spcBef>
                          <a:spcPts val="0"/>
                        </a:spcBef>
                        <a:spcAft>
                          <a:spcPts val="0"/>
                        </a:spcAft>
                        <a:buNone/>
                      </a:pPr>
                      <a:r>
                        <a:rPr lang="en" sz="1000">
                          <a:latin typeface="Verdana"/>
                          <a:ea typeface="Verdana"/>
                          <a:cs typeface="Verdana"/>
                          <a:sym typeface="Verdana"/>
                        </a:rPr>
                        <a:t>Utilize Co-op/Vendor Dollars</a:t>
                      </a:r>
                      <a:endParaRPr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4"/>
                  </a:ext>
                </a:extLst>
              </a:tr>
            </a:tbl>
          </a:graphicData>
        </a:graphic>
      </p:graphicFrame>
      <p:graphicFrame>
        <p:nvGraphicFramePr>
          <p:cNvPr id="125" name="Google Shape;125;p16"/>
          <p:cNvGraphicFramePr/>
          <p:nvPr/>
        </p:nvGraphicFramePr>
        <p:xfrm>
          <a:off x="5084064"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Maintain Market Dominance</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0"/>
                  </a:ext>
                </a:extLst>
              </a:tr>
              <a:tr h="257850">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Elevate Business Brand/Image</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1"/>
                  </a:ext>
                </a:extLst>
              </a:tr>
              <a:tr h="257850">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Improve Reputation and Listing Management</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2"/>
                  </a:ext>
                </a:extLst>
              </a:tr>
              <a:tr h="257850">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Enhance Website (Mobile, Response, SEO, SEM)</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3"/>
                  </a:ext>
                </a:extLst>
              </a:tr>
              <a:tr h="257850">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Increase Market Share</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4"/>
                  </a:ext>
                </a:extLst>
              </a:tr>
            </a:tbl>
          </a:graphicData>
        </a:graphic>
      </p:graphicFrame>
      <p:graphicFrame>
        <p:nvGraphicFramePr>
          <p:cNvPr id="126" name="Google Shape;126;p16"/>
          <p:cNvGraphicFramePr/>
          <p:nvPr/>
        </p:nvGraphicFramePr>
        <p:xfrm>
          <a:off x="594360" y="445312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14875">
                <a:tc>
                  <a:txBody>
                    <a:bodyPr/>
                    <a:lstStyle/>
                    <a:p>
                      <a:pPr algn="l" indent="0" lvl="0" marL="0" rtl="0">
                        <a:lnSpc>
                          <a:spcPct val="115000"/>
                        </a:lnSpc>
                        <a:spcBef>
                          <a:spcPts val="0"/>
                        </a:spcBef>
                        <a:spcAft>
                          <a:spcPts val="0"/>
                        </a:spcAft>
                        <a:buNone/>
                      </a:pPr>
                      <a:r>
                        <a:rPr b="1" lang="en" sz="1000">
                          <a:solidFill>
                            <a:srgbClr val="222222"/>
                          </a:solidFill>
                          <a:latin typeface="Verdana"/>
                          <a:ea typeface="Verdana"/>
                          <a:cs typeface="Verdana"/>
                          <a:sym typeface="Verdana"/>
                        </a:rPr>
                        <a:t>Make Promotional Events Stronger</a:t>
                      </a:r>
                      <a:endParaRPr b="1" sz="1000">
                        <a:solidFill>
                          <a:srgbClr val="222222"/>
                        </a:solidFill>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0"/>
                  </a:ext>
                </a:extLst>
              </a:tr>
              <a:tr h="214875">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Develop Digital/Mobile/Social Strategies</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1"/>
                  </a:ext>
                </a:extLst>
              </a:tr>
              <a:tr h="214875">
                <a:tc>
                  <a:txBody>
                    <a:bodyPr/>
                    <a:lstStyle/>
                    <a:p>
                      <a:pPr algn="l" indent="0" lvl="0" marL="0" rtl="0">
                        <a:lnSpc>
                          <a:spcPct val="115000"/>
                        </a:lnSpc>
                        <a:spcBef>
                          <a:spcPts val="0"/>
                        </a:spcBef>
                        <a:spcAft>
                          <a:spcPts val="0"/>
                        </a:spcAft>
                        <a:buNone/>
                      </a:pPr>
                      <a:r>
                        <a:rPr lang="en" sz="1000">
                          <a:latin typeface="Verdana"/>
                          <a:ea typeface="Verdana"/>
                          <a:cs typeface="Verdana"/>
                          <a:sym typeface="Verdana"/>
                        </a:rPr>
                        <a:t>Establish a quarterly spike/seasonal campaign</a:t>
                      </a:r>
                      <a:endParaRPr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2"/>
                  </a:ext>
                </a:extLst>
              </a:tr>
              <a:tr h="214875">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Develop Database Marketing (Email and Text)</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3"/>
                  </a:ext>
                </a:extLst>
              </a:tr>
              <a:tr h="214875">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Initiate Cause Marketing Programs</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4"/>
                  </a:ext>
                </a:extLst>
              </a:tr>
              <a:tr h="214875">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Develop Specially Staged Events</a:t>
                      </a:r>
                      <a:endParaRPr b="1" sz="1000">
                        <a:latin typeface="Verdana"/>
                        <a:ea typeface="Verdana"/>
                        <a:cs typeface="Verdana"/>
                        <a:sym typeface="Verdana"/>
                      </a:endParaRPr>
                    </a:p>
                  </a:txBody>
                  <a:tcPr anchor="b" marB="19050" marL="28575" marR="28575" marT="19050">
                    <a:solidFill>
                      <a:srgbClr val="FFFFFF"/>
                    </a:solidFill>
                  </a:tcPr>
                </a:tc>
                <a:extLst>
                  <a:ext uri="{0D108BD9-81ED-4DB2-BD59-A6C34878D82A}">
                    <a16:rowId xmlns:a16="http://schemas.microsoft.com/office/drawing/2014/main" val="10005"/>
                  </a:ext>
                </a:extLst>
              </a:tr>
            </a:tbl>
          </a:graphicData>
        </a:graphic>
      </p:graphicFrame>
      <p:graphicFrame>
        <p:nvGraphicFramePr>
          <p:cNvPr id="127" name="Google Shape;127;p16"/>
          <p:cNvGraphicFramePr/>
          <p:nvPr/>
        </p:nvGraphicFramePr>
        <p:xfrm>
          <a:off x="5084064" y="445312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14875">
                <a:tc>
                  <a:txBody>
                    <a:bodyPr/>
                    <a:lstStyle/>
                    <a:p>
                      <a:pPr algn="l" indent="0" lvl="0" marL="0" rtl="0">
                        <a:lnSpc>
                          <a:spcPct val="115000"/>
                        </a:lnSpc>
                        <a:spcBef>
                          <a:spcPts val="0"/>
                        </a:spcBef>
                        <a:spcAft>
                          <a:spcPts val="0"/>
                        </a:spcAft>
                        <a:buNone/>
                      </a:pPr>
                      <a:r>
                        <a:rPr b="1" lang="en" sz="1000">
                          <a:solidFill>
                            <a:srgbClr val="222222"/>
                          </a:solidFill>
                          <a:latin typeface="Verdana"/>
                          <a:ea typeface="Verdana"/>
                          <a:cs typeface="Verdana"/>
                          <a:sym typeface="Verdana"/>
                        </a:rPr>
                        <a:t>Maintain Market Dominance</a:t>
                      </a:r>
                      <a:endParaRPr b="1" sz="1000">
                        <a:solidFill>
                          <a:srgbClr val="222222"/>
                        </a:solidFill>
                        <a:latin typeface="Verdana"/>
                        <a:ea typeface="Verdana"/>
                        <a:cs typeface="Verdana"/>
                        <a:sym typeface="Verdana"/>
                      </a:endParaRPr>
                    </a:p>
                  </a:txBody>
                  <a:tcPr anchor="b" marB="19050" marL="28575" marR="28575" marT="19050"/>
                </a:tc>
                <a:extLst>
                  <a:ext uri="{0D108BD9-81ED-4DB2-BD59-A6C34878D82A}">
                    <a16:rowId xmlns:a16="http://schemas.microsoft.com/office/drawing/2014/main" val="10000"/>
                  </a:ext>
                </a:extLst>
              </a:tr>
              <a:tr h="214875">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Elevate Business Brand/Image</a:t>
                      </a:r>
                      <a:endParaRPr b="1" sz="1000">
                        <a:latin typeface="Verdana"/>
                        <a:ea typeface="Verdana"/>
                        <a:cs typeface="Verdana"/>
                        <a:sym typeface="Verdana"/>
                      </a:endParaRPr>
                    </a:p>
                  </a:txBody>
                  <a:tcPr anchor="b" marB="19050" marL="28575" marR="28575" marT="19050"/>
                </a:tc>
                <a:extLst>
                  <a:ext uri="{0D108BD9-81ED-4DB2-BD59-A6C34878D82A}">
                    <a16:rowId xmlns:a16="http://schemas.microsoft.com/office/drawing/2014/main" val="10001"/>
                  </a:ext>
                </a:extLst>
              </a:tr>
              <a:tr h="214875">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Improve Reputation and Listing Management</a:t>
                      </a:r>
                      <a:endParaRPr b="1" sz="1000">
                        <a:latin typeface="Verdana"/>
                        <a:ea typeface="Verdana"/>
                        <a:cs typeface="Verdana"/>
                        <a:sym typeface="Verdana"/>
                      </a:endParaRPr>
                    </a:p>
                  </a:txBody>
                  <a:tcPr anchor="b" marB="19050" marL="28575" marR="28575" marT="19050"/>
                </a:tc>
                <a:extLst>
                  <a:ext uri="{0D108BD9-81ED-4DB2-BD59-A6C34878D82A}">
                    <a16:rowId xmlns:a16="http://schemas.microsoft.com/office/drawing/2014/main" val="10002"/>
                  </a:ext>
                </a:extLst>
              </a:tr>
              <a:tr h="214875">
                <a:tc>
                  <a:txBody>
                    <a:bodyPr/>
                    <a:lstStyle/>
                    <a:p>
                      <a:pPr algn="l" indent="0" lvl="0" marL="0" rtl="0">
                        <a:lnSpc>
                          <a:spcPct val="115000"/>
                        </a:lnSpc>
                        <a:spcBef>
                          <a:spcPts val="0"/>
                        </a:spcBef>
                        <a:spcAft>
                          <a:spcPts val="0"/>
                        </a:spcAft>
                        <a:buNone/>
                      </a:pPr>
                      <a:r>
                        <a:rPr lang="en" sz="1000">
                          <a:latin typeface="Verdana"/>
                          <a:ea typeface="Verdana"/>
                          <a:cs typeface="Verdana"/>
                          <a:sym typeface="Verdana"/>
                        </a:rPr>
                        <a:t>Enhance Website (Mobile, Response, SEO, SEM)</a:t>
                      </a:r>
                      <a:endParaRPr sz="1000">
                        <a:latin typeface="Verdana"/>
                        <a:ea typeface="Verdana"/>
                        <a:cs typeface="Verdana"/>
                        <a:sym typeface="Verdana"/>
                      </a:endParaRPr>
                    </a:p>
                  </a:txBody>
                  <a:tcPr anchor="b" marB="19050" marL="28575" marR="28575" marT="19050"/>
                </a:tc>
                <a:extLst>
                  <a:ext uri="{0D108BD9-81ED-4DB2-BD59-A6C34878D82A}">
                    <a16:rowId xmlns:a16="http://schemas.microsoft.com/office/drawing/2014/main" val="10003"/>
                  </a:ext>
                </a:extLst>
              </a:tr>
              <a:tr h="214875">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Increase Market Share</a:t>
                      </a:r>
                      <a:endParaRPr b="1" sz="1000">
                        <a:latin typeface="Verdana"/>
                        <a:ea typeface="Verdana"/>
                        <a:cs typeface="Verdana"/>
                        <a:sym typeface="Verdana"/>
                      </a:endParaRPr>
                    </a:p>
                  </a:txBody>
                  <a:tcPr anchor="b" marB="19050" marL="28575" marR="28575" marT="19050"/>
                </a:tc>
                <a:extLst>
                  <a:ext uri="{0D108BD9-81ED-4DB2-BD59-A6C34878D82A}">
                    <a16:rowId xmlns:a16="http://schemas.microsoft.com/office/drawing/2014/main" val="10004"/>
                  </a:ext>
                </a:extLst>
              </a:tr>
              <a:tr h="214875">
                <a:tc>
                  <a:txBody>
                    <a:bodyPr/>
                    <a:lstStyle/>
                    <a:p>
                      <a:pPr algn="l" indent="0" lvl="0" marL="0" rtl="0">
                        <a:lnSpc>
                          <a:spcPct val="115000"/>
                        </a:lnSpc>
                        <a:spcBef>
                          <a:spcPts val="0"/>
                        </a:spcBef>
                        <a:spcAft>
                          <a:spcPts val="0"/>
                        </a:spcAft>
                        <a:buNone/>
                      </a:pPr>
                      <a:r>
                        <a:rPr b="1" lang="en" sz="1000">
                          <a:latin typeface="Verdana"/>
                          <a:ea typeface="Verdana"/>
                          <a:cs typeface="Verdana"/>
                          <a:sym typeface="Verdana"/>
                        </a:rPr>
                        <a:t>Tech Recruitment</a:t>
                      </a:r>
                      <a:endParaRPr b="1" sz="1000">
                        <a:latin typeface="Verdana"/>
                        <a:ea typeface="Verdana"/>
                        <a:cs typeface="Verdana"/>
                        <a:sym typeface="Verdana"/>
                      </a:endParaRPr>
                    </a:p>
                  </a:txBody>
                  <a:tcPr anchor="b" marB="19050" marL="28575" marR="28575" marT="19050"/>
                </a:tc>
                <a:extLst>
                  <a:ext uri="{0D108BD9-81ED-4DB2-BD59-A6C34878D82A}">
                    <a16:rowId xmlns:a16="http://schemas.microsoft.com/office/drawing/2014/main" val="10005"/>
                  </a:ext>
                </a:extLst>
              </a:tr>
            </a:tbl>
          </a:graphicData>
        </a:graphic>
      </p:graphicFrame>
      <p:graphicFrame>
        <p:nvGraphicFramePr>
          <p:cNvPr id="128" name="Google Shape;128;p16"/>
          <p:cNvGraphicFramePr/>
          <p:nvPr/>
        </p:nvGraphicFramePr>
        <p:xfrm>
          <a:off x="594350" y="1573425"/>
          <a:ext cx="4124325" cy="634938"/>
        </p:xfrm>
        <a:graphic>
          <a:graphicData uri="http://schemas.openxmlformats.org/drawingml/2006/table">
            <a:tbl>
              <a:tblPr>
                <a:noFill/>
                <a:tableStyleId>{CFB75FC7-DD7D-40D8-B2B2-EE4B611A8D2E}</a:tableStyleId>
              </a:tblPr>
              <a:tblGrid>
                <a:gridCol w="4124325">
                  <a:extLst>
                    <a:ext uri="{9D8B030D-6E8A-4147-A177-3AD203B41FA5}">
                      <a16:colId xmlns:a16="http://schemas.microsoft.com/office/drawing/2014/main" val="20000"/>
                    </a:ext>
                  </a:extLst>
                </a:gridCol>
              </a:tblGrid>
              <a:tr h="209550">
                <a:tc>
                  <a:txBody>
                    <a:bodyPr/>
                    <a:lstStyle/>
                    <a:p>
                      <a:pPr algn="l" indent="0" lvl="0" marL="0" rtl="0">
                        <a:lnSpc>
                          <a:spcPct val="115000"/>
                        </a:lnSpc>
                        <a:spcBef>
                          <a:spcPts val="0"/>
                        </a:spcBef>
                        <a:spcAft>
                          <a:spcPts val="0"/>
                        </a:spcAft>
                        <a:buNone/>
                      </a:pPr>
                      <a:r>
                        <a:rPr lang="en" sz="1100">
                          <a:latin typeface="Verdana"/>
                          <a:ea typeface="Verdana"/>
                          <a:cs typeface="Verdana"/>
                          <a:sym typeface="Verdana"/>
                        </a:rPr>
                        <a:t>1. Initiate Cause Marketing Programs</a:t>
                      </a:r>
                      <a:endParaRPr sz="11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0"/>
                  </a:ext>
                </a:extLst>
              </a:tr>
              <a:tr h="209550">
                <a:tc>
                  <a:txBody>
                    <a:bodyPr/>
                    <a:lstStyle/>
                    <a:p>
                      <a:pPr algn="l" indent="0" lvl="0" marL="0" rtl="0">
                        <a:lnSpc>
                          <a:spcPct val="115000"/>
                        </a:lnSpc>
                        <a:spcBef>
                          <a:spcPts val="0"/>
                        </a:spcBef>
                        <a:spcAft>
                          <a:spcPts val="0"/>
                        </a:spcAft>
                        <a:buNone/>
                      </a:pPr>
                      <a:r>
                        <a:rPr lang="en" sz="1100">
                          <a:latin typeface="Verdana"/>
                          <a:ea typeface="Verdana"/>
                          <a:cs typeface="Verdana"/>
                          <a:sym typeface="Verdana"/>
                        </a:rPr>
                        <a:t>2. Tech Recruitment</a:t>
                      </a:r>
                      <a:endParaRPr sz="11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1"/>
                  </a:ext>
                </a:extLst>
              </a:tr>
              <a:tr h="209550">
                <a:tc>
                  <a:txBody>
                    <a:bodyPr/>
                    <a:lstStyle/>
                    <a:p>
                      <a:pPr algn="l" indent="0" lvl="0" marL="0" rtl="0">
                        <a:lnSpc>
                          <a:spcPct val="115000"/>
                        </a:lnSpc>
                        <a:spcBef>
                          <a:spcPts val="0"/>
                        </a:spcBef>
                        <a:spcAft>
                          <a:spcPts val="0"/>
                        </a:spcAft>
                        <a:buNone/>
                      </a:pPr>
                      <a:r>
                        <a:rPr lang="en" sz="1100">
                          <a:latin typeface="Verdana"/>
                          <a:ea typeface="Verdana"/>
                          <a:cs typeface="Verdana"/>
                          <a:sym typeface="Verdana"/>
                        </a:rPr>
                        <a:t>3. Expand Target Consumers (by age, sex, geography)</a:t>
                      </a:r>
                      <a:endParaRPr sz="11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Shape 132"/>
        <p:cNvGrpSpPr/>
        <p:nvPr/>
      </p:nvGrpSpPr>
      <p:grpSpPr>
        <a:xfrm>
          <a:off x="0" y="0"/>
          <a:ext cx="0" cy="0"/>
          <a:chOff x="0" y="0"/>
          <a:chExt cx="0" cy="0"/>
        </a:xfrm>
      </p:grpSpPr>
      <p:sp>
        <p:nvSpPr>
          <p:cNvPr id="133" name="Google Shape;133;p17"/>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Strategic Marketing II</a:t>
            </a:r>
            <a:endParaRPr/>
          </a:p>
        </p:txBody>
      </p:sp>
      <p:sp>
        <p:nvSpPr>
          <p:cNvPr id="134" name="Google Shape;134;p17"/>
          <p:cNvSpPr txBox="1"/>
          <p:nvPr/>
        </p:nvSpPr>
        <p:spPr>
          <a:xfrm>
            <a:off x="364750" y="1172575"/>
            <a:ext cx="88587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6. What image do you want your company's name to project to customers and potential consumers?</a:t>
            </a:r>
            <a:endParaRPr b="1" sz="1150">
              <a:latin typeface="Verdana"/>
              <a:ea typeface="Verdana"/>
              <a:cs typeface="Verdana"/>
              <a:sym typeface="Verdana"/>
            </a:endParaRPr>
          </a:p>
        </p:txBody>
      </p:sp>
      <p:sp>
        <p:nvSpPr>
          <p:cNvPr id="135" name="Google Shape;135;p17"/>
          <p:cNvSpPr txBox="1"/>
          <p:nvPr/>
        </p:nvSpPr>
        <p:spPr>
          <a:xfrm>
            <a:off x="577750" y="1462550"/>
            <a:ext cx="8148900" cy="6993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companyNameProjectImage}}</a:t>
            </a:r>
            <a:endParaRPr sz="1150">
              <a:latin typeface="Verdana"/>
              <a:ea typeface="Verdana"/>
              <a:cs typeface="Verdana"/>
              <a:sym typeface="Verdana"/>
            </a:endParaRPr>
          </a:p>
        </p:txBody>
      </p:sp>
      <p:sp>
        <p:nvSpPr>
          <p:cNvPr id="136" name="Google Shape;136;p17"/>
          <p:cNvSpPr txBox="1"/>
          <p:nvPr/>
        </p:nvSpPr>
        <p:spPr>
          <a:xfrm>
            <a:off x="577750" y="2185416"/>
            <a:ext cx="2544300" cy="2583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latin typeface="Verdana"/>
                <a:ea typeface="Verdana"/>
                <a:cs typeface="Verdana"/>
                <a:sym typeface="Verdana"/>
              </a:rPr>
              <a:t>Current Company Slogan</a:t>
            </a:r>
            <a:endParaRPr b="1" sz="1150">
              <a:latin typeface="Verdana"/>
              <a:ea typeface="Verdana"/>
              <a:cs typeface="Verdana"/>
              <a:sym typeface="Verdana"/>
            </a:endParaRPr>
          </a:p>
        </p:txBody>
      </p:sp>
      <p:sp>
        <p:nvSpPr>
          <p:cNvPr id="137" name="Google Shape;137;p17"/>
          <p:cNvSpPr txBox="1"/>
          <p:nvPr/>
        </p:nvSpPr>
        <p:spPr>
          <a:xfrm>
            <a:off x="2990088" y="2185416"/>
            <a:ext cx="4812900" cy="2583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currentCompanySlogan}}</a:t>
            </a:r>
            <a:endParaRPr sz="1150">
              <a:latin typeface="Verdana"/>
              <a:ea typeface="Verdana"/>
              <a:cs typeface="Verdana"/>
              <a:sym typeface="Verdana"/>
            </a:endParaRPr>
          </a:p>
        </p:txBody>
      </p:sp>
      <p:sp>
        <p:nvSpPr>
          <p:cNvPr id="138" name="Google Shape;138;p17"/>
          <p:cNvSpPr txBox="1"/>
          <p:nvPr/>
        </p:nvSpPr>
        <p:spPr>
          <a:xfrm>
            <a:off x="577750" y="2496312"/>
            <a:ext cx="4530900" cy="2583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latin typeface="Verdana"/>
                <a:ea typeface="Verdana"/>
                <a:cs typeface="Verdana"/>
                <a:sym typeface="Verdana"/>
              </a:rPr>
              <a:t>Does your current slogan project the same image?</a:t>
            </a:r>
            <a:endParaRPr b="1" sz="1150">
              <a:latin typeface="Verdana"/>
              <a:ea typeface="Verdana"/>
              <a:cs typeface="Verdana"/>
              <a:sym typeface="Verdana"/>
            </a:endParaRPr>
          </a:p>
        </p:txBody>
      </p:sp>
      <p:sp>
        <p:nvSpPr>
          <p:cNvPr id="139" name="Google Shape;139;p17"/>
          <p:cNvSpPr txBox="1"/>
          <p:nvPr/>
        </p:nvSpPr>
        <p:spPr>
          <a:xfrm>
            <a:off x="4959550" y="2496312"/>
            <a:ext cx="1575300" cy="2559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planToExpand}} </a:t>
            </a:r>
            <a:endParaRPr/>
          </a:p>
        </p:txBody>
      </p:sp>
      <p:sp>
        <p:nvSpPr>
          <p:cNvPr id="140" name="Google Shape;140;p17"/>
          <p:cNvSpPr txBox="1"/>
          <p:nvPr/>
        </p:nvSpPr>
        <p:spPr>
          <a:xfrm>
            <a:off x="694944" y="3867912"/>
            <a:ext cx="8229600" cy="7314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compliments}}</a:t>
            </a:r>
            <a:endParaRPr sz="1150">
              <a:latin typeface="Verdana"/>
              <a:ea typeface="Verdana"/>
              <a:cs typeface="Verdana"/>
              <a:sym typeface="Verdana"/>
            </a:endParaRPr>
          </a:p>
        </p:txBody>
      </p:sp>
      <p:sp>
        <p:nvSpPr>
          <p:cNvPr id="141" name="Google Shape;141;p17"/>
          <p:cNvSpPr txBox="1"/>
          <p:nvPr/>
        </p:nvSpPr>
        <p:spPr>
          <a:xfrm>
            <a:off x="402325" y="5349250"/>
            <a:ext cx="3538800" cy="5907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9. What are your digital marketing strategies? What are your goals and measures of success?</a:t>
            </a:r>
            <a:endParaRPr b="1" sz="1150">
              <a:latin typeface="Verdana"/>
              <a:ea typeface="Verdana"/>
              <a:cs typeface="Verdana"/>
              <a:sym typeface="Verdana"/>
            </a:endParaRPr>
          </a:p>
        </p:txBody>
      </p:sp>
      <p:sp>
        <p:nvSpPr>
          <p:cNvPr id="142" name="Google Shape;142;p17"/>
          <p:cNvSpPr txBox="1"/>
          <p:nvPr/>
        </p:nvSpPr>
        <p:spPr>
          <a:xfrm>
            <a:off x="4736600" y="5349247"/>
            <a:ext cx="4200000" cy="5907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10. Do you have social media strategy (i.e. Facebook, Instagram, etc.)? If so, what are your goals and measures of success?</a:t>
            </a:r>
            <a:endParaRPr b="1" sz="1150">
              <a:latin typeface="Verdana"/>
              <a:ea typeface="Verdana"/>
              <a:cs typeface="Verdana"/>
              <a:sym typeface="Verdana"/>
            </a:endParaRPr>
          </a:p>
        </p:txBody>
      </p:sp>
      <p:sp>
        <p:nvSpPr>
          <p:cNvPr id="143" name="Google Shape;143;p17"/>
          <p:cNvSpPr txBox="1"/>
          <p:nvPr/>
        </p:nvSpPr>
        <p:spPr>
          <a:xfrm>
            <a:off x="402336" y="6071616"/>
            <a:ext cx="3731400" cy="8172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marketingStrategy}}</a:t>
            </a:r>
            <a:endParaRPr sz="1150">
              <a:latin typeface="Verdana"/>
              <a:ea typeface="Verdana"/>
              <a:cs typeface="Verdana"/>
              <a:sym typeface="Verdana"/>
            </a:endParaRPr>
          </a:p>
        </p:txBody>
      </p:sp>
      <p:sp>
        <p:nvSpPr>
          <p:cNvPr id="144" name="Google Shape;144;p17"/>
          <p:cNvSpPr txBox="1"/>
          <p:nvPr/>
        </p:nvSpPr>
        <p:spPr>
          <a:xfrm>
            <a:off x="4736592" y="6071616"/>
            <a:ext cx="3731400" cy="8172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socialStrategy}}</a:t>
            </a:r>
            <a:endParaRPr sz="1150">
              <a:latin typeface="Verdana"/>
              <a:ea typeface="Verdana"/>
              <a:cs typeface="Verdana"/>
              <a:sym typeface="Verdana"/>
            </a:endParaRPr>
          </a:p>
        </p:txBody>
      </p:sp>
      <p:graphicFrame>
        <p:nvGraphicFramePr>
          <p:cNvPr id="145" name="Google Shape;145;p17"/>
          <p:cNvGraphicFramePr/>
          <p:nvPr/>
        </p:nvGraphicFramePr>
        <p:xfrm>
          <a:off x="365760" y="2813075"/>
          <a:ext cx="8384000" cy="844515"/>
        </p:xfrm>
        <a:graphic>
          <a:graphicData uri="http://schemas.openxmlformats.org/drawingml/2006/table">
            <a:tbl>
              <a:tblPr>
                <a:noFill/>
                <a:tableStyleId>{779AAC5F-F97D-4193-AF94-6FAFF6667CF6}</a:tableStyleId>
              </a:tblPr>
              <a:tblGrid>
                <a:gridCol w="1240025">
                  <a:extLst>
                    <a:ext uri="{9D8B030D-6E8A-4147-A177-3AD203B41FA5}">
                      <a16:colId xmlns:a16="http://schemas.microsoft.com/office/drawing/2014/main" val="20000"/>
                    </a:ext>
                  </a:extLst>
                </a:gridCol>
                <a:gridCol w="2635125">
                  <a:extLst>
                    <a:ext uri="{9D8B030D-6E8A-4147-A177-3AD203B41FA5}">
                      <a16:colId xmlns:a16="http://schemas.microsoft.com/office/drawing/2014/main" val="20001"/>
                    </a:ext>
                  </a:extLst>
                </a:gridCol>
                <a:gridCol w="2605250">
                  <a:extLst>
                    <a:ext uri="{9D8B030D-6E8A-4147-A177-3AD203B41FA5}">
                      <a16:colId xmlns:a16="http://schemas.microsoft.com/office/drawing/2014/main" val="20002"/>
                    </a:ext>
                  </a:extLst>
                </a:gridCol>
                <a:gridCol w="1903600">
                  <a:extLst>
                    <a:ext uri="{9D8B030D-6E8A-4147-A177-3AD203B41FA5}">
                      <a16:colId xmlns:a16="http://schemas.microsoft.com/office/drawing/2014/main" val="20003"/>
                    </a:ext>
                  </a:extLst>
                </a:gridCol>
              </a:tblGrid>
              <a:tr h="322500">
                <a:tc rowSpan="2">
                  <a:txBody>
                    <a:bodyPr/>
                    <a:lstStyle/>
                    <a:p>
                      <a:pPr algn="ctr" indent="0" lvl="0" marL="0" rtl="0">
                        <a:spcBef>
                          <a:spcPts val="0"/>
                        </a:spcBef>
                        <a:spcAft>
                          <a:spcPts val="0"/>
                        </a:spcAft>
                        <a:buNone/>
                      </a:pPr>
                      <a:r>
                        <a:rPr b="1" lang="en" sz="1100">
                          <a:latin typeface="Verdana"/>
                          <a:ea typeface="Verdana"/>
                          <a:cs typeface="Verdana"/>
                          <a:sym typeface="Verdana"/>
                        </a:rPr>
                        <a:t>7. What are your:</a:t>
                      </a:r>
                      <a:endParaRPr b="1" sz="1100">
                        <a:latin typeface="Verdana"/>
                        <a:ea typeface="Verdana"/>
                        <a:cs typeface="Verdana"/>
                        <a:sym typeface="Verdana"/>
                      </a:endParaRPr>
                    </a:p>
                  </a:txBody>
                  <a:tcPr anchor="ctr" marB="91425" marL="91425" marR="91425" marT="91425"/>
                </a:tc>
                <a:tc>
                  <a:txBody>
                    <a:bodyPr/>
                    <a:lstStyle/>
                    <a:p>
                      <a:pPr algn="ctr" indent="0" lvl="0" marL="0" rtl="0">
                        <a:spcBef>
                          <a:spcPts val="0"/>
                        </a:spcBef>
                        <a:spcAft>
                          <a:spcPts val="0"/>
                        </a:spcAft>
                        <a:buNone/>
                      </a:pPr>
                      <a:r>
                        <a:rPr b="1" lang="en" sz="1100">
                          <a:latin typeface="Verdana"/>
                          <a:ea typeface="Verdana"/>
                          <a:cs typeface="Verdana"/>
                          <a:sym typeface="Verdana"/>
                        </a:rPr>
                        <a:t>Poorest performing months</a:t>
                      </a:r>
                      <a:endParaRPr b="1" sz="1100">
                        <a:latin typeface="Verdana"/>
                        <a:ea typeface="Verdana"/>
                        <a:cs typeface="Verdana"/>
                        <a:sym typeface="Verdana"/>
                      </a:endParaRPr>
                    </a:p>
                  </a:txBody>
                  <a:tcPr anchor="ctr" marB="91425" marL="91425" marR="91425" marT="91425"/>
                </a:tc>
                <a:tc>
                  <a:txBody>
                    <a:bodyPr/>
                    <a:lstStyle/>
                    <a:p>
                      <a:pPr algn="ctr" indent="0" lvl="0" marL="0" rtl="0">
                        <a:spcBef>
                          <a:spcPts val="0"/>
                        </a:spcBef>
                        <a:spcAft>
                          <a:spcPts val="0"/>
                        </a:spcAft>
                        <a:buNone/>
                      </a:pPr>
                      <a:r>
                        <a:rPr b="1" lang="en" sz="1100">
                          <a:latin typeface="Verdana"/>
                          <a:ea typeface="Verdana"/>
                          <a:cs typeface="Verdana"/>
                          <a:sym typeface="Verdana"/>
                        </a:rPr>
                        <a:t>Best performing months</a:t>
                      </a:r>
                      <a:endParaRPr b="1" sz="1100">
                        <a:latin typeface="Verdana"/>
                        <a:ea typeface="Verdana"/>
                        <a:cs typeface="Verdana"/>
                        <a:sym typeface="Verdana"/>
                      </a:endParaRPr>
                    </a:p>
                  </a:txBody>
                  <a:tcPr anchor="ctr" marB="91425" marL="91425" marR="91425" marT="91425"/>
                </a:tc>
                <a:tc>
                  <a:txBody>
                    <a:bodyPr/>
                    <a:lstStyle/>
                    <a:p>
                      <a:pPr algn="ctr" indent="0" lvl="0" marL="0" rtl="0">
                        <a:spcBef>
                          <a:spcPts val="0"/>
                        </a:spcBef>
                        <a:spcAft>
                          <a:spcPts val="0"/>
                        </a:spcAft>
                        <a:buNone/>
                      </a:pPr>
                      <a:r>
                        <a:rPr b="1" lang="en" sz="1100">
                          <a:latin typeface="Verdana"/>
                          <a:ea typeface="Verdana"/>
                          <a:cs typeface="Verdana"/>
                          <a:sym typeface="Verdana"/>
                        </a:rPr>
                        <a:t>Best performing days</a:t>
                      </a:r>
                      <a:endParaRPr b="1" sz="1100">
                        <a:latin typeface="Verdana"/>
                        <a:ea typeface="Verdana"/>
                        <a:cs typeface="Verdana"/>
                        <a:sym typeface="Verdana"/>
                      </a:endParaRPr>
                    </a:p>
                  </a:txBody>
                  <a:tcPr anchor="ctr" marB="91425" marL="91425" marR="91425" marT="91425"/>
                </a:tc>
                <a:extLst>
                  <a:ext uri="{0D108BD9-81ED-4DB2-BD59-A6C34878D82A}">
                    <a16:rowId xmlns:a16="http://schemas.microsoft.com/office/drawing/2014/main" val="10000"/>
                  </a:ext>
                </a:extLst>
              </a:tr>
              <a:tr h="494025">
                <a:tc vMerge="1">
                  <a:txBody>
                    <a:bodyPr/>
                    <a:lstStyle/>
                    <a:p>
                      <a:endParaRPr lang="en-US"/>
                    </a:p>
                  </a:txBody>
                  <a:tcPr/>
                </a:tc>
                <a:tc>
                  <a:txBody>
                    <a:bodyPr/>
                    <a:lstStyle/>
                    <a:p>
                      <a:pPr algn="ctr" indent="0" lvl="0" marL="0" rtl="0">
                        <a:lnSpc>
                          <a:spcPct val="115000"/>
                        </a:lnSpc>
                        <a:spcBef>
                          <a:spcPts val="0"/>
                        </a:spcBef>
                        <a:spcAft>
                          <a:spcPts val="0"/>
                        </a:spcAft>
                        <a:buNone/>
                      </a:pPr>
                      <a:r>
                        <a:rPr lang="en" sz="1150">
                          <a:solidFill>
                            <a:schemeClr val="dk1"/>
                          </a:solidFill>
                          <a:latin typeface="Verdana"/>
                          <a:ea typeface="Verdana"/>
                          <a:cs typeface="Verdana"/>
                          <a:sym typeface="Verdana"/>
                        </a:rPr>
                        <a:t>{{poorestMonths}}</a:t>
                      </a:r>
                      <a:endParaRPr sz="1100">
                        <a:latin typeface="Verdana"/>
                        <a:ea typeface="Verdana"/>
                        <a:cs typeface="Verdana"/>
                        <a:sym typeface="Verdana"/>
                      </a:endParaRPr>
                    </a:p>
                  </a:txBody>
                  <a:tcPr anchor="ctr" marB="91425" marL="91425" marR="91425" marT="91425"/>
                </a:tc>
                <a:tc>
                  <a:txBody>
                    <a:bodyPr/>
                    <a:lstStyle/>
                    <a:p>
                      <a:pPr algn="ctr" indent="0" lvl="0" marL="0" rtl="0">
                        <a:spcBef>
                          <a:spcPts val="0"/>
                        </a:spcBef>
                        <a:spcAft>
                          <a:spcPts val="0"/>
                        </a:spcAft>
                        <a:buNone/>
                      </a:pPr>
                      <a:r>
                        <a:rPr lang="en" sz="1100">
                          <a:latin typeface="Verdana"/>
                          <a:ea typeface="Verdana"/>
                          <a:cs typeface="Verdana"/>
                          <a:sym typeface="Verdana"/>
                        </a:rPr>
                        <a:t>{{bestMonths}}</a:t>
                      </a:r>
                      <a:endParaRPr sz="1100">
                        <a:latin typeface="Verdana"/>
                        <a:ea typeface="Verdana"/>
                        <a:cs typeface="Verdana"/>
                        <a:sym typeface="Verdana"/>
                      </a:endParaRPr>
                    </a:p>
                  </a:txBody>
                  <a:tcPr anchor="ctr" marB="91425" marL="91425" marR="91425" marT="91425"/>
                </a:tc>
                <a:tc>
                  <a:txBody>
                    <a:bodyPr/>
                    <a:lstStyle/>
                    <a:p>
                      <a:pPr algn="ctr" indent="0" lvl="0" marL="0" rtl="0">
                        <a:spcBef>
                          <a:spcPts val="0"/>
                        </a:spcBef>
                        <a:spcAft>
                          <a:spcPts val="0"/>
                        </a:spcAft>
                        <a:buNone/>
                      </a:pPr>
                      <a:r>
                        <a:rPr lang="en" sz="1100">
                          <a:latin typeface="Verdana"/>
                          <a:ea typeface="Verdana"/>
                          <a:cs typeface="Verdana"/>
                          <a:sym typeface="Verdana"/>
                        </a:rPr>
                        <a:t>{{bestDays}}</a:t>
                      </a:r>
                      <a:endParaRPr sz="1100">
                        <a:latin typeface="Verdana"/>
                        <a:ea typeface="Verdana"/>
                        <a:cs typeface="Verdana"/>
                        <a:sym typeface="Verdana"/>
                      </a:endParaRPr>
                    </a:p>
                  </a:txBody>
                  <a:tcPr anchor="ctr" marB="91425" marL="91425" marR="91425" marT="91425"/>
                </a:tc>
                <a:extLst>
                  <a:ext uri="{0D108BD9-81ED-4DB2-BD59-A6C34878D82A}">
                    <a16:rowId xmlns:a16="http://schemas.microsoft.com/office/drawing/2014/main" val="10001"/>
                  </a:ext>
                </a:extLst>
              </a:tr>
            </a:tbl>
          </a:graphicData>
        </a:graphic>
      </p:graphicFrame>
      <p:sp>
        <p:nvSpPr>
          <p:cNvPr id="146" name="Google Shape;146;p17"/>
          <p:cNvSpPr txBox="1"/>
          <p:nvPr/>
        </p:nvSpPr>
        <p:spPr>
          <a:xfrm>
            <a:off x="398800" y="3582263"/>
            <a:ext cx="4530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rgbClr val="000000"/>
                </a:solidFill>
                <a:latin typeface="Verdana"/>
                <a:ea typeface="Verdana"/>
                <a:cs typeface="Verdana"/>
                <a:sym typeface="Verdana"/>
              </a:rPr>
              <a:t>8. a. What’s the most frequent compliment you get? </a:t>
            </a:r>
            <a:endParaRPr b="1" sz="1150">
              <a:latin typeface="Verdana"/>
              <a:ea typeface="Verdana"/>
              <a:cs typeface="Verdana"/>
              <a:sym typeface="Verdana"/>
            </a:endParaRPr>
          </a:p>
        </p:txBody>
      </p:sp>
      <p:sp>
        <p:nvSpPr>
          <p:cNvPr id="147" name="Google Shape;147;p17"/>
          <p:cNvSpPr txBox="1"/>
          <p:nvPr/>
        </p:nvSpPr>
        <p:spPr>
          <a:xfrm>
            <a:off x="398800" y="4462272"/>
            <a:ext cx="4530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rgbClr val="000000"/>
                </a:solidFill>
                <a:latin typeface="Verdana"/>
                <a:ea typeface="Verdana"/>
                <a:cs typeface="Verdana"/>
                <a:sym typeface="Verdana"/>
              </a:rPr>
              <a:t>    b. What’s the most frequent complaint you get? </a:t>
            </a:r>
            <a:endParaRPr b="1" sz="1150">
              <a:latin typeface="Verdana"/>
              <a:ea typeface="Verdana"/>
              <a:cs typeface="Verdana"/>
              <a:sym typeface="Verdana"/>
            </a:endParaRPr>
          </a:p>
        </p:txBody>
      </p:sp>
      <p:sp>
        <p:nvSpPr>
          <p:cNvPr id="148" name="Google Shape;148;p17"/>
          <p:cNvSpPr txBox="1"/>
          <p:nvPr/>
        </p:nvSpPr>
        <p:spPr>
          <a:xfrm>
            <a:off x="694944" y="4700016"/>
            <a:ext cx="8229600" cy="7314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complaint}}</a:t>
            </a:r>
            <a:endParaRPr sz="115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Shape 152"/>
        <p:cNvGrpSpPr/>
        <p:nvPr/>
      </p:nvGrpSpPr>
      <p:grpSpPr>
        <a:xfrm>
          <a:off x="0" y="0"/>
          <a:ext cx="0" cy="0"/>
          <a:chOff x="0" y="0"/>
          <a:chExt cx="0" cy="0"/>
        </a:xfrm>
      </p:grpSpPr>
      <p:sp>
        <p:nvSpPr>
          <p:cNvPr id="153" name="Google Shape;153;p18"/>
          <p:cNvSpPr txBox="1"/>
          <p:nvPr/>
        </p:nvSpPr>
        <p:spPr>
          <a:xfrm>
            <a:off x="5779008" y="1883664"/>
            <a:ext cx="706200" cy="72498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154" name="Google Shape;154;p18"/>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Target Marketing</a:t>
            </a:r>
            <a:endParaRPr/>
          </a:p>
        </p:txBody>
      </p:sp>
      <p:sp>
        <p:nvSpPr>
          <p:cNvPr id="155" name="Google Shape;155;p18"/>
          <p:cNvSpPr txBox="1"/>
          <p:nvPr/>
        </p:nvSpPr>
        <p:spPr>
          <a:xfrm>
            <a:off x="364750" y="1172575"/>
            <a:ext cx="5008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A. What percentage of your "target" consumers are men?</a:t>
            </a:r>
            <a:endParaRPr b="1"/>
          </a:p>
        </p:txBody>
      </p:sp>
      <p:sp>
        <p:nvSpPr>
          <p:cNvPr id="156" name="Google Shape;156;p18"/>
          <p:cNvSpPr txBox="1"/>
          <p:nvPr/>
        </p:nvSpPr>
        <p:spPr>
          <a:xfrm>
            <a:off x="5806900" y="1172575"/>
            <a:ext cx="951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Women?</a:t>
            </a:r>
            <a:endParaRPr b="1"/>
          </a:p>
        </p:txBody>
      </p:sp>
      <p:sp>
        <p:nvSpPr>
          <p:cNvPr id="157" name="Google Shape;157;p18"/>
          <p:cNvSpPr txBox="1"/>
          <p:nvPr/>
        </p:nvSpPr>
        <p:spPr>
          <a:xfrm>
            <a:off x="364750" y="1650325"/>
            <a:ext cx="6280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B. What is the perceived income of your “target” consumer household?</a:t>
            </a:r>
            <a:endParaRPr b="1"/>
          </a:p>
        </p:txBody>
      </p:sp>
      <p:sp>
        <p:nvSpPr>
          <p:cNvPr id="158" name="Google Shape;158;p18"/>
          <p:cNvSpPr txBox="1"/>
          <p:nvPr/>
        </p:nvSpPr>
        <p:spPr>
          <a:xfrm>
            <a:off x="364750" y="2748325"/>
            <a:ext cx="7620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b="1" lang="en" sz="1150">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59" name="Google Shape;159;p18"/>
          <p:cNvSpPr txBox="1"/>
          <p:nvPr/>
        </p:nvSpPr>
        <p:spPr>
          <a:xfrm>
            <a:off x="364750" y="4032250"/>
            <a:ext cx="8458200" cy="526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800"/>
              </a:spcBef>
              <a:spcAft>
                <a:spcPts val="800"/>
              </a:spcAft>
              <a:buNone/>
            </a:pPr>
            <a:r>
              <a:rPr b="1" lang="en" sz="1150">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60" name="Google Shape;160;p18"/>
          <p:cNvGraphicFramePr/>
          <p:nvPr/>
        </p:nvGraphicFramePr>
        <p:xfrm>
          <a:off x="1201409" y="4562856"/>
          <a:ext cx="6741175" cy="2274981"/>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algn="ctr" indent="0" lvl="0" marL="0" rtl="0">
                        <a:spcBef>
                          <a:spcPts val="0"/>
                        </a:spcBef>
                        <a:spcAft>
                          <a:spcPts val="0"/>
                        </a:spcAft>
                        <a:buNone/>
                      </a:pPr>
                      <a:endParaRPr/>
                    </a:p>
                  </a:txBody>
                  <a:tcPr anchor="ctr" marB="91425" marL="91425" marR="91425" marT="91425">
                    <a:lnL cap="flat" cmpd="sng" w="9525">
                      <a:solidFill>
                        <a:srgbClr val="9E9E9E">
                          <a:alpha val="0"/>
                        </a:srgbClr>
                      </a:solidFill>
                      <a:prstDash val="solid"/>
                      <a:round/>
                      <a:headEnd len="sm" type="none" w="sm"/>
                      <a:tailEnd len="sm" type="none" w="sm"/>
                    </a:lnL>
                    <a:lnR cap="flat" cmpd="sng" w="9525">
                      <a:solidFill>
                        <a:srgbClr val="9E9E9E">
                          <a:alpha val="0"/>
                        </a:srgbClr>
                      </a:solidFill>
                      <a:prstDash val="solid"/>
                      <a:round/>
                      <a:headEnd len="sm" type="none" w="sm"/>
                      <a:tailEnd len="sm" type="none" w="sm"/>
                    </a:lnR>
                    <a:lnT cap="flat" cmpd="sng" w="9525">
                      <a:solidFill>
                        <a:srgbClr val="9E9E9E">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a:p>
                  </a:txBody>
                  <a:tcPr anchor="ctr" marB="91425" marL="91425" marR="91425" marT="91425">
                    <a:lnL cap="flat" cmpd="sng" w="9525">
                      <a:solidFill>
                        <a:srgbClr val="9E9E9E">
                          <a:alpha val="0"/>
                        </a:srgbClr>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9E9E9E">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gridSpan="2">
                  <a:txBody>
                    <a:bodyPr/>
                    <a:lstStyle/>
                    <a:p>
                      <a:pPr algn="ctr" indent="0" lvl="0" marL="0" rtl="0">
                        <a:spcBef>
                          <a:spcPts val="0"/>
                        </a:spcBef>
                        <a:spcAft>
                          <a:spcPts val="0"/>
                        </a:spcAft>
                        <a:buNone/>
                      </a:pPr>
                      <a:r>
                        <a:rPr b="1" lang="en" sz="1900">
                          <a:latin typeface="Verdana"/>
                          <a:ea typeface="Verdana"/>
                          <a:cs typeface="Verdana"/>
                          <a:sym typeface="Verdana"/>
                        </a:rPr>
                        <a:t>Target 85%</a:t>
                      </a:r>
                      <a:endParaRPr b="1" sz="1900">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19050">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solidFill>
                      <a:srgbClr val="FFFF00"/>
                    </a:solidFill>
                  </a:tcPr>
                </a:tc>
                <a:tc hMerge="1">
                  <a:txBody>
                    <a:bodyPr/>
                    <a:lstStyle/>
                    <a:p>
                      <a:endParaRPr lang="en-US"/>
                    </a:p>
                  </a:txBody>
                  <a:tcPr/>
                </a:tc>
                <a:tc>
                  <a:txBody>
                    <a:bodyPr/>
                    <a:lstStyle/>
                    <a:p>
                      <a:pPr algn="ctr" indent="0" lvl="0" marL="0" rtl="0">
                        <a:spcBef>
                          <a:spcPts val="0"/>
                        </a:spcBef>
                        <a:spcAft>
                          <a:spcPts val="0"/>
                        </a:spcAft>
                        <a:buNone/>
                      </a:pP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9E9E9E">
                          <a:alpha val="0"/>
                        </a:srgbClr>
                      </a:solidFill>
                      <a:prstDash val="solid"/>
                      <a:round/>
                      <a:headEnd len="sm" type="none" w="sm"/>
                      <a:tailEnd len="sm" type="none" w="sm"/>
                    </a:lnR>
                    <a:lnT cap="flat" cmpd="sng" w="9525">
                      <a:solidFill>
                        <a:srgbClr val="9E9E9E">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a:p>
                  </a:txBody>
                  <a:tcPr anchor="ctr" marB="91425" marL="91425" marR="91425" marT="91425">
                    <a:lnL cap="flat" cmpd="sng" w="9525">
                      <a:solidFill>
                        <a:srgbClr val="9E9E9E">
                          <a:alpha val="0"/>
                        </a:srgbClr>
                      </a:solidFill>
                      <a:prstDash val="solid"/>
                      <a:round/>
                      <a:headEnd len="sm" type="none" w="sm"/>
                      <a:tailEnd len="sm" type="none" w="sm"/>
                    </a:lnL>
                    <a:lnR cap="flat" cmpd="sng" w="9525">
                      <a:solidFill>
                        <a:srgbClr val="9E9E9E">
                          <a:alpha val="0"/>
                        </a:srgbClr>
                      </a:solidFill>
                      <a:prstDash val="solid"/>
                      <a:round/>
                      <a:headEnd len="sm" type="none" w="sm"/>
                      <a:tailEnd len="sm" type="none" w="sm"/>
                    </a:lnR>
                    <a:lnT cap="flat" cmpd="sng" w="9525">
                      <a:solidFill>
                        <a:srgbClr val="9E9E9E">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0"/>
                  </a:ext>
                </a:extLst>
              </a:tr>
              <a:tr h="579425">
                <a:tc>
                  <a:txBody>
                    <a:bodyPr/>
                    <a:lstStyle/>
                    <a:p>
                      <a:pPr algn="ctr" indent="0" lvl="0" marL="0" rtl="0">
                        <a:spcBef>
                          <a:spcPts val="0"/>
                        </a:spcBef>
                        <a:spcAft>
                          <a:spcPts val="0"/>
                        </a:spcAft>
                        <a:buNone/>
                      </a:pPr>
                      <a:r>
                        <a:rPr b="1" lang="en">
                          <a:latin typeface="Verdana"/>
                          <a:ea typeface="Verdana"/>
                          <a:cs typeface="Verdana"/>
                          <a:sym typeface="Verdana"/>
                        </a:rPr>
                        <a:t>12-18</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19-25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26-35</a:t>
                      </a:r>
                      <a:endParaRPr b="1">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36-45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46-55</a:t>
                      </a:r>
                      <a:endParaRPr b="1">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56+</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1"/>
                  </a:ext>
                </a:extLst>
              </a:tr>
              <a:tr h="564600">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{{have26to35}}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2"/>
                  </a:ext>
                </a:extLst>
              </a:tr>
              <a:tr h="527425">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{{want26to35}}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3"/>
                  </a:ext>
                </a:extLst>
              </a:tr>
            </a:tbl>
          </a:graphicData>
        </a:graphic>
      </p:graphicFrame>
      <p:sp>
        <p:nvSpPr>
          <p:cNvPr id="161" name="Google Shape;161;p18"/>
          <p:cNvSpPr txBox="1"/>
          <p:nvPr/>
        </p:nvSpPr>
        <p:spPr>
          <a:xfrm>
            <a:off x="364750" y="3390288"/>
            <a:ext cx="7818000" cy="433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describeIdealTargetConsumer}} </a:t>
            </a:r>
            <a:endParaRPr/>
          </a:p>
        </p:txBody>
      </p:sp>
      <p:sp>
        <p:nvSpPr>
          <p:cNvPr id="162" name="Google Shape;162;p18"/>
          <p:cNvSpPr txBox="1"/>
          <p:nvPr/>
        </p:nvSpPr>
        <p:spPr>
          <a:xfrm>
            <a:off x="136652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163" name="Google Shape;163;p18"/>
          <p:cNvSpPr txBox="1"/>
          <p:nvPr/>
        </p:nvSpPr>
        <p:spPr>
          <a:xfrm>
            <a:off x="30973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164" name="Google Shape;164;p18"/>
          <p:cNvSpPr txBox="1"/>
          <p:nvPr/>
        </p:nvSpPr>
        <p:spPr>
          <a:xfrm>
            <a:off x="48281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165" name="Google Shape;165;p18"/>
          <p:cNvSpPr txBox="1"/>
          <p:nvPr/>
        </p:nvSpPr>
        <p:spPr>
          <a:xfrm>
            <a:off x="655887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166" name="Google Shape;166;p18"/>
          <p:cNvSpPr txBox="1"/>
          <p:nvPr/>
        </p:nvSpPr>
        <p:spPr>
          <a:xfrm>
            <a:off x="5284900"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167" name="Google Shape;167;p18"/>
          <p:cNvSpPr txBox="1"/>
          <p:nvPr/>
        </p:nvSpPr>
        <p:spPr>
          <a:xfrm>
            <a:off x="6707075"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168" name="Google Shape;168;p18"/>
          <p:cNvSpPr txBox="1"/>
          <p:nvPr/>
        </p:nvSpPr>
        <p:spPr>
          <a:xfrm>
            <a:off x="2286000" y="1883664"/>
            <a:ext cx="706200" cy="80463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169" name="Google Shape;169;p18"/>
          <p:cNvSpPr txBox="1"/>
          <p:nvPr/>
        </p:nvSpPr>
        <p:spPr>
          <a:xfrm>
            <a:off x="4023360" y="1883664"/>
            <a:ext cx="704100" cy="96396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170" name="Google Shape;170;p18"/>
          <p:cNvSpPr txBox="1"/>
          <p:nvPr/>
        </p:nvSpPr>
        <p:spPr>
          <a:xfrm>
            <a:off x="557784" y="1883664"/>
            <a:ext cx="704100" cy="104361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171" name="Google Shape;171;p18"/>
          <p:cNvSpPr/>
          <p:nvPr/>
        </p:nvSpPr>
        <p:spPr>
          <a:xfrm rot="5400000">
            <a:off x="2633172" y="4330739"/>
            <a:ext cx="566100" cy="1022700"/>
          </a:xfrm>
          <a:prstGeom prst="curvedRightArrow">
            <a:avLst>
              <a:gd fmla="val 25000" name="adj1"/>
              <a:gd fmla="val 50000" name="adj2"/>
              <a:gd fmla="val 25000" name="adj3"/>
            </a:avLst>
          </a:prstGeom>
          <a:solidFill>
            <a:srgbClr val="FF0000"/>
          </a:solidFill>
          <a:ln cap="flat" cmpd="sng" w="9525">
            <a:solidFill>
              <a:srgbClr val="FF0000"/>
            </a:solidFill>
            <a:prstDash val="solid"/>
            <a:round/>
            <a:headEnd len="sm" type="none" w="sm"/>
            <a:tailEnd len="sm" type="none" w="sm"/>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172" name="Google Shape;172;p18"/>
          <p:cNvSpPr/>
          <p:nvPr/>
        </p:nvSpPr>
        <p:spPr>
          <a:xfrm flipH="1" rot="-5400000">
            <a:off x="5986906" y="4330739"/>
            <a:ext cx="566100" cy="1022700"/>
          </a:xfrm>
          <a:prstGeom prst="curvedRightArrow">
            <a:avLst>
              <a:gd fmla="val 25000" name="adj1"/>
              <a:gd fmla="val 50000" name="adj2"/>
              <a:gd fmla="val 25000" name="adj3"/>
            </a:avLst>
          </a:prstGeom>
          <a:solidFill>
            <a:srgbClr val="FF0000"/>
          </a:solidFill>
          <a:ln cap="flat" cmpd="sng" w="9525">
            <a:solidFill>
              <a:srgbClr val="FF0000"/>
            </a:solidFill>
            <a:prstDash val="solid"/>
            <a:round/>
            <a:headEnd len="sm" type="none" w="sm"/>
            <a:tailEnd len="sm" type="none" w="sm"/>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173" name="Google Shape;173;p18"/>
          <p:cNvSpPr txBox="1"/>
          <p:nvPr/>
        </p:nvSpPr>
        <p:spPr>
          <a:xfrm>
            <a:off x="290900" y="5737428"/>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HAVE</a:t>
            </a:r>
            <a:endParaRPr b="1">
              <a:latin typeface="Verdana"/>
              <a:ea typeface="Verdana"/>
              <a:cs typeface="Verdana"/>
              <a:sym typeface="Verdana"/>
            </a:endParaRPr>
          </a:p>
        </p:txBody>
      </p:sp>
      <p:sp>
        <p:nvSpPr>
          <p:cNvPr id="174" name="Google Shape;174;p18"/>
          <p:cNvSpPr txBox="1"/>
          <p:nvPr/>
        </p:nvSpPr>
        <p:spPr>
          <a:xfrm>
            <a:off x="290900" y="6286925"/>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Shape 178"/>
        <p:cNvGrpSpPr/>
        <p:nvPr/>
      </p:nvGrpSpPr>
      <p:grpSpPr>
        <a:xfrm>
          <a:off x="0" y="0"/>
          <a:ext cx="0" cy="0"/>
          <a:chOff x="0" y="0"/>
          <a:chExt cx="0" cy="0"/>
        </a:xfrm>
      </p:grpSpPr>
      <p:sp>
        <p:nvSpPr>
          <p:cNvPr id="179" name="Google Shape;179;p19"/>
          <p:cNvSpPr txBox="1"/>
          <p:nvPr/>
        </p:nvSpPr>
        <p:spPr>
          <a:xfrm>
            <a:off x="4023360" y="1883664"/>
            <a:ext cx="704100" cy="96396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180" name="Google Shape;180;p19"/>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Target Marketing</a:t>
            </a:r>
            <a:endParaRPr/>
          </a:p>
        </p:txBody>
      </p:sp>
      <p:sp>
        <p:nvSpPr>
          <p:cNvPr id="181" name="Google Shape;181;p19"/>
          <p:cNvSpPr txBox="1"/>
          <p:nvPr/>
        </p:nvSpPr>
        <p:spPr>
          <a:xfrm>
            <a:off x="364750" y="1172575"/>
            <a:ext cx="5008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A. What percentage of your "target" consumers are men?</a:t>
            </a:r>
            <a:endParaRPr b="1"/>
          </a:p>
        </p:txBody>
      </p:sp>
      <p:sp>
        <p:nvSpPr>
          <p:cNvPr id="182" name="Google Shape;182;p19"/>
          <p:cNvSpPr txBox="1"/>
          <p:nvPr/>
        </p:nvSpPr>
        <p:spPr>
          <a:xfrm>
            <a:off x="5806900" y="1172575"/>
            <a:ext cx="951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Women?</a:t>
            </a:r>
            <a:endParaRPr b="1"/>
          </a:p>
        </p:txBody>
      </p:sp>
      <p:sp>
        <p:nvSpPr>
          <p:cNvPr id="183" name="Google Shape;183;p19"/>
          <p:cNvSpPr txBox="1"/>
          <p:nvPr/>
        </p:nvSpPr>
        <p:spPr>
          <a:xfrm>
            <a:off x="364750" y="1650325"/>
            <a:ext cx="6280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B. What is the perceived income of your “target” consumer household?</a:t>
            </a:r>
            <a:endParaRPr b="1"/>
          </a:p>
        </p:txBody>
      </p:sp>
      <p:sp>
        <p:nvSpPr>
          <p:cNvPr id="184" name="Google Shape;184;p19"/>
          <p:cNvSpPr txBox="1"/>
          <p:nvPr/>
        </p:nvSpPr>
        <p:spPr>
          <a:xfrm>
            <a:off x="364750" y="2748325"/>
            <a:ext cx="7620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b="1" lang="en" sz="1150">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85" name="Google Shape;185;p19"/>
          <p:cNvSpPr txBox="1"/>
          <p:nvPr/>
        </p:nvSpPr>
        <p:spPr>
          <a:xfrm>
            <a:off x="364750" y="4032238"/>
            <a:ext cx="8458200" cy="526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800"/>
              </a:spcBef>
              <a:spcAft>
                <a:spcPts val="800"/>
              </a:spcAft>
              <a:buNone/>
            </a:pPr>
            <a:r>
              <a:rPr b="1" lang="en" sz="1150">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86" name="Google Shape;186;p19"/>
          <p:cNvGraphicFramePr/>
          <p:nvPr/>
        </p:nvGraphicFramePr>
        <p:xfrm>
          <a:off x="1203108" y="4562856"/>
          <a:ext cx="6741175" cy="2261912"/>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algn="ctr" indent="0" lvl="0" marL="0" rtl="0">
                        <a:spcBef>
                          <a:spcPts val="0"/>
                        </a:spcBef>
                        <a:spcAft>
                          <a:spcPts val="0"/>
                        </a:spcAft>
                        <a:buNone/>
                      </a:pPr>
                      <a:endParaRPr/>
                    </a:p>
                  </a:txBody>
                  <a:tcPr anchor="ctr" marB="91425" marL="91425" marR="91425" marT="91425">
                    <a:lnL cap="flat" cmpd="sng" w="9525">
                      <a:solidFill>
                        <a:srgbClr val="9E9E9E">
                          <a:alpha val="0"/>
                        </a:srgbClr>
                      </a:solidFill>
                      <a:prstDash val="solid"/>
                      <a:round/>
                      <a:headEnd len="sm" type="none" w="sm"/>
                      <a:tailEnd len="sm" type="none" w="sm"/>
                    </a:lnL>
                    <a:lnR cap="flat" cmpd="sng" w="9525">
                      <a:solidFill>
                        <a:srgbClr val="9E9E9E">
                          <a:alpha val="0"/>
                        </a:srgbClr>
                      </a:solidFill>
                      <a:prstDash val="solid"/>
                      <a:round/>
                      <a:headEnd len="sm" type="none" w="sm"/>
                      <a:tailEnd len="sm" type="none" w="sm"/>
                    </a:lnR>
                    <a:lnT cap="flat" cmpd="sng" w="9525">
                      <a:solidFill>
                        <a:srgbClr val="9E9E9E">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a:p>
                  </a:txBody>
                  <a:tcPr anchor="ctr" marB="91425" marL="91425" marR="91425" marT="91425">
                    <a:lnL cap="flat" cmpd="sng" w="9525">
                      <a:solidFill>
                        <a:srgbClr val="9E9E9E">
                          <a:alpha val="0"/>
                        </a:srgbClr>
                      </a:solidFill>
                      <a:prstDash val="solid"/>
                      <a:round/>
                      <a:headEnd len="sm" type="none" w="sm"/>
                      <a:tailEnd len="sm" type="none" w="sm"/>
                    </a:lnL>
                    <a:lnR cap="flat" cmpd="sng" w="9525">
                      <a:solidFill>
                        <a:srgbClr val="000000">
                          <a:alpha val="0"/>
                        </a:srgbClr>
                      </a:solidFill>
                      <a:prstDash val="solid"/>
                      <a:round/>
                      <a:headEnd len="sm" type="none" w="sm"/>
                      <a:tailEnd len="sm" type="none" w="sm"/>
                    </a:lnR>
                    <a:lnT cap="flat" cmpd="sng" w="9525">
                      <a:solidFill>
                        <a:srgbClr val="9E9E9E">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b="1" sz="1900">
                        <a:latin typeface="Verdana"/>
                        <a:ea typeface="Verdana"/>
                        <a:cs typeface="Verdana"/>
                        <a:sym typeface="Verdana"/>
                      </a:endParaRPr>
                    </a:p>
                  </a:txBody>
                  <a:tcPr anchor="ctr" marB="91425" marL="91425" marR="91425" marT="91425">
                    <a:lnL cap="flat" cmpd="sng" w="9525">
                      <a:solidFill>
                        <a:srgbClr val="000000">
                          <a:alpha val="0"/>
                        </a:srgbClr>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gridSpan="2">
                  <a:txBody>
                    <a:bodyPr/>
                    <a:lstStyle/>
                    <a:p>
                      <a:pPr algn="ctr" indent="0" lvl="0" marL="0" rtl="0">
                        <a:spcBef>
                          <a:spcPts val="0"/>
                        </a:spcBef>
                        <a:spcAft>
                          <a:spcPts val="0"/>
                        </a:spcAft>
                        <a:buNone/>
                      </a:pPr>
                      <a:r>
                        <a:rPr b="1" lang="en" sz="1900">
                          <a:latin typeface="Verdana"/>
                          <a:ea typeface="Verdana"/>
                          <a:cs typeface="Verdana"/>
                          <a:sym typeface="Verdana"/>
                        </a:rPr>
                        <a:t>Target 85%</a:t>
                      </a:r>
                      <a:endParaRPr b="1" sz="1900">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19050">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solidFill>
                      <a:srgbClr val="FFFF00"/>
                    </a:solidFill>
                  </a:tcPr>
                </a:tc>
                <a:tc hMerge="1">
                  <a:txBody>
                    <a:bodyPr/>
                    <a:lstStyle/>
                    <a:p>
                      <a:endParaRPr lang="en-US"/>
                    </a:p>
                  </a:txBody>
                  <a:tcPr/>
                </a:tc>
                <a:tc>
                  <a:txBody>
                    <a:bodyPr/>
                    <a:lstStyle/>
                    <a:p>
                      <a:pPr algn="ctr" indent="0" lvl="0" marL="0" rtl="0">
                        <a:spcBef>
                          <a:spcPts val="0"/>
                        </a:spcBef>
                        <a:spcAft>
                          <a:spcPts val="0"/>
                        </a:spcAft>
                        <a:buNone/>
                      </a:pP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9E9E9E">
                          <a:alpha val="0"/>
                        </a:srgbClr>
                      </a:solidFill>
                      <a:prstDash val="solid"/>
                      <a:round/>
                      <a:headEnd len="sm" type="none" w="sm"/>
                      <a:tailEnd len="sm" type="none" w="sm"/>
                    </a:lnR>
                    <a:lnT cap="flat" cmpd="sng" w="9525">
                      <a:solidFill>
                        <a:srgbClr val="9E9E9E">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0"/>
                  </a:ext>
                </a:extLst>
              </a:tr>
              <a:tr h="579425">
                <a:tc>
                  <a:txBody>
                    <a:bodyPr/>
                    <a:lstStyle/>
                    <a:p>
                      <a:pPr algn="ctr" indent="0" lvl="0" marL="0" rtl="0">
                        <a:spcBef>
                          <a:spcPts val="0"/>
                        </a:spcBef>
                        <a:spcAft>
                          <a:spcPts val="0"/>
                        </a:spcAft>
                        <a:buNone/>
                      </a:pPr>
                      <a:r>
                        <a:rPr b="1" lang="en">
                          <a:latin typeface="Verdana"/>
                          <a:ea typeface="Verdana"/>
                          <a:cs typeface="Verdana"/>
                          <a:sym typeface="Verdana"/>
                        </a:rPr>
                        <a:t>12-18</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19-25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26-35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36-45</a:t>
                      </a:r>
                      <a:endParaRPr b="1">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46-55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56+</a:t>
                      </a:r>
                      <a:endParaRPr b="1">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1"/>
                  </a:ext>
                </a:extLst>
              </a:tr>
              <a:tr h="527425">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100">
                          <a:solidFill>
                            <a:schemeClr val="dk1"/>
                          </a:solidFill>
                          <a:latin typeface="Verdana"/>
                          <a:ea typeface="Verdana"/>
                          <a:cs typeface="Verdana"/>
                          <a:sym typeface="Verdana"/>
                        </a:rPr>
                        <a:t>{{have26to35}}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2"/>
                  </a:ext>
                </a:extLst>
              </a:tr>
              <a:tr h="527425">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100">
                          <a:solidFill>
                            <a:schemeClr val="dk1"/>
                          </a:solidFill>
                          <a:latin typeface="Verdana"/>
                          <a:ea typeface="Verdana"/>
                          <a:cs typeface="Verdana"/>
                          <a:sym typeface="Verdana"/>
                        </a:rPr>
                        <a:t>{{want26to35}}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3"/>
                  </a:ext>
                </a:extLst>
              </a:tr>
            </a:tbl>
          </a:graphicData>
        </a:graphic>
      </p:graphicFrame>
      <p:sp>
        <p:nvSpPr>
          <p:cNvPr id="187" name="Google Shape;187;p19"/>
          <p:cNvSpPr txBox="1"/>
          <p:nvPr/>
        </p:nvSpPr>
        <p:spPr>
          <a:xfrm>
            <a:off x="136652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188" name="Google Shape;188;p19"/>
          <p:cNvSpPr txBox="1"/>
          <p:nvPr/>
        </p:nvSpPr>
        <p:spPr>
          <a:xfrm>
            <a:off x="30973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189" name="Google Shape;189;p19"/>
          <p:cNvSpPr txBox="1"/>
          <p:nvPr/>
        </p:nvSpPr>
        <p:spPr>
          <a:xfrm>
            <a:off x="48281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190" name="Google Shape;190;p19"/>
          <p:cNvSpPr txBox="1"/>
          <p:nvPr/>
        </p:nvSpPr>
        <p:spPr>
          <a:xfrm>
            <a:off x="655887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191" name="Google Shape;191;p19"/>
          <p:cNvSpPr txBox="1"/>
          <p:nvPr/>
        </p:nvSpPr>
        <p:spPr>
          <a:xfrm>
            <a:off x="364750" y="3390288"/>
            <a:ext cx="7818000" cy="433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192" name="Google Shape;192;p19"/>
          <p:cNvSpPr txBox="1"/>
          <p:nvPr/>
        </p:nvSpPr>
        <p:spPr>
          <a:xfrm>
            <a:off x="5284900"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193" name="Google Shape;193;p19"/>
          <p:cNvSpPr txBox="1"/>
          <p:nvPr/>
        </p:nvSpPr>
        <p:spPr>
          <a:xfrm>
            <a:off x="6707075"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194" name="Google Shape;194;p19"/>
          <p:cNvSpPr txBox="1"/>
          <p:nvPr/>
        </p:nvSpPr>
        <p:spPr>
          <a:xfrm>
            <a:off x="2286000" y="1883664"/>
            <a:ext cx="706200" cy="80463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195" name="Google Shape;195;p19"/>
          <p:cNvSpPr txBox="1"/>
          <p:nvPr/>
        </p:nvSpPr>
        <p:spPr>
          <a:xfrm>
            <a:off x="5779008" y="1883664"/>
            <a:ext cx="706200" cy="72498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196" name="Google Shape;196;p19"/>
          <p:cNvSpPr txBox="1"/>
          <p:nvPr/>
        </p:nvSpPr>
        <p:spPr>
          <a:xfrm>
            <a:off x="557784" y="1883664"/>
            <a:ext cx="704100" cy="104361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197" name="Google Shape;197;p19"/>
          <p:cNvSpPr/>
          <p:nvPr/>
        </p:nvSpPr>
        <p:spPr>
          <a:xfrm rot="5400000">
            <a:off x="3767028" y="4330739"/>
            <a:ext cx="566100" cy="1022700"/>
          </a:xfrm>
          <a:prstGeom prst="curvedRightArrow">
            <a:avLst>
              <a:gd fmla="val 25000" name="adj1"/>
              <a:gd fmla="val 50000" name="adj2"/>
              <a:gd fmla="val 25000" name="adj3"/>
            </a:avLst>
          </a:prstGeom>
          <a:solidFill>
            <a:srgbClr val="FF0000"/>
          </a:solidFill>
          <a:ln cap="flat" cmpd="sng" w="9525">
            <a:solidFill>
              <a:srgbClr val="FF0000"/>
            </a:solidFill>
            <a:prstDash val="solid"/>
            <a:round/>
            <a:headEnd len="sm" type="none" w="sm"/>
            <a:tailEnd len="sm" type="none" w="sm"/>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198" name="Google Shape;198;p19"/>
          <p:cNvSpPr/>
          <p:nvPr/>
        </p:nvSpPr>
        <p:spPr>
          <a:xfrm flipH="1" rot="-5400000">
            <a:off x="7120762" y="4330739"/>
            <a:ext cx="566100" cy="1022700"/>
          </a:xfrm>
          <a:prstGeom prst="curvedRightArrow">
            <a:avLst>
              <a:gd fmla="val 25000" name="adj1"/>
              <a:gd fmla="val 50000" name="adj2"/>
              <a:gd fmla="val 25000" name="adj3"/>
            </a:avLst>
          </a:prstGeom>
          <a:solidFill>
            <a:srgbClr val="FF0000"/>
          </a:solidFill>
          <a:ln cap="flat" cmpd="sng" w="9525">
            <a:solidFill>
              <a:srgbClr val="FF0000"/>
            </a:solidFill>
            <a:prstDash val="solid"/>
            <a:round/>
            <a:headEnd len="sm" type="none" w="sm"/>
            <a:tailEnd len="sm" type="none" w="sm"/>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199" name="Google Shape;199;p19"/>
          <p:cNvSpPr txBox="1"/>
          <p:nvPr/>
        </p:nvSpPr>
        <p:spPr>
          <a:xfrm>
            <a:off x="290900" y="5737428"/>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HAVE</a:t>
            </a:r>
            <a:endParaRPr b="1">
              <a:latin typeface="Verdana"/>
              <a:ea typeface="Verdana"/>
              <a:cs typeface="Verdana"/>
              <a:sym typeface="Verdana"/>
            </a:endParaRPr>
          </a:p>
        </p:txBody>
      </p:sp>
      <p:sp>
        <p:nvSpPr>
          <p:cNvPr id="200" name="Google Shape;200;p19"/>
          <p:cNvSpPr txBox="1"/>
          <p:nvPr/>
        </p:nvSpPr>
        <p:spPr>
          <a:xfrm>
            <a:off x="290900" y="6286925"/>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Shape 204"/>
        <p:cNvGrpSpPr/>
        <p:nvPr/>
      </p:nvGrpSpPr>
      <p:grpSpPr>
        <a:xfrm>
          <a:off x="0" y="0"/>
          <a:ext cx="0" cy="0"/>
          <a:chOff x="0" y="0"/>
          <a:chExt cx="0" cy="0"/>
        </a:xfrm>
      </p:grpSpPr>
      <p:graphicFrame>
        <p:nvGraphicFramePr>
          <p:cNvPr id="205" name="Google Shape;205;p20"/>
          <p:cNvGraphicFramePr/>
          <p:nvPr/>
        </p:nvGraphicFramePr>
        <p:xfrm>
          <a:off x="1203108" y="4562856"/>
          <a:ext cx="6741175" cy="2261912"/>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algn="ctr" indent="0" lvl="0" marL="0" rtl="0">
                        <a:spcBef>
                          <a:spcPts val="0"/>
                        </a:spcBef>
                        <a:spcAft>
                          <a:spcPts val="0"/>
                        </a:spcAft>
                        <a:buNone/>
                      </a:pPr>
                      <a:endParaRPr/>
                    </a:p>
                  </a:txBody>
                  <a:tcPr anchor="ctr" marB="91425" marL="91425" marR="91425" marT="91425">
                    <a:lnL cap="flat" cmpd="sng" w="9525">
                      <a:solidFill>
                        <a:srgbClr val="9E9E9E">
                          <a:alpha val="0"/>
                        </a:srgbClr>
                      </a:solidFill>
                      <a:prstDash val="solid"/>
                      <a:round/>
                      <a:headEnd len="sm" type="none" w="sm"/>
                      <a:tailEnd len="sm" type="none" w="sm"/>
                    </a:lnL>
                    <a:lnR cap="flat" cmpd="sng" w="9525">
                      <a:solidFill>
                        <a:srgbClr val="9E9E9E">
                          <a:alpha val="0"/>
                        </a:srgbClr>
                      </a:solidFill>
                      <a:prstDash val="solid"/>
                      <a:round/>
                      <a:headEnd len="sm" type="none" w="sm"/>
                      <a:tailEnd len="sm" type="none" w="sm"/>
                    </a:lnR>
                    <a:lnT cap="flat" cmpd="sng" w="9525">
                      <a:solidFill>
                        <a:srgbClr val="9E9E9E">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a:p>
                  </a:txBody>
                  <a:tcPr anchor="ctr" marB="91425" marL="91425" marR="91425" marT="91425">
                    <a:lnL cap="flat" cmpd="sng" w="9525">
                      <a:solidFill>
                        <a:srgbClr val="9E9E9E">
                          <a:alpha val="0"/>
                        </a:srgbClr>
                      </a:solidFill>
                      <a:prstDash val="solid"/>
                      <a:round/>
                      <a:headEnd len="sm" type="none" w="sm"/>
                      <a:tailEnd len="sm" type="none" w="sm"/>
                    </a:lnL>
                    <a:lnR cap="flat" cmpd="sng" w="9525">
                      <a:solidFill>
                        <a:srgbClr val="000000">
                          <a:alpha val="0"/>
                        </a:srgbClr>
                      </a:solidFill>
                      <a:prstDash val="solid"/>
                      <a:round/>
                      <a:headEnd len="sm" type="none" w="sm"/>
                      <a:tailEnd len="sm" type="none" w="sm"/>
                    </a:lnR>
                    <a:lnT cap="flat" cmpd="sng" w="9525">
                      <a:solidFill>
                        <a:srgbClr val="9E9E9E">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b="1" sz="1900">
                        <a:latin typeface="Verdana"/>
                        <a:ea typeface="Verdana"/>
                        <a:cs typeface="Verdana"/>
                        <a:sym typeface="Verdana"/>
                      </a:endParaRPr>
                    </a:p>
                  </a:txBody>
                  <a:tcPr anchor="ctr" marB="91425" marL="91425" marR="91425" marT="91425">
                    <a:lnL cap="flat" cmpd="sng" w="9525">
                      <a:solidFill>
                        <a:srgbClr val="000000">
                          <a:alpha val="0"/>
                        </a:srgbClr>
                      </a:solidFill>
                      <a:prstDash val="solid"/>
                      <a:round/>
                      <a:headEnd len="sm" type="none" w="sm"/>
                      <a:tailEnd len="sm" type="none" w="sm"/>
                    </a:lnL>
                    <a:lnR cap="flat" cmpd="sng" w="19050">
                      <a:solidFill>
                        <a:srgbClr val="000000">
                          <a:alpha val="0"/>
                        </a:srgbClr>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ctr" marB="91425" marL="91425" marR="91425" marT="91425">
                    <a:lnL cap="flat" cmpd="sng" w="19050">
                      <a:solidFill>
                        <a:srgbClr val="000000">
                          <a:alpha val="0"/>
                        </a:srgbClr>
                      </a:solidFill>
                      <a:prstDash val="solid"/>
                      <a:round/>
                      <a:headEnd len="sm" type="none" w="sm"/>
                      <a:tailEnd len="sm" type="none" w="sm"/>
                    </a:lnL>
                    <a:lnR cap="flat" cmpd="sng" w="19050">
                      <a:solidFill>
                        <a:srgbClr val="000000"/>
                      </a:solidFill>
                      <a:prstDash val="solid"/>
                      <a:round/>
                      <a:headEnd len="sm" type="none" w="sm"/>
                      <a:tailEnd len="sm" type="none" w="sm"/>
                    </a:lnR>
                    <a:lnT cap="flat" cmpd="sng" w="19050">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gridSpan="2">
                  <a:txBody>
                    <a:bodyPr/>
                    <a:lstStyle/>
                    <a:p>
                      <a:pPr algn="ctr" indent="0" lvl="0" marL="0" rtl="0">
                        <a:spcBef>
                          <a:spcPts val="0"/>
                        </a:spcBef>
                        <a:spcAft>
                          <a:spcPts val="0"/>
                        </a:spcAft>
                        <a:buNone/>
                      </a:pPr>
                      <a:r>
                        <a:rPr b="1" lang="en" sz="1900">
                          <a:latin typeface="Verdana"/>
                          <a:ea typeface="Verdana"/>
                          <a:cs typeface="Verdana"/>
                          <a:sym typeface="Verdana"/>
                        </a:rPr>
                        <a:t>Target 85%</a:t>
                      </a:r>
                      <a:endParaRPr b="1" sz="1900">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19050">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solidFill>
                      <a:srgbClr val="FFFF00"/>
                    </a:solidFill>
                  </a:tcPr>
                </a:tc>
                <a:tc hMerge="1">
                  <a:txBody>
                    <a:bodyPr/>
                    <a:lstStyle/>
                    <a:p>
                      <a:endParaRPr lang="en-US"/>
                    </a:p>
                  </a:txBody>
                  <a:tcPr/>
                </a:tc>
                <a:extLst>
                  <a:ext uri="{0D108BD9-81ED-4DB2-BD59-A6C34878D82A}">
                    <a16:rowId xmlns:a16="http://schemas.microsoft.com/office/drawing/2014/main" val="10000"/>
                  </a:ext>
                </a:extLst>
              </a:tr>
              <a:tr h="579425">
                <a:tc>
                  <a:txBody>
                    <a:bodyPr/>
                    <a:lstStyle/>
                    <a:p>
                      <a:pPr algn="ctr" indent="0" lvl="0" marL="0" rtl="0">
                        <a:spcBef>
                          <a:spcPts val="0"/>
                        </a:spcBef>
                        <a:spcAft>
                          <a:spcPts val="0"/>
                        </a:spcAft>
                        <a:buNone/>
                      </a:pPr>
                      <a:r>
                        <a:rPr b="1" lang="en">
                          <a:latin typeface="Verdana"/>
                          <a:ea typeface="Verdana"/>
                          <a:cs typeface="Verdana"/>
                          <a:sym typeface="Verdana"/>
                        </a:rPr>
                        <a:t>12-18</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19-25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26-35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36-45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46-55</a:t>
                      </a:r>
                      <a:endParaRPr b="1">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56+</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1"/>
                  </a:ext>
                </a:extLst>
              </a:tr>
              <a:tr h="527425">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100">
                          <a:solidFill>
                            <a:schemeClr val="dk1"/>
                          </a:solidFill>
                          <a:latin typeface="Verdana"/>
                          <a:ea typeface="Verdana"/>
                          <a:cs typeface="Verdana"/>
                          <a:sym typeface="Verdana"/>
                        </a:rPr>
                        <a:t>{{have26to35}}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2"/>
                  </a:ext>
                </a:extLst>
              </a:tr>
              <a:tr h="527425">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100">
                          <a:solidFill>
                            <a:schemeClr val="dk1"/>
                          </a:solidFill>
                          <a:latin typeface="Verdana"/>
                          <a:ea typeface="Verdana"/>
                          <a:cs typeface="Verdana"/>
                          <a:sym typeface="Verdana"/>
                        </a:rPr>
                        <a:t>{{want26to35}}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extLst>
                  <a:ext uri="{0D108BD9-81ED-4DB2-BD59-A6C34878D82A}">
                    <a16:rowId xmlns:a16="http://schemas.microsoft.com/office/drawing/2014/main" val="10003"/>
                  </a:ext>
                </a:extLst>
              </a:tr>
            </a:tbl>
          </a:graphicData>
        </a:graphic>
      </p:graphicFrame>
      <p:sp>
        <p:nvSpPr>
          <p:cNvPr id="206" name="Google Shape;206;p20"/>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Target Marketing</a:t>
            </a:r>
            <a:endParaRPr/>
          </a:p>
        </p:txBody>
      </p:sp>
      <p:sp>
        <p:nvSpPr>
          <p:cNvPr id="207" name="Google Shape;207;p20"/>
          <p:cNvSpPr txBox="1"/>
          <p:nvPr/>
        </p:nvSpPr>
        <p:spPr>
          <a:xfrm>
            <a:off x="364750" y="1172575"/>
            <a:ext cx="5008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A. What percentage of your "target" consumers are men?</a:t>
            </a:r>
            <a:endParaRPr b="1"/>
          </a:p>
        </p:txBody>
      </p:sp>
      <p:sp>
        <p:nvSpPr>
          <p:cNvPr id="208" name="Google Shape;208;p20"/>
          <p:cNvSpPr txBox="1"/>
          <p:nvPr/>
        </p:nvSpPr>
        <p:spPr>
          <a:xfrm>
            <a:off x="5806900" y="1172575"/>
            <a:ext cx="951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Women?</a:t>
            </a:r>
            <a:endParaRPr b="1"/>
          </a:p>
        </p:txBody>
      </p:sp>
      <p:sp>
        <p:nvSpPr>
          <p:cNvPr id="209" name="Google Shape;209;p20"/>
          <p:cNvSpPr txBox="1"/>
          <p:nvPr/>
        </p:nvSpPr>
        <p:spPr>
          <a:xfrm>
            <a:off x="364750" y="1650325"/>
            <a:ext cx="6280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B. What is the perceived income of your “target” consumer household?</a:t>
            </a:r>
            <a:endParaRPr b="1"/>
          </a:p>
        </p:txBody>
      </p:sp>
      <p:sp>
        <p:nvSpPr>
          <p:cNvPr id="210" name="Google Shape;210;p20"/>
          <p:cNvSpPr txBox="1"/>
          <p:nvPr/>
        </p:nvSpPr>
        <p:spPr>
          <a:xfrm>
            <a:off x="364750" y="2748325"/>
            <a:ext cx="7620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b="1" lang="en" sz="1150">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11" name="Google Shape;211;p20"/>
          <p:cNvSpPr txBox="1"/>
          <p:nvPr/>
        </p:nvSpPr>
        <p:spPr>
          <a:xfrm>
            <a:off x="364750" y="4032238"/>
            <a:ext cx="8458200" cy="526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800"/>
              </a:spcBef>
              <a:spcAft>
                <a:spcPts val="800"/>
              </a:spcAft>
              <a:buNone/>
            </a:pPr>
            <a:r>
              <a:rPr b="1" lang="en" sz="1150">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12" name="Google Shape;212;p20"/>
          <p:cNvSpPr txBox="1"/>
          <p:nvPr/>
        </p:nvSpPr>
        <p:spPr>
          <a:xfrm>
            <a:off x="136652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13" name="Google Shape;213;p20"/>
          <p:cNvSpPr txBox="1"/>
          <p:nvPr/>
        </p:nvSpPr>
        <p:spPr>
          <a:xfrm>
            <a:off x="30973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14" name="Google Shape;214;p20"/>
          <p:cNvSpPr txBox="1"/>
          <p:nvPr/>
        </p:nvSpPr>
        <p:spPr>
          <a:xfrm>
            <a:off x="48281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15" name="Google Shape;215;p20"/>
          <p:cNvSpPr txBox="1"/>
          <p:nvPr/>
        </p:nvSpPr>
        <p:spPr>
          <a:xfrm>
            <a:off x="655887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16" name="Google Shape;216;p20"/>
          <p:cNvSpPr txBox="1"/>
          <p:nvPr/>
        </p:nvSpPr>
        <p:spPr>
          <a:xfrm>
            <a:off x="364750" y="3390288"/>
            <a:ext cx="7818000" cy="433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17" name="Google Shape;217;p20"/>
          <p:cNvSpPr txBox="1"/>
          <p:nvPr/>
        </p:nvSpPr>
        <p:spPr>
          <a:xfrm>
            <a:off x="5284900"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18" name="Google Shape;218;p20"/>
          <p:cNvSpPr txBox="1"/>
          <p:nvPr/>
        </p:nvSpPr>
        <p:spPr>
          <a:xfrm>
            <a:off x="6707075"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19" name="Google Shape;219;p20"/>
          <p:cNvSpPr txBox="1"/>
          <p:nvPr/>
        </p:nvSpPr>
        <p:spPr>
          <a:xfrm>
            <a:off x="2286000" y="1883664"/>
            <a:ext cx="706200" cy="80463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220" name="Google Shape;220;p20"/>
          <p:cNvSpPr txBox="1"/>
          <p:nvPr/>
        </p:nvSpPr>
        <p:spPr>
          <a:xfrm>
            <a:off x="4023360" y="1883664"/>
            <a:ext cx="704100" cy="96396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221" name="Google Shape;221;p20"/>
          <p:cNvSpPr txBox="1"/>
          <p:nvPr/>
        </p:nvSpPr>
        <p:spPr>
          <a:xfrm>
            <a:off x="5779008" y="1883664"/>
            <a:ext cx="706200" cy="72498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222" name="Google Shape;222;p20"/>
          <p:cNvSpPr txBox="1"/>
          <p:nvPr/>
        </p:nvSpPr>
        <p:spPr>
          <a:xfrm>
            <a:off x="557784" y="1883664"/>
            <a:ext cx="704100" cy="104361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223" name="Google Shape;223;p20"/>
          <p:cNvSpPr/>
          <p:nvPr/>
        </p:nvSpPr>
        <p:spPr>
          <a:xfrm rot="5400000">
            <a:off x="4876122" y="4330739"/>
            <a:ext cx="566100" cy="1022700"/>
          </a:xfrm>
          <a:prstGeom prst="curvedRightArrow">
            <a:avLst>
              <a:gd fmla="val 25000" name="adj1"/>
              <a:gd fmla="val 50000" name="adj2"/>
              <a:gd fmla="val 25000" name="adj3"/>
            </a:avLst>
          </a:prstGeom>
          <a:solidFill>
            <a:srgbClr val="FF0000"/>
          </a:solidFill>
          <a:ln cap="flat" cmpd="sng" w="9525">
            <a:solidFill>
              <a:srgbClr val="FF0000"/>
            </a:solidFill>
            <a:prstDash val="solid"/>
            <a:round/>
            <a:headEnd len="sm" type="none" w="sm"/>
            <a:tailEnd len="sm" type="none" w="sm"/>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224" name="Google Shape;224;p20"/>
          <p:cNvSpPr txBox="1"/>
          <p:nvPr/>
        </p:nvSpPr>
        <p:spPr>
          <a:xfrm>
            <a:off x="290900" y="5737428"/>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HAVE</a:t>
            </a:r>
            <a:endParaRPr b="1">
              <a:latin typeface="Verdana"/>
              <a:ea typeface="Verdana"/>
              <a:cs typeface="Verdana"/>
              <a:sym typeface="Verdana"/>
            </a:endParaRPr>
          </a:p>
        </p:txBody>
      </p:sp>
      <p:sp>
        <p:nvSpPr>
          <p:cNvPr id="225" name="Google Shape;225;p20"/>
          <p:cNvSpPr txBox="1"/>
          <p:nvPr/>
        </p:nvSpPr>
        <p:spPr>
          <a:xfrm>
            <a:off x="290900" y="6286925"/>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Shape 229"/>
        <p:cNvGrpSpPr/>
        <p:nvPr/>
      </p:nvGrpSpPr>
      <p:grpSpPr>
        <a:xfrm>
          <a:off x="0" y="0"/>
          <a:ext cx="0" cy="0"/>
          <a:chOff x="0" y="0"/>
          <a:chExt cx="0" cy="0"/>
        </a:xfrm>
      </p:grpSpPr>
      <p:sp>
        <p:nvSpPr>
          <p:cNvPr id="230" name="Google Shape;230;p21"/>
          <p:cNvSpPr txBox="1"/>
          <p:nvPr/>
        </p:nvSpPr>
        <p:spPr>
          <a:xfrm>
            <a:off x="2286000" y="1883664"/>
            <a:ext cx="706200" cy="80463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231" name="Google Shape;231;p21"/>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Target Marketing</a:t>
            </a:r>
            <a:endParaRPr/>
          </a:p>
        </p:txBody>
      </p:sp>
      <p:sp>
        <p:nvSpPr>
          <p:cNvPr id="232" name="Google Shape;232;p21"/>
          <p:cNvSpPr txBox="1"/>
          <p:nvPr/>
        </p:nvSpPr>
        <p:spPr>
          <a:xfrm>
            <a:off x="364750" y="1172575"/>
            <a:ext cx="5008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A. What percentage of your "target" consumers are men?</a:t>
            </a:r>
            <a:endParaRPr b="1"/>
          </a:p>
        </p:txBody>
      </p:sp>
      <p:sp>
        <p:nvSpPr>
          <p:cNvPr id="233" name="Google Shape;233;p21"/>
          <p:cNvSpPr txBox="1"/>
          <p:nvPr/>
        </p:nvSpPr>
        <p:spPr>
          <a:xfrm>
            <a:off x="5806900" y="1172575"/>
            <a:ext cx="951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Women?</a:t>
            </a:r>
            <a:endParaRPr b="1"/>
          </a:p>
        </p:txBody>
      </p:sp>
      <p:sp>
        <p:nvSpPr>
          <p:cNvPr id="234" name="Google Shape;234;p21"/>
          <p:cNvSpPr txBox="1"/>
          <p:nvPr/>
        </p:nvSpPr>
        <p:spPr>
          <a:xfrm>
            <a:off x="364750" y="1650325"/>
            <a:ext cx="6280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B. What is the perceived income of your “target” consumer household?</a:t>
            </a:r>
            <a:endParaRPr b="1"/>
          </a:p>
        </p:txBody>
      </p:sp>
      <p:sp>
        <p:nvSpPr>
          <p:cNvPr id="235" name="Google Shape;235;p21"/>
          <p:cNvSpPr txBox="1"/>
          <p:nvPr/>
        </p:nvSpPr>
        <p:spPr>
          <a:xfrm>
            <a:off x="364750" y="2748325"/>
            <a:ext cx="7620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b="1" lang="en" sz="1150">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36" name="Google Shape;236;p21"/>
          <p:cNvSpPr txBox="1"/>
          <p:nvPr/>
        </p:nvSpPr>
        <p:spPr>
          <a:xfrm>
            <a:off x="364750" y="4032238"/>
            <a:ext cx="8458200" cy="526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800"/>
              </a:spcBef>
              <a:spcAft>
                <a:spcPts val="800"/>
              </a:spcAft>
              <a:buNone/>
            </a:pPr>
            <a:r>
              <a:rPr b="1" lang="en" sz="1150">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237" name="Google Shape;237;p21"/>
          <p:cNvGraphicFramePr/>
          <p:nvPr/>
        </p:nvGraphicFramePr>
        <p:xfrm>
          <a:off x="1203108" y="4562856"/>
          <a:ext cx="6741175" cy="2261912"/>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algn="ctr" indent="0" lvl="0" marL="0" rtl="0">
                        <a:spcBef>
                          <a:spcPts val="0"/>
                        </a:spcBef>
                        <a:spcAft>
                          <a:spcPts val="0"/>
                        </a:spcAft>
                        <a:buNone/>
                      </a:pPr>
                      <a:endParaRPr/>
                    </a:p>
                  </a:txBody>
                  <a:tcPr anchor="ctr" marB="91425" marL="91425" marR="91425" marT="91425">
                    <a:lnL cap="flat" cmpd="sng" w="9525">
                      <a:solidFill>
                        <a:srgbClr val="000000">
                          <a:alpha val="0"/>
                        </a:srgbClr>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gridSpan="2">
                  <a:txBody>
                    <a:bodyPr/>
                    <a:lstStyle/>
                    <a:p>
                      <a:pPr algn="ctr" indent="0" lvl="0" marL="0" rtl="0">
                        <a:spcBef>
                          <a:spcPts val="0"/>
                        </a:spcBef>
                        <a:spcAft>
                          <a:spcPts val="0"/>
                        </a:spcAft>
                        <a:buNone/>
                      </a:pPr>
                      <a:r>
                        <a:rPr b="1" lang="en" sz="1900">
                          <a:solidFill>
                            <a:schemeClr val="dk1"/>
                          </a:solidFill>
                          <a:latin typeface="Verdana"/>
                          <a:ea typeface="Verdana"/>
                          <a:cs typeface="Verdana"/>
                          <a:sym typeface="Verdana"/>
                        </a:rPr>
                        <a:t>Target</a:t>
                      </a:r>
                      <a:r>
                        <a:rPr lang="en"/>
                        <a:t> </a:t>
                      </a:r>
                      <a:r>
                        <a:rPr b="1" lang="en" sz="1900">
                          <a:solidFill>
                            <a:schemeClr val="dk1"/>
                          </a:solidFill>
                          <a:latin typeface="Verdana"/>
                          <a:ea typeface="Verdana"/>
                          <a:cs typeface="Verdana"/>
                          <a:sym typeface="Verdana"/>
                        </a:rPr>
                        <a:t>85%</a:t>
                      </a:r>
                      <a:endParaRPr b="1" sz="1900">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19050">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solidFill>
                      <a:srgbClr val="FFFF00"/>
                    </a:solidFill>
                  </a:tcPr>
                </a:tc>
                <a:tc hMerge="1">
                  <a:txBody>
                    <a:bodyPr/>
                    <a:lstStyle/>
                    <a:p>
                      <a:endParaRPr lang="en-US"/>
                    </a:p>
                  </a:txBody>
                  <a:tcPr/>
                </a:tc>
                <a:tc>
                  <a:txBody>
                    <a:bodyPr/>
                    <a:lstStyle/>
                    <a:p>
                      <a:pPr algn="ctr" indent="0" lvl="0" marL="0" rtl="0">
                        <a:spcBef>
                          <a:spcPts val="0"/>
                        </a:spcBef>
                        <a:spcAft>
                          <a:spcPts val="0"/>
                        </a:spcAft>
                        <a:buNone/>
                      </a:pPr>
                      <a:endParaRPr b="1" sz="1900">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alpha val="0"/>
                        </a:srgbClr>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a:p>
                  </a:txBody>
                  <a:tcPr anchor="ctr" marB="91425" marL="91425" marR="91425" marT="91425">
                    <a:lnL cap="flat" cmpd="sng" w="9525">
                      <a:solidFill>
                        <a:srgbClr val="000000">
                          <a:alpha val="0"/>
                        </a:srgbClr>
                      </a:solidFill>
                      <a:prstDash val="solid"/>
                      <a:round/>
                      <a:headEnd len="sm" type="none" w="sm"/>
                      <a:tailEnd len="sm" type="none" w="sm"/>
                    </a:lnL>
                    <a:lnR cap="flat" cmpd="sng" w="9525">
                      <a:solidFill>
                        <a:srgbClr val="000000">
                          <a:alpha val="0"/>
                        </a:srgbClr>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a:p>
                  </a:txBody>
                  <a:tcPr anchor="ctr" marB="91425" marL="91425" marR="91425" marT="91425">
                    <a:lnL cap="flat" cmpd="sng" w="9525">
                      <a:solidFill>
                        <a:srgbClr val="000000">
                          <a:alpha val="0"/>
                        </a:srgbClr>
                      </a:solidFill>
                      <a:prstDash val="solid"/>
                      <a:round/>
                      <a:headEnd len="sm" type="none" w="sm"/>
                      <a:tailEnd len="sm" type="none" w="sm"/>
                    </a:lnL>
                    <a:lnR cap="flat" cmpd="sng" w="9525">
                      <a:solidFill>
                        <a:srgbClr val="000000">
                          <a:alpha val="0"/>
                        </a:srgbClr>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0"/>
                  </a:ext>
                </a:extLst>
              </a:tr>
              <a:tr h="579425">
                <a:tc>
                  <a:txBody>
                    <a:bodyPr/>
                    <a:lstStyle/>
                    <a:p>
                      <a:pPr algn="ctr" indent="0" lvl="0" marL="0" rtl="0">
                        <a:spcBef>
                          <a:spcPts val="0"/>
                        </a:spcBef>
                        <a:spcAft>
                          <a:spcPts val="0"/>
                        </a:spcAft>
                        <a:buNone/>
                      </a:pPr>
                      <a:r>
                        <a:rPr b="1" lang="en">
                          <a:latin typeface="Verdana"/>
                          <a:ea typeface="Verdana"/>
                          <a:cs typeface="Verdana"/>
                          <a:sym typeface="Verdana"/>
                        </a:rPr>
                        <a:t>12-18</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19-25</a:t>
                      </a:r>
                      <a:endParaRPr b="1">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26-35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36-45</a:t>
                      </a:r>
                      <a:endParaRPr b="1">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46-55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56+</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1"/>
                  </a:ext>
                </a:extLst>
              </a:tr>
              <a:tr h="527425">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100">
                          <a:solidFill>
                            <a:schemeClr val="dk1"/>
                          </a:solidFill>
                          <a:latin typeface="Verdana"/>
                          <a:ea typeface="Verdana"/>
                          <a:cs typeface="Verdana"/>
                          <a:sym typeface="Verdana"/>
                        </a:rPr>
                        <a:t>{{have26to35}}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2"/>
                  </a:ext>
                </a:extLst>
              </a:tr>
              <a:tr h="527425">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100">
                          <a:solidFill>
                            <a:schemeClr val="dk1"/>
                          </a:solidFill>
                          <a:latin typeface="Verdana"/>
                          <a:ea typeface="Verdana"/>
                          <a:cs typeface="Verdana"/>
                          <a:sym typeface="Verdana"/>
                        </a:rPr>
                        <a:t>{{want26to35}}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3"/>
                  </a:ext>
                </a:extLst>
              </a:tr>
            </a:tbl>
          </a:graphicData>
        </a:graphic>
      </p:graphicFrame>
      <p:sp>
        <p:nvSpPr>
          <p:cNvPr id="238" name="Google Shape;238;p21"/>
          <p:cNvSpPr txBox="1"/>
          <p:nvPr/>
        </p:nvSpPr>
        <p:spPr>
          <a:xfrm>
            <a:off x="136652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39" name="Google Shape;239;p21"/>
          <p:cNvSpPr txBox="1"/>
          <p:nvPr/>
        </p:nvSpPr>
        <p:spPr>
          <a:xfrm>
            <a:off x="30973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40" name="Google Shape;240;p21"/>
          <p:cNvSpPr txBox="1"/>
          <p:nvPr/>
        </p:nvSpPr>
        <p:spPr>
          <a:xfrm>
            <a:off x="48281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41" name="Google Shape;241;p21"/>
          <p:cNvSpPr txBox="1"/>
          <p:nvPr/>
        </p:nvSpPr>
        <p:spPr>
          <a:xfrm>
            <a:off x="655887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42" name="Google Shape;242;p21"/>
          <p:cNvSpPr txBox="1"/>
          <p:nvPr/>
        </p:nvSpPr>
        <p:spPr>
          <a:xfrm>
            <a:off x="364750" y="3390288"/>
            <a:ext cx="7818000" cy="433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43" name="Google Shape;243;p21"/>
          <p:cNvSpPr txBox="1"/>
          <p:nvPr/>
        </p:nvSpPr>
        <p:spPr>
          <a:xfrm>
            <a:off x="5284900"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44" name="Google Shape;244;p21"/>
          <p:cNvSpPr txBox="1"/>
          <p:nvPr/>
        </p:nvSpPr>
        <p:spPr>
          <a:xfrm>
            <a:off x="6707075"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45" name="Google Shape;245;p21"/>
          <p:cNvSpPr txBox="1"/>
          <p:nvPr/>
        </p:nvSpPr>
        <p:spPr>
          <a:xfrm>
            <a:off x="4023360" y="1883664"/>
            <a:ext cx="704100" cy="96396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246" name="Google Shape;246;p21"/>
          <p:cNvSpPr txBox="1"/>
          <p:nvPr/>
        </p:nvSpPr>
        <p:spPr>
          <a:xfrm>
            <a:off x="5779008" y="1883664"/>
            <a:ext cx="706200" cy="72498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247" name="Google Shape;247;p21"/>
          <p:cNvSpPr txBox="1"/>
          <p:nvPr/>
        </p:nvSpPr>
        <p:spPr>
          <a:xfrm>
            <a:off x="557784" y="1883664"/>
            <a:ext cx="704100" cy="104361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248" name="Google Shape;248;p21"/>
          <p:cNvSpPr/>
          <p:nvPr/>
        </p:nvSpPr>
        <p:spPr>
          <a:xfrm rot="5400000">
            <a:off x="1508460" y="4330739"/>
            <a:ext cx="566100" cy="1022700"/>
          </a:xfrm>
          <a:prstGeom prst="curvedRightArrow">
            <a:avLst>
              <a:gd fmla="val 25000" name="adj1"/>
              <a:gd fmla="val 50000" name="adj2"/>
              <a:gd fmla="val 25000" name="adj3"/>
            </a:avLst>
          </a:prstGeom>
          <a:solidFill>
            <a:srgbClr val="FF0000"/>
          </a:solidFill>
          <a:ln cap="flat" cmpd="sng" w="9525">
            <a:solidFill>
              <a:srgbClr val="FF0000"/>
            </a:solidFill>
            <a:prstDash val="solid"/>
            <a:round/>
            <a:headEnd len="sm" type="none" w="sm"/>
            <a:tailEnd len="sm" type="none" w="sm"/>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249" name="Google Shape;249;p21"/>
          <p:cNvSpPr/>
          <p:nvPr/>
        </p:nvSpPr>
        <p:spPr>
          <a:xfrm flipH="1" rot="-5400000">
            <a:off x="4862194" y="4330739"/>
            <a:ext cx="566100" cy="1022700"/>
          </a:xfrm>
          <a:prstGeom prst="curvedRightArrow">
            <a:avLst>
              <a:gd fmla="val 25000" name="adj1"/>
              <a:gd fmla="val 50000" name="adj2"/>
              <a:gd fmla="val 25000" name="adj3"/>
            </a:avLst>
          </a:prstGeom>
          <a:solidFill>
            <a:srgbClr val="FF0000"/>
          </a:solidFill>
          <a:ln cap="flat" cmpd="sng" w="9525">
            <a:solidFill>
              <a:srgbClr val="FF0000"/>
            </a:solidFill>
            <a:prstDash val="solid"/>
            <a:round/>
            <a:headEnd len="sm" type="none" w="sm"/>
            <a:tailEnd len="sm" type="none" w="sm"/>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250" name="Google Shape;250;p21"/>
          <p:cNvSpPr txBox="1"/>
          <p:nvPr/>
        </p:nvSpPr>
        <p:spPr>
          <a:xfrm>
            <a:off x="290900" y="5737428"/>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HAVE</a:t>
            </a:r>
            <a:endParaRPr b="1">
              <a:latin typeface="Verdana"/>
              <a:ea typeface="Verdana"/>
              <a:cs typeface="Verdana"/>
              <a:sym typeface="Verdana"/>
            </a:endParaRPr>
          </a:p>
        </p:txBody>
      </p:sp>
      <p:sp>
        <p:nvSpPr>
          <p:cNvPr id="251" name="Google Shape;251;p21"/>
          <p:cNvSpPr txBox="1"/>
          <p:nvPr/>
        </p:nvSpPr>
        <p:spPr>
          <a:xfrm>
            <a:off x="290900" y="6286925"/>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Shape 255"/>
        <p:cNvGrpSpPr/>
        <p:nvPr/>
      </p:nvGrpSpPr>
      <p:grpSpPr>
        <a:xfrm>
          <a:off x="0" y="0"/>
          <a:ext cx="0" cy="0"/>
          <a:chOff x="0" y="0"/>
          <a:chExt cx="0" cy="0"/>
        </a:xfrm>
      </p:grpSpPr>
      <p:sp>
        <p:nvSpPr>
          <p:cNvPr id="256" name="Google Shape;256;p22"/>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Target Marketing</a:t>
            </a:r>
            <a:endParaRPr/>
          </a:p>
        </p:txBody>
      </p:sp>
      <p:sp>
        <p:nvSpPr>
          <p:cNvPr id="257" name="Google Shape;257;p22"/>
          <p:cNvSpPr txBox="1"/>
          <p:nvPr/>
        </p:nvSpPr>
        <p:spPr>
          <a:xfrm>
            <a:off x="364750" y="1172575"/>
            <a:ext cx="5008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A. What percentage of your "target" consumers are men?</a:t>
            </a:r>
            <a:endParaRPr b="1"/>
          </a:p>
        </p:txBody>
      </p:sp>
      <p:sp>
        <p:nvSpPr>
          <p:cNvPr id="258" name="Google Shape;258;p22"/>
          <p:cNvSpPr txBox="1"/>
          <p:nvPr/>
        </p:nvSpPr>
        <p:spPr>
          <a:xfrm>
            <a:off x="5806900" y="1172575"/>
            <a:ext cx="951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Women?</a:t>
            </a:r>
            <a:endParaRPr b="1"/>
          </a:p>
        </p:txBody>
      </p:sp>
      <p:sp>
        <p:nvSpPr>
          <p:cNvPr id="259" name="Google Shape;259;p22"/>
          <p:cNvSpPr txBox="1"/>
          <p:nvPr/>
        </p:nvSpPr>
        <p:spPr>
          <a:xfrm>
            <a:off x="364750" y="1650325"/>
            <a:ext cx="62802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B. What is the perceived income of your “target” consumer household?</a:t>
            </a:r>
            <a:endParaRPr b="1"/>
          </a:p>
        </p:txBody>
      </p:sp>
      <p:sp>
        <p:nvSpPr>
          <p:cNvPr id="260" name="Google Shape;260;p22"/>
          <p:cNvSpPr txBox="1"/>
          <p:nvPr/>
        </p:nvSpPr>
        <p:spPr>
          <a:xfrm>
            <a:off x="364750" y="2748325"/>
            <a:ext cx="7620900" cy="433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b="1" lang="en" sz="1150">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b="1" lang="en" sz="1150">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61" name="Google Shape;261;p22"/>
          <p:cNvSpPr txBox="1"/>
          <p:nvPr/>
        </p:nvSpPr>
        <p:spPr>
          <a:xfrm>
            <a:off x="364750" y="4032250"/>
            <a:ext cx="8458200" cy="526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800"/>
              </a:spcBef>
              <a:spcAft>
                <a:spcPts val="800"/>
              </a:spcAft>
              <a:buNone/>
            </a:pPr>
            <a:r>
              <a:rPr b="1" lang="en" sz="1150">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62" name="Google Shape;262;p22"/>
          <p:cNvSpPr txBox="1"/>
          <p:nvPr/>
        </p:nvSpPr>
        <p:spPr>
          <a:xfrm>
            <a:off x="136652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63" name="Google Shape;263;p22"/>
          <p:cNvSpPr txBox="1"/>
          <p:nvPr/>
        </p:nvSpPr>
        <p:spPr>
          <a:xfrm>
            <a:off x="30973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64" name="Google Shape;264;p22"/>
          <p:cNvSpPr txBox="1"/>
          <p:nvPr/>
        </p:nvSpPr>
        <p:spPr>
          <a:xfrm>
            <a:off x="4828100"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algn="l" indent="0" lvl="0" marL="0"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65" name="Google Shape;265;p22"/>
          <p:cNvSpPr txBox="1"/>
          <p:nvPr/>
        </p:nvSpPr>
        <p:spPr>
          <a:xfrm>
            <a:off x="6558875" y="2058725"/>
            <a:ext cx="818400" cy="526800"/>
          </a:xfrm>
          <a:prstGeom prst="rect">
            <a:avLst/>
          </a:prstGeom>
          <a:noFill/>
          <a:ln>
            <a:noFill/>
          </a:ln>
        </p:spPr>
        <p:txBody>
          <a:bodyPr anchor="ctr" anchorCtr="0" bIns="91425" lIns="91425" rIns="91425" spcFirstLastPara="1" tIns="91425" wrap="square">
            <a:noAutofit/>
          </a:bodyPr>
          <a:lstStyle/>
          <a:p>
            <a:pPr algn="l" indent="0" lvl="0" marL="0"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66" name="Google Shape;266;p22"/>
          <p:cNvSpPr txBox="1"/>
          <p:nvPr/>
        </p:nvSpPr>
        <p:spPr>
          <a:xfrm>
            <a:off x="364750" y="3390288"/>
            <a:ext cx="7818000" cy="433800"/>
          </a:xfrm>
          <a:prstGeom prst="rect">
            <a:avLst/>
          </a:prstGeom>
          <a:noFill/>
          <a:ln>
            <a:noFill/>
          </a:ln>
        </p:spPr>
        <p:txBody>
          <a:bodyPr anchor="ctr" anchorCtr="0" bIns="91425" lIns="91425" rIns="91425" spcFirstLastPara="1" tIns="91425" wrap="square">
            <a:noAutofit/>
          </a:bodyPr>
          <a:lstStyle/>
          <a:p>
            <a:pPr algn="l" indent="0" lvl="0" marL="0"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67" name="Google Shape;267;p22"/>
          <p:cNvSpPr txBox="1"/>
          <p:nvPr/>
        </p:nvSpPr>
        <p:spPr>
          <a:xfrm>
            <a:off x="5284900"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68" name="Google Shape;268;p22"/>
          <p:cNvSpPr txBox="1"/>
          <p:nvPr/>
        </p:nvSpPr>
        <p:spPr>
          <a:xfrm>
            <a:off x="6707075" y="1206625"/>
            <a:ext cx="522000" cy="365700"/>
          </a:xfrm>
          <a:prstGeom prst="rect">
            <a:avLst/>
          </a:prstGeom>
          <a:noFill/>
          <a:ln>
            <a:noFill/>
          </a:ln>
        </p:spPr>
        <p:txBody>
          <a:bodyPr anchor="t" anchorCtr="0" bIns="91425" lIns="91425" rIns="91425" spcFirstLastPara="1" tIns="91425" wrap="square">
            <a:noAutofit/>
          </a:bodyPr>
          <a:lstStyle/>
          <a:p>
            <a:pPr algn="l" indent="0" lvl="0" marL="0"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69" name="Google Shape;269;p22"/>
          <p:cNvSpPr txBox="1"/>
          <p:nvPr/>
        </p:nvSpPr>
        <p:spPr>
          <a:xfrm>
            <a:off x="2286000" y="1883664"/>
            <a:ext cx="706200" cy="80463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5099Id}}</a:t>
            </a:r>
            <a:endParaRPr sz="4500">
              <a:solidFill>
                <a:schemeClr val="dk1"/>
              </a:solidFill>
              <a:latin typeface="Verdana"/>
              <a:ea typeface="Verdana"/>
              <a:cs typeface="Verdana"/>
              <a:sym typeface="Verdana"/>
            </a:endParaRPr>
          </a:p>
        </p:txBody>
      </p:sp>
      <p:sp>
        <p:nvSpPr>
          <p:cNvPr id="270" name="Google Shape;270;p22"/>
          <p:cNvSpPr txBox="1"/>
          <p:nvPr/>
        </p:nvSpPr>
        <p:spPr>
          <a:xfrm>
            <a:off x="5779008" y="1883664"/>
            <a:ext cx="706200" cy="72498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150Id}}</a:t>
            </a:r>
            <a:endParaRPr sz="4500">
              <a:solidFill>
                <a:schemeClr val="dk1"/>
              </a:solidFill>
              <a:latin typeface="Verdana"/>
              <a:ea typeface="Verdana"/>
              <a:cs typeface="Verdana"/>
              <a:sym typeface="Verdana"/>
            </a:endParaRPr>
          </a:p>
        </p:txBody>
      </p:sp>
      <p:sp>
        <p:nvSpPr>
          <p:cNvPr id="271" name="Google Shape;271;p22"/>
          <p:cNvSpPr txBox="1"/>
          <p:nvPr/>
        </p:nvSpPr>
        <p:spPr>
          <a:xfrm>
            <a:off x="557784" y="1883664"/>
            <a:ext cx="704100" cy="104361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Clr>
                <a:schemeClr val="dk1"/>
              </a:buClr>
              <a:buSzPts val="1100"/>
              <a:buFont typeface="Arial"/>
              <a:buNone/>
            </a:pPr>
            <a:r>
              <a:rPr lang="en" sz="4500">
                <a:solidFill>
                  <a:schemeClr val="dk1"/>
                </a:solidFill>
                <a:latin typeface="Verdana"/>
                <a:ea typeface="Verdana"/>
                <a:cs typeface="Verdana"/>
                <a:sym typeface="Verdana"/>
              </a:rPr>
              <a:t>under50Id}}</a:t>
            </a:r>
            <a:endParaRPr sz="4500">
              <a:latin typeface="Verdana"/>
              <a:ea typeface="Verdana"/>
              <a:cs typeface="Verdana"/>
              <a:sym typeface="Verdana"/>
            </a:endParaRPr>
          </a:p>
        </p:txBody>
      </p:sp>
      <p:sp>
        <p:nvSpPr>
          <p:cNvPr id="272" name="Google Shape;272;p22"/>
          <p:cNvSpPr txBox="1"/>
          <p:nvPr/>
        </p:nvSpPr>
        <p:spPr>
          <a:xfrm>
            <a:off x="4023360" y="1883664"/>
            <a:ext cx="704100" cy="96396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0"/>
              </a:spcBef>
              <a:spcAft>
                <a:spcPts val="1600"/>
              </a:spcAft>
              <a:buNone/>
            </a:pPr>
            <a:r>
              <a:rPr lang="en" sz="4500">
                <a:solidFill>
                  <a:schemeClr val="dk1"/>
                </a:solidFill>
                <a:latin typeface="Verdana"/>
                <a:ea typeface="Verdana"/>
                <a:cs typeface="Verdana"/>
                <a:sym typeface="Verdana"/>
              </a:rPr>
              <a:t>100149Id}}</a:t>
            </a:r>
            <a:endParaRPr sz="4500">
              <a:latin typeface="Verdana"/>
              <a:ea typeface="Verdana"/>
              <a:cs typeface="Verdana"/>
              <a:sym typeface="Verdana"/>
            </a:endParaRPr>
          </a:p>
        </p:txBody>
      </p:sp>
      <p:sp>
        <p:nvSpPr>
          <p:cNvPr id="273" name="Google Shape;273;p22"/>
          <p:cNvSpPr/>
          <p:nvPr/>
        </p:nvSpPr>
        <p:spPr>
          <a:xfrm flipH="1" rot="-5400000">
            <a:off x="3729056" y="4330739"/>
            <a:ext cx="566100" cy="1022700"/>
          </a:xfrm>
          <a:prstGeom prst="curvedRightArrow">
            <a:avLst>
              <a:gd fmla="val 25000" name="adj1"/>
              <a:gd fmla="val 50000" name="adj2"/>
              <a:gd fmla="val 25000" name="adj3"/>
            </a:avLst>
          </a:prstGeom>
          <a:solidFill>
            <a:srgbClr val="FF0000"/>
          </a:solidFill>
          <a:ln cap="flat" cmpd="sng" w="9525">
            <a:solidFill>
              <a:srgbClr val="FF0000"/>
            </a:solidFill>
            <a:prstDash val="solid"/>
            <a:round/>
            <a:headEnd len="sm" type="none" w="sm"/>
            <a:tailEnd len="sm" type="none" w="sm"/>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graphicFrame>
        <p:nvGraphicFramePr>
          <p:cNvPr id="274" name="Google Shape;274;p22"/>
          <p:cNvGraphicFramePr/>
          <p:nvPr/>
        </p:nvGraphicFramePr>
        <p:xfrm>
          <a:off x="1203108" y="4562856"/>
          <a:ext cx="6741175" cy="2261912"/>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gridSpan="2">
                  <a:txBody>
                    <a:bodyPr/>
                    <a:lstStyle/>
                    <a:p>
                      <a:pPr algn="ctr" indent="0" lvl="0" marL="0" rtl="0">
                        <a:spcBef>
                          <a:spcPts val="0"/>
                        </a:spcBef>
                        <a:spcAft>
                          <a:spcPts val="0"/>
                        </a:spcAft>
                        <a:buNone/>
                      </a:pPr>
                      <a:r>
                        <a:rPr b="1" lang="en" sz="1900"/>
                        <a:t>Target 85%</a:t>
                      </a:r>
                      <a:endParaRPr b="1" sz="1900"/>
                    </a:p>
                  </a:txBody>
                  <a:tcPr anchor="ctr" marB="91425" marL="91425" marR="91425" marT="91425">
                    <a:lnL cap="flat" cmpd="sng" w="19050">
                      <a:solidFill>
                        <a:schemeClr val="dk1"/>
                      </a:solidFill>
                      <a:prstDash val="solid"/>
                      <a:round/>
                      <a:headEnd len="sm" type="none" w="sm"/>
                      <a:tailEnd len="sm" type="none" w="sm"/>
                    </a:lnL>
                    <a:lnR cap="flat" cmpd="sng" w="19050">
                      <a:solidFill>
                        <a:schemeClr val="dk1"/>
                      </a:solidFill>
                      <a:prstDash val="solid"/>
                      <a:round/>
                      <a:headEnd len="sm" type="none" w="sm"/>
                      <a:tailEnd len="sm" type="none" w="sm"/>
                    </a:lnR>
                    <a:lnT cap="flat" cmpd="sng" w="19050">
                      <a:solidFill>
                        <a:schemeClr val="dk1"/>
                      </a:solidFill>
                      <a:prstDash val="solid"/>
                      <a:round/>
                      <a:headEnd len="sm" type="none" w="sm"/>
                      <a:tailEnd len="sm" type="none" w="sm"/>
                    </a:lnT>
                    <a:lnB cap="flat" cmpd="sng" w="9525">
                      <a:solidFill>
                        <a:schemeClr val="dk1"/>
                      </a:solidFill>
                      <a:prstDash val="solid"/>
                      <a:round/>
                      <a:headEnd len="sm" type="none" w="sm"/>
                      <a:tailEnd len="sm" type="none" w="sm"/>
                    </a:lnB>
                    <a:solidFill>
                      <a:srgbClr val="FFFF00"/>
                    </a:solidFill>
                  </a:tcPr>
                </a:tc>
                <a:tc hMerge="1">
                  <a:txBody>
                    <a:bodyPr/>
                    <a:lstStyle/>
                    <a:p>
                      <a:endParaRPr lang="en-US"/>
                    </a:p>
                  </a:txBody>
                  <a:tcPr/>
                </a:tc>
                <a:tc>
                  <a:txBody>
                    <a:bodyPr/>
                    <a:lstStyle/>
                    <a:p>
                      <a:pPr algn="l" indent="0" lvl="0" marL="0" rtl="0">
                        <a:spcBef>
                          <a:spcPts val="0"/>
                        </a:spcBef>
                        <a:spcAft>
                          <a:spcPts val="0"/>
                        </a:spcAft>
                        <a:buNone/>
                      </a:pPr>
                      <a:endParaRPr/>
                    </a:p>
                  </a:txBody>
                  <a:tcPr anchor="ctr" marB="91425" marL="91425" marR="91425" marT="91425">
                    <a:lnL cap="flat" cmpd="sng" w="19050">
                      <a:solidFill>
                        <a:schemeClr val="dk1"/>
                      </a:solidFill>
                      <a:prstDash val="solid"/>
                      <a:round/>
                      <a:headEnd len="sm" type="none" w="sm"/>
                      <a:tailEnd len="sm" type="none" w="sm"/>
                    </a:lnL>
                    <a:lnR cap="flat" cmpd="sng" w="9525">
                      <a:solidFill>
                        <a:srgbClr val="000000">
                          <a:alpha val="0"/>
                        </a:srgbClr>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chemeClr val="dk1"/>
                      </a:solidFill>
                      <a:prstDash val="solid"/>
                      <a:round/>
                      <a:headEnd len="sm" type="none" w="sm"/>
                      <a:tailEnd len="sm" type="none" w="sm"/>
                    </a:lnB>
                  </a:tcPr>
                </a:tc>
                <a:tc>
                  <a:txBody>
                    <a:bodyPr/>
                    <a:lstStyle/>
                    <a:p>
                      <a:pPr algn="ctr" indent="0" lvl="0" marL="0" rtl="0">
                        <a:spcBef>
                          <a:spcPts val="0"/>
                        </a:spcBef>
                        <a:spcAft>
                          <a:spcPts val="0"/>
                        </a:spcAft>
                        <a:buNone/>
                      </a:pPr>
                      <a:endParaRPr b="1" sz="1900">
                        <a:latin typeface="Verdana"/>
                        <a:ea typeface="Verdana"/>
                        <a:cs typeface="Verdana"/>
                        <a:sym typeface="Verdana"/>
                      </a:endParaRPr>
                    </a:p>
                  </a:txBody>
                  <a:tcPr anchor="ctr" marB="91425" marL="91425" marR="91425" marT="91425">
                    <a:lnL cap="flat" cmpd="sng" w="9525">
                      <a:solidFill>
                        <a:srgbClr val="000000">
                          <a:alpha val="0"/>
                        </a:srgbClr>
                      </a:solidFill>
                      <a:prstDash val="solid"/>
                      <a:round/>
                      <a:headEnd len="sm" type="none" w="sm"/>
                      <a:tailEnd len="sm" type="none" w="sm"/>
                    </a:lnL>
                    <a:lnR cap="flat" cmpd="sng" w="9525">
                      <a:solidFill>
                        <a:srgbClr val="000000">
                          <a:alpha val="0"/>
                        </a:srgbClr>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a:p>
                  </a:txBody>
                  <a:tcPr anchor="ctr" marB="91425" marL="91425" marR="91425" marT="91425">
                    <a:lnL cap="flat" cmpd="sng" w="9525">
                      <a:solidFill>
                        <a:srgbClr val="000000">
                          <a:alpha val="0"/>
                        </a:srgbClr>
                      </a:solidFill>
                      <a:prstDash val="solid"/>
                      <a:round/>
                      <a:headEnd len="sm" type="none" w="sm"/>
                      <a:tailEnd len="sm" type="none" w="sm"/>
                    </a:lnL>
                    <a:lnR cap="flat" cmpd="sng" w="9525">
                      <a:solidFill>
                        <a:srgbClr val="000000">
                          <a:alpha val="0"/>
                        </a:srgbClr>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endParaRPr/>
                    </a:p>
                  </a:txBody>
                  <a:tcPr anchor="ctr" marB="91425" marL="91425" marR="91425" marT="91425">
                    <a:lnL cap="flat" cmpd="sng" w="9525">
                      <a:solidFill>
                        <a:srgbClr val="000000">
                          <a:alpha val="0"/>
                        </a:srgbClr>
                      </a:solidFill>
                      <a:prstDash val="solid"/>
                      <a:round/>
                      <a:headEnd len="sm" type="none" w="sm"/>
                      <a:tailEnd len="sm" type="none" w="sm"/>
                    </a:lnL>
                    <a:lnR cap="flat" cmpd="sng" w="9525">
                      <a:solidFill>
                        <a:srgbClr val="000000">
                          <a:alpha val="0"/>
                        </a:srgbClr>
                      </a:solidFill>
                      <a:prstDash val="solid"/>
                      <a:round/>
                      <a:headEnd len="sm" type="none" w="sm"/>
                      <a:tailEnd len="sm" type="none" w="sm"/>
                    </a:lnR>
                    <a:lnT cap="flat" cmpd="sng" w="9525">
                      <a:solidFill>
                        <a:srgbClr val="000000">
                          <a:alpha val="0"/>
                        </a:srgbClr>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0"/>
                  </a:ext>
                </a:extLst>
              </a:tr>
              <a:tr h="579425">
                <a:tc>
                  <a:txBody>
                    <a:bodyPr/>
                    <a:lstStyle/>
                    <a:p>
                      <a:pPr algn="ctr" indent="0" lvl="0" marL="0" rtl="0">
                        <a:spcBef>
                          <a:spcPts val="0"/>
                        </a:spcBef>
                        <a:spcAft>
                          <a:spcPts val="0"/>
                        </a:spcAft>
                        <a:buNone/>
                      </a:pPr>
                      <a:r>
                        <a:rPr b="1" lang="en">
                          <a:latin typeface="Verdana"/>
                          <a:ea typeface="Verdana"/>
                          <a:cs typeface="Verdana"/>
                          <a:sym typeface="Verdana"/>
                        </a:rPr>
                        <a:t>12-18</a:t>
                      </a:r>
                      <a:endParaRPr b="1">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chemeClr val="dk1"/>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19-25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chemeClr val="dk1"/>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26-35</a:t>
                      </a:r>
                      <a:endParaRPr b="1">
                        <a:latin typeface="Verdana"/>
                        <a:ea typeface="Verdana"/>
                        <a:cs typeface="Verdana"/>
                        <a:sym typeface="Verdana"/>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chemeClr val="dk1"/>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36-45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46-55</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spcBef>
                          <a:spcPts val="0"/>
                        </a:spcBef>
                        <a:spcAft>
                          <a:spcPts val="0"/>
                        </a:spcAft>
                        <a:buNone/>
                      </a:pPr>
                      <a:r>
                        <a:rPr b="1" lang="en">
                          <a:latin typeface="Verdana"/>
                          <a:ea typeface="Verdana"/>
                          <a:cs typeface="Verdana"/>
                          <a:sym typeface="Verdana"/>
                        </a:rPr>
                        <a:t>56+</a:t>
                      </a:r>
                      <a:endParaRPr b="1">
                        <a:latin typeface="Verdana"/>
                        <a:ea typeface="Verdana"/>
                        <a:cs typeface="Verdana"/>
                        <a:sym typeface="Verdana"/>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1"/>
                  </a:ext>
                </a:extLst>
              </a:tr>
              <a:tr h="527425">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{{have12to18}}</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{{have19to25}}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100">
                          <a:solidFill>
                            <a:schemeClr val="dk1"/>
                          </a:solidFill>
                          <a:latin typeface="Verdana"/>
                          <a:ea typeface="Verdana"/>
                          <a:cs typeface="Verdana"/>
                          <a:sym typeface="Verdana"/>
                        </a:rPr>
                        <a:t>{{have26to35}}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{{have46to55}}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{{have56Plus}}</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2"/>
                  </a:ext>
                </a:extLst>
              </a:tr>
              <a:tr h="527425">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{{want19to25}}</a:t>
                      </a:r>
                      <a:endParaRPr/>
                    </a:p>
                  </a:txBody>
                  <a:tcPr anchor="ctr" marB="91425" marL="91425" marR="91425" marT="91425">
                    <a:lnL cap="flat" cmpd="sng" w="9525">
                      <a:solidFill>
                        <a:srgbClr val="000000"/>
                      </a:solidFill>
                      <a:prstDash val="solid"/>
                      <a:round/>
                      <a:headEnd len="sm" type="none" w="sm"/>
                      <a:tailEnd len="sm" type="none" w="sm"/>
                    </a:lnL>
                    <a:lnR cap="flat" cmpd="sng" w="19050">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19050">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100">
                          <a:solidFill>
                            <a:schemeClr val="dk1"/>
                          </a:solidFill>
                          <a:latin typeface="Verdana"/>
                          <a:ea typeface="Verdana"/>
                          <a:cs typeface="Verdana"/>
                          <a:sym typeface="Verdana"/>
                        </a:rPr>
                        <a:t>{{want26to35}}</a:t>
                      </a:r>
                      <a:endParaRPr/>
                    </a:p>
                  </a:txBody>
                  <a:tcPr anchor="ctr" marB="91425" marL="91425" marR="91425" marT="91425">
                    <a:lnL cap="flat" cmpd="sng" w="19050">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{{want36to45}}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{{want46to55}}</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{{want55Plus}}</a:t>
                      </a:r>
                      <a:endParaRPr/>
                    </a:p>
                  </a:txBody>
                  <a:tcPr anchor="ctr" marB="91425" marL="91425" marR="91425" marT="91425">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000000"/>
                      </a:solidFill>
                      <a:prstDash val="solid"/>
                      <a:round/>
                      <a:headEnd len="sm" type="none" w="sm"/>
                      <a:tailEnd len="sm" type="none" w="sm"/>
                    </a:lnT>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3"/>
                  </a:ext>
                </a:extLst>
              </a:tr>
            </a:tbl>
          </a:graphicData>
        </a:graphic>
      </p:graphicFrame>
      <p:sp>
        <p:nvSpPr>
          <p:cNvPr id="275" name="Google Shape;275;p22"/>
          <p:cNvSpPr txBox="1"/>
          <p:nvPr/>
        </p:nvSpPr>
        <p:spPr>
          <a:xfrm>
            <a:off x="290900" y="5737428"/>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HAVE</a:t>
            </a:r>
            <a:endParaRPr b="1">
              <a:latin typeface="Verdana"/>
              <a:ea typeface="Verdana"/>
              <a:cs typeface="Verdana"/>
              <a:sym typeface="Verdana"/>
            </a:endParaRPr>
          </a:p>
        </p:txBody>
      </p:sp>
      <p:sp>
        <p:nvSpPr>
          <p:cNvPr id="276" name="Google Shape;276;p22"/>
          <p:cNvSpPr txBox="1"/>
          <p:nvPr/>
        </p:nvSpPr>
        <p:spPr>
          <a:xfrm>
            <a:off x="290900" y="6286925"/>
            <a:ext cx="910500" cy="5268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Shape 280"/>
        <p:cNvGrpSpPr/>
        <p:nvPr/>
      </p:nvGrpSpPr>
      <p:grpSpPr>
        <a:xfrm>
          <a:off x="0" y="0"/>
          <a:ext cx="0" cy="0"/>
          <a:chOff x="0" y="0"/>
          <a:chExt cx="0" cy="0"/>
        </a:xfrm>
      </p:grpSpPr>
      <p:sp>
        <p:nvSpPr>
          <p:cNvPr id="281" name="Google Shape;281;p23"/>
          <p:cNvSpPr txBox="1">
            <a:spLocks noGrp="1"/>
          </p:cNvSpPr>
          <p:nvPr>
            <p:ph type="ctrTitle"/>
          </p:nvPr>
        </p:nvSpPr>
        <p:spPr>
          <a:xfrm>
            <a:off x="693450" y="475488"/>
            <a:ext cx="7757100" cy="8544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sz="2500"/>
              <a:t>Recommended Reallocation of </a:t>
            </a:r>
            <a:endParaRPr sz="2500"/>
          </a:p>
          <a:p>
            <a:pPr algn="ctr" indent="0" lvl="0" marL="0" rtl="0">
              <a:spcBef>
                <a:spcPts val="0"/>
              </a:spcBef>
              <a:spcAft>
                <a:spcPts val="0"/>
              </a:spcAft>
              <a:buNone/>
            </a:pPr>
            <a:r>
              <a:rPr lang="en" sz="2500"/>
              <a:t>Total Advertising Investment (TAI)</a:t>
            </a:r>
            <a:endParaRPr sz="2500"/>
          </a:p>
        </p:txBody>
      </p:sp>
      <p:sp>
        <p:nvSpPr>
          <p:cNvPr id="282" name="Google Shape;282;p23"/>
          <p:cNvSpPr txBox="1">
            <a:spLocks noGrp="1"/>
          </p:cNvSpPr>
          <p:nvPr>
            <p:ph idx="1" type="body"/>
          </p:nvPr>
        </p:nvSpPr>
        <p:spPr>
          <a:xfrm>
            <a:off x="5157216" y="1351525"/>
            <a:ext cx="3592200" cy="3933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Proposed 12 Month Media Allocation</a:t>
            </a:r>
            <a:endParaRPr b="1" sz="1150">
              <a:solidFill>
                <a:srgbClr val="000000"/>
              </a:solidFill>
              <a:latin typeface="Verdana"/>
              <a:ea typeface="Verdana"/>
              <a:cs typeface="Verdana"/>
              <a:sym typeface="Verdana"/>
            </a:endParaRPr>
          </a:p>
        </p:txBody>
      </p:sp>
      <p:sp>
        <p:nvSpPr>
          <p:cNvPr id="283" name="Google Shape;283;p23"/>
          <p:cNvSpPr txBox="1"/>
          <p:nvPr/>
        </p:nvSpPr>
        <p:spPr>
          <a:xfrm>
            <a:off x="1143000" y="4122513"/>
            <a:ext cx="1510800" cy="538800"/>
          </a:xfrm>
          <a:prstGeom prst="rect">
            <a:avLst/>
          </a:prstGeom>
          <a:noFill/>
          <a:ln>
            <a:noFill/>
          </a:ln>
        </p:spPr>
        <p:txBody>
          <a:bodyPr anchor="t" anchorCtr="0" bIns="91425" lIns="91425" rIns="91425" spcFirstLastPara="1" tIns="91425" wrap="square">
            <a:spAutoFit/>
          </a:bodyPr>
          <a:lstStyle/>
          <a:p>
            <a:pPr algn="l" indent="0" lvl="0" marL="0" rtl="0">
              <a:lnSpc>
                <a:spcPct val="100000"/>
              </a:lnSpc>
              <a:spcBef>
                <a:spcPts val="0"/>
              </a:spcBef>
              <a:spcAft>
                <a:spcPts val="0"/>
              </a:spcAft>
              <a:buNone/>
            </a:pPr>
            <a:r>
              <a:rPr b="1" lang="en" sz="1150">
                <a:latin typeface="Verdana"/>
                <a:ea typeface="Verdana"/>
                <a:cs typeface="Verdana"/>
                <a:sym typeface="Verdana"/>
              </a:rPr>
              <a:t>Total Adv. Investment</a:t>
            </a:r>
            <a:endParaRPr b="1" sz="1150">
              <a:latin typeface="Verdana"/>
              <a:ea typeface="Verdana"/>
              <a:cs typeface="Verdana"/>
              <a:sym typeface="Verdana"/>
            </a:endParaRPr>
          </a:p>
        </p:txBody>
      </p:sp>
      <p:sp>
        <p:nvSpPr>
          <p:cNvPr id="284" name="Google Shape;284;p23"/>
          <p:cNvSpPr txBox="1"/>
          <p:nvPr/>
        </p:nvSpPr>
        <p:spPr>
          <a:xfrm>
            <a:off x="1140775" y="1641700"/>
            <a:ext cx="1782300" cy="2485800"/>
          </a:xfrm>
          <a:prstGeom prst="rect">
            <a:avLst/>
          </a:prstGeom>
          <a:noFill/>
          <a:ln>
            <a:noFill/>
          </a:ln>
        </p:spPr>
        <p:txBody>
          <a:bodyPr anchor="t" anchorCtr="0" bIns="91425" lIns="91425" rIns="91425" spcFirstLastPara="1" tIns="91425" wrap="square">
            <a:spAutoFit/>
          </a:bodyPr>
          <a:lstStyle/>
          <a:p>
            <a:pPr algn="l" indent="0" lvl="0" marL="0" rtl="0">
              <a:lnSpc>
                <a:spcPct val="150000"/>
              </a:lnSpc>
              <a:spcBef>
                <a:spcPts val="0"/>
              </a:spcBef>
              <a:spcAft>
                <a:spcPts val="0"/>
              </a:spcAft>
              <a:buNone/>
            </a:pPr>
            <a:r>
              <a:rPr lang="en" sz="1150">
                <a:latin typeface="Verdana"/>
                <a:ea typeface="Verdana"/>
                <a:cs typeface="Verdana"/>
                <a:sym typeface="Verdana"/>
              </a:rPr>
              <a:t>lastYearLabel1}}</a:t>
            </a:r>
            <a:endParaRPr sz="1150">
              <a:latin typeface="Verdana"/>
              <a:ea typeface="Verdana"/>
              <a:cs typeface="Verdana"/>
              <a:sym typeface="Verdana"/>
            </a:endParaRPr>
          </a:p>
          <a:p>
            <a:pPr algn="l" indent="0" lvl="0" marL="0" rtl="0">
              <a:lnSpc>
                <a:spcPct val="150000"/>
              </a:lnSpc>
              <a:spcBef>
                <a:spcPts val="0"/>
              </a:spcBef>
              <a:spcAft>
                <a:spcPts val="0"/>
              </a:spcAft>
              <a:buNone/>
            </a:pPr>
            <a:r>
              <a:rPr lang="en" sz="1150">
                <a:latin typeface="Verdana"/>
                <a:ea typeface="Verdana"/>
                <a:cs typeface="Verdana"/>
                <a:sym typeface="Verdana"/>
              </a:rPr>
              <a:t>lastYearLabel2}}</a:t>
            </a:r>
            <a:endParaRPr sz="1150">
              <a:latin typeface="Verdana"/>
              <a:ea typeface="Verdana"/>
              <a:cs typeface="Verdana"/>
              <a:sym typeface="Verdana"/>
            </a:endParaRPr>
          </a:p>
          <a:p>
            <a:pPr algn="l" indent="0" lvl="0" marL="0"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lastYearLabel3}}</a:t>
            </a:r>
            <a:endParaRPr sz="1150">
              <a:latin typeface="Verdana"/>
              <a:ea typeface="Verdana"/>
              <a:cs typeface="Verdana"/>
              <a:sym typeface="Verdana"/>
            </a:endParaRPr>
          </a:p>
          <a:p>
            <a:pPr algn="l" indent="0" lvl="0" marL="0"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lastYearLabel4}}</a:t>
            </a:r>
            <a:endParaRPr sz="1150">
              <a:solidFill>
                <a:schemeClr val="dk1"/>
              </a:solidFill>
              <a:latin typeface="Verdana"/>
              <a:ea typeface="Verdana"/>
              <a:cs typeface="Verdana"/>
              <a:sym typeface="Verdana"/>
            </a:endParaRPr>
          </a:p>
          <a:p>
            <a:pPr algn="l" indent="0" lvl="0" marL="0"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lastYearLabel5}}</a:t>
            </a:r>
            <a:endParaRPr sz="1150">
              <a:latin typeface="Verdana"/>
              <a:ea typeface="Verdana"/>
              <a:cs typeface="Verdana"/>
              <a:sym typeface="Verdana"/>
            </a:endParaRPr>
          </a:p>
          <a:p>
            <a:pPr algn="l" indent="0" lvl="0" marL="0"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lastYearLabel6}}</a:t>
            </a:r>
            <a:endParaRPr sz="1150">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a:solidFill>
                  <a:schemeClr val="dk1"/>
                </a:solidFill>
                <a:latin typeface="Verdana"/>
                <a:ea typeface="Verdana"/>
                <a:cs typeface="Verdana"/>
                <a:sym typeface="Verdana"/>
              </a:rPr>
              <a:t>lastYearLabel7}}</a:t>
            </a:r>
            <a:endParaRPr sz="1150">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a:solidFill>
                  <a:schemeClr val="dk1"/>
                </a:solidFill>
                <a:latin typeface="Verdana"/>
                <a:ea typeface="Verdana"/>
                <a:cs typeface="Verdana"/>
                <a:sym typeface="Verdana"/>
              </a:rPr>
              <a:t>lastYearLabel8}}</a:t>
            </a:r>
            <a:endParaRPr sz="1150">
              <a:solidFill>
                <a:schemeClr val="dk1"/>
              </a:solidFill>
              <a:latin typeface="Verdana"/>
              <a:ea typeface="Verdana"/>
              <a:cs typeface="Verdana"/>
              <a:sym typeface="Verdana"/>
            </a:endParaRPr>
          </a:p>
          <a:p>
            <a:pPr algn="l" indent="0" lvl="0" marL="0"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lastYearLabel9}}</a:t>
            </a:r>
            <a:endParaRPr sz="1150">
              <a:solidFill>
                <a:schemeClr val="dk1"/>
              </a:solidFill>
              <a:latin typeface="Verdana"/>
              <a:ea typeface="Verdana"/>
              <a:cs typeface="Verdana"/>
              <a:sym typeface="Verdana"/>
            </a:endParaRPr>
          </a:p>
        </p:txBody>
      </p:sp>
      <p:sp>
        <p:nvSpPr>
          <p:cNvPr id="285" name="Google Shape;285;p23"/>
          <p:cNvSpPr txBox="1">
            <a:spLocks noGrp="1"/>
          </p:cNvSpPr>
          <p:nvPr>
            <p:ph idx="1" type="body"/>
          </p:nvPr>
        </p:nvSpPr>
        <p:spPr>
          <a:xfrm>
            <a:off x="642300" y="4907725"/>
            <a:ext cx="500700" cy="3903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B.</a:t>
            </a:r>
            <a:endParaRPr b="1" sz="1150">
              <a:solidFill>
                <a:srgbClr val="000000"/>
              </a:solidFill>
              <a:latin typeface="Verdana"/>
              <a:ea typeface="Verdana"/>
              <a:cs typeface="Verdana"/>
              <a:sym typeface="Verdana"/>
            </a:endParaRPr>
          </a:p>
        </p:txBody>
      </p:sp>
      <p:sp>
        <p:nvSpPr>
          <p:cNvPr id="286" name="Google Shape;286;p23"/>
          <p:cNvSpPr txBox="1">
            <a:spLocks noGrp="1"/>
          </p:cNvSpPr>
          <p:nvPr>
            <p:ph idx="1" type="body"/>
          </p:nvPr>
        </p:nvSpPr>
        <p:spPr>
          <a:xfrm>
            <a:off x="1190888" y="4907725"/>
            <a:ext cx="1997100" cy="390300"/>
          </a:xfrm>
          <a:prstGeom prst="rect">
            <a:avLst/>
          </a:prstGeom>
        </p:spPr>
        <p:txBody>
          <a:bodyPr anchor="t" anchorCtr="0" bIns="91425" lIns="91425" rIns="91425" spcFirstLastPara="1" tIns="91425" wrap="square">
            <a:noAutofit/>
          </a:bodyPr>
          <a:lstStyle/>
          <a:p>
            <a:pPr algn="ctr" indent="0" lvl="0" marL="0"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
            </a:r>
            <a:r>
              <a:rPr lang="en">
                <a:solidFill>
                  <a:schemeClr val="dk1"/>
                </a:solidFill>
              </a:rPr>
              <a:t>totalMediaInvestmentInput</a:t>
            </a:r>
            <a:r>
              <a:rPr lang="en" sz="1150">
                <a:solidFill>
                  <a:schemeClr val="dk1"/>
                </a:solidFill>
                <a:latin typeface="Verdana"/>
                <a:ea typeface="Verdana"/>
                <a:cs typeface="Verdana"/>
                <a:sym typeface="Verdana"/>
              </a:rPr>
              <a:t>}}</a:t>
            </a:r>
            <a:endParaRPr sz="1150">
              <a:solidFill>
                <a:srgbClr val="000000"/>
              </a:solidFill>
              <a:latin typeface="Verdana"/>
              <a:ea typeface="Verdana"/>
              <a:cs typeface="Verdana"/>
              <a:sym typeface="Verdana"/>
            </a:endParaRPr>
          </a:p>
        </p:txBody>
      </p:sp>
      <p:sp>
        <p:nvSpPr>
          <p:cNvPr id="287" name="Google Shape;287;p23"/>
          <p:cNvSpPr txBox="1">
            <a:spLocks noGrp="1"/>
          </p:cNvSpPr>
          <p:nvPr>
            <p:ph idx="1" type="body"/>
          </p:nvPr>
        </p:nvSpPr>
        <p:spPr>
          <a:xfrm>
            <a:off x="1143000" y="5196850"/>
            <a:ext cx="2102700" cy="390300"/>
          </a:xfrm>
          <a:prstGeom prst="rect">
            <a:avLst/>
          </a:prstGeom>
        </p:spPr>
        <p:txBody>
          <a:bodyPr anchor="t" anchorCtr="0" bIns="91425" lIns="91425" rIns="91425" spcFirstLastPara="1" tIns="91425" wrap="square">
            <a:noAutofit/>
          </a:bodyPr>
          <a:lstStyle/>
          <a:p>
            <a:pPr algn="ctr" indent="0" lvl="0" marL="0" rtl="0">
              <a:lnSpc>
                <a:spcPct val="100000"/>
              </a:lnSpc>
              <a:spcBef>
                <a:spcPts val="0"/>
              </a:spcBef>
              <a:spcAft>
                <a:spcPts val="1600"/>
              </a:spcAft>
              <a:buNone/>
            </a:pPr>
            <a:r>
              <a:rPr b="1" lang="en" sz="1150">
                <a:solidFill>
                  <a:srgbClr val="000000"/>
                </a:solidFill>
                <a:latin typeface="Verdana"/>
                <a:ea typeface="Verdana"/>
                <a:cs typeface="Verdana"/>
                <a:sym typeface="Verdana"/>
              </a:rPr>
              <a:t>Total Adv Investment Next 12 Months</a:t>
            </a:r>
            <a:endParaRPr b="1" sz="1150">
              <a:solidFill>
                <a:srgbClr val="000000"/>
              </a:solidFill>
              <a:latin typeface="Verdana"/>
              <a:ea typeface="Verdana"/>
              <a:cs typeface="Verdana"/>
              <a:sym typeface="Verdana"/>
            </a:endParaRPr>
          </a:p>
        </p:txBody>
      </p:sp>
      <p:sp>
        <p:nvSpPr>
          <p:cNvPr id="288" name="Google Shape;288;p23"/>
          <p:cNvSpPr txBox="1">
            <a:spLocks noGrp="1"/>
          </p:cNvSpPr>
          <p:nvPr>
            <p:ph idx="1" type="body"/>
          </p:nvPr>
        </p:nvSpPr>
        <p:spPr>
          <a:xfrm>
            <a:off x="642300" y="5963950"/>
            <a:ext cx="500700" cy="3903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C.</a:t>
            </a:r>
            <a:endParaRPr b="1" sz="1150">
              <a:solidFill>
                <a:srgbClr val="000000"/>
              </a:solidFill>
              <a:latin typeface="Verdana"/>
              <a:ea typeface="Verdana"/>
              <a:cs typeface="Verdana"/>
              <a:sym typeface="Verdana"/>
            </a:endParaRPr>
          </a:p>
        </p:txBody>
      </p:sp>
      <p:sp>
        <p:nvSpPr>
          <p:cNvPr id="289" name="Google Shape;289;p23"/>
          <p:cNvSpPr txBox="1">
            <a:spLocks noGrp="1"/>
          </p:cNvSpPr>
          <p:nvPr>
            <p:ph idx="1" type="body"/>
          </p:nvPr>
        </p:nvSpPr>
        <p:spPr>
          <a:xfrm>
            <a:off x="1195800" y="6249220"/>
            <a:ext cx="1997100" cy="390300"/>
          </a:xfrm>
          <a:prstGeom prst="rect">
            <a:avLst/>
          </a:prstGeom>
        </p:spPr>
        <p:txBody>
          <a:bodyPr anchor="t" anchorCtr="0" bIns="91425" lIns="91425" rIns="91425" spcFirstLastPara="1" tIns="91425" wrap="square">
            <a:noAutofit/>
          </a:bodyPr>
          <a:lstStyle/>
          <a:p>
            <a:pPr algn="ctr" indent="0" lvl="0" marL="0" rtl="0">
              <a:lnSpc>
                <a:spcPct val="100000"/>
              </a:lnSpc>
              <a:spcBef>
                <a:spcPts val="0"/>
              </a:spcBef>
              <a:spcAft>
                <a:spcPts val="1600"/>
              </a:spcAft>
              <a:buNone/>
            </a:pPr>
            <a:r>
              <a:rPr b="1" lang="en" sz="1150">
                <a:solidFill>
                  <a:srgbClr val="000000"/>
                </a:solidFill>
                <a:latin typeface="Verdana"/>
                <a:ea typeface="Verdana"/>
                <a:cs typeface="Verdana"/>
                <a:sym typeface="Verdana"/>
              </a:rPr>
              <a:t>Stretch Goal Total Adv. Investment Next 12 Months</a:t>
            </a:r>
            <a:endParaRPr b="1" sz="1150">
              <a:solidFill>
                <a:srgbClr val="000000"/>
              </a:solidFill>
              <a:latin typeface="Verdana"/>
              <a:ea typeface="Verdana"/>
              <a:cs typeface="Verdana"/>
              <a:sym typeface="Verdana"/>
            </a:endParaRPr>
          </a:p>
        </p:txBody>
      </p:sp>
      <p:sp>
        <p:nvSpPr>
          <p:cNvPr id="290" name="Google Shape;290;p23"/>
          <p:cNvSpPr txBox="1">
            <a:spLocks noGrp="1"/>
          </p:cNvSpPr>
          <p:nvPr>
            <p:ph idx="1" type="body"/>
          </p:nvPr>
        </p:nvSpPr>
        <p:spPr>
          <a:xfrm>
            <a:off x="3541650" y="5196838"/>
            <a:ext cx="2694600" cy="390300"/>
          </a:xfrm>
          <a:prstGeom prst="rect">
            <a:avLst/>
          </a:prstGeom>
        </p:spPr>
        <p:txBody>
          <a:bodyPr anchor="t" anchorCtr="0" bIns="91425" lIns="91425" rIns="91425" spcFirstLastPara="1" tIns="91425" wrap="square">
            <a:noAutofit/>
          </a:bodyPr>
          <a:lstStyle/>
          <a:p>
            <a:pPr algn="ctr" indent="0" lvl="0" marL="0" rtl="0">
              <a:lnSpc>
                <a:spcPct val="100000"/>
              </a:lnSpc>
              <a:spcBef>
                <a:spcPts val="0"/>
              </a:spcBef>
              <a:spcAft>
                <a:spcPts val="1600"/>
              </a:spcAft>
              <a:buNone/>
            </a:pPr>
            <a:r>
              <a:rPr b="1" lang="en" sz="1150">
                <a:solidFill>
                  <a:srgbClr val="000000"/>
                </a:solidFill>
                <a:latin typeface="Verdana"/>
                <a:ea typeface="Verdana"/>
                <a:cs typeface="Verdana"/>
                <a:sym typeface="Verdana"/>
              </a:rPr>
              <a:t>Adv % of Gross Sales</a:t>
            </a:r>
            <a:endParaRPr b="1" sz="1150">
              <a:solidFill>
                <a:srgbClr val="000000"/>
              </a:solidFill>
              <a:latin typeface="Verdana"/>
              <a:ea typeface="Verdana"/>
              <a:cs typeface="Verdana"/>
              <a:sym typeface="Verdana"/>
            </a:endParaRPr>
          </a:p>
        </p:txBody>
      </p:sp>
      <p:sp>
        <p:nvSpPr>
          <p:cNvPr id="291" name="Google Shape;291;p23"/>
          <p:cNvSpPr txBox="1">
            <a:spLocks noGrp="1"/>
          </p:cNvSpPr>
          <p:nvPr>
            <p:ph idx="1" type="body"/>
          </p:nvPr>
        </p:nvSpPr>
        <p:spPr>
          <a:xfrm>
            <a:off x="3821700" y="6245352"/>
            <a:ext cx="2134500" cy="390300"/>
          </a:xfrm>
          <a:prstGeom prst="rect">
            <a:avLst/>
          </a:prstGeom>
        </p:spPr>
        <p:txBody>
          <a:bodyPr anchor="t" anchorCtr="0" bIns="91425" lIns="91425" rIns="91425" spcFirstLastPara="1" tIns="91425" wrap="square">
            <a:noAutofit/>
          </a:bodyPr>
          <a:lstStyle/>
          <a:p>
            <a:pPr algn="ctr" indent="0" lvl="0" marL="0" rtl="0">
              <a:lnSpc>
                <a:spcPct val="100000"/>
              </a:lnSpc>
              <a:spcBef>
                <a:spcPts val="0"/>
              </a:spcBef>
              <a:spcAft>
                <a:spcPts val="1600"/>
              </a:spcAft>
              <a:buNone/>
            </a:pPr>
            <a:r>
              <a:rPr b="1" lang="en" sz="1150">
                <a:solidFill>
                  <a:srgbClr val="000000"/>
                </a:solidFill>
                <a:latin typeface="Verdana"/>
                <a:ea typeface="Verdana"/>
                <a:cs typeface="Verdana"/>
                <a:sym typeface="Verdana"/>
              </a:rPr>
              <a:t>Adv % of Gross Sales</a:t>
            </a:r>
            <a:endParaRPr b="1" sz="1150">
              <a:solidFill>
                <a:srgbClr val="000000"/>
              </a:solidFill>
              <a:latin typeface="Verdana"/>
              <a:ea typeface="Verdana"/>
              <a:cs typeface="Verdana"/>
              <a:sym typeface="Verdana"/>
            </a:endParaRPr>
          </a:p>
        </p:txBody>
      </p:sp>
      <p:sp>
        <p:nvSpPr>
          <p:cNvPr id="292" name="Google Shape;292;p23"/>
          <p:cNvSpPr txBox="1">
            <a:spLocks noGrp="1"/>
          </p:cNvSpPr>
          <p:nvPr>
            <p:ph idx="1" type="body"/>
          </p:nvPr>
        </p:nvSpPr>
        <p:spPr>
          <a:xfrm>
            <a:off x="6716850" y="5196850"/>
            <a:ext cx="1733400" cy="654300"/>
          </a:xfrm>
          <a:prstGeom prst="rect">
            <a:avLst/>
          </a:prstGeom>
        </p:spPr>
        <p:txBody>
          <a:bodyPr anchor="t" anchorCtr="0" bIns="91425" lIns="91425" rIns="91425" spcFirstLastPara="1" tIns="91425" wrap="square">
            <a:noAutofit/>
          </a:bodyPr>
          <a:lstStyle/>
          <a:p>
            <a:pPr algn="ctr" indent="0" lvl="0" marL="0" rtl="0">
              <a:lnSpc>
                <a:spcPct val="100000"/>
              </a:lnSpc>
              <a:spcBef>
                <a:spcPts val="0"/>
              </a:spcBef>
              <a:spcAft>
                <a:spcPts val="0"/>
              </a:spcAft>
              <a:buNone/>
            </a:pPr>
            <a:r>
              <a:rPr b="1" lang="en" sz="1150">
                <a:solidFill>
                  <a:srgbClr val="000000"/>
                </a:solidFill>
                <a:latin typeface="Verdana"/>
                <a:ea typeface="Verdana"/>
                <a:cs typeface="Verdana"/>
                <a:sym typeface="Verdana"/>
              </a:rPr>
              <a:t>Estimated Gross Sales Next</a:t>
            </a:r>
            <a:r>
              <a:rPr b="1" lang="en">
                <a:solidFill>
                  <a:srgbClr val="000000"/>
                </a:solidFill>
              </a:rPr>
              <a:t> </a:t>
            </a:r>
            <a:endParaRPr b="1">
              <a:solidFill>
                <a:srgbClr val="000000"/>
              </a:solidFill>
            </a:endParaRPr>
          </a:p>
          <a:p>
            <a:pPr algn="ctr" indent="0" lvl="0" marL="0" rtl="0">
              <a:lnSpc>
                <a:spcPct val="100000"/>
              </a:lnSpc>
              <a:spcBef>
                <a:spcPts val="0"/>
              </a:spcBef>
              <a:spcAft>
                <a:spcPts val="0"/>
              </a:spcAft>
              <a:buNone/>
            </a:pPr>
            <a:r>
              <a:rPr b="1" lang="en" sz="1150">
                <a:solidFill>
                  <a:srgbClr val="000000"/>
                </a:solidFill>
                <a:latin typeface="Verdana"/>
                <a:ea typeface="Verdana"/>
                <a:cs typeface="Verdana"/>
                <a:sym typeface="Verdana"/>
              </a:rPr>
              <a:t>12 </a:t>
            </a:r>
            <a:r>
              <a:rPr b="1" lang="en">
                <a:solidFill>
                  <a:srgbClr val="000000"/>
                </a:solidFill>
              </a:rPr>
              <a:t>M</a:t>
            </a:r>
            <a:r>
              <a:rPr b="1" lang="en" sz="1150">
                <a:solidFill>
                  <a:srgbClr val="000000"/>
                </a:solidFill>
                <a:latin typeface="Verdana"/>
                <a:ea typeface="Verdana"/>
                <a:cs typeface="Verdana"/>
                <a:sym typeface="Verdana"/>
              </a:rPr>
              <a:t>onths</a:t>
            </a:r>
            <a:endParaRPr b="1" sz="1150">
              <a:solidFill>
                <a:srgbClr val="000000"/>
              </a:solidFill>
              <a:latin typeface="Verdana"/>
              <a:ea typeface="Verdana"/>
              <a:cs typeface="Verdana"/>
              <a:sym typeface="Verdana"/>
            </a:endParaRPr>
          </a:p>
        </p:txBody>
      </p:sp>
      <p:sp>
        <p:nvSpPr>
          <p:cNvPr id="293" name="Google Shape;293;p23"/>
          <p:cNvSpPr txBox="1">
            <a:spLocks noGrp="1"/>
          </p:cNvSpPr>
          <p:nvPr>
            <p:ph idx="1" type="body"/>
          </p:nvPr>
        </p:nvSpPr>
        <p:spPr>
          <a:xfrm>
            <a:off x="6828150" y="6249225"/>
            <a:ext cx="1510800" cy="390300"/>
          </a:xfrm>
          <a:prstGeom prst="rect">
            <a:avLst/>
          </a:prstGeom>
        </p:spPr>
        <p:txBody>
          <a:bodyPr anchor="t" anchorCtr="0" bIns="91425" lIns="91425" rIns="91425" spcFirstLastPara="1" tIns="91425" wrap="square">
            <a:noAutofit/>
          </a:bodyPr>
          <a:lstStyle/>
          <a:p>
            <a:pPr algn="ctr" indent="0" lvl="0" marL="0" rtl="0">
              <a:lnSpc>
                <a:spcPct val="100000"/>
              </a:lnSpc>
              <a:spcBef>
                <a:spcPts val="0"/>
              </a:spcBef>
              <a:spcAft>
                <a:spcPts val="0"/>
              </a:spcAft>
              <a:buNone/>
            </a:pPr>
            <a:r>
              <a:rPr b="1" lang="en" sz="1150">
                <a:solidFill>
                  <a:srgbClr val="000000"/>
                </a:solidFill>
                <a:latin typeface="Verdana"/>
                <a:ea typeface="Verdana"/>
                <a:cs typeface="Verdana"/>
                <a:sym typeface="Verdana"/>
              </a:rPr>
              <a:t>Stretch Gross Sales Next</a:t>
            </a:r>
            <a:r>
              <a:rPr b="1" lang="en">
                <a:solidFill>
                  <a:srgbClr val="000000"/>
                </a:solidFill>
              </a:rPr>
              <a:t> </a:t>
            </a:r>
            <a:endParaRPr b="1">
              <a:solidFill>
                <a:srgbClr val="000000"/>
              </a:solidFill>
            </a:endParaRPr>
          </a:p>
          <a:p>
            <a:pPr algn="ctr" indent="0" lvl="0" marL="0" rtl="0">
              <a:lnSpc>
                <a:spcPct val="100000"/>
              </a:lnSpc>
              <a:spcBef>
                <a:spcPts val="0"/>
              </a:spcBef>
              <a:spcAft>
                <a:spcPts val="1600"/>
              </a:spcAft>
              <a:buNone/>
            </a:pPr>
            <a:r>
              <a:rPr b="1" lang="en" sz="1150">
                <a:solidFill>
                  <a:srgbClr val="000000"/>
                </a:solidFill>
                <a:latin typeface="Verdana"/>
                <a:ea typeface="Verdana"/>
                <a:cs typeface="Verdana"/>
                <a:sym typeface="Verdana"/>
              </a:rPr>
              <a:t>12 </a:t>
            </a:r>
            <a:r>
              <a:rPr b="1" lang="en">
                <a:solidFill>
                  <a:srgbClr val="000000"/>
                </a:solidFill>
              </a:rPr>
              <a:t>M</a:t>
            </a:r>
            <a:r>
              <a:rPr b="1" lang="en" sz="1150">
                <a:solidFill>
                  <a:srgbClr val="000000"/>
                </a:solidFill>
                <a:latin typeface="Verdana"/>
                <a:ea typeface="Verdana"/>
                <a:cs typeface="Verdana"/>
                <a:sym typeface="Verdana"/>
              </a:rPr>
              <a:t>onths</a:t>
            </a:r>
            <a:endParaRPr b="1" sz="1150">
              <a:solidFill>
                <a:srgbClr val="000000"/>
              </a:solidFill>
              <a:latin typeface="Verdana"/>
              <a:ea typeface="Verdana"/>
              <a:cs typeface="Verdana"/>
              <a:sym typeface="Verdana"/>
            </a:endParaRPr>
          </a:p>
        </p:txBody>
      </p:sp>
      <p:cxnSp>
        <p:nvCxnSpPr>
          <p:cNvPr id="294" name="Google Shape;294;p23"/>
          <p:cNvCxnSpPr/>
          <p:nvPr/>
        </p:nvCxnSpPr>
        <p:spPr>
          <a:xfrm>
            <a:off x="1172575" y="5244477"/>
            <a:ext cx="2015400" cy="0"/>
          </a:xfrm>
          <a:prstGeom prst="straightConnector1">
            <a:avLst/>
          </a:prstGeom>
          <a:noFill/>
          <a:ln cap="flat" cmpd="sng" w="9525">
            <a:solidFill>
              <a:srgbClr val="000000"/>
            </a:solidFill>
            <a:prstDash val="solid"/>
            <a:round/>
            <a:headEnd len="med" type="none" w="med"/>
            <a:tailEnd len="med" type="none" w="med"/>
          </a:ln>
        </p:spPr>
      </p:cxnSp>
      <p:cxnSp>
        <p:nvCxnSpPr>
          <p:cNvPr id="295" name="Google Shape;295;p23"/>
          <p:cNvCxnSpPr/>
          <p:nvPr/>
        </p:nvCxnSpPr>
        <p:spPr>
          <a:xfrm>
            <a:off x="1186650" y="6253077"/>
            <a:ext cx="2015400" cy="0"/>
          </a:xfrm>
          <a:prstGeom prst="straightConnector1">
            <a:avLst/>
          </a:prstGeom>
          <a:noFill/>
          <a:ln cap="flat" cmpd="sng" w="9525">
            <a:solidFill>
              <a:srgbClr val="000000"/>
            </a:solidFill>
            <a:prstDash val="solid"/>
            <a:round/>
            <a:headEnd len="med" type="none" w="med"/>
            <a:tailEnd len="med" type="none" w="med"/>
          </a:ln>
        </p:spPr>
      </p:cxnSp>
      <p:cxnSp>
        <p:nvCxnSpPr>
          <p:cNvPr id="296" name="Google Shape;296;p23"/>
          <p:cNvCxnSpPr/>
          <p:nvPr/>
        </p:nvCxnSpPr>
        <p:spPr>
          <a:xfrm>
            <a:off x="3881238" y="5246047"/>
            <a:ext cx="2015400" cy="0"/>
          </a:xfrm>
          <a:prstGeom prst="straightConnector1">
            <a:avLst/>
          </a:prstGeom>
          <a:noFill/>
          <a:ln cap="flat" cmpd="sng" w="9525">
            <a:solidFill>
              <a:srgbClr val="000000"/>
            </a:solidFill>
            <a:prstDash val="solid"/>
            <a:round/>
            <a:headEnd len="med" type="none" w="med"/>
            <a:tailEnd len="med" type="none" w="med"/>
          </a:ln>
        </p:spPr>
      </p:cxnSp>
      <p:cxnSp>
        <p:nvCxnSpPr>
          <p:cNvPr id="297" name="Google Shape;297;p23"/>
          <p:cNvCxnSpPr/>
          <p:nvPr/>
        </p:nvCxnSpPr>
        <p:spPr>
          <a:xfrm>
            <a:off x="3882140" y="6253077"/>
            <a:ext cx="2015400" cy="0"/>
          </a:xfrm>
          <a:prstGeom prst="straightConnector1">
            <a:avLst/>
          </a:prstGeom>
          <a:noFill/>
          <a:ln cap="flat" cmpd="sng" w="9525">
            <a:solidFill>
              <a:srgbClr val="000000"/>
            </a:solidFill>
            <a:prstDash val="solid"/>
            <a:round/>
            <a:headEnd len="med" type="none" w="med"/>
            <a:tailEnd len="med" type="none" w="med"/>
          </a:ln>
        </p:spPr>
      </p:cxnSp>
      <p:cxnSp>
        <p:nvCxnSpPr>
          <p:cNvPr id="298" name="Google Shape;298;p23"/>
          <p:cNvCxnSpPr/>
          <p:nvPr/>
        </p:nvCxnSpPr>
        <p:spPr>
          <a:xfrm>
            <a:off x="6716911" y="5244475"/>
            <a:ext cx="1732500" cy="0"/>
          </a:xfrm>
          <a:prstGeom prst="straightConnector1">
            <a:avLst/>
          </a:prstGeom>
          <a:noFill/>
          <a:ln cap="flat" cmpd="sng" w="9525">
            <a:solidFill>
              <a:srgbClr val="000000"/>
            </a:solidFill>
            <a:prstDash val="solid"/>
            <a:round/>
            <a:headEnd len="med" type="none" w="med"/>
            <a:tailEnd len="med" type="none" w="med"/>
          </a:ln>
        </p:spPr>
      </p:cxnSp>
      <p:cxnSp>
        <p:nvCxnSpPr>
          <p:cNvPr id="299" name="Google Shape;299;p23"/>
          <p:cNvCxnSpPr/>
          <p:nvPr/>
        </p:nvCxnSpPr>
        <p:spPr>
          <a:xfrm>
            <a:off x="6717687" y="6251500"/>
            <a:ext cx="1732500" cy="0"/>
          </a:xfrm>
          <a:prstGeom prst="straightConnector1">
            <a:avLst/>
          </a:prstGeom>
          <a:noFill/>
          <a:ln cap="flat" cmpd="sng" w="9525">
            <a:solidFill>
              <a:srgbClr val="000000"/>
            </a:solidFill>
            <a:prstDash val="solid"/>
            <a:round/>
            <a:headEnd len="med" type="none" w="med"/>
            <a:tailEnd len="med" type="none" w="med"/>
          </a:ln>
        </p:spPr>
      </p:cxnSp>
      <p:sp>
        <p:nvSpPr>
          <p:cNvPr id="300" name="Google Shape;300;p23"/>
          <p:cNvSpPr txBox="1">
            <a:spLocks noGrp="1"/>
          </p:cNvSpPr>
          <p:nvPr>
            <p:ph idx="1" type="body"/>
          </p:nvPr>
        </p:nvSpPr>
        <p:spPr>
          <a:xfrm>
            <a:off x="3385213" y="5049325"/>
            <a:ext cx="298800" cy="3903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a:t>
            </a:r>
            <a:endParaRPr b="1" sz="1150">
              <a:solidFill>
                <a:srgbClr val="000000"/>
              </a:solidFill>
              <a:latin typeface="Verdana"/>
              <a:ea typeface="Verdana"/>
              <a:cs typeface="Verdana"/>
              <a:sym typeface="Verdana"/>
            </a:endParaRPr>
          </a:p>
        </p:txBody>
      </p:sp>
      <p:sp>
        <p:nvSpPr>
          <p:cNvPr id="301" name="Google Shape;301;p23"/>
          <p:cNvSpPr txBox="1">
            <a:spLocks noGrp="1"/>
          </p:cNvSpPr>
          <p:nvPr>
            <p:ph idx="1" type="body"/>
          </p:nvPr>
        </p:nvSpPr>
        <p:spPr>
          <a:xfrm>
            <a:off x="3388113" y="6057925"/>
            <a:ext cx="298800" cy="3903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a:t>
            </a:r>
            <a:endParaRPr b="1" sz="1150">
              <a:solidFill>
                <a:srgbClr val="000000"/>
              </a:solidFill>
              <a:latin typeface="Verdana"/>
              <a:ea typeface="Verdana"/>
              <a:cs typeface="Verdana"/>
              <a:sym typeface="Verdana"/>
            </a:endParaRPr>
          </a:p>
        </p:txBody>
      </p:sp>
      <p:sp>
        <p:nvSpPr>
          <p:cNvPr id="302" name="Google Shape;302;p23"/>
          <p:cNvSpPr txBox="1">
            <a:spLocks noGrp="1"/>
          </p:cNvSpPr>
          <p:nvPr>
            <p:ph idx="1" type="body"/>
          </p:nvPr>
        </p:nvSpPr>
        <p:spPr>
          <a:xfrm>
            <a:off x="6212000" y="5049325"/>
            <a:ext cx="298800" cy="3903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a:t>
            </a:r>
            <a:endParaRPr b="1" sz="1150">
              <a:solidFill>
                <a:srgbClr val="000000"/>
              </a:solidFill>
              <a:latin typeface="Verdana"/>
              <a:ea typeface="Verdana"/>
              <a:cs typeface="Verdana"/>
              <a:sym typeface="Verdana"/>
            </a:endParaRPr>
          </a:p>
        </p:txBody>
      </p:sp>
      <p:sp>
        <p:nvSpPr>
          <p:cNvPr id="303" name="Google Shape;303;p23"/>
          <p:cNvSpPr txBox="1">
            <a:spLocks noGrp="1"/>
          </p:cNvSpPr>
          <p:nvPr>
            <p:ph idx="1" type="body"/>
          </p:nvPr>
        </p:nvSpPr>
        <p:spPr>
          <a:xfrm>
            <a:off x="6214900" y="6057925"/>
            <a:ext cx="298800" cy="3903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a:t>
            </a:r>
            <a:endParaRPr b="1" sz="1150">
              <a:solidFill>
                <a:srgbClr val="000000"/>
              </a:solidFill>
              <a:latin typeface="Verdana"/>
              <a:ea typeface="Verdana"/>
              <a:cs typeface="Verdana"/>
              <a:sym typeface="Verdana"/>
            </a:endParaRPr>
          </a:p>
        </p:txBody>
      </p:sp>
      <p:sp>
        <p:nvSpPr>
          <p:cNvPr id="304" name="Google Shape;304;p23"/>
          <p:cNvSpPr txBox="1"/>
          <p:nvPr/>
        </p:nvSpPr>
        <p:spPr>
          <a:xfrm>
            <a:off x="5156725" y="4123697"/>
            <a:ext cx="1510800" cy="538800"/>
          </a:xfrm>
          <a:prstGeom prst="rect">
            <a:avLst/>
          </a:prstGeom>
          <a:noFill/>
          <a:ln>
            <a:noFill/>
          </a:ln>
        </p:spPr>
        <p:txBody>
          <a:bodyPr anchor="t" anchorCtr="0" bIns="91425" lIns="91425" rIns="91425" spcFirstLastPara="1" tIns="91425" wrap="square">
            <a:spAutoFit/>
          </a:bodyPr>
          <a:lstStyle/>
          <a:p>
            <a:pPr algn="l" indent="0" lvl="0" marL="0" rtl="0">
              <a:lnSpc>
                <a:spcPct val="100000"/>
              </a:lnSpc>
              <a:spcBef>
                <a:spcPts val="0"/>
              </a:spcBef>
              <a:spcAft>
                <a:spcPts val="0"/>
              </a:spcAft>
              <a:buNone/>
            </a:pPr>
            <a:r>
              <a:rPr b="1" lang="en" sz="1150">
                <a:latin typeface="Verdana"/>
                <a:ea typeface="Verdana"/>
                <a:cs typeface="Verdana"/>
                <a:sym typeface="Verdana"/>
              </a:rPr>
              <a:t>Total Adv. Investment</a:t>
            </a:r>
            <a:endParaRPr b="1" sz="1150">
              <a:latin typeface="Verdana"/>
              <a:ea typeface="Verdana"/>
              <a:cs typeface="Verdana"/>
              <a:sym typeface="Verdana"/>
            </a:endParaRPr>
          </a:p>
        </p:txBody>
      </p:sp>
      <p:sp>
        <p:nvSpPr>
          <p:cNvPr id="305" name="Google Shape;305;p23"/>
          <p:cNvSpPr txBox="1"/>
          <p:nvPr/>
        </p:nvSpPr>
        <p:spPr>
          <a:xfrm>
            <a:off x="2769050" y="1642875"/>
            <a:ext cx="1782300" cy="2485800"/>
          </a:xfrm>
          <a:prstGeom prst="rect">
            <a:avLst/>
          </a:prstGeom>
          <a:noFill/>
          <a:ln>
            <a:noFill/>
          </a:ln>
        </p:spPr>
        <p:txBody>
          <a:bodyPr anchor="t" anchorCtr="0" bIns="91425" lIns="91425" rIns="91425" spcFirstLastPara="1" tIns="91425" wrap="square">
            <a:spAutoFit/>
          </a:bodyPr>
          <a:lstStyle/>
          <a:p>
            <a:pPr algn="l" indent="0" lvl="0" marL="0" rtl="0">
              <a:lnSpc>
                <a:spcPct val="150000"/>
              </a:lnSpc>
              <a:spcBef>
                <a:spcPts val="0"/>
              </a:spcBef>
              <a:spcAft>
                <a:spcPts val="0"/>
              </a:spcAft>
              <a:buNone/>
            </a:pPr>
            <a:r>
              <a:rPr lang="en" sz="1150" u="sng">
                <a:latin typeface="Verdana"/>
                <a:ea typeface="Verdana"/>
                <a:cs typeface="Verdana"/>
                <a:sym typeface="Verdana"/>
              </a:rPr>
              <a:t>lastYearValue1}}</a:t>
            </a:r>
            <a:endParaRPr sz="1150" u="sng">
              <a:latin typeface="Verdana"/>
              <a:ea typeface="Verdana"/>
              <a:cs typeface="Verdana"/>
              <a:sym typeface="Verdana"/>
            </a:endParaRPr>
          </a:p>
          <a:p>
            <a:pPr algn="l" indent="0" lvl="0" marL="0" rtl="0">
              <a:lnSpc>
                <a:spcPct val="150000"/>
              </a:lnSpc>
              <a:spcBef>
                <a:spcPts val="0"/>
              </a:spcBef>
              <a:spcAft>
                <a:spcPts val="0"/>
              </a:spcAft>
              <a:buNone/>
            </a:pPr>
            <a:r>
              <a:rPr lang="en" sz="1150" u="sng">
                <a:latin typeface="Verdana"/>
                <a:ea typeface="Verdana"/>
                <a:cs typeface="Verdana"/>
                <a:sym typeface="Verdana"/>
              </a:rPr>
              <a:t>lastYearValue2}}</a:t>
            </a:r>
            <a:endParaRPr sz="1150" u="sng">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lastYearValue3}}</a:t>
            </a:r>
            <a:endParaRPr sz="1150" u="sng">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lastYearValue4}}</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lastYearValue5}}</a:t>
            </a:r>
            <a:endParaRPr sz="1150" u="sng">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lastYearValue6}}</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lastYearValue7}}</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lastYearValue8}}</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lastYearValue9}}</a:t>
            </a:r>
            <a:endParaRPr sz="1150" u="sng">
              <a:solidFill>
                <a:schemeClr val="dk1"/>
              </a:solidFill>
              <a:latin typeface="Verdana"/>
              <a:ea typeface="Verdana"/>
              <a:cs typeface="Verdana"/>
              <a:sym typeface="Verdana"/>
            </a:endParaRPr>
          </a:p>
        </p:txBody>
      </p:sp>
      <p:sp>
        <p:nvSpPr>
          <p:cNvPr id="306" name="Google Shape;306;p23"/>
          <p:cNvSpPr txBox="1"/>
          <p:nvPr/>
        </p:nvSpPr>
        <p:spPr>
          <a:xfrm>
            <a:off x="5157213" y="1642288"/>
            <a:ext cx="1782300" cy="2485800"/>
          </a:xfrm>
          <a:prstGeom prst="rect">
            <a:avLst/>
          </a:prstGeom>
          <a:noFill/>
          <a:ln>
            <a:noFill/>
          </a:ln>
        </p:spPr>
        <p:txBody>
          <a:bodyPr anchor="t" anchorCtr="0" bIns="91425" lIns="91425" rIns="91425" spcFirstLastPara="1" tIns="91425" wrap="square">
            <a:spAutoFit/>
          </a:bodyPr>
          <a:lstStyle/>
          <a:p>
            <a:pPr algn="l" indent="0" lvl="0" marL="0" rtl="0">
              <a:lnSpc>
                <a:spcPct val="150000"/>
              </a:lnSpc>
              <a:spcBef>
                <a:spcPts val="0"/>
              </a:spcBef>
              <a:spcAft>
                <a:spcPts val="0"/>
              </a:spcAft>
              <a:buNone/>
            </a:pPr>
            <a:r>
              <a:rPr lang="en" sz="1150">
                <a:latin typeface="Verdana"/>
                <a:ea typeface="Verdana"/>
                <a:cs typeface="Verdana"/>
                <a:sym typeface="Verdana"/>
              </a:rPr>
              <a:t>proposedLabel1}}</a:t>
            </a:r>
            <a:endParaRPr sz="1150">
              <a:latin typeface="Verdana"/>
              <a:ea typeface="Verdana"/>
              <a:cs typeface="Verdana"/>
              <a:sym typeface="Verdana"/>
            </a:endParaRPr>
          </a:p>
          <a:p>
            <a:pPr algn="l" indent="0" lvl="0" marL="0" rtl="0">
              <a:lnSpc>
                <a:spcPct val="150000"/>
              </a:lnSpc>
              <a:spcBef>
                <a:spcPts val="0"/>
              </a:spcBef>
              <a:spcAft>
                <a:spcPts val="0"/>
              </a:spcAft>
              <a:buNone/>
            </a:pPr>
            <a:r>
              <a:rPr lang="en" sz="1150">
                <a:latin typeface="Verdana"/>
                <a:ea typeface="Verdana"/>
                <a:cs typeface="Verdana"/>
                <a:sym typeface="Verdana"/>
              </a:rPr>
              <a:t>proposedLabel2}}</a:t>
            </a:r>
            <a:endParaRPr sz="1150">
              <a:latin typeface="Verdana"/>
              <a:ea typeface="Verdana"/>
              <a:cs typeface="Verdana"/>
              <a:sym typeface="Verdana"/>
            </a:endParaRPr>
          </a:p>
          <a:p>
            <a:pPr algn="l" indent="0" lvl="0" marL="0" rtl="0">
              <a:lnSpc>
                <a:spcPct val="150000"/>
              </a:lnSpc>
              <a:spcBef>
                <a:spcPts val="0"/>
              </a:spcBef>
              <a:spcAft>
                <a:spcPts val="0"/>
              </a:spcAft>
              <a:buNone/>
            </a:pPr>
            <a:r>
              <a:rPr lang="en" sz="1150">
                <a:solidFill>
                  <a:schemeClr val="dk1"/>
                </a:solidFill>
                <a:latin typeface="Verdana"/>
                <a:ea typeface="Verdana"/>
                <a:cs typeface="Verdana"/>
                <a:sym typeface="Verdana"/>
              </a:rPr>
              <a:t>proposedLabel3}}</a:t>
            </a:r>
            <a:endParaRPr sz="1150">
              <a:latin typeface="Verdana"/>
              <a:ea typeface="Verdana"/>
              <a:cs typeface="Verdana"/>
              <a:sym typeface="Verdana"/>
            </a:endParaRPr>
          </a:p>
          <a:p>
            <a:pPr algn="l" indent="0" lvl="0" marL="0" rtl="0">
              <a:lnSpc>
                <a:spcPct val="150000"/>
              </a:lnSpc>
              <a:spcBef>
                <a:spcPts val="0"/>
              </a:spcBef>
              <a:spcAft>
                <a:spcPts val="0"/>
              </a:spcAft>
              <a:buNone/>
            </a:pPr>
            <a:r>
              <a:rPr lang="en" sz="1150">
                <a:solidFill>
                  <a:schemeClr val="dk1"/>
                </a:solidFill>
                <a:latin typeface="Verdana"/>
                <a:ea typeface="Verdana"/>
                <a:cs typeface="Verdana"/>
                <a:sym typeface="Verdana"/>
              </a:rPr>
              <a:t>proposedLabel4}}</a:t>
            </a:r>
            <a:endParaRPr sz="1150">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a:solidFill>
                  <a:schemeClr val="dk1"/>
                </a:solidFill>
                <a:latin typeface="Verdana"/>
                <a:ea typeface="Verdana"/>
                <a:cs typeface="Verdana"/>
                <a:sym typeface="Verdana"/>
              </a:rPr>
              <a:t>proposedLabel5}}</a:t>
            </a:r>
            <a:endParaRPr sz="1150">
              <a:latin typeface="Verdana"/>
              <a:ea typeface="Verdana"/>
              <a:cs typeface="Verdana"/>
              <a:sym typeface="Verdana"/>
            </a:endParaRPr>
          </a:p>
          <a:p>
            <a:pPr algn="l" indent="0" lvl="0" marL="0" rtl="0">
              <a:lnSpc>
                <a:spcPct val="150000"/>
              </a:lnSpc>
              <a:spcBef>
                <a:spcPts val="0"/>
              </a:spcBef>
              <a:spcAft>
                <a:spcPts val="0"/>
              </a:spcAft>
              <a:buNone/>
            </a:pPr>
            <a:r>
              <a:rPr lang="en" sz="1150">
                <a:solidFill>
                  <a:schemeClr val="dk1"/>
                </a:solidFill>
                <a:latin typeface="Verdana"/>
                <a:ea typeface="Verdana"/>
                <a:cs typeface="Verdana"/>
                <a:sym typeface="Verdana"/>
              </a:rPr>
              <a:t>proposedLabel6}}</a:t>
            </a:r>
            <a:endParaRPr sz="1150">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a:solidFill>
                  <a:schemeClr val="dk1"/>
                </a:solidFill>
                <a:latin typeface="Verdana"/>
                <a:ea typeface="Verdana"/>
                <a:cs typeface="Verdana"/>
                <a:sym typeface="Verdana"/>
              </a:rPr>
              <a:t>proposedLabel7}}</a:t>
            </a:r>
            <a:endParaRPr sz="1150">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a:solidFill>
                  <a:schemeClr val="dk1"/>
                </a:solidFill>
                <a:latin typeface="Verdana"/>
                <a:ea typeface="Verdana"/>
                <a:cs typeface="Verdana"/>
                <a:sym typeface="Verdana"/>
              </a:rPr>
              <a:t>proposedLabel8}}</a:t>
            </a:r>
            <a:endParaRPr sz="1150">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a:solidFill>
                  <a:schemeClr val="dk1"/>
                </a:solidFill>
                <a:latin typeface="Verdana"/>
                <a:ea typeface="Verdana"/>
                <a:cs typeface="Verdana"/>
                <a:sym typeface="Verdana"/>
              </a:rPr>
              <a:t>proposedLabel9}}</a:t>
            </a:r>
            <a:endParaRPr sz="1150">
              <a:solidFill>
                <a:schemeClr val="dk1"/>
              </a:solidFill>
              <a:latin typeface="Verdana"/>
              <a:ea typeface="Verdana"/>
              <a:cs typeface="Verdana"/>
              <a:sym typeface="Verdana"/>
            </a:endParaRPr>
          </a:p>
        </p:txBody>
      </p:sp>
      <p:sp>
        <p:nvSpPr>
          <p:cNvPr id="307" name="Google Shape;307;p23"/>
          <p:cNvSpPr txBox="1"/>
          <p:nvPr/>
        </p:nvSpPr>
        <p:spPr>
          <a:xfrm>
            <a:off x="6877426" y="1643475"/>
            <a:ext cx="1872000" cy="2485800"/>
          </a:xfrm>
          <a:prstGeom prst="rect">
            <a:avLst/>
          </a:prstGeom>
          <a:noFill/>
          <a:ln>
            <a:noFill/>
          </a:ln>
        </p:spPr>
        <p:txBody>
          <a:bodyPr anchor="t" anchorCtr="0" bIns="91425" lIns="91425" rIns="91425" spcFirstLastPara="1" tIns="91425" wrap="square">
            <a:spAutoFit/>
          </a:bodyPr>
          <a:lstStyle/>
          <a:p>
            <a:pPr algn="l" indent="0" lvl="0" marL="0" rtl="0">
              <a:lnSpc>
                <a:spcPct val="150000"/>
              </a:lnSpc>
              <a:spcBef>
                <a:spcPts val="0"/>
              </a:spcBef>
              <a:spcAft>
                <a:spcPts val="0"/>
              </a:spcAft>
              <a:buNone/>
            </a:pPr>
            <a:r>
              <a:rPr lang="en" sz="1150" u="sng">
                <a:latin typeface="Verdana"/>
                <a:ea typeface="Verdana"/>
                <a:cs typeface="Verdana"/>
                <a:sym typeface="Verdana"/>
              </a:rPr>
              <a:t>proposedValue1}}</a:t>
            </a:r>
            <a:endParaRPr sz="1150" u="sng">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proposedValue2}}</a:t>
            </a:r>
            <a:endParaRPr sz="1150" u="sng">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proposedValue3}}</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proposedValue4}}</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proposedValue5}}</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proposedValue6}}</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proposedValue7}}</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proposedValue8}}</a:t>
            </a:r>
            <a:endParaRPr sz="1150" u="sng">
              <a:solidFill>
                <a:schemeClr val="dk1"/>
              </a:solidFill>
              <a:latin typeface="Verdana"/>
              <a:ea typeface="Verdana"/>
              <a:cs typeface="Verdana"/>
              <a:sym typeface="Verdana"/>
            </a:endParaRPr>
          </a:p>
          <a:p>
            <a:pPr algn="l" indent="0" lvl="0" marL="0"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proposedValue9}}</a:t>
            </a:r>
            <a:endParaRPr sz="1150" u="sng">
              <a:solidFill>
                <a:schemeClr val="dk1"/>
              </a:solidFill>
              <a:latin typeface="Verdana"/>
              <a:ea typeface="Verdana"/>
              <a:cs typeface="Verdana"/>
              <a:sym typeface="Verdana"/>
            </a:endParaRPr>
          </a:p>
        </p:txBody>
      </p:sp>
      <p:sp>
        <p:nvSpPr>
          <p:cNvPr id="308" name="Google Shape;308;p23"/>
          <p:cNvSpPr txBox="1"/>
          <p:nvPr/>
        </p:nvSpPr>
        <p:spPr>
          <a:xfrm>
            <a:off x="2771275" y="4218663"/>
            <a:ext cx="2273400" cy="361800"/>
          </a:xfrm>
          <a:prstGeom prst="rect">
            <a:avLst/>
          </a:prstGeom>
          <a:noFill/>
          <a:ln>
            <a:noFill/>
          </a:ln>
        </p:spPr>
        <p:txBody>
          <a:bodyPr anchor="t" anchorCtr="0" bIns="91425" lIns="91425" rIns="91425" spcFirstLastPara="1" tIns="91425" wrap="square">
            <a:spAutoFit/>
          </a:bodyPr>
          <a:lstStyle/>
          <a:p>
            <a:pPr algn="l" indent="0" lvl="0" marL="0" rtl="0">
              <a:spcBef>
                <a:spcPts val="0"/>
              </a:spcBef>
              <a:spcAft>
                <a:spcPts val="0"/>
              </a:spcAft>
              <a:buNone/>
            </a:pPr>
            <a:r>
              <a:rPr lang="en" sz="1150" u="sng">
                <a:latin typeface="Verdana"/>
                <a:ea typeface="Verdana"/>
                <a:cs typeface="Verdana"/>
                <a:sym typeface="Verdana"/>
              </a:rPr>
              <a:t>totalMediaInvestment}}</a:t>
            </a:r>
            <a:endParaRPr sz="1150" u="sng">
              <a:latin typeface="Verdana"/>
              <a:ea typeface="Verdana"/>
              <a:cs typeface="Verdana"/>
              <a:sym typeface="Verdana"/>
            </a:endParaRPr>
          </a:p>
        </p:txBody>
      </p:sp>
      <p:sp>
        <p:nvSpPr>
          <p:cNvPr id="309" name="Google Shape;309;p23"/>
          <p:cNvSpPr txBox="1"/>
          <p:nvPr/>
        </p:nvSpPr>
        <p:spPr>
          <a:xfrm>
            <a:off x="6877425" y="4218432"/>
            <a:ext cx="2459400" cy="361800"/>
          </a:xfrm>
          <a:prstGeom prst="rect">
            <a:avLst/>
          </a:prstGeom>
          <a:noFill/>
          <a:ln>
            <a:noFill/>
          </a:ln>
        </p:spPr>
        <p:txBody>
          <a:bodyPr anchor="t" anchorCtr="0" bIns="91425" lIns="91425" rIns="91425" spcFirstLastPara="1" tIns="91425" wrap="square">
            <a:spAutoFit/>
          </a:bodyPr>
          <a:lstStyle/>
          <a:p>
            <a:pPr algn="l" indent="0" lvl="0" marL="0" rtl="0">
              <a:spcBef>
                <a:spcPts val="0"/>
              </a:spcBef>
              <a:spcAft>
                <a:spcPts val="0"/>
              </a:spcAft>
              <a:buNone/>
            </a:pPr>
            <a:r>
              <a:rPr lang="en" sz="1150" u="sng">
                <a:latin typeface="Verdana"/>
                <a:ea typeface="Verdana"/>
                <a:cs typeface="Verdana"/>
                <a:sym typeface="Verdana"/>
              </a:rPr>
              <a:t>totalMediaInvestmentTwo}}</a:t>
            </a:r>
            <a:endParaRPr sz="1150" u="sng">
              <a:latin typeface="Verdana"/>
              <a:ea typeface="Verdana"/>
              <a:cs typeface="Verdana"/>
              <a:sym typeface="Verdana"/>
            </a:endParaRPr>
          </a:p>
        </p:txBody>
      </p:sp>
      <p:sp>
        <p:nvSpPr>
          <p:cNvPr id="310" name="Google Shape;310;p23"/>
          <p:cNvSpPr txBox="1">
            <a:spLocks noGrp="1"/>
          </p:cNvSpPr>
          <p:nvPr>
            <p:ph idx="1" type="body"/>
          </p:nvPr>
        </p:nvSpPr>
        <p:spPr>
          <a:xfrm>
            <a:off x="3881238" y="4907725"/>
            <a:ext cx="1997100" cy="390300"/>
          </a:xfrm>
          <a:prstGeom prst="rect">
            <a:avLst/>
          </a:prstGeom>
        </p:spPr>
        <p:txBody>
          <a:bodyPr anchor="t" anchorCtr="0" bIns="91425" lIns="91425" rIns="91425" spcFirstLastPara="1" tIns="91425" wrap="square">
            <a:noAutofit/>
          </a:bodyPr>
          <a:lstStyle/>
          <a:p>
            <a:pPr algn="ctr" indent="0" lvl="0" marL="0" rtl="0">
              <a:spcBef>
                <a:spcPts val="0"/>
              </a:spcBef>
              <a:spcAft>
                <a:spcPts val="0"/>
              </a:spcAft>
              <a:buNone/>
            </a:pPr>
            <a:r>
              <a:rPr lang="en" sz="1150">
                <a:solidFill>
                  <a:schemeClr val="dk1"/>
                </a:solidFill>
                <a:latin typeface="Verdana"/>
                <a:ea typeface="Verdana"/>
                <a:cs typeface="Verdana"/>
                <a:sym typeface="Verdana"/>
              </a:rPr>
              <a:t/>
            </a:r>
            <a:r>
              <a:rPr lang="en">
                <a:solidFill>
                  <a:schemeClr val="dk1"/>
                </a:solidFill>
              </a:rPr>
              <a:t>pctTAIGrossSalesLastYear</a:t>
            </a:r>
            <a:r>
              <a:rPr lang="en" sz="1150">
                <a:solidFill>
                  <a:schemeClr val="dk1"/>
                </a:solidFill>
                <a:latin typeface="Verdana"/>
                <a:ea typeface="Verdana"/>
                <a:cs typeface="Verdana"/>
                <a:sym typeface="Verdana"/>
              </a:rPr>
              <a:t>}}</a:t>
            </a:r>
            <a:endParaRPr sz="1150">
              <a:solidFill>
                <a:srgbClr val="000000"/>
              </a:solidFill>
              <a:latin typeface="Verdana"/>
              <a:ea typeface="Verdana"/>
              <a:cs typeface="Verdana"/>
              <a:sym typeface="Verdana"/>
            </a:endParaRPr>
          </a:p>
        </p:txBody>
      </p:sp>
      <p:sp>
        <p:nvSpPr>
          <p:cNvPr id="311" name="Google Shape;311;p23"/>
          <p:cNvSpPr txBox="1">
            <a:spLocks noGrp="1"/>
          </p:cNvSpPr>
          <p:nvPr>
            <p:ph idx="1" type="body"/>
          </p:nvPr>
        </p:nvSpPr>
        <p:spPr>
          <a:xfrm>
            <a:off x="5975475" y="4910328"/>
            <a:ext cx="3216900" cy="390300"/>
          </a:xfrm>
          <a:prstGeom prst="rect">
            <a:avLst/>
          </a:prstGeom>
        </p:spPr>
        <p:txBody>
          <a:bodyPr anchor="t" anchorCtr="0" bIns="91425" lIns="91425" rIns="91425" spcFirstLastPara="1" tIns="91425" wrap="square">
            <a:noAutofit/>
          </a:bodyPr>
          <a:lstStyle/>
          <a:p>
            <a:pPr algn="ctr" indent="0" lvl="0" marL="0" rtl="0">
              <a:spcBef>
                <a:spcPts val="0"/>
              </a:spcBef>
              <a:spcAft>
                <a:spcPts val="0"/>
              </a:spcAft>
              <a:buNone/>
            </a:pPr>
            <a:r>
              <a:rPr lang="en" sz="1150">
                <a:solidFill>
                  <a:schemeClr val="dk1"/>
                </a:solidFill>
                <a:latin typeface="Verdana"/>
                <a:ea typeface="Verdana"/>
                <a:cs typeface="Verdana"/>
                <a:sym typeface="Verdana"/>
              </a:rPr>
              <a:t/>
            </a:r>
            <a:r>
              <a:rPr lang="en">
                <a:solidFill>
                  <a:schemeClr val="dk1"/>
                </a:solidFill>
              </a:rPr>
              <a:t>grossSalesLastyear</a:t>
            </a:r>
            <a:r>
              <a:rPr lang="en" sz="1150">
                <a:solidFill>
                  <a:schemeClr val="dk1"/>
                </a:solidFill>
                <a:latin typeface="Verdana"/>
                <a:ea typeface="Verdana"/>
                <a:cs typeface="Verdana"/>
                <a:sym typeface="Verdana"/>
              </a:rPr>
              <a:t>}}</a:t>
            </a:r>
            <a:endParaRPr sz="1150">
              <a:solidFill>
                <a:srgbClr val="000000"/>
              </a:solidFill>
              <a:latin typeface="Verdana"/>
              <a:ea typeface="Verdana"/>
              <a:cs typeface="Verdana"/>
              <a:sym typeface="Verdana"/>
            </a:endParaRPr>
          </a:p>
        </p:txBody>
      </p:sp>
      <p:sp>
        <p:nvSpPr>
          <p:cNvPr id="312" name="Google Shape;312;p23"/>
          <p:cNvSpPr txBox="1">
            <a:spLocks noGrp="1"/>
          </p:cNvSpPr>
          <p:nvPr>
            <p:ph idx="1" type="body"/>
          </p:nvPr>
        </p:nvSpPr>
        <p:spPr>
          <a:xfrm>
            <a:off x="1195788" y="5907250"/>
            <a:ext cx="1997100" cy="390300"/>
          </a:xfrm>
          <a:prstGeom prst="rect">
            <a:avLst/>
          </a:prstGeom>
        </p:spPr>
        <p:txBody>
          <a:bodyPr anchor="t" anchorCtr="0" bIns="91425" lIns="91425" rIns="91425" spcFirstLastPara="1" tIns="91425" wrap="square">
            <a:noAutofit/>
          </a:bodyPr>
          <a:lstStyle/>
          <a:p>
            <a:pPr algn="ctr" indent="0" lvl="0" marL="0" rtl="0">
              <a:spcBef>
                <a:spcPts val="0"/>
              </a:spcBef>
              <a:spcAft>
                <a:spcPts val="0"/>
              </a:spcAft>
              <a:buNone/>
            </a:pPr>
            <a:r>
              <a:rPr lang="en" sz="1150">
                <a:solidFill>
                  <a:schemeClr val="dk1"/>
                </a:solidFill>
                <a:latin typeface="Verdana"/>
                <a:ea typeface="Verdana"/>
                <a:cs typeface="Verdana"/>
                <a:sym typeface="Verdana"/>
              </a:rPr>
              <a:t>taiNext12Months}}</a:t>
            </a:r>
            <a:endParaRPr sz="1150">
              <a:solidFill>
                <a:srgbClr val="000000"/>
              </a:solidFill>
              <a:latin typeface="Verdana"/>
              <a:ea typeface="Verdana"/>
              <a:cs typeface="Verdana"/>
              <a:sym typeface="Verdana"/>
            </a:endParaRPr>
          </a:p>
        </p:txBody>
      </p:sp>
      <p:sp>
        <p:nvSpPr>
          <p:cNvPr id="313" name="Google Shape;313;p23"/>
          <p:cNvSpPr txBox="1">
            <a:spLocks noGrp="1"/>
          </p:cNvSpPr>
          <p:nvPr>
            <p:ph idx="1" type="body"/>
          </p:nvPr>
        </p:nvSpPr>
        <p:spPr>
          <a:xfrm>
            <a:off x="3886138" y="5907250"/>
            <a:ext cx="1997100" cy="390300"/>
          </a:xfrm>
          <a:prstGeom prst="rect">
            <a:avLst/>
          </a:prstGeom>
        </p:spPr>
        <p:txBody>
          <a:bodyPr anchor="t" anchorCtr="0" bIns="91425" lIns="91425" rIns="91425" spcFirstLastPara="1" tIns="91425" wrap="square">
            <a:noAutofit/>
          </a:bodyPr>
          <a:lstStyle/>
          <a:p>
            <a:pPr algn="ctr" indent="0" lvl="0" marL="0" rtl="0">
              <a:spcBef>
                <a:spcPts val="0"/>
              </a:spcBef>
              <a:spcAft>
                <a:spcPts val="0"/>
              </a:spcAft>
              <a:buNone/>
            </a:pPr>
            <a:r>
              <a:rPr lang="en" sz="1150">
                <a:solidFill>
                  <a:schemeClr val="dk1"/>
                </a:solidFill>
                <a:latin typeface="Verdana"/>
                <a:ea typeface="Verdana"/>
                <a:cs typeface="Verdana"/>
                <a:sym typeface="Verdana"/>
              </a:rPr>
              <a:t>pctGrossSales}}</a:t>
            </a:r>
            <a:endParaRPr sz="1150">
              <a:solidFill>
                <a:srgbClr val="000000"/>
              </a:solidFill>
              <a:latin typeface="Verdana"/>
              <a:ea typeface="Verdana"/>
              <a:cs typeface="Verdana"/>
              <a:sym typeface="Verdana"/>
            </a:endParaRPr>
          </a:p>
        </p:txBody>
      </p:sp>
      <p:sp>
        <p:nvSpPr>
          <p:cNvPr id="314" name="Google Shape;314;p23"/>
          <p:cNvSpPr txBox="1">
            <a:spLocks noGrp="1"/>
          </p:cNvSpPr>
          <p:nvPr>
            <p:ph idx="1" type="body"/>
          </p:nvPr>
        </p:nvSpPr>
        <p:spPr>
          <a:xfrm>
            <a:off x="5975475" y="5908725"/>
            <a:ext cx="3216900" cy="390300"/>
          </a:xfrm>
          <a:prstGeom prst="rect">
            <a:avLst/>
          </a:prstGeom>
        </p:spPr>
        <p:txBody>
          <a:bodyPr anchor="t" anchorCtr="0" bIns="91425" lIns="91425" rIns="91425" spcFirstLastPara="1" tIns="91425" wrap="square">
            <a:noAutofit/>
          </a:bodyPr>
          <a:lstStyle/>
          <a:p>
            <a:pPr algn="ctr" indent="0" lvl="0" marL="0" rtl="0">
              <a:spcBef>
                <a:spcPts val="0"/>
              </a:spcBef>
              <a:spcAft>
                <a:spcPts val="0"/>
              </a:spcAft>
              <a:buNone/>
            </a:pPr>
            <a:r>
              <a:rPr lang="en" sz="1150">
                <a:solidFill>
                  <a:schemeClr val="dk1"/>
                </a:solidFill>
                <a:latin typeface="Verdana"/>
                <a:ea typeface="Verdana"/>
                <a:cs typeface="Verdana"/>
                <a:sym typeface="Verdana"/>
              </a:rPr>
              <a:t>estimatedGrossSalesNext12Months}}</a:t>
            </a:r>
            <a:endParaRPr sz="1150">
              <a:solidFill>
                <a:srgbClr val="000000"/>
              </a:solidFill>
              <a:latin typeface="Verdana"/>
              <a:ea typeface="Verdana"/>
              <a:cs typeface="Verdana"/>
              <a:sym typeface="Verdana"/>
            </a:endParaRPr>
          </a:p>
        </p:txBody>
      </p:sp>
      <p:sp>
        <p:nvSpPr>
          <p:cNvPr id="315" name="Google Shape;315;p23"/>
          <p:cNvSpPr txBox="1">
            <a:spLocks noGrp="1"/>
          </p:cNvSpPr>
          <p:nvPr>
            <p:ph idx="1" type="body"/>
          </p:nvPr>
        </p:nvSpPr>
        <p:spPr>
          <a:xfrm>
            <a:off x="640080" y="1353025"/>
            <a:ext cx="500700" cy="3903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A.</a:t>
            </a:r>
            <a:endParaRPr b="1" sz="1150">
              <a:solidFill>
                <a:srgbClr val="000000"/>
              </a:solidFill>
              <a:latin typeface="Verdana"/>
              <a:ea typeface="Verdana"/>
              <a:cs typeface="Verdana"/>
              <a:sym typeface="Verdana"/>
            </a:endParaRPr>
          </a:p>
        </p:txBody>
      </p:sp>
      <p:sp>
        <p:nvSpPr>
          <p:cNvPr id="316" name="Google Shape;316;p23"/>
          <p:cNvSpPr txBox="1">
            <a:spLocks noGrp="1"/>
          </p:cNvSpPr>
          <p:nvPr>
            <p:ph idx="1" type="body"/>
          </p:nvPr>
        </p:nvSpPr>
        <p:spPr>
          <a:xfrm>
            <a:off x="1140766" y="1351525"/>
            <a:ext cx="3592200" cy="3933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Previous Year’s Media Allocation</a:t>
            </a:r>
            <a:endParaRPr b="1" sz="1150">
              <a:solidFill>
                <a:srgbClr val="00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Shape 320"/>
        <p:cNvGrpSpPr/>
        <p:nvPr/>
      </p:nvGrpSpPr>
      <p:grpSpPr>
        <a:xfrm>
          <a:off x="0" y="0"/>
          <a:ext cx="0" cy="0"/>
          <a:chOff x="0" y="0"/>
          <a:chExt cx="0" cy="0"/>
        </a:xfrm>
      </p:grpSpPr>
      <p:sp>
        <p:nvSpPr>
          <p:cNvPr id="321" name="Google Shape;321;p24"/>
          <p:cNvSpPr txBox="1">
            <a:spLocks noGrp="1"/>
          </p:cNvSpPr>
          <p:nvPr>
            <p:ph idx="12" type="sldNum"/>
          </p:nvPr>
        </p:nvSpPr>
        <p:spPr>
          <a:xfrm>
            <a:off x="8472458" y="6632131"/>
            <a:ext cx="548700" cy="559800"/>
          </a:xfrm>
          <a:prstGeom prst="rect">
            <a:avLst/>
          </a:prstGeom>
        </p:spPr>
        <p:txBody>
          <a:bodyPr anchor="ctr" anchorCtr="0" bIns="91425" lIns="91425" rIns="91425" spcFirstLastPara="1" tIns="91425" wrap="square">
            <a:noAutofit/>
          </a:bodyPr>
          <a:lstStyle/>
          <a:p>
            <a:pPr algn="r" indent="0" lvl="0" marL="0" rtl="0">
              <a:spcBef>
                <a:spcPts val="0"/>
              </a:spcBef>
              <a:spcAft>
                <a:spcPts val="0"/>
              </a:spcAft>
              <a:buNone/>
            </a:pPr>
            <a:fld id="{00000000-1234-1234-1234-123412341234}" type="slidenum">
              <a:rPr lang="en"/>
              <a:t>12</a:t>
            </a:fld>
            <a:endParaRPr/>
          </a:p>
        </p:txBody>
      </p:sp>
      <p:sp>
        <p:nvSpPr>
          <p:cNvPr id="322" name="Google Shape;322;p24"/>
          <p:cNvSpPr txBox="1"/>
          <p:nvPr/>
        </p:nvSpPr>
        <p:spPr>
          <a:xfrm>
            <a:off x="1561650" y="6546625"/>
            <a:ext cx="6020700" cy="365700"/>
          </a:xfrm>
          <a:prstGeom prst="rect">
            <a:avLst/>
          </a:prstGeom>
          <a:noFill/>
          <a:ln>
            <a:noFill/>
          </a:ln>
        </p:spPr>
        <p:txBody>
          <a:bodyPr anchor="t" anchorCtr="0" bIns="91425" lIns="91425" rIns="91425" spcFirstLastPara="1" tIns="91425" wrap="square">
            <a:noAutofit/>
          </a:bodyPr>
          <a:lstStyle/>
          <a:p>
            <a:pPr algn="ctr" indent="0" lvl="0" marL="0" rtl="0">
              <a:lnSpc>
                <a:spcPct val="115000"/>
              </a:lnSpc>
              <a:spcBef>
                <a:spcPts val="0"/>
              </a:spcBef>
              <a:spcAft>
                <a:spcPts val="0"/>
              </a:spcAft>
              <a:buClr>
                <a:schemeClr val="dk1"/>
              </a:buClr>
              <a:buSzPts val="1100"/>
              <a:buFont typeface="Arial"/>
              <a:buNone/>
            </a:pPr>
            <a:endParaRPr b="1" sz="1350"/>
          </a:p>
        </p:txBody>
      </p:sp>
      <p:sp>
        <p:nvSpPr>
          <p:cNvPr id="323" name="Google Shape;323;p24"/>
          <p:cNvSpPr txBox="1"/>
          <p:nvPr/>
        </p:nvSpPr>
        <p:spPr>
          <a:xfrm>
            <a:off x="398025" y="475488"/>
            <a:ext cx="8399400" cy="8004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800"/>
              </a:spcBef>
              <a:spcAft>
                <a:spcPts val="800"/>
              </a:spcAft>
              <a:buClr>
                <a:schemeClr val="dk1"/>
              </a:buClr>
              <a:buSzPts val="1100"/>
              <a:buFont typeface="Arial"/>
              <a:buNone/>
            </a:pPr>
            <a:r>
              <a:rPr b="1" lang="en" sz="4000">
                <a:solidFill>
                  <a:schemeClr val="dk1"/>
                </a:solidFill>
              </a:rPr>
              <a:t>Previous Year’s Media Allocation</a:t>
            </a:r>
            <a:endParaRPr/>
          </a:p>
        </p:txBody>
      </p:sp>
      <p:sp>
        <p:nvSpPr>
          <p:cNvPr id="324" name="Google Shape;324;p24"/>
          <p:cNvSpPr txBox="1"/>
          <p:nvPr/>
        </p:nvSpPr>
        <p:spPr>
          <a:xfrm>
            <a:off x="841248" y="6556248"/>
            <a:ext cx="7466100" cy="393300"/>
          </a:xfrm>
          <a:prstGeom prst="rect">
            <a:avLst/>
          </a:prstGeom>
          <a:noFill/>
          <a:ln>
            <a:noFill/>
          </a:ln>
        </p:spPr>
        <p:txBody>
          <a:bodyPr anchor="t" anchorCtr="0" bIns="91425" lIns="91425" rIns="91425" spcFirstLastPara="1" tIns="91425" wrap="square">
            <a:noAutofit/>
          </a:bodyPr>
          <a:lstStyle/>
          <a:p>
            <a:pPr algn="ctr" indent="0" lvl="0" marL="0" rtl="0">
              <a:lnSpc>
                <a:spcPct val="100000"/>
              </a:lnSpc>
              <a:spcBef>
                <a:spcPts val="0"/>
              </a:spcBef>
              <a:spcAft>
                <a:spcPts val="0"/>
              </a:spcAft>
              <a:buNone/>
            </a:pPr>
            <a:r>
              <a:rPr b="1" lang="en" sz="1550">
                <a:solidFill>
                  <a:schemeClr val="dk1"/>
                </a:solidFill>
                <a:latin typeface="Verdana"/>
                <a:ea typeface="Verdana"/>
                <a:cs typeface="Verdana"/>
                <a:sym typeface="Verdana"/>
              </a:rPr>
              <a:t>Total Advertising Investment (TAI): totalAdvertisingInvestmentConfidentialClientEvaluationOnePage}}</a:t>
            </a:r>
            <a:endParaRPr b="1" sz="1550">
              <a:latin typeface="Verdana"/>
              <a:ea typeface="Verdana"/>
              <a:cs typeface="Verdana"/>
              <a:sym typeface="Verdana"/>
            </a:endParaRPr>
          </a:p>
        </p:txBody>
      </p:sp>
      <p:pic>
        <p:nvPicPr>
          <p:cNvPr id="325" name="Google Shape;325;p24"/>
          <p:cNvPicPr preferRelativeResize="0"/>
          <p:nvPr/>
        </p:nvPicPr>
        <p:blipFill>
          <a:blip r:embed="rId3">
            <a:alphaModFix/>
          </a:blip>
          <a:stretch>
            <a:fillRect/>
          </a:stretch>
        </p:blipFill>
        <p:spPr>
          <a:xfrm>
            <a:off x="448056" y="1363660"/>
            <a:ext cx="8247888" cy="5099944"/>
          </a:xfrm>
          <a:prstGeom prst="rect">
            <a:avLst/>
          </a:prstGeom>
          <a:noFill/>
          <a:ln>
            <a:no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Shape 329"/>
        <p:cNvGrpSpPr/>
        <p:nvPr/>
      </p:nvGrpSpPr>
      <p:grpSpPr>
        <a:xfrm>
          <a:off x="0" y="0"/>
          <a:ext cx="0" cy="0"/>
          <a:chOff x="0" y="0"/>
          <a:chExt cx="0" cy="0"/>
        </a:xfrm>
      </p:grpSpPr>
      <p:sp>
        <p:nvSpPr>
          <p:cNvPr id="330" name="Google Shape;330;p25"/>
          <p:cNvSpPr txBox="1">
            <a:spLocks noGrp="1"/>
          </p:cNvSpPr>
          <p:nvPr>
            <p:ph idx="12" type="sldNum"/>
          </p:nvPr>
        </p:nvSpPr>
        <p:spPr>
          <a:xfrm>
            <a:off x="8472458" y="6632131"/>
            <a:ext cx="548700" cy="559800"/>
          </a:xfrm>
          <a:prstGeom prst="rect">
            <a:avLst/>
          </a:prstGeom>
        </p:spPr>
        <p:txBody>
          <a:bodyPr anchor="ctr" anchorCtr="0" bIns="91425" lIns="91425" rIns="91425" spcFirstLastPara="1" tIns="91425" wrap="square">
            <a:noAutofit/>
          </a:bodyPr>
          <a:lstStyle/>
          <a:p>
            <a:pPr algn="r" indent="0" lvl="0" marL="0" rtl="0">
              <a:spcBef>
                <a:spcPts val="0"/>
              </a:spcBef>
              <a:spcAft>
                <a:spcPts val="0"/>
              </a:spcAft>
              <a:buNone/>
            </a:pPr>
            <a:fld id="{00000000-1234-1234-1234-123412341234}" type="slidenum">
              <a:rPr lang="en"/>
              <a:t>13</a:t>
            </a:fld>
            <a:endParaRPr/>
          </a:p>
        </p:txBody>
      </p:sp>
      <p:sp>
        <p:nvSpPr>
          <p:cNvPr id="331" name="Google Shape;331;p25"/>
          <p:cNvSpPr txBox="1"/>
          <p:nvPr/>
        </p:nvSpPr>
        <p:spPr>
          <a:xfrm>
            <a:off x="398025" y="475488"/>
            <a:ext cx="8399400" cy="800400"/>
          </a:xfrm>
          <a:prstGeom prst="rect">
            <a:avLst/>
          </a:prstGeom>
          <a:noFill/>
          <a:ln>
            <a:noFill/>
          </a:ln>
        </p:spPr>
        <p:txBody>
          <a:bodyPr anchor="t" anchorCtr="0" bIns="91425" lIns="91425" rIns="91425" spcFirstLastPara="1" tIns="91425" wrap="square">
            <a:spAutoFit/>
          </a:bodyPr>
          <a:lstStyle/>
          <a:p>
            <a:pPr algn="ctr" indent="0" lvl="0" marL="0" rtl="0">
              <a:lnSpc>
                <a:spcPct val="115000"/>
              </a:lnSpc>
              <a:spcBef>
                <a:spcPts val="800"/>
              </a:spcBef>
              <a:spcAft>
                <a:spcPts val="800"/>
              </a:spcAft>
              <a:buClr>
                <a:schemeClr val="dk1"/>
              </a:buClr>
              <a:buSzPts val="1100"/>
              <a:buFont typeface="Arial"/>
              <a:buNone/>
            </a:pPr>
            <a:r>
              <a:rPr b="1" lang="en" sz="4000">
                <a:solidFill>
                  <a:schemeClr val="dk1"/>
                </a:solidFill>
              </a:rPr>
              <a:t>Proposed Year’s Media Allocation</a:t>
            </a:r>
            <a:endParaRPr/>
          </a:p>
        </p:txBody>
      </p:sp>
      <p:sp>
        <p:nvSpPr>
          <p:cNvPr id="332" name="Google Shape;332;p25"/>
          <p:cNvSpPr txBox="1"/>
          <p:nvPr/>
        </p:nvSpPr>
        <p:spPr>
          <a:xfrm>
            <a:off x="841248" y="6556248"/>
            <a:ext cx="7466100" cy="393300"/>
          </a:xfrm>
          <a:prstGeom prst="rect">
            <a:avLst/>
          </a:prstGeom>
          <a:noFill/>
          <a:ln>
            <a:noFill/>
          </a:ln>
        </p:spPr>
        <p:txBody>
          <a:bodyPr anchor="t" anchorCtr="0" bIns="91425" lIns="91425" rIns="91425" spcFirstLastPara="1" tIns="91425" wrap="square">
            <a:noAutofit/>
          </a:bodyPr>
          <a:lstStyle/>
          <a:p>
            <a:pPr algn="ctr" indent="0" lvl="0" marL="0" rtl="0">
              <a:spcBef>
                <a:spcPts val="0"/>
              </a:spcBef>
              <a:spcAft>
                <a:spcPts val="0"/>
              </a:spcAft>
              <a:buNone/>
            </a:pPr>
            <a:r>
              <a:rPr b="1" lang="en" sz="1550">
                <a:solidFill>
                  <a:schemeClr val="dk1"/>
                </a:solidFill>
                <a:latin typeface="Verdana"/>
                <a:ea typeface="Verdana"/>
                <a:cs typeface="Verdana"/>
                <a:sym typeface="Verdana"/>
              </a:rPr>
              <a:t>Total Advertising Investment (TAI): </a:t>
            </a:r>
            <a:r>
              <a:rPr b="1" lang="en" sz="1550">
                <a:latin typeface="Verdana"/>
                <a:ea typeface="Verdana"/>
                <a:cs typeface="Verdana"/>
                <a:sym typeface="Verdana"/>
              </a:rPr>
              <a:t>totalAdvertisingInvestmentConfidentialClientEvaluationProposed}}</a:t>
            </a:r>
            <a:endParaRPr b="1" sz="1550">
              <a:latin typeface="Verdana"/>
              <a:ea typeface="Verdana"/>
              <a:cs typeface="Verdana"/>
              <a:sym typeface="Verdana"/>
            </a:endParaRPr>
          </a:p>
        </p:txBody>
      </p:sp>
      <p:pic>
        <p:nvPicPr>
          <p:cNvPr id="333" name="Google Shape;333;p25"/>
          <p:cNvPicPr preferRelativeResize="0"/>
          <p:nvPr/>
        </p:nvPicPr>
        <p:blipFill>
          <a:blip r:embed="rId3">
            <a:alphaModFix/>
          </a:blip>
          <a:stretch>
            <a:fillRect/>
          </a:stretch>
        </p:blipFill>
        <p:spPr>
          <a:xfrm>
            <a:off x="448056" y="1363660"/>
            <a:ext cx="8247888" cy="5099944"/>
          </a:xfrm>
          <a:prstGeom prst="rect">
            <a:avLst/>
          </a:prstGeom>
          <a:noFill/>
          <a:ln>
            <a:no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Shape 337"/>
        <p:cNvGrpSpPr/>
        <p:nvPr/>
      </p:nvGrpSpPr>
      <p:grpSpPr>
        <a:xfrm>
          <a:off x="0" y="0"/>
          <a:ext cx="0" cy="0"/>
          <a:chOff x="0" y="0"/>
          <a:chExt cx="0" cy="0"/>
        </a:xfrm>
      </p:grpSpPr>
      <p:sp>
        <p:nvSpPr>
          <p:cNvPr id="338" name="Google Shape;338;p26"/>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Profile of Consumers</a:t>
            </a:r>
            <a:endParaRPr/>
          </a:p>
        </p:txBody>
      </p:sp>
      <p:sp>
        <p:nvSpPr>
          <p:cNvPr id="339" name="Google Shape;339;p26"/>
          <p:cNvSpPr txBox="1">
            <a:spLocks noGrp="1"/>
          </p:cNvSpPr>
          <p:nvPr>
            <p:ph idx="1" type="body"/>
          </p:nvPr>
        </p:nvSpPr>
        <p:spPr>
          <a:xfrm>
            <a:off x="457200" y="1174800"/>
            <a:ext cx="8229600" cy="5492700"/>
          </a:xfrm>
          <a:prstGeom prst="rect">
            <a:avLst/>
          </a:prstGeom>
        </p:spPr>
        <p:txBody>
          <a:bodyPr anchor="t"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algn="l" indent="0" lvl="0" marL="0" rtl="0">
              <a:lnSpc>
                <a:spcPct val="115000"/>
              </a:lnSpc>
              <a:spcBef>
                <a:spcPts val="1000"/>
              </a:spcBef>
              <a:spcAft>
                <a:spcPts val="1000"/>
              </a:spcAft>
              <a:buNone/>
            </a:pPr>
            <a:endParaRPr sz="1150">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Shape 343"/>
        <p:cNvGrpSpPr/>
        <p:nvPr/>
      </p:nvGrpSpPr>
      <p:grpSpPr>
        <a:xfrm>
          <a:off x="0" y="0"/>
          <a:ext cx="0" cy="0"/>
          <a:chOff x="0" y="0"/>
          <a:chExt cx="0" cy="0"/>
        </a:xfrm>
      </p:grpSpPr>
      <p:sp>
        <p:nvSpPr>
          <p:cNvPr id="344" name="Google Shape;344;p27"/>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Marketing Strategies</a:t>
            </a:r>
            <a:endParaRPr/>
          </a:p>
        </p:txBody>
      </p:sp>
      <p:sp>
        <p:nvSpPr>
          <p:cNvPr id="345" name="Google Shape;345;p27"/>
          <p:cNvSpPr txBox="1">
            <a:spLocks noGrp="1"/>
          </p:cNvSpPr>
          <p:nvPr>
            <p:ph idx="1" type="body"/>
          </p:nvPr>
        </p:nvSpPr>
        <p:spPr>
          <a:xfrm>
            <a:off x="458400" y="1174799"/>
            <a:ext cx="8227200" cy="5492700"/>
          </a:xfrm>
          <a:prstGeom prst="rect">
            <a:avLst/>
          </a:prstGeom>
        </p:spPr>
        <p:txBody>
          <a:bodyPr anchor="t" anchorCtr="0" bIns="91425" lIns="91425" rIns="91425" spcFirstLastPara="1" tIns="91425" wrap="square">
            <a:noAutofit/>
          </a:bodyPr>
          <a:lstStyle/>
          <a:p>
            <a:pPr algn="l" indent="0" lvl="0" marL="0" rtl="0">
              <a:lnSpc>
                <a:spcPct val="115000"/>
              </a:lnSpc>
              <a:spcBef>
                <a:spcPts val="0"/>
              </a:spcBef>
              <a:spcAft>
                <a:spcPts val="0"/>
              </a:spcAft>
              <a:buClr>
                <a:schemeClr val="dk1"/>
              </a:buClr>
              <a:buSzPts val="1100"/>
              <a:buFont typeface="Arial"/>
              <a:buNone/>
            </a:pPr>
            <a:r>
              <a:rPr lang="en">
                <a:solidFill>
                  <a:srgbClr val="00274D"/>
                </a:solidFill>
              </a:rPr>
              <a:t>Replace this text with marketing stra</a:t>
            </a:r>
            <a:endParaRPr sz="1150">
              <a:solidFill>
                <a:schemeClr val="dk1"/>
              </a:solidFill>
              <a:latin typeface="Verdana"/>
              <a:ea typeface="Verdana"/>
              <a:cs typeface="Verdana"/>
              <a:sym typeface="Verdana"/>
            </a:endParaRPr>
          </a:p>
          <a:p>
            <a:pPr algn="l" indent="0" lvl="0" marL="0" rtl="0">
              <a:lnSpc>
                <a:spcPct val="115000"/>
              </a:lnSpc>
              <a:spcBef>
                <a:spcPts val="1000"/>
              </a:spcBef>
              <a:spcAft>
                <a:spcPts val="1000"/>
              </a:spcAft>
              <a:buNone/>
            </a:pPr>
            <a:endParaRPr sz="115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Shape 349"/>
        <p:cNvGrpSpPr/>
        <p:nvPr/>
      </p:nvGrpSpPr>
      <p:grpSpPr>
        <a:xfrm>
          <a:off x="0" y="0"/>
          <a:ext cx="0" cy="0"/>
          <a:chOff x="0" y="0"/>
          <a:chExt cx="0" cy="0"/>
        </a:xfrm>
      </p:grpSpPr>
      <p:sp>
        <p:nvSpPr>
          <p:cNvPr id="350" name="Google Shape;350;p28"/>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Creative Concepts I</a:t>
            </a:r>
            <a:endParaRPr/>
          </a:p>
        </p:txBody>
      </p:sp>
      <p:sp>
        <p:nvSpPr>
          <p:cNvPr id="351" name="Google Shape;351;p28"/>
          <p:cNvSpPr txBox="1">
            <a:spLocks noGrp="1"/>
          </p:cNvSpPr>
          <p:nvPr>
            <p:ph idx="2" type="body"/>
          </p:nvPr>
        </p:nvSpPr>
        <p:spPr>
          <a:xfrm>
            <a:off x="367950" y="1174800"/>
            <a:ext cx="8408100" cy="5443800"/>
          </a:xfrm>
          <a:prstGeom prst="rect">
            <a:avLst/>
          </a:prstGeom>
        </p:spPr>
        <p:txBody>
          <a:bodyPr anchor="t" anchorCtr="0" bIns="91425" lIns="91425" rIns="91425" spcFirstLastPara="1" tIns="91425" wrap="square">
            <a:noAutofit/>
          </a:bodyPr>
          <a:lstStyle/>
          <a:p>
            <a:pPr algn="l" indent="0" lvl="0" marL="0" rtl="0">
              <a:spcBef>
                <a:spcPts val="0"/>
              </a:spcBef>
              <a:spcAft>
                <a:spcPts val="0"/>
              </a:spcAft>
              <a:buNone/>
            </a:pPr>
            <a:endParaRPr sz="1150">
              <a:solidFill>
                <a:srgbClr val="000000"/>
              </a:solidFill>
              <a:latin typeface="Verdana"/>
              <a:ea typeface="Verdana"/>
              <a:cs typeface="Verdana"/>
              <a:sym typeface="Verdana"/>
            </a:endParaRPr>
          </a:p>
          <a:p>
            <a:pPr algn="l" indent="0" lvl="0" marL="0" rtl="0">
              <a:spcBef>
                <a:spcPts val="16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Creative Concepts II</a:t>
            </a:r>
            <a:endParaRPr/>
          </a:p>
        </p:txBody>
      </p:sp>
      <p:sp>
        <p:nvSpPr>
          <p:cNvPr id="357" name="Google Shape;357;p29"/>
          <p:cNvSpPr txBox="1">
            <a:spLocks noGrp="1"/>
          </p:cNvSpPr>
          <p:nvPr>
            <p:ph idx="2" type="body"/>
          </p:nvPr>
        </p:nvSpPr>
        <p:spPr>
          <a:xfrm>
            <a:off x="367950" y="1174800"/>
            <a:ext cx="8408100" cy="5530800"/>
          </a:xfrm>
          <a:prstGeom prst="rect">
            <a:avLst/>
          </a:prstGeom>
        </p:spPr>
        <p:txBody>
          <a:bodyPr anchor="t" anchorCtr="0" bIns="91425" lIns="91425" rIns="91425" spcFirstLastPara="1" tIns="91425" wrap="square">
            <a:noAutofit/>
          </a:bodyPr>
          <a:lstStyle/>
          <a:p>
            <a:pPr algn="l" indent="0" lvl="0" marL="0" rtl="0">
              <a:spcBef>
                <a:spcPts val="12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Shape 361"/>
        <p:cNvGrpSpPr/>
        <p:nvPr/>
      </p:nvGrpSpPr>
      <p:grpSpPr>
        <a:xfrm>
          <a:off x="0" y="0"/>
          <a:ext cx="0" cy="0"/>
          <a:chOff x="0" y="0"/>
          <a:chExt cx="0" cy="0"/>
        </a:xfrm>
      </p:grpSpPr>
      <p:sp>
        <p:nvSpPr>
          <p:cNvPr id="362" name="Google Shape;362;p30"/>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Digital Marketing Strategies</a:t>
            </a:r>
            <a:endParaRPr/>
          </a:p>
        </p:txBody>
      </p:sp>
      <p:sp>
        <p:nvSpPr>
          <p:cNvPr id="363" name="Google Shape;363;p30"/>
          <p:cNvSpPr txBox="1">
            <a:spLocks noGrp="1"/>
          </p:cNvSpPr>
          <p:nvPr>
            <p:ph idx="1" type="body"/>
          </p:nvPr>
        </p:nvSpPr>
        <p:spPr>
          <a:xfrm>
            <a:off x="457200" y="1170400"/>
            <a:ext cx="8229600" cy="5709300"/>
          </a:xfrm>
          <a:prstGeom prst="rect">
            <a:avLst/>
          </a:prstGeom>
        </p:spPr>
        <p:txBody>
          <a:bodyPr anchor="t" anchorCtr="0" bIns="91425" lIns="91425" rIns="91425" spcFirstLastPara="1" tIns="91425" wrap="square">
            <a:noAutofit/>
          </a:bodyPr>
          <a:lstStyle/>
          <a:p>
            <a:pPr algn="l" indent="0" lvl="0" marL="0"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algn="l" indent="0" lvl="0" marL="0" rtl="0">
              <a:spcBef>
                <a:spcPts val="1000"/>
              </a:spcBef>
              <a:spcAft>
                <a:spcPts val="1600"/>
              </a:spcAft>
              <a:buNone/>
            </a:pPr>
            <a:endParaRPr sz="1150">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Shape 367"/>
        <p:cNvGrpSpPr/>
        <p:nvPr/>
      </p:nvGrpSpPr>
      <p:grpSpPr>
        <a:xfrm>
          <a:off x="0" y="0"/>
          <a:ext cx="0" cy="0"/>
          <a:chOff x="0" y="0"/>
          <a:chExt cx="0" cy="0"/>
        </a:xfrm>
      </p:grpSpPr>
      <p:sp>
        <p:nvSpPr>
          <p:cNvPr id="368" name="Google Shape;368;p31"/>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Long Range Strategic Plans</a:t>
            </a:r>
            <a:endParaRPr/>
          </a:p>
        </p:txBody>
      </p:sp>
      <p:sp>
        <p:nvSpPr>
          <p:cNvPr id="369" name="Google Shape;369;p31"/>
          <p:cNvSpPr txBox="1"/>
          <p:nvPr/>
        </p:nvSpPr>
        <p:spPr>
          <a:xfrm>
            <a:off x="453938" y="1463040"/>
            <a:ext cx="1928100" cy="8745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latin typeface="Verdana"/>
                <a:ea typeface="Verdana"/>
                <a:cs typeface="Verdana"/>
                <a:sym typeface="Verdana"/>
              </a:rPr>
              <a:t>SATURATION</a:t>
            </a:r>
            <a:endParaRPr sz="1700">
              <a:latin typeface="Verdana"/>
              <a:ea typeface="Verdana"/>
              <a:cs typeface="Verdana"/>
              <a:sym typeface="Verdana"/>
            </a:endParaRPr>
          </a:p>
        </p:txBody>
      </p:sp>
      <p:sp>
        <p:nvSpPr>
          <p:cNvPr id="370" name="Google Shape;370;p31"/>
          <p:cNvSpPr txBox="1"/>
          <p:nvPr/>
        </p:nvSpPr>
        <p:spPr>
          <a:xfrm>
            <a:off x="3545038" y="1463040"/>
            <a:ext cx="1928100" cy="8745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latin typeface="Verdana"/>
                <a:ea typeface="Verdana"/>
                <a:cs typeface="Verdana"/>
                <a:sym typeface="Verdana"/>
              </a:rPr>
              <a:t>13 WEEKS</a:t>
            </a:r>
            <a:endParaRPr sz="1700">
              <a:latin typeface="Verdana"/>
              <a:ea typeface="Verdana"/>
              <a:cs typeface="Verdana"/>
              <a:sym typeface="Verdana"/>
            </a:endParaRPr>
          </a:p>
        </p:txBody>
      </p:sp>
      <p:sp>
        <p:nvSpPr>
          <p:cNvPr id="371" name="Google Shape;371;p31"/>
          <p:cNvSpPr txBox="1"/>
          <p:nvPr/>
        </p:nvSpPr>
        <p:spPr>
          <a:xfrm>
            <a:off x="6761963" y="1463040"/>
            <a:ext cx="1928100" cy="8745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latin typeface="Verdana"/>
                <a:ea typeface="Verdana"/>
                <a:cs typeface="Verdana"/>
                <a:sym typeface="Verdana"/>
              </a:rPr>
              <a:t>AWARENESS</a:t>
            </a:r>
            <a:endParaRPr sz="1700">
              <a:latin typeface="Verdana"/>
              <a:ea typeface="Verdana"/>
              <a:cs typeface="Verdana"/>
              <a:sym typeface="Verdana"/>
            </a:endParaRPr>
          </a:p>
        </p:txBody>
      </p:sp>
      <p:sp>
        <p:nvSpPr>
          <p:cNvPr id="372" name="Google Shape;372;p31"/>
          <p:cNvSpPr txBox="1"/>
          <p:nvPr/>
        </p:nvSpPr>
        <p:spPr>
          <a:xfrm>
            <a:off x="453925" y="3431678"/>
            <a:ext cx="1928100" cy="8745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latin typeface="Verdana"/>
                <a:ea typeface="Verdana"/>
                <a:cs typeface="Verdana"/>
                <a:sym typeface="Verdana"/>
              </a:rPr>
              <a:t>PENETRATION</a:t>
            </a:r>
            <a:endParaRPr sz="1700">
              <a:latin typeface="Verdana"/>
              <a:ea typeface="Verdana"/>
              <a:cs typeface="Verdana"/>
              <a:sym typeface="Verdana"/>
            </a:endParaRPr>
          </a:p>
        </p:txBody>
      </p:sp>
      <p:sp>
        <p:nvSpPr>
          <p:cNvPr id="373" name="Google Shape;373;p31"/>
          <p:cNvSpPr txBox="1"/>
          <p:nvPr/>
        </p:nvSpPr>
        <p:spPr>
          <a:xfrm>
            <a:off x="3545025" y="3431678"/>
            <a:ext cx="1928100" cy="8745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latin typeface="Verdana"/>
                <a:ea typeface="Verdana"/>
                <a:cs typeface="Verdana"/>
                <a:sym typeface="Verdana"/>
              </a:rPr>
              <a:t>26 WEEKS</a:t>
            </a:r>
            <a:endParaRPr sz="1700">
              <a:latin typeface="Verdana"/>
              <a:ea typeface="Verdana"/>
              <a:cs typeface="Verdana"/>
              <a:sym typeface="Verdana"/>
            </a:endParaRPr>
          </a:p>
        </p:txBody>
      </p:sp>
      <p:sp>
        <p:nvSpPr>
          <p:cNvPr id="374" name="Google Shape;374;p31"/>
          <p:cNvSpPr txBox="1"/>
          <p:nvPr/>
        </p:nvSpPr>
        <p:spPr>
          <a:xfrm>
            <a:off x="6761950" y="3431678"/>
            <a:ext cx="1928100" cy="8745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latin typeface="Verdana"/>
                <a:ea typeface="Verdana"/>
                <a:cs typeface="Verdana"/>
                <a:sym typeface="Verdana"/>
              </a:rPr>
              <a:t>RECOGNITION</a:t>
            </a:r>
            <a:endParaRPr sz="1700">
              <a:latin typeface="Verdana"/>
              <a:ea typeface="Verdana"/>
              <a:cs typeface="Verdana"/>
              <a:sym typeface="Verdana"/>
            </a:endParaRPr>
          </a:p>
        </p:txBody>
      </p:sp>
      <p:sp>
        <p:nvSpPr>
          <p:cNvPr id="375" name="Google Shape;375;p31"/>
          <p:cNvSpPr txBox="1"/>
          <p:nvPr/>
        </p:nvSpPr>
        <p:spPr>
          <a:xfrm>
            <a:off x="453938" y="5400315"/>
            <a:ext cx="1928100" cy="8745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latin typeface="Verdana"/>
                <a:ea typeface="Verdana"/>
                <a:cs typeface="Verdana"/>
                <a:sym typeface="Verdana"/>
              </a:rPr>
              <a:t>DOMINANCE</a:t>
            </a:r>
            <a:endParaRPr sz="1700">
              <a:latin typeface="Verdana"/>
              <a:ea typeface="Verdana"/>
              <a:cs typeface="Verdana"/>
              <a:sym typeface="Verdana"/>
            </a:endParaRPr>
          </a:p>
        </p:txBody>
      </p:sp>
      <p:sp>
        <p:nvSpPr>
          <p:cNvPr id="376" name="Google Shape;376;p31"/>
          <p:cNvSpPr txBox="1"/>
          <p:nvPr/>
        </p:nvSpPr>
        <p:spPr>
          <a:xfrm>
            <a:off x="3545038" y="5400315"/>
            <a:ext cx="1928100" cy="8745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latin typeface="Verdana"/>
                <a:ea typeface="Verdana"/>
                <a:cs typeface="Verdana"/>
                <a:sym typeface="Verdana"/>
              </a:rPr>
              <a:t>52 WEEKS</a:t>
            </a:r>
            <a:endParaRPr sz="1700">
              <a:latin typeface="Verdana"/>
              <a:ea typeface="Verdana"/>
              <a:cs typeface="Verdana"/>
              <a:sym typeface="Verdana"/>
            </a:endParaRPr>
          </a:p>
        </p:txBody>
      </p:sp>
      <p:sp>
        <p:nvSpPr>
          <p:cNvPr id="377" name="Google Shape;377;p31"/>
          <p:cNvSpPr txBox="1"/>
          <p:nvPr/>
        </p:nvSpPr>
        <p:spPr>
          <a:xfrm>
            <a:off x="6761963" y="5400315"/>
            <a:ext cx="1928100" cy="8745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latin typeface="Verdana"/>
                <a:ea typeface="Verdana"/>
                <a:cs typeface="Verdana"/>
                <a:sym typeface="Verdana"/>
              </a:rPr>
              <a:t>ACCEPTANCE</a:t>
            </a:r>
            <a:endParaRPr sz="1700">
              <a:latin typeface="Verdana"/>
              <a:ea typeface="Verdana"/>
              <a:cs typeface="Verdana"/>
              <a:sym typeface="Verdana"/>
            </a:endParaRPr>
          </a:p>
        </p:txBody>
      </p:sp>
      <p:sp>
        <p:nvSpPr>
          <p:cNvPr id="378" name="Google Shape;378;p31"/>
          <p:cNvSpPr/>
          <p:nvPr/>
        </p:nvSpPr>
        <p:spPr>
          <a:xfrm>
            <a:off x="2382025" y="5628925"/>
            <a:ext cx="1391400" cy="417300"/>
          </a:xfrm>
          <a:prstGeom prst="rightArrow">
            <a:avLst>
              <a:gd fmla="val 50000" name="adj1"/>
              <a:gd fmla="val 50000" name="adj2"/>
            </a:avLst>
          </a:prstGeom>
          <a:solidFill>
            <a:srgbClr val="7F7E05"/>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79" name="Google Shape;379;p31"/>
          <p:cNvSpPr/>
          <p:nvPr/>
        </p:nvSpPr>
        <p:spPr>
          <a:xfrm>
            <a:off x="5370550" y="5628925"/>
            <a:ext cx="1391400" cy="417300"/>
          </a:xfrm>
          <a:prstGeom prst="rightArrow">
            <a:avLst>
              <a:gd fmla="val 50000" name="adj1"/>
              <a:gd fmla="val 50000" name="adj2"/>
            </a:avLst>
          </a:prstGeom>
          <a:solidFill>
            <a:srgbClr val="7F7E05"/>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80" name="Google Shape;380;p31"/>
          <p:cNvSpPr/>
          <p:nvPr/>
        </p:nvSpPr>
        <p:spPr>
          <a:xfrm>
            <a:off x="2382025" y="1691625"/>
            <a:ext cx="1391400" cy="417300"/>
          </a:xfrm>
          <a:prstGeom prst="rightArrow">
            <a:avLst>
              <a:gd fmla="val 50000" name="adj1"/>
              <a:gd fmla="val 50000" name="adj2"/>
            </a:avLst>
          </a:prstGeom>
          <a:solidFill>
            <a:srgbClr val="000000"/>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81" name="Google Shape;381;p31"/>
          <p:cNvSpPr/>
          <p:nvPr/>
        </p:nvSpPr>
        <p:spPr>
          <a:xfrm>
            <a:off x="5370550" y="1691625"/>
            <a:ext cx="1391400" cy="417300"/>
          </a:xfrm>
          <a:prstGeom prst="rightArrow">
            <a:avLst>
              <a:gd fmla="val 50000" name="adj1"/>
              <a:gd fmla="val 50000" name="adj2"/>
            </a:avLst>
          </a:prstGeom>
          <a:solidFill>
            <a:srgbClr val="000000"/>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82" name="Google Shape;382;p31"/>
          <p:cNvSpPr/>
          <p:nvPr/>
        </p:nvSpPr>
        <p:spPr>
          <a:xfrm>
            <a:off x="2382038" y="3660288"/>
            <a:ext cx="1391400" cy="417300"/>
          </a:xfrm>
          <a:prstGeom prst="rightArrow">
            <a:avLst>
              <a:gd fmla="val 50000" name="adj1"/>
              <a:gd fmla="val 50000" name="adj2"/>
            </a:avLst>
          </a:prstGeom>
          <a:solidFill>
            <a:srgbClr val="002B00"/>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83" name="Google Shape;383;p31"/>
          <p:cNvSpPr/>
          <p:nvPr/>
        </p:nvSpPr>
        <p:spPr>
          <a:xfrm>
            <a:off x="5370563" y="3660288"/>
            <a:ext cx="1391400" cy="417300"/>
          </a:xfrm>
          <a:prstGeom prst="rightArrow">
            <a:avLst>
              <a:gd fmla="val 50000" name="adj1"/>
              <a:gd fmla="val 50000" name="adj2"/>
            </a:avLst>
          </a:prstGeom>
          <a:solidFill>
            <a:srgbClr val="002B00"/>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Shape 387"/>
        <p:cNvGrpSpPr/>
        <p:nvPr/>
      </p:nvGrpSpPr>
      <p:grpSpPr>
        <a:xfrm>
          <a:off x="0" y="0"/>
          <a:ext cx="0" cy="0"/>
          <a:chOff x="0" y="0"/>
          <a:chExt cx="0" cy="0"/>
        </a:xfrm>
      </p:grpSpPr>
      <p:sp>
        <p:nvSpPr>
          <p:cNvPr id="388" name="Google Shape;388;p32"/>
          <p:cNvSpPr txBox="1">
            <a:spLocks noGrp="1"/>
          </p:cNvSpPr>
          <p:nvPr>
            <p:ph type="ctrTitle"/>
          </p:nvPr>
        </p:nvSpPr>
        <p:spPr>
          <a:xfrm>
            <a:off x="693450" y="475488"/>
            <a:ext cx="7757100" cy="699300"/>
          </a:xfrm>
          <a:prstGeom prst="rect">
            <a:avLst/>
          </a:prstGeom>
        </p:spPr>
        <p:txBody>
          <a:bodyPr anchor="ctr" anchorCtr="0" bIns="91425" lIns="91425" rIns="91425" spcFirstLastPara="1" tIns="91425" wrap="square">
            <a:noAutofit/>
          </a:bodyPr>
          <a:lstStyle/>
          <a:p>
            <a:pPr algn="ctr" indent="0" lvl="0" marL="0" rtl="0">
              <a:spcBef>
                <a:spcPts val="0"/>
              </a:spcBef>
              <a:spcAft>
                <a:spcPts val="0"/>
              </a:spcAft>
              <a:buNone/>
            </a:pPr>
            <a:r>
              <a:rPr lang="en" sz="2700"/>
              <a:t>Advantages to Long-Range Strategic Planning</a:t>
            </a:r>
            <a:endParaRPr sz="2700"/>
          </a:p>
        </p:txBody>
      </p:sp>
      <p:sp>
        <p:nvSpPr>
          <p:cNvPr id="389" name="Google Shape;389;p32"/>
          <p:cNvSpPr txBox="1"/>
          <p:nvPr/>
        </p:nvSpPr>
        <p:spPr>
          <a:xfrm>
            <a:off x="2371040" y="1283075"/>
            <a:ext cx="6197700" cy="874500"/>
          </a:xfrm>
          <a:prstGeom prst="rect">
            <a:avLst/>
          </a:prstGeom>
          <a:noFill/>
          <a:ln cap="flat" cmpd="sng" w="9525">
            <a:solidFill>
              <a:srgbClr val="000000"/>
            </a:solidFill>
            <a:prstDash val="solid"/>
            <a:round/>
            <a:headEnd len="sm" type="none" w="sm"/>
            <a:tailEnd len="sm" type="none" w="sm"/>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solidFill>
                  <a:schemeClr val="dk1"/>
                </a:solidFill>
                <a:latin typeface="Verdana"/>
                <a:ea typeface="Verdana"/>
                <a:cs typeface="Verdana"/>
                <a:sym typeface="Verdana"/>
              </a:rPr>
              <a:t>Long-term investments placed for a year usually achieve lower rates.</a:t>
            </a:r>
            <a:endParaRPr sz="1700">
              <a:latin typeface="Verdana"/>
              <a:ea typeface="Verdana"/>
              <a:cs typeface="Verdana"/>
              <a:sym typeface="Verdana"/>
            </a:endParaRPr>
          </a:p>
        </p:txBody>
      </p:sp>
      <p:sp>
        <p:nvSpPr>
          <p:cNvPr id="390" name="Google Shape;390;p32"/>
          <p:cNvSpPr/>
          <p:nvPr/>
        </p:nvSpPr>
        <p:spPr>
          <a:xfrm>
            <a:off x="575263" y="3682050"/>
            <a:ext cx="1391400" cy="417300"/>
          </a:xfrm>
          <a:prstGeom prst="rightArrow">
            <a:avLst>
              <a:gd fmla="val 50000" name="adj1"/>
              <a:gd fmla="val 50000" name="adj2"/>
            </a:avLst>
          </a:prstGeom>
          <a:solidFill>
            <a:srgbClr val="7F7E05"/>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91" name="Google Shape;391;p32"/>
          <p:cNvSpPr/>
          <p:nvPr/>
        </p:nvSpPr>
        <p:spPr>
          <a:xfrm>
            <a:off x="575263" y="1484815"/>
            <a:ext cx="1391400" cy="417300"/>
          </a:xfrm>
          <a:prstGeom prst="rightArrow">
            <a:avLst>
              <a:gd fmla="val 50000" name="adj1"/>
              <a:gd fmla="val 50000" name="adj2"/>
            </a:avLst>
          </a:prstGeom>
          <a:solidFill>
            <a:srgbClr val="000000"/>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92" name="Google Shape;392;p32"/>
          <p:cNvSpPr/>
          <p:nvPr/>
        </p:nvSpPr>
        <p:spPr>
          <a:xfrm>
            <a:off x="575263" y="5879250"/>
            <a:ext cx="1391400" cy="417300"/>
          </a:xfrm>
          <a:prstGeom prst="rightArrow">
            <a:avLst>
              <a:gd fmla="val 50000" name="adj1"/>
              <a:gd fmla="val 50000" name="adj2"/>
            </a:avLst>
          </a:prstGeom>
          <a:solidFill>
            <a:srgbClr val="000000"/>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93" name="Google Shape;393;p32"/>
          <p:cNvSpPr/>
          <p:nvPr/>
        </p:nvSpPr>
        <p:spPr>
          <a:xfrm>
            <a:off x="575250" y="2583438"/>
            <a:ext cx="1391400" cy="417300"/>
          </a:xfrm>
          <a:prstGeom prst="rightArrow">
            <a:avLst>
              <a:gd fmla="val 50000" name="adj1"/>
              <a:gd fmla="val 50000" name="adj2"/>
            </a:avLst>
          </a:prstGeom>
          <a:solidFill>
            <a:srgbClr val="002B00"/>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94" name="Google Shape;394;p32"/>
          <p:cNvSpPr/>
          <p:nvPr/>
        </p:nvSpPr>
        <p:spPr>
          <a:xfrm>
            <a:off x="575250" y="4780638"/>
            <a:ext cx="1391400" cy="417300"/>
          </a:xfrm>
          <a:prstGeom prst="rightArrow">
            <a:avLst>
              <a:gd fmla="val 50000" name="adj1"/>
              <a:gd fmla="val 50000" name="adj2"/>
            </a:avLst>
          </a:prstGeom>
          <a:solidFill>
            <a:srgbClr val="002B00"/>
          </a:solidFill>
          <a:ln>
            <a:noFill/>
          </a:ln>
        </p:spPr>
        <p:txBody>
          <a:bodyPr anchor="ctr" anchorCtr="0" bIns="91425" lIns="91425" rIns="91425" spcFirstLastPara="1" tIns="91425" wrap="square">
            <a:noAutofit/>
          </a:bodyPr>
          <a:lstStyle/>
          <a:p>
            <a:pPr algn="l" indent="0" lvl="0" marL="0" rtl="0">
              <a:spcBef>
                <a:spcPts val="0"/>
              </a:spcBef>
              <a:spcAft>
                <a:spcPts val="0"/>
              </a:spcAft>
              <a:buNone/>
            </a:pPr>
            <a:endParaRPr/>
          </a:p>
        </p:txBody>
      </p:sp>
      <p:sp>
        <p:nvSpPr>
          <p:cNvPr id="395" name="Google Shape;395;p32"/>
          <p:cNvSpPr txBox="1"/>
          <p:nvPr/>
        </p:nvSpPr>
        <p:spPr>
          <a:xfrm>
            <a:off x="2371040" y="4525225"/>
            <a:ext cx="6197700" cy="874500"/>
          </a:xfrm>
          <a:prstGeom prst="rect">
            <a:avLst/>
          </a:prstGeom>
          <a:noFill/>
          <a:ln cap="flat" cmpd="sng" w="9525">
            <a:solidFill>
              <a:srgbClr val="000000"/>
            </a:solidFill>
            <a:prstDash val="solid"/>
            <a:round/>
            <a:headEnd len="sm" type="none" w="sm"/>
            <a:tailEnd len="sm" type="none" w="sm"/>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solidFill>
                  <a:schemeClr val="dk1"/>
                </a:solidFill>
                <a:latin typeface="Verdana"/>
                <a:ea typeface="Verdana"/>
                <a:cs typeface="Verdana"/>
                <a:sym typeface="Verdana"/>
              </a:rPr>
              <a:t>Consistent advertising creates the image of credibility and stability.</a:t>
            </a:r>
            <a:endParaRPr sz="1700">
              <a:latin typeface="Verdana"/>
              <a:ea typeface="Verdana"/>
              <a:cs typeface="Verdana"/>
              <a:sym typeface="Verdana"/>
            </a:endParaRPr>
          </a:p>
        </p:txBody>
      </p:sp>
      <p:sp>
        <p:nvSpPr>
          <p:cNvPr id="396" name="Google Shape;396;p32"/>
          <p:cNvSpPr txBox="1"/>
          <p:nvPr/>
        </p:nvSpPr>
        <p:spPr>
          <a:xfrm>
            <a:off x="2371040" y="3446725"/>
            <a:ext cx="6197700" cy="874500"/>
          </a:xfrm>
          <a:prstGeom prst="rect">
            <a:avLst/>
          </a:prstGeom>
          <a:noFill/>
          <a:ln cap="flat" cmpd="sng" w="9525">
            <a:solidFill>
              <a:srgbClr val="000000"/>
            </a:solidFill>
            <a:prstDash val="solid"/>
            <a:round/>
            <a:headEnd len="sm" type="none" w="sm"/>
            <a:tailEnd len="sm" type="none" w="sm"/>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solidFill>
                  <a:schemeClr val="dk1"/>
                </a:solidFill>
                <a:latin typeface="Verdana"/>
                <a:ea typeface="Verdana"/>
                <a:cs typeface="Verdana"/>
                <a:sym typeface="Verdana"/>
              </a:rPr>
              <a:t>Consistent continuity creates lasting impressions, not just short-term attention.</a:t>
            </a:r>
            <a:endParaRPr sz="1700">
              <a:latin typeface="Verdana"/>
              <a:ea typeface="Verdana"/>
              <a:cs typeface="Verdana"/>
              <a:sym typeface="Verdana"/>
            </a:endParaRPr>
          </a:p>
        </p:txBody>
      </p:sp>
      <p:sp>
        <p:nvSpPr>
          <p:cNvPr id="397" name="Google Shape;397;p32"/>
          <p:cNvSpPr txBox="1"/>
          <p:nvPr/>
        </p:nvSpPr>
        <p:spPr>
          <a:xfrm>
            <a:off x="2371040" y="5623775"/>
            <a:ext cx="6197700" cy="874500"/>
          </a:xfrm>
          <a:prstGeom prst="rect">
            <a:avLst/>
          </a:prstGeom>
          <a:noFill/>
          <a:ln cap="flat" cmpd="sng" w="9525">
            <a:solidFill>
              <a:srgbClr val="000000"/>
            </a:solidFill>
            <a:prstDash val="solid"/>
            <a:round/>
            <a:headEnd len="sm" type="none" w="sm"/>
            <a:tailEnd len="sm" type="none" w="sm"/>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solidFill>
                  <a:schemeClr val="dk1"/>
                </a:solidFill>
                <a:latin typeface="Verdana"/>
                <a:ea typeface="Verdana"/>
                <a:cs typeface="Verdana"/>
                <a:sym typeface="Verdana"/>
              </a:rPr>
              <a:t>All successful businesses consider long-range strategic planning a smart business decision.</a:t>
            </a:r>
            <a:endParaRPr sz="1700">
              <a:latin typeface="Verdana"/>
              <a:ea typeface="Verdana"/>
              <a:cs typeface="Verdana"/>
              <a:sym typeface="Verdana"/>
            </a:endParaRPr>
          </a:p>
        </p:txBody>
      </p:sp>
      <p:sp>
        <p:nvSpPr>
          <p:cNvPr id="398" name="Google Shape;398;p32"/>
          <p:cNvSpPr txBox="1"/>
          <p:nvPr/>
        </p:nvSpPr>
        <p:spPr>
          <a:xfrm>
            <a:off x="2371040" y="2368250"/>
            <a:ext cx="6197700" cy="874500"/>
          </a:xfrm>
          <a:prstGeom prst="rect">
            <a:avLst/>
          </a:prstGeom>
          <a:noFill/>
          <a:ln cap="flat" cmpd="sng" w="9525">
            <a:solidFill>
              <a:srgbClr val="000000"/>
            </a:solidFill>
            <a:prstDash val="solid"/>
            <a:round/>
            <a:headEnd len="sm" type="none" w="sm"/>
            <a:tailEnd len="sm" type="none" w="sm"/>
          </a:ln>
        </p:spPr>
        <p:txBody>
          <a:bodyPr anchor="ctr" anchorCtr="0" bIns="91425" lIns="91425" rIns="91425" spcFirstLastPara="1" tIns="91425" wrap="square">
            <a:noAutofit/>
          </a:bodyPr>
          <a:lstStyle/>
          <a:p>
            <a:pPr algn="ctr" indent="0" lvl="0" marL="0" rtl="0">
              <a:spcBef>
                <a:spcPts val="0"/>
              </a:spcBef>
              <a:spcAft>
                <a:spcPts val="0"/>
              </a:spcAft>
              <a:buNone/>
            </a:pPr>
            <a:r>
              <a:rPr lang="en" sz="1700">
                <a:solidFill>
                  <a:schemeClr val="dk1"/>
                </a:solidFill>
                <a:latin typeface="Verdana"/>
                <a:ea typeface="Verdana"/>
                <a:cs typeface="Verdana"/>
                <a:sym typeface="Verdana"/>
              </a:rPr>
              <a:t>Advertising “Away from the Clutter” gains the competitive edge.</a:t>
            </a:r>
            <a:endParaRPr sz="1700">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Shape 402"/>
        <p:cNvGrpSpPr/>
        <p:nvPr/>
      </p:nvGrpSpPr>
      <p:grpSpPr>
        <a:xfrm>
          <a:off x="0" y="0"/>
          <a:ext cx="0" cy="0"/>
          <a:chOff x="0" y="0"/>
          <a:chExt cx="0" cy="0"/>
        </a:xfrm>
      </p:grpSpPr>
      <p:sp>
        <p:nvSpPr>
          <p:cNvPr id="403" name="Google Shape;403;p33"/>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Proposed Schedule - Plan A</a:t>
            </a:r>
            <a:endParaRPr/>
          </a:p>
        </p:txBody>
      </p:sp>
      <p:sp>
        <p:nvSpPr>
          <p:cNvPr id="404" name="Google Shape;404;p33"/>
          <p:cNvSpPr txBox="1">
            <a:spLocks noGrp="1"/>
          </p:cNvSpPr>
          <p:nvPr>
            <p:ph type="ctrTitle"/>
          </p:nvPr>
        </p:nvSpPr>
        <p:spPr>
          <a:xfrm>
            <a:off x="693450" y="1174812"/>
            <a:ext cx="7757100" cy="639300"/>
          </a:xfrm>
          <a:prstGeom prst="rect">
            <a:avLst/>
          </a:prstGeom>
        </p:spPr>
        <p:txBody>
          <a:bodyPr anchor="ctr" anchorCtr="0" bIns="91425" lIns="91425" rIns="91425" spcFirstLastPara="1" tIns="91425" wrap="square">
            <a:noAutofit/>
          </a:bodyPr>
          <a:lstStyle/>
          <a:p>
            <a:pPr algn="ctr" indent="0" lvl="0" marL="0" rtl="0">
              <a:spcBef>
                <a:spcPts val="0"/>
              </a:spcBef>
              <a:spcAft>
                <a:spcPts val="0"/>
              </a:spcAft>
              <a:buNone/>
            </a:pPr>
            <a:r>
              <a:rPr lang="en" sz="2100"/>
              <a:t>Budget Breakout by Month (For Next 12 Months)</a:t>
            </a:r>
            <a:endParaRPr sz="2100"/>
          </a:p>
          <a:p>
            <a:pPr algn="ctr" indent="0" lvl="0" marL="0" rtl="0">
              <a:spcBef>
                <a:spcPts val="0"/>
              </a:spcBef>
              <a:spcAft>
                <a:spcPts val="0"/>
              </a:spcAft>
              <a:buNone/>
            </a:pPr>
            <a:r>
              <a:rPr lang="en" sz="2100"/>
              <a:t>Proposed Media Plan: station}}</a:t>
            </a:r>
            <a:endParaRPr sz="2100"/>
          </a:p>
        </p:txBody>
      </p:sp>
      <p:pic>
        <p:nvPicPr>
          <p:cNvPr id="405" name="Google Shape;405;p33"/>
          <p:cNvPicPr preferRelativeResize="0"/>
          <p:nvPr/>
        </p:nvPicPr>
        <p:blipFill>
          <a:blip r:embed="rId3">
            <a:alphaModFix/>
          </a:blip>
          <a:stretch>
            <a:fillRect/>
          </a:stretch>
        </p:blipFill>
        <p:spPr>
          <a:xfrm>
            <a:off x="841248" y="2082272"/>
            <a:ext cx="7461504" cy="4613697"/>
          </a:xfrm>
          <a:prstGeom prst="rect">
            <a:avLst/>
          </a:prstGeom>
          <a:noFill/>
          <a:ln>
            <a:noFill/>
          </a:ln>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693450" y="478963"/>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Proposed Schedule - Plan A</a:t>
            </a:r>
            <a:endParaRPr/>
          </a:p>
        </p:txBody>
      </p:sp>
      <p:graphicFrame>
        <p:nvGraphicFramePr>
          <p:cNvPr id="411" name="Google Shape;411;p34"/>
          <p:cNvGraphicFramePr/>
          <p:nvPr/>
        </p:nvGraphicFramePr>
        <p:xfrm>
          <a:off x="457200" y="1325880"/>
          <a:ext cx="8229600" cy="1783080"/>
        </p:xfrm>
        <a:graphic>
          <a:graphicData uri="http://schemas.openxmlformats.org/drawingml/2006/table">
            <a:tbl>
              <a:tblPr>
                <a:noFill/>
                <a:tableStyleId>{CFB75FC7-DD7D-40D8-B2B2-EE4B611A8D2E}</a:tableStyleId>
              </a:tblPr>
              <a:tblGrid>
                <a:gridCol w="1246175">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50">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algn="l" indent="0" lvl="0" marL="0" rtl="0">
                        <a:spcBef>
                          <a:spcPts val="0"/>
                        </a:spcBef>
                        <a:spcAft>
                          <a:spcPts val="0"/>
                        </a:spcAft>
                        <a:buNone/>
                      </a:pPr>
                      <a:endParaRPr/>
                    </a:p>
                  </a:txBody>
                  <a:tcPr anchor="b" marB="19050" marL="28575" marR="28575" marT="19050"/>
                </a:tc>
                <a:tc gridSpan="2">
                  <a:txBody>
                    <a:bodyPr/>
                    <a:lstStyle/>
                    <a:p>
                      <a:pPr algn="ctr" indent="0" lvl="0" marL="0" rtl="0">
                        <a:lnSpc>
                          <a:spcPct val="115000"/>
                        </a:lnSpc>
                        <a:spcBef>
                          <a:spcPts val="0"/>
                        </a:spcBef>
                        <a:spcAft>
                          <a:spcPts val="0"/>
                        </a:spcAft>
                        <a:buNone/>
                      </a:pPr>
                      <a:r>
                        <a:rPr b="1" lang="en" sz="1200">
                          <a:latin typeface="Verdana"/>
                          <a:ea typeface="Verdana"/>
                          <a:cs typeface="Verdana"/>
                          <a:sym typeface="Verdana"/>
                        </a:rPr>
                        <a:t>Branding Months</a:t>
                      </a:r>
                      <a:endParaRPr b="1" sz="1200">
                        <a:latin typeface="Verdana"/>
                        <a:ea typeface="Verdana"/>
                        <a:cs typeface="Verdana"/>
                        <a:sym typeface="Verdana"/>
                      </a:endParaRPr>
                    </a:p>
                  </a:txBody>
                  <a:tcPr anchor="ctr" marB="19050" marL="28575" marR="28575" marT="19050"/>
                </a:tc>
                <a:tc hMerge="1">
                  <a:txBody>
                    <a:bodyPr/>
                    <a:lstStyle/>
                    <a:p>
                      <a:endParaRPr lang="en-US"/>
                    </a:p>
                  </a:txBody>
                  <a:tcPr/>
                </a:tc>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extLst>
                  <a:ext uri="{0D108BD9-81ED-4DB2-BD59-A6C34878D82A}">
                    <a16:rowId xmlns:a16="http://schemas.microsoft.com/office/drawing/2014/main" val="10000"/>
                  </a:ext>
                </a:extLst>
              </a:tr>
              <a:tr h="228600">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Station</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DayPart</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Weekly Commercials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i="1" lang="en" sz="1200" u="sng">
                          <a:latin typeface="Verdana"/>
                          <a:ea typeface="Verdana"/>
                          <a:cs typeface="Verdana"/>
                          <a:sym typeface="Verdana"/>
                        </a:rPr>
                        <a:t>Branding Months</a:t>
                      </a:r>
                      <a:endParaRPr b="1" i="1" sz="1200" u="sng">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1"/>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 of Weeks/Months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2"/>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3"/>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Base Investment</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4"/>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$1,000</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5"/>
                  </a:ext>
                </a:extLst>
              </a:tr>
              <a:tr h="251450">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ctr" marB="19050" marL="28575" marR="28575" marT="19050"/>
                </a:tc>
                <a:tc>
                  <a:txBody>
                    <a:bodyPr/>
                    <a:lstStyle/>
                    <a:p>
                      <a:pPr algn="l" indent="0" lvl="0" marL="0" rtl="0">
                        <a:spcBef>
                          <a:spcPts val="0"/>
                        </a:spcBef>
                        <a:spcAft>
                          <a:spcPts val="0"/>
                        </a:spcAft>
                        <a:buNone/>
                      </a:pPr>
                      <a:endParaRPr/>
                    </a:p>
                  </a:txBody>
                  <a:tcPr anchor="ctr" marB="19050" marL="28575" marR="28575" marT="19050"/>
                </a:tc>
                <a:tc>
                  <a:txBody>
                    <a:bodyPr/>
                    <a:lstStyle/>
                    <a:p>
                      <a:pPr algn="l" indent="0" lvl="0" marL="0" rtl="0">
                        <a:spcBef>
                          <a:spcPts val="0"/>
                        </a:spcBef>
                        <a:spcAft>
                          <a:spcPts val="0"/>
                        </a:spcAft>
                        <a:buNone/>
                      </a:pPr>
                      <a:endParaRPr/>
                    </a:p>
                  </a:txBody>
                  <a:tcPr anchor="ctr"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Total # of Commercials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6"/>
                  </a:ext>
                </a:extLst>
              </a:tr>
              <a:tr h="251450">
                <a:tc>
                  <a:txBody>
                    <a:bodyPr/>
                    <a:lstStyle/>
                    <a:p>
                      <a:pPr algn="l" indent="0" lvl="0" marL="0" rtl="0">
                        <a:spcBef>
                          <a:spcPts val="0"/>
                        </a:spcBef>
                        <a:spcAft>
                          <a:spcPts val="0"/>
                        </a:spcAft>
                        <a:buNone/>
                      </a:pPr>
                      <a:endParaRPr/>
                    </a:p>
                  </a:txBody>
                  <a:tcPr anchor="ctr" marB="19050" marL="28575" marR="28575" marT="19050"/>
                </a:tc>
                <a:tc>
                  <a:txBody>
                    <a:bodyPr/>
                    <a:lstStyle/>
                    <a:p>
                      <a:pPr algn="l" indent="0" lvl="0" marL="0" rtl="0">
                        <a:spcBef>
                          <a:spcPts val="0"/>
                        </a:spcBef>
                        <a:spcAft>
                          <a:spcPts val="0"/>
                        </a:spcAft>
                        <a:buNone/>
                      </a:pPr>
                      <a:endParaRPr/>
                    </a:p>
                  </a:txBody>
                  <a:tcPr anchor="ctr" marB="19050" marL="28575" marR="28575" marT="19050"/>
                </a:tc>
                <a:tc>
                  <a:txBody>
                    <a:bodyPr/>
                    <a:lstStyle/>
                    <a:p>
                      <a:pPr algn="l" indent="0" lvl="0" marL="0" rtl="0">
                        <a:spcBef>
                          <a:spcPts val="0"/>
                        </a:spcBef>
                        <a:spcAft>
                          <a:spcPts val="0"/>
                        </a:spcAft>
                        <a:buNone/>
                      </a:pPr>
                      <a:endParaRPr/>
                    </a:p>
                  </a:txBody>
                  <a:tcPr anchor="ctr" marB="19050" marL="28575" marR="28575" marT="19050"/>
                </a:tc>
                <a:tc>
                  <a:txBody>
                    <a:bodyPr/>
                    <a:lstStyle/>
                    <a:p>
                      <a:pPr algn="l" indent="0" lvl="0" marL="0" rtl="0">
                        <a:spcBef>
                          <a:spcPts val="0"/>
                        </a:spcBef>
                        <a:spcAft>
                          <a:spcPts val="0"/>
                        </a:spcAft>
                        <a:buNone/>
                      </a:pPr>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40</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7"/>
                  </a:ext>
                </a:extLst>
              </a:tr>
            </a:tbl>
          </a:graphicData>
        </a:graphic>
      </p:graphicFrame>
      <p:graphicFrame>
        <p:nvGraphicFramePr>
          <p:cNvPr id="412" name="Google Shape;412;p34"/>
          <p:cNvGraphicFramePr/>
          <p:nvPr/>
        </p:nvGraphicFramePr>
        <p:xfrm>
          <a:off x="457200" y="3200400"/>
          <a:ext cx="8229600" cy="1783080"/>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algn="l" indent="0" lvl="0" marL="0" rtl="0">
                        <a:spcBef>
                          <a:spcPts val="0"/>
                        </a:spcBef>
                        <a:spcAft>
                          <a:spcPts val="0"/>
                        </a:spcAft>
                        <a:buNone/>
                      </a:pPr>
                      <a:endParaRPr/>
                    </a:p>
                  </a:txBody>
                  <a:tcPr anchor="b" marB="19050" marL="28575" marR="28575" marT="19050"/>
                </a:tc>
                <a:tc gridSpan="2">
                  <a:txBody>
                    <a:bodyPr/>
                    <a:lstStyle/>
                    <a:p>
                      <a:pPr algn="ctr" indent="0" lvl="0" marL="0" rtl="0">
                        <a:lnSpc>
                          <a:spcPct val="115000"/>
                        </a:lnSpc>
                        <a:spcBef>
                          <a:spcPts val="0"/>
                        </a:spcBef>
                        <a:spcAft>
                          <a:spcPts val="0"/>
                        </a:spcAft>
                        <a:buNone/>
                      </a:pPr>
                      <a:r>
                        <a:rPr b="1" lang="en" sz="1200">
                          <a:latin typeface="Verdana"/>
                          <a:ea typeface="Verdana"/>
                          <a:cs typeface="Verdana"/>
                          <a:sym typeface="Verdana"/>
                        </a:rPr>
                        <a:t>Spike Months</a:t>
                      </a:r>
                      <a:endParaRPr b="1" sz="1200">
                        <a:latin typeface="Verdana"/>
                        <a:ea typeface="Verdana"/>
                        <a:cs typeface="Verdana"/>
                        <a:sym typeface="Verdana"/>
                      </a:endParaRPr>
                    </a:p>
                  </a:txBody>
                  <a:tcPr anchor="ctr" marB="19050" marL="28575" marR="28575" marT="19050"/>
                </a:tc>
                <a:tc hMerge="1">
                  <a:txBody>
                    <a:bodyPr/>
                    <a:lstStyle/>
                    <a:p>
                      <a:endParaRPr lang="en-US"/>
                    </a:p>
                  </a:txBody>
                  <a:tcPr/>
                </a:tc>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extLst>
                  <a:ext uri="{0D108BD9-81ED-4DB2-BD59-A6C34878D82A}">
                    <a16:rowId xmlns:a16="http://schemas.microsoft.com/office/drawing/2014/main" val="10000"/>
                  </a:ext>
                </a:extLst>
              </a:tr>
              <a:tr h="228600">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Station</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DayPart</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Weekly Commercials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i="1" lang="en" sz="1200" u="sng">
                          <a:latin typeface="Verdana"/>
                          <a:ea typeface="Verdana"/>
                          <a:cs typeface="Verdana"/>
                          <a:sym typeface="Verdana"/>
                        </a:rPr>
                        <a:t>Spike Months</a:t>
                      </a:r>
                      <a:endParaRPr b="1" i="1" sz="1200" u="sng">
                        <a:latin typeface="Verdana"/>
                        <a:ea typeface="Verdana"/>
                        <a:cs typeface="Verdana"/>
                        <a:sym typeface="Verdana"/>
                      </a:endParaRPr>
                    </a:p>
                  </a:txBody>
                  <a:tcPr marB="19050" marL="28575" marR="28575" marT="19050"/>
                </a:tc>
                <a:extLst>
                  <a:ext uri="{0D108BD9-81ED-4DB2-BD59-A6C34878D82A}">
                    <a16:rowId xmlns:a16="http://schemas.microsoft.com/office/drawing/2014/main" val="10001"/>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#Week/Months: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2"/>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3"/>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Continuity Investment:</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4"/>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$2,000</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5"/>
                  </a:ext>
                </a:extLst>
              </a:tr>
              <a:tr h="251450">
                <a:tc>
                  <a:txBody>
                    <a:bodyPr/>
                    <a:lstStyle/>
                    <a:p>
                      <a:pPr algn="l" indent="0" lvl="0" marL="0" rtl="0">
                        <a:spcBef>
                          <a:spcPts val="0"/>
                        </a:spcBef>
                        <a:spcAft>
                          <a:spcPts val="0"/>
                        </a:spcAft>
                        <a:buNone/>
                      </a:pPr>
                      <a:endParaRPr/>
                    </a:p>
                  </a:txBody>
                  <a:tcPr anchor="ctr" marB="19050" marL="28575" marR="28575" marT="19050"/>
                </a:tc>
                <a:tc>
                  <a:txBody>
                    <a:bodyPr/>
                    <a:lstStyle/>
                    <a:p>
                      <a:pPr algn="l" indent="0" lvl="0" marL="0" rtl="0">
                        <a:spcBef>
                          <a:spcPts val="0"/>
                        </a:spcBef>
                        <a:spcAft>
                          <a:spcPts val="0"/>
                        </a:spcAft>
                        <a:buNone/>
                      </a:pPr>
                      <a:endParaRPr/>
                    </a:p>
                  </a:txBody>
                  <a:tcPr anchor="ctr" marB="19050" marL="28575" marR="28575" marT="19050"/>
                </a:tc>
                <a:tc>
                  <a:txBody>
                    <a:bodyPr/>
                    <a:lstStyle/>
                    <a:p>
                      <a:pPr algn="l" indent="0" lvl="0" marL="0" rtl="0">
                        <a:spcBef>
                          <a:spcPts val="0"/>
                        </a:spcBef>
                        <a:spcAft>
                          <a:spcPts val="0"/>
                        </a:spcAft>
                        <a:buNone/>
                      </a:pPr>
                      <a:endParaRPr/>
                    </a:p>
                  </a:txBody>
                  <a:tcPr anchor="ctr" marB="19050" marL="28575" marR="28575" marT="19050"/>
                </a:tc>
                <a:tc>
                  <a:txBody>
                    <a:bodyPr/>
                    <a:lstStyle/>
                    <a:p>
                      <a:pPr algn="l" indent="0" lvl="0" marL="0" rtl="0">
                        <a:spcBef>
                          <a:spcPts val="0"/>
                        </a:spcBef>
                        <a:spcAft>
                          <a:spcPts val="0"/>
                        </a:spcAft>
                        <a:buNone/>
                      </a:pPr>
                      <a:endParaRPr/>
                    </a:p>
                  </a:txBody>
                  <a:tcPr anchor="ctr"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Total # of Commercials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6"/>
                  </a:ext>
                </a:extLst>
              </a:tr>
              <a:tr h="251450">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80</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7"/>
                  </a:ext>
                </a:extLst>
              </a:tr>
            </a:tbl>
          </a:graphicData>
        </a:graphic>
      </p:graphicFrame>
      <p:graphicFrame>
        <p:nvGraphicFramePr>
          <p:cNvPr id="413" name="Google Shape;413;p34"/>
          <p:cNvGraphicFramePr/>
          <p:nvPr/>
        </p:nvGraphicFramePr>
        <p:xfrm>
          <a:off x="457200" y="5029200"/>
          <a:ext cx="8229600" cy="1781493"/>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algn="l" indent="0" lvl="0" marL="0" rtl="0">
                        <a:spcBef>
                          <a:spcPts val="0"/>
                        </a:spcBef>
                        <a:spcAft>
                          <a:spcPts val="0"/>
                        </a:spcAft>
                        <a:buNone/>
                      </a:pPr>
                      <a:endParaRPr/>
                    </a:p>
                  </a:txBody>
                  <a:tcPr anchor="ctr" marB="19050" marL="28575" marR="28575" marT="19050"/>
                </a:tc>
                <a:tc gridSpan="2">
                  <a:txBody>
                    <a:bodyPr/>
                    <a:lstStyle/>
                    <a:p>
                      <a:pPr algn="ctr" indent="0" lvl="0" marL="0" rtl="0">
                        <a:lnSpc>
                          <a:spcPct val="115000"/>
                        </a:lnSpc>
                        <a:spcBef>
                          <a:spcPts val="0"/>
                        </a:spcBef>
                        <a:spcAft>
                          <a:spcPts val="0"/>
                        </a:spcAft>
                        <a:buNone/>
                      </a:pPr>
                      <a:r>
                        <a:rPr b="1" lang="en" sz="1200">
                          <a:latin typeface="Verdana"/>
                          <a:ea typeface="Verdana"/>
                          <a:cs typeface="Verdana"/>
                          <a:sym typeface="Verdana"/>
                        </a:rPr>
                        <a:t>Slow Months</a:t>
                      </a:r>
                      <a:endParaRPr b="1" sz="1200">
                        <a:latin typeface="Verdana"/>
                        <a:ea typeface="Verdana"/>
                        <a:cs typeface="Verdana"/>
                        <a:sym typeface="Verdana"/>
                      </a:endParaRPr>
                    </a:p>
                  </a:txBody>
                  <a:tcPr anchor="ctr" marB="19050" marL="28575" marR="28575" marT="19050"/>
                </a:tc>
                <a:tc hMerge="1">
                  <a:txBody>
                    <a:bodyPr/>
                    <a:lstStyle/>
                    <a:p>
                      <a:endParaRPr lang="en-US"/>
                    </a:p>
                  </a:txBody>
                  <a:tcPr/>
                </a:tc>
                <a:tc>
                  <a:txBody>
                    <a:bodyPr/>
                    <a:lstStyle/>
                    <a:p>
                      <a:pPr algn="l" indent="0" lvl="0" marL="0" rtl="0">
                        <a:spcBef>
                          <a:spcPts val="0"/>
                        </a:spcBef>
                        <a:spcAft>
                          <a:spcPts val="0"/>
                        </a:spcAft>
                        <a:buNone/>
                      </a:pPr>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extLst>
                  <a:ext uri="{0D108BD9-81ED-4DB2-BD59-A6C34878D82A}">
                    <a16:rowId xmlns:a16="http://schemas.microsoft.com/office/drawing/2014/main" val="10000"/>
                  </a:ext>
                </a:extLst>
              </a:tr>
              <a:tr h="228600">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Station</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DayPart</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Weekly Commercials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i="1" lang="en" sz="1200" u="sng">
                          <a:latin typeface="Verdana"/>
                          <a:ea typeface="Verdana"/>
                          <a:cs typeface="Verdana"/>
                          <a:sym typeface="Verdana"/>
                        </a:rPr>
                        <a:t>Slow Months</a:t>
                      </a:r>
                      <a:endParaRPr b="1" i="1" sz="1200" u="sng">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1"/>
                  </a:ext>
                </a:extLst>
              </a:tr>
              <a:tr h="200025">
                <a:tc>
                  <a:txBody>
                    <a:bodyPr/>
                    <a:lstStyle/>
                    <a:p>
                      <a:pPr algn="l" indent="0" lvl="0" marL="0" rtl="0">
                        <a:lnSpc>
                          <a:spcPct val="115000"/>
                        </a:lnSpc>
                        <a:spcBef>
                          <a:spcPts val="0"/>
                        </a:spcBef>
                        <a:spcAft>
                          <a:spcPts val="0"/>
                        </a:spcAft>
                        <a:buNone/>
                      </a:pPr>
                      <a:r>
                        <a:rPr lang="en" sz="1000"/>
                        <a:t>WAAA</a:t>
                      </a:r>
                      <a:endParaRPr sz="1000"/>
                    </a:p>
                  </a:txBody>
                  <a:tcPr anchor="ctr" marB="19050" marL="28575" marR="28575" marT="19050"/>
                </a:tc>
                <a:tc>
                  <a:txBody>
                    <a:bodyPr/>
                    <a:lstStyle/>
                    <a:p>
                      <a:pPr algn="l" indent="0" lvl="0" marL="0" rtl="0">
                        <a:lnSpc>
                          <a:spcPct val="115000"/>
                        </a:lnSpc>
                        <a:spcBef>
                          <a:spcPts val="0"/>
                        </a:spcBef>
                        <a:spcAft>
                          <a:spcPts val="0"/>
                        </a:spcAft>
                        <a:buNone/>
                      </a:pPr>
                      <a:r>
                        <a:rPr lang="en" sz="1000"/>
                        <a:t>M-F</a:t>
                      </a:r>
                      <a:endParaRPr sz="1000"/>
                    </a:p>
                  </a:txBody>
                  <a:tcPr anchor="ctr" marB="19050" marL="28575" marR="28575" marT="19050"/>
                </a:tc>
                <a:tc>
                  <a:txBody>
                    <a:bodyPr/>
                    <a:lstStyle/>
                    <a:p>
                      <a:pPr algn="l" indent="0" lvl="0" marL="0" rtl="0">
                        <a:lnSpc>
                          <a:spcPct val="115000"/>
                        </a:lnSpc>
                        <a:spcBef>
                          <a:spcPts val="0"/>
                        </a:spcBef>
                        <a:spcAft>
                          <a:spcPts val="0"/>
                        </a:spcAft>
                        <a:buNone/>
                      </a:pPr>
                      <a:r>
                        <a:rPr lang="en" sz="1000"/>
                        <a:t>6:00am - 7:00pm</a:t>
                      </a:r>
                      <a:endParaRPr sz="1000"/>
                    </a:p>
                  </a:txBody>
                  <a:tcPr anchor="ctr" marB="19050" marL="28575" marR="28575" marT="19050"/>
                </a:tc>
                <a:tc>
                  <a:txBody>
                    <a:bodyPr/>
                    <a:lstStyle/>
                    <a:p>
                      <a:pPr algn="ctr" indent="0" lvl="0" marL="0" rtl="0">
                        <a:lnSpc>
                          <a:spcPct val="115000"/>
                        </a:lnSpc>
                        <a:spcBef>
                          <a:spcPts val="0"/>
                        </a:spcBef>
                        <a:spcAft>
                          <a:spcPts val="0"/>
                        </a:spcAft>
                        <a:buNone/>
                      </a:pPr>
                      <a:r>
                        <a:rPr lang="en" sz="1000"/>
                        <a:t>15</a:t>
                      </a:r>
                      <a:endParaRPr sz="1000"/>
                    </a:p>
                  </a:txBody>
                  <a:tcPr anchor="ctr"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#Week/Months: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2"/>
                  </a:ext>
                </a:extLst>
              </a:tr>
              <a:tr h="190500">
                <a:tc>
                  <a:txBody>
                    <a:bodyPr/>
                    <a:lstStyle/>
                    <a:p>
                      <a:pPr algn="l" indent="0" lvl="0" marL="0" rtl="0">
                        <a:lnSpc>
                          <a:spcPct val="115000"/>
                        </a:lnSpc>
                        <a:spcBef>
                          <a:spcPts val="0"/>
                        </a:spcBef>
                        <a:spcAft>
                          <a:spcPts val="0"/>
                        </a:spcAft>
                        <a:buNone/>
                      </a:pPr>
                      <a:r>
                        <a:rPr lang="en" sz="1000"/>
                        <a:t>WAAA</a:t>
                      </a:r>
                      <a:endParaRPr sz="1000"/>
                    </a:p>
                  </a:txBody>
                  <a:tcPr anchor="ctr" marB="19050" marL="28575" marR="28575" marT="19050"/>
                </a:tc>
                <a:tc>
                  <a:txBody>
                    <a:bodyPr/>
                    <a:lstStyle/>
                    <a:p>
                      <a:pPr algn="l" indent="0" lvl="0" marL="0" rtl="0">
                        <a:lnSpc>
                          <a:spcPct val="115000"/>
                        </a:lnSpc>
                        <a:spcBef>
                          <a:spcPts val="0"/>
                        </a:spcBef>
                        <a:spcAft>
                          <a:spcPts val="0"/>
                        </a:spcAft>
                        <a:buNone/>
                      </a:pPr>
                      <a:r>
                        <a:rPr lang="en" sz="1000"/>
                        <a:t>M-F</a:t>
                      </a:r>
                      <a:endParaRPr sz="1000"/>
                    </a:p>
                  </a:txBody>
                  <a:tcPr anchor="ctr" marB="19050" marL="28575" marR="28575" marT="19050"/>
                </a:tc>
                <a:tc>
                  <a:txBody>
                    <a:bodyPr/>
                    <a:lstStyle/>
                    <a:p>
                      <a:pPr algn="l" indent="0" lvl="0" marL="0" rtl="0">
                        <a:lnSpc>
                          <a:spcPct val="115000"/>
                        </a:lnSpc>
                        <a:spcBef>
                          <a:spcPts val="0"/>
                        </a:spcBef>
                        <a:spcAft>
                          <a:spcPts val="0"/>
                        </a:spcAft>
                        <a:buNone/>
                      </a:pPr>
                      <a:r>
                        <a:rPr lang="en" sz="1000"/>
                        <a:t>7:00pm - 12mid</a:t>
                      </a:r>
                      <a:endParaRPr sz="1000"/>
                    </a:p>
                  </a:txBody>
                  <a:tcPr anchor="ctr" marB="19050" marL="28575" marR="28575" marT="19050"/>
                </a:tc>
                <a:tc>
                  <a:txBody>
                    <a:bodyPr/>
                    <a:lstStyle/>
                    <a:p>
                      <a:pPr algn="ctr" indent="0" lvl="0" marL="0" rtl="0">
                        <a:lnSpc>
                          <a:spcPct val="115000"/>
                        </a:lnSpc>
                        <a:spcBef>
                          <a:spcPts val="0"/>
                        </a:spcBef>
                        <a:spcAft>
                          <a:spcPts val="0"/>
                        </a:spcAft>
                        <a:buNone/>
                      </a:pPr>
                      <a:r>
                        <a:rPr lang="en" sz="1000"/>
                        <a:t>5</a:t>
                      </a:r>
                      <a:endParaRPr sz="1000"/>
                    </a:p>
                  </a:txBody>
                  <a:tcPr anchor="ctr" marB="19050" marL="28575" marR="28575" marT="19050"/>
                </a:tc>
                <a:tc>
                  <a:txBody>
                    <a:bodyPr/>
                    <a:lstStyle/>
                    <a:p>
                      <a:pPr algn="ctr" indent="0" lvl="0" marL="0" rtl="0">
                        <a:lnSpc>
                          <a:spcPct val="115000"/>
                        </a:lnSpc>
                        <a:spcBef>
                          <a:spcPts val="0"/>
                        </a:spcBef>
                        <a:spcAft>
                          <a:spcPts val="0"/>
                        </a:spcAft>
                        <a:buNone/>
                      </a:pPr>
                      <a:r>
                        <a:rPr lang="en" sz="1000"/>
                        <a:t>3</a:t>
                      </a:r>
                      <a:endParaRPr sz="1000"/>
                    </a:p>
                  </a:txBody>
                  <a:tcPr anchor="ctr" marB="19050" marL="28575" marR="28575" marT="19050"/>
                </a:tc>
                <a:extLst>
                  <a:ext uri="{0D108BD9-81ED-4DB2-BD59-A6C34878D82A}">
                    <a16:rowId xmlns:a16="http://schemas.microsoft.com/office/drawing/2014/main" val="10003"/>
                  </a:ext>
                </a:extLst>
              </a:tr>
              <a:tr h="200025">
                <a:tc>
                  <a:txBody>
                    <a:bodyPr/>
                    <a:lstStyle/>
                    <a:p>
                      <a:pPr algn="l" indent="0" lvl="0" marL="0" rtl="0">
                        <a:lnSpc>
                          <a:spcPct val="115000"/>
                        </a:lnSpc>
                        <a:spcBef>
                          <a:spcPts val="0"/>
                        </a:spcBef>
                        <a:spcAft>
                          <a:spcPts val="0"/>
                        </a:spcAft>
                        <a:buNone/>
                      </a:pPr>
                      <a:r>
                        <a:rPr lang="en" sz="1000"/>
                        <a:t>WBBB</a:t>
                      </a:r>
                      <a:endParaRPr sz="1000"/>
                    </a:p>
                  </a:txBody>
                  <a:tcPr anchor="ctr" marB="19050" marL="28575" marR="28575" marT="19050"/>
                </a:tc>
                <a:tc>
                  <a:txBody>
                    <a:bodyPr/>
                    <a:lstStyle/>
                    <a:p>
                      <a:pPr algn="l" indent="0" lvl="0" marL="0" rtl="0">
                        <a:lnSpc>
                          <a:spcPct val="115000"/>
                        </a:lnSpc>
                        <a:spcBef>
                          <a:spcPts val="0"/>
                        </a:spcBef>
                        <a:spcAft>
                          <a:spcPts val="0"/>
                        </a:spcAft>
                        <a:buNone/>
                      </a:pPr>
                      <a:r>
                        <a:rPr lang="en" sz="1000"/>
                        <a:t>M-F</a:t>
                      </a:r>
                      <a:endParaRPr sz="1000"/>
                    </a:p>
                  </a:txBody>
                  <a:tcPr anchor="ctr" marB="19050" marL="28575" marR="28575" marT="19050"/>
                </a:tc>
                <a:tc>
                  <a:txBody>
                    <a:bodyPr/>
                    <a:lstStyle/>
                    <a:p>
                      <a:pPr algn="l" indent="0" lvl="0" marL="0" rtl="0">
                        <a:lnSpc>
                          <a:spcPct val="115000"/>
                        </a:lnSpc>
                        <a:spcBef>
                          <a:spcPts val="0"/>
                        </a:spcBef>
                        <a:spcAft>
                          <a:spcPts val="0"/>
                        </a:spcAft>
                        <a:buNone/>
                      </a:pPr>
                      <a:r>
                        <a:rPr lang="en" sz="1000"/>
                        <a:t>6:00am - 7:00pm</a:t>
                      </a:r>
                      <a:endParaRPr sz="1000"/>
                    </a:p>
                  </a:txBody>
                  <a:tcPr anchor="ctr" marB="19050" marL="28575" marR="28575" marT="19050"/>
                </a:tc>
                <a:tc>
                  <a:txBody>
                    <a:bodyPr/>
                    <a:lstStyle/>
                    <a:p>
                      <a:pPr algn="ctr" indent="0" lvl="0" marL="0" rtl="0">
                        <a:lnSpc>
                          <a:spcPct val="115000"/>
                        </a:lnSpc>
                        <a:spcBef>
                          <a:spcPts val="0"/>
                        </a:spcBef>
                        <a:spcAft>
                          <a:spcPts val="0"/>
                        </a:spcAft>
                        <a:buNone/>
                      </a:pPr>
                      <a:r>
                        <a:rPr lang="en" sz="1000"/>
                        <a:t>15</a:t>
                      </a:r>
                      <a:endParaRPr sz="1000"/>
                    </a:p>
                  </a:txBody>
                  <a:tcPr anchor="ctr"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Continuity Investment:</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4"/>
                  </a:ext>
                </a:extLst>
              </a:tr>
              <a:tr h="200025">
                <a:tc>
                  <a:txBody>
                    <a:bodyPr/>
                    <a:lstStyle/>
                    <a:p>
                      <a:pPr algn="l" indent="0" lvl="0" marL="0" rtl="0">
                        <a:lnSpc>
                          <a:spcPct val="115000"/>
                        </a:lnSpc>
                        <a:spcBef>
                          <a:spcPts val="0"/>
                        </a:spcBef>
                        <a:spcAft>
                          <a:spcPts val="0"/>
                        </a:spcAft>
                        <a:buNone/>
                      </a:pPr>
                      <a:r>
                        <a:rPr lang="en" sz="1000"/>
                        <a:t>WBBB</a:t>
                      </a:r>
                      <a:endParaRPr sz="1000"/>
                    </a:p>
                  </a:txBody>
                  <a:tcPr anchor="ctr" marB="19050" marL="28575" marR="28575" marT="19050"/>
                </a:tc>
                <a:tc>
                  <a:txBody>
                    <a:bodyPr/>
                    <a:lstStyle/>
                    <a:p>
                      <a:pPr algn="l" indent="0" lvl="0" marL="0" rtl="0">
                        <a:lnSpc>
                          <a:spcPct val="115000"/>
                        </a:lnSpc>
                        <a:spcBef>
                          <a:spcPts val="0"/>
                        </a:spcBef>
                        <a:spcAft>
                          <a:spcPts val="0"/>
                        </a:spcAft>
                        <a:buNone/>
                      </a:pPr>
                      <a:r>
                        <a:rPr lang="en" sz="1000"/>
                        <a:t>M-F</a:t>
                      </a:r>
                      <a:endParaRPr sz="1000"/>
                    </a:p>
                  </a:txBody>
                  <a:tcPr anchor="ctr" marB="19050" marL="28575" marR="28575" marT="19050"/>
                </a:tc>
                <a:tc>
                  <a:txBody>
                    <a:bodyPr/>
                    <a:lstStyle/>
                    <a:p>
                      <a:pPr algn="l" indent="0" lvl="0" marL="0" rtl="0">
                        <a:lnSpc>
                          <a:spcPct val="115000"/>
                        </a:lnSpc>
                        <a:spcBef>
                          <a:spcPts val="0"/>
                        </a:spcBef>
                        <a:spcAft>
                          <a:spcPts val="0"/>
                        </a:spcAft>
                        <a:buNone/>
                      </a:pPr>
                      <a:r>
                        <a:rPr lang="en" sz="1000"/>
                        <a:t>7:00pm - 12mid</a:t>
                      </a:r>
                      <a:endParaRPr sz="1000"/>
                    </a:p>
                  </a:txBody>
                  <a:tcPr anchor="ctr" marB="19050" marL="28575" marR="28575" marT="19050"/>
                </a:tc>
                <a:tc>
                  <a:txBody>
                    <a:bodyPr/>
                    <a:lstStyle/>
                    <a:p>
                      <a:pPr algn="ctr" indent="0" lvl="0" marL="0" rtl="0">
                        <a:lnSpc>
                          <a:spcPct val="115000"/>
                        </a:lnSpc>
                        <a:spcBef>
                          <a:spcPts val="0"/>
                        </a:spcBef>
                        <a:spcAft>
                          <a:spcPts val="0"/>
                        </a:spcAft>
                        <a:buNone/>
                      </a:pPr>
                      <a:r>
                        <a:rPr lang="en" sz="1000"/>
                        <a:t>5</a:t>
                      </a:r>
                      <a:endParaRPr sz="1000"/>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5"/>
                  </a:ext>
                </a:extLst>
              </a:tr>
              <a:tr h="251450">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Total # of Commercials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6"/>
                  </a:ext>
                </a:extLst>
              </a:tr>
              <a:tr h="251450">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lang="en" sz="1000"/>
                        <a:t>120</a:t>
                      </a:r>
                      <a:endParaRPr sz="1000"/>
                    </a:p>
                  </a:txBody>
                  <a:tcPr anchor="ctr" marB="19050" marL="28575" marR="28575" marT="19050"/>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Shape 417"/>
        <p:cNvGrpSpPr/>
        <p:nvPr/>
      </p:nvGrpSpPr>
      <p:grpSpPr>
        <a:xfrm>
          <a:off x="0" y="0"/>
          <a:ext cx="0" cy="0"/>
          <a:chOff x="0" y="0"/>
          <a:chExt cx="0" cy="0"/>
        </a:xfrm>
      </p:grpSpPr>
      <p:sp>
        <p:nvSpPr>
          <p:cNvPr id="418" name="Google Shape;418;p35"/>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Proposed Schedule - Plan A</a:t>
            </a:r>
            <a:endParaRPr/>
          </a:p>
        </p:txBody>
      </p:sp>
      <p:sp>
        <p:nvSpPr>
          <p:cNvPr id="419" name="Google Shape;419;p35"/>
          <p:cNvSpPr txBox="1"/>
          <p:nvPr/>
        </p:nvSpPr>
        <p:spPr>
          <a:xfrm>
            <a:off x="1899150" y="1174800"/>
            <a:ext cx="5345700" cy="6993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sz="2400">
                <a:solidFill>
                  <a:schemeClr val="dk1"/>
                </a:solidFill>
                <a:latin typeface="Verdana"/>
                <a:ea typeface="Verdana"/>
                <a:cs typeface="Verdana"/>
                <a:sym typeface="Verdana"/>
              </a:rPr>
              <a:t>clientBusinessName}}</a:t>
            </a:r>
            <a:endParaRPr b="1" sz="2400">
              <a:latin typeface="Verdana"/>
              <a:ea typeface="Verdana"/>
              <a:cs typeface="Verdana"/>
              <a:sym typeface="Verdana"/>
            </a:endParaRPr>
          </a:p>
        </p:txBody>
      </p:sp>
      <p:sp>
        <p:nvSpPr>
          <p:cNvPr id="420" name="Google Shape;420;p35"/>
          <p:cNvSpPr txBox="1"/>
          <p:nvPr/>
        </p:nvSpPr>
        <p:spPr>
          <a:xfrm>
            <a:off x="2168400" y="1759563"/>
            <a:ext cx="4807200" cy="9822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sz="2000">
                <a:solidFill>
                  <a:schemeClr val="dk1"/>
                </a:solidFill>
                <a:latin typeface="Verdana"/>
                <a:ea typeface="Verdana"/>
                <a:cs typeface="Verdana"/>
                <a:sym typeface="Verdana"/>
              </a:rPr>
              <a:t>Brand Equity Schedule </a:t>
            </a:r>
            <a:endParaRPr b="1" sz="2000">
              <a:solidFill>
                <a:schemeClr val="dk1"/>
              </a:solidFill>
              <a:latin typeface="Verdana"/>
              <a:ea typeface="Verdana"/>
              <a:cs typeface="Verdana"/>
              <a:sym typeface="Verdana"/>
            </a:endParaRPr>
          </a:p>
          <a:p>
            <a:pPr algn="ctr" indent="0" lvl="0" marL="0" rtl="0">
              <a:spcBef>
                <a:spcPts val="0"/>
              </a:spcBef>
              <a:spcAft>
                <a:spcPts val="0"/>
              </a:spcAft>
              <a:buNone/>
            </a:pPr>
            <a:r>
              <a:rPr b="1" lang="en" sz="2000">
                <a:solidFill>
                  <a:schemeClr val="dk1"/>
                </a:solidFill>
                <a:latin typeface="Verdana"/>
                <a:ea typeface="Verdana"/>
                <a:cs typeface="Verdana"/>
                <a:sym typeface="Verdana"/>
              </a:rPr>
              <a:t>Monthly Station Summary</a:t>
            </a:r>
            <a:endParaRPr b="1" sz="2000">
              <a:latin typeface="Verdana"/>
              <a:ea typeface="Verdana"/>
              <a:cs typeface="Verdana"/>
              <a:sym typeface="Verdana"/>
            </a:endParaRPr>
          </a:p>
        </p:txBody>
      </p:sp>
      <p:sp>
        <p:nvSpPr>
          <p:cNvPr id="421" name="Google Shape;421;p35"/>
          <p:cNvSpPr txBox="1"/>
          <p:nvPr/>
        </p:nvSpPr>
        <p:spPr>
          <a:xfrm>
            <a:off x="1179600" y="3067177"/>
            <a:ext cx="6784800" cy="3420600"/>
          </a:xfrm>
          <a:prstGeom prst="rect">
            <a:avLst/>
          </a:prstGeom>
          <a:noFill/>
          <a:ln>
            <a:noFill/>
          </a:ln>
        </p:spPr>
        <p:txBody>
          <a:bodyPr anchor="t" anchorCtr="0" bIns="91425" lIns="91425" rIns="91425" spcFirstLastPara="1" tIns="91425" wrap="square">
            <a:noAutofit/>
          </a:bodyPr>
          <a:lstStyle/>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planACity}}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planAReach}}</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planAFrequency}}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planADigitalImpressionsMonthly}}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planAMonthly}}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planADaily}}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Shape 425"/>
        <p:cNvGrpSpPr/>
        <p:nvPr/>
      </p:nvGrpSpPr>
      <p:grpSpPr>
        <a:xfrm>
          <a:off x="0" y="0"/>
          <a:ext cx="0" cy="0"/>
          <a:chOff x="0" y="0"/>
          <a:chExt cx="0" cy="0"/>
        </a:xfrm>
      </p:grpSpPr>
      <p:sp>
        <p:nvSpPr>
          <p:cNvPr id="426" name="Google Shape;426;p36"/>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Break Even Analysis - Plan A</a:t>
            </a:r>
            <a:endParaRPr/>
          </a:p>
        </p:txBody>
      </p:sp>
      <p:sp>
        <p:nvSpPr>
          <p:cNvPr id="427" name="Google Shape;427;p36"/>
          <p:cNvSpPr txBox="1">
            <a:spLocks noGrp="1"/>
          </p:cNvSpPr>
          <p:nvPr>
            <p:ph idx="2" type="body"/>
          </p:nvPr>
        </p:nvSpPr>
        <p:spPr>
          <a:xfrm>
            <a:off x="347472" y="1563624"/>
            <a:ext cx="7205400" cy="4181400"/>
          </a:xfrm>
          <a:prstGeom prst="rect">
            <a:avLst/>
          </a:prstGeom>
        </p:spPr>
        <p:txBody>
          <a:bodyPr anchor="t" anchorCtr="0" bIns="91425" lIns="91425" rIns="91425" spcFirstLastPara="1" tIns="91425" wrap="square">
            <a:noAutofit/>
          </a:bodyPr>
          <a:lstStyle/>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Average sale (ticket, transaction, invoice) =</a:t>
            </a:r>
            <a:endParaRPr b="1" sz="1300">
              <a:solidFill>
                <a:schemeClr val="dk1"/>
              </a:solidFill>
              <a:latin typeface="Verdana"/>
              <a:ea typeface="Verdana"/>
              <a:cs typeface="Verdana"/>
              <a:sym typeface="Verdana"/>
            </a:endParaRPr>
          </a:p>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Gross profit margin on average sale (sale less closing costs) =</a:t>
            </a:r>
            <a:endParaRPr b="1" sz="1300">
              <a:solidFill>
                <a:schemeClr val="dk1"/>
              </a:solidFill>
              <a:latin typeface="Verdana"/>
              <a:ea typeface="Verdana"/>
              <a:cs typeface="Verdana"/>
              <a:sym typeface="Verdana"/>
            </a:endParaRPr>
          </a:p>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Closing or conversion rate =</a:t>
            </a:r>
            <a:endParaRPr b="1" sz="1300">
              <a:solidFill>
                <a:schemeClr val="dk1"/>
              </a:solidFill>
              <a:latin typeface="Verdana"/>
              <a:ea typeface="Verdana"/>
              <a:cs typeface="Verdana"/>
              <a:sym typeface="Verdana"/>
            </a:endParaRPr>
          </a:p>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Projected prospect value (=A*B*C)=</a:t>
            </a:r>
            <a:endParaRPr b="1" sz="1300">
              <a:solidFill>
                <a:schemeClr val="dk1"/>
              </a:solidFill>
              <a:latin typeface="Verdana"/>
              <a:ea typeface="Verdana"/>
              <a:cs typeface="Verdana"/>
              <a:sym typeface="Verdana"/>
            </a:endParaRPr>
          </a:p>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Client base monthly advertising investment =</a:t>
            </a:r>
            <a:endParaRPr b="1" sz="1300">
              <a:solidFill>
                <a:schemeClr val="dk1"/>
              </a:solidFill>
              <a:latin typeface="Verdana"/>
              <a:ea typeface="Verdana"/>
              <a:cs typeface="Verdana"/>
              <a:sym typeface="Verdana"/>
            </a:endParaRPr>
          </a:p>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Monthly prospects needed to pay for advertising  investment (=E/D)=</a:t>
            </a:r>
            <a:endParaRPr b="1" sz="1300">
              <a:solidFill>
                <a:schemeClr val="dk1"/>
              </a:solidFill>
              <a:latin typeface="Verdana"/>
              <a:ea typeface="Verdana"/>
              <a:cs typeface="Verdana"/>
              <a:sym typeface="Verdana"/>
            </a:endParaRPr>
          </a:p>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Monthly # of sales from prospects needed to break even (=F*C) =</a:t>
            </a:r>
            <a:endParaRPr b="1" sz="1300">
              <a:solidFill>
                <a:schemeClr val="dk1"/>
              </a:solidFill>
              <a:latin typeface="Verdana"/>
              <a:ea typeface="Verdana"/>
              <a:cs typeface="Verdana"/>
              <a:sym typeface="Verdana"/>
            </a:endParaRPr>
          </a:p>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Gross sales per month needed to break even (=G*A)=</a:t>
            </a:r>
            <a:endParaRPr b="1" sz="1300">
              <a:solidFill>
                <a:schemeClr val="dk1"/>
              </a:solidFill>
              <a:latin typeface="Verdana"/>
              <a:ea typeface="Verdana"/>
              <a:cs typeface="Verdana"/>
              <a:sym typeface="Verdana"/>
            </a:endParaRPr>
          </a:p>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Number of months to run </a:t>
            </a:r>
            <a:r>
              <a:rPr b="1" lang="en" sz="1300">
                <a:solidFill>
                  <a:schemeClr val="dk1"/>
                </a:solidFill>
              </a:rPr>
              <a:t>in </a:t>
            </a:r>
            <a:r>
              <a:rPr b="1" lang="en" sz="1300">
                <a:solidFill>
                  <a:schemeClr val="dk1"/>
                </a:solidFill>
                <a:latin typeface="Verdana"/>
                <a:ea typeface="Verdana"/>
                <a:cs typeface="Verdana"/>
                <a:sym typeface="Verdana"/>
              </a:rPr>
              <a:t>proposed marketing plan =</a:t>
            </a:r>
            <a:endParaRPr b="1" sz="1300">
              <a:solidFill>
                <a:schemeClr val="dk1"/>
              </a:solidFill>
              <a:latin typeface="Verdana"/>
              <a:ea typeface="Verdana"/>
              <a:cs typeface="Verdana"/>
              <a:sym typeface="Verdana"/>
            </a:endParaRPr>
          </a:p>
          <a:p>
            <a:pPr algn="r" indent="-311150" lvl="0" marL="457200" rtl="0">
              <a:lnSpc>
                <a:spcPct val="200000"/>
              </a:lnSpc>
              <a:spcBef>
                <a:spcPts val="0"/>
              </a:spcBef>
              <a:spcAft>
                <a:spcPts val="0"/>
              </a:spcAft>
              <a:buClr>
                <a:schemeClr val="dk1"/>
              </a:buClr>
              <a:buSzPts val="1300"/>
              <a:buFont typeface="Verdana"/>
              <a:buAutoNum type="alphaUcPeriod"/>
            </a:pPr>
            <a:r>
              <a:rPr b="1" lang="en" sz="1300">
                <a:solidFill>
                  <a:schemeClr val="dk1"/>
                </a:solidFill>
                <a:latin typeface="Verdana"/>
                <a:ea typeface="Verdana"/>
                <a:cs typeface="Verdana"/>
                <a:sym typeface="Verdana"/>
              </a:rPr>
              <a:t>Additional gross sales per year needed to break even (=H*I)= </a:t>
            </a:r>
            <a:endParaRPr b="1" sz="1300">
              <a:solidFill>
                <a:schemeClr val="dk1"/>
              </a:solidFill>
              <a:latin typeface="Verdana"/>
              <a:ea typeface="Verdana"/>
              <a:cs typeface="Verdana"/>
              <a:sym typeface="Verdana"/>
            </a:endParaRPr>
          </a:p>
        </p:txBody>
      </p:sp>
      <p:sp>
        <p:nvSpPr>
          <p:cNvPr id="428" name="Google Shape;428;p36"/>
          <p:cNvSpPr txBox="1">
            <a:spLocks noGrp="1"/>
          </p:cNvSpPr>
          <p:nvPr>
            <p:ph idx="2" type="body"/>
          </p:nvPr>
        </p:nvSpPr>
        <p:spPr>
          <a:xfrm>
            <a:off x="7554250" y="1566890"/>
            <a:ext cx="1241400" cy="4181400"/>
          </a:xfrm>
          <a:prstGeom prst="rect">
            <a:avLst/>
          </a:prstGeom>
        </p:spPr>
        <p:txBody>
          <a:bodyPr anchor="t" anchorCtr="0" bIns="91425" lIns="91425" rIns="91425" spcFirstLastPara="1" tIns="91425" wrap="square">
            <a:noAutofit/>
          </a:bodyPr>
          <a:lstStyle/>
          <a:p>
            <a:pPr algn="l" indent="0" lvl="0" marL="0" rtl="0">
              <a:lnSpc>
                <a:spcPct val="200000"/>
              </a:lnSpc>
              <a:spcBef>
                <a:spcPts val="0"/>
              </a:spcBef>
              <a:spcAft>
                <a:spcPts val="0"/>
              </a:spcAft>
              <a:buNone/>
            </a:pPr>
            <a:r>
              <a:rPr lang="en" sz="1300" u="sng">
                <a:solidFill>
                  <a:srgbClr val="000000"/>
                </a:solidFill>
                <a:latin typeface="Verdana"/>
                <a:ea typeface="Verdana"/>
                <a:cs typeface="Verdana"/>
                <a:sym typeface="Verdana"/>
              </a:rPr>
              <a:t>planAAverageSale}}</a:t>
            </a:r>
            <a:endParaRPr sz="1300" u="sng">
              <a:solidFill>
                <a:srgbClr val="000000"/>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planAGrossMargin}}</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planAClosingPct}}</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planAProspectValue}}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planAMonthly}}</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planAProspectsNeeded}}</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planAProspectSalesNeeded}}</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planAGrossProfitOnSales}}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planAMonths}}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planAAdditionalGrossSales}}</a:t>
            </a:r>
            <a:endParaRPr sz="1300" u="sng">
              <a:solidFill>
                <a:schemeClr val="dk1"/>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520500" y="475500"/>
            <a:ext cx="81030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Lifetime Value Analysis - Plan A</a:t>
            </a:r>
            <a:endParaRPr/>
          </a:p>
        </p:txBody>
      </p:sp>
      <p:sp>
        <p:nvSpPr>
          <p:cNvPr id="434" name="Google Shape;434;p37"/>
          <p:cNvSpPr txBox="1">
            <a:spLocks noGrp="1"/>
          </p:cNvSpPr>
          <p:nvPr>
            <p:ph idx="2" type="body"/>
          </p:nvPr>
        </p:nvSpPr>
        <p:spPr>
          <a:xfrm>
            <a:off x="347472" y="1773936"/>
            <a:ext cx="7205400" cy="3767400"/>
          </a:xfrm>
          <a:prstGeom prst="rect">
            <a:avLst/>
          </a:prstGeom>
        </p:spPr>
        <p:txBody>
          <a:bodyPr anchor="t" anchorCtr="0" bIns="91425" lIns="91425" rIns="91425" spcFirstLastPara="1" tIns="91425" wrap="square">
            <a:noAutofit/>
          </a:bodyPr>
          <a:lstStyle/>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Average sale (ticket, transaction, invoice)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Times gross profit margin on average sale (sale less variable costs)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Equals gross profit per average sale (A*B)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Times the average repeat sales per year (per customer/client)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Equals the average customer/client value per year (C*D)=</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Times the average number of years of patronage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Equals the lifetime value of one customer/client (E*F)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So if your base monthly advertising investment averages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Then monthly customers/clients needed to break even (H/G)=</a:t>
            </a:r>
            <a:endParaRPr b="1" sz="1300">
              <a:solidFill>
                <a:srgbClr val="000000"/>
              </a:solidFill>
              <a:latin typeface="Verdana"/>
              <a:ea typeface="Verdana"/>
              <a:cs typeface="Verdana"/>
              <a:sym typeface="Verdana"/>
            </a:endParaRPr>
          </a:p>
        </p:txBody>
      </p:sp>
      <p:sp>
        <p:nvSpPr>
          <p:cNvPr id="435" name="Google Shape;435;p37"/>
          <p:cNvSpPr txBox="1">
            <a:spLocks noGrp="1"/>
          </p:cNvSpPr>
          <p:nvPr>
            <p:ph idx="2" type="body"/>
          </p:nvPr>
        </p:nvSpPr>
        <p:spPr>
          <a:xfrm>
            <a:off x="7552950" y="1774200"/>
            <a:ext cx="1253100" cy="3380700"/>
          </a:xfrm>
          <a:prstGeom prst="rect">
            <a:avLst/>
          </a:prstGeom>
        </p:spPr>
        <p:txBody>
          <a:bodyPr anchor="t" anchorCtr="0" bIns="91425" lIns="91425" rIns="91425" spcFirstLastPara="1" tIns="91425" wrap="square">
            <a:noAutofit/>
          </a:bodyPr>
          <a:lstStyle/>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a_averageSale}}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a_grossProfitMargin}}</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a_grossProfitPerSale}}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a_averageRepeatSales}}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a_averageCustomerValue}}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a_yearsOfPatronage}}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a_lifetimeValuePerCustomer}}</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a_prospectsNeededToBreakEven}}</a:t>
            </a:r>
            <a:endParaRPr sz="1300">
              <a:solidFill>
                <a:srgbClr val="000000"/>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Shape 439"/>
        <p:cNvGrpSpPr/>
        <p:nvPr/>
      </p:nvGrpSpPr>
      <p:grpSpPr>
        <a:xfrm>
          <a:off x="0" y="0"/>
          <a:ext cx="0" cy="0"/>
          <a:chOff x="0" y="0"/>
          <a:chExt cx="0" cy="0"/>
        </a:xfrm>
      </p:grpSpPr>
      <p:sp>
        <p:nvSpPr>
          <p:cNvPr id="440" name="Google Shape;440;p38"/>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Digital ROI Calculator - Plan A</a:t>
            </a:r>
            <a:endParaRPr/>
          </a:p>
        </p:txBody>
      </p:sp>
      <p:sp>
        <p:nvSpPr>
          <p:cNvPr id="441" name="Google Shape;441;p38"/>
          <p:cNvSpPr txBox="1">
            <a:spLocks noGrp="1"/>
          </p:cNvSpPr>
          <p:nvPr>
            <p:ph idx="2" type="body"/>
          </p:nvPr>
        </p:nvSpPr>
        <p:spPr>
          <a:xfrm>
            <a:off x="768096" y="1453896"/>
            <a:ext cx="6355200" cy="5193900"/>
          </a:xfrm>
          <a:prstGeom prst="rect">
            <a:avLst/>
          </a:prstGeom>
        </p:spPr>
        <p:txBody>
          <a:bodyPr anchor="t" anchorCtr="0" bIns="91425" lIns="91425" rIns="91425" spcFirstLastPara="1" tIns="91425" wrap="square">
            <a:noAutofit/>
          </a:bodyPr>
          <a:lstStyle/>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Digital Investment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Cost Per Thousand (CPM)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Impressions (=A/B*1,000)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Click Through Rate (.01%, .1%, etc)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 clicks (=C*D)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Cost per Click (=A/E)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Sales Conversion Percentage (2%, 10%, etc)=</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Number of Conversions (E*G)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Cost Per Conversion (A/H)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Projected Gross Profit Per Conversion ($100, $1,000, etc.)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Gross </a:t>
            </a:r>
            <a:r>
              <a:rPr b="1" lang="en" sz="1300">
                <a:solidFill>
                  <a:srgbClr val="000000"/>
                </a:solidFill>
              </a:rPr>
              <a:t>P</a:t>
            </a:r>
            <a:r>
              <a:rPr b="1" lang="en" sz="1300">
                <a:solidFill>
                  <a:srgbClr val="000000"/>
                </a:solidFill>
                <a:latin typeface="Verdana"/>
                <a:ea typeface="Verdana"/>
                <a:cs typeface="Verdana"/>
                <a:sym typeface="Verdana"/>
              </a:rPr>
              <a:t>rofit Generated from all Conversions (H*J)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Return on Investment (K-A)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 Monthly Return on Investment (L/A) = </a:t>
            </a:r>
            <a:endParaRPr b="1" sz="1300">
              <a:solidFill>
                <a:srgbClr val="000000"/>
              </a:solidFill>
              <a:latin typeface="Verdana"/>
              <a:ea typeface="Verdana"/>
              <a:cs typeface="Verdana"/>
              <a:sym typeface="Verdana"/>
            </a:endParaRPr>
          </a:p>
        </p:txBody>
      </p:sp>
      <p:sp>
        <p:nvSpPr>
          <p:cNvPr id="442" name="Google Shape;442;p38"/>
          <p:cNvSpPr txBox="1">
            <a:spLocks noGrp="1"/>
          </p:cNvSpPr>
          <p:nvPr>
            <p:ph idx="2" type="body"/>
          </p:nvPr>
        </p:nvSpPr>
        <p:spPr>
          <a:xfrm>
            <a:off x="7127862" y="1453115"/>
            <a:ext cx="1243500" cy="5192700"/>
          </a:xfrm>
          <a:prstGeom prst="rect">
            <a:avLst/>
          </a:prstGeom>
        </p:spPr>
        <p:txBody>
          <a:bodyPr anchor="t" anchorCtr="0" bIns="91425" lIns="91425" rIns="91425" spcFirstLastPara="1" tIns="91425" wrap="square">
            <a:noAutofit/>
          </a:bodyPr>
          <a:lstStyle/>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planAMonthlyDigitalInvestment}}</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planACostPerThousand}}</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planAClosingPctNumber}}</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planAClickThroughRate}}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planAMonthlyClicks}}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planACostPerClicks}}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planASalesConversionPercentage}}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planAMonthlyConversions}}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planACostPerConversion}}</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planAProjectedGrossProfit}}</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planAMonthlyGrossProfit}}</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planAMonthlyROID}}</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planAMonthlyROIP}}</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1600"/>
              </a:spcAft>
              <a:buNone/>
            </a:pPr>
            <a:endParaRPr sz="1300">
              <a:solidFill>
                <a:srgbClr val="000000"/>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Shape 446"/>
        <p:cNvGrpSpPr/>
        <p:nvPr/>
      </p:nvGrpSpPr>
      <p:grpSpPr>
        <a:xfrm>
          <a:off x="0" y="0"/>
          <a:ext cx="0" cy="0"/>
          <a:chOff x="0" y="0"/>
          <a:chExt cx="0" cy="0"/>
        </a:xfrm>
      </p:grpSpPr>
      <p:sp>
        <p:nvSpPr>
          <p:cNvPr id="447" name="Google Shape;447;p39"/>
          <p:cNvSpPr txBox="1">
            <a:spLocks noGrp="1"/>
          </p:cNvSpPr>
          <p:nvPr>
            <p:ph type="ctrTitle"/>
          </p:nvPr>
        </p:nvSpPr>
        <p:spPr>
          <a:xfrm>
            <a:off x="693450" y="475488"/>
            <a:ext cx="7757100" cy="699300"/>
          </a:xfrm>
          <a:prstGeom prst="rect">
            <a:avLst/>
          </a:prstGeom>
        </p:spPr>
        <p:txBody>
          <a:bodyPr anchor="ctr" anchorCtr="0" bIns="91425" lIns="91425" rIns="91425" spcFirstLastPara="1" tIns="91425" wrap="square">
            <a:noAutofit/>
          </a:bodyPr>
          <a:lstStyle/>
          <a:p>
            <a:pPr algn="ctr" indent="0" lvl="0" marL="0" rtl="0">
              <a:spcBef>
                <a:spcPts val="0"/>
              </a:spcBef>
              <a:spcAft>
                <a:spcPts val="0"/>
              </a:spcAft>
              <a:buNone/>
            </a:pPr>
            <a:r>
              <a:rPr lang="en"/>
              <a:t>Proposed Schedule - Plan B</a:t>
            </a:r>
            <a:endParaRPr/>
          </a:p>
        </p:txBody>
      </p:sp>
      <p:sp>
        <p:nvSpPr>
          <p:cNvPr id="448" name="Google Shape;448;p39"/>
          <p:cNvSpPr txBox="1">
            <a:spLocks noGrp="1"/>
          </p:cNvSpPr>
          <p:nvPr>
            <p:ph type="ctrTitle"/>
          </p:nvPr>
        </p:nvSpPr>
        <p:spPr>
          <a:xfrm>
            <a:off x="693450" y="1174812"/>
            <a:ext cx="7757100" cy="639300"/>
          </a:xfrm>
          <a:prstGeom prst="rect">
            <a:avLst/>
          </a:prstGeom>
        </p:spPr>
        <p:txBody>
          <a:bodyPr anchor="ctr" anchorCtr="0" bIns="91425" lIns="91425" rIns="91425" spcFirstLastPara="1" tIns="91425" wrap="square">
            <a:noAutofit/>
          </a:bodyPr>
          <a:lstStyle/>
          <a:p>
            <a:pPr algn="ctr" indent="0" lvl="0" marL="0" rtl="0">
              <a:spcBef>
                <a:spcPts val="0"/>
              </a:spcBef>
              <a:spcAft>
                <a:spcPts val="0"/>
              </a:spcAft>
              <a:buNone/>
            </a:pPr>
            <a:r>
              <a:rPr lang="en" sz="2100"/>
              <a:t>Budget Breakout by Month (For Next 12 Months)</a:t>
            </a:r>
            <a:endParaRPr sz="2100"/>
          </a:p>
          <a:p>
            <a:pPr algn="ctr" indent="0" lvl="0" marL="0" rtl="0">
              <a:spcBef>
                <a:spcPts val="0"/>
              </a:spcBef>
              <a:spcAft>
                <a:spcPts val="0"/>
              </a:spcAft>
              <a:buNone/>
            </a:pPr>
            <a:r>
              <a:rPr lang="en" sz="2100"/>
              <a:t>Proposed Media Plan: station}}</a:t>
            </a:r>
            <a:endParaRPr sz="2100"/>
          </a:p>
        </p:txBody>
      </p:sp>
      <p:pic>
        <p:nvPicPr>
          <p:cNvPr id="449" name="Google Shape;449;p39"/>
          <p:cNvPicPr preferRelativeResize="0"/>
          <p:nvPr/>
        </p:nvPicPr>
        <p:blipFill>
          <a:blip r:embed="rId3">
            <a:alphaModFix/>
          </a:blip>
          <a:stretch>
            <a:fillRect/>
          </a:stretch>
        </p:blipFill>
        <p:spPr>
          <a:xfrm>
            <a:off x="841248" y="2082272"/>
            <a:ext cx="7461504" cy="4613697"/>
          </a:xfrm>
          <a:prstGeom prst="rect">
            <a:avLst/>
          </a:prstGeom>
          <a:noFill/>
          <a:ln>
            <a:noFill/>
          </a:ln>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Shape 453"/>
        <p:cNvGrpSpPr/>
        <p:nvPr/>
      </p:nvGrpSpPr>
      <p:grpSpPr>
        <a:xfrm>
          <a:off x="0" y="0"/>
          <a:ext cx="0" cy="0"/>
          <a:chOff x="0" y="0"/>
          <a:chExt cx="0" cy="0"/>
        </a:xfrm>
      </p:grpSpPr>
      <p:sp>
        <p:nvSpPr>
          <p:cNvPr id="454" name="Google Shape;454;p40"/>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Proposed Schedule - Plan B</a:t>
            </a:r>
            <a:endParaRPr/>
          </a:p>
        </p:txBody>
      </p:sp>
      <p:graphicFrame>
        <p:nvGraphicFramePr>
          <p:cNvPr id="455" name="Google Shape;455;p40"/>
          <p:cNvGraphicFramePr/>
          <p:nvPr/>
        </p:nvGraphicFramePr>
        <p:xfrm>
          <a:off x="457200" y="1174800"/>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Station</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DayPart</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Weekly Commercials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i="1" lang="en" sz="1200" u="sng">
                          <a:latin typeface="Verdana"/>
                          <a:ea typeface="Verdana"/>
                          <a:cs typeface="Verdana"/>
                          <a:sym typeface="Verdana"/>
                        </a:rPr>
                        <a:t>Branding Months</a:t>
                      </a:r>
                      <a:endParaRPr b="1" i="1" sz="1200" u="sng">
                        <a:latin typeface="Verdana"/>
                        <a:ea typeface="Verdana"/>
                        <a:cs typeface="Verdana"/>
                        <a:sym typeface="Verdana"/>
                      </a:endParaRPr>
                    </a:p>
                  </a:txBody>
                  <a:tcPr anchor="b" marB="19050" marL="28575" marR="28575" marT="19050"/>
                </a:tc>
                <a:extLst>
                  <a:ext uri="{0D108BD9-81ED-4DB2-BD59-A6C34878D82A}">
                    <a16:rowId xmlns:a16="http://schemas.microsoft.com/office/drawing/2014/main" val="10000"/>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#Week/Months: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1"/>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7:00pmStation	Days	DayPart	Weekly Commercials		Branding Months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WAAA	M-F	6:00am - 7:00pm	15		#Week/Months: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WAAA	M-F	7:00pm - 12mid	5		1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WBBB	M-F	6:00am - 7:00pm	15		Base Investment: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WBBB	M-F	7:00pm - 12mid	5		$1,500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WCCC	M-F	6:00am - 7:00pm	15		Total # of Commercials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WCCC	M-F	7:00pm - 12mid	5		60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algn="ctr" indent="0" lvl="0" marL="0" rtl="0">
                        <a:lnSpc>
                          <a:spcPct val="115000"/>
                        </a:lnSpc>
                        <a:spcBef>
                          <a:spcPts val="0"/>
                        </a:spcBef>
                        <a:spcAft>
                          <a:spcPts val="0"/>
                        </a:spcAft>
                        <a:buNone/>
                      </a:pPr>
                      <a:r>
                        <a:rPr lang="en" sz="1000">
                          <a:latin typeface="Verdana"/>
                          <a:ea typeface="Verdana"/>
                          <a:cs typeface="Verdana"/>
                          <a:sym typeface="Verdana"/>
                        </a:rPr>
                        <a:t>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2"/>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Base Investment:</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3"/>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4"/>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Total # of Commercials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5"/>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6"/>
                  </a:ext>
                </a:extLst>
              </a:tr>
            </a:tbl>
          </a:graphicData>
        </a:graphic>
      </p:graphicFrame>
      <p:graphicFrame>
        <p:nvGraphicFramePr>
          <p:cNvPr id="456" name="Google Shape;456;p40"/>
          <p:cNvGraphicFramePr/>
          <p:nvPr/>
        </p:nvGraphicFramePr>
        <p:xfrm>
          <a:off x="457200" y="3015875"/>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Station</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DayPart</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Weekly Commercials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i="1" lang="en" sz="1200" u="sng">
                          <a:latin typeface="Verdana"/>
                          <a:ea typeface="Verdana"/>
                          <a:cs typeface="Verdana"/>
                          <a:sym typeface="Verdana"/>
                        </a:rPr>
                        <a:t>Spike Months</a:t>
                      </a:r>
                      <a:endParaRPr b="1" i="1" sz="1200" u="sng">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0"/>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#Week/Months: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1"/>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2"/>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Continuity Investment:</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3"/>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4"/>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Total # of Commercials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5"/>
                  </a:ext>
                </a:extLst>
              </a:tr>
              <a:tr h="2521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120</a:t>
                      </a:r>
                      <a:endParaRPr sz="1000">
                        <a:latin typeface="Verdana"/>
                        <a:ea typeface="Verdana"/>
                        <a:cs typeface="Verdana"/>
                        <a:sym typeface="Verdana"/>
                      </a:endParaRPr>
                    </a:p>
                  </a:txBody>
                  <a:tcPr anchor="ctr" marB="19050" marL="28575" marR="28575" marT="19050">
                    <a:lnB cap="flat" cmpd="sng" w="9525">
                      <a:solidFill>
                        <a:srgbClr val="000000"/>
                      </a:solidFill>
                      <a:prstDash val="solid"/>
                      <a:round/>
                      <a:headEnd len="sm" type="none" w="sm"/>
                      <a:tailEnd len="sm" type="none" w="sm"/>
                    </a:lnB>
                  </a:tcPr>
                </a:tc>
                <a:extLst>
                  <a:ext uri="{0D108BD9-81ED-4DB2-BD59-A6C34878D82A}">
                    <a16:rowId xmlns:a16="http://schemas.microsoft.com/office/drawing/2014/main" val="10006"/>
                  </a:ext>
                </a:extLst>
              </a:tr>
            </a:tbl>
          </a:graphicData>
        </a:graphic>
      </p:graphicFrame>
      <p:graphicFrame>
        <p:nvGraphicFramePr>
          <p:cNvPr id="457" name="Google Shape;457;p40"/>
          <p:cNvGraphicFramePr/>
          <p:nvPr/>
        </p:nvGraphicFramePr>
        <p:xfrm>
          <a:off x="457200" y="4856950"/>
          <a:ext cx="8229575" cy="186118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1450">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Station</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DayPart</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Weekly Commercials</a:t>
                      </a:r>
                      <a:endParaRPr b="1" sz="1000">
                        <a:latin typeface="Verdana"/>
                        <a:ea typeface="Verdana"/>
                        <a:cs typeface="Verdana"/>
                        <a:sym typeface="Verdana"/>
                      </a:endParaRPr>
                    </a:p>
                  </a:txBody>
                  <a:tcPr anchor="ctr" marB="19050" marL="28575" marR="28575" marT="19050">
                    <a:solidFill>
                      <a:srgbClr val="C9DAF8"/>
                    </a:solidFill>
                  </a:tcPr>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i="1" lang="en" sz="1200" u="sng">
                          <a:latin typeface="Verdana"/>
                          <a:ea typeface="Verdana"/>
                          <a:cs typeface="Verdana"/>
                          <a:sym typeface="Verdana"/>
                        </a:rPr>
                        <a:t>Slow Months</a:t>
                      </a:r>
                      <a:endParaRPr b="1" i="1" sz="1200" u="sng">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0"/>
                  </a:ext>
                </a:extLst>
              </a:tr>
              <a:tr h="251450">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#Week/Months: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1"/>
                  </a:ext>
                </a:extLst>
              </a:tr>
              <a:tr h="251450">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3</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2"/>
                  </a:ext>
                </a:extLst>
              </a:tr>
              <a:tr h="3524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Average Spike Investment:</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3"/>
                  </a:ext>
                </a:extLst>
              </a:tr>
              <a:tr h="251450">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4,500</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4"/>
                  </a:ext>
                </a:extLst>
              </a:tr>
              <a:tr h="251450">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Total # of Commercials</a:t>
                      </a:r>
                      <a:endParaRPr b="1" sz="1000">
                        <a:latin typeface="Verdana"/>
                        <a:ea typeface="Verdana"/>
                        <a:cs typeface="Verdana"/>
                        <a:sym typeface="Verdana"/>
                      </a:endParaRPr>
                    </a:p>
                  </a:txBody>
                  <a:tcPr anchor="ctr" marB="19050" marL="28575" marR="28575" marT="19050">
                    <a:solidFill>
                      <a:srgbClr val="C9DAF8"/>
                    </a:solidFill>
                  </a:tcPr>
                </a:tc>
                <a:extLst>
                  <a:ext uri="{0D108BD9-81ED-4DB2-BD59-A6C34878D82A}">
                    <a16:rowId xmlns:a16="http://schemas.microsoft.com/office/drawing/2014/main" val="10005"/>
                  </a:ext>
                </a:extLst>
              </a:tr>
              <a:tr h="251450">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tc>
                <a:tc>
                  <a:txBody>
                    <a:bodyPr/>
                    <a:lstStyle/>
                    <a:p>
                      <a:pPr algn="l" indent="0" lvl="0" marL="0" rtl="0">
                        <a:spcBef>
                          <a:spcPts val="0"/>
                        </a:spcBef>
                        <a:spcAft>
                          <a:spcPts val="0"/>
                        </a:spcAft>
                        <a:buNone/>
                      </a:pPr>
                      <a:endParaRPr/>
                    </a:p>
                  </a:txBody>
                  <a:tcPr anchor="b" marB="19050" marL="28575" marR="28575" marT="19050"/>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180</a:t>
                      </a:r>
                      <a:endParaRPr sz="1000">
                        <a:latin typeface="Verdana"/>
                        <a:ea typeface="Verdana"/>
                        <a:cs typeface="Verdana"/>
                        <a:sym typeface="Verdana"/>
                      </a:endParaRPr>
                    </a:p>
                  </a:txBody>
                  <a:tcPr anchor="ctr" marB="19050" marL="28575" marR="28575" marT="19050"/>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Shape 461"/>
        <p:cNvGrpSpPr/>
        <p:nvPr/>
      </p:nvGrpSpPr>
      <p:grpSpPr>
        <a:xfrm>
          <a:off x="0" y="0"/>
          <a:ext cx="0" cy="0"/>
          <a:chOff x="0" y="0"/>
          <a:chExt cx="0" cy="0"/>
        </a:xfrm>
      </p:grpSpPr>
      <p:sp>
        <p:nvSpPr>
          <p:cNvPr id="462" name="Google Shape;462;p41"/>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Proposed Schedule - Plan BT</a:t>
            </a:r>
            <a:endParaRPr/>
          </a:p>
        </p:txBody>
      </p:sp>
      <p:graphicFrame>
        <p:nvGraphicFramePr>
          <p:cNvPr id="463" name="Google Shape;463;p41"/>
          <p:cNvGraphicFramePr/>
          <p:nvPr/>
        </p:nvGraphicFramePr>
        <p:xfrm>
          <a:off x="459300" y="1280625"/>
          <a:ext cx="8277250" cy="2866455"/>
        </p:xfrm>
        <a:graphic>
          <a:graphicData uri="http://schemas.openxmlformats.org/drawingml/2006/table">
            <a:tbl>
              <a:tblPr>
                <a:noFill/>
                <a:tableStyleId>{CFB75FC7-DD7D-40D8-B2B2-EE4B611A8D2E}</a:tableStyleId>
              </a:tblPr>
              <a:tblGrid>
                <a:gridCol w="900675">
                  <a:extLst>
                    <a:ext uri="{9D8B030D-6E8A-4147-A177-3AD203B41FA5}">
                      <a16:colId xmlns:a16="http://schemas.microsoft.com/office/drawing/2014/main" val="20000"/>
                    </a:ext>
                  </a:extLst>
                </a:gridCol>
                <a:gridCol w="900675">
                  <a:extLst>
                    <a:ext uri="{9D8B030D-6E8A-4147-A177-3AD203B41FA5}">
                      <a16:colId xmlns:a16="http://schemas.microsoft.com/office/drawing/2014/main" val="20001"/>
                    </a:ext>
                  </a:extLst>
                </a:gridCol>
                <a:gridCol w="1540175">
                  <a:extLst>
                    <a:ext uri="{9D8B030D-6E8A-4147-A177-3AD203B41FA5}">
                      <a16:colId xmlns:a16="http://schemas.microsoft.com/office/drawing/2014/main" val="20002"/>
                    </a:ext>
                  </a:extLst>
                </a:gridCol>
                <a:gridCol w="2215675">
                  <a:extLst>
                    <a:ext uri="{9D8B030D-6E8A-4147-A177-3AD203B41FA5}">
                      <a16:colId xmlns:a16="http://schemas.microsoft.com/office/drawing/2014/main" val="20003"/>
                    </a:ext>
                  </a:extLst>
                </a:gridCol>
                <a:gridCol w="918700">
                  <a:extLst>
                    <a:ext uri="{9D8B030D-6E8A-4147-A177-3AD203B41FA5}">
                      <a16:colId xmlns:a16="http://schemas.microsoft.com/office/drawing/2014/main" val="20004"/>
                    </a:ext>
                  </a:extLst>
                </a:gridCol>
                <a:gridCol w="900675">
                  <a:extLst>
                    <a:ext uri="{9D8B030D-6E8A-4147-A177-3AD203B41FA5}">
                      <a16:colId xmlns:a16="http://schemas.microsoft.com/office/drawing/2014/main" val="20005"/>
                    </a:ext>
                  </a:extLst>
                </a:gridCol>
                <a:gridCol w="900675">
                  <a:extLst>
                    <a:ext uri="{9D8B030D-6E8A-4147-A177-3AD203B41FA5}">
                      <a16:colId xmlns:a16="http://schemas.microsoft.com/office/drawing/2014/main" val="20006"/>
                    </a:ext>
                  </a:extLst>
                </a:gridCol>
              </a:tblGrid>
              <a:tr h="228600">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Station</a:t>
                      </a:r>
                      <a:endParaRPr b="1"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Days</a:t>
                      </a:r>
                      <a:endParaRPr b="1"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DayPart</a:t>
                      </a:r>
                      <a:endParaRPr b="1"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C9DAF8"/>
                    </a:solidFill>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Weekly Commercials</a:t>
                      </a:r>
                      <a:endParaRPr b="1"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C9DAF8"/>
                    </a:solidFill>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marR="0" rtl="0">
                        <a:lnSpc>
                          <a:spcPct val="115000"/>
                        </a:lnSpc>
                        <a:spcBef>
                          <a:spcPts val="0"/>
                        </a:spcBef>
                        <a:spcAft>
                          <a:spcPts val="0"/>
                        </a:spcAft>
                        <a:buNone/>
                      </a:pPr>
                      <a:r>
                        <a:rPr b="1" i="1" lang="en" sz="1200" u="sng">
                          <a:latin typeface="Verdana"/>
                          <a:ea typeface="Verdana"/>
                          <a:cs typeface="Verdana"/>
                          <a:sym typeface="Verdana"/>
                        </a:rPr>
                        <a:t>Branding Months</a:t>
                      </a:r>
                      <a:endParaRPr b="1" i="1" sz="1200" u="sng">
                        <a:latin typeface="Verdana"/>
                        <a:ea typeface="Verdana"/>
                        <a:cs typeface="Verdana"/>
                        <a:sym typeface="Verdana"/>
                      </a:endParaRPr>
                    </a:p>
                  </a:txBody>
                  <a:tcPr anchor="b" marB="19050" marL="91425" marR="91425" marT="19050">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000000"/>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0"/>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marR="0" rtl="0">
                        <a:lnSpc>
                          <a:spcPct val="115000"/>
                        </a:lnSpc>
                        <a:spcBef>
                          <a:spcPts val="0"/>
                        </a:spcBef>
                        <a:spcAft>
                          <a:spcPts val="0"/>
                        </a:spcAft>
                        <a:buNone/>
                      </a:pPr>
                      <a:r>
                        <a:rPr b="1" lang="en" sz="1000">
                          <a:latin typeface="Verdana"/>
                          <a:ea typeface="Verdana"/>
                          <a:cs typeface="Verdana"/>
                          <a:sym typeface="Verdana"/>
                        </a:rPr>
                        <a:t>#Week/Months:</a:t>
                      </a:r>
                      <a:endParaRPr b="1" sz="1000">
                        <a:latin typeface="Verdana"/>
                        <a:ea typeface="Verdana"/>
                        <a:cs typeface="Verdana"/>
                        <a:sym typeface="Verdana"/>
                      </a:endParaRPr>
                    </a:p>
                  </a:txBody>
                  <a:tcPr anchor="ctr" marB="19050" marL="91425" marR="91425" marT="19050">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C9DAF8"/>
                    </a:solidFill>
                  </a:tcPr>
                </a:tc>
                <a:tc>
                  <a:txBody>
                    <a:bodyPr/>
                    <a:lstStyle/>
                    <a:p>
                      <a:pPr algn="l" indent="0" lvl="0" marL="0" rtl="0">
                        <a:spcBef>
                          <a:spcPts val="0"/>
                        </a:spcBef>
                        <a:spcAft>
                          <a:spcPts val="0"/>
                        </a:spcAft>
                        <a:buNone/>
                      </a:pPr>
                      <a:endParaRPr/>
                    </a:p>
                  </a:txBody>
                  <a:tcPr anchor="b" marB="19050" marL="28575" marR="28575" marT="19050">
                    <a:lnL cap="flat" cmpd="sng" w="9525">
                      <a:solidFill>
                        <a:srgbClr val="000000"/>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1"/>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2"/>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marR="0" rtl="0">
                        <a:lnSpc>
                          <a:spcPct val="115000"/>
                        </a:lnSpc>
                        <a:spcBef>
                          <a:spcPts val="0"/>
                        </a:spcBef>
                        <a:spcAft>
                          <a:spcPts val="0"/>
                        </a:spcAft>
                        <a:buNone/>
                      </a:pPr>
                      <a:r>
                        <a:rPr b="1" lang="en" sz="1000">
                          <a:latin typeface="Verdana"/>
                          <a:ea typeface="Verdana"/>
                          <a:cs typeface="Verdana"/>
                          <a:sym typeface="Verdana"/>
                        </a:rPr>
                        <a:t>Base Investment:</a:t>
                      </a:r>
                      <a:endParaRPr b="1" sz="1000">
                        <a:latin typeface="Verdana"/>
                        <a:ea typeface="Verdana"/>
                        <a:cs typeface="Verdana"/>
                        <a:sym typeface="Verdana"/>
                      </a:endParaRPr>
                    </a:p>
                  </a:txBody>
                  <a:tcPr anchor="ctr" marB="19050" marL="91425" marR="91425" marT="19050">
                    <a:lnL cap="flat" cmpd="sng" w="9525">
                      <a:solidFill>
                        <a:srgbClr val="000000"/>
                      </a:solidFill>
                      <a:prstDash val="solid"/>
                      <a:round/>
                      <a:headEnd len="sm" type="none" w="sm"/>
                      <a:tailEnd len="sm" type="none" w="sm"/>
                    </a:lnL>
                    <a:lnR cap="flat" cmpd="sng" w="9525">
                      <a:solidFill>
                        <a:srgbClr val="000000"/>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C9DAF8"/>
                    </a:solidFill>
                  </a:tcPr>
                </a:tc>
                <a:tc>
                  <a:txBody>
                    <a:bodyPr/>
                    <a:lstStyle/>
                    <a:p>
                      <a:pPr algn="l" indent="0" lvl="0" marL="0" rtl="0">
                        <a:spcBef>
                          <a:spcPts val="0"/>
                        </a:spcBef>
                        <a:spcAft>
                          <a:spcPts val="0"/>
                        </a:spcAft>
                        <a:buNone/>
                      </a:pPr>
                      <a:endParaRPr/>
                    </a:p>
                  </a:txBody>
                  <a:tcPr anchor="b" marB="19050" marL="28575" marR="28575" marT="19050">
                    <a:lnL cap="flat" cmpd="sng" w="9525">
                      <a:solidFill>
                        <a:srgbClr val="000000"/>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3"/>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4"/>
                  </a:ext>
                </a:extLst>
              </a:tr>
              <a:tr h="5048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b="1" lang="en" sz="1000">
                          <a:latin typeface="Verdana"/>
                          <a:ea typeface="Verdana"/>
                          <a:cs typeface="Verdana"/>
                          <a:sym typeface="Verdana"/>
                        </a:rPr>
                        <a:t>Total # of Commercials</a:t>
                      </a:r>
                      <a:endParaRPr b="1"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C9DAF8"/>
                    </a:solidFill>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5"/>
                  </a:ext>
                </a:extLst>
              </a:tr>
              <a:tr h="200025">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anchor="ctr"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000000"/>
                      </a:solidFill>
                      <a:prstDash val="solid"/>
                      <a:round/>
                      <a:headEnd len="sm" type="none" w="sm"/>
                      <a:tailEnd len="sm" type="none" w="sm"/>
                    </a:lnB>
                  </a:tcPr>
                </a:tc>
                <a:tc>
                  <a:txBody>
                    <a:bodyPr/>
                    <a:lstStyle/>
                    <a:p>
                      <a:pPr algn="l" indent="0" lvl="0" marL="0" rtl="0">
                        <a:spcBef>
                          <a:spcPts val="0"/>
                        </a:spcBef>
                        <a:spcAft>
                          <a:spcPts val="0"/>
                        </a:spcAft>
                        <a:buNone/>
                      </a:pPr>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Shape 467"/>
        <p:cNvGrpSpPr/>
        <p:nvPr/>
      </p:nvGrpSpPr>
      <p:grpSpPr>
        <a:xfrm>
          <a:off x="0" y="0"/>
          <a:ext cx="0" cy="0"/>
          <a:chOff x="0" y="0"/>
          <a:chExt cx="0" cy="0"/>
        </a:xfrm>
      </p:grpSpPr>
      <p:sp>
        <p:nvSpPr>
          <p:cNvPr id="468" name="Google Shape;468;p42"/>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Proposed Schedule - Plan B</a:t>
            </a:r>
            <a:endParaRPr/>
          </a:p>
        </p:txBody>
      </p:sp>
      <p:sp>
        <p:nvSpPr>
          <p:cNvPr id="469" name="Google Shape;469;p42"/>
          <p:cNvSpPr txBox="1"/>
          <p:nvPr/>
        </p:nvSpPr>
        <p:spPr>
          <a:xfrm>
            <a:off x="2257950" y="1174800"/>
            <a:ext cx="4628100" cy="6993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sz="2400">
                <a:solidFill>
                  <a:schemeClr val="dk1"/>
                </a:solidFill>
                <a:latin typeface="Verdana"/>
                <a:ea typeface="Verdana"/>
                <a:cs typeface="Verdana"/>
                <a:sym typeface="Verdana"/>
              </a:rPr>
              <a:t>clientBusinessName}}</a:t>
            </a:r>
            <a:endParaRPr b="1" sz="2400">
              <a:latin typeface="Verdana"/>
              <a:ea typeface="Verdana"/>
              <a:cs typeface="Verdana"/>
              <a:sym typeface="Verdana"/>
            </a:endParaRPr>
          </a:p>
        </p:txBody>
      </p:sp>
      <p:sp>
        <p:nvSpPr>
          <p:cNvPr id="470" name="Google Shape;470;p42"/>
          <p:cNvSpPr txBox="1"/>
          <p:nvPr/>
        </p:nvSpPr>
        <p:spPr>
          <a:xfrm>
            <a:off x="2168400" y="1759563"/>
            <a:ext cx="4807200" cy="982200"/>
          </a:xfrm>
          <a:prstGeom prst="rect">
            <a:avLst/>
          </a:prstGeom>
          <a:noFill/>
          <a:ln>
            <a:noFill/>
          </a:ln>
        </p:spPr>
        <p:txBody>
          <a:bodyPr anchor="ctr" anchorCtr="0" bIns="91425" lIns="91425" rIns="91425" spcFirstLastPara="1" tIns="91425" wrap="square">
            <a:noAutofit/>
          </a:bodyPr>
          <a:lstStyle/>
          <a:p>
            <a:pPr algn="ctr" indent="0" lvl="0" marL="0" rtl="0">
              <a:spcBef>
                <a:spcPts val="0"/>
              </a:spcBef>
              <a:spcAft>
                <a:spcPts val="0"/>
              </a:spcAft>
              <a:buNone/>
            </a:pPr>
            <a:r>
              <a:rPr b="1" lang="en" sz="2000">
                <a:solidFill>
                  <a:schemeClr val="dk1"/>
                </a:solidFill>
                <a:latin typeface="Verdana"/>
                <a:ea typeface="Verdana"/>
                <a:cs typeface="Verdana"/>
                <a:sym typeface="Verdana"/>
              </a:rPr>
              <a:t>Brand Equity Schedule </a:t>
            </a:r>
            <a:endParaRPr b="1" sz="2000">
              <a:solidFill>
                <a:schemeClr val="dk1"/>
              </a:solidFill>
              <a:latin typeface="Verdana"/>
              <a:ea typeface="Verdana"/>
              <a:cs typeface="Verdana"/>
              <a:sym typeface="Verdana"/>
            </a:endParaRPr>
          </a:p>
          <a:p>
            <a:pPr algn="ctr" indent="0" lvl="0" marL="0" rtl="0">
              <a:spcBef>
                <a:spcPts val="0"/>
              </a:spcBef>
              <a:spcAft>
                <a:spcPts val="0"/>
              </a:spcAft>
              <a:buNone/>
            </a:pPr>
            <a:r>
              <a:rPr b="1" lang="en" sz="2000">
                <a:solidFill>
                  <a:schemeClr val="dk1"/>
                </a:solidFill>
                <a:latin typeface="Verdana"/>
                <a:ea typeface="Verdana"/>
                <a:cs typeface="Verdana"/>
                <a:sym typeface="Verdana"/>
              </a:rPr>
              <a:t>Monthly Station Summary</a:t>
            </a:r>
            <a:endParaRPr b="1" sz="2000">
              <a:latin typeface="Verdana"/>
              <a:ea typeface="Verdana"/>
              <a:cs typeface="Verdana"/>
              <a:sym typeface="Verdana"/>
            </a:endParaRPr>
          </a:p>
        </p:txBody>
      </p:sp>
      <p:sp>
        <p:nvSpPr>
          <p:cNvPr id="471" name="Google Shape;471;p42"/>
          <p:cNvSpPr txBox="1"/>
          <p:nvPr/>
        </p:nvSpPr>
        <p:spPr>
          <a:xfrm>
            <a:off x="1179600" y="3067177"/>
            <a:ext cx="6784800" cy="3420600"/>
          </a:xfrm>
          <a:prstGeom prst="rect">
            <a:avLst/>
          </a:prstGeom>
          <a:noFill/>
          <a:ln>
            <a:noFill/>
          </a:ln>
        </p:spPr>
        <p:txBody>
          <a:bodyPr anchor="t" anchorCtr="0" bIns="91425" lIns="91425" rIns="91425" spcFirstLastPara="1" tIns="91425" wrap="square">
            <a:noAutofit/>
          </a:bodyPr>
          <a:lstStyle/>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planBCity}}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planBReach}}</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planBFrequency}}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planBDigitalImpressionsMonthly}}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planBMonthly}}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b="1" lang="en">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planBDaily}}</a:t>
            </a:r>
            <a:endParaRPr>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Shape 475"/>
        <p:cNvGrpSpPr/>
        <p:nvPr/>
      </p:nvGrpSpPr>
      <p:grpSpPr>
        <a:xfrm>
          <a:off x="0" y="0"/>
          <a:ext cx="0" cy="0"/>
          <a:chOff x="0" y="0"/>
          <a:chExt cx="0" cy="0"/>
        </a:xfrm>
      </p:grpSpPr>
      <p:sp>
        <p:nvSpPr>
          <p:cNvPr id="476" name="Google Shape;476;p43"/>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Break Even Analysis - Plan B</a:t>
            </a:r>
            <a:endParaRPr/>
          </a:p>
        </p:txBody>
      </p:sp>
      <p:sp>
        <p:nvSpPr>
          <p:cNvPr id="477" name="Google Shape;477;p43"/>
          <p:cNvSpPr txBox="1">
            <a:spLocks noGrp="1"/>
          </p:cNvSpPr>
          <p:nvPr>
            <p:ph idx="2" type="body"/>
          </p:nvPr>
        </p:nvSpPr>
        <p:spPr>
          <a:xfrm>
            <a:off x="7552960" y="1563625"/>
            <a:ext cx="3399900" cy="4178700"/>
          </a:xfrm>
          <a:prstGeom prst="rect">
            <a:avLst/>
          </a:prstGeom>
        </p:spPr>
        <p:txBody>
          <a:bodyPr anchor="t" anchorCtr="0" bIns="91425" lIns="91425" rIns="91425" spcFirstLastPara="1" tIns="91425" wrap="square">
            <a:noAutofit/>
          </a:bodyPr>
          <a:lstStyle/>
          <a:p>
            <a:pPr algn="l" indent="0" lvl="0" marL="0" rtl="0">
              <a:lnSpc>
                <a:spcPct val="200000"/>
              </a:lnSpc>
              <a:spcBef>
                <a:spcPts val="0"/>
              </a:spcBef>
              <a:spcAft>
                <a:spcPts val="0"/>
              </a:spcAft>
              <a:buNone/>
            </a:pPr>
            <a:r>
              <a:rPr lang="en" sz="1300" u="sng">
                <a:solidFill>
                  <a:srgbClr val="000000"/>
                </a:solidFill>
                <a:latin typeface="Verdana"/>
                <a:ea typeface="Verdana"/>
                <a:cs typeface="Verdana"/>
                <a:sym typeface="Verdana"/>
              </a:rPr>
              <a:t>planBAverageSale}}</a:t>
            </a:r>
            <a:endParaRPr sz="1300" u="sng">
              <a:solidFill>
                <a:srgbClr val="000000"/>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planBGrossMargin}}</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planBClosingPct}}</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planBProspectValue}}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planBProspectsNeeded}}</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planBProspectSalesNeeded}}</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planBGrossProfitOnSales}}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planBMonths}}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planBAdditionalGrossSales}}</a:t>
            </a:r>
            <a:endParaRPr sz="1300" u="sng">
              <a:solidFill>
                <a:schemeClr val="dk1"/>
              </a:solidFill>
              <a:latin typeface="Verdana"/>
              <a:ea typeface="Verdana"/>
              <a:cs typeface="Verdana"/>
              <a:sym typeface="Verdana"/>
            </a:endParaRPr>
          </a:p>
        </p:txBody>
      </p:sp>
      <p:sp>
        <p:nvSpPr>
          <p:cNvPr id="478" name="Google Shape;478;p43"/>
          <p:cNvSpPr txBox="1"/>
          <p:nvPr/>
        </p:nvSpPr>
        <p:spPr>
          <a:xfrm>
            <a:off x="347250" y="1566890"/>
            <a:ext cx="7206000" cy="4181400"/>
          </a:xfrm>
          <a:prstGeom prst="rect">
            <a:avLst/>
          </a:prstGeom>
          <a:noFill/>
          <a:ln>
            <a:noFill/>
          </a:ln>
        </p:spPr>
        <p:txBody>
          <a:bodyPr anchor="t" anchorCtr="0" bIns="91425" lIns="91425" rIns="91425" spcFirstLastPara="1" tIns="91425" wrap="square">
            <a:noAutofit/>
          </a:bodyPr>
          <a:lstStyle/>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Average sale (ticket, transaction, invoice)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Gross profit margin on average sale (sale less closing costs)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Closing or conversion rate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Projected prospect value (=A*B*C)=</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Client base monthly advertising investment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prospects needed to pay for advertising  investment (=E/D)=</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 of sales from prospects needed to break even (=F*C)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Gross sales per month needed to break even (=G*A)=</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Number of months to run </a:t>
            </a:r>
            <a:r>
              <a:rPr b="1" lang="en" sz="1300">
                <a:latin typeface="Verdana"/>
                <a:ea typeface="Verdana"/>
                <a:cs typeface="Verdana"/>
                <a:sym typeface="Verdana"/>
              </a:rPr>
              <a:t>in </a:t>
            </a:r>
            <a:r>
              <a:rPr b="1" lang="en" sz="1300">
                <a:solidFill>
                  <a:srgbClr val="000000"/>
                </a:solidFill>
                <a:latin typeface="Verdana"/>
                <a:ea typeface="Verdana"/>
                <a:cs typeface="Verdana"/>
                <a:sym typeface="Verdana"/>
              </a:rPr>
              <a:t>proposed marketing plan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Additional gross sales per year needed to break even (=H*I)= </a:t>
            </a:r>
            <a:endParaRPr b="1" sz="1300">
              <a:solidFill>
                <a:srgbClr val="000000"/>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Shape 482"/>
        <p:cNvGrpSpPr/>
        <p:nvPr/>
      </p:nvGrpSpPr>
      <p:grpSpPr>
        <a:xfrm>
          <a:off x="0" y="0"/>
          <a:ext cx="0" cy="0"/>
          <a:chOff x="0" y="0"/>
          <a:chExt cx="0" cy="0"/>
        </a:xfrm>
      </p:grpSpPr>
      <p:sp>
        <p:nvSpPr>
          <p:cNvPr id="483" name="Google Shape;483;p44"/>
          <p:cNvSpPr txBox="1">
            <a:spLocks noGrp="1"/>
          </p:cNvSpPr>
          <p:nvPr>
            <p:ph type="ctrTitle"/>
          </p:nvPr>
        </p:nvSpPr>
        <p:spPr>
          <a:xfrm>
            <a:off x="346800" y="475500"/>
            <a:ext cx="84504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Lifetime Value Analysis - Plan B</a:t>
            </a:r>
            <a:endParaRPr/>
          </a:p>
        </p:txBody>
      </p:sp>
      <p:sp>
        <p:nvSpPr>
          <p:cNvPr id="484" name="Google Shape;484;p44"/>
          <p:cNvSpPr txBox="1">
            <a:spLocks noGrp="1"/>
          </p:cNvSpPr>
          <p:nvPr>
            <p:ph idx="2" type="body"/>
          </p:nvPr>
        </p:nvSpPr>
        <p:spPr>
          <a:xfrm>
            <a:off x="7552950" y="1773925"/>
            <a:ext cx="3638400" cy="3766800"/>
          </a:xfrm>
          <a:prstGeom prst="rect">
            <a:avLst/>
          </a:prstGeom>
        </p:spPr>
        <p:txBody>
          <a:bodyPr anchor="t" anchorCtr="0" bIns="91425" lIns="91425" rIns="91425" spcFirstLastPara="1" tIns="91425" wrap="square">
            <a:noAutofit/>
          </a:bodyPr>
          <a:lstStyle/>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b_averageSale}}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b_grossProfitMargin}}</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b_grossProfitPerSale}}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b_averageRepeatSales}}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b_averageCustomerValue}}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b_yearsOfPatronage}}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b_lifetimeValuePerCustomer}}</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b_prospectsNeededToBreakEven}}</a:t>
            </a:r>
            <a:endParaRPr sz="1300">
              <a:solidFill>
                <a:srgbClr val="000000"/>
              </a:solidFill>
              <a:latin typeface="Verdana"/>
              <a:ea typeface="Verdana"/>
              <a:cs typeface="Verdana"/>
              <a:sym typeface="Verdana"/>
            </a:endParaRPr>
          </a:p>
        </p:txBody>
      </p:sp>
      <p:sp>
        <p:nvSpPr>
          <p:cNvPr id="485" name="Google Shape;485;p44"/>
          <p:cNvSpPr txBox="1">
            <a:spLocks noGrp="1"/>
          </p:cNvSpPr>
          <p:nvPr>
            <p:ph idx="2" type="body"/>
          </p:nvPr>
        </p:nvSpPr>
        <p:spPr>
          <a:xfrm>
            <a:off x="347550" y="1774199"/>
            <a:ext cx="7205400" cy="3766800"/>
          </a:xfrm>
          <a:prstGeom prst="rect">
            <a:avLst/>
          </a:prstGeom>
        </p:spPr>
        <p:txBody>
          <a:bodyPr anchor="t" anchorCtr="0" bIns="91425" lIns="91425" rIns="91425" spcFirstLastPara="1" tIns="91425" wrap="square">
            <a:noAutofit/>
          </a:bodyPr>
          <a:lstStyle/>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Average sale (ticket, transaction, invoice)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Times gross profit margin on average sale (sale less variable costs)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Equals gross profit per average sale (A*B)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Times the average repeat sales per year (per customer/client)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Equals the average customer/client value per year (C*D)=</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Times the average number of years of patronage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Equals the lifetime value of one customer/client (E*F)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So if your base monthly advertising investment averages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Then monthly customers/clients needed to break even (H/G)=</a:t>
            </a:r>
            <a:endParaRPr b="1" sz="1300">
              <a:solidFill>
                <a:srgbClr val="000000"/>
              </a:solidFill>
              <a:latin typeface="Verdana"/>
              <a:ea typeface="Verdana"/>
              <a:cs typeface="Verdana"/>
              <a:sym typeface="Verdana"/>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Shape 489"/>
        <p:cNvGrpSpPr/>
        <p:nvPr/>
      </p:nvGrpSpPr>
      <p:grpSpPr>
        <a:xfrm>
          <a:off x="0" y="0"/>
          <a:ext cx="0" cy="0"/>
          <a:chOff x="0" y="0"/>
          <a:chExt cx="0" cy="0"/>
        </a:xfrm>
      </p:grpSpPr>
      <p:sp>
        <p:nvSpPr>
          <p:cNvPr id="490" name="Google Shape;490;p45"/>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Digital ROI Calculator - Plan B</a:t>
            </a:r>
            <a:endParaRPr/>
          </a:p>
        </p:txBody>
      </p:sp>
      <p:sp>
        <p:nvSpPr>
          <p:cNvPr id="491" name="Google Shape;491;p45"/>
          <p:cNvSpPr txBox="1">
            <a:spLocks noGrp="1"/>
          </p:cNvSpPr>
          <p:nvPr>
            <p:ph idx="2" type="body"/>
          </p:nvPr>
        </p:nvSpPr>
        <p:spPr>
          <a:xfrm>
            <a:off x="7132320" y="1453896"/>
            <a:ext cx="1243500" cy="5193900"/>
          </a:xfrm>
          <a:prstGeom prst="rect">
            <a:avLst/>
          </a:prstGeom>
        </p:spPr>
        <p:txBody>
          <a:bodyPr anchor="t" anchorCtr="0" bIns="91425" lIns="91425" rIns="91425" spcFirstLastPara="1" tIns="91425" wrap="square">
            <a:noAutofit/>
          </a:bodyPr>
          <a:lstStyle/>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planBMonthlyDigitalInvestment}}</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planBCostPerThousand}}</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planBClosingPctNumber}}</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planBClickThroughRate}}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planBMonthlyClicks}}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planBCostPerClicks}}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planBSalesConversionPercentage}}</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planBMonthlyConversions}}</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planBCostPerConversion}}</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planBProjectedGrossProfit}}</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planBMonthlyGrossProfit}}</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None/>
            </a:pPr>
            <a:r>
              <a:rPr lang="en" sz="1300" u="sng">
                <a:solidFill>
                  <a:schemeClr val="dk1"/>
                </a:solidFill>
                <a:latin typeface="Verdana"/>
                <a:ea typeface="Verdana"/>
                <a:cs typeface="Verdana"/>
                <a:sym typeface="Verdana"/>
              </a:rPr>
              <a:t>planBMonthlyROID}}</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planBMonthlyROIP}}</a:t>
            </a:r>
            <a:endParaRPr sz="1300" u="sng">
              <a:solidFill>
                <a:schemeClr val="dk1"/>
              </a:solidFill>
              <a:latin typeface="Verdana"/>
              <a:ea typeface="Verdana"/>
              <a:cs typeface="Verdana"/>
              <a:sym typeface="Verdana"/>
            </a:endParaRPr>
          </a:p>
          <a:p>
            <a:pPr algn="l" indent="0" lvl="0" marL="0" rtl="0">
              <a:lnSpc>
                <a:spcPct val="200000"/>
              </a:lnSpc>
              <a:spcBef>
                <a:spcPts val="0"/>
              </a:spcBef>
              <a:spcAft>
                <a:spcPts val="1600"/>
              </a:spcAft>
              <a:buNone/>
            </a:pPr>
            <a:endParaRPr sz="1300">
              <a:solidFill>
                <a:srgbClr val="000000"/>
              </a:solidFill>
              <a:latin typeface="Verdana"/>
              <a:ea typeface="Verdana"/>
              <a:cs typeface="Verdana"/>
              <a:sym typeface="Verdana"/>
            </a:endParaRPr>
          </a:p>
        </p:txBody>
      </p:sp>
      <p:sp>
        <p:nvSpPr>
          <p:cNvPr id="492" name="Google Shape;492;p45"/>
          <p:cNvSpPr txBox="1">
            <a:spLocks noGrp="1"/>
          </p:cNvSpPr>
          <p:nvPr>
            <p:ph idx="2" type="body"/>
          </p:nvPr>
        </p:nvSpPr>
        <p:spPr>
          <a:xfrm>
            <a:off x="772638" y="1453125"/>
            <a:ext cx="6355200" cy="5192700"/>
          </a:xfrm>
          <a:prstGeom prst="rect">
            <a:avLst/>
          </a:prstGeom>
        </p:spPr>
        <p:txBody>
          <a:bodyPr anchor="t" anchorCtr="0" bIns="91425" lIns="91425" rIns="91425" spcFirstLastPara="1" tIns="91425" wrap="square">
            <a:noAutofit/>
          </a:bodyPr>
          <a:lstStyle/>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Digital Investment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Cost Per Thousand (CPM)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Impressions (=A/B*1,000)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Click Through Rate (.01%, .1%, etc)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 clicks (=C*D)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Cost Per Click (=A/E)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Sales Conversion Percentage (2%, 10%, etc)=</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Number of Conversions (E*G)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Cost Per Conversion (A/H)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Projected Gross Profit Per Conversion ($100, $1,000, etc.)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Gross </a:t>
            </a:r>
            <a:r>
              <a:rPr b="1" lang="en" sz="1300">
                <a:solidFill>
                  <a:srgbClr val="000000"/>
                </a:solidFill>
              </a:rPr>
              <a:t>P</a:t>
            </a:r>
            <a:r>
              <a:rPr b="1" lang="en" sz="1300">
                <a:solidFill>
                  <a:srgbClr val="000000"/>
                </a:solidFill>
                <a:latin typeface="Verdana"/>
                <a:ea typeface="Verdana"/>
                <a:cs typeface="Verdana"/>
                <a:sym typeface="Verdana"/>
              </a:rPr>
              <a:t>rofit Generated from all Conversions (H*J)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$Monthly Return on Investment (K-A) =</a:t>
            </a:r>
            <a:endParaRPr b="1" sz="1300">
              <a:solidFill>
                <a:srgbClr val="000000"/>
              </a:solidFill>
              <a:latin typeface="Verdana"/>
              <a:ea typeface="Verdana"/>
              <a:cs typeface="Verdana"/>
              <a:sym typeface="Verdana"/>
            </a:endParaRPr>
          </a:p>
          <a:p>
            <a:pPr algn="r" indent="-311150" lvl="0" marL="457200" rtl="0">
              <a:lnSpc>
                <a:spcPct val="200000"/>
              </a:lnSpc>
              <a:spcBef>
                <a:spcPts val="0"/>
              </a:spcBef>
              <a:spcAft>
                <a:spcPts val="0"/>
              </a:spcAft>
              <a:buClr>
                <a:srgbClr val="000000"/>
              </a:buClr>
              <a:buSzPts val="1300"/>
              <a:buFont typeface="Verdana"/>
              <a:buAutoNum type="alphaUcPeriod"/>
            </a:pPr>
            <a:r>
              <a:rPr b="1" lang="en" sz="1300">
                <a:solidFill>
                  <a:srgbClr val="000000"/>
                </a:solidFill>
                <a:latin typeface="Verdana"/>
                <a:ea typeface="Verdana"/>
                <a:cs typeface="Verdana"/>
                <a:sym typeface="Verdana"/>
              </a:rPr>
              <a:t>% Monthly Return on Investment (L/A) = </a:t>
            </a:r>
            <a:endParaRPr b="1" sz="1300">
              <a:solidFill>
                <a:srgbClr val="000000"/>
              </a:solidFill>
              <a:latin typeface="Verdana"/>
              <a:ea typeface="Verdana"/>
              <a:cs typeface="Verdana"/>
              <a:sym typeface="Verdana"/>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Shape 496"/>
        <p:cNvGrpSpPr/>
        <p:nvPr/>
      </p:nvGrpSpPr>
      <p:grpSpPr>
        <a:xfrm>
          <a:off x="0" y="0"/>
          <a:ext cx="0" cy="0"/>
          <a:chOff x="0" y="0"/>
          <a:chExt cx="0" cy="0"/>
        </a:xfrm>
      </p:grpSpPr>
      <p:sp>
        <p:nvSpPr>
          <p:cNvPr id="497" name="Google Shape;497;p46"/>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Plan A</a:t>
            </a:r>
            <a:endParaRPr/>
          </a:p>
        </p:txBody>
      </p:sp>
      <p:sp>
        <p:nvSpPr>
          <p:cNvPr id="498" name="Google Shape;498;p46"/>
          <p:cNvSpPr txBox="1">
            <a:spLocks noGrp="1"/>
          </p:cNvSpPr>
          <p:nvPr>
            <p:ph idx="1" type="body"/>
          </p:nvPr>
        </p:nvSpPr>
        <p:spPr>
          <a:xfrm>
            <a:off x="489950" y="1170432"/>
            <a:ext cx="8181900" cy="1623900"/>
          </a:xfrm>
          <a:prstGeom prst="rect">
            <a:avLst/>
          </a:prstGeom>
        </p:spPr>
        <p:txBody>
          <a:bodyPr anchor="t" anchorCtr="0" bIns="91425" lIns="91425" rIns="91425" spcFirstLastPara="1" tIns="91425" wrap="square">
            <a:noAutofit/>
          </a:bodyPr>
          <a:lstStyle/>
          <a:p>
            <a:pPr algn="l" indent="0" lvl="0" marL="0" rtl="0">
              <a:lnSpc>
                <a:spcPct val="150000"/>
              </a:lnSpc>
              <a:spcBef>
                <a:spcPts val="0"/>
              </a:spcBef>
              <a:spcAft>
                <a:spcPts val="0"/>
              </a:spcAft>
              <a:buNone/>
            </a:pPr>
            <a:r>
              <a:rPr lang="en" sz="1150">
                <a:solidFill>
                  <a:srgbClr val="000000"/>
                </a:solidFill>
                <a:latin typeface="Verdana"/>
                <a:ea typeface="Verdana"/>
                <a:cs typeface="Verdana"/>
                <a:sym typeface="Verdana"/>
              </a:rPr>
              <a:t>For the benefit of the client, </a:t>
            </a:r>
            <a:r>
              <a:rPr b="1" lang="en" sz="1150">
                <a:solidFill>
                  <a:srgbClr val="000000"/>
                </a:solidFill>
                <a:latin typeface="Verdana"/>
                <a:ea typeface="Verdana"/>
                <a:cs typeface="Verdana"/>
                <a:sym typeface="Verdana"/>
              </a:rPr>
              <a:t>station}} </a:t>
            </a:r>
            <a:r>
              <a:rPr lang="en" sz="1150">
                <a:solidFill>
                  <a:srgbClr val="000000"/>
                </a:solidFill>
                <a:latin typeface="Verdana"/>
                <a:ea typeface="Verdana"/>
                <a:cs typeface="Verdana"/>
                <a:sym typeface="Verdana"/>
              </a:rPr>
              <a:t>agrees to develop a marketing strategy to help:</a:t>
            </a:r>
            <a:endParaRPr sz="1150">
              <a:solidFill>
                <a:srgbClr val="000000"/>
              </a:solidFill>
              <a:latin typeface="Verdana"/>
              <a:ea typeface="Verdana"/>
              <a:cs typeface="Verdana"/>
              <a:sym typeface="Verdana"/>
            </a:endParaRPr>
          </a:p>
          <a:p>
            <a:pPr algn="l" indent="-301625" lvl="0" marL="457200"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Initiate Cause Marketing Program</a:t>
            </a:r>
            <a:endParaRPr sz="1150">
              <a:solidFill>
                <a:srgbClr val="000000"/>
              </a:solidFill>
              <a:latin typeface="Verdana"/>
              <a:ea typeface="Verdana"/>
              <a:cs typeface="Verdana"/>
              <a:sym typeface="Verdana"/>
            </a:endParaRPr>
          </a:p>
          <a:p>
            <a:pPr algn="l" indent="-301625" lvl="0" marL="457200"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Tech Recruitment</a:t>
            </a:r>
            <a:endParaRPr sz="1150">
              <a:solidFill>
                <a:srgbClr val="000000"/>
              </a:solidFill>
              <a:latin typeface="Verdana"/>
              <a:ea typeface="Verdana"/>
              <a:cs typeface="Verdana"/>
              <a:sym typeface="Verdana"/>
            </a:endParaRPr>
          </a:p>
          <a:p>
            <a:pPr algn="l" indent="-301625" lvl="0" marL="457200"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Expand Target Consumers (by age, sex, geography)</a:t>
            </a:r>
            <a:endParaRPr sz="1150">
              <a:solidFill>
                <a:srgbClr val="000000"/>
              </a:solidFill>
              <a:latin typeface="Verdana"/>
              <a:ea typeface="Verdana"/>
              <a:cs typeface="Verdana"/>
              <a:sym typeface="Verdana"/>
            </a:endParaRPr>
          </a:p>
          <a:p>
            <a:pPr algn="l" indent="0" lvl="0" marL="0" rtl="0">
              <a:lnSpc>
                <a:spcPct val="150000"/>
              </a:lnSpc>
              <a:spcBef>
                <a:spcPts val="0"/>
              </a:spcBef>
              <a:spcAft>
                <a:spcPts val="0"/>
              </a:spcAft>
              <a:buNone/>
            </a:pPr>
            <a:r>
              <a:rPr lang="en" sz="1150">
                <a:solidFill>
                  <a:srgbClr val="000000"/>
                </a:solidFill>
                <a:latin typeface="Verdana"/>
                <a:ea typeface="Verdana"/>
                <a:cs typeface="Verdana"/>
                <a:sym typeface="Verdana"/>
              </a:rPr>
              <a:t>In return for fulfilling stated goals </a:t>
            </a:r>
            <a:r>
              <a:rPr lang="en">
                <a:solidFill>
                  <a:srgbClr val="000000"/>
                </a:solidFill>
              </a:rPr>
              <a:t>clientBusinessName}}</a:t>
            </a:r>
            <a:r>
              <a:rPr lang="en" sz="1150">
                <a:solidFill>
                  <a:srgbClr val="000000"/>
                </a:solidFill>
                <a:latin typeface="Verdana"/>
                <a:ea typeface="Verdana"/>
                <a:cs typeface="Verdana"/>
                <a:sym typeface="Verdana"/>
              </a:rPr>
              <a:t> agrees to invest in the following long-term plan:</a:t>
            </a:r>
            <a:endParaRPr sz="1150">
              <a:solidFill>
                <a:srgbClr val="000000"/>
              </a:solidFill>
              <a:latin typeface="Verdana"/>
              <a:ea typeface="Verdana"/>
              <a:cs typeface="Verdana"/>
              <a:sym typeface="Verdana"/>
            </a:endParaRPr>
          </a:p>
        </p:txBody>
      </p:sp>
      <p:sp>
        <p:nvSpPr>
          <p:cNvPr id="499" name="Google Shape;499;p46"/>
          <p:cNvSpPr txBox="1">
            <a:spLocks noGrp="1"/>
          </p:cNvSpPr>
          <p:nvPr>
            <p:ph idx="1" type="body"/>
          </p:nvPr>
        </p:nvSpPr>
        <p:spPr>
          <a:xfrm>
            <a:off x="356838" y="4184975"/>
            <a:ext cx="8430300" cy="699300"/>
          </a:xfrm>
          <a:prstGeom prst="rect">
            <a:avLst/>
          </a:prstGeom>
        </p:spPr>
        <p:txBody>
          <a:bodyPr anchor="ctr" anchorCtr="0" bIns="91425" lIns="91425" rIns="91425" spcFirstLastPara="1" tIns="91425" wrap="square">
            <a:noAutofit/>
          </a:bodyPr>
          <a:lstStyle/>
          <a:p>
            <a:pPr algn="l" indent="0" lvl="0" marL="0" rtl="0">
              <a:spcBef>
                <a:spcPts val="0"/>
              </a:spcBef>
              <a:spcAft>
                <a:spcPts val="0"/>
              </a:spcAft>
              <a:buNone/>
            </a:pPr>
            <a:r>
              <a:rPr b="1" lang="en" sz="800">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b="1" sz="1050">
              <a:solidFill>
                <a:srgbClr val="000000"/>
              </a:solidFill>
              <a:latin typeface="Verdana"/>
              <a:ea typeface="Verdana"/>
              <a:cs typeface="Verdana"/>
              <a:sym typeface="Verdana"/>
            </a:endParaRPr>
          </a:p>
        </p:txBody>
      </p:sp>
      <p:sp>
        <p:nvSpPr>
          <p:cNvPr id="500" name="Google Shape;500;p46"/>
          <p:cNvSpPr txBox="1">
            <a:spLocks noGrp="1"/>
          </p:cNvSpPr>
          <p:nvPr>
            <p:ph idx="1" type="body"/>
          </p:nvPr>
        </p:nvSpPr>
        <p:spPr>
          <a:xfrm>
            <a:off x="356563" y="4799225"/>
            <a:ext cx="2337600" cy="3669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400" u="sng">
                <a:solidFill>
                  <a:srgbClr val="000000"/>
                </a:solidFill>
                <a:latin typeface="Verdana"/>
                <a:ea typeface="Verdana"/>
                <a:cs typeface="Verdana"/>
                <a:sym typeface="Verdana"/>
              </a:rPr>
              <a:t>Analysis of Schedule:</a:t>
            </a:r>
            <a:endParaRPr b="1" sz="1400" u="sng">
              <a:solidFill>
                <a:srgbClr val="000000"/>
              </a:solidFill>
              <a:latin typeface="Verdana"/>
              <a:ea typeface="Verdana"/>
              <a:cs typeface="Verdana"/>
              <a:sym typeface="Verdana"/>
            </a:endParaRPr>
          </a:p>
        </p:txBody>
      </p:sp>
      <p:sp>
        <p:nvSpPr>
          <p:cNvPr id="501" name="Google Shape;501;p46"/>
          <p:cNvSpPr txBox="1">
            <a:spLocks noGrp="1"/>
          </p:cNvSpPr>
          <p:nvPr>
            <p:ph idx="1" type="body"/>
          </p:nvPr>
        </p:nvSpPr>
        <p:spPr>
          <a:xfrm>
            <a:off x="356563" y="5166125"/>
            <a:ext cx="4292400" cy="3669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02" name="Google Shape;502;p46"/>
          <p:cNvSpPr txBox="1">
            <a:spLocks noGrp="1"/>
          </p:cNvSpPr>
          <p:nvPr>
            <p:ph idx="1" type="body"/>
          </p:nvPr>
        </p:nvSpPr>
        <p:spPr>
          <a:xfrm>
            <a:off x="356563" y="5533025"/>
            <a:ext cx="4292400" cy="3669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03" name="Google Shape;503;p46"/>
          <p:cNvSpPr txBox="1">
            <a:spLocks noGrp="1"/>
          </p:cNvSpPr>
          <p:nvPr>
            <p:ph idx="1" type="body"/>
          </p:nvPr>
        </p:nvSpPr>
        <p:spPr>
          <a:xfrm>
            <a:off x="2416613" y="5914100"/>
            <a:ext cx="4292400" cy="366900"/>
          </a:xfrm>
          <a:prstGeom prst="rect">
            <a:avLst/>
          </a:prstGeom>
        </p:spPr>
        <p:txBody>
          <a:bodyPr anchor="t" anchorCtr="0" bIns="91425" lIns="91425" rIns="91425" spcFirstLastPara="1" tIns="91425" wrap="square">
            <a:noAutofit/>
          </a:bodyPr>
          <a:lstStyle/>
          <a:p>
            <a:pPr algn="ctr" indent="0" lvl="0" marL="0"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04" name="Google Shape;504;p46"/>
          <p:cNvCxnSpPr/>
          <p:nvPr/>
        </p:nvCxnSpPr>
        <p:spPr>
          <a:xfrm>
            <a:off x="495825" y="6613975"/>
            <a:ext cx="3657600" cy="0"/>
          </a:xfrm>
          <a:prstGeom prst="straightConnector1">
            <a:avLst/>
          </a:prstGeom>
          <a:noFill/>
          <a:ln cap="flat" cmpd="sng" w="19050">
            <a:solidFill>
              <a:srgbClr val="000000"/>
            </a:solidFill>
            <a:prstDash val="solid"/>
            <a:round/>
            <a:headEnd len="med" type="none" w="med"/>
            <a:tailEnd len="med" type="none" w="med"/>
          </a:ln>
        </p:spPr>
      </p:cxnSp>
      <p:cxnSp>
        <p:nvCxnSpPr>
          <p:cNvPr id="505" name="Google Shape;505;p46"/>
          <p:cNvCxnSpPr/>
          <p:nvPr/>
        </p:nvCxnSpPr>
        <p:spPr>
          <a:xfrm>
            <a:off x="4972200" y="6613975"/>
            <a:ext cx="3657600" cy="0"/>
          </a:xfrm>
          <a:prstGeom prst="straightConnector1">
            <a:avLst/>
          </a:prstGeom>
          <a:noFill/>
          <a:ln cap="flat" cmpd="sng" w="19050">
            <a:solidFill>
              <a:srgbClr val="000000"/>
            </a:solidFill>
            <a:prstDash val="solid"/>
            <a:round/>
            <a:headEnd len="med" type="none" w="med"/>
            <a:tailEnd len="med" type="none" w="med"/>
          </a:ln>
        </p:spPr>
      </p:cxnSp>
      <p:sp>
        <p:nvSpPr>
          <p:cNvPr id="506" name="Google Shape;506;p46"/>
          <p:cNvSpPr txBox="1"/>
          <p:nvPr/>
        </p:nvSpPr>
        <p:spPr>
          <a:xfrm>
            <a:off x="495838" y="6544400"/>
            <a:ext cx="1232400" cy="361800"/>
          </a:xfrm>
          <a:prstGeom prst="rect">
            <a:avLst/>
          </a:prstGeom>
          <a:noFill/>
          <a:ln>
            <a:noFill/>
          </a:ln>
        </p:spPr>
        <p:txBody>
          <a:bodyPr anchor="t" anchorCtr="0" bIns="91425" lIns="91425" rIns="91425" spcFirstLastPara="1" tIns="91425" wrap="square">
            <a:spAutoFit/>
          </a:bodyPr>
          <a:lstStyle/>
          <a:p>
            <a:pPr algn="l" indent="0" lvl="0" marL="0"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7" name="Google Shape;507;p46"/>
          <p:cNvSpPr txBox="1"/>
          <p:nvPr/>
        </p:nvSpPr>
        <p:spPr>
          <a:xfrm>
            <a:off x="4972213" y="6544400"/>
            <a:ext cx="1232400" cy="361800"/>
          </a:xfrm>
          <a:prstGeom prst="rect">
            <a:avLst/>
          </a:prstGeom>
          <a:noFill/>
          <a:ln>
            <a:noFill/>
          </a:ln>
        </p:spPr>
        <p:txBody>
          <a:bodyPr anchor="t" anchorCtr="0" bIns="91425" lIns="91425" rIns="91425" spcFirstLastPara="1" tIns="91425" wrap="square">
            <a:spAutoFit/>
          </a:bodyPr>
          <a:lstStyle/>
          <a:p>
            <a:pPr algn="l" indent="0" lvl="0" marL="0"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8" name="Google Shape;508;p46"/>
          <p:cNvSpPr txBox="1"/>
          <p:nvPr/>
        </p:nvSpPr>
        <p:spPr>
          <a:xfrm>
            <a:off x="3581918" y="6544400"/>
            <a:ext cx="571500" cy="361800"/>
          </a:xfrm>
          <a:prstGeom prst="rect">
            <a:avLst/>
          </a:prstGeom>
          <a:noFill/>
          <a:ln>
            <a:noFill/>
          </a:ln>
        </p:spPr>
        <p:txBody>
          <a:bodyPr anchor="t" anchorCtr="0" bIns="91425" lIns="91425" rIns="91425" spcFirstLastPara="1" tIns="91425" wrap="square">
            <a:spAutoFit/>
          </a:bodyPr>
          <a:lstStyle/>
          <a:p>
            <a:pPr algn="ctr" indent="0" lvl="0" marL="0"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09" name="Google Shape;509;p46"/>
          <p:cNvSpPr txBox="1"/>
          <p:nvPr/>
        </p:nvSpPr>
        <p:spPr>
          <a:xfrm>
            <a:off x="8058293" y="6544400"/>
            <a:ext cx="571500" cy="361800"/>
          </a:xfrm>
          <a:prstGeom prst="rect">
            <a:avLst/>
          </a:prstGeom>
          <a:noFill/>
          <a:ln>
            <a:noFill/>
          </a:ln>
        </p:spPr>
        <p:txBody>
          <a:bodyPr anchor="t" anchorCtr="0" bIns="91425" lIns="91425" rIns="91425" spcFirstLastPara="1" tIns="91425" wrap="square">
            <a:spAutoFit/>
          </a:bodyPr>
          <a:lstStyle/>
          <a:p>
            <a:pPr algn="ctr" indent="0" lvl="0" marL="0"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graphicFrame>
        <p:nvGraphicFramePr>
          <p:cNvPr id="510" name="Google Shape;510;p46"/>
          <p:cNvGraphicFramePr/>
          <p:nvPr/>
        </p:nvGraphicFramePr>
        <p:xfrm>
          <a:off x="297400" y="2615775"/>
          <a:ext cx="8374450" cy="1493450"/>
        </p:xfrm>
        <a:graphic>
          <a:graphicData uri="http://schemas.openxmlformats.org/drawingml/2006/table">
            <a:tbl>
              <a:tblPr>
                <a:noFill/>
                <a:tableStyleId>{CFB75FC7-DD7D-40D8-B2B2-EE4B611A8D2E}</a:tableStyleId>
              </a:tblPr>
              <a:tblGrid>
                <a:gridCol w="598175">
                  <a:extLst>
                    <a:ext uri="{9D8B030D-6E8A-4147-A177-3AD203B41FA5}">
                      <a16:colId xmlns:a16="http://schemas.microsoft.com/office/drawing/2014/main" val="20000"/>
                    </a:ext>
                  </a:extLst>
                </a:gridCol>
                <a:gridCol w="598175">
                  <a:extLst>
                    <a:ext uri="{9D8B030D-6E8A-4147-A177-3AD203B41FA5}">
                      <a16:colId xmlns:a16="http://schemas.microsoft.com/office/drawing/2014/main" val="20001"/>
                    </a:ext>
                  </a:extLst>
                </a:gridCol>
                <a:gridCol w="598175">
                  <a:extLst>
                    <a:ext uri="{9D8B030D-6E8A-4147-A177-3AD203B41FA5}">
                      <a16:colId xmlns:a16="http://schemas.microsoft.com/office/drawing/2014/main" val="20002"/>
                    </a:ext>
                  </a:extLst>
                </a:gridCol>
                <a:gridCol w="598175">
                  <a:extLst>
                    <a:ext uri="{9D8B030D-6E8A-4147-A177-3AD203B41FA5}">
                      <a16:colId xmlns:a16="http://schemas.microsoft.com/office/drawing/2014/main" val="20003"/>
                    </a:ext>
                  </a:extLst>
                </a:gridCol>
                <a:gridCol w="598175">
                  <a:extLst>
                    <a:ext uri="{9D8B030D-6E8A-4147-A177-3AD203B41FA5}">
                      <a16:colId xmlns:a16="http://schemas.microsoft.com/office/drawing/2014/main" val="20004"/>
                    </a:ext>
                  </a:extLst>
                </a:gridCol>
                <a:gridCol w="598175">
                  <a:extLst>
                    <a:ext uri="{9D8B030D-6E8A-4147-A177-3AD203B41FA5}">
                      <a16:colId xmlns:a16="http://schemas.microsoft.com/office/drawing/2014/main" val="20005"/>
                    </a:ext>
                  </a:extLst>
                </a:gridCol>
                <a:gridCol w="598175">
                  <a:extLst>
                    <a:ext uri="{9D8B030D-6E8A-4147-A177-3AD203B41FA5}">
                      <a16:colId xmlns:a16="http://schemas.microsoft.com/office/drawing/2014/main" val="20006"/>
                    </a:ext>
                  </a:extLst>
                </a:gridCol>
                <a:gridCol w="598175">
                  <a:extLst>
                    <a:ext uri="{9D8B030D-6E8A-4147-A177-3AD203B41FA5}">
                      <a16:colId xmlns:a16="http://schemas.microsoft.com/office/drawing/2014/main" val="20007"/>
                    </a:ext>
                  </a:extLst>
                </a:gridCol>
                <a:gridCol w="598175">
                  <a:extLst>
                    <a:ext uri="{9D8B030D-6E8A-4147-A177-3AD203B41FA5}">
                      <a16:colId xmlns:a16="http://schemas.microsoft.com/office/drawing/2014/main" val="20008"/>
                    </a:ext>
                  </a:extLst>
                </a:gridCol>
                <a:gridCol w="598175">
                  <a:extLst>
                    <a:ext uri="{9D8B030D-6E8A-4147-A177-3AD203B41FA5}">
                      <a16:colId xmlns:a16="http://schemas.microsoft.com/office/drawing/2014/main" val="20009"/>
                    </a:ext>
                  </a:extLst>
                </a:gridCol>
                <a:gridCol w="598175">
                  <a:extLst>
                    <a:ext uri="{9D8B030D-6E8A-4147-A177-3AD203B41FA5}">
                      <a16:colId xmlns:a16="http://schemas.microsoft.com/office/drawing/2014/main" val="20010"/>
                    </a:ext>
                  </a:extLst>
                </a:gridCol>
                <a:gridCol w="598175">
                  <a:extLst>
                    <a:ext uri="{9D8B030D-6E8A-4147-A177-3AD203B41FA5}">
                      <a16:colId xmlns:a16="http://schemas.microsoft.com/office/drawing/2014/main" val="20011"/>
                    </a:ext>
                  </a:extLst>
                </a:gridCol>
                <a:gridCol w="598175">
                  <a:extLst>
                    <a:ext uri="{9D8B030D-6E8A-4147-A177-3AD203B41FA5}">
                      <a16:colId xmlns:a16="http://schemas.microsoft.com/office/drawing/2014/main" val="20012"/>
                    </a:ext>
                  </a:extLst>
                </a:gridCol>
                <a:gridCol w="598175">
                  <a:extLst>
                    <a:ext uri="{9D8B030D-6E8A-4147-A177-3AD203B41FA5}">
                      <a16:colId xmlns:a16="http://schemas.microsoft.com/office/drawing/2014/main" val="20013"/>
                    </a:ext>
                  </a:extLst>
                </a:gridCol>
              </a:tblGrid>
              <a:tr h="309400">
                <a:tc>
                  <a:txBody>
                    <a:bodyPr/>
                    <a:lstStyle/>
                    <a:p>
                      <a:pPr algn="ctr" indent="0" lvl="0" marL="0" rtl="0">
                        <a:lnSpc>
                          <a:spcPct val="115000"/>
                        </a:lnSpc>
                        <a:spcBef>
                          <a:spcPts val="0"/>
                        </a:spcBef>
                        <a:spcAft>
                          <a:spcPts val="0"/>
                        </a:spcAft>
                        <a:buNone/>
                      </a:pPr>
                      <a:r>
                        <a:rPr lang="en" sz="1000">
                          <a:solidFill>
                            <a:srgbClr val="FFFFFF"/>
                          </a:solidFill>
                        </a:rPr>
                        <a:t>Media</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Jan</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Feb</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Mar</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Apr</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May</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Jun</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Jul</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Aug</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Sep</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Oct</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Nov</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Dec</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Total</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extLst>
                  <a:ext uri="{0D108BD9-81ED-4DB2-BD59-A6C34878D82A}">
                    <a16:rowId xmlns:a16="http://schemas.microsoft.com/office/drawing/2014/main" val="10000"/>
                  </a:ext>
                </a:extLst>
              </a:tr>
              <a:tr h="210075">
                <a:tc>
                  <a:txBody>
                    <a:bodyPr/>
                    <a:lstStyle/>
                    <a:p>
                      <a:pPr algn="ctr" indent="0" lvl="0" marL="0" rtl="0">
                        <a:lnSpc>
                          <a:spcPct val="115000"/>
                        </a:lnSpc>
                        <a:spcBef>
                          <a:spcPts val="0"/>
                        </a:spcBef>
                        <a:spcAft>
                          <a:spcPts val="0"/>
                        </a:spcAft>
                        <a:buNone/>
                      </a:pPr>
                      <a:r>
                        <a:rPr lang="en" sz="1000"/>
                        <a:t>WWWW</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$36,000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1"/>
                  </a:ext>
                </a:extLst>
              </a:tr>
              <a:tr h="210075">
                <a:tc>
                  <a:txBody>
                    <a:bodyPr/>
                    <a:lstStyle/>
                    <a:p>
                      <a:pPr algn="ctr" indent="0" lvl="0" marL="0" rtl="0">
                        <a:lnSpc>
                          <a:spcPct val="115000"/>
                        </a:lnSpc>
                        <a:spcBef>
                          <a:spcPts val="0"/>
                        </a:spcBef>
                        <a:spcAft>
                          <a:spcPts val="0"/>
                        </a:spcAft>
                        <a:buNone/>
                      </a:pPr>
                      <a:r>
                        <a:rPr lang="en" sz="1000"/>
                        <a:t>Digital</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$12,000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2"/>
                  </a:ext>
                </a:extLst>
              </a:tr>
              <a:tr h="381950">
                <a:tc>
                  <a:txBody>
                    <a:bodyPr/>
                    <a:lstStyle/>
                    <a:p>
                      <a:pPr algn="ctr" indent="0" lvl="0" marL="0" rtl="0">
                        <a:lnSpc>
                          <a:spcPct val="115000"/>
                        </a:lnSpc>
                        <a:spcBef>
                          <a:spcPts val="0"/>
                        </a:spcBef>
                        <a:spcAft>
                          <a:spcPts val="0"/>
                        </a:spcAft>
                        <a:buNone/>
                      </a:pPr>
                      <a:r>
                        <a:rPr lang="en" sz="1000" u="sng">
                          <a:solidFill>
                            <a:schemeClr val="hlink"/>
                          </a:solidFill>
                          <a:hlinkClick r:id="rId3"/>
                        </a:rPr>
                        <a:t>wwww.com</a:t>
                      </a:r>
                      <a:endParaRPr sz="1000" u="sng">
                        <a:solidFill>
                          <a:schemeClr val="hlink"/>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$6,000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3"/>
                  </a:ext>
                </a:extLst>
              </a:tr>
              <a:tr h="381950">
                <a:tc>
                  <a:txBody>
                    <a:bodyPr/>
                    <a:lstStyle/>
                    <a:p>
                      <a:pPr algn="ctr" indent="0" lvl="0" marL="0" rtl="0">
                        <a:lnSpc>
                          <a:spcPct val="115000"/>
                        </a:lnSpc>
                        <a:spcBef>
                          <a:spcPts val="0"/>
                        </a:spcBef>
                        <a:spcAft>
                          <a:spcPts val="0"/>
                        </a:spcAft>
                        <a:buNone/>
                      </a:pPr>
                      <a:r>
                        <a:rPr lang="en" sz="1000"/>
                        <a:t>Monthly Totals</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$6,000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$6,000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$6,000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$54,000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Shape 514"/>
        <p:cNvGrpSpPr/>
        <p:nvPr/>
      </p:nvGrpSpPr>
      <p:grpSpPr>
        <a:xfrm>
          <a:off x="0" y="0"/>
          <a:ext cx="0" cy="0"/>
          <a:chOff x="0" y="0"/>
          <a:chExt cx="0" cy="0"/>
        </a:xfrm>
      </p:grpSpPr>
      <p:sp>
        <p:nvSpPr>
          <p:cNvPr id="515" name="Google Shape;515;p47"/>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Plan B</a:t>
            </a:r>
            <a:endParaRPr/>
          </a:p>
        </p:txBody>
      </p:sp>
      <p:sp>
        <p:nvSpPr>
          <p:cNvPr id="516" name="Google Shape;516;p47"/>
          <p:cNvSpPr txBox="1">
            <a:spLocks noGrp="1"/>
          </p:cNvSpPr>
          <p:nvPr>
            <p:ph idx="1" type="body"/>
          </p:nvPr>
        </p:nvSpPr>
        <p:spPr>
          <a:xfrm>
            <a:off x="356563" y="4799225"/>
            <a:ext cx="2337600" cy="3669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400" u="sng">
                <a:solidFill>
                  <a:srgbClr val="000000"/>
                </a:solidFill>
                <a:latin typeface="Verdana"/>
                <a:ea typeface="Verdana"/>
                <a:cs typeface="Verdana"/>
                <a:sym typeface="Verdana"/>
              </a:rPr>
              <a:t>Analysis of Schedule:</a:t>
            </a:r>
            <a:endParaRPr b="1" sz="1400" u="sng">
              <a:solidFill>
                <a:srgbClr val="000000"/>
              </a:solidFill>
              <a:latin typeface="Verdana"/>
              <a:ea typeface="Verdana"/>
              <a:cs typeface="Verdana"/>
              <a:sym typeface="Verdana"/>
            </a:endParaRPr>
          </a:p>
        </p:txBody>
      </p:sp>
      <p:sp>
        <p:nvSpPr>
          <p:cNvPr id="517" name="Google Shape;517;p47"/>
          <p:cNvSpPr txBox="1">
            <a:spLocks noGrp="1"/>
          </p:cNvSpPr>
          <p:nvPr>
            <p:ph idx="1" type="body"/>
          </p:nvPr>
        </p:nvSpPr>
        <p:spPr>
          <a:xfrm>
            <a:off x="356563" y="5166125"/>
            <a:ext cx="4292400" cy="3669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18" name="Google Shape;518;p47"/>
          <p:cNvSpPr txBox="1">
            <a:spLocks noGrp="1"/>
          </p:cNvSpPr>
          <p:nvPr>
            <p:ph idx="1" type="body"/>
          </p:nvPr>
        </p:nvSpPr>
        <p:spPr>
          <a:xfrm>
            <a:off x="356563" y="5533025"/>
            <a:ext cx="4292400" cy="366900"/>
          </a:xfrm>
          <a:prstGeom prst="rect">
            <a:avLst/>
          </a:prstGeom>
        </p:spPr>
        <p:txBody>
          <a:bodyPr anchor="t" anchorCtr="0" bIns="91425" lIns="91425" rIns="91425" spcFirstLastPara="1" tIns="91425" wrap="square">
            <a:noAutofit/>
          </a:bodyPr>
          <a:lstStyle/>
          <a:p>
            <a:pPr algn="l" indent="0" lvl="0" marL="0" rtl="0">
              <a:spcBef>
                <a:spcPts val="0"/>
              </a:spcBef>
              <a:spcAft>
                <a:spcPts val="1600"/>
              </a:spcAft>
              <a:buNone/>
            </a:pPr>
            <a:r>
              <a:rPr b="1" lang="en" sz="1150">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19" name="Google Shape;519;p47"/>
          <p:cNvSpPr txBox="1">
            <a:spLocks noGrp="1"/>
          </p:cNvSpPr>
          <p:nvPr>
            <p:ph idx="1" type="body"/>
          </p:nvPr>
        </p:nvSpPr>
        <p:spPr>
          <a:xfrm>
            <a:off x="2416613" y="5914100"/>
            <a:ext cx="4292400" cy="366900"/>
          </a:xfrm>
          <a:prstGeom prst="rect">
            <a:avLst/>
          </a:prstGeom>
        </p:spPr>
        <p:txBody>
          <a:bodyPr anchor="t" anchorCtr="0" bIns="91425" lIns="91425" rIns="91425" spcFirstLastPara="1" tIns="91425" wrap="square">
            <a:noAutofit/>
          </a:bodyPr>
          <a:lstStyle/>
          <a:p>
            <a:pPr algn="ctr" indent="0" lvl="0" marL="0"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20" name="Google Shape;520;p47"/>
          <p:cNvCxnSpPr/>
          <p:nvPr/>
        </p:nvCxnSpPr>
        <p:spPr>
          <a:xfrm>
            <a:off x="495825" y="6613975"/>
            <a:ext cx="3657600" cy="0"/>
          </a:xfrm>
          <a:prstGeom prst="straightConnector1">
            <a:avLst/>
          </a:prstGeom>
          <a:noFill/>
          <a:ln cap="flat" cmpd="sng" w="19050">
            <a:solidFill>
              <a:srgbClr val="000000"/>
            </a:solidFill>
            <a:prstDash val="solid"/>
            <a:round/>
            <a:headEnd len="med" type="none" w="med"/>
            <a:tailEnd len="med" type="none" w="med"/>
          </a:ln>
        </p:spPr>
      </p:cxnSp>
      <p:cxnSp>
        <p:nvCxnSpPr>
          <p:cNvPr id="521" name="Google Shape;521;p47"/>
          <p:cNvCxnSpPr/>
          <p:nvPr/>
        </p:nvCxnSpPr>
        <p:spPr>
          <a:xfrm>
            <a:off x="4972200" y="6613975"/>
            <a:ext cx="3657600" cy="0"/>
          </a:xfrm>
          <a:prstGeom prst="straightConnector1">
            <a:avLst/>
          </a:prstGeom>
          <a:noFill/>
          <a:ln cap="flat" cmpd="sng" w="19050">
            <a:solidFill>
              <a:srgbClr val="000000"/>
            </a:solidFill>
            <a:prstDash val="solid"/>
            <a:round/>
            <a:headEnd len="med" type="none" w="med"/>
            <a:tailEnd len="med" type="none" w="med"/>
          </a:ln>
        </p:spPr>
      </p:cxnSp>
      <p:sp>
        <p:nvSpPr>
          <p:cNvPr id="522" name="Google Shape;522;p47"/>
          <p:cNvSpPr txBox="1"/>
          <p:nvPr/>
        </p:nvSpPr>
        <p:spPr>
          <a:xfrm>
            <a:off x="495838" y="6544400"/>
            <a:ext cx="1232400" cy="361800"/>
          </a:xfrm>
          <a:prstGeom prst="rect">
            <a:avLst/>
          </a:prstGeom>
          <a:noFill/>
          <a:ln>
            <a:noFill/>
          </a:ln>
        </p:spPr>
        <p:txBody>
          <a:bodyPr anchor="t" anchorCtr="0" bIns="91425" lIns="91425" rIns="91425" spcFirstLastPara="1" tIns="91425" wrap="square">
            <a:spAutoFit/>
          </a:bodyPr>
          <a:lstStyle/>
          <a:p>
            <a:pPr algn="l" indent="0" lvl="0" marL="0"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3" name="Google Shape;523;p47"/>
          <p:cNvSpPr txBox="1"/>
          <p:nvPr/>
        </p:nvSpPr>
        <p:spPr>
          <a:xfrm>
            <a:off x="4972213" y="6544400"/>
            <a:ext cx="1232400" cy="361800"/>
          </a:xfrm>
          <a:prstGeom prst="rect">
            <a:avLst/>
          </a:prstGeom>
          <a:noFill/>
          <a:ln>
            <a:noFill/>
          </a:ln>
        </p:spPr>
        <p:txBody>
          <a:bodyPr anchor="t" anchorCtr="0" bIns="91425" lIns="91425" rIns="91425" spcFirstLastPara="1" tIns="91425" wrap="square">
            <a:spAutoFit/>
          </a:bodyPr>
          <a:lstStyle/>
          <a:p>
            <a:pPr algn="l" indent="0" lvl="0" marL="0"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4" name="Google Shape;524;p47"/>
          <p:cNvSpPr txBox="1"/>
          <p:nvPr/>
        </p:nvSpPr>
        <p:spPr>
          <a:xfrm>
            <a:off x="3581918" y="6544400"/>
            <a:ext cx="571500" cy="361800"/>
          </a:xfrm>
          <a:prstGeom prst="rect">
            <a:avLst/>
          </a:prstGeom>
          <a:noFill/>
          <a:ln>
            <a:noFill/>
          </a:ln>
        </p:spPr>
        <p:txBody>
          <a:bodyPr anchor="t" anchorCtr="0" bIns="91425" lIns="91425" rIns="91425" spcFirstLastPara="1" tIns="91425" wrap="square">
            <a:spAutoFit/>
          </a:bodyPr>
          <a:lstStyle/>
          <a:p>
            <a:pPr algn="ctr" indent="0" lvl="0" marL="0"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5" name="Google Shape;525;p47"/>
          <p:cNvSpPr txBox="1"/>
          <p:nvPr/>
        </p:nvSpPr>
        <p:spPr>
          <a:xfrm>
            <a:off x="8058293" y="6544400"/>
            <a:ext cx="571500" cy="361800"/>
          </a:xfrm>
          <a:prstGeom prst="rect">
            <a:avLst/>
          </a:prstGeom>
          <a:noFill/>
          <a:ln>
            <a:noFill/>
          </a:ln>
        </p:spPr>
        <p:txBody>
          <a:bodyPr anchor="t" anchorCtr="0" bIns="91425" lIns="91425" rIns="91425" spcFirstLastPara="1" tIns="91425" wrap="square">
            <a:spAutoFit/>
          </a:bodyPr>
          <a:lstStyle/>
          <a:p>
            <a:pPr algn="ctr" indent="0" lvl="0" marL="0"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6" name="Google Shape;526;p47"/>
          <p:cNvSpPr txBox="1">
            <a:spLocks noGrp="1"/>
          </p:cNvSpPr>
          <p:nvPr>
            <p:ph idx="1" type="body"/>
          </p:nvPr>
        </p:nvSpPr>
        <p:spPr>
          <a:xfrm>
            <a:off x="489950" y="1170432"/>
            <a:ext cx="8181900" cy="1623900"/>
          </a:xfrm>
          <a:prstGeom prst="rect">
            <a:avLst/>
          </a:prstGeom>
        </p:spPr>
        <p:txBody>
          <a:bodyPr anchor="t" anchorCtr="0" bIns="91425" lIns="91425" rIns="91425" spcFirstLastPara="1" tIns="91425" wrap="square">
            <a:noAutofit/>
          </a:bodyPr>
          <a:lstStyle/>
          <a:p>
            <a:pPr algn="l" indent="0" lvl="0" marL="0" rtl="0">
              <a:lnSpc>
                <a:spcPct val="150000"/>
              </a:lnSpc>
              <a:spcBef>
                <a:spcPts val="0"/>
              </a:spcBef>
              <a:spcAft>
                <a:spcPts val="0"/>
              </a:spcAft>
              <a:buNone/>
            </a:pPr>
            <a:r>
              <a:rPr lang="en" sz="1150">
                <a:solidFill>
                  <a:srgbClr val="000000"/>
                </a:solidFill>
                <a:latin typeface="Verdana"/>
                <a:ea typeface="Verdana"/>
                <a:cs typeface="Verdana"/>
                <a:sym typeface="Verdana"/>
              </a:rPr>
              <a:t>For the benefit of the client, </a:t>
            </a:r>
            <a:r>
              <a:rPr b="1" lang="en" sz="1150">
                <a:solidFill>
                  <a:srgbClr val="000000"/>
                </a:solidFill>
                <a:latin typeface="Verdana"/>
                <a:ea typeface="Verdana"/>
                <a:cs typeface="Verdana"/>
                <a:sym typeface="Verdana"/>
              </a:rPr>
              <a:t>station}} </a:t>
            </a:r>
            <a:r>
              <a:rPr lang="en" sz="1150">
                <a:solidFill>
                  <a:srgbClr val="000000"/>
                </a:solidFill>
                <a:latin typeface="Verdana"/>
                <a:ea typeface="Verdana"/>
                <a:cs typeface="Verdana"/>
                <a:sym typeface="Verdana"/>
              </a:rPr>
              <a:t>agrees to develop a marketing strategy to help:</a:t>
            </a:r>
            <a:endParaRPr sz="1150">
              <a:solidFill>
                <a:srgbClr val="000000"/>
              </a:solidFill>
              <a:latin typeface="Verdana"/>
              <a:ea typeface="Verdana"/>
              <a:cs typeface="Verdana"/>
              <a:sym typeface="Verdana"/>
            </a:endParaRPr>
          </a:p>
          <a:p>
            <a:pPr algn="l" indent="-301625" lvl="0" marL="457200"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Initiate Cause Marketing Program</a:t>
            </a:r>
            <a:endParaRPr sz="1150">
              <a:solidFill>
                <a:srgbClr val="000000"/>
              </a:solidFill>
              <a:latin typeface="Verdana"/>
              <a:ea typeface="Verdana"/>
              <a:cs typeface="Verdana"/>
              <a:sym typeface="Verdana"/>
            </a:endParaRPr>
          </a:p>
          <a:p>
            <a:pPr algn="l" indent="-301625" lvl="0" marL="457200"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Tech Recruitment</a:t>
            </a:r>
            <a:endParaRPr sz="1150">
              <a:solidFill>
                <a:srgbClr val="000000"/>
              </a:solidFill>
              <a:latin typeface="Verdana"/>
              <a:ea typeface="Verdana"/>
              <a:cs typeface="Verdana"/>
              <a:sym typeface="Verdana"/>
            </a:endParaRPr>
          </a:p>
          <a:p>
            <a:pPr algn="l" indent="-301625" lvl="0" marL="457200" rtl="0">
              <a:lnSpc>
                <a:spcPct val="150000"/>
              </a:lnSpc>
              <a:spcBef>
                <a:spcPts val="0"/>
              </a:spcBef>
              <a:spcAft>
                <a:spcPts val="0"/>
              </a:spcAft>
              <a:buClr>
                <a:srgbClr val="000000"/>
              </a:buClr>
              <a:buSzPts val="1150"/>
              <a:buFont typeface="Verdana"/>
              <a:buAutoNum type="arabicPeriod"/>
            </a:pPr>
            <a:r>
              <a:rPr lang="en" sz="1150">
                <a:solidFill>
                  <a:srgbClr val="000000"/>
                </a:solidFill>
                <a:latin typeface="Verdana"/>
                <a:ea typeface="Verdana"/>
                <a:cs typeface="Verdana"/>
                <a:sym typeface="Verdana"/>
              </a:rPr>
              <a:t>Expand Target Consumers (by age, sex, geography)</a:t>
            </a:r>
            <a:endParaRPr sz="1150">
              <a:solidFill>
                <a:srgbClr val="000000"/>
              </a:solidFill>
              <a:latin typeface="Verdana"/>
              <a:ea typeface="Verdana"/>
              <a:cs typeface="Verdana"/>
              <a:sym typeface="Verdana"/>
            </a:endParaRPr>
          </a:p>
          <a:p>
            <a:pPr algn="l" indent="0" lvl="0" marL="0" rtl="0">
              <a:lnSpc>
                <a:spcPct val="150000"/>
              </a:lnSpc>
              <a:spcBef>
                <a:spcPts val="0"/>
              </a:spcBef>
              <a:spcAft>
                <a:spcPts val="0"/>
              </a:spcAft>
              <a:buNone/>
            </a:pPr>
            <a:r>
              <a:rPr lang="en" sz="1150">
                <a:solidFill>
                  <a:srgbClr val="000000"/>
                </a:solidFill>
                <a:latin typeface="Verdana"/>
                <a:ea typeface="Verdana"/>
                <a:cs typeface="Verdana"/>
                <a:sym typeface="Verdana"/>
              </a:rPr>
              <a:t>In return for fulfilling stated goals </a:t>
            </a:r>
            <a:r>
              <a:rPr lang="en">
                <a:solidFill>
                  <a:srgbClr val="000000"/>
                </a:solidFill>
              </a:rPr>
              <a:t>clientBusinessName}}</a:t>
            </a:r>
            <a:r>
              <a:rPr lang="en" sz="1150">
                <a:solidFill>
                  <a:srgbClr val="000000"/>
                </a:solidFill>
                <a:latin typeface="Verdana"/>
                <a:ea typeface="Verdana"/>
                <a:cs typeface="Verdana"/>
                <a:sym typeface="Verdana"/>
              </a:rPr>
              <a:t> agrees to invest in the following long-term plan:</a:t>
            </a:r>
            <a:endParaRPr sz="1150">
              <a:solidFill>
                <a:srgbClr val="000000"/>
              </a:solidFill>
              <a:latin typeface="Verdana"/>
              <a:ea typeface="Verdana"/>
              <a:cs typeface="Verdana"/>
              <a:sym typeface="Verdana"/>
            </a:endParaRPr>
          </a:p>
        </p:txBody>
      </p:sp>
      <p:sp>
        <p:nvSpPr>
          <p:cNvPr id="527" name="Google Shape;527;p47"/>
          <p:cNvSpPr txBox="1">
            <a:spLocks noGrp="1"/>
          </p:cNvSpPr>
          <p:nvPr>
            <p:ph idx="1" type="body"/>
          </p:nvPr>
        </p:nvSpPr>
        <p:spPr>
          <a:xfrm>
            <a:off x="356838" y="4184975"/>
            <a:ext cx="8430300" cy="699300"/>
          </a:xfrm>
          <a:prstGeom prst="rect">
            <a:avLst/>
          </a:prstGeom>
        </p:spPr>
        <p:txBody>
          <a:bodyPr anchor="ctr" anchorCtr="0" bIns="91425" lIns="91425" rIns="91425" spcFirstLastPara="1" tIns="91425" wrap="square">
            <a:noAutofit/>
          </a:bodyPr>
          <a:lstStyle/>
          <a:p>
            <a:pPr algn="l" indent="0" lvl="0" marL="0" rtl="0">
              <a:spcBef>
                <a:spcPts val="0"/>
              </a:spcBef>
              <a:spcAft>
                <a:spcPts val="0"/>
              </a:spcAft>
              <a:buNone/>
            </a:pPr>
            <a:r>
              <a:rPr b="1" lang="en" sz="800">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b="1" sz="1050">
              <a:solidFill>
                <a:srgbClr val="000000"/>
              </a:solidFill>
              <a:latin typeface="Verdana"/>
              <a:ea typeface="Verdana"/>
              <a:cs typeface="Verdana"/>
              <a:sym typeface="Verdana"/>
            </a:endParaRPr>
          </a:p>
        </p:txBody>
      </p:sp>
      <p:graphicFrame>
        <p:nvGraphicFramePr>
          <p:cNvPr id="528" name="Google Shape;528;p47"/>
          <p:cNvGraphicFramePr/>
          <p:nvPr/>
        </p:nvGraphicFramePr>
        <p:xfrm>
          <a:off x="356850" y="2530113"/>
          <a:ext cx="8272950" cy="1623900"/>
        </p:xfrm>
        <a:graphic>
          <a:graphicData uri="http://schemas.openxmlformats.org/drawingml/2006/table">
            <a:tbl>
              <a:tblPr>
                <a:noFill/>
                <a:tableStyleId>{CFB75FC7-DD7D-40D8-B2B2-EE4B611A8D2E}</a:tableStyleId>
              </a:tblPr>
              <a:tblGrid>
                <a:gridCol w="590925">
                  <a:extLst>
                    <a:ext uri="{9D8B030D-6E8A-4147-A177-3AD203B41FA5}">
                      <a16:colId xmlns:a16="http://schemas.microsoft.com/office/drawing/2014/main" val="20000"/>
                    </a:ext>
                  </a:extLst>
                </a:gridCol>
                <a:gridCol w="590925">
                  <a:extLst>
                    <a:ext uri="{9D8B030D-6E8A-4147-A177-3AD203B41FA5}">
                      <a16:colId xmlns:a16="http://schemas.microsoft.com/office/drawing/2014/main" val="20001"/>
                    </a:ext>
                  </a:extLst>
                </a:gridCol>
                <a:gridCol w="590925">
                  <a:extLst>
                    <a:ext uri="{9D8B030D-6E8A-4147-A177-3AD203B41FA5}">
                      <a16:colId xmlns:a16="http://schemas.microsoft.com/office/drawing/2014/main" val="20002"/>
                    </a:ext>
                  </a:extLst>
                </a:gridCol>
                <a:gridCol w="590925">
                  <a:extLst>
                    <a:ext uri="{9D8B030D-6E8A-4147-A177-3AD203B41FA5}">
                      <a16:colId xmlns:a16="http://schemas.microsoft.com/office/drawing/2014/main" val="20003"/>
                    </a:ext>
                  </a:extLst>
                </a:gridCol>
                <a:gridCol w="590925">
                  <a:extLst>
                    <a:ext uri="{9D8B030D-6E8A-4147-A177-3AD203B41FA5}">
                      <a16:colId xmlns:a16="http://schemas.microsoft.com/office/drawing/2014/main" val="20004"/>
                    </a:ext>
                  </a:extLst>
                </a:gridCol>
                <a:gridCol w="590925">
                  <a:extLst>
                    <a:ext uri="{9D8B030D-6E8A-4147-A177-3AD203B41FA5}">
                      <a16:colId xmlns:a16="http://schemas.microsoft.com/office/drawing/2014/main" val="20005"/>
                    </a:ext>
                  </a:extLst>
                </a:gridCol>
                <a:gridCol w="590925">
                  <a:extLst>
                    <a:ext uri="{9D8B030D-6E8A-4147-A177-3AD203B41FA5}">
                      <a16:colId xmlns:a16="http://schemas.microsoft.com/office/drawing/2014/main" val="20006"/>
                    </a:ext>
                  </a:extLst>
                </a:gridCol>
                <a:gridCol w="590925">
                  <a:extLst>
                    <a:ext uri="{9D8B030D-6E8A-4147-A177-3AD203B41FA5}">
                      <a16:colId xmlns:a16="http://schemas.microsoft.com/office/drawing/2014/main" val="20007"/>
                    </a:ext>
                  </a:extLst>
                </a:gridCol>
                <a:gridCol w="590925">
                  <a:extLst>
                    <a:ext uri="{9D8B030D-6E8A-4147-A177-3AD203B41FA5}">
                      <a16:colId xmlns:a16="http://schemas.microsoft.com/office/drawing/2014/main" val="20008"/>
                    </a:ext>
                  </a:extLst>
                </a:gridCol>
                <a:gridCol w="590925">
                  <a:extLst>
                    <a:ext uri="{9D8B030D-6E8A-4147-A177-3AD203B41FA5}">
                      <a16:colId xmlns:a16="http://schemas.microsoft.com/office/drawing/2014/main" val="20009"/>
                    </a:ext>
                  </a:extLst>
                </a:gridCol>
                <a:gridCol w="590925">
                  <a:extLst>
                    <a:ext uri="{9D8B030D-6E8A-4147-A177-3AD203B41FA5}">
                      <a16:colId xmlns:a16="http://schemas.microsoft.com/office/drawing/2014/main" val="20010"/>
                    </a:ext>
                  </a:extLst>
                </a:gridCol>
                <a:gridCol w="590925">
                  <a:extLst>
                    <a:ext uri="{9D8B030D-6E8A-4147-A177-3AD203B41FA5}">
                      <a16:colId xmlns:a16="http://schemas.microsoft.com/office/drawing/2014/main" val="20011"/>
                    </a:ext>
                  </a:extLst>
                </a:gridCol>
                <a:gridCol w="590925">
                  <a:extLst>
                    <a:ext uri="{9D8B030D-6E8A-4147-A177-3AD203B41FA5}">
                      <a16:colId xmlns:a16="http://schemas.microsoft.com/office/drawing/2014/main" val="20012"/>
                    </a:ext>
                  </a:extLst>
                </a:gridCol>
                <a:gridCol w="590925">
                  <a:extLst>
                    <a:ext uri="{9D8B030D-6E8A-4147-A177-3AD203B41FA5}">
                      <a16:colId xmlns:a16="http://schemas.microsoft.com/office/drawing/2014/main" val="20013"/>
                    </a:ext>
                  </a:extLst>
                </a:gridCol>
              </a:tblGrid>
              <a:tr h="212650">
                <a:tc>
                  <a:txBody>
                    <a:bodyPr/>
                    <a:lstStyle/>
                    <a:p>
                      <a:pPr algn="ctr" indent="0" lvl="0" marL="0" rtl="0">
                        <a:lnSpc>
                          <a:spcPct val="115000"/>
                        </a:lnSpc>
                        <a:spcBef>
                          <a:spcPts val="0"/>
                        </a:spcBef>
                        <a:spcAft>
                          <a:spcPts val="0"/>
                        </a:spcAft>
                        <a:buNone/>
                      </a:pPr>
                      <a:r>
                        <a:rPr lang="en" sz="1000">
                          <a:solidFill>
                            <a:srgbClr val="FFFFFF"/>
                          </a:solidFill>
                        </a:rPr>
                        <a:t>Media</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Jan</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Feb</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Mar</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Apr</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May</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Jun</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Jul</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Aug</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Sep</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Oct</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Nov</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Dec</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tc>
                  <a:txBody>
                    <a:bodyPr/>
                    <a:lstStyle/>
                    <a:p>
                      <a:pPr algn="ctr" indent="0" lvl="0" marL="0" rtl="0">
                        <a:lnSpc>
                          <a:spcPct val="115000"/>
                        </a:lnSpc>
                        <a:spcBef>
                          <a:spcPts val="0"/>
                        </a:spcBef>
                        <a:spcAft>
                          <a:spcPts val="0"/>
                        </a:spcAft>
                        <a:buNone/>
                      </a:pPr>
                      <a:r>
                        <a:rPr lang="en" sz="1000">
                          <a:solidFill>
                            <a:srgbClr val="FFFFFF"/>
                          </a:solidFill>
                        </a:rPr>
                        <a:t>Total</a:t>
                      </a:r>
                      <a:endParaRPr sz="1000">
                        <a:solidFill>
                          <a:srgbClr val="FFFFFF"/>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solidFill>
                      <a:srgbClr val="38761D"/>
                    </a:solidFill>
                  </a:tcPr>
                </a:tc>
                <a:extLst>
                  <a:ext uri="{0D108BD9-81ED-4DB2-BD59-A6C34878D82A}">
                    <a16:rowId xmlns:a16="http://schemas.microsoft.com/office/drawing/2014/main" val="10000"/>
                  </a:ext>
                </a:extLst>
              </a:tr>
              <a:tr h="212650">
                <a:tc>
                  <a:txBody>
                    <a:bodyPr/>
                    <a:lstStyle/>
                    <a:p>
                      <a:pPr algn="ctr" indent="0" lvl="0" marL="0" rtl="0">
                        <a:lnSpc>
                          <a:spcPct val="115000"/>
                        </a:lnSpc>
                        <a:spcBef>
                          <a:spcPts val="0"/>
                        </a:spcBef>
                        <a:spcAft>
                          <a:spcPts val="0"/>
                        </a:spcAft>
                        <a:buNone/>
                      </a:pPr>
                      <a:r>
                        <a:rPr lang="en" sz="1000"/>
                        <a:t>WWWW</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$4,500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$36,000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1"/>
                  </a:ext>
                </a:extLst>
              </a:tr>
              <a:tr h="212650">
                <a:tc>
                  <a:txBody>
                    <a:bodyPr/>
                    <a:lstStyle/>
                    <a:p>
                      <a:pPr algn="ctr" indent="0" lvl="0" marL="0" rtl="0">
                        <a:lnSpc>
                          <a:spcPct val="115000"/>
                        </a:lnSpc>
                        <a:spcBef>
                          <a:spcPts val="0"/>
                        </a:spcBef>
                        <a:spcAft>
                          <a:spcPts val="0"/>
                        </a:spcAft>
                        <a:buNone/>
                      </a:pPr>
                      <a:r>
                        <a:rPr lang="en" sz="1000"/>
                        <a:t>Digital</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$12,000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2"/>
                  </a:ext>
                </a:extLst>
              </a:tr>
              <a:tr h="386650">
                <a:tc>
                  <a:txBody>
                    <a:bodyPr/>
                    <a:lstStyle/>
                    <a:p>
                      <a:pPr algn="ctr" indent="0" lvl="0" marL="0" rtl="0">
                        <a:lnSpc>
                          <a:spcPct val="115000"/>
                        </a:lnSpc>
                        <a:spcBef>
                          <a:spcPts val="0"/>
                        </a:spcBef>
                        <a:spcAft>
                          <a:spcPts val="0"/>
                        </a:spcAft>
                        <a:buNone/>
                      </a:pPr>
                      <a:r>
                        <a:rPr lang="en" sz="1000" u="sng">
                          <a:solidFill>
                            <a:schemeClr val="hlink"/>
                          </a:solidFill>
                          <a:hlinkClick r:id="rId3"/>
                        </a:rPr>
                        <a:t>wwww.com</a:t>
                      </a:r>
                      <a:endParaRPr sz="1000" u="sng">
                        <a:solidFill>
                          <a:schemeClr val="hlink"/>
                        </a:solidFill>
                      </a:endParaRPr>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$6,000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3"/>
                  </a:ext>
                </a:extLst>
              </a:tr>
              <a:tr h="212650">
                <a:tc>
                  <a:txBody>
                    <a:bodyPr/>
                    <a:lstStyle/>
                    <a:p>
                      <a:pPr algn="ctr" indent="0" lvl="0" marL="0" rtl="0">
                        <a:lnSpc>
                          <a:spcPct val="115000"/>
                        </a:lnSpc>
                        <a:spcBef>
                          <a:spcPts val="0"/>
                        </a:spcBef>
                        <a:spcAft>
                          <a:spcPts val="0"/>
                        </a:spcAft>
                        <a:buNone/>
                      </a:pPr>
                      <a:r>
                        <a:rPr lang="en" sz="1000"/>
                        <a:t>WWWA</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$12,000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4"/>
                  </a:ext>
                </a:extLst>
              </a:tr>
              <a:tr h="386650">
                <a:tc>
                  <a:txBody>
                    <a:bodyPr/>
                    <a:lstStyle/>
                    <a:p>
                      <a:pPr algn="ctr" indent="0" lvl="0" marL="0" rtl="0">
                        <a:lnSpc>
                          <a:spcPct val="115000"/>
                        </a:lnSpc>
                        <a:spcBef>
                          <a:spcPts val="0"/>
                        </a:spcBef>
                        <a:spcAft>
                          <a:spcPts val="0"/>
                        </a:spcAft>
                        <a:buNone/>
                      </a:pPr>
                      <a:r>
                        <a:rPr lang="en" sz="1000"/>
                        <a:t>Monthly Totals</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$3,500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$7,500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$7,500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$7,500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$5,500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tc>
                  <a:txBody>
                    <a:bodyPr/>
                    <a:lstStyle/>
                    <a:p>
                      <a:pPr algn="ctr" indent="0" lvl="0" marL="0" rtl="0">
                        <a:lnSpc>
                          <a:spcPct val="115000"/>
                        </a:lnSpc>
                        <a:spcBef>
                          <a:spcPts val="0"/>
                        </a:spcBef>
                        <a:spcAft>
                          <a:spcPts val="0"/>
                        </a:spcAft>
                        <a:buNone/>
                      </a:pPr>
                      <a:r>
                        <a:rPr lang="en" sz="1000"/>
                        <a:t>$66,000</a:t>
                      </a:r>
                      <a:endParaRPr sz="1000"/>
                    </a:p>
                  </a:txBody>
                  <a:tcPr anchor="b" marB="19050" marL="28575" marR="28575" marT="19050">
                    <a:lnL cap="flat" cmpd="sng" w="9525">
                      <a:solidFill>
                        <a:srgbClr val="CCCCCC"/>
                      </a:solidFill>
                      <a:prstDash val="solid"/>
                      <a:round/>
                      <a:headEnd len="sm" type="none" w="sm"/>
                      <a:tailEnd len="sm" type="none" w="sm"/>
                    </a:lnL>
                    <a:lnR cap="flat" cmpd="sng" w="9525">
                      <a:solidFill>
                        <a:srgbClr val="CCCCCC"/>
                      </a:solidFill>
                      <a:prstDash val="solid"/>
                      <a:round/>
                      <a:headEnd len="sm" type="none" w="sm"/>
                      <a:tailEnd len="sm" type="none" w="sm"/>
                    </a:lnR>
                    <a:lnT cap="flat" cmpd="sng" w="9525">
                      <a:solidFill>
                        <a:srgbClr val="CCCCCC"/>
                      </a:solidFill>
                      <a:prstDash val="solid"/>
                      <a:round/>
                      <a:headEnd len="sm" type="none" w="sm"/>
                      <a:tailEnd len="sm" type="none" w="sm"/>
                    </a:lnT>
                    <a:lnB cap="flat" cmpd="sng" w="9525">
                      <a:solidFill>
                        <a:srgbClr val="CCCCCC"/>
                      </a:solidFill>
                      <a:prstDash val="solid"/>
                      <a:round/>
                      <a:headEnd len="sm" type="none" w="sm"/>
                      <a:tailEnd len="sm" type="none" w="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Shape 532"/>
        <p:cNvGrpSpPr/>
        <p:nvPr/>
      </p:nvGrpSpPr>
      <p:grpSpPr>
        <a:xfrm>
          <a:off x="0" y="0"/>
          <a:ext cx="0" cy="0"/>
          <a:chOff x="0" y="0"/>
          <a:chExt cx="0" cy="0"/>
        </a:xfrm>
      </p:grpSpPr>
      <p:sp>
        <p:nvSpPr>
          <p:cNvPr id="533" name="Google Shape;533;p48"/>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Client Policy Agreement</a:t>
            </a:r>
            <a:endParaRPr/>
          </a:p>
        </p:txBody>
      </p:sp>
      <p:sp>
        <p:nvSpPr>
          <p:cNvPr id="534" name="Google Shape;534;p48"/>
          <p:cNvSpPr txBox="1">
            <a:spLocks noGrp="1"/>
          </p:cNvSpPr>
          <p:nvPr>
            <p:ph idx="1" type="body"/>
          </p:nvPr>
        </p:nvSpPr>
        <p:spPr>
          <a:xfrm>
            <a:off x="458400" y="1170425"/>
            <a:ext cx="8227200" cy="1124700"/>
          </a:xfrm>
          <a:prstGeom prst="rect">
            <a:avLst/>
          </a:prstGeom>
        </p:spPr>
        <p:txBody>
          <a:bodyPr anchor="t" anchorCtr="0" bIns="91425" lIns="91425" rIns="91425" spcFirstLastPara="1" tIns="91425" wrap="square">
            <a:noAutofit/>
          </a:bodyPr>
          <a:lstStyle/>
          <a:p>
            <a:pPr algn="ctr" indent="0" lvl="0" marL="0" rtl="0">
              <a:spcBef>
                <a:spcPts val="0"/>
              </a:spcBef>
              <a:spcAft>
                <a:spcPts val="1600"/>
              </a:spcAft>
              <a:buNone/>
            </a:pPr>
            <a:r>
              <a:rPr lang="en" sz="1800">
                <a:solidFill>
                  <a:srgbClr val="000000"/>
                </a:solidFill>
                <a:latin typeface="Verdana"/>
                <a:ea typeface="Verdana"/>
                <a:cs typeface="Verdana"/>
                <a:sym typeface="Verdana"/>
              </a:rPr>
              <a:t>At station}} we have an agreement, which we will discuss with all our business partners and review throughout the year</a:t>
            </a:r>
            <a:endParaRPr sz="1800">
              <a:solidFill>
                <a:srgbClr val="000000"/>
              </a:solidFill>
              <a:latin typeface="Verdana"/>
              <a:ea typeface="Verdana"/>
              <a:cs typeface="Verdana"/>
              <a:sym typeface="Verdana"/>
            </a:endParaRPr>
          </a:p>
        </p:txBody>
      </p:sp>
      <p:sp>
        <p:nvSpPr>
          <p:cNvPr id="535" name="Google Shape;535;p48"/>
          <p:cNvSpPr txBox="1">
            <a:spLocks noGrp="1"/>
          </p:cNvSpPr>
          <p:nvPr>
            <p:ph idx="2" type="body"/>
          </p:nvPr>
        </p:nvSpPr>
        <p:spPr>
          <a:xfrm>
            <a:off x="365700" y="2295125"/>
            <a:ext cx="8412600" cy="4205400"/>
          </a:xfrm>
          <a:prstGeom prst="rect">
            <a:avLst/>
          </a:prstGeom>
        </p:spPr>
        <p:txBody>
          <a:bodyPr anchor="t" anchorCtr="0" bIns="91425" lIns="91425" rIns="91425" spcFirstLastPara="1" tIns="91425" wrap="square">
            <a:noAutofit/>
          </a:bodyPr>
          <a:lstStyle/>
          <a:p>
            <a:pPr algn="l" indent="-301625" lvl="0" marL="457200" rtl="0">
              <a:spcBef>
                <a:spcPts val="120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We will conduct a confidential needs analysis (Database) to gain a complete understanding of your business, your market and your stated objectives.  </a:t>
            </a:r>
            <a:endParaRPr sz="1150">
              <a:solidFill>
                <a:schemeClr val="dk1"/>
              </a:solidFill>
              <a:latin typeface="Verdana"/>
              <a:ea typeface="Verdana"/>
              <a:cs typeface="Verdana"/>
              <a:sym typeface="Verdana"/>
            </a:endParaRPr>
          </a:p>
          <a:p>
            <a:pPr algn="l" indent="-301625" lvl="0" marL="457200"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supplied with a customized Summary of Conclusions and Recommendations (SCR) that is tailored to help you achieve your business goals.</a:t>
            </a:r>
            <a:endParaRPr sz="1150">
              <a:solidFill>
                <a:schemeClr val="dk1"/>
              </a:solidFill>
              <a:latin typeface="Verdana"/>
              <a:ea typeface="Verdana"/>
              <a:cs typeface="Verdana"/>
              <a:sym typeface="Verdana"/>
            </a:endParaRPr>
          </a:p>
          <a:p>
            <a:pPr algn="l" indent="-301625" lvl="0" marL="457200"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be sure that your Marketing Representative will be professional, objective and totally focused on your needs (vs. what’s only in the best interest of the station group).</a:t>
            </a:r>
            <a:endParaRPr sz="1150">
              <a:solidFill>
                <a:schemeClr val="dk1"/>
              </a:solidFill>
              <a:latin typeface="Verdana"/>
              <a:ea typeface="Verdana"/>
              <a:cs typeface="Verdana"/>
              <a:sym typeface="Verdana"/>
            </a:endParaRPr>
          </a:p>
          <a:p>
            <a:pPr algn="l" indent="-301625" lvl="0" marL="457200"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offered total production and digital services and once complete, we will provide all creative to you for your final approval before going on-air or on-line.</a:t>
            </a:r>
            <a:endParaRPr sz="1150">
              <a:solidFill>
                <a:schemeClr val="dk1"/>
              </a:solidFill>
              <a:latin typeface="Verdana"/>
              <a:ea typeface="Verdana"/>
              <a:cs typeface="Verdana"/>
              <a:sym typeface="Verdana"/>
            </a:endParaRPr>
          </a:p>
          <a:p>
            <a:pPr algn="l" indent="-301625" lvl="0" marL="457200"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The order will be placed as requested and you can expect a duplicate of your submitted broadcast schedules and net figures so that you know all times and costs.</a:t>
            </a:r>
            <a:endParaRPr sz="1150">
              <a:solidFill>
                <a:schemeClr val="dk1"/>
              </a:solidFill>
              <a:latin typeface="Verdana"/>
              <a:ea typeface="Verdana"/>
              <a:cs typeface="Verdana"/>
              <a:sym typeface="Verdana"/>
            </a:endParaRPr>
          </a:p>
          <a:p>
            <a:pPr algn="l" indent="-301625" lvl="0" marL="457200"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contacted following the first week on air to ensure that everything is running as scheduled.</a:t>
            </a:r>
            <a:endParaRPr sz="1150">
              <a:solidFill>
                <a:schemeClr val="dk1"/>
              </a:solidFill>
              <a:latin typeface="Verdana"/>
              <a:ea typeface="Verdana"/>
              <a:cs typeface="Verdana"/>
              <a:sym typeface="Verdana"/>
            </a:endParaRPr>
          </a:p>
          <a:p>
            <a:pPr algn="l" indent="-301625" lvl="0" marL="457200"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provided with the latest qualitative research and will be continuously updated on relevant market information and changes.</a:t>
            </a:r>
            <a:endParaRPr sz="1150">
              <a:solidFill>
                <a:schemeClr val="dk1"/>
              </a:solidFill>
              <a:latin typeface="Verdana"/>
              <a:ea typeface="Verdana"/>
              <a:cs typeface="Verdana"/>
              <a:sym typeface="Verdana"/>
            </a:endParaRPr>
          </a:p>
          <a:p>
            <a:pPr algn="l" indent="-301625" lvl="0" marL="457200"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expect an exceptional customer experience including follow-through on all promises made and prompt return phone calls.</a:t>
            </a:r>
            <a:endParaRPr sz="1150">
              <a:solidFill>
                <a:schemeClr val="dk1"/>
              </a:solidFill>
              <a:latin typeface="Verdana"/>
              <a:ea typeface="Verdana"/>
              <a:cs typeface="Verdana"/>
              <a:sym typeface="Verdana"/>
            </a:endParaRPr>
          </a:p>
          <a:p>
            <a:pPr algn="l" indent="-301625" lvl="0" marL="457200"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While we will be in constant contact, you will be asked to formally evaluate our performance and your results every 3, 6, 9 and 12 months.  </a:t>
            </a:r>
            <a:endParaRPr sz="1150">
              <a:solidFill>
                <a:schemeClr val="dk1"/>
              </a:solidFill>
              <a:latin typeface="Verdana"/>
              <a:ea typeface="Verdana"/>
              <a:cs typeface="Verdana"/>
              <a:sym typeface="Verdana"/>
            </a:endParaRPr>
          </a:p>
          <a:p>
            <a:pPr algn="l" indent="-301625" lvl="0" marL="457200"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If any of the above conditions are not met, please contact </a:t>
            </a:r>
            <a:r>
              <a:rPr i="1" lang="en" sz="1150">
                <a:solidFill>
                  <a:schemeClr val="dk1"/>
                </a:solidFill>
              </a:rPr>
              <a:t>portfolioManagerName}} </a:t>
            </a:r>
            <a:r>
              <a:rPr lang="en" sz="1150">
                <a:solidFill>
                  <a:schemeClr val="dk1"/>
                </a:solidFill>
                <a:latin typeface="Verdana"/>
                <a:ea typeface="Verdana"/>
                <a:cs typeface="Verdana"/>
                <a:sym typeface="Verdana"/>
              </a:rPr>
              <a:t>at +1 (804) 356-7006</a:t>
            </a:r>
            <a:endParaRPr sz="1150">
              <a:solidFill>
                <a:schemeClr val="dk1"/>
              </a:solidFill>
              <a:latin typeface="Verdana"/>
              <a:ea typeface="Verdana"/>
              <a:cs typeface="Verdana"/>
              <a:sym typeface="Verdana"/>
            </a:endParaRPr>
          </a:p>
          <a:p>
            <a:pPr algn="l" indent="0" lvl="0" marL="0" rtl="0">
              <a:spcBef>
                <a:spcPts val="1200"/>
              </a:spcBef>
              <a:spcAft>
                <a:spcPts val="1600"/>
              </a:spcAft>
              <a:buNone/>
            </a:pPr>
            <a:endParaRPr>
              <a:latin typeface="Verdana"/>
              <a:ea typeface="Verdana"/>
              <a:cs typeface="Verdana"/>
              <a:sym typeface="Verdana"/>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Shape 539"/>
        <p:cNvGrpSpPr/>
        <p:nvPr/>
      </p:nvGrpSpPr>
      <p:grpSpPr>
        <a:xfrm>
          <a:off x="0" y="0"/>
          <a:ext cx="0" cy="0"/>
          <a:chOff x="0" y="0"/>
          <a:chExt cx="0" cy="0"/>
        </a:xfrm>
      </p:grpSpPr>
      <p:sp>
        <p:nvSpPr>
          <p:cNvPr id="540" name="Google Shape;540;p49"/>
          <p:cNvSpPr txBox="1">
            <a:spLocks noGrp="1"/>
          </p:cNvSpPr>
          <p:nvPr>
            <p:ph type="ctrTitle"/>
          </p:nvPr>
        </p:nvSpPr>
        <p:spPr>
          <a:xfrm>
            <a:off x="693450" y="475488"/>
            <a:ext cx="7757100" cy="699300"/>
          </a:xfrm>
          <a:prstGeom prst="rect">
            <a:avLst/>
          </a:prstGeom>
        </p:spPr>
        <p:txBody>
          <a:bodyPr anchor="b" anchorCtr="0" bIns="91425" lIns="91425" rIns="91425" spcFirstLastPara="1" tIns="91425" wrap="square">
            <a:noAutofit/>
          </a:bodyPr>
          <a:lstStyle/>
          <a:p>
            <a:pPr algn="ctr" indent="0" lvl="0" marL="0" rtl="0">
              <a:spcBef>
                <a:spcPts val="0"/>
              </a:spcBef>
              <a:spcAft>
                <a:spcPts val="0"/>
              </a:spcAft>
              <a:buNone/>
            </a:pPr>
            <a:r>
              <a:rPr lang="en"/>
              <a:t>Sales Service Agreement</a:t>
            </a:r>
            <a:endParaRPr/>
          </a:p>
        </p:txBody>
      </p:sp>
      <p:sp>
        <p:nvSpPr>
          <p:cNvPr id="541" name="Google Shape;541;p49"/>
          <p:cNvSpPr txBox="1">
            <a:spLocks noGrp="1"/>
          </p:cNvSpPr>
          <p:nvPr>
            <p:ph idx="1" type="body"/>
          </p:nvPr>
        </p:nvSpPr>
        <p:spPr>
          <a:xfrm>
            <a:off x="458400" y="1170425"/>
            <a:ext cx="8227200" cy="787500"/>
          </a:xfrm>
          <a:prstGeom prst="rect">
            <a:avLst/>
          </a:prstGeom>
        </p:spPr>
        <p:txBody>
          <a:bodyPr anchor="t" anchorCtr="0" bIns="91425" lIns="91425" rIns="91425" spcFirstLastPara="1" tIns="91425" wrap="square">
            <a:noAutofit/>
          </a:bodyPr>
          <a:lstStyle/>
          <a:p>
            <a:pPr algn="ctr" indent="0" lvl="0" marL="0" rtl="0">
              <a:spcBef>
                <a:spcPts val="0"/>
              </a:spcBef>
              <a:spcAft>
                <a:spcPts val="1600"/>
              </a:spcAft>
              <a:buNone/>
            </a:pPr>
            <a:r>
              <a:rPr b="1" lang="en" sz="1150">
                <a:solidFill>
                  <a:srgbClr val="000000"/>
                </a:solidFill>
                <a:latin typeface="Verdana"/>
                <a:ea typeface="Verdana"/>
                <a:cs typeface="Verdana"/>
                <a:sym typeface="Verdana"/>
              </a:rPr>
              <a:t>This Sales Service Agreement is part of our Consumer Satisfaction Index (CSI) which is meant to build and serve long term alliances. Please help me know how well we are servicing you by grading each of the following segments 1 to 5 with 5 being the highest.</a:t>
            </a:r>
            <a:endParaRPr b="1" sz="1150">
              <a:solidFill>
                <a:srgbClr val="000000"/>
              </a:solidFill>
              <a:latin typeface="Verdana"/>
              <a:ea typeface="Verdana"/>
              <a:cs typeface="Verdana"/>
              <a:sym typeface="Verdana"/>
            </a:endParaRPr>
          </a:p>
        </p:txBody>
      </p:sp>
      <p:sp>
        <p:nvSpPr>
          <p:cNvPr id="542" name="Google Shape;542;p49"/>
          <p:cNvSpPr txBox="1">
            <a:spLocks noGrp="1"/>
          </p:cNvSpPr>
          <p:nvPr>
            <p:ph idx="2" type="body"/>
          </p:nvPr>
        </p:nvSpPr>
        <p:spPr>
          <a:xfrm>
            <a:off x="365750" y="2386584"/>
            <a:ext cx="5376600" cy="3621000"/>
          </a:xfrm>
          <a:prstGeom prst="rect">
            <a:avLst/>
          </a:prstGeom>
        </p:spPr>
        <p:txBody>
          <a:bodyPr anchor="t" anchorCtr="0" bIns="91425" lIns="91425" rIns="91425" spcFirstLastPara="1" tIns="91425" wrap="square">
            <a:noAutofit/>
          </a:bodyPr>
          <a:lstStyle/>
          <a:p>
            <a:pPr algn="l" indent="-301625" lvl="0" marL="457200" rtl="0">
              <a:lnSpc>
                <a:spcPct val="100000"/>
              </a:lnSpc>
              <a:spcBef>
                <a:spcPts val="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Representative has a full understanding of my business needs, goals and objectives.</a:t>
            </a:r>
            <a:endParaRPr sz="1150">
              <a:solidFill>
                <a:schemeClr val="dk1"/>
              </a:solidFill>
              <a:latin typeface="Verdana"/>
              <a:ea typeface="Verdana"/>
              <a:cs typeface="Verdana"/>
              <a:sym typeface="Verdana"/>
            </a:endParaRPr>
          </a:p>
          <a:p>
            <a:pPr algn="l" indent="-301625" lvl="0" marL="457200"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He/she has been in constant contact to make sure that the program is running as planned.</a:t>
            </a:r>
            <a:endParaRPr sz="1150">
              <a:solidFill>
                <a:schemeClr val="dk1"/>
              </a:solidFill>
              <a:latin typeface="Verdana"/>
              <a:ea typeface="Verdana"/>
              <a:cs typeface="Verdana"/>
              <a:sym typeface="Verdana"/>
            </a:endParaRPr>
          </a:p>
          <a:p>
            <a:pPr algn="l" indent="-301625" lvl="0" marL="457200"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Statement/Invoice questions have been handled in a timely fashion.</a:t>
            </a:r>
            <a:endParaRPr sz="1150">
              <a:solidFill>
                <a:schemeClr val="dk1"/>
              </a:solidFill>
              <a:latin typeface="Verdana"/>
              <a:ea typeface="Verdana"/>
              <a:cs typeface="Verdana"/>
              <a:sym typeface="Verdana"/>
            </a:endParaRPr>
          </a:p>
          <a:p>
            <a:pPr algn="l" indent="-301625" lvl="0" marL="457200"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Client calls have been returned within a reasonable time frame.</a:t>
            </a:r>
            <a:endParaRPr sz="1150">
              <a:solidFill>
                <a:schemeClr val="dk1"/>
              </a:solidFill>
              <a:latin typeface="Verdana"/>
              <a:ea typeface="Verdana"/>
              <a:cs typeface="Verdana"/>
              <a:sym typeface="Verdana"/>
            </a:endParaRPr>
          </a:p>
          <a:p>
            <a:pPr algn="l" indent="-301625" lvl="0" marL="457200"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Promises have been kept and commitments have been honored at all times.</a:t>
            </a:r>
            <a:endParaRPr sz="1150">
              <a:solidFill>
                <a:schemeClr val="dk1"/>
              </a:solidFill>
              <a:latin typeface="Verdana"/>
              <a:ea typeface="Verdana"/>
              <a:cs typeface="Verdana"/>
              <a:sym typeface="Verdana"/>
            </a:endParaRPr>
          </a:p>
          <a:p>
            <a:pPr algn="l" indent="-301625" lvl="0" marL="457200"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overall service experience rating I would give my Marketing Representative.</a:t>
            </a:r>
            <a:endParaRPr sz="1150">
              <a:solidFill>
                <a:schemeClr val="dk1"/>
              </a:solidFill>
              <a:latin typeface="Verdana"/>
              <a:ea typeface="Verdana"/>
              <a:cs typeface="Verdana"/>
              <a:sym typeface="Verdana"/>
            </a:endParaRPr>
          </a:p>
          <a:p>
            <a:pPr algn="l" indent="-301625" lvl="0" marL="457200"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program has met my expectations given the time period it has been running.</a:t>
            </a:r>
            <a:endParaRPr sz="1150">
              <a:solidFill>
                <a:schemeClr val="dk1"/>
              </a:solidFill>
              <a:latin typeface="Verdana"/>
              <a:ea typeface="Verdana"/>
              <a:cs typeface="Verdana"/>
              <a:sym typeface="Verdana"/>
            </a:endParaRPr>
          </a:p>
          <a:p>
            <a:pPr algn="l" indent="-301625" lvl="0" marL="457200" rtl="0">
              <a:lnSpc>
                <a:spcPct val="100000"/>
              </a:lnSpc>
              <a:spcBef>
                <a:spcPts val="1000"/>
              </a:spcBef>
              <a:spcAft>
                <a:spcPts val="1000"/>
              </a:spcAft>
              <a:buClr>
                <a:schemeClr val="dk1"/>
              </a:buClr>
              <a:buSzPts val="1150"/>
              <a:buFont typeface="Verdana"/>
              <a:buChar char="●"/>
            </a:pPr>
            <a:r>
              <a:rPr lang="en" sz="1150">
                <a:solidFill>
                  <a:schemeClr val="dk1"/>
                </a:solidFill>
                <a:latin typeface="Verdana"/>
                <a:ea typeface="Verdana"/>
                <a:cs typeface="Verdana"/>
                <a:sym typeface="Verdana"/>
              </a:rPr>
              <a:t>How likely I would be to recommend someone else to this group.</a:t>
            </a:r>
            <a:endParaRPr sz="1150">
              <a:solidFill>
                <a:schemeClr val="dk1"/>
              </a:solidFill>
              <a:latin typeface="Verdana"/>
              <a:ea typeface="Verdana"/>
              <a:cs typeface="Verdana"/>
              <a:sym typeface="Verdana"/>
            </a:endParaRPr>
          </a:p>
        </p:txBody>
      </p:sp>
      <p:sp>
        <p:nvSpPr>
          <p:cNvPr id="543" name="Google Shape;543;p49"/>
          <p:cNvSpPr txBox="1"/>
          <p:nvPr/>
        </p:nvSpPr>
        <p:spPr>
          <a:xfrm>
            <a:off x="365750" y="1988075"/>
            <a:ext cx="3160500" cy="400200"/>
          </a:xfrm>
          <a:prstGeom prst="rect">
            <a:avLst/>
          </a:prstGeom>
          <a:noFill/>
          <a:ln>
            <a:noFill/>
          </a:ln>
        </p:spPr>
        <p:txBody>
          <a:bodyPr anchor="t" anchorCtr="0" bIns="91425" lIns="91425" rIns="91425" spcFirstLastPara="1" tIns="91425" wrap="square">
            <a:spAutoFit/>
          </a:bodyPr>
          <a:lstStyle/>
          <a:p>
            <a:pPr algn="l" indent="0" lvl="0" marL="0" rtl="0">
              <a:spcBef>
                <a:spcPts val="0"/>
              </a:spcBef>
              <a:spcAft>
                <a:spcPts val="0"/>
              </a:spcAft>
              <a:buNone/>
            </a:pPr>
            <a:r>
              <a:rPr lang="en">
                <a:latin typeface="Verdana"/>
                <a:ea typeface="Verdana"/>
                <a:cs typeface="Verdana"/>
                <a:sym typeface="Verdana"/>
              </a:rPr>
              <a:t>CONTINUOUS BASIC SERVICE</a:t>
            </a:r>
            <a:endParaRPr>
              <a:latin typeface="Verdana"/>
              <a:ea typeface="Verdana"/>
              <a:cs typeface="Verdana"/>
              <a:sym typeface="Verdana"/>
            </a:endParaRPr>
          </a:p>
        </p:txBody>
      </p:sp>
      <p:cxnSp>
        <p:nvCxnSpPr>
          <p:cNvPr id="544" name="Google Shape;544;p49"/>
          <p:cNvCxnSpPr/>
          <p:nvPr/>
        </p:nvCxnSpPr>
        <p:spPr>
          <a:xfrm>
            <a:off x="7850825" y="2557450"/>
            <a:ext cx="715500" cy="0"/>
          </a:xfrm>
          <a:prstGeom prst="straightConnector1">
            <a:avLst/>
          </a:prstGeom>
          <a:noFill/>
          <a:ln cap="flat" cmpd="sng" w="19050">
            <a:solidFill>
              <a:srgbClr val="000000"/>
            </a:solidFill>
            <a:prstDash val="solid"/>
            <a:round/>
            <a:headEnd len="med" type="none" w="med"/>
            <a:tailEnd len="med" type="none" w="med"/>
          </a:ln>
        </p:spPr>
      </p:cxnSp>
      <p:cxnSp>
        <p:nvCxnSpPr>
          <p:cNvPr id="545" name="Google Shape;545;p49"/>
          <p:cNvCxnSpPr/>
          <p:nvPr/>
        </p:nvCxnSpPr>
        <p:spPr>
          <a:xfrm>
            <a:off x="7850825" y="3020507"/>
            <a:ext cx="715500" cy="0"/>
          </a:xfrm>
          <a:prstGeom prst="straightConnector1">
            <a:avLst/>
          </a:prstGeom>
          <a:noFill/>
          <a:ln cap="flat" cmpd="sng" w="19050">
            <a:solidFill>
              <a:srgbClr val="000000"/>
            </a:solidFill>
            <a:prstDash val="solid"/>
            <a:round/>
            <a:headEnd len="med" type="none" w="med"/>
            <a:tailEnd len="med" type="none" w="med"/>
          </a:ln>
        </p:spPr>
      </p:cxnSp>
      <p:cxnSp>
        <p:nvCxnSpPr>
          <p:cNvPr id="546" name="Google Shape;546;p49"/>
          <p:cNvCxnSpPr/>
          <p:nvPr/>
        </p:nvCxnSpPr>
        <p:spPr>
          <a:xfrm>
            <a:off x="7850825" y="3483564"/>
            <a:ext cx="715500" cy="0"/>
          </a:xfrm>
          <a:prstGeom prst="straightConnector1">
            <a:avLst/>
          </a:prstGeom>
          <a:noFill/>
          <a:ln cap="flat" cmpd="sng" w="19050">
            <a:solidFill>
              <a:srgbClr val="000000"/>
            </a:solidFill>
            <a:prstDash val="solid"/>
            <a:round/>
            <a:headEnd len="med" type="none" w="med"/>
            <a:tailEnd len="med" type="none" w="med"/>
          </a:ln>
        </p:spPr>
      </p:cxnSp>
      <p:cxnSp>
        <p:nvCxnSpPr>
          <p:cNvPr id="547" name="Google Shape;547;p49"/>
          <p:cNvCxnSpPr/>
          <p:nvPr/>
        </p:nvCxnSpPr>
        <p:spPr>
          <a:xfrm>
            <a:off x="7850825" y="3946622"/>
            <a:ext cx="715500" cy="0"/>
          </a:xfrm>
          <a:prstGeom prst="straightConnector1">
            <a:avLst/>
          </a:prstGeom>
          <a:noFill/>
          <a:ln cap="flat" cmpd="sng" w="19050">
            <a:solidFill>
              <a:srgbClr val="000000"/>
            </a:solidFill>
            <a:prstDash val="solid"/>
            <a:round/>
            <a:headEnd len="med" type="none" w="med"/>
            <a:tailEnd len="med" type="none" w="med"/>
          </a:ln>
        </p:spPr>
      </p:cxnSp>
      <p:cxnSp>
        <p:nvCxnSpPr>
          <p:cNvPr id="548" name="Google Shape;548;p49"/>
          <p:cNvCxnSpPr/>
          <p:nvPr/>
        </p:nvCxnSpPr>
        <p:spPr>
          <a:xfrm>
            <a:off x="7850825" y="4409679"/>
            <a:ext cx="715500" cy="0"/>
          </a:xfrm>
          <a:prstGeom prst="straightConnector1">
            <a:avLst/>
          </a:prstGeom>
          <a:noFill/>
          <a:ln cap="flat" cmpd="sng" w="19050">
            <a:solidFill>
              <a:srgbClr val="000000"/>
            </a:solidFill>
            <a:prstDash val="solid"/>
            <a:round/>
            <a:headEnd len="med" type="none" w="med"/>
            <a:tailEnd len="med" type="none" w="med"/>
          </a:ln>
        </p:spPr>
      </p:cxnSp>
      <p:cxnSp>
        <p:nvCxnSpPr>
          <p:cNvPr id="549" name="Google Shape;549;p49"/>
          <p:cNvCxnSpPr/>
          <p:nvPr/>
        </p:nvCxnSpPr>
        <p:spPr>
          <a:xfrm>
            <a:off x="7850825" y="4872736"/>
            <a:ext cx="715500" cy="0"/>
          </a:xfrm>
          <a:prstGeom prst="straightConnector1">
            <a:avLst/>
          </a:prstGeom>
          <a:noFill/>
          <a:ln cap="flat" cmpd="sng" w="19050">
            <a:solidFill>
              <a:srgbClr val="000000"/>
            </a:solidFill>
            <a:prstDash val="solid"/>
            <a:round/>
            <a:headEnd len="med" type="none" w="med"/>
            <a:tailEnd len="med" type="none" w="med"/>
          </a:ln>
        </p:spPr>
      </p:cxnSp>
      <p:cxnSp>
        <p:nvCxnSpPr>
          <p:cNvPr id="550" name="Google Shape;550;p49"/>
          <p:cNvCxnSpPr/>
          <p:nvPr/>
        </p:nvCxnSpPr>
        <p:spPr>
          <a:xfrm>
            <a:off x="7850825" y="5335793"/>
            <a:ext cx="715500" cy="0"/>
          </a:xfrm>
          <a:prstGeom prst="straightConnector1">
            <a:avLst/>
          </a:prstGeom>
          <a:noFill/>
          <a:ln cap="flat" cmpd="sng" w="19050">
            <a:solidFill>
              <a:srgbClr val="000000"/>
            </a:solidFill>
            <a:prstDash val="solid"/>
            <a:round/>
            <a:headEnd len="med" type="none" w="med"/>
            <a:tailEnd len="med" type="none" w="med"/>
          </a:ln>
        </p:spPr>
      </p:cxnSp>
      <p:cxnSp>
        <p:nvCxnSpPr>
          <p:cNvPr id="551" name="Google Shape;551;p49"/>
          <p:cNvCxnSpPr/>
          <p:nvPr/>
        </p:nvCxnSpPr>
        <p:spPr>
          <a:xfrm>
            <a:off x="7850825" y="5837400"/>
            <a:ext cx="715500" cy="0"/>
          </a:xfrm>
          <a:prstGeom prst="straightConnector1">
            <a:avLst/>
          </a:prstGeom>
          <a:noFill/>
          <a:ln cap="flat" cmpd="sng" w="19050">
            <a:solidFill>
              <a:srgbClr val="000000"/>
            </a:solidFill>
            <a:prstDash val="solid"/>
            <a:round/>
            <a:headEnd len="med" type="none" w="med"/>
            <a:tailEnd len="med" type="none" w="med"/>
          </a:ln>
        </p:spPr>
      </p:cxnSp>
      <p:cxnSp>
        <p:nvCxnSpPr>
          <p:cNvPr id="552" name="Google Shape;552;p49"/>
          <p:cNvCxnSpPr/>
          <p:nvPr/>
        </p:nvCxnSpPr>
        <p:spPr>
          <a:xfrm>
            <a:off x="505000" y="6408575"/>
            <a:ext cx="3657600" cy="0"/>
          </a:xfrm>
          <a:prstGeom prst="straightConnector1">
            <a:avLst/>
          </a:prstGeom>
          <a:noFill/>
          <a:ln cap="flat" cmpd="sng" w="19050">
            <a:solidFill>
              <a:srgbClr val="000000"/>
            </a:solidFill>
            <a:prstDash val="solid"/>
            <a:round/>
            <a:headEnd len="med" type="none" w="med"/>
            <a:tailEnd len="med" type="none" w="med"/>
          </a:ln>
        </p:spPr>
      </p:cxnSp>
      <p:cxnSp>
        <p:nvCxnSpPr>
          <p:cNvPr id="553" name="Google Shape;553;p49"/>
          <p:cNvCxnSpPr/>
          <p:nvPr/>
        </p:nvCxnSpPr>
        <p:spPr>
          <a:xfrm>
            <a:off x="4981375" y="6408575"/>
            <a:ext cx="3657600" cy="0"/>
          </a:xfrm>
          <a:prstGeom prst="straightConnector1">
            <a:avLst/>
          </a:prstGeom>
          <a:noFill/>
          <a:ln cap="flat" cmpd="sng" w="19050">
            <a:solidFill>
              <a:srgbClr val="000000"/>
            </a:solidFill>
            <a:prstDash val="solid"/>
            <a:round/>
            <a:headEnd len="med" type="none" w="med"/>
            <a:tailEnd len="med" type="none" w="med"/>
          </a:ln>
        </p:spPr>
      </p:cxnSp>
      <p:sp>
        <p:nvSpPr>
          <p:cNvPr id="554" name="Google Shape;554;p49"/>
          <p:cNvSpPr txBox="1"/>
          <p:nvPr/>
        </p:nvSpPr>
        <p:spPr>
          <a:xfrm>
            <a:off x="505025" y="6339000"/>
            <a:ext cx="1800900" cy="538800"/>
          </a:xfrm>
          <a:prstGeom prst="rect">
            <a:avLst/>
          </a:prstGeom>
          <a:noFill/>
          <a:ln>
            <a:noFill/>
          </a:ln>
        </p:spPr>
        <p:txBody>
          <a:bodyPr anchor="t" anchorCtr="0" bIns="91425" lIns="91425" rIns="91425" spcFirstLastPara="1" tIns="91425" wrap="square">
            <a:spAutoFit/>
          </a:bodyPr>
          <a:lstStyle/>
          <a:p>
            <a:pPr algn="l" indent="0" lvl="0" marL="0" rtl="0">
              <a:spcBef>
                <a:spcPts val="0"/>
              </a:spcBef>
              <a:spcAft>
                <a:spcPts val="0"/>
              </a:spcAft>
              <a:buNone/>
            </a:pPr>
            <a:r>
              <a:rPr lang="en" sz="1150">
                <a:latin typeface="Verdana"/>
                <a:ea typeface="Verdana"/>
                <a:cs typeface="Verdana"/>
                <a:sym typeface="Verdana"/>
              </a:rPr>
              <a:t>Signed by Integrated Marketing Consultant</a:t>
            </a:r>
            <a:endParaRPr sz="1150">
              <a:latin typeface="Verdana"/>
              <a:ea typeface="Verdana"/>
              <a:cs typeface="Verdana"/>
              <a:sym typeface="Verdana"/>
            </a:endParaRPr>
          </a:p>
        </p:txBody>
      </p:sp>
      <p:sp>
        <p:nvSpPr>
          <p:cNvPr id="555" name="Google Shape;555;p49"/>
          <p:cNvSpPr txBox="1"/>
          <p:nvPr/>
        </p:nvSpPr>
        <p:spPr>
          <a:xfrm>
            <a:off x="4981400" y="6339000"/>
            <a:ext cx="1479000" cy="361800"/>
          </a:xfrm>
          <a:prstGeom prst="rect">
            <a:avLst/>
          </a:prstGeom>
          <a:noFill/>
          <a:ln>
            <a:noFill/>
          </a:ln>
        </p:spPr>
        <p:txBody>
          <a:bodyPr anchor="t" anchorCtr="0" bIns="91425" lIns="91425" rIns="91425" spcFirstLastPara="1" tIns="91425" wrap="square">
            <a:spAutoFit/>
          </a:bodyPr>
          <a:lstStyle/>
          <a:p>
            <a:pPr algn="l" indent="0" lvl="0" marL="0" rtl="0">
              <a:spcBef>
                <a:spcPts val="0"/>
              </a:spcBef>
              <a:spcAft>
                <a:spcPts val="0"/>
              </a:spcAft>
              <a:buNone/>
            </a:pPr>
            <a:r>
              <a:rPr lang="en" sz="1150">
                <a:latin typeface="Verdana"/>
                <a:ea typeface="Verdana"/>
                <a:cs typeface="Verdana"/>
                <a:sym typeface="Verdana"/>
              </a:rPr>
              <a:t>Signed by Client</a:t>
            </a:r>
            <a:endParaRPr sz="1150">
              <a:latin typeface="Verdana"/>
              <a:ea typeface="Verdana"/>
              <a:cs typeface="Verdana"/>
              <a:sym typeface="Verdana"/>
            </a:endParaRPr>
          </a:p>
        </p:txBody>
      </p:sp>
      <p:sp>
        <p:nvSpPr>
          <p:cNvPr id="556" name="Google Shape;556;p49"/>
          <p:cNvSpPr txBox="1"/>
          <p:nvPr/>
        </p:nvSpPr>
        <p:spPr>
          <a:xfrm>
            <a:off x="3591093" y="6339000"/>
            <a:ext cx="571500" cy="361800"/>
          </a:xfrm>
          <a:prstGeom prst="rect">
            <a:avLst/>
          </a:prstGeom>
          <a:noFill/>
          <a:ln>
            <a:noFill/>
          </a:ln>
        </p:spPr>
        <p:txBody>
          <a:bodyPr anchor="t" anchorCtr="0" bIns="91425" lIns="91425" rIns="91425" spcFirstLastPara="1" tIns="91425" wrap="square">
            <a:spAutoFit/>
          </a:bodyPr>
          <a:lstStyle/>
          <a:p>
            <a:pPr algn="ctr" indent="0" lvl="0" marL="0"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57" name="Google Shape;557;p49"/>
          <p:cNvSpPr txBox="1"/>
          <p:nvPr/>
        </p:nvSpPr>
        <p:spPr>
          <a:xfrm>
            <a:off x="8067468" y="6339000"/>
            <a:ext cx="571500" cy="361800"/>
          </a:xfrm>
          <a:prstGeom prst="rect">
            <a:avLst/>
          </a:prstGeom>
          <a:noFill/>
          <a:ln>
            <a:noFill/>
          </a:ln>
        </p:spPr>
        <p:txBody>
          <a:bodyPr anchor="t" anchorCtr="0" bIns="91425" lIns="91425" rIns="91425" spcFirstLastPara="1" tIns="91425" wrap="square">
            <a:spAutoFit/>
          </a:bodyPr>
          <a:lstStyle/>
          <a:p>
            <a:pPr algn="ctr" indent="0" lvl="0" marL="0"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29414</Words>
  <Application>Microsoft Macintosh PowerPoint</Application>
  <PresentationFormat>Custom</PresentationFormat>
  <Paragraphs>1995</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Verdana</vt:lpstr>
      <vt:lpstr>Simple Light</vt:lpstr>
      <vt:lpstr>PowerPoint Presentation</vt:lpstr>
      <vt:lpstr>Team Commitment</vt:lpstr>
      <vt:lpstr>Marketplace Competition</vt:lpstr>
      <vt:lpstr>Strategic Marketing I</vt:lpstr>
      <vt:lpstr>Strategic Marketing II</vt:lpstr>
      <vt:lpstr>Target Marketing</vt:lpstr>
      <vt:lpstr>Target Marketing</vt:lpstr>
      <vt:lpstr>Target Marketing</vt:lpstr>
      <vt:lpstr>Target Marketing</vt:lpstr>
      <vt:lpstr>Target Marketing</vt:lpstr>
      <vt:lpstr>Recommended Reallocation of  Total Advertising Investment (TAI)</vt:lpstr>
      <vt:lpstr>PowerPoint Presentation</vt:lpstr>
      <vt:lpstr>PowerPoint Presentation</vt:lpstr>
      <vt:lpstr>Profile of Consumers</vt:lpstr>
      <vt:lpstr>Marketing Strategies</vt:lpstr>
      <vt:lpstr>Creative Concepts I</vt:lpstr>
      <vt:lpstr>Creative Concepts II</vt:lpstr>
      <vt:lpstr>Digital Marketing Strategies</vt:lpstr>
      <vt:lpstr>Long Range Strategic Plans</vt:lpstr>
      <vt:lpstr>Advantages to Long-Range Strategic Planning</vt:lpstr>
      <vt:lpstr>Proposed Schedule - Plan A</vt:lpstr>
      <vt:lpstr>Proposed Schedule - Plan A</vt:lpstr>
      <vt:lpstr>Proposed Schedule - Plan A</vt:lpstr>
      <vt:lpstr>Break Even Analysis - Plan A</vt:lpstr>
      <vt:lpstr>Lifetime Value Analysis - Plan A</vt:lpstr>
      <vt:lpstr>Digital ROI Calculator - Plan A</vt:lpstr>
      <vt:lpstr>Proposed Schedule - Plan B</vt:lpstr>
      <vt:lpstr>Proposed Schedule - Plan B</vt:lpstr>
      <vt:lpstr>Proposed Schedule - Plan BT</vt:lpstr>
      <vt:lpstr>Proposed Schedule - Plan B</vt:lpstr>
      <vt:lpstr>Break Even Analysis - Plan B</vt:lpstr>
      <vt:lpstr>Lifetime Value Analysis - Plan B</vt:lpstr>
      <vt:lpstr>Digital ROI Calculator - Plan B</vt:lpstr>
      <vt:lpstr>Plan A</vt:lpstr>
      <vt:lpstr>Plan B</vt:lpstr>
      <vt:lpstr>Client Policy Agreement</vt:lpstr>
      <vt:lpstr>Sales Service Agreement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cp:lastModifiedBy>andrew hinton</cp:lastModifiedBy>
  <dcterms:modified xsi:type="dcterms:W3CDTF">2026-01-10T21:53:40Z</dcterms:modified>
  <cp:revision>5</cp:revision>
  <dc:title>PowerPoint Presentation</dc:title>
</cp:coreProperties>
</file>