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3"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9"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3029"/>
    <p:restoredTop sz="94479"/>
  </p:normalViewPr>
  <p:slideViewPr>
    <p:cSldViewPr snapToGrid="0">
      <p:cViewPr varScale="1">
        <p:scale>
          <a:sx n="44" d="100"/>
          <a:sy n="44" d="100"/>
        </p:scale>
        <p:origin x="184" y="856"/>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BBD058AD-A34B-407F-201E-ABEA785A7C38}"/>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68E6DD5B-1247-DA69-B967-D550C0A41366}"/>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0A987FF9-B5A4-CFE0-A4C2-3CEC4D1DC3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74776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b1f3d784ca_0_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b1f3d784ca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490250" y="640213"/>
            <a:ext cx="6367800" cy="58179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7" name="Google Shape;47;p8"/>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3">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a:solidFill>
                  <a:schemeClr val="dk1"/>
                </a:solidFill>
                <a:latin typeface="Verdana"/>
                <a:ea typeface="Verdana"/>
                <a:cs typeface="Verdana"/>
                <a:sym typeface="Verdana"/>
              </a:rPr>
              <a:t>Copyright © 1984-2023  Executive Decision Systems, Inc. and The Guld Resource Group, LLC.</a:t>
            </a:r>
            <a:endParaRPr sz="700" b="1">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dirty="0">
                <a:latin typeface="Verdana"/>
                <a:ea typeface="Verdana"/>
                <a:cs typeface="Verdana"/>
                <a:sym typeface="Verdana"/>
              </a:rPr>
              <a:t>The following proposal will be submitted to</a:t>
            </a:r>
            <a:endParaRPr sz="1550" b="1" dirty="0">
              <a:latin typeface="Verdana"/>
              <a:ea typeface="Verdana"/>
              <a:cs typeface="Verdana"/>
              <a:sym typeface="Verdana"/>
            </a:endParaRPr>
          </a:p>
          <a:p>
            <a:pPr marL="0" lvl="0" indent="0" algn="ctr" rtl="0">
              <a:spcBef>
                <a:spcPts val="0"/>
              </a:spcBef>
              <a:spcAft>
                <a:spcPts val="0"/>
              </a:spcAft>
              <a:buNone/>
            </a:pPr>
            <a:r>
              <a:rPr lang="en" sz="1550" b="1" dirty="0" err="1">
                <a:latin typeface="Verdana"/>
                <a:ea typeface="Verdana"/>
                <a:cs typeface="Verdana"/>
                <a:sym typeface="Verdana"/>
              </a:rPr>
              <a:t>clientBusinessName</a:t>
            </a:r>
            <a:endParaRPr sz="155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2nd Tier</a:t>
            </a:r>
            <a:endParaRPr sz="1150" b="1">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a:t>
            </a:r>
            <a:endParaRPr/>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nvGraphicFramePr>
        <p:xfrm>
          <a:off x="594360"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Introduce New Department/Products/Services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Feature Specific Products/Services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Call Attention to Brands/Private Labels Carried</a:t>
                      </a:r>
                      <a:endParaRPr sz="100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Promote Off-price Items/Services</a:t>
                      </a:r>
                      <a:endParaRPr sz="100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Utilize Co-op/Vendor Dollars</a:t>
                      </a:r>
                      <a:endParaRPr sz="100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Maintain Market Dominance</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Elevate Business Brand/Image</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Improve Reputation and Listing Management</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Enhance Website (Mobile, Response, SEO, SEM)</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Increase Market Share</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nvGraphicFramePr>
        <p:xfrm>
          <a:off x="594360" y="445312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14875">
                <a:tc>
                  <a:txBody>
                    <a:bodyPr/>
                    <a:lstStyle/>
                    <a:p>
                      <a:pPr marL="0" lvl="0" indent="0" algn="l" rtl="0">
                        <a:lnSpc>
                          <a:spcPct val="115000"/>
                        </a:lnSpc>
                        <a:spcBef>
                          <a:spcPts val="0"/>
                        </a:spcBef>
                        <a:spcAft>
                          <a:spcPts val="0"/>
                        </a:spcAft>
                        <a:buNone/>
                      </a:pPr>
                      <a:r>
                        <a:rPr lang="en" sz="1000" b="1">
                          <a:solidFill>
                            <a:srgbClr val="222222"/>
                          </a:solidFill>
                          <a:latin typeface="Verdana"/>
                          <a:ea typeface="Verdana"/>
                          <a:cs typeface="Verdana"/>
                          <a:sym typeface="Verdana"/>
                        </a:rPr>
                        <a:t>Make Promotional Events Stronger</a:t>
                      </a:r>
                      <a:endParaRPr sz="1000" b="1">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Develop Digital/Mobile/Social Strategies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14875">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Establish a quarterly spike/seasonal campaign</a:t>
                      </a:r>
                      <a:endParaRPr sz="100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Develop Database Marketing (Email and Text)</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Initiate Cause Marketing Programs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Develop Specially Staged Events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nvGraphicFramePr>
        <p:xfrm>
          <a:off x="5084064" y="445312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14875">
                <a:tc>
                  <a:txBody>
                    <a:bodyPr/>
                    <a:lstStyle/>
                    <a:p>
                      <a:pPr marL="0" lvl="0" indent="0" algn="l" rtl="0">
                        <a:lnSpc>
                          <a:spcPct val="115000"/>
                        </a:lnSpc>
                        <a:spcBef>
                          <a:spcPts val="0"/>
                        </a:spcBef>
                        <a:spcAft>
                          <a:spcPts val="0"/>
                        </a:spcAft>
                        <a:buNone/>
                      </a:pPr>
                      <a:r>
                        <a:rPr lang="en" sz="1000" b="1">
                          <a:solidFill>
                            <a:srgbClr val="222222"/>
                          </a:solidFill>
                          <a:latin typeface="Verdana"/>
                          <a:ea typeface="Verdana"/>
                          <a:cs typeface="Verdana"/>
                          <a:sym typeface="Verdana"/>
                        </a:rPr>
                        <a:t>Maintain Market Dominance</a:t>
                      </a:r>
                      <a:endParaRPr sz="1000" b="1">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Elevate Business Brand/Image</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Improve Reputation and Listing Management</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214875">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Enhance Website (Mobile, Response, SEO, SEM)</a:t>
                      </a:r>
                      <a:endParaRPr sz="100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Increase Market Share</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Tech Recruitment</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1. Initiate Cause Marketing Programs</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2. Tech Recruitment</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3. Expand Target Consumers (by age, sex, geography)</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a:solidFill>
                            <a:schemeClr val="dk1"/>
                          </a:solidFill>
                          <a:latin typeface="Verdana"/>
                          <a:ea typeface="Verdana"/>
                          <a:cs typeface="Verdana"/>
                          <a:sym typeface="Verdana"/>
                        </a:rPr>
                        <a:t>{{poorestMonths}}</a:t>
                      </a:r>
                      <a:endParaRPr sz="110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a:latin typeface="Verdana"/>
                          <a:ea typeface="Verdana"/>
                          <a:cs typeface="Verdana"/>
                          <a:sym typeface="Verdana"/>
                        </a:rPr>
                        <a:t>{{bestMonths}}</a:t>
                      </a:r>
                      <a:endParaRPr sz="110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a:latin typeface="Verdana"/>
                          <a:ea typeface="Verdana"/>
                          <a:cs typeface="Verdana"/>
                          <a:sym typeface="Verdana"/>
                        </a:rPr>
                        <a:t>{{bestDays}}</a:t>
                      </a:r>
                      <a:endParaRPr sz="110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8"/>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nvGraphicFramePr>
        <p:xfrm>
          <a:off x="1201409" y="4562856"/>
          <a:ext cx="6741175" cy="2274981"/>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63" name="Google Shape;163;p18"/>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64" name="Google Shape;164;p18"/>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65" name="Google Shape;165;p18"/>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66" name="Google Shape;166;p18"/>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67" name="Google Shape;167;p18"/>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68" name="Google Shape;168;p18"/>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169" name="Google Shape;169;p18"/>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170" name="Google Shape;170;p18"/>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19"/>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89" name="Google Shape;189;p19"/>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90" name="Google Shape;190;p19"/>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93" name="Google Shape;193;p19"/>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94" name="Google Shape;194;p19"/>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195" name="Google Shape;195;p19"/>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196" name="Google Shape;196;p19"/>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13" name="Google Shape;213;p20"/>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14" name="Google Shape;214;p20"/>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15" name="Google Shape;215;p20"/>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16" name="Google Shape;216;p20"/>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18" name="Google Shape;218;p20"/>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19" name="Google Shape;219;p20"/>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20" name="Google Shape;220;p20"/>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21" name="Google Shape;221;p20"/>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22" name="Google Shape;222;p20"/>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21"/>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39" name="Google Shape;239;p21"/>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40" name="Google Shape;240;p21"/>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41" name="Google Shape;241;p21"/>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44" name="Google Shape;244;p21"/>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45" name="Google Shape;245;p21"/>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46" name="Google Shape;246;p21"/>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47" name="Google Shape;247;p21"/>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69" name="Google Shape;269;p22"/>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70" name="Google Shape;270;p22"/>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71" name="Google Shape;271;p22"/>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72" name="Google Shape;272;p22"/>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61786"/>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a:t>Target 85%</a:t>
                      </a:r>
                      <a:endParaRPr sz="1900" b="1"/>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1464298643"/>
              </p:ext>
            </p:extLst>
          </p:nvPr>
        </p:nvGraphicFramePr>
        <p:xfrm>
          <a:off x="1524000" y="1625600"/>
          <a:ext cx="6096000" cy="406400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6F55685A-B20E-589F-C9AB-D97A0A27BBF8}"/>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EBB9E43-FC2B-98C6-5768-C8234EFA6A28}"/>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CA0B8B14-CAFA-F139-7C17-A3F12DCC5D3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8BBC5374-3FA0-0199-7FC1-DB5E1FB516C0}"/>
              </a:ext>
            </a:extLst>
          </p:cNvPr>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a:extLst>
              <a:ext uri="{FF2B5EF4-FFF2-40B4-BE49-F238E27FC236}">
                <a16:creationId xmlns:a16="http://schemas.microsoft.com/office/drawing/2014/main" id="{9415B60E-BCC9-D6E8-D0B5-8C040B3BB268}"/>
              </a:ext>
            </a:extLst>
          </p:cNvPr>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pic>
        <p:nvPicPr>
          <p:cNvPr id="325" name="Google Shape;325;p24">
            <a:extLst>
              <a:ext uri="{FF2B5EF4-FFF2-40B4-BE49-F238E27FC236}">
                <a16:creationId xmlns:a16="http://schemas.microsoft.com/office/drawing/2014/main" id="{C7801B3F-6126-1D97-227B-3D43762B7A66}"/>
              </a:ext>
            </a:extLst>
          </p:cNvPr>
          <p:cNvPicPr preferRelativeResize="0"/>
          <p:nvPr/>
        </p:nvPicPr>
        <p:blipFill>
          <a:blip r:embed="rId3">
            <a:alphaModFix/>
          </a:blip>
          <a:stretch>
            <a:fillRect/>
          </a:stretch>
        </p:blipFill>
        <p:spPr>
          <a:xfrm>
            <a:off x="448056" y="1363660"/>
            <a:ext cx="8247888" cy="5099944"/>
          </a:xfrm>
          <a:prstGeom prst="rect">
            <a:avLst/>
          </a:prstGeom>
          <a:noFill/>
          <a:ln>
            <a:noFill/>
          </a:ln>
        </p:spPr>
      </p:pic>
    </p:spTree>
    <p:extLst>
      <p:ext uri="{BB962C8B-B14F-4D97-AF65-F5344CB8AC3E}">
        <p14:creationId xmlns:p14="http://schemas.microsoft.com/office/powerpoint/2010/main" val="941900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2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331" name="Google Shape;331;p25"/>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Proposed Year’s Media Allocation</a:t>
            </a:r>
            <a:endParaRPr/>
          </a:p>
        </p:txBody>
      </p:sp>
      <p:sp>
        <p:nvSpPr>
          <p:cNvPr id="332" name="Google Shape;332;p25"/>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a:solidFill>
                  <a:schemeClr val="dk1"/>
                </a:solidFill>
                <a:latin typeface="Verdana"/>
                <a:ea typeface="Verdana"/>
                <a:cs typeface="Verdana"/>
                <a:sym typeface="Verdana"/>
              </a:rPr>
              <a:t>Total Advertising Investment (TAI): </a:t>
            </a:r>
            <a:r>
              <a:rPr lang="en" sz="1550" b="1">
                <a:latin typeface="Verdana"/>
                <a:ea typeface="Verdana"/>
                <a:cs typeface="Verdana"/>
                <a:sym typeface="Verdana"/>
              </a:rPr>
              <a:t>totalAdvertisingInvestmentConfidentialClientEvaluationProposed</a:t>
            </a:r>
            <a:endParaRPr sz="1550" b="1">
              <a:latin typeface="Verdana"/>
              <a:ea typeface="Verdana"/>
              <a:cs typeface="Verdana"/>
              <a:sym typeface="Verdana"/>
            </a:endParaRPr>
          </a:p>
        </p:txBody>
      </p:sp>
      <p:pic>
        <p:nvPicPr>
          <p:cNvPr id="333" name="Google Shape;333;p25"/>
          <p:cNvPicPr preferRelativeResize="0"/>
          <p:nvPr/>
        </p:nvPicPr>
        <p:blipFill>
          <a:blip r:embed="rId3">
            <a:alphaModFix/>
          </a:blip>
          <a:stretch>
            <a:fillRect/>
          </a:stretch>
        </p:blipFill>
        <p:spPr>
          <a:xfrm>
            <a:off x="448056" y="1363660"/>
            <a:ext cx="8247888" cy="509994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05" name="Google Shape;405;p33"/>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t>120</a:t>
                      </a:r>
                      <a:endParaRPr sz="100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planACity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planAReach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planAFrequency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planADigitalImpressionsMonthly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planAMonthly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planADaily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planAAverageSale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planAAdditionalGrossSales</a:t>
            </a:r>
            <a:endParaRPr sz="1300" u="sng">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380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a_prospectsNeededToBreakEven</a:t>
            </a:r>
            <a:endParaRPr sz="130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49" name="Google Shape;449;p39"/>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B</a:t>
            </a:r>
            <a:endParaRPr/>
          </a:p>
        </p:txBody>
      </p:sp>
      <p:sp>
        <p:nvSpPr>
          <p:cNvPr id="491" name="Google Shape;491;p45"/>
          <p:cNvSpPr txBox="1">
            <a:spLocks noGrp="1"/>
          </p:cNvSpPr>
          <p:nvPr>
            <p:ph type="body" idx="2"/>
          </p:nvPr>
        </p:nvSpPr>
        <p:spPr>
          <a:xfrm>
            <a:off x="7132320" y="1453896"/>
            <a:ext cx="1243500" cy="51939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
        <p:nvSpPr>
          <p:cNvPr id="492" name="Google Shape;492;p45"/>
          <p:cNvSpPr txBox="1">
            <a:spLocks noGrp="1"/>
          </p:cNvSpPr>
          <p:nvPr>
            <p:ph type="body" idx="2"/>
          </p:nvPr>
        </p:nvSpPr>
        <p:spPr>
          <a:xfrm>
            <a:off x="772638" y="1453125"/>
            <a:ext cx="6355200" cy="51927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graphicFrame>
        <p:nvGraphicFramePr>
          <p:cNvPr id="510" name="Google Shape;510;p46"/>
          <p:cNvGraphicFramePr/>
          <p:nvPr/>
        </p:nvGraphicFramePr>
        <p:xfrm>
          <a:off x="297400" y="2615775"/>
          <a:ext cx="8374450" cy="1493450"/>
        </p:xfrm>
        <a:graphic>
          <a:graphicData uri="http://schemas.openxmlformats.org/drawingml/2006/table">
            <a:tbl>
              <a:tblPr>
                <a:noFill/>
                <a:tableStyleId>{CFB75FC7-DD7D-40D8-B2B2-EE4B611A8D2E}</a:tableStyleId>
              </a:tblPr>
              <a:tblGrid>
                <a:gridCol w="598175">
                  <a:extLst>
                    <a:ext uri="{9D8B030D-6E8A-4147-A177-3AD203B41FA5}">
                      <a16:colId xmlns:a16="http://schemas.microsoft.com/office/drawing/2014/main" val="20000"/>
                    </a:ext>
                  </a:extLst>
                </a:gridCol>
                <a:gridCol w="598175">
                  <a:extLst>
                    <a:ext uri="{9D8B030D-6E8A-4147-A177-3AD203B41FA5}">
                      <a16:colId xmlns:a16="http://schemas.microsoft.com/office/drawing/2014/main" val="20001"/>
                    </a:ext>
                  </a:extLst>
                </a:gridCol>
                <a:gridCol w="598175">
                  <a:extLst>
                    <a:ext uri="{9D8B030D-6E8A-4147-A177-3AD203B41FA5}">
                      <a16:colId xmlns:a16="http://schemas.microsoft.com/office/drawing/2014/main" val="20002"/>
                    </a:ext>
                  </a:extLst>
                </a:gridCol>
                <a:gridCol w="598175">
                  <a:extLst>
                    <a:ext uri="{9D8B030D-6E8A-4147-A177-3AD203B41FA5}">
                      <a16:colId xmlns:a16="http://schemas.microsoft.com/office/drawing/2014/main" val="20003"/>
                    </a:ext>
                  </a:extLst>
                </a:gridCol>
                <a:gridCol w="598175">
                  <a:extLst>
                    <a:ext uri="{9D8B030D-6E8A-4147-A177-3AD203B41FA5}">
                      <a16:colId xmlns:a16="http://schemas.microsoft.com/office/drawing/2014/main" val="20004"/>
                    </a:ext>
                  </a:extLst>
                </a:gridCol>
                <a:gridCol w="598175">
                  <a:extLst>
                    <a:ext uri="{9D8B030D-6E8A-4147-A177-3AD203B41FA5}">
                      <a16:colId xmlns:a16="http://schemas.microsoft.com/office/drawing/2014/main" val="20005"/>
                    </a:ext>
                  </a:extLst>
                </a:gridCol>
                <a:gridCol w="598175">
                  <a:extLst>
                    <a:ext uri="{9D8B030D-6E8A-4147-A177-3AD203B41FA5}">
                      <a16:colId xmlns:a16="http://schemas.microsoft.com/office/drawing/2014/main" val="20006"/>
                    </a:ext>
                  </a:extLst>
                </a:gridCol>
                <a:gridCol w="598175">
                  <a:extLst>
                    <a:ext uri="{9D8B030D-6E8A-4147-A177-3AD203B41FA5}">
                      <a16:colId xmlns:a16="http://schemas.microsoft.com/office/drawing/2014/main" val="20007"/>
                    </a:ext>
                  </a:extLst>
                </a:gridCol>
                <a:gridCol w="598175">
                  <a:extLst>
                    <a:ext uri="{9D8B030D-6E8A-4147-A177-3AD203B41FA5}">
                      <a16:colId xmlns:a16="http://schemas.microsoft.com/office/drawing/2014/main" val="20008"/>
                    </a:ext>
                  </a:extLst>
                </a:gridCol>
                <a:gridCol w="598175">
                  <a:extLst>
                    <a:ext uri="{9D8B030D-6E8A-4147-A177-3AD203B41FA5}">
                      <a16:colId xmlns:a16="http://schemas.microsoft.com/office/drawing/2014/main" val="20009"/>
                    </a:ext>
                  </a:extLst>
                </a:gridCol>
                <a:gridCol w="598175">
                  <a:extLst>
                    <a:ext uri="{9D8B030D-6E8A-4147-A177-3AD203B41FA5}">
                      <a16:colId xmlns:a16="http://schemas.microsoft.com/office/drawing/2014/main" val="20010"/>
                    </a:ext>
                  </a:extLst>
                </a:gridCol>
                <a:gridCol w="598175">
                  <a:extLst>
                    <a:ext uri="{9D8B030D-6E8A-4147-A177-3AD203B41FA5}">
                      <a16:colId xmlns:a16="http://schemas.microsoft.com/office/drawing/2014/main" val="20011"/>
                    </a:ext>
                  </a:extLst>
                </a:gridCol>
                <a:gridCol w="598175">
                  <a:extLst>
                    <a:ext uri="{9D8B030D-6E8A-4147-A177-3AD203B41FA5}">
                      <a16:colId xmlns:a16="http://schemas.microsoft.com/office/drawing/2014/main" val="20012"/>
                    </a:ext>
                  </a:extLst>
                </a:gridCol>
                <a:gridCol w="598175">
                  <a:extLst>
                    <a:ext uri="{9D8B030D-6E8A-4147-A177-3AD203B41FA5}">
                      <a16:colId xmlns:a16="http://schemas.microsoft.com/office/drawing/2014/main" val="20013"/>
                    </a:ext>
                  </a:extLst>
                </a:gridCol>
              </a:tblGrid>
              <a:tr h="30940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0075">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0075">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19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3819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$54,000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graphicFrame>
        <p:nvGraphicFramePr>
          <p:cNvPr id="528" name="Google Shape;528;p47"/>
          <p:cNvGraphicFramePr/>
          <p:nvPr/>
        </p:nvGraphicFramePr>
        <p:xfrm>
          <a:off x="356850" y="2530113"/>
          <a:ext cx="8272950" cy="1623900"/>
        </p:xfrm>
        <a:graphic>
          <a:graphicData uri="http://schemas.openxmlformats.org/drawingml/2006/table">
            <a:tbl>
              <a:tblPr>
                <a:noFill/>
                <a:tableStyleId>{CFB75FC7-DD7D-40D8-B2B2-EE4B611A8D2E}</a:tableStyleId>
              </a:tblPr>
              <a:tblGrid>
                <a:gridCol w="590925">
                  <a:extLst>
                    <a:ext uri="{9D8B030D-6E8A-4147-A177-3AD203B41FA5}">
                      <a16:colId xmlns:a16="http://schemas.microsoft.com/office/drawing/2014/main" val="20000"/>
                    </a:ext>
                  </a:extLst>
                </a:gridCol>
                <a:gridCol w="590925">
                  <a:extLst>
                    <a:ext uri="{9D8B030D-6E8A-4147-A177-3AD203B41FA5}">
                      <a16:colId xmlns:a16="http://schemas.microsoft.com/office/drawing/2014/main" val="20001"/>
                    </a:ext>
                  </a:extLst>
                </a:gridCol>
                <a:gridCol w="590925">
                  <a:extLst>
                    <a:ext uri="{9D8B030D-6E8A-4147-A177-3AD203B41FA5}">
                      <a16:colId xmlns:a16="http://schemas.microsoft.com/office/drawing/2014/main" val="20002"/>
                    </a:ext>
                  </a:extLst>
                </a:gridCol>
                <a:gridCol w="590925">
                  <a:extLst>
                    <a:ext uri="{9D8B030D-6E8A-4147-A177-3AD203B41FA5}">
                      <a16:colId xmlns:a16="http://schemas.microsoft.com/office/drawing/2014/main" val="20003"/>
                    </a:ext>
                  </a:extLst>
                </a:gridCol>
                <a:gridCol w="590925">
                  <a:extLst>
                    <a:ext uri="{9D8B030D-6E8A-4147-A177-3AD203B41FA5}">
                      <a16:colId xmlns:a16="http://schemas.microsoft.com/office/drawing/2014/main" val="20004"/>
                    </a:ext>
                  </a:extLst>
                </a:gridCol>
                <a:gridCol w="590925">
                  <a:extLst>
                    <a:ext uri="{9D8B030D-6E8A-4147-A177-3AD203B41FA5}">
                      <a16:colId xmlns:a16="http://schemas.microsoft.com/office/drawing/2014/main" val="20005"/>
                    </a:ext>
                  </a:extLst>
                </a:gridCol>
                <a:gridCol w="590925">
                  <a:extLst>
                    <a:ext uri="{9D8B030D-6E8A-4147-A177-3AD203B41FA5}">
                      <a16:colId xmlns:a16="http://schemas.microsoft.com/office/drawing/2014/main" val="20006"/>
                    </a:ext>
                  </a:extLst>
                </a:gridCol>
                <a:gridCol w="590925">
                  <a:extLst>
                    <a:ext uri="{9D8B030D-6E8A-4147-A177-3AD203B41FA5}">
                      <a16:colId xmlns:a16="http://schemas.microsoft.com/office/drawing/2014/main" val="20007"/>
                    </a:ext>
                  </a:extLst>
                </a:gridCol>
                <a:gridCol w="590925">
                  <a:extLst>
                    <a:ext uri="{9D8B030D-6E8A-4147-A177-3AD203B41FA5}">
                      <a16:colId xmlns:a16="http://schemas.microsoft.com/office/drawing/2014/main" val="20008"/>
                    </a:ext>
                  </a:extLst>
                </a:gridCol>
                <a:gridCol w="590925">
                  <a:extLst>
                    <a:ext uri="{9D8B030D-6E8A-4147-A177-3AD203B41FA5}">
                      <a16:colId xmlns:a16="http://schemas.microsoft.com/office/drawing/2014/main" val="20009"/>
                    </a:ext>
                  </a:extLst>
                </a:gridCol>
                <a:gridCol w="590925">
                  <a:extLst>
                    <a:ext uri="{9D8B030D-6E8A-4147-A177-3AD203B41FA5}">
                      <a16:colId xmlns:a16="http://schemas.microsoft.com/office/drawing/2014/main" val="20010"/>
                    </a:ext>
                  </a:extLst>
                </a:gridCol>
                <a:gridCol w="590925">
                  <a:extLst>
                    <a:ext uri="{9D8B030D-6E8A-4147-A177-3AD203B41FA5}">
                      <a16:colId xmlns:a16="http://schemas.microsoft.com/office/drawing/2014/main" val="20011"/>
                    </a:ext>
                  </a:extLst>
                </a:gridCol>
                <a:gridCol w="590925">
                  <a:extLst>
                    <a:ext uri="{9D8B030D-6E8A-4147-A177-3AD203B41FA5}">
                      <a16:colId xmlns:a16="http://schemas.microsoft.com/office/drawing/2014/main" val="20012"/>
                    </a:ext>
                  </a:extLst>
                </a:gridCol>
                <a:gridCol w="590925">
                  <a:extLst>
                    <a:ext uri="{9D8B030D-6E8A-4147-A177-3AD203B41FA5}">
                      <a16:colId xmlns:a16="http://schemas.microsoft.com/office/drawing/2014/main" val="20013"/>
                    </a:ext>
                  </a:extLst>
                </a:gridCol>
              </a:tblGrid>
              <a:tr h="21265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2650">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2650">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66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12650">
                <a:tc>
                  <a:txBody>
                    <a:bodyPr/>
                    <a:lstStyle/>
                    <a:p>
                      <a:pPr marL="0" lvl="0" indent="0" algn="ctr" rtl="0">
                        <a:lnSpc>
                          <a:spcPct val="115000"/>
                        </a:lnSpc>
                        <a:spcBef>
                          <a:spcPts val="0"/>
                        </a:spcBef>
                        <a:spcAft>
                          <a:spcPts val="0"/>
                        </a:spcAft>
                        <a:buNone/>
                      </a:pPr>
                      <a:r>
                        <a:rPr lang="en" sz="1000"/>
                        <a:t>WWWA</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3866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608</TotalTime>
  <Words>29026</Words>
  <Application>Microsoft Macintosh PowerPoint</Application>
  <PresentationFormat>Custom</PresentationFormat>
  <Paragraphs>1999</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9</cp:revision>
  <dcterms:modified xsi:type="dcterms:W3CDTF">2026-02-15T23:56:33Z</dcterms:modified>
</cp:coreProperties>
</file>