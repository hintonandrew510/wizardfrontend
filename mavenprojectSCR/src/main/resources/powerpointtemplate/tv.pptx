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omments/comment5.xml" ContentType="application/vnd.openxmlformats-officedocument.presentationml.comment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4"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10"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029"/>
    <p:restoredTop sz="94421"/>
  </p:normalViewPr>
  <p:slideViewPr>
    <p:cSldViewPr snapToGrid="0">
      <p:cViewPr varScale="1">
        <p:scale>
          <a:sx n="44" d="100"/>
          <a:sy n="44" d="100"/>
        </p:scale>
        <p:origin x="208" y="83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21.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6663-5349-99D5-AAF6DADCDC6A}"/>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6663-5349-99D5-AAF6DADCDC6A}"/>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6663-5349-99D5-AAF6DADCDC6A}"/>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6663-5349-99D5-AAF6DADCDC6A}"/>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6663-5349-99D5-AAF6DADCDC6A}"/>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0.46074186622979058"/>
          <c:y val="0.15400324815973854"/>
        </c:manualLayout>
      </c:layout>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2F45-014C-B036-A53659FA5431}"/>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2F45-014C-B036-A53659FA5431}"/>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2F45-014C-B036-A53659FA5431}"/>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2F45-014C-B036-A53659FA5431}"/>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8-2F45-014C-B036-A53659FA5431}"/>
            </c:ext>
          </c:extLst>
        </c:ser>
        <c:dLbls>
          <c:showLegendKey val="0"/>
          <c:showVal val="0"/>
          <c:showCatName val="0"/>
          <c:showSerName val="0"/>
          <c:showPercent val="0"/>
          <c:showBubbleSize val="0"/>
          <c:showLeaderLines val="1"/>
        </c:dLbls>
      </c:pie3DChart>
      <c:spPr>
        <a:noFill/>
        <a:ln w="25400">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6-01-18T18:44:18.318" idx="10">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40DA2237-D124-1A3B-080C-2D0DF8484314}"/>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4172D168-98AE-5BD6-3580-DD8EF7D056EE}"/>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113EC8D9-F898-AEAD-0070-41352C0FD37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4879976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2">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5" r:id="rId7"/>
    <p:sldLayoutId id="2147483656" r:id="rId8"/>
    <p:sldLayoutId id="2147483657" r:id="rId9"/>
    <p:sldLayoutId id="2147483658"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comments" Target="../comments/commen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I12</a:t>
            </a:r>
            <a:endParaRPr dirty="0"/>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389748"/>
            <a:ext cx="7466100" cy="5598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5B62369B-885B-8D26-0614-314EA8615D8D}"/>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41A61DC-E11A-06B6-4D6C-B01D002752C0}"/>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AFB28DC1-5A23-1D5F-E1AC-C7C2C3C7821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B05858EA-9A7B-B10B-6097-D8A1A094AE83}"/>
              </a:ext>
            </a:extLst>
          </p:cNvPr>
          <p:cNvSpPr txBox="1"/>
          <p:nvPr/>
        </p:nvSpPr>
        <p:spPr>
          <a:xfrm>
            <a:off x="398025" y="475488"/>
            <a:ext cx="8399400" cy="1097706"/>
          </a:xfrm>
          <a:prstGeom prst="rect">
            <a:avLst/>
          </a:prstGeom>
          <a:noFill/>
          <a:ln>
            <a:noFill/>
          </a:ln>
        </p:spPr>
        <p:txBody>
          <a:bodyPr spcFirstLastPara="1" wrap="square" lIns="91425" tIns="91425" rIns="91425" bIns="91425" anchor="t" anchorCtr="0">
            <a:spAutoFit/>
          </a:bodyPr>
          <a:lstStyle/>
          <a:p>
            <a:pPr lvl="0" algn="ctr">
              <a:lnSpc>
                <a:spcPct val="115000"/>
              </a:lnSpc>
              <a:spcBef>
                <a:spcPts val="800"/>
              </a:spcBef>
              <a:spcAft>
                <a:spcPts val="800"/>
              </a:spcAft>
              <a:buClr>
                <a:schemeClr val="dk1"/>
              </a:buClr>
              <a:buSzPts val="1100"/>
            </a:pPr>
            <a:r>
              <a:rPr lang="en-US" sz="4000" b="1" dirty="0">
                <a:solidFill>
                  <a:schemeClr val="dk1"/>
                </a:solidFill>
              </a:rPr>
              <a:t>Proposed Year’s Media Allocation</a:t>
            </a:r>
            <a:endParaRPr lang="en-US" sz="4000" dirty="0"/>
          </a:p>
        </p:txBody>
      </p:sp>
      <p:sp>
        <p:nvSpPr>
          <p:cNvPr id="324" name="Google Shape;324;p24">
            <a:extLst>
              <a:ext uri="{FF2B5EF4-FFF2-40B4-BE49-F238E27FC236}">
                <a16:creationId xmlns:a16="http://schemas.microsoft.com/office/drawing/2014/main" id="{893114EA-0A6D-762B-CA7B-4960ED015B02}"/>
              </a:ext>
            </a:extLst>
          </p:cNvPr>
          <p:cNvSpPr txBox="1"/>
          <p:nvPr/>
        </p:nvSpPr>
        <p:spPr>
          <a:xfrm>
            <a:off x="841248" y="6224954"/>
            <a:ext cx="7466100" cy="724594"/>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dirty="0">
                <a:solidFill>
                  <a:schemeClr val="dk1"/>
                </a:solidFill>
                <a:latin typeface="Verdana"/>
                <a:ea typeface="Verdana"/>
                <a:cs typeface="Verdana"/>
                <a:sym typeface="Verdana"/>
              </a:rPr>
              <a:t>Total Advertising Investment (TAI): </a:t>
            </a:r>
            <a:r>
              <a:rPr lang="en" sz="1550" b="1" dirty="0" err="1">
                <a:solidFill>
                  <a:schemeClr val="dk1"/>
                </a:solidFill>
                <a:latin typeface="Verdana"/>
                <a:ea typeface="Verdana"/>
                <a:cs typeface="Verdana"/>
                <a:sym typeface="Verdana"/>
              </a:rPr>
              <a:t>totalAdvertisingInvestmentConfidentialClientEvaluationOnePage</a:t>
            </a:r>
            <a:endParaRPr sz="1550" b="1" dirty="0">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C0C6E880-8D71-1216-0399-53837D66C448}"/>
              </a:ext>
            </a:extLst>
          </p:cNvPr>
          <p:cNvGraphicFramePr/>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865247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Proposed Schedule Plan A</a:t>
            </a:r>
            <a:endParaRPr dirty="0"/>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a:t>
            </a:r>
            <a:r>
              <a:rPr lang="en" sz="2100"/>
              <a:t>Next 12 Months</a:t>
            </a:r>
            <a:r>
              <a:rPr lang="en" sz="2100" dirty="0"/>
              <a:t>)</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4" name="Chart 3">
            <a:extLst>
              <a:ext uri="{FF2B5EF4-FFF2-40B4-BE49-F238E27FC236}">
                <a16:creationId xmlns:a16="http://schemas.microsoft.com/office/drawing/2014/main" id="{36E762A6-CFC9-E404-3770-D97BC10334CB}"/>
              </a:ext>
            </a:extLst>
          </p:cNvPr>
          <p:cNvGraphicFramePr/>
          <p:nvPr>
            <p:extLst>
              <p:ext uri="{D42A27DB-BD31-4B8C-83A1-F6EECF244321}">
                <p14:modId xmlns:p14="http://schemas.microsoft.com/office/powerpoint/2010/main" val="2364039595"/>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Market: </a:t>
            </a:r>
            <a:r>
              <a:rPr lang="en" dirty="0" err="1">
                <a:solidFill>
                  <a:schemeClr val="dk1"/>
                </a:solidFill>
                <a:latin typeface="Verdana"/>
                <a:ea typeface="Verdana"/>
                <a:cs typeface="Verdana"/>
                <a:sym typeface="Verdana"/>
              </a:rPr>
              <a:t>planACity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Broadcast Monthly Reach: </a:t>
            </a:r>
            <a:r>
              <a:rPr lang="en" dirty="0" err="1">
                <a:solidFill>
                  <a:schemeClr val="dk1"/>
                </a:solidFill>
                <a:latin typeface="Verdana"/>
                <a:ea typeface="Verdana"/>
                <a:cs typeface="Verdana"/>
                <a:sym typeface="Verdana"/>
              </a:rPr>
              <a:t>planAReach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Projected Monthly Broadcast Frequency: </a:t>
            </a:r>
            <a:r>
              <a:rPr lang="en" dirty="0" err="1">
                <a:solidFill>
                  <a:schemeClr val="dk1"/>
                </a:solidFill>
                <a:latin typeface="Verdana"/>
                <a:ea typeface="Verdana"/>
                <a:cs typeface="Verdana"/>
                <a:sym typeface="Verdana"/>
              </a:rPr>
              <a:t>planAFrequency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Estimated Monthly Digital Gross Impressions: </a:t>
            </a:r>
            <a:r>
              <a:rPr lang="en" dirty="0" err="1">
                <a:solidFill>
                  <a:schemeClr val="dk1"/>
                </a:solidFill>
                <a:latin typeface="Verdana"/>
                <a:ea typeface="Verdana"/>
                <a:cs typeface="Verdana"/>
                <a:sym typeface="Verdana"/>
              </a:rPr>
              <a:t>planADigitalImpressionsMonthly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Monthly Advertising Investment: </a:t>
            </a:r>
            <a:r>
              <a:rPr lang="en-US" dirty="0" err="1">
                <a:solidFill>
                  <a:schemeClr val="dk1"/>
                </a:solidFill>
                <a:latin typeface="Verdana"/>
                <a:ea typeface="Verdana"/>
                <a:cs typeface="Verdana"/>
                <a:sym typeface="Verdana"/>
              </a:rPr>
              <a:t>planAMonth</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dirty="0">
                <a:solidFill>
                  <a:schemeClr val="dk1"/>
                </a:solidFill>
                <a:latin typeface="Verdana"/>
                <a:ea typeface="Verdana"/>
                <a:cs typeface="Verdana"/>
                <a:sym typeface="Verdana"/>
              </a:rPr>
              <a:t>Average Base Daily Advertising Investment:</a:t>
            </a:r>
            <a:r>
              <a:rPr lang="en" dirty="0">
                <a:solidFill>
                  <a:schemeClr val="dk1"/>
                </a:solidFill>
                <a:latin typeface="Verdana"/>
                <a:ea typeface="Verdana"/>
                <a:cs typeface="Verdana"/>
                <a:sym typeface="Verdana"/>
              </a:rPr>
              <a:t> </a:t>
            </a:r>
            <a:r>
              <a:rPr lang="en" dirty="0" err="1">
                <a:solidFill>
                  <a:schemeClr val="dk1"/>
                </a:solidFill>
                <a:latin typeface="Verdana"/>
                <a:ea typeface="Verdana"/>
                <a:cs typeface="Verdana"/>
                <a:sym typeface="Verdana"/>
              </a:rPr>
              <a:t>planADaily</a:t>
            </a:r>
            <a:endParaRPr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dirty="0" err="1">
                <a:solidFill>
                  <a:srgbClr val="000000"/>
                </a:solidFill>
                <a:latin typeface="Verdana"/>
                <a:ea typeface="Verdana"/>
                <a:cs typeface="Verdana"/>
                <a:sym typeface="Verdana"/>
              </a:rPr>
              <a:t>planAAverageSale</a:t>
            </a:r>
            <a:endParaRPr sz="1300" u="sng" dirty="0">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planAClosingPct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planAMontly</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planAProspectSalesNeeded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planAGrossProfitOnSales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planAMonths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planAAdditionalGrossSales</a:t>
            </a:r>
            <a:endParaRPr sz="1300" u="sng" dirty="0">
              <a:solidFill>
                <a:schemeClr val="dk1"/>
              </a:solidFill>
              <a:latin typeface="Verdana"/>
              <a:ea typeface="Verdana"/>
              <a:cs typeface="Verdana"/>
              <a:sym typeface="Verdan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a_grossProfitMargin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a_grossProfitPerSale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a_averageRepeatSales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a_averageCustomerValue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a_yearsOfPatronage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a_lifetimeValuePerCustomer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a_prospectsNeededToBreakEven</a:t>
            </a:r>
            <a:endParaRPr sz="1300" dirty="0">
              <a:solidFill>
                <a:srgbClr val="000000"/>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planAMonthlDigitalInvestment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planACostPerThousand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planAClosingPctNumber</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planAClickThroughRate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planACostPerClicks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planASalesConversionPercentage</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Conversions</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dirty="0" err="1">
                <a:solidFill>
                  <a:schemeClr val="dk1"/>
                </a:solidFill>
                <a:latin typeface="Verdana"/>
                <a:ea typeface="Verdana"/>
                <a:cs typeface="Verdana"/>
                <a:sym typeface="Verdana"/>
              </a:rPr>
              <a:t>planACostPerConversion</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dirty="0" err="1">
                <a:solidFill>
                  <a:schemeClr val="dk1"/>
                </a:solidFill>
                <a:latin typeface="Verdana"/>
                <a:ea typeface="Verdana"/>
                <a:cs typeface="Verdana"/>
                <a:sym typeface="Verdana"/>
              </a:rPr>
              <a:t>planAProjectedGrossProfit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err="1">
                <a:solidFill>
                  <a:schemeClr val="dk1"/>
                </a:solidFill>
                <a:latin typeface="Verdana"/>
                <a:ea typeface="Verdana"/>
                <a:cs typeface="Verdana"/>
                <a:sym typeface="Verdana"/>
              </a:rPr>
              <a:t>GrossProfit</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ROID</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US" sz="1300" u="sng" dirty="0" err="1">
                <a:solidFill>
                  <a:schemeClr val="dk1"/>
                </a:solidFill>
                <a:latin typeface="Verdana"/>
                <a:ea typeface="Verdana"/>
                <a:cs typeface="Verdana"/>
                <a:sym typeface="Verdana"/>
              </a:rPr>
              <a:t>planAMonth</a:t>
            </a:r>
            <a:r>
              <a:rPr lang="en" sz="1300" u="sng" dirty="0">
                <a:solidFill>
                  <a:schemeClr val="dk1"/>
                </a:solidFill>
                <a:latin typeface="Verdana"/>
                <a:ea typeface="Verdana"/>
                <a:cs typeface="Verdana"/>
                <a:sym typeface="Verdana"/>
              </a:rPr>
              <a:t>ROIP</a:t>
            </a:r>
            <a:endParaRPr sz="1300" u="sng" dirty="0">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dirty="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dirty="0"/>
              <a:t>Budget Breakout by Month (For Next 12 Months)</a:t>
            </a:r>
            <a:endParaRPr sz="2100" dirty="0"/>
          </a:p>
          <a:p>
            <a:pPr marL="0" lvl="0" indent="0" algn="ctr" rtl="0">
              <a:spcBef>
                <a:spcPts val="0"/>
              </a:spcBef>
              <a:spcAft>
                <a:spcPts val="0"/>
              </a:spcAft>
              <a:buNone/>
            </a:pPr>
            <a:r>
              <a:rPr lang="en" sz="2100" dirty="0"/>
              <a:t>Proposed Media Plan: station</a:t>
            </a:r>
            <a:endParaRPr sz="2100" dirty="0"/>
          </a:p>
        </p:txBody>
      </p:sp>
      <p:graphicFrame>
        <p:nvGraphicFramePr>
          <p:cNvPr id="2" name="Chart 1">
            <a:extLst>
              <a:ext uri="{FF2B5EF4-FFF2-40B4-BE49-F238E27FC236}">
                <a16:creationId xmlns:a16="http://schemas.microsoft.com/office/drawing/2014/main" id="{C0F9799A-1588-148A-873E-F04989D2F589}"/>
              </a:ext>
            </a:extLst>
          </p:cNvPr>
          <p:cNvGraphicFramePr/>
          <p:nvPr>
            <p:extLst>
              <p:ext uri="{D42A27DB-BD31-4B8C-83A1-F6EECF244321}">
                <p14:modId xmlns:p14="http://schemas.microsoft.com/office/powerpoint/2010/main" val="2073153747"/>
              </p:ext>
            </p:extLst>
          </p:nvPr>
        </p:nvGraphicFramePr>
        <p:xfrm>
          <a:off x="986118" y="2097740"/>
          <a:ext cx="7486340" cy="4127213"/>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43161</TotalTime>
  <Words>28662</Words>
  <Application>Microsoft Macintosh PowerPoint</Application>
  <PresentationFormat>Custom</PresentationFormat>
  <Paragraphs>1901</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Verdana</vt:lpstr>
      <vt:lpstr>Simple Light</vt:lpstr>
      <vt:lpstr>PowerPoint Presentation</vt:lpstr>
      <vt:lpstr>Team Commitment</vt:lpstr>
      <vt:lpstr>Marketplace Competition</vt:lpstr>
      <vt:lpstr>Strategic Marketing I12</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58</cp:revision>
  <dcterms:modified xsi:type="dcterms:W3CDTF">2026-05-24T23:35:12Z</dcterms:modified>
</cp:coreProperties>
</file>