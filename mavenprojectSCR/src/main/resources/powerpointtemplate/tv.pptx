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omments/comment1.xml" ContentType="application/vnd.openxmlformats-officedocument.presentationml.comments+xml"/>
  <Override PartName="/ppt/notesSlides/notesSlide2.xml" ContentType="application/vnd.openxmlformats-officedocument.presentationml.notesSlide+xml"/>
  <Override PartName="/ppt/comments/comment2.xml" ContentType="application/vnd.openxmlformats-officedocument.presentationml.comments+xml"/>
  <Override PartName="/ppt/notesSlides/notesSlide3.xml" ContentType="application/vnd.openxmlformats-officedocument.presentationml.notesSlide+xml"/>
  <Override PartName="/ppt/comments/comment3.xml" ContentType="application/vnd.openxmlformats-officedocument.presentationml.comments+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omments/comment4.xml" ContentType="application/vnd.openxmlformats-officedocument.presentationml.comments+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saveSubsetFonts="1" autoCompressPictures="0">
  <p:sldMasterIdLst>
    <p:sldMasterId id="2147483659" r:id="rId1"/>
  </p:sldMasterIdLst>
  <p:notesMasterIdLst>
    <p:notesMasterId r:id="rId4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93" r:id="rId14"/>
    <p:sldId id="268" r:id="rId15"/>
    <p:sldId id="269" r:id="rId16"/>
    <p:sldId id="270" r:id="rId17"/>
    <p:sldId id="271" r:id="rId18"/>
    <p:sldId id="272" r:id="rId19"/>
    <p:sldId id="273" r:id="rId20"/>
    <p:sldId id="274" r:id="rId21"/>
    <p:sldId id="275" r:id="rId22"/>
    <p:sldId id="276" r:id="rId23"/>
    <p:sldId id="277" r:id="rId24"/>
    <p:sldId id="278" r:id="rId25"/>
    <p:sldId id="279" r:id="rId26"/>
    <p:sldId id="280" r:id="rId27"/>
    <p:sldId id="281" r:id="rId28"/>
    <p:sldId id="282" r:id="rId29"/>
    <p:sldId id="283" r:id="rId30"/>
    <p:sldId id="284" r:id="rId31"/>
    <p:sldId id="285" r:id="rId32"/>
    <p:sldId id="286" r:id="rId33"/>
    <p:sldId id="287" r:id="rId34"/>
    <p:sldId id="288" r:id="rId35"/>
    <p:sldId id="289" r:id="rId36"/>
    <p:sldId id="290" r:id="rId37"/>
    <p:sldId id="291" r:id="rId38"/>
    <p:sldId id="292" r:id="rId39"/>
  </p:sldIdLst>
  <p:sldSz cx="9144000" cy="73152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304">
          <p15:clr>
            <a:srgbClr val="A4A3A4"/>
          </p15:clr>
        </p15:guide>
        <p15:guide id="2" pos="2880">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Andrew Hinton" initials="" lastIdx="1" clrIdx="0"/>
  <p:cmAuthor id="1" name="andrew hinton" initials="ah" lastIdx="9" clrIdx="1">
    <p:extLst>
      <p:ext uri="{19B8F6BF-5375-455C-9EA6-DF929625EA0E}">
        <p15:presenceInfo xmlns:p15="http://schemas.microsoft.com/office/powerpoint/2012/main" userId="5f6230cd58c9e88d"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CFB75FC7-DD7D-40D8-B2B2-EE4B611A8D2E}">
  <a:tblStyle styleId="{CFB75FC7-DD7D-40D8-B2B2-EE4B611A8D2E}"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 styleId="{779AAC5F-F97D-4193-AF94-6FAFF6667CF6}" styleName="Table_1">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31348"/>
    <p:restoredTop sz="94479"/>
  </p:normalViewPr>
  <p:slideViewPr>
    <p:cSldViewPr snapToGrid="0">
      <p:cViewPr varScale="1">
        <p:scale>
          <a:sx n="73" d="100"/>
          <a:sy n="73" d="100"/>
        </p:scale>
        <p:origin x="568" y="192"/>
      </p:cViewPr>
      <p:guideLst>
        <p:guide orient="horz" pos="2304"/>
        <p:guide pos="2880"/>
      </p:guideLst>
    </p:cSldViewPr>
  </p:slideViewPr>
  <p:outlineViewPr>
    <p:cViewPr>
      <p:scale>
        <a:sx n="33" d="100"/>
        <a:sy n="33" d="100"/>
      </p:scale>
      <p:origin x="0" y="0"/>
    </p:cViewPr>
  </p:outlin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notesMaster" Target="notesMasters/notesMaster1.xml"/><Relationship Id="rId45"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20" Type="http://schemas.openxmlformats.org/officeDocument/2006/relationships/slide" Target="slides/slide19.xml"/><Relationship Id="rId41" Type="http://schemas.openxmlformats.org/officeDocument/2006/relationships/commentAuthors" Target="commentAuthors.xml"/></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862" b="0" i="0" u="none" strike="noStrike" kern="1200" spc="0" baseline="0">
              <a:solidFill>
                <a:schemeClr val="tx1">
                  <a:lumMod val="65000"/>
                  <a:lumOff val="35000"/>
                </a:schemeClr>
              </a:solidFill>
              <a:latin typeface="+mn-lt"/>
              <a:ea typeface="+mn-ea"/>
              <a:cs typeface="+mn-cs"/>
            </a:defRPr>
          </a:pPr>
          <a:endParaRPr lang="en-US"/>
        </a:p>
      </c:txPr>
    </c:title>
    <c:autoTitleDeleted val="0"/>
    <c:view3D>
      <c:rotX val="30"/>
      <c:rotY val="0"/>
      <c:depthPercent val="100"/>
      <c:rAngAx val="0"/>
    </c:view3D>
    <c:floor>
      <c:thickness val="0"/>
      <c:spPr>
        <a:noFill/>
        <a:ln>
          <a:noFill/>
        </a:ln>
        <a:effectLst/>
        <a:sp3d/>
      </c:spPr>
    </c:floor>
    <c:sideWall>
      <c:thickness val="0"/>
      <c:spPr>
        <a:noFill/>
        <a:ln>
          <a:noFill/>
        </a:ln>
        <a:effectLst/>
        <a:sp3d/>
      </c:spPr>
    </c:sideWall>
    <c:backWall>
      <c:thickness val="0"/>
      <c:spPr>
        <a:noFill/>
        <a:ln>
          <a:noFill/>
        </a:ln>
        <a:effectLst/>
        <a:sp3d/>
      </c:spPr>
    </c:backWall>
    <c:plotArea>
      <c:layout/>
      <c:pie3DChart>
        <c:varyColors val="1"/>
        <c:ser>
          <c:idx val="0"/>
          <c:order val="0"/>
          <c:tx>
            <c:strRef>
              <c:f>Sheet1!$B$1</c:f>
              <c:strCache>
                <c:ptCount val="1"/>
                <c:pt idx="0">
                  <c:v>Sales</c:v>
                </c:pt>
              </c:strCache>
            </c:strRef>
          </c:tx>
          <c:dPt>
            <c:idx val="0"/>
            <c:bubble3D val="0"/>
            <c:spPr>
              <a:solidFill>
                <a:schemeClr val="accent1"/>
              </a:solidFill>
              <a:ln w="25400">
                <a:solidFill>
                  <a:schemeClr val="lt1"/>
                </a:solidFill>
              </a:ln>
              <a:effectLst/>
              <a:sp3d contourW="25400">
                <a:contourClr>
                  <a:schemeClr val="lt1"/>
                </a:contourClr>
              </a:sp3d>
            </c:spPr>
            <c:extLst>
              <c:ext xmlns:c16="http://schemas.microsoft.com/office/drawing/2014/chart" uri="{C3380CC4-5D6E-409C-BE32-E72D297353CC}">
                <c16:uniqueId val="{00000001-CF5E-E84D-A407-E3FC0624B1E3}"/>
              </c:ext>
            </c:extLst>
          </c:dPt>
          <c:dPt>
            <c:idx val="1"/>
            <c:bubble3D val="0"/>
            <c:spPr>
              <a:solidFill>
                <a:schemeClr val="accent2"/>
              </a:solidFill>
              <a:ln w="25400">
                <a:solidFill>
                  <a:schemeClr val="lt1"/>
                </a:solidFill>
              </a:ln>
              <a:effectLst/>
              <a:sp3d contourW="25400">
                <a:contourClr>
                  <a:schemeClr val="lt1"/>
                </a:contourClr>
              </a:sp3d>
            </c:spPr>
            <c:extLst>
              <c:ext xmlns:c16="http://schemas.microsoft.com/office/drawing/2014/chart" uri="{C3380CC4-5D6E-409C-BE32-E72D297353CC}">
                <c16:uniqueId val="{00000003-CF5E-E84D-A407-E3FC0624B1E3}"/>
              </c:ext>
            </c:extLst>
          </c:dPt>
          <c:dPt>
            <c:idx val="2"/>
            <c:bubble3D val="0"/>
            <c:spPr>
              <a:solidFill>
                <a:schemeClr val="accent3"/>
              </a:solidFill>
              <a:ln w="25400">
                <a:solidFill>
                  <a:schemeClr val="lt1"/>
                </a:solidFill>
              </a:ln>
              <a:effectLst/>
              <a:sp3d contourW="25400">
                <a:contourClr>
                  <a:schemeClr val="lt1"/>
                </a:contourClr>
              </a:sp3d>
            </c:spPr>
            <c:extLst>
              <c:ext xmlns:c16="http://schemas.microsoft.com/office/drawing/2014/chart" uri="{C3380CC4-5D6E-409C-BE32-E72D297353CC}">
                <c16:uniqueId val="{00000005-CF5E-E84D-A407-E3FC0624B1E3}"/>
              </c:ext>
            </c:extLst>
          </c:dPt>
          <c:dPt>
            <c:idx val="3"/>
            <c:bubble3D val="0"/>
            <c:spPr>
              <a:solidFill>
                <a:schemeClr val="accent4"/>
              </a:solidFill>
              <a:ln w="25400">
                <a:solidFill>
                  <a:schemeClr val="lt1"/>
                </a:solidFill>
              </a:ln>
              <a:effectLst/>
              <a:sp3d contourW="25400">
                <a:contourClr>
                  <a:schemeClr val="lt1"/>
                </a:contourClr>
              </a:sp3d>
            </c:spPr>
            <c:extLst>
              <c:ext xmlns:c16="http://schemas.microsoft.com/office/drawing/2014/chart" uri="{C3380CC4-5D6E-409C-BE32-E72D297353CC}">
                <c16:uniqueId val="{00000007-CF5E-E84D-A407-E3FC0624B1E3}"/>
              </c:ext>
            </c:extLst>
          </c:dPt>
          <c:cat>
            <c:strRef>
              <c:f>Sheet1!$A$2:$A$5</c:f>
              <c:strCache>
                <c:ptCount val="4"/>
                <c:pt idx="0">
                  <c:v>1st Qtr</c:v>
                </c:pt>
                <c:pt idx="1">
                  <c:v>2nd Qtr</c:v>
                </c:pt>
                <c:pt idx="2">
                  <c:v>3rd Qtr</c:v>
                </c:pt>
                <c:pt idx="3">
                  <c:v>4th Qtr</c:v>
                </c:pt>
              </c:strCache>
            </c:strRef>
          </c:cat>
          <c:val>
            <c:numRef>
              <c:f>Sheet1!$B$2:$B$5</c:f>
              <c:numCache>
                <c:formatCode>General</c:formatCode>
                <c:ptCount val="4"/>
                <c:pt idx="0">
                  <c:v>8.1999999999999993</c:v>
                </c:pt>
                <c:pt idx="1">
                  <c:v>3.2</c:v>
                </c:pt>
                <c:pt idx="2">
                  <c:v>1.4</c:v>
                </c:pt>
                <c:pt idx="3">
                  <c:v>1.2</c:v>
                </c:pt>
              </c:numCache>
            </c:numRef>
          </c:val>
          <c:extLst>
            <c:ext xmlns:c16="http://schemas.microsoft.com/office/drawing/2014/chart" uri="{C3380CC4-5D6E-409C-BE32-E72D297353CC}">
              <c16:uniqueId val="{00000000-C88C-3346-B77A-70E10F5BF492}"/>
            </c:ext>
          </c:extLst>
        </c:ser>
        <c:dLbls>
          <c:showLegendKey val="0"/>
          <c:showVal val="0"/>
          <c:showCatName val="0"/>
          <c:showSerName val="0"/>
          <c:showPercent val="0"/>
          <c:showBubbleSize val="0"/>
          <c:showLeaderLines val="1"/>
        </c:dLbls>
      </c:pie3DChart>
      <c:spPr>
        <a:noFill/>
        <a:ln>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6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omments/comment1.xml><?xml version="1.0" encoding="utf-8"?>
<p:cmLst xmlns:a="http://schemas.openxmlformats.org/drawingml/2006/main" xmlns:r="http://schemas.openxmlformats.org/officeDocument/2006/relationships" xmlns:p="http://schemas.openxmlformats.org/presentationml/2006/main">
  <p:cm authorId="0" dt="2026-01-03T21:15:26.536" idx="1">
    <p:pos x="6000" y="0"/>
    <p:text>OnePresentedToSlide
</p:text>
  </p:cm>
  <p:cm authorId="1" dt="2026-01-03T21:58:52.260" idx="2">
    <p:pos x="10" y="10"/>
    <p:text/>
    <p:extLst>
      <p:ext uri="{C676402C-5697-4E1C-873F-D02D1690AC5C}">
        <p15:threadingInfo xmlns:p15="http://schemas.microsoft.com/office/powerpoint/2012/main" timeZoneBias="300"/>
      </p:ext>
    </p:extLst>
  </p:cm>
</p:cmLst>
</file>

<file path=ppt/comments/comment2.xml><?xml version="1.0" encoding="utf-8"?>
<p:cmLst xmlns:a="http://schemas.openxmlformats.org/drawingml/2006/main" xmlns:r="http://schemas.openxmlformats.org/officeDocument/2006/relationships" xmlns:p="http://schemas.openxmlformats.org/presentationml/2006/main">
  <p:cm authorId="1" dt="2026-02-15T18:48:51.755" idx="8">
    <p:pos x="6051" y="-111"/>
    <p:text>TeamCommitmentPage</p:text>
    <p:extLst>
      <p:ext uri="{C676402C-5697-4E1C-873F-D02D1690AC5C}">
        <p15:threadingInfo xmlns:p15="http://schemas.microsoft.com/office/powerpoint/2012/main" timeZoneBias="300"/>
      </p:ext>
    </p:extLst>
  </p:cm>
</p:cmLst>
</file>

<file path=ppt/comments/comment3.xml><?xml version="1.0" encoding="utf-8"?>
<p:cmLst xmlns:a="http://schemas.openxmlformats.org/drawingml/2006/main" xmlns:r="http://schemas.openxmlformats.org/officeDocument/2006/relationships" xmlns:p="http://schemas.openxmlformats.org/presentationml/2006/main">
  <p:cm authorId="1" dt="2026-02-15T18:48:03.821" idx="7">
    <p:pos x="6025" y="-298"/>
    <p:text>TeamCommitmentPagesss</p:text>
    <p:extLst>
      <p:ext uri="{C676402C-5697-4E1C-873F-D02D1690AC5C}">
        <p15:threadingInfo xmlns:p15="http://schemas.microsoft.com/office/powerpoint/2012/main" timeZoneBias="300"/>
      </p:ext>
    </p:extLst>
  </p:cm>
</p:cmLst>
</file>

<file path=ppt/comments/comment4.xml><?xml version="1.0" encoding="utf-8"?>
<p:cmLst xmlns:a="http://schemas.openxmlformats.org/drawingml/2006/main" xmlns:r="http://schemas.openxmlformats.org/officeDocument/2006/relationships" xmlns:p="http://schemas.openxmlformats.org/presentationml/2006/main">
  <p:cm authorId="1" dt="2026-01-18T18:44:18.318" idx="3">
    <p:pos x="10" y="10"/>
    <p:text/>
    <p:extLst>
      <p:ext uri="{C676402C-5697-4E1C-873F-D02D1690AC5C}">
        <p15:threadingInfo xmlns:p15="http://schemas.microsoft.com/office/powerpoint/2012/main" timeZoneBias="300"/>
      </p:ext>
    </p:extLst>
  </p:cm>
</p: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286186" y="685800"/>
            <a:ext cx="42864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p:cNvGrpSpPr/>
        <p:nvPr/>
      </p:nvGrpSpPr>
      <p:grpSpPr>
        <a:xfrm>
          <a:off x="0" y="0"/>
          <a:ext cx="0" cy="0"/>
          <a:chOff x="0" y="0"/>
          <a:chExt cx="0" cy="0"/>
        </a:xfrm>
      </p:grpSpPr>
      <p:sp>
        <p:nvSpPr>
          <p:cNvPr id="64" name="Google Shape;64;gb1e46e2962_1_0: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b1e46e2962_1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2"/>
        <p:cNvGrpSpPr/>
        <p:nvPr/>
      </p:nvGrpSpPr>
      <p:grpSpPr>
        <a:xfrm>
          <a:off x="0" y="0"/>
          <a:ext cx="0" cy="0"/>
          <a:chOff x="0" y="0"/>
          <a:chExt cx="0" cy="0"/>
        </a:xfrm>
      </p:grpSpPr>
      <p:sp>
        <p:nvSpPr>
          <p:cNvPr id="73" name="Google Shape;73;p: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4" name="Google Shape;74;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1"/>
        <p:cNvGrpSpPr/>
        <p:nvPr/>
      </p:nvGrpSpPr>
      <p:grpSpPr>
        <a:xfrm>
          <a:off x="0" y="0"/>
          <a:ext cx="0" cy="0"/>
          <a:chOff x="0" y="0"/>
          <a:chExt cx="0" cy="0"/>
        </a:xfrm>
      </p:grpSpPr>
      <p:sp>
        <p:nvSpPr>
          <p:cNvPr id="82" name="Google Shape;82;gaa4a52d53f_0_155: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3" name="Google Shape;83;gaa4a52d53f_0_15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1"/>
        <p:cNvGrpSpPr/>
        <p:nvPr/>
      </p:nvGrpSpPr>
      <p:grpSpPr>
        <a:xfrm>
          <a:off x="0" y="0"/>
          <a:ext cx="0" cy="0"/>
          <a:chOff x="0" y="0"/>
          <a:chExt cx="0" cy="0"/>
        </a:xfrm>
      </p:grpSpPr>
      <p:sp>
        <p:nvSpPr>
          <p:cNvPr id="112" name="Google Shape;112;gbc1c0fe17c_0_86: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3" name="Google Shape;113;gbc1c0fe17c_0_8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9"/>
        <p:cNvGrpSpPr/>
        <p:nvPr/>
      </p:nvGrpSpPr>
      <p:grpSpPr>
        <a:xfrm>
          <a:off x="0" y="0"/>
          <a:ext cx="0" cy="0"/>
          <a:chOff x="0" y="0"/>
          <a:chExt cx="0" cy="0"/>
        </a:xfrm>
      </p:grpSpPr>
      <p:sp>
        <p:nvSpPr>
          <p:cNvPr id="130" name="Google Shape;130;gab9ca2f465_0_7: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1" name="Google Shape;131;gab9ca2f465_0_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9"/>
        <p:cNvGrpSpPr/>
        <p:nvPr/>
      </p:nvGrpSpPr>
      <p:grpSpPr>
        <a:xfrm>
          <a:off x="0" y="0"/>
          <a:ext cx="0" cy="0"/>
          <a:chOff x="0" y="0"/>
          <a:chExt cx="0" cy="0"/>
        </a:xfrm>
      </p:grpSpPr>
      <p:sp>
        <p:nvSpPr>
          <p:cNvPr id="150" name="Google Shape;150;gaa4a52d53f_0_10: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1" name="Google Shape;151;gaa4a52d53f_0_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5"/>
        <p:cNvGrpSpPr/>
        <p:nvPr/>
      </p:nvGrpSpPr>
      <p:grpSpPr>
        <a:xfrm>
          <a:off x="0" y="0"/>
          <a:ext cx="0" cy="0"/>
          <a:chOff x="0" y="0"/>
          <a:chExt cx="0" cy="0"/>
        </a:xfrm>
      </p:grpSpPr>
      <p:sp>
        <p:nvSpPr>
          <p:cNvPr id="176" name="Google Shape;176;gaa4a52d53f_0_105: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7" name="Google Shape;177;gaa4a52d53f_0_10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1"/>
        <p:cNvGrpSpPr/>
        <p:nvPr/>
      </p:nvGrpSpPr>
      <p:grpSpPr>
        <a:xfrm>
          <a:off x="0" y="0"/>
          <a:ext cx="0" cy="0"/>
          <a:chOff x="0" y="0"/>
          <a:chExt cx="0" cy="0"/>
        </a:xfrm>
      </p:grpSpPr>
      <p:sp>
        <p:nvSpPr>
          <p:cNvPr id="202" name="Google Shape;202;gaa4a52d53f_0_130: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3" name="Google Shape;203;gaa4a52d53f_0_1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6"/>
        <p:cNvGrpSpPr/>
        <p:nvPr/>
      </p:nvGrpSpPr>
      <p:grpSpPr>
        <a:xfrm>
          <a:off x="0" y="0"/>
          <a:ext cx="0" cy="0"/>
          <a:chOff x="0" y="0"/>
          <a:chExt cx="0" cy="0"/>
        </a:xfrm>
      </p:grpSpPr>
      <p:sp>
        <p:nvSpPr>
          <p:cNvPr id="227" name="Google Shape;227;gaa4a52d53f_0_55: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8" name="Google Shape;228;gaa4a52d53f_0_5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2"/>
        <p:cNvGrpSpPr/>
        <p:nvPr/>
      </p:nvGrpSpPr>
      <p:grpSpPr>
        <a:xfrm>
          <a:off x="0" y="0"/>
          <a:ext cx="0" cy="0"/>
          <a:chOff x="0" y="0"/>
          <a:chExt cx="0" cy="0"/>
        </a:xfrm>
      </p:grpSpPr>
      <p:sp>
        <p:nvSpPr>
          <p:cNvPr id="253" name="Google Shape;253;gaa4a52d53f_0_80: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54" name="Google Shape;254;gaa4a52d53f_0_8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gba229fc496_0_46: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9" name="Google Shape;279;gba229fc496_0_4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7"/>
        <p:cNvGrpSpPr/>
        <p:nvPr/>
      </p:nvGrpSpPr>
      <p:grpSpPr>
        <a:xfrm>
          <a:off x="0" y="0"/>
          <a:ext cx="0" cy="0"/>
          <a:chOff x="0" y="0"/>
          <a:chExt cx="0" cy="0"/>
        </a:xfrm>
      </p:grpSpPr>
      <p:sp>
        <p:nvSpPr>
          <p:cNvPr id="318" name="Google Shape;318;gb1f3d784ca_0_16: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19" name="Google Shape;319;gb1f3d784ca_0_1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7">
          <a:extLst>
            <a:ext uri="{FF2B5EF4-FFF2-40B4-BE49-F238E27FC236}">
              <a16:creationId xmlns:a16="http://schemas.microsoft.com/office/drawing/2014/main" id="{BBD058AD-A34B-407F-201E-ABEA785A7C38}"/>
            </a:ext>
          </a:extLst>
        </p:cNvPr>
        <p:cNvGrpSpPr/>
        <p:nvPr/>
      </p:nvGrpSpPr>
      <p:grpSpPr>
        <a:xfrm>
          <a:off x="0" y="0"/>
          <a:ext cx="0" cy="0"/>
          <a:chOff x="0" y="0"/>
          <a:chExt cx="0" cy="0"/>
        </a:xfrm>
      </p:grpSpPr>
      <p:sp>
        <p:nvSpPr>
          <p:cNvPr id="318" name="Google Shape;318;gb1f3d784ca_0_16:notes">
            <a:extLst>
              <a:ext uri="{FF2B5EF4-FFF2-40B4-BE49-F238E27FC236}">
                <a16:creationId xmlns:a16="http://schemas.microsoft.com/office/drawing/2014/main" id="{68E6DD5B-1247-DA69-B967-D550C0A41366}"/>
              </a:ext>
            </a:extLst>
          </p:cNvPr>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19" name="Google Shape;319;gb1f3d784ca_0_16:notes">
            <a:extLst>
              <a:ext uri="{FF2B5EF4-FFF2-40B4-BE49-F238E27FC236}">
                <a16:creationId xmlns:a16="http://schemas.microsoft.com/office/drawing/2014/main" id="{0A987FF9-B5A4-CFE0-A4C2-3CEC4D1DC35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00747761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6"/>
        <p:cNvGrpSpPr/>
        <p:nvPr/>
      </p:nvGrpSpPr>
      <p:grpSpPr>
        <a:xfrm>
          <a:off x="0" y="0"/>
          <a:ext cx="0" cy="0"/>
          <a:chOff x="0" y="0"/>
          <a:chExt cx="0" cy="0"/>
        </a:xfrm>
      </p:grpSpPr>
      <p:sp>
        <p:nvSpPr>
          <p:cNvPr id="327" name="Google Shape;327;gb1f3d784ca_0_4: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8" name="Google Shape;328;gb1f3d784ca_0_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4"/>
        <p:cNvGrpSpPr/>
        <p:nvPr/>
      </p:nvGrpSpPr>
      <p:grpSpPr>
        <a:xfrm>
          <a:off x="0" y="0"/>
          <a:ext cx="0" cy="0"/>
          <a:chOff x="0" y="0"/>
          <a:chExt cx="0" cy="0"/>
        </a:xfrm>
      </p:grpSpPr>
      <p:sp>
        <p:nvSpPr>
          <p:cNvPr id="335" name="Google Shape;335;gd43bcde7a4_0_174: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36" name="Google Shape;336;gd43bcde7a4_0_17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0"/>
        <p:cNvGrpSpPr/>
        <p:nvPr/>
      </p:nvGrpSpPr>
      <p:grpSpPr>
        <a:xfrm>
          <a:off x="0" y="0"/>
          <a:ext cx="0" cy="0"/>
          <a:chOff x="0" y="0"/>
          <a:chExt cx="0" cy="0"/>
        </a:xfrm>
      </p:grpSpPr>
      <p:sp>
        <p:nvSpPr>
          <p:cNvPr id="341" name="Google Shape;341;gba5de39673_0_179: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42" name="Google Shape;342;gba5de39673_0_17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6"/>
        <p:cNvGrpSpPr/>
        <p:nvPr/>
      </p:nvGrpSpPr>
      <p:grpSpPr>
        <a:xfrm>
          <a:off x="0" y="0"/>
          <a:ext cx="0" cy="0"/>
          <a:chOff x="0" y="0"/>
          <a:chExt cx="0" cy="0"/>
        </a:xfrm>
      </p:grpSpPr>
      <p:sp>
        <p:nvSpPr>
          <p:cNvPr id="347" name="Google Shape;347;gab9ca2f465_0_54: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48" name="Google Shape;348;gab9ca2f465_0_5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2"/>
        <p:cNvGrpSpPr/>
        <p:nvPr/>
      </p:nvGrpSpPr>
      <p:grpSpPr>
        <a:xfrm>
          <a:off x="0" y="0"/>
          <a:ext cx="0" cy="0"/>
          <a:chOff x="0" y="0"/>
          <a:chExt cx="0" cy="0"/>
        </a:xfrm>
      </p:grpSpPr>
      <p:sp>
        <p:nvSpPr>
          <p:cNvPr id="353" name="Google Shape;353;gd43bcde7a4_0_37: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54" name="Google Shape;354;gd43bcde7a4_0_3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8"/>
        <p:cNvGrpSpPr/>
        <p:nvPr/>
      </p:nvGrpSpPr>
      <p:grpSpPr>
        <a:xfrm>
          <a:off x="0" y="0"/>
          <a:ext cx="0" cy="0"/>
          <a:chOff x="0" y="0"/>
          <a:chExt cx="0" cy="0"/>
        </a:xfrm>
      </p:grpSpPr>
      <p:sp>
        <p:nvSpPr>
          <p:cNvPr id="359" name="Google Shape;359;gd6c288bb60_1_13: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0" name="Google Shape;360;gd6c288bb60_1_1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4"/>
        <p:cNvGrpSpPr/>
        <p:nvPr/>
      </p:nvGrpSpPr>
      <p:grpSpPr>
        <a:xfrm>
          <a:off x="0" y="0"/>
          <a:ext cx="0" cy="0"/>
          <a:chOff x="0" y="0"/>
          <a:chExt cx="0" cy="0"/>
        </a:xfrm>
      </p:grpSpPr>
      <p:sp>
        <p:nvSpPr>
          <p:cNvPr id="365" name="Google Shape;365;gab9ca2f465_0_67: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6" name="Google Shape;366;gab9ca2f465_0_6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4"/>
        <p:cNvGrpSpPr/>
        <p:nvPr/>
      </p:nvGrpSpPr>
      <p:grpSpPr>
        <a:xfrm>
          <a:off x="0" y="0"/>
          <a:ext cx="0" cy="0"/>
          <a:chOff x="0" y="0"/>
          <a:chExt cx="0" cy="0"/>
        </a:xfrm>
      </p:grpSpPr>
      <p:sp>
        <p:nvSpPr>
          <p:cNvPr id="385" name="Google Shape;385;gab9ca2f465_0_88: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86" name="Google Shape;386;gab9ca2f465_0_8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9"/>
        <p:cNvGrpSpPr/>
        <p:nvPr/>
      </p:nvGrpSpPr>
      <p:grpSpPr>
        <a:xfrm>
          <a:off x="0" y="0"/>
          <a:ext cx="0" cy="0"/>
          <a:chOff x="0" y="0"/>
          <a:chExt cx="0" cy="0"/>
        </a:xfrm>
      </p:grpSpPr>
      <p:sp>
        <p:nvSpPr>
          <p:cNvPr id="400" name="Google Shape;400;gaa2a19e2f1_0_0: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1" name="Google Shape;401;gaa2a19e2f1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6"/>
        <p:cNvGrpSpPr/>
        <p:nvPr/>
      </p:nvGrpSpPr>
      <p:grpSpPr>
        <a:xfrm>
          <a:off x="0" y="0"/>
          <a:ext cx="0" cy="0"/>
          <a:chOff x="0" y="0"/>
          <a:chExt cx="0" cy="0"/>
        </a:xfrm>
      </p:grpSpPr>
      <p:sp>
        <p:nvSpPr>
          <p:cNvPr id="407" name="Google Shape;407;gd43bcde7a4_0_44: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8" name="Google Shape;408;gd43bcde7a4_0_4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4"/>
        <p:cNvGrpSpPr/>
        <p:nvPr/>
      </p:nvGrpSpPr>
      <p:grpSpPr>
        <a:xfrm>
          <a:off x="0" y="0"/>
          <a:ext cx="0" cy="0"/>
          <a:chOff x="0" y="0"/>
          <a:chExt cx="0" cy="0"/>
        </a:xfrm>
      </p:grpSpPr>
      <p:sp>
        <p:nvSpPr>
          <p:cNvPr id="415" name="Google Shape;415;gab9ca2f465_0_114: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6" name="Google Shape;416;gab9ca2f465_0_11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2"/>
        <p:cNvGrpSpPr/>
        <p:nvPr/>
      </p:nvGrpSpPr>
      <p:grpSpPr>
        <a:xfrm>
          <a:off x="0" y="0"/>
          <a:ext cx="0" cy="0"/>
          <a:chOff x="0" y="0"/>
          <a:chExt cx="0" cy="0"/>
        </a:xfrm>
      </p:grpSpPr>
      <p:sp>
        <p:nvSpPr>
          <p:cNvPr id="423" name="Google Shape;423;gb66e45c5bc_0_2: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24" name="Google Shape;424;gb66e45c5bc_0_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9"/>
        <p:cNvGrpSpPr/>
        <p:nvPr/>
      </p:nvGrpSpPr>
      <p:grpSpPr>
        <a:xfrm>
          <a:off x="0" y="0"/>
          <a:ext cx="0" cy="0"/>
          <a:chOff x="0" y="0"/>
          <a:chExt cx="0" cy="0"/>
        </a:xfrm>
      </p:grpSpPr>
      <p:sp>
        <p:nvSpPr>
          <p:cNvPr id="430" name="Google Shape;430;gba229fc496_0_134: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31" name="Google Shape;431;gba229fc496_0_13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6"/>
        <p:cNvGrpSpPr/>
        <p:nvPr/>
      </p:nvGrpSpPr>
      <p:grpSpPr>
        <a:xfrm>
          <a:off x="0" y="0"/>
          <a:ext cx="0" cy="0"/>
          <a:chOff x="0" y="0"/>
          <a:chExt cx="0" cy="0"/>
        </a:xfrm>
      </p:grpSpPr>
      <p:sp>
        <p:nvSpPr>
          <p:cNvPr id="437" name="Google Shape;437;gbb579c7b11_0_24: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38" name="Google Shape;438;gbb579c7b11_0_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3"/>
        <p:cNvGrpSpPr/>
        <p:nvPr/>
      </p:nvGrpSpPr>
      <p:grpSpPr>
        <a:xfrm>
          <a:off x="0" y="0"/>
          <a:ext cx="0" cy="0"/>
          <a:chOff x="0" y="0"/>
          <a:chExt cx="0" cy="0"/>
        </a:xfrm>
      </p:grpSpPr>
      <p:sp>
        <p:nvSpPr>
          <p:cNvPr id="444" name="Google Shape;444;gaa2a19e2f1_0_9: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45" name="Google Shape;445;gaa2a19e2f1_0_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0"/>
        <p:cNvGrpSpPr/>
        <p:nvPr/>
      </p:nvGrpSpPr>
      <p:grpSpPr>
        <a:xfrm>
          <a:off x="0" y="0"/>
          <a:ext cx="0" cy="0"/>
          <a:chOff x="0" y="0"/>
          <a:chExt cx="0" cy="0"/>
        </a:xfrm>
      </p:grpSpPr>
      <p:sp>
        <p:nvSpPr>
          <p:cNvPr id="451" name="Google Shape;451;gc4c5716b7b_0_13: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52" name="Google Shape;452;gc4c5716b7b_0_1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8"/>
        <p:cNvGrpSpPr/>
        <p:nvPr/>
      </p:nvGrpSpPr>
      <p:grpSpPr>
        <a:xfrm>
          <a:off x="0" y="0"/>
          <a:ext cx="0" cy="0"/>
          <a:chOff x="0" y="0"/>
          <a:chExt cx="0" cy="0"/>
        </a:xfrm>
      </p:grpSpPr>
      <p:sp>
        <p:nvSpPr>
          <p:cNvPr id="459" name="Google Shape;459;g26e7dea56c1_1_0: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0" name="Google Shape;460;g26e7dea56c1_1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4"/>
        <p:cNvGrpSpPr/>
        <p:nvPr/>
      </p:nvGrpSpPr>
      <p:grpSpPr>
        <a:xfrm>
          <a:off x="0" y="0"/>
          <a:ext cx="0" cy="0"/>
          <a:chOff x="0" y="0"/>
          <a:chExt cx="0" cy="0"/>
        </a:xfrm>
      </p:grpSpPr>
      <p:sp>
        <p:nvSpPr>
          <p:cNvPr id="465" name="Google Shape;465;gbb579c7b11_0_45: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6" name="Google Shape;466;gbb579c7b11_0_4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2"/>
        <p:cNvGrpSpPr/>
        <p:nvPr/>
      </p:nvGrpSpPr>
      <p:grpSpPr>
        <a:xfrm>
          <a:off x="0" y="0"/>
          <a:ext cx="0" cy="0"/>
          <a:chOff x="0" y="0"/>
          <a:chExt cx="0" cy="0"/>
        </a:xfrm>
      </p:grpSpPr>
      <p:sp>
        <p:nvSpPr>
          <p:cNvPr id="473" name="Google Shape;473;gbb579c7b11_0_52: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74" name="Google Shape;474;gbb579c7b11_0_5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9"/>
        <p:cNvGrpSpPr/>
        <p:nvPr/>
      </p:nvGrpSpPr>
      <p:grpSpPr>
        <a:xfrm>
          <a:off x="0" y="0"/>
          <a:ext cx="0" cy="0"/>
          <a:chOff x="0" y="0"/>
          <a:chExt cx="0" cy="0"/>
        </a:xfrm>
      </p:grpSpPr>
      <p:sp>
        <p:nvSpPr>
          <p:cNvPr id="480" name="Google Shape;480;gbb579c7b11_0_88: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81" name="Google Shape;481;gbb579c7b11_0_8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6"/>
        <p:cNvGrpSpPr/>
        <p:nvPr/>
      </p:nvGrpSpPr>
      <p:grpSpPr>
        <a:xfrm>
          <a:off x="0" y="0"/>
          <a:ext cx="0" cy="0"/>
          <a:chOff x="0" y="0"/>
          <a:chExt cx="0" cy="0"/>
        </a:xfrm>
      </p:grpSpPr>
      <p:sp>
        <p:nvSpPr>
          <p:cNvPr id="487" name="Google Shape;487;gbb579c7b11_0_68: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88" name="Google Shape;488;gbb579c7b11_0_6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3"/>
        <p:cNvGrpSpPr/>
        <p:nvPr/>
      </p:nvGrpSpPr>
      <p:grpSpPr>
        <a:xfrm>
          <a:off x="0" y="0"/>
          <a:ext cx="0" cy="0"/>
          <a:chOff x="0" y="0"/>
          <a:chExt cx="0" cy="0"/>
        </a:xfrm>
      </p:grpSpPr>
      <p:sp>
        <p:nvSpPr>
          <p:cNvPr id="494" name="Google Shape;494;gba229fc496_0_149: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95" name="Google Shape;495;gba229fc496_0_14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1"/>
        <p:cNvGrpSpPr/>
        <p:nvPr/>
      </p:nvGrpSpPr>
      <p:grpSpPr>
        <a:xfrm>
          <a:off x="0" y="0"/>
          <a:ext cx="0" cy="0"/>
          <a:chOff x="0" y="0"/>
          <a:chExt cx="0" cy="0"/>
        </a:xfrm>
      </p:grpSpPr>
      <p:sp>
        <p:nvSpPr>
          <p:cNvPr id="512" name="Google Shape;512;gd43bcde7a4_0_142: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13" name="Google Shape;513;gd43bcde7a4_0_14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9"/>
        <p:cNvGrpSpPr/>
        <p:nvPr/>
      </p:nvGrpSpPr>
      <p:grpSpPr>
        <a:xfrm>
          <a:off x="0" y="0"/>
          <a:ext cx="0" cy="0"/>
          <a:chOff x="0" y="0"/>
          <a:chExt cx="0" cy="0"/>
        </a:xfrm>
      </p:grpSpPr>
      <p:sp>
        <p:nvSpPr>
          <p:cNvPr id="530" name="Google Shape;530;gbc1c0fe17c_0_38: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31" name="Google Shape;531;gbc1c0fe17c_0_3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6"/>
        <p:cNvGrpSpPr/>
        <p:nvPr/>
      </p:nvGrpSpPr>
      <p:grpSpPr>
        <a:xfrm>
          <a:off x="0" y="0"/>
          <a:ext cx="0" cy="0"/>
          <a:chOff x="0" y="0"/>
          <a:chExt cx="0" cy="0"/>
        </a:xfrm>
      </p:grpSpPr>
      <p:sp>
        <p:nvSpPr>
          <p:cNvPr id="537" name="Google Shape;537;gbc1c0fe17c_0_45: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38" name="Google Shape;538;gbc1c0fe17c_0_4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General information page" type="title">
  <p:cSld name="TITLE">
    <p:spTree>
      <p:nvGrpSpPr>
        <p:cNvPr id="1" name="Shape 11"/>
        <p:cNvGrpSpPr/>
        <p:nvPr/>
      </p:nvGrpSpPr>
      <p:grpSpPr>
        <a:xfrm>
          <a:off x="0" y="0"/>
          <a:ext cx="0" cy="0"/>
          <a:chOff x="0" y="0"/>
          <a:chExt cx="0" cy="0"/>
        </a:xfrm>
      </p:grpSpPr>
      <p:sp>
        <p:nvSpPr>
          <p:cNvPr id="12" name="Google Shape;12;p2"/>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lvl1pPr lvl="0" algn="ctr">
              <a:spcBef>
                <a:spcPts val="0"/>
              </a:spcBef>
              <a:spcAft>
                <a:spcPts val="0"/>
              </a:spcAft>
              <a:buClr>
                <a:srgbClr val="000000"/>
              </a:buClr>
              <a:buSzPts val="4000"/>
              <a:buNone/>
              <a:defRPr sz="4000" b="1">
                <a:solidFill>
                  <a:srgbClr val="000000"/>
                </a:solidFill>
              </a:defRPr>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3" name="Google Shape;13;p2"/>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
        <p:nvSpPr>
          <p:cNvPr id="14" name="Google Shape;14;p2"/>
          <p:cNvSpPr txBox="1">
            <a:spLocks noGrp="1"/>
          </p:cNvSpPr>
          <p:nvPr>
            <p:ph type="body" idx="1"/>
          </p:nvPr>
        </p:nvSpPr>
        <p:spPr>
          <a:xfrm>
            <a:off x="365750" y="1170425"/>
            <a:ext cx="8408100" cy="1352100"/>
          </a:xfrm>
          <a:prstGeom prst="rect">
            <a:avLst/>
          </a:prstGeom>
        </p:spPr>
        <p:txBody>
          <a:bodyPr spcFirstLastPara="1" wrap="square" lIns="91425" tIns="91425" rIns="91425" bIns="91425" anchor="t" anchorCtr="0">
            <a:noAutofit/>
          </a:bodyPr>
          <a:lstStyle>
            <a:lvl1pPr marL="457200" lvl="0" indent="-301625">
              <a:spcBef>
                <a:spcPts val="0"/>
              </a:spcBef>
              <a:spcAft>
                <a:spcPts val="0"/>
              </a:spcAft>
              <a:buSzPts val="1150"/>
              <a:buFont typeface="Verdana"/>
              <a:buChar char="●"/>
              <a:defRPr sz="1150">
                <a:latin typeface="Verdana"/>
                <a:ea typeface="Verdana"/>
                <a:cs typeface="Verdana"/>
                <a:sym typeface="Verdana"/>
              </a:defRPr>
            </a:lvl1pPr>
            <a:lvl2pPr marL="914400" lvl="1" indent="-301625">
              <a:spcBef>
                <a:spcPts val="1600"/>
              </a:spcBef>
              <a:spcAft>
                <a:spcPts val="0"/>
              </a:spcAft>
              <a:buSzPts val="1150"/>
              <a:buFont typeface="Verdana"/>
              <a:buChar char="○"/>
              <a:defRPr sz="1150">
                <a:latin typeface="Verdana"/>
                <a:ea typeface="Verdana"/>
                <a:cs typeface="Verdana"/>
                <a:sym typeface="Verdana"/>
              </a:defRPr>
            </a:lvl2pPr>
            <a:lvl3pPr marL="1371600" lvl="2" indent="-301625">
              <a:spcBef>
                <a:spcPts val="1600"/>
              </a:spcBef>
              <a:spcAft>
                <a:spcPts val="0"/>
              </a:spcAft>
              <a:buSzPts val="1150"/>
              <a:buFont typeface="Verdana"/>
              <a:buChar char="■"/>
              <a:defRPr sz="1150">
                <a:latin typeface="Verdana"/>
                <a:ea typeface="Verdana"/>
                <a:cs typeface="Verdana"/>
                <a:sym typeface="Verdana"/>
              </a:defRPr>
            </a:lvl3pPr>
            <a:lvl4pPr marL="1828800" lvl="3" indent="-301625">
              <a:spcBef>
                <a:spcPts val="1600"/>
              </a:spcBef>
              <a:spcAft>
                <a:spcPts val="0"/>
              </a:spcAft>
              <a:buSzPts val="1150"/>
              <a:buFont typeface="Verdana"/>
              <a:buChar char="●"/>
              <a:defRPr sz="1150">
                <a:latin typeface="Verdana"/>
                <a:ea typeface="Verdana"/>
                <a:cs typeface="Verdana"/>
                <a:sym typeface="Verdana"/>
              </a:defRPr>
            </a:lvl4pPr>
            <a:lvl5pPr marL="2286000" lvl="4" indent="-301625">
              <a:spcBef>
                <a:spcPts val="1600"/>
              </a:spcBef>
              <a:spcAft>
                <a:spcPts val="0"/>
              </a:spcAft>
              <a:buSzPts val="1150"/>
              <a:buFont typeface="Verdana"/>
              <a:buChar char="○"/>
              <a:defRPr sz="1150">
                <a:latin typeface="Verdana"/>
                <a:ea typeface="Verdana"/>
                <a:cs typeface="Verdana"/>
                <a:sym typeface="Verdana"/>
              </a:defRPr>
            </a:lvl5pPr>
            <a:lvl6pPr marL="2743200" lvl="5" indent="-301625">
              <a:spcBef>
                <a:spcPts val="1600"/>
              </a:spcBef>
              <a:spcAft>
                <a:spcPts val="0"/>
              </a:spcAft>
              <a:buSzPts val="1150"/>
              <a:buFont typeface="Verdana"/>
              <a:buChar char="■"/>
              <a:defRPr sz="1150">
                <a:latin typeface="Verdana"/>
                <a:ea typeface="Verdana"/>
                <a:cs typeface="Verdana"/>
                <a:sym typeface="Verdana"/>
              </a:defRPr>
            </a:lvl6pPr>
            <a:lvl7pPr marL="3200400" lvl="6" indent="-301625">
              <a:spcBef>
                <a:spcPts val="1600"/>
              </a:spcBef>
              <a:spcAft>
                <a:spcPts val="0"/>
              </a:spcAft>
              <a:buSzPts val="1150"/>
              <a:buFont typeface="Verdana"/>
              <a:buChar char="●"/>
              <a:defRPr sz="1150">
                <a:latin typeface="Verdana"/>
                <a:ea typeface="Verdana"/>
                <a:cs typeface="Verdana"/>
                <a:sym typeface="Verdana"/>
              </a:defRPr>
            </a:lvl7pPr>
            <a:lvl8pPr marL="3657600" lvl="7" indent="-301625">
              <a:spcBef>
                <a:spcPts val="1600"/>
              </a:spcBef>
              <a:spcAft>
                <a:spcPts val="0"/>
              </a:spcAft>
              <a:buSzPts val="1150"/>
              <a:buFont typeface="Verdana"/>
              <a:buChar char="○"/>
              <a:defRPr sz="1150">
                <a:latin typeface="Verdana"/>
                <a:ea typeface="Verdana"/>
                <a:cs typeface="Verdana"/>
                <a:sym typeface="Verdana"/>
              </a:defRPr>
            </a:lvl8pPr>
            <a:lvl9pPr marL="4114800" lvl="8" indent="-301625">
              <a:spcBef>
                <a:spcPts val="1600"/>
              </a:spcBef>
              <a:spcAft>
                <a:spcPts val="1600"/>
              </a:spcAft>
              <a:buSzPts val="1150"/>
              <a:buFont typeface="Verdana"/>
              <a:buChar char="■"/>
              <a:defRPr sz="1150">
                <a:latin typeface="Verdana"/>
                <a:ea typeface="Verdana"/>
                <a:cs typeface="Verdana"/>
                <a:sym typeface="Verdana"/>
              </a:defRPr>
            </a:lvl9pPr>
          </a:lstStyle>
          <a:p>
            <a:endParaRPr/>
          </a:p>
        </p:txBody>
      </p:sp>
      <p:sp>
        <p:nvSpPr>
          <p:cNvPr id="15" name="Google Shape;15;p2"/>
          <p:cNvSpPr txBox="1">
            <a:spLocks noGrp="1"/>
          </p:cNvSpPr>
          <p:nvPr>
            <p:ph type="body" idx="2"/>
          </p:nvPr>
        </p:nvSpPr>
        <p:spPr>
          <a:xfrm>
            <a:off x="365750" y="3225225"/>
            <a:ext cx="8408100" cy="1352100"/>
          </a:xfrm>
          <a:prstGeom prst="rect">
            <a:avLst/>
          </a:prstGeom>
        </p:spPr>
        <p:txBody>
          <a:bodyPr spcFirstLastPara="1" wrap="square" lIns="91425" tIns="91425" rIns="91425" bIns="91425" anchor="t" anchorCtr="0">
            <a:noAutofit/>
          </a:bodyPr>
          <a:lstStyle>
            <a:lvl1pPr marL="457200" lvl="0" indent="-301625" rtl="0">
              <a:spcBef>
                <a:spcPts val="0"/>
              </a:spcBef>
              <a:spcAft>
                <a:spcPts val="0"/>
              </a:spcAft>
              <a:buSzPts val="1150"/>
              <a:buFont typeface="Verdana"/>
              <a:buChar char="●"/>
              <a:defRPr sz="1150">
                <a:latin typeface="Verdana"/>
                <a:ea typeface="Verdana"/>
                <a:cs typeface="Verdana"/>
                <a:sym typeface="Verdana"/>
              </a:defRPr>
            </a:lvl1pPr>
            <a:lvl2pPr marL="914400" lvl="1" indent="-301625" rtl="0">
              <a:spcBef>
                <a:spcPts val="1600"/>
              </a:spcBef>
              <a:spcAft>
                <a:spcPts val="0"/>
              </a:spcAft>
              <a:buSzPts val="1150"/>
              <a:buFont typeface="Verdana"/>
              <a:buChar char="○"/>
              <a:defRPr sz="1150">
                <a:latin typeface="Verdana"/>
                <a:ea typeface="Verdana"/>
                <a:cs typeface="Verdana"/>
                <a:sym typeface="Verdana"/>
              </a:defRPr>
            </a:lvl2pPr>
            <a:lvl3pPr marL="1371600" lvl="2" indent="-301625" rtl="0">
              <a:spcBef>
                <a:spcPts val="1600"/>
              </a:spcBef>
              <a:spcAft>
                <a:spcPts val="0"/>
              </a:spcAft>
              <a:buSzPts val="1150"/>
              <a:buFont typeface="Verdana"/>
              <a:buChar char="■"/>
              <a:defRPr sz="1150">
                <a:latin typeface="Verdana"/>
                <a:ea typeface="Verdana"/>
                <a:cs typeface="Verdana"/>
                <a:sym typeface="Verdana"/>
              </a:defRPr>
            </a:lvl3pPr>
            <a:lvl4pPr marL="1828800" lvl="3" indent="-301625" rtl="0">
              <a:spcBef>
                <a:spcPts val="1600"/>
              </a:spcBef>
              <a:spcAft>
                <a:spcPts val="0"/>
              </a:spcAft>
              <a:buSzPts val="1150"/>
              <a:buFont typeface="Verdana"/>
              <a:buChar char="●"/>
              <a:defRPr sz="1150">
                <a:latin typeface="Verdana"/>
                <a:ea typeface="Verdana"/>
                <a:cs typeface="Verdana"/>
                <a:sym typeface="Verdana"/>
              </a:defRPr>
            </a:lvl4pPr>
            <a:lvl5pPr marL="2286000" lvl="4" indent="-301625" rtl="0">
              <a:spcBef>
                <a:spcPts val="1600"/>
              </a:spcBef>
              <a:spcAft>
                <a:spcPts val="0"/>
              </a:spcAft>
              <a:buSzPts val="1150"/>
              <a:buFont typeface="Verdana"/>
              <a:buChar char="○"/>
              <a:defRPr sz="1150">
                <a:latin typeface="Verdana"/>
                <a:ea typeface="Verdana"/>
                <a:cs typeface="Verdana"/>
                <a:sym typeface="Verdana"/>
              </a:defRPr>
            </a:lvl5pPr>
            <a:lvl6pPr marL="2743200" lvl="5" indent="-301625" rtl="0">
              <a:spcBef>
                <a:spcPts val="1600"/>
              </a:spcBef>
              <a:spcAft>
                <a:spcPts val="0"/>
              </a:spcAft>
              <a:buSzPts val="1150"/>
              <a:buFont typeface="Verdana"/>
              <a:buChar char="■"/>
              <a:defRPr sz="1150">
                <a:latin typeface="Verdana"/>
                <a:ea typeface="Verdana"/>
                <a:cs typeface="Verdana"/>
                <a:sym typeface="Verdana"/>
              </a:defRPr>
            </a:lvl6pPr>
            <a:lvl7pPr marL="3200400" lvl="6" indent="-301625" rtl="0">
              <a:spcBef>
                <a:spcPts val="1600"/>
              </a:spcBef>
              <a:spcAft>
                <a:spcPts val="0"/>
              </a:spcAft>
              <a:buSzPts val="1150"/>
              <a:buFont typeface="Verdana"/>
              <a:buChar char="●"/>
              <a:defRPr sz="1150">
                <a:latin typeface="Verdana"/>
                <a:ea typeface="Verdana"/>
                <a:cs typeface="Verdana"/>
                <a:sym typeface="Verdana"/>
              </a:defRPr>
            </a:lvl7pPr>
            <a:lvl8pPr marL="3657600" lvl="7" indent="-301625" rtl="0">
              <a:spcBef>
                <a:spcPts val="1600"/>
              </a:spcBef>
              <a:spcAft>
                <a:spcPts val="0"/>
              </a:spcAft>
              <a:buSzPts val="1150"/>
              <a:buFont typeface="Verdana"/>
              <a:buChar char="○"/>
              <a:defRPr sz="1150">
                <a:latin typeface="Verdana"/>
                <a:ea typeface="Verdana"/>
                <a:cs typeface="Verdana"/>
                <a:sym typeface="Verdana"/>
              </a:defRPr>
            </a:lvl8pPr>
            <a:lvl9pPr marL="4114800" lvl="8" indent="-301625" rtl="0">
              <a:spcBef>
                <a:spcPts val="1600"/>
              </a:spcBef>
              <a:spcAft>
                <a:spcPts val="1600"/>
              </a:spcAft>
              <a:buSzPts val="1150"/>
              <a:buFont typeface="Verdana"/>
              <a:buChar char="■"/>
              <a:defRPr sz="1150">
                <a:latin typeface="Verdana"/>
                <a:ea typeface="Verdana"/>
                <a:cs typeface="Verdana"/>
                <a:sym typeface="Verdana"/>
              </a:defRPr>
            </a:lvl9pPr>
          </a:lstStyle>
          <a:p>
            <a:endParaRPr/>
          </a:p>
        </p:txBody>
      </p:sp>
      <p:sp>
        <p:nvSpPr>
          <p:cNvPr id="16" name="Google Shape;16;p2"/>
          <p:cNvSpPr txBox="1">
            <a:spLocks noGrp="1"/>
          </p:cNvSpPr>
          <p:nvPr>
            <p:ph type="body" idx="3"/>
          </p:nvPr>
        </p:nvSpPr>
        <p:spPr>
          <a:xfrm>
            <a:off x="367950" y="5280025"/>
            <a:ext cx="8408100" cy="1352100"/>
          </a:xfrm>
          <a:prstGeom prst="rect">
            <a:avLst/>
          </a:prstGeom>
        </p:spPr>
        <p:txBody>
          <a:bodyPr spcFirstLastPara="1" wrap="square" lIns="91425" tIns="91425" rIns="91425" bIns="91425" anchor="t" anchorCtr="0">
            <a:noAutofit/>
          </a:bodyPr>
          <a:lstStyle>
            <a:lvl1pPr marL="457200" lvl="0" indent="-301625" rtl="0">
              <a:spcBef>
                <a:spcPts val="0"/>
              </a:spcBef>
              <a:spcAft>
                <a:spcPts val="0"/>
              </a:spcAft>
              <a:buSzPts val="1150"/>
              <a:buFont typeface="Verdana"/>
              <a:buChar char="●"/>
              <a:defRPr sz="1150">
                <a:latin typeface="Verdana"/>
                <a:ea typeface="Verdana"/>
                <a:cs typeface="Verdana"/>
                <a:sym typeface="Verdana"/>
              </a:defRPr>
            </a:lvl1pPr>
            <a:lvl2pPr marL="914400" lvl="1" indent="-301625" rtl="0">
              <a:spcBef>
                <a:spcPts val="1600"/>
              </a:spcBef>
              <a:spcAft>
                <a:spcPts val="0"/>
              </a:spcAft>
              <a:buSzPts val="1150"/>
              <a:buFont typeface="Verdana"/>
              <a:buChar char="○"/>
              <a:defRPr sz="1150">
                <a:latin typeface="Verdana"/>
                <a:ea typeface="Verdana"/>
                <a:cs typeface="Verdana"/>
                <a:sym typeface="Verdana"/>
              </a:defRPr>
            </a:lvl2pPr>
            <a:lvl3pPr marL="1371600" lvl="2" indent="-301625" rtl="0">
              <a:spcBef>
                <a:spcPts val="1600"/>
              </a:spcBef>
              <a:spcAft>
                <a:spcPts val="0"/>
              </a:spcAft>
              <a:buSzPts val="1150"/>
              <a:buFont typeface="Verdana"/>
              <a:buChar char="■"/>
              <a:defRPr sz="1150">
                <a:latin typeface="Verdana"/>
                <a:ea typeface="Verdana"/>
                <a:cs typeface="Verdana"/>
                <a:sym typeface="Verdana"/>
              </a:defRPr>
            </a:lvl3pPr>
            <a:lvl4pPr marL="1828800" lvl="3" indent="-301625" rtl="0">
              <a:spcBef>
                <a:spcPts val="1600"/>
              </a:spcBef>
              <a:spcAft>
                <a:spcPts val="0"/>
              </a:spcAft>
              <a:buSzPts val="1150"/>
              <a:buFont typeface="Verdana"/>
              <a:buChar char="●"/>
              <a:defRPr sz="1150">
                <a:latin typeface="Verdana"/>
                <a:ea typeface="Verdana"/>
                <a:cs typeface="Verdana"/>
                <a:sym typeface="Verdana"/>
              </a:defRPr>
            </a:lvl4pPr>
            <a:lvl5pPr marL="2286000" lvl="4" indent="-301625" rtl="0">
              <a:spcBef>
                <a:spcPts val="1600"/>
              </a:spcBef>
              <a:spcAft>
                <a:spcPts val="0"/>
              </a:spcAft>
              <a:buSzPts val="1150"/>
              <a:buFont typeface="Verdana"/>
              <a:buChar char="○"/>
              <a:defRPr sz="1150">
                <a:latin typeface="Verdana"/>
                <a:ea typeface="Verdana"/>
                <a:cs typeface="Verdana"/>
                <a:sym typeface="Verdana"/>
              </a:defRPr>
            </a:lvl5pPr>
            <a:lvl6pPr marL="2743200" lvl="5" indent="-301625" rtl="0">
              <a:spcBef>
                <a:spcPts val="1600"/>
              </a:spcBef>
              <a:spcAft>
                <a:spcPts val="0"/>
              </a:spcAft>
              <a:buSzPts val="1150"/>
              <a:buFont typeface="Verdana"/>
              <a:buChar char="■"/>
              <a:defRPr sz="1150">
                <a:latin typeface="Verdana"/>
                <a:ea typeface="Verdana"/>
                <a:cs typeface="Verdana"/>
                <a:sym typeface="Verdana"/>
              </a:defRPr>
            </a:lvl6pPr>
            <a:lvl7pPr marL="3200400" lvl="6" indent="-301625" rtl="0">
              <a:spcBef>
                <a:spcPts val="1600"/>
              </a:spcBef>
              <a:spcAft>
                <a:spcPts val="0"/>
              </a:spcAft>
              <a:buSzPts val="1150"/>
              <a:buFont typeface="Verdana"/>
              <a:buChar char="●"/>
              <a:defRPr sz="1150">
                <a:latin typeface="Verdana"/>
                <a:ea typeface="Verdana"/>
                <a:cs typeface="Verdana"/>
                <a:sym typeface="Verdana"/>
              </a:defRPr>
            </a:lvl7pPr>
            <a:lvl8pPr marL="3657600" lvl="7" indent="-301625" rtl="0">
              <a:spcBef>
                <a:spcPts val="1600"/>
              </a:spcBef>
              <a:spcAft>
                <a:spcPts val="0"/>
              </a:spcAft>
              <a:buSzPts val="1150"/>
              <a:buFont typeface="Verdana"/>
              <a:buChar char="○"/>
              <a:defRPr sz="1150">
                <a:latin typeface="Verdana"/>
                <a:ea typeface="Verdana"/>
                <a:cs typeface="Verdana"/>
                <a:sym typeface="Verdana"/>
              </a:defRPr>
            </a:lvl8pPr>
            <a:lvl9pPr marL="4114800" lvl="8" indent="-301625" rtl="0">
              <a:spcBef>
                <a:spcPts val="1600"/>
              </a:spcBef>
              <a:spcAft>
                <a:spcPts val="1600"/>
              </a:spcAft>
              <a:buSzPts val="1150"/>
              <a:buFont typeface="Verdana"/>
              <a:buChar char="■"/>
              <a:defRPr sz="1150">
                <a:latin typeface="Verdana"/>
                <a:ea typeface="Verdana"/>
                <a:cs typeface="Verdana"/>
                <a:sym typeface="Verdana"/>
              </a:defRPr>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Page" type="secHead">
  <p:cSld name="SECTION_HEADER">
    <p:spTree>
      <p:nvGrpSpPr>
        <p:cNvPr id="1" name="Shape 17"/>
        <p:cNvGrpSpPr/>
        <p:nvPr/>
      </p:nvGrpSpPr>
      <p:grpSpPr>
        <a:xfrm>
          <a:off x="0" y="0"/>
          <a:ext cx="0" cy="0"/>
          <a:chOff x="0" y="0"/>
          <a:chExt cx="0" cy="0"/>
        </a:xfrm>
      </p:grpSpPr>
      <p:sp>
        <p:nvSpPr>
          <p:cNvPr id="18" name="Google Shape;18;p3"/>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pic>
        <p:nvPicPr>
          <p:cNvPr id="19" name="Google Shape;19;p3"/>
          <p:cNvPicPr preferRelativeResize="0"/>
          <p:nvPr/>
        </p:nvPicPr>
        <p:blipFill>
          <a:blip r:embed="rId2">
            <a:alphaModFix/>
          </a:blip>
          <a:stretch>
            <a:fillRect/>
          </a:stretch>
        </p:blipFill>
        <p:spPr>
          <a:xfrm>
            <a:off x="0" y="0"/>
            <a:ext cx="9144000" cy="7315200"/>
          </a:xfrm>
          <a:prstGeom prst="rect">
            <a:avLst/>
          </a:prstGeom>
          <a:noFill/>
          <a:ln>
            <a:noFill/>
          </a:ln>
        </p:spPr>
      </p:pic>
      <p:sp>
        <p:nvSpPr>
          <p:cNvPr id="20" name="Google Shape;20;p3"/>
          <p:cNvSpPr txBox="1"/>
          <p:nvPr/>
        </p:nvSpPr>
        <p:spPr>
          <a:xfrm>
            <a:off x="1677300" y="641316"/>
            <a:ext cx="5789400" cy="11958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3700" b="1">
                <a:solidFill>
                  <a:srgbClr val="FFFFFF"/>
                </a:solidFill>
              </a:rPr>
              <a:t>Marketing Solutions</a:t>
            </a:r>
            <a:endParaRPr sz="3700" b="1">
              <a:solidFill>
                <a:srgbClr val="FFFFFF"/>
              </a:solidFill>
            </a:endParaRPr>
          </a:p>
        </p:txBody>
      </p:sp>
      <p:sp>
        <p:nvSpPr>
          <p:cNvPr id="21" name="Google Shape;21;p3"/>
          <p:cNvSpPr txBox="1"/>
          <p:nvPr/>
        </p:nvSpPr>
        <p:spPr>
          <a:xfrm>
            <a:off x="1677300" y="1586133"/>
            <a:ext cx="5789400" cy="7020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b="1">
                <a:solidFill>
                  <a:srgbClr val="FFFFFF"/>
                </a:solidFill>
              </a:rPr>
              <a:t>Summary, Conclusions, and Recommendations</a:t>
            </a:r>
            <a:endParaRPr b="1">
              <a:solidFill>
                <a:srgbClr val="FFFFFF"/>
              </a:solidFill>
            </a:endParaRPr>
          </a:p>
        </p:txBody>
      </p:sp>
      <p:sp>
        <p:nvSpPr>
          <p:cNvPr id="22" name="Google Shape;22;p3"/>
          <p:cNvSpPr/>
          <p:nvPr/>
        </p:nvSpPr>
        <p:spPr>
          <a:xfrm>
            <a:off x="358500" y="2461653"/>
            <a:ext cx="8427000" cy="4541400"/>
          </a:xfrm>
          <a:prstGeom prst="rect">
            <a:avLst/>
          </a:prstGeom>
          <a:solidFill>
            <a:srgbClr val="FFFFFF"/>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endParaRPr sz="2800">
              <a:solidFill>
                <a:srgbClr val="4E5E53"/>
              </a:solidFill>
            </a:endParaRPr>
          </a:p>
        </p:txBody>
      </p:sp>
      <p:sp>
        <p:nvSpPr>
          <p:cNvPr id="23" name="Google Shape;23;p3"/>
          <p:cNvSpPr txBox="1"/>
          <p:nvPr/>
        </p:nvSpPr>
        <p:spPr>
          <a:xfrm>
            <a:off x="598500" y="6457251"/>
            <a:ext cx="7947000" cy="435000"/>
          </a:xfrm>
          <a:prstGeom prst="rect">
            <a:avLst/>
          </a:prstGeom>
          <a:noFill/>
          <a:ln>
            <a:noFill/>
          </a:ln>
        </p:spPr>
        <p:txBody>
          <a:bodyPr spcFirstLastPara="1" wrap="square" lIns="91425" tIns="91425" rIns="91425" bIns="91425" anchor="ctr" anchorCtr="0">
            <a:noAutofit/>
          </a:bodyPr>
          <a:lstStyle/>
          <a:p>
            <a:pPr marL="0" lvl="0" indent="0" algn="l" rtl="0">
              <a:lnSpc>
                <a:spcPct val="95000"/>
              </a:lnSpc>
              <a:spcBef>
                <a:spcPts val="0"/>
              </a:spcBef>
              <a:spcAft>
                <a:spcPts val="0"/>
              </a:spcAft>
              <a:buNone/>
            </a:pPr>
            <a:r>
              <a:rPr lang="en" sz="700"/>
              <a:t>Copyright © 1984-2021 Executive Decision Systems, Inc. and The Guld Resource Group, LLC.  The data, formulas, and other content in these materials are the property of Executive Decision Systems, Inc. and The Guld Resource Group, LLC and are protected by copyright and other intellectual property laws.  No part of these materials may be reproduced, distributed, or used in any way without a license agreement or other written consent of The Guld Resource Group, LLC permitting such use.  All rights reserved.  To report violations, please call (804) 356-7006.</a:t>
            </a:r>
            <a:endParaRPr sz="700"/>
          </a:p>
        </p:txBody>
      </p:sp>
      <p:sp>
        <p:nvSpPr>
          <p:cNvPr id="24" name="Google Shape;24;p3"/>
          <p:cNvSpPr txBox="1"/>
          <p:nvPr/>
        </p:nvSpPr>
        <p:spPr>
          <a:xfrm>
            <a:off x="598500" y="2952325"/>
            <a:ext cx="3000000" cy="5598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 sz="2800" b="1"/>
              <a:t>Presented To:</a:t>
            </a:r>
            <a:endParaRPr sz="2800" b="1"/>
          </a:p>
        </p:txBody>
      </p:sp>
      <p:sp>
        <p:nvSpPr>
          <p:cNvPr id="25" name="Google Shape;25;p3"/>
          <p:cNvSpPr txBox="1"/>
          <p:nvPr/>
        </p:nvSpPr>
        <p:spPr>
          <a:xfrm>
            <a:off x="676500" y="4782260"/>
            <a:ext cx="2844000" cy="5598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 sz="2800" b="1"/>
              <a:t>Presented By:</a:t>
            </a:r>
            <a:endParaRPr sz="2800" b="1"/>
          </a:p>
        </p:txBody>
      </p:sp>
      <p:sp>
        <p:nvSpPr>
          <p:cNvPr id="26" name="Google Shape;26;p3"/>
          <p:cNvSpPr txBox="1">
            <a:spLocks noGrp="1"/>
          </p:cNvSpPr>
          <p:nvPr>
            <p:ph type="subTitle" idx="1"/>
          </p:nvPr>
        </p:nvSpPr>
        <p:spPr>
          <a:xfrm>
            <a:off x="2634000" y="3533551"/>
            <a:ext cx="3876000" cy="559800"/>
          </a:xfrm>
          <a:prstGeom prst="rect">
            <a:avLst/>
          </a:prstGeom>
        </p:spPr>
        <p:txBody>
          <a:bodyPr spcFirstLastPara="1" wrap="square" lIns="91425" tIns="91425" rIns="91425" bIns="91425" anchor="t" anchorCtr="0">
            <a:noAutofit/>
          </a:bodyPr>
          <a:lstStyle>
            <a:lvl1pPr lvl="0" algn="ctr">
              <a:spcBef>
                <a:spcPts val="0"/>
              </a:spcBef>
              <a:spcAft>
                <a:spcPts val="0"/>
              </a:spcAft>
              <a:buClr>
                <a:srgbClr val="000000"/>
              </a:buClr>
              <a:buSzPts val="1800"/>
              <a:buNone/>
              <a:defRPr b="1">
                <a:solidFill>
                  <a:srgbClr val="000000"/>
                </a:solidFill>
              </a:defRPr>
            </a:lvl1pPr>
            <a:lvl2pPr lvl="1" algn="ctr">
              <a:spcBef>
                <a:spcPts val="1600"/>
              </a:spcBef>
              <a:spcAft>
                <a:spcPts val="0"/>
              </a:spcAft>
              <a:buClr>
                <a:srgbClr val="000000"/>
              </a:buClr>
              <a:buSzPts val="1800"/>
              <a:buNone/>
              <a:defRPr sz="1800" b="1">
                <a:solidFill>
                  <a:srgbClr val="000000"/>
                </a:solidFill>
              </a:defRPr>
            </a:lvl2pPr>
            <a:lvl3pPr lvl="2" algn="ctr">
              <a:spcBef>
                <a:spcPts val="1600"/>
              </a:spcBef>
              <a:spcAft>
                <a:spcPts val="0"/>
              </a:spcAft>
              <a:buClr>
                <a:srgbClr val="000000"/>
              </a:buClr>
              <a:buSzPts val="1800"/>
              <a:buNone/>
              <a:defRPr sz="1800" b="1">
                <a:solidFill>
                  <a:srgbClr val="000000"/>
                </a:solidFill>
              </a:defRPr>
            </a:lvl3pPr>
            <a:lvl4pPr lvl="3" algn="ctr">
              <a:spcBef>
                <a:spcPts val="1600"/>
              </a:spcBef>
              <a:spcAft>
                <a:spcPts val="0"/>
              </a:spcAft>
              <a:buClr>
                <a:srgbClr val="000000"/>
              </a:buClr>
              <a:buSzPts val="1800"/>
              <a:buNone/>
              <a:defRPr sz="1800" b="1">
                <a:solidFill>
                  <a:srgbClr val="000000"/>
                </a:solidFill>
              </a:defRPr>
            </a:lvl4pPr>
            <a:lvl5pPr lvl="4" algn="ctr">
              <a:spcBef>
                <a:spcPts val="1600"/>
              </a:spcBef>
              <a:spcAft>
                <a:spcPts val="0"/>
              </a:spcAft>
              <a:buClr>
                <a:srgbClr val="000000"/>
              </a:buClr>
              <a:buSzPts val="1800"/>
              <a:buNone/>
              <a:defRPr sz="1800" b="1">
                <a:solidFill>
                  <a:srgbClr val="000000"/>
                </a:solidFill>
              </a:defRPr>
            </a:lvl5pPr>
            <a:lvl6pPr lvl="5" algn="ctr">
              <a:spcBef>
                <a:spcPts val="1600"/>
              </a:spcBef>
              <a:spcAft>
                <a:spcPts val="0"/>
              </a:spcAft>
              <a:buClr>
                <a:srgbClr val="000000"/>
              </a:buClr>
              <a:buSzPts val="1800"/>
              <a:buNone/>
              <a:defRPr sz="1800" b="1">
                <a:solidFill>
                  <a:srgbClr val="000000"/>
                </a:solidFill>
              </a:defRPr>
            </a:lvl6pPr>
            <a:lvl7pPr lvl="6" algn="ctr">
              <a:spcBef>
                <a:spcPts val="1600"/>
              </a:spcBef>
              <a:spcAft>
                <a:spcPts val="0"/>
              </a:spcAft>
              <a:buClr>
                <a:srgbClr val="000000"/>
              </a:buClr>
              <a:buSzPts val="1800"/>
              <a:buNone/>
              <a:defRPr sz="1800" b="1">
                <a:solidFill>
                  <a:srgbClr val="000000"/>
                </a:solidFill>
              </a:defRPr>
            </a:lvl7pPr>
            <a:lvl8pPr lvl="7" algn="ctr">
              <a:spcBef>
                <a:spcPts val="1600"/>
              </a:spcBef>
              <a:spcAft>
                <a:spcPts val="0"/>
              </a:spcAft>
              <a:buClr>
                <a:srgbClr val="000000"/>
              </a:buClr>
              <a:buSzPts val="1800"/>
              <a:buNone/>
              <a:defRPr sz="1800" b="1">
                <a:solidFill>
                  <a:srgbClr val="000000"/>
                </a:solidFill>
              </a:defRPr>
            </a:lvl8pPr>
            <a:lvl9pPr lvl="8" algn="ctr">
              <a:spcBef>
                <a:spcPts val="1600"/>
              </a:spcBef>
              <a:spcAft>
                <a:spcPts val="1600"/>
              </a:spcAft>
              <a:buClr>
                <a:srgbClr val="000000"/>
              </a:buClr>
              <a:buSzPts val="1800"/>
              <a:buNone/>
              <a:defRPr sz="1800" b="1">
                <a:solidFill>
                  <a:srgbClr val="000000"/>
                </a:solidFill>
              </a:defRPr>
            </a:lvl9pPr>
          </a:lstStyle>
          <a:p>
            <a:endParaRPr/>
          </a:p>
        </p:txBody>
      </p:sp>
      <p:sp>
        <p:nvSpPr>
          <p:cNvPr id="27" name="Google Shape;27;p3"/>
          <p:cNvSpPr txBox="1">
            <a:spLocks noGrp="1"/>
          </p:cNvSpPr>
          <p:nvPr>
            <p:ph type="subTitle" idx="2"/>
          </p:nvPr>
        </p:nvSpPr>
        <p:spPr>
          <a:xfrm>
            <a:off x="2634000" y="3996734"/>
            <a:ext cx="3876000" cy="559800"/>
          </a:xfrm>
          <a:prstGeom prst="rect">
            <a:avLst/>
          </a:prstGeom>
        </p:spPr>
        <p:txBody>
          <a:bodyPr spcFirstLastPara="1" wrap="square" lIns="91425" tIns="91425" rIns="91425" bIns="91425" anchor="t" anchorCtr="0">
            <a:noAutofit/>
          </a:bodyPr>
          <a:lstStyle>
            <a:lvl1pPr lvl="0" algn="ctr" rtl="0">
              <a:spcBef>
                <a:spcPts val="0"/>
              </a:spcBef>
              <a:spcAft>
                <a:spcPts val="0"/>
              </a:spcAft>
              <a:buClr>
                <a:srgbClr val="000000"/>
              </a:buClr>
              <a:buSzPts val="1800"/>
              <a:buNone/>
              <a:defRPr b="1">
                <a:solidFill>
                  <a:srgbClr val="000000"/>
                </a:solidFill>
              </a:defRPr>
            </a:lvl1pPr>
            <a:lvl2pPr lvl="1" algn="ctr" rtl="0">
              <a:spcBef>
                <a:spcPts val="1600"/>
              </a:spcBef>
              <a:spcAft>
                <a:spcPts val="0"/>
              </a:spcAft>
              <a:buClr>
                <a:srgbClr val="000000"/>
              </a:buClr>
              <a:buSzPts val="1800"/>
              <a:buNone/>
              <a:defRPr sz="1800" b="1">
                <a:solidFill>
                  <a:srgbClr val="000000"/>
                </a:solidFill>
              </a:defRPr>
            </a:lvl2pPr>
            <a:lvl3pPr lvl="2" algn="ctr" rtl="0">
              <a:spcBef>
                <a:spcPts val="1600"/>
              </a:spcBef>
              <a:spcAft>
                <a:spcPts val="0"/>
              </a:spcAft>
              <a:buClr>
                <a:srgbClr val="000000"/>
              </a:buClr>
              <a:buSzPts val="1800"/>
              <a:buNone/>
              <a:defRPr sz="1800" b="1">
                <a:solidFill>
                  <a:srgbClr val="000000"/>
                </a:solidFill>
              </a:defRPr>
            </a:lvl3pPr>
            <a:lvl4pPr lvl="3" algn="ctr" rtl="0">
              <a:spcBef>
                <a:spcPts val="1600"/>
              </a:spcBef>
              <a:spcAft>
                <a:spcPts val="0"/>
              </a:spcAft>
              <a:buClr>
                <a:srgbClr val="000000"/>
              </a:buClr>
              <a:buSzPts val="1800"/>
              <a:buNone/>
              <a:defRPr sz="1800" b="1">
                <a:solidFill>
                  <a:srgbClr val="000000"/>
                </a:solidFill>
              </a:defRPr>
            </a:lvl4pPr>
            <a:lvl5pPr lvl="4" algn="ctr" rtl="0">
              <a:spcBef>
                <a:spcPts val="1600"/>
              </a:spcBef>
              <a:spcAft>
                <a:spcPts val="0"/>
              </a:spcAft>
              <a:buClr>
                <a:srgbClr val="000000"/>
              </a:buClr>
              <a:buSzPts val="1800"/>
              <a:buNone/>
              <a:defRPr sz="1800" b="1">
                <a:solidFill>
                  <a:srgbClr val="000000"/>
                </a:solidFill>
              </a:defRPr>
            </a:lvl5pPr>
            <a:lvl6pPr lvl="5" algn="ctr" rtl="0">
              <a:spcBef>
                <a:spcPts val="1600"/>
              </a:spcBef>
              <a:spcAft>
                <a:spcPts val="0"/>
              </a:spcAft>
              <a:buClr>
                <a:srgbClr val="000000"/>
              </a:buClr>
              <a:buSzPts val="1800"/>
              <a:buNone/>
              <a:defRPr sz="1800" b="1">
                <a:solidFill>
                  <a:srgbClr val="000000"/>
                </a:solidFill>
              </a:defRPr>
            </a:lvl6pPr>
            <a:lvl7pPr lvl="6" algn="ctr" rtl="0">
              <a:spcBef>
                <a:spcPts val="1600"/>
              </a:spcBef>
              <a:spcAft>
                <a:spcPts val="0"/>
              </a:spcAft>
              <a:buClr>
                <a:srgbClr val="000000"/>
              </a:buClr>
              <a:buSzPts val="1800"/>
              <a:buNone/>
              <a:defRPr sz="1800" b="1">
                <a:solidFill>
                  <a:srgbClr val="000000"/>
                </a:solidFill>
              </a:defRPr>
            </a:lvl7pPr>
            <a:lvl8pPr lvl="7" algn="ctr" rtl="0">
              <a:spcBef>
                <a:spcPts val="1600"/>
              </a:spcBef>
              <a:spcAft>
                <a:spcPts val="0"/>
              </a:spcAft>
              <a:buClr>
                <a:srgbClr val="000000"/>
              </a:buClr>
              <a:buSzPts val="1800"/>
              <a:buNone/>
              <a:defRPr sz="1800" b="1">
                <a:solidFill>
                  <a:srgbClr val="000000"/>
                </a:solidFill>
              </a:defRPr>
            </a:lvl8pPr>
            <a:lvl9pPr lvl="8" algn="ctr" rtl="0">
              <a:spcBef>
                <a:spcPts val="1600"/>
              </a:spcBef>
              <a:spcAft>
                <a:spcPts val="1600"/>
              </a:spcAft>
              <a:buClr>
                <a:srgbClr val="000000"/>
              </a:buClr>
              <a:buSzPts val="1800"/>
              <a:buNone/>
              <a:defRPr sz="1800" b="1">
                <a:solidFill>
                  <a:srgbClr val="000000"/>
                </a:solidFill>
              </a:defRPr>
            </a:lvl9pPr>
          </a:lstStyle>
          <a:p>
            <a:endParaRPr/>
          </a:p>
        </p:txBody>
      </p:sp>
      <p:sp>
        <p:nvSpPr>
          <p:cNvPr id="28" name="Google Shape;28;p3"/>
          <p:cNvSpPr txBox="1">
            <a:spLocks noGrp="1"/>
          </p:cNvSpPr>
          <p:nvPr>
            <p:ph type="subTitle" idx="3"/>
          </p:nvPr>
        </p:nvSpPr>
        <p:spPr>
          <a:xfrm>
            <a:off x="2634000" y="5284021"/>
            <a:ext cx="3876000" cy="559800"/>
          </a:xfrm>
          <a:prstGeom prst="rect">
            <a:avLst/>
          </a:prstGeom>
        </p:spPr>
        <p:txBody>
          <a:bodyPr spcFirstLastPara="1" wrap="square" lIns="91425" tIns="91425" rIns="91425" bIns="91425" anchor="t" anchorCtr="0">
            <a:noAutofit/>
          </a:bodyPr>
          <a:lstStyle>
            <a:lvl1pPr lvl="0" algn="ctr" rtl="0">
              <a:spcBef>
                <a:spcPts val="0"/>
              </a:spcBef>
              <a:spcAft>
                <a:spcPts val="0"/>
              </a:spcAft>
              <a:buClr>
                <a:srgbClr val="000000"/>
              </a:buClr>
              <a:buSzPts val="1800"/>
              <a:buNone/>
              <a:defRPr b="1">
                <a:solidFill>
                  <a:srgbClr val="000000"/>
                </a:solidFill>
              </a:defRPr>
            </a:lvl1pPr>
            <a:lvl2pPr lvl="1" algn="ctr" rtl="0">
              <a:spcBef>
                <a:spcPts val="1600"/>
              </a:spcBef>
              <a:spcAft>
                <a:spcPts val="0"/>
              </a:spcAft>
              <a:buClr>
                <a:srgbClr val="000000"/>
              </a:buClr>
              <a:buSzPts val="1800"/>
              <a:buNone/>
              <a:defRPr sz="1800" b="1">
                <a:solidFill>
                  <a:srgbClr val="000000"/>
                </a:solidFill>
              </a:defRPr>
            </a:lvl2pPr>
            <a:lvl3pPr lvl="2" algn="ctr" rtl="0">
              <a:spcBef>
                <a:spcPts val="1600"/>
              </a:spcBef>
              <a:spcAft>
                <a:spcPts val="0"/>
              </a:spcAft>
              <a:buClr>
                <a:srgbClr val="000000"/>
              </a:buClr>
              <a:buSzPts val="1800"/>
              <a:buNone/>
              <a:defRPr sz="1800" b="1">
                <a:solidFill>
                  <a:srgbClr val="000000"/>
                </a:solidFill>
              </a:defRPr>
            </a:lvl3pPr>
            <a:lvl4pPr lvl="3" algn="ctr" rtl="0">
              <a:spcBef>
                <a:spcPts val="1600"/>
              </a:spcBef>
              <a:spcAft>
                <a:spcPts val="0"/>
              </a:spcAft>
              <a:buClr>
                <a:srgbClr val="000000"/>
              </a:buClr>
              <a:buSzPts val="1800"/>
              <a:buNone/>
              <a:defRPr sz="1800" b="1">
                <a:solidFill>
                  <a:srgbClr val="000000"/>
                </a:solidFill>
              </a:defRPr>
            </a:lvl4pPr>
            <a:lvl5pPr lvl="4" algn="ctr" rtl="0">
              <a:spcBef>
                <a:spcPts val="1600"/>
              </a:spcBef>
              <a:spcAft>
                <a:spcPts val="0"/>
              </a:spcAft>
              <a:buClr>
                <a:srgbClr val="000000"/>
              </a:buClr>
              <a:buSzPts val="1800"/>
              <a:buNone/>
              <a:defRPr sz="1800" b="1">
                <a:solidFill>
                  <a:srgbClr val="000000"/>
                </a:solidFill>
              </a:defRPr>
            </a:lvl5pPr>
            <a:lvl6pPr lvl="5" algn="ctr" rtl="0">
              <a:spcBef>
                <a:spcPts val="1600"/>
              </a:spcBef>
              <a:spcAft>
                <a:spcPts val="0"/>
              </a:spcAft>
              <a:buClr>
                <a:srgbClr val="000000"/>
              </a:buClr>
              <a:buSzPts val="1800"/>
              <a:buNone/>
              <a:defRPr sz="1800" b="1">
                <a:solidFill>
                  <a:srgbClr val="000000"/>
                </a:solidFill>
              </a:defRPr>
            </a:lvl6pPr>
            <a:lvl7pPr lvl="6" algn="ctr" rtl="0">
              <a:spcBef>
                <a:spcPts val="1600"/>
              </a:spcBef>
              <a:spcAft>
                <a:spcPts val="0"/>
              </a:spcAft>
              <a:buClr>
                <a:srgbClr val="000000"/>
              </a:buClr>
              <a:buSzPts val="1800"/>
              <a:buNone/>
              <a:defRPr sz="1800" b="1">
                <a:solidFill>
                  <a:srgbClr val="000000"/>
                </a:solidFill>
              </a:defRPr>
            </a:lvl7pPr>
            <a:lvl8pPr lvl="7" algn="ctr" rtl="0">
              <a:spcBef>
                <a:spcPts val="1600"/>
              </a:spcBef>
              <a:spcAft>
                <a:spcPts val="0"/>
              </a:spcAft>
              <a:buClr>
                <a:srgbClr val="000000"/>
              </a:buClr>
              <a:buSzPts val="1800"/>
              <a:buNone/>
              <a:defRPr sz="1800" b="1">
                <a:solidFill>
                  <a:srgbClr val="000000"/>
                </a:solidFill>
              </a:defRPr>
            </a:lvl8pPr>
            <a:lvl9pPr lvl="8" algn="ctr" rtl="0">
              <a:spcBef>
                <a:spcPts val="1600"/>
              </a:spcBef>
              <a:spcAft>
                <a:spcPts val="1600"/>
              </a:spcAft>
              <a:buClr>
                <a:srgbClr val="000000"/>
              </a:buClr>
              <a:buSzPts val="1800"/>
              <a:buNone/>
              <a:defRPr sz="1800" b="1">
                <a:solidFill>
                  <a:srgbClr val="000000"/>
                </a:solidFill>
              </a:defRPr>
            </a:lvl9pPr>
          </a:lstStyle>
          <a:p>
            <a:endParaRPr/>
          </a:p>
        </p:txBody>
      </p:sp>
      <p:sp>
        <p:nvSpPr>
          <p:cNvPr id="29" name="Google Shape;29;p3"/>
          <p:cNvSpPr txBox="1">
            <a:spLocks noGrp="1"/>
          </p:cNvSpPr>
          <p:nvPr>
            <p:ph type="subTitle" idx="4"/>
          </p:nvPr>
        </p:nvSpPr>
        <p:spPr>
          <a:xfrm>
            <a:off x="2634000" y="5696446"/>
            <a:ext cx="3876000" cy="559800"/>
          </a:xfrm>
          <a:prstGeom prst="rect">
            <a:avLst/>
          </a:prstGeom>
        </p:spPr>
        <p:txBody>
          <a:bodyPr spcFirstLastPara="1" wrap="square" lIns="91425" tIns="91425" rIns="91425" bIns="91425" anchor="t" anchorCtr="0">
            <a:noAutofit/>
          </a:bodyPr>
          <a:lstStyle>
            <a:lvl1pPr lvl="0" algn="ctr" rtl="0">
              <a:spcBef>
                <a:spcPts val="0"/>
              </a:spcBef>
              <a:spcAft>
                <a:spcPts val="0"/>
              </a:spcAft>
              <a:buClr>
                <a:srgbClr val="000000"/>
              </a:buClr>
              <a:buSzPts val="1800"/>
              <a:buNone/>
              <a:defRPr b="1">
                <a:solidFill>
                  <a:srgbClr val="000000"/>
                </a:solidFill>
              </a:defRPr>
            </a:lvl1pPr>
            <a:lvl2pPr lvl="1" algn="ctr" rtl="0">
              <a:spcBef>
                <a:spcPts val="1600"/>
              </a:spcBef>
              <a:spcAft>
                <a:spcPts val="0"/>
              </a:spcAft>
              <a:buClr>
                <a:srgbClr val="000000"/>
              </a:buClr>
              <a:buSzPts val="1800"/>
              <a:buNone/>
              <a:defRPr sz="1800" b="1">
                <a:solidFill>
                  <a:srgbClr val="000000"/>
                </a:solidFill>
              </a:defRPr>
            </a:lvl2pPr>
            <a:lvl3pPr lvl="2" algn="ctr" rtl="0">
              <a:spcBef>
                <a:spcPts val="1600"/>
              </a:spcBef>
              <a:spcAft>
                <a:spcPts val="0"/>
              </a:spcAft>
              <a:buClr>
                <a:srgbClr val="000000"/>
              </a:buClr>
              <a:buSzPts val="1800"/>
              <a:buNone/>
              <a:defRPr sz="1800" b="1">
                <a:solidFill>
                  <a:srgbClr val="000000"/>
                </a:solidFill>
              </a:defRPr>
            </a:lvl3pPr>
            <a:lvl4pPr lvl="3" algn="ctr" rtl="0">
              <a:spcBef>
                <a:spcPts val="1600"/>
              </a:spcBef>
              <a:spcAft>
                <a:spcPts val="0"/>
              </a:spcAft>
              <a:buClr>
                <a:srgbClr val="000000"/>
              </a:buClr>
              <a:buSzPts val="1800"/>
              <a:buNone/>
              <a:defRPr sz="1800" b="1">
                <a:solidFill>
                  <a:srgbClr val="000000"/>
                </a:solidFill>
              </a:defRPr>
            </a:lvl4pPr>
            <a:lvl5pPr lvl="4" algn="ctr" rtl="0">
              <a:spcBef>
                <a:spcPts val="1600"/>
              </a:spcBef>
              <a:spcAft>
                <a:spcPts val="0"/>
              </a:spcAft>
              <a:buClr>
                <a:srgbClr val="000000"/>
              </a:buClr>
              <a:buSzPts val="1800"/>
              <a:buNone/>
              <a:defRPr sz="1800" b="1">
                <a:solidFill>
                  <a:srgbClr val="000000"/>
                </a:solidFill>
              </a:defRPr>
            </a:lvl5pPr>
            <a:lvl6pPr lvl="5" algn="ctr" rtl="0">
              <a:spcBef>
                <a:spcPts val="1600"/>
              </a:spcBef>
              <a:spcAft>
                <a:spcPts val="0"/>
              </a:spcAft>
              <a:buClr>
                <a:srgbClr val="000000"/>
              </a:buClr>
              <a:buSzPts val="1800"/>
              <a:buNone/>
              <a:defRPr sz="1800" b="1">
                <a:solidFill>
                  <a:srgbClr val="000000"/>
                </a:solidFill>
              </a:defRPr>
            </a:lvl6pPr>
            <a:lvl7pPr lvl="6" algn="ctr" rtl="0">
              <a:spcBef>
                <a:spcPts val="1600"/>
              </a:spcBef>
              <a:spcAft>
                <a:spcPts val="0"/>
              </a:spcAft>
              <a:buClr>
                <a:srgbClr val="000000"/>
              </a:buClr>
              <a:buSzPts val="1800"/>
              <a:buNone/>
              <a:defRPr sz="1800" b="1">
                <a:solidFill>
                  <a:srgbClr val="000000"/>
                </a:solidFill>
              </a:defRPr>
            </a:lvl7pPr>
            <a:lvl8pPr lvl="7" algn="ctr" rtl="0">
              <a:spcBef>
                <a:spcPts val="1600"/>
              </a:spcBef>
              <a:spcAft>
                <a:spcPts val="0"/>
              </a:spcAft>
              <a:buClr>
                <a:srgbClr val="000000"/>
              </a:buClr>
              <a:buSzPts val="1800"/>
              <a:buNone/>
              <a:defRPr sz="1800" b="1">
                <a:solidFill>
                  <a:srgbClr val="000000"/>
                </a:solidFill>
              </a:defRPr>
            </a:lvl8pPr>
            <a:lvl9pPr lvl="8" algn="ctr" rtl="0">
              <a:spcBef>
                <a:spcPts val="1600"/>
              </a:spcBef>
              <a:spcAft>
                <a:spcPts val="1600"/>
              </a:spcAft>
              <a:buClr>
                <a:srgbClr val="000000"/>
              </a:buClr>
              <a:buSzPts val="1800"/>
              <a:buNone/>
              <a:defRPr sz="1800" b="1">
                <a:solidFill>
                  <a:srgbClr val="000000"/>
                </a:solidFill>
              </a:defRPr>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two columns" type="tx">
  <p:cSld name="TITLE_AND_BODY">
    <p:spTree>
      <p:nvGrpSpPr>
        <p:cNvPr id="1" name="Shape 30"/>
        <p:cNvGrpSpPr/>
        <p:nvPr/>
      </p:nvGrpSpPr>
      <p:grpSpPr>
        <a:xfrm>
          <a:off x="0" y="0"/>
          <a:ext cx="0" cy="0"/>
          <a:chOff x="0" y="0"/>
          <a:chExt cx="0" cy="0"/>
        </a:xfrm>
      </p:grpSpPr>
      <p:sp>
        <p:nvSpPr>
          <p:cNvPr id="31" name="Google Shape;31;p4"/>
          <p:cNvSpPr txBox="1">
            <a:spLocks noGrp="1"/>
          </p:cNvSpPr>
          <p:nvPr>
            <p:ph type="title"/>
          </p:nvPr>
        </p:nvSpPr>
        <p:spPr>
          <a:xfrm>
            <a:off x="694944" y="475488"/>
            <a:ext cx="7754100" cy="694800"/>
          </a:xfrm>
          <a:prstGeom prst="rect">
            <a:avLst/>
          </a:prstGeom>
        </p:spPr>
        <p:txBody>
          <a:bodyPr spcFirstLastPara="1" wrap="square" lIns="91425" tIns="91425" rIns="91425" bIns="91425" anchor="ctr" anchorCtr="0">
            <a:noAutofit/>
          </a:bodyPr>
          <a:lstStyle>
            <a:lvl1pPr lvl="0" algn="ctr">
              <a:spcBef>
                <a:spcPts val="0"/>
              </a:spcBef>
              <a:spcAft>
                <a:spcPts val="0"/>
              </a:spcAft>
              <a:buSzPts val="4000"/>
              <a:buNone/>
              <a:defRPr sz="4000" b="1"/>
            </a:lvl1pPr>
            <a:lvl2pPr lvl="1" algn="ctr">
              <a:spcBef>
                <a:spcPts val="0"/>
              </a:spcBef>
              <a:spcAft>
                <a:spcPts val="0"/>
              </a:spcAft>
              <a:buSzPts val="2800"/>
              <a:buNone/>
              <a:defRPr/>
            </a:lvl2pPr>
            <a:lvl3pPr lvl="2" algn="ctr">
              <a:spcBef>
                <a:spcPts val="0"/>
              </a:spcBef>
              <a:spcAft>
                <a:spcPts val="0"/>
              </a:spcAft>
              <a:buSzPts val="2800"/>
              <a:buNone/>
              <a:defRPr/>
            </a:lvl3pPr>
            <a:lvl4pPr lvl="3" algn="ctr">
              <a:spcBef>
                <a:spcPts val="0"/>
              </a:spcBef>
              <a:spcAft>
                <a:spcPts val="0"/>
              </a:spcAft>
              <a:buSzPts val="2800"/>
              <a:buNone/>
              <a:defRPr/>
            </a:lvl4pPr>
            <a:lvl5pPr lvl="4" algn="ctr">
              <a:spcBef>
                <a:spcPts val="0"/>
              </a:spcBef>
              <a:spcAft>
                <a:spcPts val="0"/>
              </a:spcAft>
              <a:buSzPts val="2800"/>
              <a:buNone/>
              <a:defRPr/>
            </a:lvl5pPr>
            <a:lvl6pPr lvl="5" algn="ctr">
              <a:spcBef>
                <a:spcPts val="0"/>
              </a:spcBef>
              <a:spcAft>
                <a:spcPts val="0"/>
              </a:spcAft>
              <a:buSzPts val="2800"/>
              <a:buNone/>
              <a:defRPr/>
            </a:lvl6pPr>
            <a:lvl7pPr lvl="6" algn="ctr">
              <a:spcBef>
                <a:spcPts val="0"/>
              </a:spcBef>
              <a:spcAft>
                <a:spcPts val="0"/>
              </a:spcAft>
              <a:buSzPts val="2800"/>
              <a:buNone/>
              <a:defRPr/>
            </a:lvl7pPr>
            <a:lvl8pPr lvl="7" algn="ctr">
              <a:spcBef>
                <a:spcPts val="0"/>
              </a:spcBef>
              <a:spcAft>
                <a:spcPts val="0"/>
              </a:spcAft>
              <a:buSzPts val="2800"/>
              <a:buNone/>
              <a:defRPr/>
            </a:lvl8pPr>
            <a:lvl9pPr lvl="8" algn="ctr">
              <a:spcBef>
                <a:spcPts val="0"/>
              </a:spcBef>
              <a:spcAft>
                <a:spcPts val="0"/>
              </a:spcAft>
              <a:buSzPts val="2800"/>
              <a:buNone/>
              <a:defRPr/>
            </a:lvl9pPr>
          </a:lstStyle>
          <a:p>
            <a:endParaRPr/>
          </a:p>
        </p:txBody>
      </p:sp>
      <p:sp>
        <p:nvSpPr>
          <p:cNvPr id="32" name="Google Shape;32;p4"/>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
        <p:nvSpPr>
          <p:cNvPr id="33" name="Google Shape;33;p4"/>
          <p:cNvSpPr txBox="1">
            <a:spLocks noGrp="1"/>
          </p:cNvSpPr>
          <p:nvPr>
            <p:ph type="body" idx="1"/>
          </p:nvPr>
        </p:nvSpPr>
        <p:spPr>
          <a:xfrm>
            <a:off x="457200" y="1490773"/>
            <a:ext cx="3595500" cy="5141400"/>
          </a:xfrm>
          <a:prstGeom prst="rect">
            <a:avLst/>
          </a:prstGeom>
        </p:spPr>
        <p:txBody>
          <a:bodyPr spcFirstLastPara="1" wrap="square" lIns="91425" tIns="91425" rIns="91425" bIns="91425" anchor="t" anchorCtr="0">
            <a:noAutofit/>
          </a:bodyPr>
          <a:lstStyle>
            <a:lvl1pPr marL="457200" lvl="0" indent="-298450">
              <a:spcBef>
                <a:spcPts val="0"/>
              </a:spcBef>
              <a:spcAft>
                <a:spcPts val="0"/>
              </a:spcAft>
              <a:buSzPts val="1100"/>
              <a:buFont typeface="Verdana"/>
              <a:buChar char="●"/>
              <a:defRPr sz="1100">
                <a:latin typeface="Verdana"/>
                <a:ea typeface="Verdana"/>
                <a:cs typeface="Verdana"/>
                <a:sym typeface="Verdana"/>
              </a:defRPr>
            </a:lvl1pPr>
            <a:lvl2pPr marL="914400" lvl="1" indent="-298450">
              <a:spcBef>
                <a:spcPts val="1600"/>
              </a:spcBef>
              <a:spcAft>
                <a:spcPts val="0"/>
              </a:spcAft>
              <a:buSzPts val="1100"/>
              <a:buFont typeface="Verdana"/>
              <a:buChar char="○"/>
              <a:defRPr sz="1100">
                <a:latin typeface="Verdana"/>
                <a:ea typeface="Verdana"/>
                <a:cs typeface="Verdana"/>
                <a:sym typeface="Verdana"/>
              </a:defRPr>
            </a:lvl2pPr>
            <a:lvl3pPr marL="1371600" lvl="2" indent="-298450">
              <a:spcBef>
                <a:spcPts val="1600"/>
              </a:spcBef>
              <a:spcAft>
                <a:spcPts val="0"/>
              </a:spcAft>
              <a:buSzPts val="1100"/>
              <a:buFont typeface="Verdana"/>
              <a:buChar char="■"/>
              <a:defRPr sz="1100">
                <a:latin typeface="Verdana"/>
                <a:ea typeface="Verdana"/>
                <a:cs typeface="Verdana"/>
                <a:sym typeface="Verdana"/>
              </a:defRPr>
            </a:lvl3pPr>
            <a:lvl4pPr marL="1828800" lvl="3" indent="-298450">
              <a:spcBef>
                <a:spcPts val="1600"/>
              </a:spcBef>
              <a:spcAft>
                <a:spcPts val="0"/>
              </a:spcAft>
              <a:buSzPts val="1100"/>
              <a:buFont typeface="Verdana"/>
              <a:buChar char="●"/>
              <a:defRPr sz="1100">
                <a:latin typeface="Verdana"/>
                <a:ea typeface="Verdana"/>
                <a:cs typeface="Verdana"/>
                <a:sym typeface="Verdana"/>
              </a:defRPr>
            </a:lvl4pPr>
            <a:lvl5pPr marL="2286000" lvl="4" indent="-298450">
              <a:spcBef>
                <a:spcPts val="1600"/>
              </a:spcBef>
              <a:spcAft>
                <a:spcPts val="0"/>
              </a:spcAft>
              <a:buSzPts val="1100"/>
              <a:buFont typeface="Verdana"/>
              <a:buChar char="○"/>
              <a:defRPr sz="1100">
                <a:latin typeface="Verdana"/>
                <a:ea typeface="Verdana"/>
                <a:cs typeface="Verdana"/>
                <a:sym typeface="Verdana"/>
              </a:defRPr>
            </a:lvl5pPr>
            <a:lvl6pPr marL="2743200" lvl="5" indent="-298450">
              <a:spcBef>
                <a:spcPts val="1600"/>
              </a:spcBef>
              <a:spcAft>
                <a:spcPts val="0"/>
              </a:spcAft>
              <a:buSzPts val="1100"/>
              <a:buFont typeface="Verdana"/>
              <a:buChar char="■"/>
              <a:defRPr sz="1100">
                <a:latin typeface="Verdana"/>
                <a:ea typeface="Verdana"/>
                <a:cs typeface="Verdana"/>
                <a:sym typeface="Verdana"/>
              </a:defRPr>
            </a:lvl6pPr>
            <a:lvl7pPr marL="3200400" lvl="6" indent="-298450">
              <a:spcBef>
                <a:spcPts val="1600"/>
              </a:spcBef>
              <a:spcAft>
                <a:spcPts val="0"/>
              </a:spcAft>
              <a:buSzPts val="1100"/>
              <a:buFont typeface="Verdana"/>
              <a:buChar char="●"/>
              <a:defRPr sz="1100">
                <a:latin typeface="Verdana"/>
                <a:ea typeface="Verdana"/>
                <a:cs typeface="Verdana"/>
                <a:sym typeface="Verdana"/>
              </a:defRPr>
            </a:lvl7pPr>
            <a:lvl8pPr marL="3657600" lvl="7" indent="-298450">
              <a:spcBef>
                <a:spcPts val="1600"/>
              </a:spcBef>
              <a:spcAft>
                <a:spcPts val="0"/>
              </a:spcAft>
              <a:buSzPts val="1100"/>
              <a:buFont typeface="Verdana"/>
              <a:buChar char="○"/>
              <a:defRPr sz="1100">
                <a:latin typeface="Verdana"/>
                <a:ea typeface="Verdana"/>
                <a:cs typeface="Verdana"/>
                <a:sym typeface="Verdana"/>
              </a:defRPr>
            </a:lvl8pPr>
            <a:lvl9pPr marL="4114800" lvl="8" indent="-298450">
              <a:spcBef>
                <a:spcPts val="1600"/>
              </a:spcBef>
              <a:spcAft>
                <a:spcPts val="1600"/>
              </a:spcAft>
              <a:buSzPts val="1100"/>
              <a:buFont typeface="Verdana"/>
              <a:buChar char="■"/>
              <a:defRPr sz="1100">
                <a:latin typeface="Verdana"/>
                <a:ea typeface="Verdana"/>
                <a:cs typeface="Verdana"/>
                <a:sym typeface="Verdana"/>
              </a:defRPr>
            </a:lvl9pPr>
          </a:lstStyle>
          <a:p>
            <a:endParaRPr/>
          </a:p>
        </p:txBody>
      </p:sp>
      <p:sp>
        <p:nvSpPr>
          <p:cNvPr id="34" name="Google Shape;34;p4"/>
          <p:cNvSpPr txBox="1">
            <a:spLocks noGrp="1"/>
          </p:cNvSpPr>
          <p:nvPr>
            <p:ph type="body" idx="2"/>
          </p:nvPr>
        </p:nvSpPr>
        <p:spPr>
          <a:xfrm>
            <a:off x="5071325" y="1490773"/>
            <a:ext cx="3595500" cy="5141400"/>
          </a:xfrm>
          <a:prstGeom prst="rect">
            <a:avLst/>
          </a:prstGeom>
        </p:spPr>
        <p:txBody>
          <a:bodyPr spcFirstLastPara="1" wrap="square" lIns="91425" tIns="91425" rIns="91425" bIns="91425" anchor="t" anchorCtr="0">
            <a:noAutofit/>
          </a:bodyPr>
          <a:lstStyle>
            <a:lvl1pPr marL="457200" lvl="0" indent="-298450" rtl="0">
              <a:spcBef>
                <a:spcPts val="0"/>
              </a:spcBef>
              <a:spcAft>
                <a:spcPts val="0"/>
              </a:spcAft>
              <a:buSzPts val="1100"/>
              <a:buFont typeface="Verdana"/>
              <a:buChar char="●"/>
              <a:defRPr sz="1100">
                <a:latin typeface="Verdana"/>
                <a:ea typeface="Verdana"/>
                <a:cs typeface="Verdana"/>
                <a:sym typeface="Verdana"/>
              </a:defRPr>
            </a:lvl1pPr>
            <a:lvl2pPr marL="914400" lvl="1" indent="-298450" rtl="0">
              <a:spcBef>
                <a:spcPts val="1600"/>
              </a:spcBef>
              <a:spcAft>
                <a:spcPts val="0"/>
              </a:spcAft>
              <a:buSzPts val="1100"/>
              <a:buFont typeface="Verdana"/>
              <a:buChar char="○"/>
              <a:defRPr sz="1100">
                <a:latin typeface="Verdana"/>
                <a:ea typeface="Verdana"/>
                <a:cs typeface="Verdana"/>
                <a:sym typeface="Verdana"/>
              </a:defRPr>
            </a:lvl2pPr>
            <a:lvl3pPr marL="1371600" lvl="2" indent="-298450" rtl="0">
              <a:spcBef>
                <a:spcPts val="1600"/>
              </a:spcBef>
              <a:spcAft>
                <a:spcPts val="0"/>
              </a:spcAft>
              <a:buSzPts val="1100"/>
              <a:buFont typeface="Verdana"/>
              <a:buChar char="■"/>
              <a:defRPr sz="1100">
                <a:latin typeface="Verdana"/>
                <a:ea typeface="Verdana"/>
                <a:cs typeface="Verdana"/>
                <a:sym typeface="Verdana"/>
              </a:defRPr>
            </a:lvl3pPr>
            <a:lvl4pPr marL="1828800" lvl="3" indent="-298450" rtl="0">
              <a:spcBef>
                <a:spcPts val="1600"/>
              </a:spcBef>
              <a:spcAft>
                <a:spcPts val="0"/>
              </a:spcAft>
              <a:buSzPts val="1100"/>
              <a:buFont typeface="Verdana"/>
              <a:buChar char="●"/>
              <a:defRPr sz="1100">
                <a:latin typeface="Verdana"/>
                <a:ea typeface="Verdana"/>
                <a:cs typeface="Verdana"/>
                <a:sym typeface="Verdana"/>
              </a:defRPr>
            </a:lvl4pPr>
            <a:lvl5pPr marL="2286000" lvl="4" indent="-298450" rtl="0">
              <a:spcBef>
                <a:spcPts val="1600"/>
              </a:spcBef>
              <a:spcAft>
                <a:spcPts val="0"/>
              </a:spcAft>
              <a:buSzPts val="1100"/>
              <a:buFont typeface="Verdana"/>
              <a:buChar char="○"/>
              <a:defRPr sz="1100">
                <a:latin typeface="Verdana"/>
                <a:ea typeface="Verdana"/>
                <a:cs typeface="Verdana"/>
                <a:sym typeface="Verdana"/>
              </a:defRPr>
            </a:lvl5pPr>
            <a:lvl6pPr marL="2743200" lvl="5" indent="-298450" rtl="0">
              <a:spcBef>
                <a:spcPts val="1600"/>
              </a:spcBef>
              <a:spcAft>
                <a:spcPts val="0"/>
              </a:spcAft>
              <a:buSzPts val="1100"/>
              <a:buFont typeface="Verdana"/>
              <a:buChar char="■"/>
              <a:defRPr sz="1100">
                <a:latin typeface="Verdana"/>
                <a:ea typeface="Verdana"/>
                <a:cs typeface="Verdana"/>
                <a:sym typeface="Verdana"/>
              </a:defRPr>
            </a:lvl6pPr>
            <a:lvl7pPr marL="3200400" lvl="6" indent="-298450" rtl="0">
              <a:spcBef>
                <a:spcPts val="1600"/>
              </a:spcBef>
              <a:spcAft>
                <a:spcPts val="0"/>
              </a:spcAft>
              <a:buSzPts val="1100"/>
              <a:buFont typeface="Verdana"/>
              <a:buChar char="●"/>
              <a:defRPr sz="1100">
                <a:latin typeface="Verdana"/>
                <a:ea typeface="Verdana"/>
                <a:cs typeface="Verdana"/>
                <a:sym typeface="Verdana"/>
              </a:defRPr>
            </a:lvl7pPr>
            <a:lvl8pPr marL="3657600" lvl="7" indent="-298450" rtl="0">
              <a:spcBef>
                <a:spcPts val="1600"/>
              </a:spcBef>
              <a:spcAft>
                <a:spcPts val="0"/>
              </a:spcAft>
              <a:buSzPts val="1100"/>
              <a:buFont typeface="Verdana"/>
              <a:buChar char="○"/>
              <a:defRPr sz="1100">
                <a:latin typeface="Verdana"/>
                <a:ea typeface="Verdana"/>
                <a:cs typeface="Verdana"/>
                <a:sym typeface="Verdana"/>
              </a:defRPr>
            </a:lvl8pPr>
            <a:lvl9pPr marL="4114800" lvl="8" indent="-298450" rtl="0">
              <a:spcBef>
                <a:spcPts val="1600"/>
              </a:spcBef>
              <a:spcAft>
                <a:spcPts val="1600"/>
              </a:spcAft>
              <a:buSzPts val="1100"/>
              <a:buFont typeface="Verdana"/>
              <a:buChar char="■"/>
              <a:defRPr sz="1100">
                <a:latin typeface="Verdana"/>
                <a:ea typeface="Verdana"/>
                <a:cs typeface="Verdana"/>
                <a:sym typeface="Verdana"/>
              </a:defRP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body" type="twoColTx">
  <p:cSld name="TITLE_AND_TWO_COLUMNS">
    <p:spTree>
      <p:nvGrpSpPr>
        <p:cNvPr id="1" name="Shape 35"/>
        <p:cNvGrpSpPr/>
        <p:nvPr/>
      </p:nvGrpSpPr>
      <p:grpSpPr>
        <a:xfrm>
          <a:off x="0" y="0"/>
          <a:ext cx="0" cy="0"/>
          <a:chOff x="0" y="0"/>
          <a:chExt cx="0" cy="0"/>
        </a:xfrm>
      </p:grpSpPr>
      <p:sp>
        <p:nvSpPr>
          <p:cNvPr id="36" name="Google Shape;36;p5"/>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
        <p:nvSpPr>
          <p:cNvPr id="37" name="Google Shape;37;p5"/>
          <p:cNvSpPr txBox="1">
            <a:spLocks noGrp="1"/>
          </p:cNvSpPr>
          <p:nvPr>
            <p:ph type="title"/>
          </p:nvPr>
        </p:nvSpPr>
        <p:spPr>
          <a:xfrm>
            <a:off x="694944" y="475488"/>
            <a:ext cx="7754100" cy="6948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4000"/>
              <a:buNone/>
              <a:defRPr sz="4000" b="1"/>
            </a:lvl1pPr>
            <a:lvl2pPr lvl="1" algn="ctr" rtl="0">
              <a:spcBef>
                <a:spcPts val="0"/>
              </a:spcBef>
              <a:spcAft>
                <a:spcPts val="0"/>
              </a:spcAft>
              <a:buSzPts val="2800"/>
              <a:buNone/>
              <a:defRPr/>
            </a:lvl2pPr>
            <a:lvl3pPr lvl="2" algn="ctr" rtl="0">
              <a:spcBef>
                <a:spcPts val="0"/>
              </a:spcBef>
              <a:spcAft>
                <a:spcPts val="0"/>
              </a:spcAft>
              <a:buSzPts val="2800"/>
              <a:buNone/>
              <a:defRPr/>
            </a:lvl3pPr>
            <a:lvl4pPr lvl="3" algn="ctr" rtl="0">
              <a:spcBef>
                <a:spcPts val="0"/>
              </a:spcBef>
              <a:spcAft>
                <a:spcPts val="0"/>
              </a:spcAft>
              <a:buSzPts val="2800"/>
              <a:buNone/>
              <a:defRPr/>
            </a:lvl4pPr>
            <a:lvl5pPr lvl="4" algn="ctr" rtl="0">
              <a:spcBef>
                <a:spcPts val="0"/>
              </a:spcBef>
              <a:spcAft>
                <a:spcPts val="0"/>
              </a:spcAft>
              <a:buSzPts val="2800"/>
              <a:buNone/>
              <a:defRPr/>
            </a:lvl5pPr>
            <a:lvl6pPr lvl="5" algn="ctr" rtl="0">
              <a:spcBef>
                <a:spcPts val="0"/>
              </a:spcBef>
              <a:spcAft>
                <a:spcPts val="0"/>
              </a:spcAft>
              <a:buSzPts val="2800"/>
              <a:buNone/>
              <a:defRPr/>
            </a:lvl6pPr>
            <a:lvl7pPr lvl="6" algn="ctr" rtl="0">
              <a:spcBef>
                <a:spcPts val="0"/>
              </a:spcBef>
              <a:spcAft>
                <a:spcPts val="0"/>
              </a:spcAft>
              <a:buSzPts val="2800"/>
              <a:buNone/>
              <a:defRPr/>
            </a:lvl7pPr>
            <a:lvl8pPr lvl="7" algn="ctr" rtl="0">
              <a:spcBef>
                <a:spcPts val="0"/>
              </a:spcBef>
              <a:spcAft>
                <a:spcPts val="0"/>
              </a:spcAft>
              <a:buSzPts val="2800"/>
              <a:buNone/>
              <a:defRPr/>
            </a:lvl8pPr>
            <a:lvl9pPr lvl="8" algn="ctr" rtl="0">
              <a:spcBef>
                <a:spcPts val="0"/>
              </a:spcBef>
              <a:spcAft>
                <a:spcPts val="0"/>
              </a:spcAft>
              <a:buSzPts val="2800"/>
              <a:buNone/>
              <a:defRPr/>
            </a:lvl9pPr>
          </a:lstStyle>
          <a:p>
            <a:endParaRPr/>
          </a:p>
        </p:txBody>
      </p:sp>
      <p:sp>
        <p:nvSpPr>
          <p:cNvPr id="38" name="Google Shape;38;p5"/>
          <p:cNvSpPr txBox="1">
            <a:spLocks noGrp="1"/>
          </p:cNvSpPr>
          <p:nvPr>
            <p:ph type="body" idx="1"/>
          </p:nvPr>
        </p:nvSpPr>
        <p:spPr>
          <a:xfrm>
            <a:off x="457200" y="1170425"/>
            <a:ext cx="8229600" cy="5461800"/>
          </a:xfrm>
          <a:prstGeom prst="rect">
            <a:avLst/>
          </a:prstGeom>
        </p:spPr>
        <p:txBody>
          <a:bodyPr spcFirstLastPara="1" wrap="square" lIns="91425" tIns="91425" rIns="91425" bIns="91425" anchor="t" anchorCtr="0">
            <a:noAutofit/>
          </a:bodyPr>
          <a:lstStyle>
            <a:lvl1pPr marL="457200" lvl="0" indent="-342900">
              <a:spcBef>
                <a:spcPts val="0"/>
              </a:spcBef>
              <a:spcAft>
                <a:spcPts val="0"/>
              </a:spcAft>
              <a:buSzPts val="1800"/>
              <a:buChar char="●"/>
              <a:defRPr/>
            </a:lvl1pPr>
            <a:lvl2pPr marL="914400" lvl="1" indent="-317500">
              <a:spcBef>
                <a:spcPts val="1600"/>
              </a:spcBef>
              <a:spcAft>
                <a:spcPts val="0"/>
              </a:spcAft>
              <a:buSzPts val="1400"/>
              <a:buChar char="○"/>
              <a:defRPr/>
            </a:lvl2pPr>
            <a:lvl3pPr marL="1371600" lvl="2" indent="-317500">
              <a:spcBef>
                <a:spcPts val="1600"/>
              </a:spcBef>
              <a:spcAft>
                <a:spcPts val="0"/>
              </a:spcAft>
              <a:buSzPts val="1400"/>
              <a:buChar char="■"/>
              <a:defRPr/>
            </a:lvl3pPr>
            <a:lvl4pPr marL="1828800" lvl="3" indent="-317500">
              <a:spcBef>
                <a:spcPts val="1600"/>
              </a:spcBef>
              <a:spcAft>
                <a:spcPts val="0"/>
              </a:spcAft>
              <a:buSzPts val="1400"/>
              <a:buChar char="●"/>
              <a:defRPr/>
            </a:lvl4pPr>
            <a:lvl5pPr marL="2286000" lvl="4" indent="-317500">
              <a:spcBef>
                <a:spcPts val="1600"/>
              </a:spcBef>
              <a:spcAft>
                <a:spcPts val="0"/>
              </a:spcAft>
              <a:buSzPts val="1400"/>
              <a:buChar char="○"/>
              <a:defRPr/>
            </a:lvl5pPr>
            <a:lvl6pPr marL="2743200" lvl="5" indent="-317500">
              <a:spcBef>
                <a:spcPts val="1600"/>
              </a:spcBef>
              <a:spcAft>
                <a:spcPts val="0"/>
              </a:spcAft>
              <a:buSzPts val="1400"/>
              <a:buChar char="■"/>
              <a:defRPr/>
            </a:lvl6pPr>
            <a:lvl7pPr marL="3200400" lvl="6" indent="-317500">
              <a:spcBef>
                <a:spcPts val="1600"/>
              </a:spcBef>
              <a:spcAft>
                <a:spcPts val="0"/>
              </a:spcAft>
              <a:buSzPts val="1400"/>
              <a:buChar char="●"/>
              <a:defRPr/>
            </a:lvl7pPr>
            <a:lvl8pPr marL="3657600" lvl="7" indent="-317500">
              <a:spcBef>
                <a:spcPts val="1600"/>
              </a:spcBef>
              <a:spcAft>
                <a:spcPts val="0"/>
              </a:spcAft>
              <a:buSzPts val="1400"/>
              <a:buChar char="○"/>
              <a:defRPr/>
            </a:lvl8pPr>
            <a:lvl9pPr marL="4114800" lvl="8" indent="-317500">
              <a:spcBef>
                <a:spcPts val="1600"/>
              </a:spcBef>
              <a:spcAft>
                <a:spcPts val="1600"/>
              </a:spcAft>
              <a:buSzPts val="1400"/>
              <a:buChar char="■"/>
              <a:defRP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39"/>
        <p:cNvGrpSpPr/>
        <p:nvPr/>
      </p:nvGrpSpPr>
      <p:grpSpPr>
        <a:xfrm>
          <a:off x="0" y="0"/>
          <a:ext cx="0" cy="0"/>
          <a:chOff x="0" y="0"/>
          <a:chExt cx="0" cy="0"/>
        </a:xfrm>
      </p:grpSpPr>
      <p:sp>
        <p:nvSpPr>
          <p:cNvPr id="40" name="Google Shape;40;p6"/>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41"/>
        <p:cNvGrpSpPr/>
        <p:nvPr/>
      </p:nvGrpSpPr>
      <p:grpSpPr>
        <a:xfrm>
          <a:off x="0" y="0"/>
          <a:ext cx="0" cy="0"/>
          <a:chOff x="0" y="0"/>
          <a:chExt cx="0" cy="0"/>
        </a:xfrm>
      </p:grpSpPr>
      <p:sp>
        <p:nvSpPr>
          <p:cNvPr id="42" name="Google Shape;42;p7"/>
          <p:cNvSpPr txBox="1">
            <a:spLocks noGrp="1"/>
          </p:cNvSpPr>
          <p:nvPr>
            <p:ph type="title"/>
          </p:nvPr>
        </p:nvSpPr>
        <p:spPr>
          <a:xfrm>
            <a:off x="311700" y="790187"/>
            <a:ext cx="2808000" cy="1074900"/>
          </a:xfrm>
          <a:prstGeom prst="rect">
            <a:avLst/>
          </a:prstGeom>
        </p:spPr>
        <p:txBody>
          <a:bodyPr spcFirstLastPara="1" wrap="square" lIns="91425" tIns="91425" rIns="91425" bIns="91425" anchor="b" anchorCtr="0">
            <a:no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43" name="Google Shape;43;p7"/>
          <p:cNvSpPr txBox="1">
            <a:spLocks noGrp="1"/>
          </p:cNvSpPr>
          <p:nvPr>
            <p:ph type="body" idx="1"/>
          </p:nvPr>
        </p:nvSpPr>
        <p:spPr>
          <a:xfrm>
            <a:off x="311700" y="1976320"/>
            <a:ext cx="2808000" cy="4521900"/>
          </a:xfrm>
          <a:prstGeom prst="rect">
            <a:avLst/>
          </a:prstGeom>
        </p:spPr>
        <p:txBody>
          <a:bodyPr spcFirstLastPara="1" wrap="square" lIns="91425" tIns="91425" rIns="91425" bIns="91425" anchor="t" anchorCtr="0">
            <a:noAutofit/>
          </a:bodyPr>
          <a:lstStyle>
            <a:lvl1pPr marL="457200" lvl="0" indent="-304800">
              <a:spcBef>
                <a:spcPts val="0"/>
              </a:spcBef>
              <a:spcAft>
                <a:spcPts val="0"/>
              </a:spcAft>
              <a:buSzPts val="1200"/>
              <a:buChar char="●"/>
              <a:defRPr sz="1200"/>
            </a:lvl1pPr>
            <a:lvl2pPr marL="914400" lvl="1" indent="-304800">
              <a:spcBef>
                <a:spcPts val="1600"/>
              </a:spcBef>
              <a:spcAft>
                <a:spcPts val="0"/>
              </a:spcAft>
              <a:buSzPts val="1200"/>
              <a:buChar char="○"/>
              <a:defRPr sz="1200"/>
            </a:lvl2pPr>
            <a:lvl3pPr marL="1371600" lvl="2" indent="-304800">
              <a:spcBef>
                <a:spcPts val="1600"/>
              </a:spcBef>
              <a:spcAft>
                <a:spcPts val="0"/>
              </a:spcAft>
              <a:buSzPts val="1200"/>
              <a:buChar char="■"/>
              <a:defRPr sz="1200"/>
            </a:lvl3pPr>
            <a:lvl4pPr marL="1828800" lvl="3" indent="-304800">
              <a:spcBef>
                <a:spcPts val="1600"/>
              </a:spcBef>
              <a:spcAft>
                <a:spcPts val="0"/>
              </a:spcAft>
              <a:buSzPts val="1200"/>
              <a:buChar char="●"/>
              <a:defRPr sz="1200"/>
            </a:lvl4pPr>
            <a:lvl5pPr marL="2286000" lvl="4" indent="-304800">
              <a:spcBef>
                <a:spcPts val="1600"/>
              </a:spcBef>
              <a:spcAft>
                <a:spcPts val="0"/>
              </a:spcAft>
              <a:buSzPts val="1200"/>
              <a:buChar char="○"/>
              <a:defRPr sz="1200"/>
            </a:lvl5pPr>
            <a:lvl6pPr marL="2743200" lvl="5" indent="-304800">
              <a:spcBef>
                <a:spcPts val="1600"/>
              </a:spcBef>
              <a:spcAft>
                <a:spcPts val="0"/>
              </a:spcAft>
              <a:buSzPts val="1200"/>
              <a:buChar char="■"/>
              <a:defRPr sz="1200"/>
            </a:lvl6pPr>
            <a:lvl7pPr marL="3200400" lvl="6" indent="-304800">
              <a:spcBef>
                <a:spcPts val="1600"/>
              </a:spcBef>
              <a:spcAft>
                <a:spcPts val="0"/>
              </a:spcAft>
              <a:buSzPts val="1200"/>
              <a:buChar char="●"/>
              <a:defRPr sz="1200"/>
            </a:lvl7pPr>
            <a:lvl8pPr marL="3657600" lvl="7" indent="-304800">
              <a:spcBef>
                <a:spcPts val="1600"/>
              </a:spcBef>
              <a:spcAft>
                <a:spcPts val="0"/>
              </a:spcAft>
              <a:buSzPts val="1200"/>
              <a:buChar char="○"/>
              <a:defRPr sz="1200"/>
            </a:lvl8pPr>
            <a:lvl9pPr marL="4114800" lvl="8" indent="-304800">
              <a:spcBef>
                <a:spcPts val="1600"/>
              </a:spcBef>
              <a:spcAft>
                <a:spcPts val="1600"/>
              </a:spcAft>
              <a:buSzPts val="1200"/>
              <a:buChar char="■"/>
              <a:defRPr sz="1200"/>
            </a:lvl9pPr>
          </a:lstStyle>
          <a:p>
            <a:endParaRPr/>
          </a:p>
        </p:txBody>
      </p:sp>
      <p:sp>
        <p:nvSpPr>
          <p:cNvPr id="44" name="Google Shape;44;p7"/>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45"/>
        <p:cNvGrpSpPr/>
        <p:nvPr/>
      </p:nvGrpSpPr>
      <p:grpSpPr>
        <a:xfrm>
          <a:off x="0" y="0"/>
          <a:ext cx="0" cy="0"/>
          <a:chOff x="0" y="0"/>
          <a:chExt cx="0" cy="0"/>
        </a:xfrm>
      </p:grpSpPr>
      <p:sp>
        <p:nvSpPr>
          <p:cNvPr id="46" name="Google Shape;46;p8"/>
          <p:cNvSpPr txBox="1">
            <a:spLocks noGrp="1"/>
          </p:cNvSpPr>
          <p:nvPr>
            <p:ph type="title"/>
          </p:nvPr>
        </p:nvSpPr>
        <p:spPr>
          <a:xfrm>
            <a:off x="490250" y="640213"/>
            <a:ext cx="6367800" cy="5817900"/>
          </a:xfrm>
          <a:prstGeom prst="rect">
            <a:avLst/>
          </a:prstGeom>
        </p:spPr>
        <p:txBody>
          <a:bodyPr spcFirstLastPara="1" wrap="square" lIns="91425" tIns="91425" rIns="91425" bIns="91425" anchor="ctr" anchorCtr="0">
            <a:no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47" name="Google Shape;47;p8"/>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48"/>
        <p:cNvGrpSpPr/>
        <p:nvPr/>
      </p:nvGrpSpPr>
      <p:grpSpPr>
        <a:xfrm>
          <a:off x="0" y="0"/>
          <a:ext cx="0" cy="0"/>
          <a:chOff x="0" y="0"/>
          <a:chExt cx="0" cy="0"/>
        </a:xfrm>
      </p:grpSpPr>
      <p:sp>
        <p:nvSpPr>
          <p:cNvPr id="49" name="Google Shape;49;p9"/>
          <p:cNvSpPr/>
          <p:nvPr/>
        </p:nvSpPr>
        <p:spPr>
          <a:xfrm>
            <a:off x="4572000" y="-178"/>
            <a:ext cx="4572000" cy="73152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 name="Google Shape;50;p9"/>
          <p:cNvSpPr txBox="1">
            <a:spLocks noGrp="1"/>
          </p:cNvSpPr>
          <p:nvPr>
            <p:ph type="title"/>
          </p:nvPr>
        </p:nvSpPr>
        <p:spPr>
          <a:xfrm>
            <a:off x="265500" y="1753849"/>
            <a:ext cx="4045200" cy="2108100"/>
          </a:xfrm>
          <a:prstGeom prst="rect">
            <a:avLst/>
          </a:prstGeom>
        </p:spPr>
        <p:txBody>
          <a:bodyPr spcFirstLastPara="1" wrap="square" lIns="91425" tIns="91425" rIns="91425" bIns="91425" anchor="b" anchorCtr="0">
            <a:no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51" name="Google Shape;51;p9"/>
          <p:cNvSpPr txBox="1">
            <a:spLocks noGrp="1"/>
          </p:cNvSpPr>
          <p:nvPr>
            <p:ph type="subTitle" idx="1"/>
          </p:nvPr>
        </p:nvSpPr>
        <p:spPr>
          <a:xfrm>
            <a:off x="265500" y="3986596"/>
            <a:ext cx="4045200" cy="1756500"/>
          </a:xfrm>
          <a:prstGeom prst="rect">
            <a:avLst/>
          </a:prstGeom>
        </p:spPr>
        <p:txBody>
          <a:bodyPr spcFirstLastPara="1" wrap="square" lIns="91425" tIns="91425" rIns="91425" bIns="91425" anchor="t" anchorCtr="0">
            <a:no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52" name="Google Shape;52;p9"/>
          <p:cNvSpPr txBox="1">
            <a:spLocks noGrp="1"/>
          </p:cNvSpPr>
          <p:nvPr>
            <p:ph type="body" idx="2"/>
          </p:nvPr>
        </p:nvSpPr>
        <p:spPr>
          <a:xfrm>
            <a:off x="4939500" y="1029796"/>
            <a:ext cx="3837000" cy="5255400"/>
          </a:xfrm>
          <a:prstGeom prst="rect">
            <a:avLst/>
          </a:prstGeom>
        </p:spPr>
        <p:txBody>
          <a:bodyPr spcFirstLastPara="1" wrap="square" lIns="91425" tIns="91425" rIns="91425" bIns="91425" anchor="ctr" anchorCtr="0">
            <a:noAutofit/>
          </a:bodyPr>
          <a:lstStyle>
            <a:lvl1pPr marL="457200" lvl="0" indent="-342900">
              <a:spcBef>
                <a:spcPts val="0"/>
              </a:spcBef>
              <a:spcAft>
                <a:spcPts val="0"/>
              </a:spcAft>
              <a:buSzPts val="1800"/>
              <a:buChar char="●"/>
              <a:defRPr/>
            </a:lvl1pPr>
            <a:lvl2pPr marL="914400" lvl="1" indent="-317500">
              <a:spcBef>
                <a:spcPts val="1600"/>
              </a:spcBef>
              <a:spcAft>
                <a:spcPts val="0"/>
              </a:spcAft>
              <a:buSzPts val="1400"/>
              <a:buChar char="○"/>
              <a:defRPr/>
            </a:lvl2pPr>
            <a:lvl3pPr marL="1371600" lvl="2" indent="-317500">
              <a:spcBef>
                <a:spcPts val="1600"/>
              </a:spcBef>
              <a:spcAft>
                <a:spcPts val="0"/>
              </a:spcAft>
              <a:buSzPts val="1400"/>
              <a:buChar char="■"/>
              <a:defRPr/>
            </a:lvl3pPr>
            <a:lvl4pPr marL="1828800" lvl="3" indent="-317500">
              <a:spcBef>
                <a:spcPts val="1600"/>
              </a:spcBef>
              <a:spcAft>
                <a:spcPts val="0"/>
              </a:spcAft>
              <a:buSzPts val="1400"/>
              <a:buChar char="●"/>
              <a:defRPr/>
            </a:lvl4pPr>
            <a:lvl5pPr marL="2286000" lvl="4" indent="-317500">
              <a:spcBef>
                <a:spcPts val="1600"/>
              </a:spcBef>
              <a:spcAft>
                <a:spcPts val="0"/>
              </a:spcAft>
              <a:buSzPts val="1400"/>
              <a:buChar char="○"/>
              <a:defRPr/>
            </a:lvl5pPr>
            <a:lvl6pPr marL="2743200" lvl="5" indent="-317500">
              <a:spcBef>
                <a:spcPts val="1600"/>
              </a:spcBef>
              <a:spcAft>
                <a:spcPts val="0"/>
              </a:spcAft>
              <a:buSzPts val="1400"/>
              <a:buChar char="■"/>
              <a:defRPr/>
            </a:lvl6pPr>
            <a:lvl7pPr marL="3200400" lvl="6" indent="-317500">
              <a:spcBef>
                <a:spcPts val="1600"/>
              </a:spcBef>
              <a:spcAft>
                <a:spcPts val="0"/>
              </a:spcAft>
              <a:buSzPts val="1400"/>
              <a:buChar char="●"/>
              <a:defRPr/>
            </a:lvl7pPr>
            <a:lvl8pPr marL="3657600" lvl="7" indent="-317500">
              <a:spcBef>
                <a:spcPts val="1600"/>
              </a:spcBef>
              <a:spcAft>
                <a:spcPts val="0"/>
              </a:spcAft>
              <a:buSzPts val="1400"/>
              <a:buChar char="○"/>
              <a:defRPr/>
            </a:lvl8pPr>
            <a:lvl9pPr marL="4114800" lvl="8" indent="-317500">
              <a:spcBef>
                <a:spcPts val="1600"/>
              </a:spcBef>
              <a:spcAft>
                <a:spcPts val="1600"/>
              </a:spcAft>
              <a:buSzPts val="1400"/>
              <a:buChar char="■"/>
              <a:defRPr/>
            </a:lvl9pPr>
          </a:lstStyle>
          <a:p>
            <a:endParaRPr/>
          </a:p>
        </p:txBody>
      </p:sp>
      <p:sp>
        <p:nvSpPr>
          <p:cNvPr id="53" name="Google Shape;53;p9"/>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54"/>
        <p:cNvGrpSpPr/>
        <p:nvPr/>
      </p:nvGrpSpPr>
      <p:grpSpPr>
        <a:xfrm>
          <a:off x="0" y="0"/>
          <a:ext cx="0" cy="0"/>
          <a:chOff x="0" y="0"/>
          <a:chExt cx="0" cy="0"/>
        </a:xfrm>
      </p:grpSpPr>
      <p:sp>
        <p:nvSpPr>
          <p:cNvPr id="55" name="Google Shape;55;p10"/>
          <p:cNvSpPr txBox="1">
            <a:spLocks noGrp="1"/>
          </p:cNvSpPr>
          <p:nvPr>
            <p:ph type="body" idx="1"/>
          </p:nvPr>
        </p:nvSpPr>
        <p:spPr>
          <a:xfrm>
            <a:off x="311700" y="6016818"/>
            <a:ext cx="5998800" cy="860700"/>
          </a:xfrm>
          <a:prstGeom prst="rect">
            <a:avLst/>
          </a:prstGeom>
        </p:spPr>
        <p:txBody>
          <a:bodyPr spcFirstLastPara="1" wrap="square" lIns="91425" tIns="91425" rIns="91425" bIns="91425" anchor="ctr" anchorCtr="0">
            <a:noAutofit/>
          </a:bodyPr>
          <a:lstStyle>
            <a:lvl1pPr marL="457200" lvl="0" indent="-228600">
              <a:lnSpc>
                <a:spcPct val="100000"/>
              </a:lnSpc>
              <a:spcBef>
                <a:spcPts val="0"/>
              </a:spcBef>
              <a:spcAft>
                <a:spcPts val="0"/>
              </a:spcAft>
              <a:buSzPts val="1800"/>
              <a:buNone/>
              <a:defRPr/>
            </a:lvl1pPr>
          </a:lstStyle>
          <a:p>
            <a:endParaRPr/>
          </a:p>
        </p:txBody>
      </p:sp>
      <p:sp>
        <p:nvSpPr>
          <p:cNvPr id="56" name="Google Shape;56;p10"/>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57"/>
        <p:cNvGrpSpPr/>
        <p:nvPr/>
      </p:nvGrpSpPr>
      <p:grpSpPr>
        <a:xfrm>
          <a:off x="0" y="0"/>
          <a:ext cx="0" cy="0"/>
          <a:chOff x="0" y="0"/>
          <a:chExt cx="0" cy="0"/>
        </a:xfrm>
      </p:grpSpPr>
      <p:sp>
        <p:nvSpPr>
          <p:cNvPr id="58" name="Google Shape;58;p11"/>
          <p:cNvSpPr txBox="1">
            <a:spLocks noGrp="1"/>
          </p:cNvSpPr>
          <p:nvPr>
            <p:ph type="title" hasCustomPrompt="1"/>
          </p:nvPr>
        </p:nvSpPr>
        <p:spPr>
          <a:xfrm>
            <a:off x="311700" y="1573156"/>
            <a:ext cx="8520600" cy="2792400"/>
          </a:xfrm>
          <a:prstGeom prst="rect">
            <a:avLst/>
          </a:prstGeom>
        </p:spPr>
        <p:txBody>
          <a:bodyPr spcFirstLastPara="1" wrap="square" lIns="91425" tIns="91425" rIns="91425" bIns="91425" anchor="b" anchorCtr="0">
            <a:no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59" name="Google Shape;59;p11"/>
          <p:cNvSpPr txBox="1">
            <a:spLocks noGrp="1"/>
          </p:cNvSpPr>
          <p:nvPr>
            <p:ph type="body" idx="1"/>
          </p:nvPr>
        </p:nvSpPr>
        <p:spPr>
          <a:xfrm>
            <a:off x="311700" y="4483164"/>
            <a:ext cx="8520600" cy="1850100"/>
          </a:xfrm>
          <a:prstGeom prst="rect">
            <a:avLst/>
          </a:prstGeom>
        </p:spPr>
        <p:txBody>
          <a:bodyPr spcFirstLastPara="1" wrap="square" lIns="91425" tIns="91425" rIns="91425" bIns="91425" anchor="t" anchorCtr="0">
            <a:noAutofit/>
          </a:bodyPr>
          <a:lstStyle>
            <a:lvl1pPr marL="457200" lvl="0" indent="-342900" algn="ctr">
              <a:spcBef>
                <a:spcPts val="0"/>
              </a:spcBef>
              <a:spcAft>
                <a:spcPts val="0"/>
              </a:spcAft>
              <a:buSzPts val="1800"/>
              <a:buChar char="●"/>
              <a:defRPr/>
            </a:lvl1pPr>
            <a:lvl2pPr marL="914400" lvl="1" indent="-317500" algn="ctr">
              <a:spcBef>
                <a:spcPts val="1600"/>
              </a:spcBef>
              <a:spcAft>
                <a:spcPts val="0"/>
              </a:spcAft>
              <a:buSzPts val="1400"/>
              <a:buChar char="○"/>
              <a:defRPr/>
            </a:lvl2pPr>
            <a:lvl3pPr marL="1371600" lvl="2" indent="-317500" algn="ctr">
              <a:spcBef>
                <a:spcPts val="1600"/>
              </a:spcBef>
              <a:spcAft>
                <a:spcPts val="0"/>
              </a:spcAft>
              <a:buSzPts val="1400"/>
              <a:buChar char="■"/>
              <a:defRPr/>
            </a:lvl3pPr>
            <a:lvl4pPr marL="1828800" lvl="3" indent="-317500" algn="ctr">
              <a:spcBef>
                <a:spcPts val="1600"/>
              </a:spcBef>
              <a:spcAft>
                <a:spcPts val="0"/>
              </a:spcAft>
              <a:buSzPts val="1400"/>
              <a:buChar char="●"/>
              <a:defRPr/>
            </a:lvl4pPr>
            <a:lvl5pPr marL="2286000" lvl="4" indent="-317500" algn="ctr">
              <a:spcBef>
                <a:spcPts val="1600"/>
              </a:spcBef>
              <a:spcAft>
                <a:spcPts val="0"/>
              </a:spcAft>
              <a:buSzPts val="1400"/>
              <a:buChar char="○"/>
              <a:defRPr/>
            </a:lvl5pPr>
            <a:lvl6pPr marL="2743200" lvl="5" indent="-317500" algn="ctr">
              <a:spcBef>
                <a:spcPts val="1600"/>
              </a:spcBef>
              <a:spcAft>
                <a:spcPts val="0"/>
              </a:spcAft>
              <a:buSzPts val="1400"/>
              <a:buChar char="■"/>
              <a:defRPr/>
            </a:lvl6pPr>
            <a:lvl7pPr marL="3200400" lvl="6" indent="-317500" algn="ctr">
              <a:spcBef>
                <a:spcPts val="1600"/>
              </a:spcBef>
              <a:spcAft>
                <a:spcPts val="0"/>
              </a:spcAft>
              <a:buSzPts val="1400"/>
              <a:buChar char="●"/>
              <a:defRPr/>
            </a:lvl7pPr>
            <a:lvl8pPr marL="3657600" lvl="7" indent="-317500" algn="ctr">
              <a:spcBef>
                <a:spcPts val="1600"/>
              </a:spcBef>
              <a:spcAft>
                <a:spcPts val="0"/>
              </a:spcAft>
              <a:buSzPts val="1400"/>
              <a:buChar char="○"/>
              <a:defRPr/>
            </a:lvl8pPr>
            <a:lvl9pPr marL="4114800" lvl="8" indent="-317500" algn="ctr">
              <a:spcBef>
                <a:spcPts val="1600"/>
              </a:spcBef>
              <a:spcAft>
                <a:spcPts val="1600"/>
              </a:spcAft>
              <a:buSzPts val="1400"/>
              <a:buChar char="■"/>
              <a:defRPr/>
            </a:lvl9pPr>
          </a:lstStyle>
          <a:p>
            <a:endParaRPr/>
          </a:p>
        </p:txBody>
      </p:sp>
      <p:sp>
        <p:nvSpPr>
          <p:cNvPr id="60" name="Google Shape;60;p11"/>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61"/>
        <p:cNvGrpSpPr/>
        <p:nvPr/>
      </p:nvGrpSpPr>
      <p:grpSpPr>
        <a:xfrm>
          <a:off x="0" y="0"/>
          <a:ext cx="0" cy="0"/>
          <a:chOff x="0" y="0"/>
          <a:chExt cx="0" cy="0"/>
        </a:xfrm>
      </p:grpSpPr>
      <p:sp>
        <p:nvSpPr>
          <p:cNvPr id="62" name="Google Shape;62;p12"/>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202000" y="690382"/>
            <a:ext cx="8520600" cy="814500"/>
          </a:xfrm>
          <a:prstGeom prst="rect">
            <a:avLst/>
          </a:prstGeom>
          <a:noFill/>
          <a:ln>
            <a:noFill/>
          </a:ln>
        </p:spPr>
        <p:txBody>
          <a:bodyPr spcFirstLastPara="1" wrap="square" lIns="91425" tIns="91425" rIns="91425" bIns="91425" anchor="t" anchorCtr="0">
            <a:no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639076"/>
            <a:ext cx="8520600" cy="4858800"/>
          </a:xfrm>
          <a:prstGeom prst="rect">
            <a:avLst/>
          </a:prstGeom>
          <a:noFill/>
          <a:ln>
            <a:noFill/>
          </a:ln>
        </p:spPr>
        <p:txBody>
          <a:bodyPr spcFirstLastPara="1" wrap="square" lIns="91425" tIns="91425" rIns="91425" bIns="91425" anchor="t" anchorCtr="0">
            <a:no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1600"/>
              </a:spcBef>
              <a:spcAft>
                <a:spcPts val="0"/>
              </a:spcAft>
              <a:buClr>
                <a:schemeClr val="dk2"/>
              </a:buClr>
              <a:buSzPts val="1400"/>
              <a:buChar char="○"/>
              <a:defRPr>
                <a:solidFill>
                  <a:schemeClr val="dk2"/>
                </a:solidFill>
              </a:defRPr>
            </a:lvl2pPr>
            <a:lvl3pPr marL="1371600" lvl="2" indent="-317500">
              <a:lnSpc>
                <a:spcPct val="115000"/>
              </a:lnSpc>
              <a:spcBef>
                <a:spcPts val="1600"/>
              </a:spcBef>
              <a:spcAft>
                <a:spcPts val="0"/>
              </a:spcAft>
              <a:buClr>
                <a:schemeClr val="dk2"/>
              </a:buClr>
              <a:buSzPts val="1400"/>
              <a:buChar char="■"/>
              <a:defRPr>
                <a:solidFill>
                  <a:schemeClr val="dk2"/>
                </a:solidFill>
              </a:defRPr>
            </a:lvl3pPr>
            <a:lvl4pPr marL="1828800" lvl="3" indent="-317500">
              <a:lnSpc>
                <a:spcPct val="115000"/>
              </a:lnSpc>
              <a:spcBef>
                <a:spcPts val="1600"/>
              </a:spcBef>
              <a:spcAft>
                <a:spcPts val="0"/>
              </a:spcAft>
              <a:buClr>
                <a:schemeClr val="dk2"/>
              </a:buClr>
              <a:buSzPts val="1400"/>
              <a:buChar char="●"/>
              <a:defRPr>
                <a:solidFill>
                  <a:schemeClr val="dk2"/>
                </a:solidFill>
              </a:defRPr>
            </a:lvl4pPr>
            <a:lvl5pPr marL="2286000" lvl="4" indent="-317500">
              <a:lnSpc>
                <a:spcPct val="115000"/>
              </a:lnSpc>
              <a:spcBef>
                <a:spcPts val="1600"/>
              </a:spcBef>
              <a:spcAft>
                <a:spcPts val="0"/>
              </a:spcAft>
              <a:buClr>
                <a:schemeClr val="dk2"/>
              </a:buClr>
              <a:buSzPts val="1400"/>
              <a:buChar char="○"/>
              <a:defRPr>
                <a:solidFill>
                  <a:schemeClr val="dk2"/>
                </a:solidFill>
              </a:defRPr>
            </a:lvl5pPr>
            <a:lvl6pPr marL="2743200" lvl="5" indent="-317500">
              <a:lnSpc>
                <a:spcPct val="115000"/>
              </a:lnSpc>
              <a:spcBef>
                <a:spcPts val="1600"/>
              </a:spcBef>
              <a:spcAft>
                <a:spcPts val="0"/>
              </a:spcAft>
              <a:buClr>
                <a:schemeClr val="dk2"/>
              </a:buClr>
              <a:buSzPts val="1400"/>
              <a:buChar char="■"/>
              <a:defRPr>
                <a:solidFill>
                  <a:schemeClr val="dk2"/>
                </a:solidFill>
              </a:defRPr>
            </a:lvl6pPr>
            <a:lvl7pPr marL="3200400" lvl="6" indent="-317500">
              <a:lnSpc>
                <a:spcPct val="115000"/>
              </a:lnSpc>
              <a:spcBef>
                <a:spcPts val="1600"/>
              </a:spcBef>
              <a:spcAft>
                <a:spcPts val="0"/>
              </a:spcAft>
              <a:buClr>
                <a:schemeClr val="dk2"/>
              </a:buClr>
              <a:buSzPts val="1400"/>
              <a:buChar char="●"/>
              <a:defRPr>
                <a:solidFill>
                  <a:schemeClr val="dk2"/>
                </a:solidFill>
              </a:defRPr>
            </a:lvl7pPr>
            <a:lvl8pPr marL="3657600" lvl="7" indent="-317500">
              <a:lnSpc>
                <a:spcPct val="115000"/>
              </a:lnSpc>
              <a:spcBef>
                <a:spcPts val="1600"/>
              </a:spcBef>
              <a:spcAft>
                <a:spcPts val="0"/>
              </a:spcAft>
              <a:buClr>
                <a:schemeClr val="dk2"/>
              </a:buClr>
              <a:buSzPts val="1400"/>
              <a:buChar char="○"/>
              <a:defRPr>
                <a:solidFill>
                  <a:schemeClr val="dk2"/>
                </a:solidFill>
              </a:defRPr>
            </a:lvl8pPr>
            <a:lvl9pPr marL="4114800" lvl="8" indent="-317500">
              <a:lnSpc>
                <a:spcPct val="115000"/>
              </a:lnSpc>
              <a:spcBef>
                <a:spcPts val="1600"/>
              </a:spcBef>
              <a:spcAft>
                <a:spcPts val="160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8472458" y="6632131"/>
            <a:ext cx="548700" cy="559800"/>
          </a:xfrm>
          <a:prstGeom prst="rect">
            <a:avLst/>
          </a:prstGeom>
          <a:noFill/>
          <a:ln>
            <a:noFill/>
          </a:ln>
        </p:spPr>
        <p:txBody>
          <a:bodyPr spcFirstLastPara="1" wrap="square" lIns="91425" tIns="91425" rIns="91425" bIns="91425" anchor="ctr" anchorCtr="0">
            <a:no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pic>
        <p:nvPicPr>
          <p:cNvPr id="9" name="Google Shape;9;p1"/>
          <p:cNvPicPr preferRelativeResize="0"/>
          <p:nvPr/>
        </p:nvPicPr>
        <p:blipFill rotWithShape="1">
          <a:blip r:embed="rId13">
            <a:alphaModFix/>
          </a:blip>
          <a:srcRect/>
          <a:stretch/>
        </p:blipFill>
        <p:spPr>
          <a:xfrm>
            <a:off x="0" y="0"/>
            <a:ext cx="9144000" cy="7315200"/>
          </a:xfrm>
          <a:prstGeom prst="rect">
            <a:avLst/>
          </a:prstGeom>
          <a:noFill/>
          <a:ln>
            <a:noFill/>
          </a:ln>
        </p:spPr>
      </p:pic>
      <p:sp>
        <p:nvSpPr>
          <p:cNvPr id="10" name="Google Shape;10;p1"/>
          <p:cNvSpPr txBox="1"/>
          <p:nvPr/>
        </p:nvSpPr>
        <p:spPr>
          <a:xfrm>
            <a:off x="311700" y="6987000"/>
            <a:ext cx="6362100" cy="3282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900">
                <a:solidFill>
                  <a:schemeClr val="dk1"/>
                </a:solidFill>
                <a:latin typeface="Verdana"/>
                <a:ea typeface="Verdana"/>
                <a:cs typeface="Verdana"/>
                <a:sym typeface="Verdana"/>
              </a:rPr>
              <a:t>Copyright © 1984-2023  Executive Decision Systems, Inc. and The Guld Resource Group, LLC.</a:t>
            </a:r>
            <a:endParaRPr sz="700" b="1">
              <a:solidFill>
                <a:srgbClr val="FFFFFF"/>
              </a:solidFill>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comments" Target="../comments/comment1.xml"/><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comments" Target="../comments/comment2.xml"/><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comments" Target="../comments/comment3.xml"/><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2.xml"/><Relationship Id="rId1" Type="http://schemas.openxmlformats.org/officeDocument/2006/relationships/slideLayout" Target="../slideLayouts/slideLayout3.xml"/><Relationship Id="rId4" Type="http://schemas.openxmlformats.org/officeDocument/2006/relationships/comments" Target="../comments/comment4.xml"/></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3" Type="http://schemas.openxmlformats.org/officeDocument/2006/relationships/hyperlink" Target="http://wwww.com" TargetMode="External"/><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3" Type="http://schemas.openxmlformats.org/officeDocument/2006/relationships/hyperlink" Target="http://wwww.com" TargetMode="External"/><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66"/>
        <p:cNvGrpSpPr/>
        <p:nvPr/>
      </p:nvGrpSpPr>
      <p:grpSpPr>
        <a:xfrm>
          <a:off x="0" y="0"/>
          <a:ext cx="0" cy="0"/>
          <a:chOff x="0" y="0"/>
          <a:chExt cx="0" cy="0"/>
        </a:xfrm>
      </p:grpSpPr>
      <p:sp>
        <p:nvSpPr>
          <p:cNvPr id="67" name="Google Shape;67;p13"/>
          <p:cNvSpPr txBox="1">
            <a:spLocks noGrp="1"/>
          </p:cNvSpPr>
          <p:nvPr>
            <p:ph type="subTitle" idx="1"/>
          </p:nvPr>
        </p:nvSpPr>
        <p:spPr>
          <a:xfrm>
            <a:off x="1131085" y="3533551"/>
            <a:ext cx="3876000" cy="559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b="0">
                <a:latin typeface="Verdana"/>
                <a:ea typeface="Verdana"/>
                <a:cs typeface="Verdana"/>
                <a:sym typeface="Verdana"/>
              </a:rPr>
              <a:t>clientContactName</a:t>
            </a:r>
            <a:endParaRPr dirty="0">
              <a:solidFill>
                <a:schemeClr val="accent2"/>
              </a:solidFill>
              <a:latin typeface="Verdana"/>
              <a:ea typeface="Verdana"/>
              <a:cs typeface="Verdana"/>
              <a:sym typeface="Verdana"/>
            </a:endParaRPr>
          </a:p>
          <a:p>
            <a:pPr marL="0" lvl="0" indent="0" algn="l" rtl="0">
              <a:spcBef>
                <a:spcPts val="0"/>
              </a:spcBef>
              <a:spcAft>
                <a:spcPts val="1600"/>
              </a:spcAft>
              <a:buNone/>
            </a:pPr>
            <a:endParaRPr dirty="0">
              <a:latin typeface="Verdana"/>
              <a:ea typeface="Verdana"/>
              <a:cs typeface="Verdana"/>
              <a:sym typeface="Verdana"/>
            </a:endParaRPr>
          </a:p>
        </p:txBody>
      </p:sp>
      <p:sp>
        <p:nvSpPr>
          <p:cNvPr id="68" name="Google Shape;68;p13"/>
          <p:cNvSpPr txBox="1">
            <a:spLocks noGrp="1"/>
          </p:cNvSpPr>
          <p:nvPr>
            <p:ph type="subTitle" idx="2"/>
          </p:nvPr>
        </p:nvSpPr>
        <p:spPr>
          <a:xfrm>
            <a:off x="1131085" y="3996734"/>
            <a:ext cx="3876000" cy="5598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b="0" dirty="0" err="1">
                <a:latin typeface="Verdana"/>
                <a:ea typeface="Verdana"/>
                <a:cs typeface="Verdana"/>
                <a:sym typeface="Verdana"/>
              </a:rPr>
              <a:t>clientBusinessName</a:t>
            </a:r>
            <a:endParaRPr dirty="0">
              <a:latin typeface="Verdana"/>
              <a:ea typeface="Verdana"/>
              <a:cs typeface="Verdana"/>
              <a:sym typeface="Verdana"/>
            </a:endParaRPr>
          </a:p>
        </p:txBody>
      </p:sp>
      <p:sp>
        <p:nvSpPr>
          <p:cNvPr id="69" name="Google Shape;69;p13"/>
          <p:cNvSpPr txBox="1">
            <a:spLocks noGrp="1"/>
          </p:cNvSpPr>
          <p:nvPr>
            <p:ph type="subTitle" idx="3"/>
          </p:nvPr>
        </p:nvSpPr>
        <p:spPr>
          <a:xfrm>
            <a:off x="1131075" y="5284026"/>
            <a:ext cx="3876000" cy="559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b="0" dirty="0" err="1">
                <a:latin typeface="Verdana"/>
                <a:ea typeface="Verdana"/>
                <a:cs typeface="Verdana"/>
                <a:sym typeface="Verdana"/>
              </a:rPr>
              <a:t>portfolioManagerName</a:t>
            </a:r>
            <a:endParaRPr dirty="0">
              <a:latin typeface="Verdana"/>
              <a:ea typeface="Verdana"/>
              <a:cs typeface="Verdana"/>
              <a:sym typeface="Verdana"/>
            </a:endParaRPr>
          </a:p>
          <a:p>
            <a:pPr marL="0" lvl="0" indent="0" algn="l" rtl="0">
              <a:spcBef>
                <a:spcPts val="1600"/>
              </a:spcBef>
              <a:spcAft>
                <a:spcPts val="1600"/>
              </a:spcAft>
              <a:buNone/>
            </a:pPr>
            <a:endParaRPr dirty="0">
              <a:latin typeface="Verdana"/>
              <a:ea typeface="Verdana"/>
              <a:cs typeface="Verdana"/>
              <a:sym typeface="Verdana"/>
            </a:endParaRPr>
          </a:p>
        </p:txBody>
      </p:sp>
      <p:sp>
        <p:nvSpPr>
          <p:cNvPr id="70" name="Google Shape;70;p13"/>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a:t>
            </a:fld>
            <a:endParaRPr/>
          </a:p>
        </p:txBody>
      </p:sp>
      <p:sp>
        <p:nvSpPr>
          <p:cNvPr id="71" name="Google Shape;71;p13"/>
          <p:cNvSpPr txBox="1">
            <a:spLocks noGrp="1"/>
          </p:cNvSpPr>
          <p:nvPr>
            <p:ph type="subTitle" idx="3"/>
          </p:nvPr>
        </p:nvSpPr>
        <p:spPr>
          <a:xfrm>
            <a:off x="1131075" y="5724550"/>
            <a:ext cx="1890300" cy="559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b="0" dirty="0">
                <a:latin typeface="Verdana"/>
                <a:ea typeface="Verdana"/>
                <a:cs typeface="Verdana"/>
                <a:sym typeface="Verdana"/>
              </a:rPr>
              <a:t>station</a:t>
            </a:r>
            <a:endParaRPr dirty="0">
              <a:latin typeface="Verdana"/>
              <a:ea typeface="Verdana"/>
              <a:cs typeface="Verdana"/>
              <a:sym typeface="Verdana"/>
            </a:endParaRPr>
          </a:p>
          <a:p>
            <a:pPr marL="0" lvl="0" indent="0" algn="l" rtl="0">
              <a:spcBef>
                <a:spcPts val="1600"/>
              </a:spcBef>
              <a:spcAft>
                <a:spcPts val="1600"/>
              </a:spcAft>
              <a:buNone/>
            </a:pPr>
            <a:endParaRPr dirty="0">
              <a:latin typeface="Verdana"/>
              <a:ea typeface="Verdana"/>
              <a:cs typeface="Verdana"/>
              <a:sym typeface="Verdana"/>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75"/>
        <p:cNvGrpSpPr/>
        <p:nvPr/>
      </p:nvGrpSpPr>
      <p:grpSpPr>
        <a:xfrm>
          <a:off x="0" y="0"/>
          <a:ext cx="0" cy="0"/>
          <a:chOff x="0" y="0"/>
          <a:chExt cx="0" cy="0"/>
        </a:xfrm>
      </p:grpSpPr>
      <p:sp>
        <p:nvSpPr>
          <p:cNvPr id="76" name="Google Shape;76;p14"/>
          <p:cNvSpPr txBox="1">
            <a:spLocks noGrp="1"/>
          </p:cNvSpPr>
          <p:nvPr>
            <p:ph type="ctrTitle"/>
          </p:nvPr>
        </p:nvSpPr>
        <p:spPr>
          <a:xfrm>
            <a:off x="693450" y="471127"/>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dirty="0"/>
              <a:t>Team Commitment</a:t>
            </a:r>
            <a:endParaRPr dirty="0"/>
          </a:p>
        </p:txBody>
      </p:sp>
      <p:sp>
        <p:nvSpPr>
          <p:cNvPr id="77" name="Google Shape;77;p14"/>
          <p:cNvSpPr txBox="1">
            <a:spLocks noGrp="1"/>
          </p:cNvSpPr>
          <p:nvPr>
            <p:ph type="body" idx="1"/>
          </p:nvPr>
        </p:nvSpPr>
        <p:spPr>
          <a:xfrm>
            <a:off x="458400" y="2172253"/>
            <a:ext cx="8227200" cy="917400"/>
          </a:xfrm>
          <a:prstGeom prst="rect">
            <a:avLst/>
          </a:prstGeom>
        </p:spPr>
        <p:txBody>
          <a:bodyPr spcFirstLastPara="1" wrap="square" lIns="91425" tIns="91425" rIns="91425" bIns="91425" anchor="t" anchorCtr="0">
            <a:noAutofit/>
          </a:bodyPr>
          <a:lstStyle/>
          <a:p>
            <a:pPr marL="0" lvl="0" indent="0" algn="l" rtl="0">
              <a:lnSpc>
                <a:spcPct val="95000"/>
              </a:lnSpc>
              <a:spcBef>
                <a:spcPts val="0"/>
              </a:spcBef>
              <a:spcAft>
                <a:spcPts val="0"/>
              </a:spcAft>
              <a:buClr>
                <a:schemeClr val="dk1"/>
              </a:buClr>
              <a:buSzPts val="1100"/>
              <a:buFont typeface="Arial"/>
              <a:buNone/>
            </a:pPr>
            <a:r>
              <a:rPr lang="en" sz="1150">
                <a:solidFill>
                  <a:srgbClr val="000000"/>
                </a:solidFill>
                <a:latin typeface="Verdana"/>
                <a:ea typeface="Verdana"/>
                <a:cs typeface="Verdana"/>
                <a:sym typeface="Verdana"/>
              </a:rPr>
              <a:t>The creation of this Summary of Conclusions and Recommendations is a team collaboration of media professionals with the goal of exceeding your expectations. Each of the below is committed to the highest standards of professionalism and are personally available should you have any questions or concerns throughout this campaign.</a:t>
            </a:r>
            <a:endParaRPr sz="1150">
              <a:solidFill>
                <a:srgbClr val="000000"/>
              </a:solidFill>
              <a:latin typeface="Verdana"/>
              <a:ea typeface="Verdana"/>
              <a:cs typeface="Verdana"/>
              <a:sym typeface="Verdana"/>
            </a:endParaRPr>
          </a:p>
          <a:p>
            <a:pPr marL="0" lvl="0" indent="0" algn="l" rtl="0">
              <a:spcBef>
                <a:spcPts val="0"/>
              </a:spcBef>
              <a:spcAft>
                <a:spcPts val="1600"/>
              </a:spcAft>
              <a:buNone/>
            </a:pPr>
            <a:endParaRPr sz="1150">
              <a:solidFill>
                <a:srgbClr val="000000"/>
              </a:solidFill>
              <a:latin typeface="Verdana"/>
              <a:ea typeface="Verdana"/>
              <a:cs typeface="Verdana"/>
              <a:sym typeface="Verdana"/>
            </a:endParaRPr>
          </a:p>
        </p:txBody>
      </p:sp>
      <p:sp>
        <p:nvSpPr>
          <p:cNvPr id="78" name="Google Shape;78;p14"/>
          <p:cNvSpPr txBox="1"/>
          <p:nvPr/>
        </p:nvSpPr>
        <p:spPr>
          <a:xfrm>
            <a:off x="954300" y="1321687"/>
            <a:ext cx="7235400" cy="6993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550" b="1" dirty="0">
                <a:latin typeface="Verdana"/>
                <a:ea typeface="Verdana"/>
                <a:cs typeface="Verdana"/>
                <a:sym typeface="Verdana"/>
              </a:rPr>
              <a:t>The following proposal will be submitted to</a:t>
            </a:r>
            <a:endParaRPr sz="1550" b="1" dirty="0">
              <a:latin typeface="Verdana"/>
              <a:ea typeface="Verdana"/>
              <a:cs typeface="Verdana"/>
              <a:sym typeface="Verdana"/>
            </a:endParaRPr>
          </a:p>
          <a:p>
            <a:pPr marL="0" lvl="0" indent="0" algn="ctr" rtl="0">
              <a:spcBef>
                <a:spcPts val="0"/>
              </a:spcBef>
              <a:spcAft>
                <a:spcPts val="0"/>
              </a:spcAft>
              <a:buNone/>
            </a:pPr>
            <a:r>
              <a:rPr lang="en" sz="1550" b="1" dirty="0" err="1">
                <a:latin typeface="Verdana"/>
                <a:ea typeface="Verdana"/>
                <a:cs typeface="Verdana"/>
                <a:sym typeface="Verdana"/>
              </a:rPr>
              <a:t>clientBusinessName</a:t>
            </a:r>
            <a:endParaRPr sz="1550" b="1" dirty="0">
              <a:latin typeface="Verdana"/>
              <a:ea typeface="Verdana"/>
              <a:cs typeface="Verdana"/>
              <a:sym typeface="Verdana"/>
            </a:endParaRPr>
          </a:p>
        </p:txBody>
      </p:sp>
      <p:sp>
        <p:nvSpPr>
          <p:cNvPr id="79" name="Google Shape;79;p14"/>
          <p:cNvSpPr txBox="1">
            <a:spLocks noGrp="1"/>
          </p:cNvSpPr>
          <p:nvPr>
            <p:ph type="body" idx="2"/>
          </p:nvPr>
        </p:nvSpPr>
        <p:spPr>
          <a:xfrm>
            <a:off x="4517626" y="3739896"/>
            <a:ext cx="4078200" cy="2354100"/>
          </a:xfrm>
          <a:prstGeom prst="rect">
            <a:avLst/>
          </a:prstGeom>
        </p:spPr>
        <p:txBody>
          <a:bodyPr spcFirstLastPara="1" wrap="square" lIns="91425" tIns="91425" rIns="91425" bIns="91425" anchor="t" anchorCtr="0">
            <a:noAutofit/>
          </a:bodyPr>
          <a:lstStyle/>
          <a:p>
            <a:pPr marL="0" lvl="0" indent="0" algn="ctr" rtl="0">
              <a:lnSpc>
                <a:spcPct val="200000"/>
              </a:lnSpc>
              <a:spcBef>
                <a:spcPts val="0"/>
              </a:spcBef>
              <a:spcAft>
                <a:spcPts val="0"/>
              </a:spcAft>
              <a:buNone/>
            </a:pPr>
            <a:r>
              <a:rPr lang="en" sz="1250">
                <a:solidFill>
                  <a:srgbClr val="000000"/>
                </a:solidFill>
                <a:latin typeface="Verdana"/>
                <a:ea typeface="Verdana"/>
                <a:cs typeface="Verdana"/>
                <a:sym typeface="Verdana"/>
              </a:rPr>
              <a:t>topLevelTitle</a:t>
            </a:r>
            <a:endParaRPr sz="1250">
              <a:solidFill>
                <a:srgbClr val="000000"/>
              </a:solidFill>
              <a:latin typeface="Verdana"/>
              <a:ea typeface="Verdana"/>
              <a:cs typeface="Verdana"/>
              <a:sym typeface="Verdana"/>
            </a:endParaRPr>
          </a:p>
          <a:p>
            <a:pPr marL="0" lvl="0" indent="0" algn="ctr" rtl="0">
              <a:lnSpc>
                <a:spcPct val="200000"/>
              </a:lnSpc>
              <a:spcBef>
                <a:spcPts val="1600"/>
              </a:spcBef>
              <a:spcAft>
                <a:spcPts val="0"/>
              </a:spcAft>
              <a:buNone/>
            </a:pPr>
            <a:r>
              <a:rPr lang="en" sz="1250">
                <a:solidFill>
                  <a:srgbClr val="000000"/>
                </a:solidFill>
                <a:latin typeface="Verdana"/>
                <a:ea typeface="Verdana"/>
                <a:cs typeface="Verdana"/>
                <a:sym typeface="Verdana"/>
              </a:rPr>
              <a:t>secondLevelTitle</a:t>
            </a:r>
            <a:endParaRPr sz="1250">
              <a:solidFill>
                <a:srgbClr val="000000"/>
              </a:solidFill>
              <a:latin typeface="Verdana"/>
              <a:ea typeface="Verdana"/>
              <a:cs typeface="Verdana"/>
              <a:sym typeface="Verdana"/>
            </a:endParaRPr>
          </a:p>
          <a:p>
            <a:pPr marL="0" lvl="0" indent="0" algn="ctr" rtl="0">
              <a:lnSpc>
                <a:spcPct val="200000"/>
              </a:lnSpc>
              <a:spcBef>
                <a:spcPts val="1600"/>
              </a:spcBef>
              <a:spcAft>
                <a:spcPts val="0"/>
              </a:spcAft>
              <a:buNone/>
            </a:pPr>
            <a:r>
              <a:rPr lang="en" sz="1250">
                <a:solidFill>
                  <a:srgbClr val="000000"/>
                </a:solidFill>
                <a:latin typeface="Verdana"/>
                <a:ea typeface="Verdana"/>
                <a:cs typeface="Verdana"/>
                <a:sym typeface="Verdana"/>
              </a:rPr>
              <a:t>thirdLevelTitle</a:t>
            </a:r>
            <a:endParaRPr sz="1250">
              <a:solidFill>
                <a:srgbClr val="000000"/>
              </a:solidFill>
              <a:latin typeface="Verdana"/>
              <a:ea typeface="Verdana"/>
              <a:cs typeface="Verdana"/>
              <a:sym typeface="Verdana"/>
            </a:endParaRPr>
          </a:p>
          <a:p>
            <a:pPr marL="0" lvl="0" indent="0" algn="ctr" rtl="0">
              <a:lnSpc>
                <a:spcPct val="200000"/>
              </a:lnSpc>
              <a:spcBef>
                <a:spcPts val="1600"/>
              </a:spcBef>
              <a:spcAft>
                <a:spcPts val="0"/>
              </a:spcAft>
              <a:buClr>
                <a:schemeClr val="dk1"/>
              </a:buClr>
              <a:buSzPts val="1100"/>
              <a:buFont typeface="Arial"/>
              <a:buNone/>
            </a:pPr>
            <a:r>
              <a:rPr lang="en" sz="1250">
                <a:solidFill>
                  <a:srgbClr val="000000"/>
                </a:solidFill>
                <a:latin typeface="Verdana"/>
                <a:ea typeface="Verdana"/>
                <a:cs typeface="Verdana"/>
                <a:sym typeface="Verdana"/>
              </a:rPr>
              <a:t>fourthLevelTitle</a:t>
            </a:r>
            <a:endParaRPr sz="1250">
              <a:solidFill>
                <a:srgbClr val="000000"/>
              </a:solidFill>
              <a:latin typeface="Verdana"/>
              <a:ea typeface="Verdana"/>
              <a:cs typeface="Verdana"/>
              <a:sym typeface="Verdana"/>
            </a:endParaRPr>
          </a:p>
          <a:p>
            <a:pPr marL="0" lvl="0" indent="0" algn="ctr" rtl="0">
              <a:lnSpc>
                <a:spcPct val="200000"/>
              </a:lnSpc>
              <a:spcBef>
                <a:spcPts val="1600"/>
              </a:spcBef>
              <a:spcAft>
                <a:spcPts val="1600"/>
              </a:spcAft>
              <a:buNone/>
            </a:pPr>
            <a:endParaRPr sz="1250">
              <a:solidFill>
                <a:srgbClr val="000000"/>
              </a:solidFill>
              <a:latin typeface="Verdana"/>
              <a:ea typeface="Verdana"/>
              <a:cs typeface="Verdana"/>
              <a:sym typeface="Verdana"/>
            </a:endParaRPr>
          </a:p>
        </p:txBody>
      </p:sp>
      <p:sp>
        <p:nvSpPr>
          <p:cNvPr id="80" name="Google Shape;80;p14"/>
          <p:cNvSpPr txBox="1">
            <a:spLocks noGrp="1"/>
          </p:cNvSpPr>
          <p:nvPr>
            <p:ph type="body" idx="2"/>
          </p:nvPr>
        </p:nvSpPr>
        <p:spPr>
          <a:xfrm>
            <a:off x="493776" y="3739896"/>
            <a:ext cx="4078200" cy="2354100"/>
          </a:xfrm>
          <a:prstGeom prst="rect">
            <a:avLst/>
          </a:prstGeom>
        </p:spPr>
        <p:txBody>
          <a:bodyPr spcFirstLastPara="1" wrap="square" lIns="91425" tIns="91425" rIns="91425" bIns="91425" anchor="t" anchorCtr="0">
            <a:noAutofit/>
          </a:bodyPr>
          <a:lstStyle/>
          <a:p>
            <a:pPr marL="0" lvl="0" indent="0" algn="ctr" rtl="0">
              <a:lnSpc>
                <a:spcPct val="200000"/>
              </a:lnSpc>
              <a:spcBef>
                <a:spcPts val="0"/>
              </a:spcBef>
              <a:spcAft>
                <a:spcPts val="0"/>
              </a:spcAft>
              <a:buClr>
                <a:schemeClr val="dk1"/>
              </a:buClr>
              <a:buSzPts val="1100"/>
              <a:buFont typeface="Arial"/>
              <a:buNone/>
            </a:pPr>
            <a:r>
              <a:rPr lang="en" sz="1250">
                <a:solidFill>
                  <a:schemeClr val="dk1"/>
                </a:solidFill>
              </a:rPr>
              <a:t>topLevelName </a:t>
            </a:r>
            <a:endParaRPr sz="1250">
              <a:solidFill>
                <a:schemeClr val="dk1"/>
              </a:solidFill>
            </a:endParaRPr>
          </a:p>
          <a:p>
            <a:pPr marL="0" lvl="0" indent="0" algn="ctr" rtl="0">
              <a:lnSpc>
                <a:spcPct val="200000"/>
              </a:lnSpc>
              <a:spcBef>
                <a:spcPts val="1600"/>
              </a:spcBef>
              <a:spcAft>
                <a:spcPts val="0"/>
              </a:spcAft>
              <a:buClr>
                <a:schemeClr val="dk1"/>
              </a:buClr>
              <a:buSzPts val="1100"/>
              <a:buFont typeface="Arial"/>
              <a:buNone/>
            </a:pPr>
            <a:r>
              <a:rPr lang="en" sz="1250">
                <a:solidFill>
                  <a:schemeClr val="dk1"/>
                </a:solidFill>
              </a:rPr>
              <a:t>secondLevelName</a:t>
            </a:r>
            <a:endParaRPr sz="1250">
              <a:solidFill>
                <a:schemeClr val="dk1"/>
              </a:solidFill>
            </a:endParaRPr>
          </a:p>
          <a:p>
            <a:pPr marL="0" lvl="0" indent="0" algn="ctr" rtl="0">
              <a:lnSpc>
                <a:spcPct val="200000"/>
              </a:lnSpc>
              <a:spcBef>
                <a:spcPts val="1600"/>
              </a:spcBef>
              <a:spcAft>
                <a:spcPts val="0"/>
              </a:spcAft>
              <a:buClr>
                <a:schemeClr val="dk1"/>
              </a:buClr>
              <a:buSzPts val="1100"/>
              <a:buFont typeface="Arial"/>
              <a:buNone/>
            </a:pPr>
            <a:r>
              <a:rPr lang="en" sz="1250">
                <a:solidFill>
                  <a:schemeClr val="dk1"/>
                </a:solidFill>
              </a:rPr>
              <a:t>thirdLevelName</a:t>
            </a:r>
            <a:endParaRPr sz="1250">
              <a:solidFill>
                <a:schemeClr val="dk1"/>
              </a:solidFill>
            </a:endParaRPr>
          </a:p>
          <a:p>
            <a:pPr marL="0" lvl="0" indent="0" algn="ctr" rtl="0">
              <a:lnSpc>
                <a:spcPct val="200000"/>
              </a:lnSpc>
              <a:spcBef>
                <a:spcPts val="1600"/>
              </a:spcBef>
              <a:spcAft>
                <a:spcPts val="0"/>
              </a:spcAft>
              <a:buClr>
                <a:schemeClr val="dk1"/>
              </a:buClr>
              <a:buSzPts val="1100"/>
              <a:buFont typeface="Arial"/>
              <a:buNone/>
            </a:pPr>
            <a:r>
              <a:rPr lang="en" sz="1250">
                <a:solidFill>
                  <a:schemeClr val="dk1"/>
                </a:solidFill>
              </a:rPr>
              <a:t>fourthLevelName</a:t>
            </a:r>
            <a:endParaRPr sz="1250">
              <a:solidFill>
                <a:schemeClr val="dk1"/>
              </a:solidFill>
            </a:endParaRPr>
          </a:p>
          <a:p>
            <a:pPr marL="0" lvl="0" indent="0" algn="l" rtl="0">
              <a:spcBef>
                <a:spcPts val="1600"/>
              </a:spcBef>
              <a:spcAft>
                <a:spcPts val="0"/>
              </a:spcAft>
              <a:buClr>
                <a:schemeClr val="dk1"/>
              </a:buClr>
              <a:buSzPts val="1100"/>
              <a:buFont typeface="Arial"/>
              <a:buNone/>
            </a:pPr>
            <a:endParaRPr sz="1250">
              <a:solidFill>
                <a:schemeClr val="dk1"/>
              </a:solidFill>
            </a:endParaRPr>
          </a:p>
          <a:p>
            <a:pPr marL="0" lvl="0" indent="0" algn="ctr" rtl="0">
              <a:lnSpc>
                <a:spcPct val="200000"/>
              </a:lnSpc>
              <a:spcBef>
                <a:spcPts val="1200"/>
              </a:spcBef>
              <a:spcAft>
                <a:spcPts val="1600"/>
              </a:spcAft>
              <a:buNone/>
            </a:pPr>
            <a:endParaRPr sz="1250">
              <a:solidFill>
                <a:srgbClr val="000000"/>
              </a:solidFil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84"/>
        <p:cNvGrpSpPr/>
        <p:nvPr/>
      </p:nvGrpSpPr>
      <p:grpSpPr>
        <a:xfrm>
          <a:off x="0" y="0"/>
          <a:ext cx="0" cy="0"/>
          <a:chOff x="0" y="0"/>
          <a:chExt cx="0" cy="0"/>
        </a:xfrm>
      </p:grpSpPr>
      <p:sp>
        <p:nvSpPr>
          <p:cNvPr id="85" name="Google Shape;85;p15"/>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Marketplace Competition</a:t>
            </a:r>
            <a:endParaRPr/>
          </a:p>
        </p:txBody>
      </p:sp>
      <p:sp>
        <p:nvSpPr>
          <p:cNvPr id="86" name="Google Shape;86;p15"/>
          <p:cNvSpPr txBox="1"/>
          <p:nvPr/>
        </p:nvSpPr>
        <p:spPr>
          <a:xfrm>
            <a:off x="364750" y="1283286"/>
            <a:ext cx="34803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1. How long have you been in business?</a:t>
            </a:r>
            <a:endParaRPr sz="1150" b="1">
              <a:latin typeface="Verdana"/>
              <a:ea typeface="Verdana"/>
              <a:cs typeface="Verdana"/>
              <a:sym typeface="Verdana"/>
            </a:endParaRPr>
          </a:p>
        </p:txBody>
      </p:sp>
      <p:sp>
        <p:nvSpPr>
          <p:cNvPr id="87" name="Google Shape;87;p15"/>
          <p:cNvSpPr txBox="1"/>
          <p:nvPr/>
        </p:nvSpPr>
        <p:spPr>
          <a:xfrm>
            <a:off x="4722188" y="1283286"/>
            <a:ext cx="20460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How many locations?</a:t>
            </a:r>
            <a:endParaRPr sz="1150" b="1">
              <a:latin typeface="Verdana"/>
              <a:ea typeface="Verdana"/>
              <a:cs typeface="Verdana"/>
              <a:sym typeface="Verdana"/>
            </a:endParaRPr>
          </a:p>
        </p:txBody>
      </p:sp>
      <p:sp>
        <p:nvSpPr>
          <p:cNvPr id="88" name="Google Shape;88;p15"/>
          <p:cNvSpPr txBox="1"/>
          <p:nvPr/>
        </p:nvSpPr>
        <p:spPr>
          <a:xfrm>
            <a:off x="7273050" y="1283286"/>
            <a:ext cx="10203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Plans to expand?</a:t>
            </a:r>
            <a:endParaRPr sz="1150" b="1">
              <a:latin typeface="Verdana"/>
              <a:ea typeface="Verdana"/>
              <a:cs typeface="Verdana"/>
              <a:sym typeface="Verdana"/>
            </a:endParaRPr>
          </a:p>
        </p:txBody>
      </p:sp>
      <p:sp>
        <p:nvSpPr>
          <p:cNvPr id="89" name="Google Shape;89;p15"/>
          <p:cNvSpPr txBox="1"/>
          <p:nvPr/>
        </p:nvSpPr>
        <p:spPr>
          <a:xfrm>
            <a:off x="3755200" y="1285236"/>
            <a:ext cx="2522400" cy="4299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00">
                <a:solidFill>
                  <a:schemeClr val="dk1"/>
                </a:solidFill>
                <a:latin typeface="Verdana"/>
                <a:ea typeface="Verdana"/>
                <a:cs typeface="Verdana"/>
                <a:sym typeface="Verdana"/>
              </a:rPr>
              <a:t>yearsInBusiness</a:t>
            </a:r>
            <a:r>
              <a:rPr lang="en" sz="1150">
                <a:latin typeface="Verdana"/>
                <a:ea typeface="Verdana"/>
                <a:cs typeface="Verdana"/>
                <a:sym typeface="Verdana"/>
              </a:rPr>
              <a:t> years </a:t>
            </a:r>
            <a:endParaRPr sz="1150">
              <a:latin typeface="Verdana"/>
              <a:ea typeface="Verdana"/>
              <a:cs typeface="Verdana"/>
              <a:sym typeface="Verdana"/>
            </a:endParaRPr>
          </a:p>
        </p:txBody>
      </p:sp>
      <p:sp>
        <p:nvSpPr>
          <p:cNvPr id="90" name="Google Shape;90;p15"/>
          <p:cNvSpPr/>
          <p:nvPr/>
        </p:nvSpPr>
        <p:spPr>
          <a:xfrm>
            <a:off x="571250" y="1875649"/>
            <a:ext cx="1301400" cy="480600"/>
          </a:xfrm>
          <a:prstGeom prst="roundRect">
            <a:avLst>
              <a:gd name="adj" fmla="val 16667"/>
            </a:avLst>
          </a:prstGeom>
          <a:no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50" b="1">
                <a:latin typeface="Verdana"/>
                <a:ea typeface="Verdana"/>
                <a:cs typeface="Verdana"/>
                <a:sym typeface="Verdana"/>
              </a:rPr>
              <a:t>1st Tier</a:t>
            </a:r>
            <a:endParaRPr sz="1150" b="1">
              <a:latin typeface="Verdana"/>
              <a:ea typeface="Verdana"/>
              <a:cs typeface="Verdana"/>
              <a:sym typeface="Verdana"/>
            </a:endParaRPr>
          </a:p>
        </p:txBody>
      </p:sp>
      <p:sp>
        <p:nvSpPr>
          <p:cNvPr id="91" name="Google Shape;91;p15"/>
          <p:cNvSpPr/>
          <p:nvPr/>
        </p:nvSpPr>
        <p:spPr>
          <a:xfrm>
            <a:off x="571250" y="2635299"/>
            <a:ext cx="1301400" cy="484500"/>
          </a:xfrm>
          <a:prstGeom prst="roundRect">
            <a:avLst>
              <a:gd name="adj" fmla="val 16667"/>
            </a:avLst>
          </a:prstGeom>
          <a:no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50" b="1">
                <a:latin typeface="Verdana"/>
                <a:ea typeface="Verdana"/>
                <a:cs typeface="Verdana"/>
                <a:sym typeface="Verdana"/>
              </a:rPr>
              <a:t>3rd Tier</a:t>
            </a:r>
            <a:endParaRPr sz="1150" b="1">
              <a:latin typeface="Verdana"/>
              <a:ea typeface="Verdana"/>
              <a:cs typeface="Verdana"/>
              <a:sym typeface="Verdana"/>
            </a:endParaRPr>
          </a:p>
        </p:txBody>
      </p:sp>
      <p:sp>
        <p:nvSpPr>
          <p:cNvPr id="92" name="Google Shape;92;p15"/>
          <p:cNvSpPr/>
          <p:nvPr/>
        </p:nvSpPr>
        <p:spPr>
          <a:xfrm>
            <a:off x="4719300" y="1901786"/>
            <a:ext cx="1301400" cy="484500"/>
          </a:xfrm>
          <a:prstGeom prst="roundRect">
            <a:avLst>
              <a:gd name="adj" fmla="val 16667"/>
            </a:avLst>
          </a:prstGeom>
          <a:no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50" b="1">
                <a:latin typeface="Verdana"/>
                <a:ea typeface="Verdana"/>
                <a:cs typeface="Verdana"/>
                <a:sym typeface="Verdana"/>
              </a:rPr>
              <a:t>2nd Tier</a:t>
            </a:r>
            <a:endParaRPr sz="1150" b="1">
              <a:latin typeface="Verdana"/>
              <a:ea typeface="Verdana"/>
              <a:cs typeface="Verdana"/>
              <a:sym typeface="Verdana"/>
            </a:endParaRPr>
          </a:p>
        </p:txBody>
      </p:sp>
      <p:sp>
        <p:nvSpPr>
          <p:cNvPr id="93" name="Google Shape;93;p15"/>
          <p:cNvSpPr/>
          <p:nvPr/>
        </p:nvSpPr>
        <p:spPr>
          <a:xfrm>
            <a:off x="4719300" y="2635299"/>
            <a:ext cx="1301400" cy="484500"/>
          </a:xfrm>
          <a:prstGeom prst="roundRect">
            <a:avLst>
              <a:gd name="adj" fmla="val 16667"/>
            </a:avLst>
          </a:prstGeom>
          <a:no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50" b="1">
                <a:latin typeface="Verdana"/>
                <a:ea typeface="Verdana"/>
                <a:cs typeface="Verdana"/>
                <a:sym typeface="Verdana"/>
              </a:rPr>
              <a:t>4th Tier</a:t>
            </a:r>
            <a:endParaRPr sz="1150" b="1">
              <a:latin typeface="Verdana"/>
              <a:ea typeface="Verdana"/>
              <a:cs typeface="Verdana"/>
              <a:sym typeface="Verdana"/>
            </a:endParaRPr>
          </a:p>
        </p:txBody>
      </p:sp>
      <p:sp>
        <p:nvSpPr>
          <p:cNvPr id="94" name="Google Shape;94;p15"/>
          <p:cNvSpPr txBox="1"/>
          <p:nvPr/>
        </p:nvSpPr>
        <p:spPr>
          <a:xfrm>
            <a:off x="1872950" y="2600865"/>
            <a:ext cx="2002500" cy="5652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thirdTierBusiness</a:t>
            </a:r>
            <a:endParaRPr sz="1150">
              <a:latin typeface="Verdana"/>
              <a:ea typeface="Verdana"/>
              <a:cs typeface="Verdana"/>
              <a:sym typeface="Verdana"/>
            </a:endParaRPr>
          </a:p>
          <a:p>
            <a:pPr marL="0" lvl="0" indent="0" algn="l" rtl="0">
              <a:lnSpc>
                <a:spcPct val="115000"/>
              </a:lnSpc>
              <a:spcBef>
                <a:spcPts val="0"/>
              </a:spcBef>
              <a:spcAft>
                <a:spcPts val="0"/>
              </a:spcAft>
              <a:buNone/>
            </a:pPr>
            <a:r>
              <a:rPr lang="en" sz="1150">
                <a:latin typeface="Verdana"/>
                <a:ea typeface="Verdana"/>
                <a:cs typeface="Verdana"/>
                <a:sym typeface="Verdana"/>
              </a:rPr>
              <a:t>#3 in Market Revenue</a:t>
            </a:r>
            <a:endParaRPr sz="1150">
              <a:latin typeface="Verdana"/>
              <a:ea typeface="Verdana"/>
              <a:cs typeface="Verdana"/>
              <a:sym typeface="Verdana"/>
            </a:endParaRPr>
          </a:p>
        </p:txBody>
      </p:sp>
      <p:sp>
        <p:nvSpPr>
          <p:cNvPr id="95" name="Google Shape;95;p15"/>
          <p:cNvSpPr txBox="1"/>
          <p:nvPr/>
        </p:nvSpPr>
        <p:spPr>
          <a:xfrm>
            <a:off x="6020700" y="2598756"/>
            <a:ext cx="2001900" cy="5670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en" sz="1150">
                <a:latin typeface="Verdana"/>
                <a:ea typeface="Verdana"/>
                <a:cs typeface="Verdana"/>
                <a:sym typeface="Verdana"/>
              </a:rPr>
              <a:t>fourthTierBusiness</a:t>
            </a:r>
            <a:endParaRPr sz="1150">
              <a:latin typeface="Verdana"/>
              <a:ea typeface="Verdana"/>
              <a:cs typeface="Verdana"/>
              <a:sym typeface="Verdana"/>
            </a:endParaRPr>
          </a:p>
          <a:p>
            <a:pPr marL="0" lvl="0" indent="0" algn="l" rtl="0">
              <a:lnSpc>
                <a:spcPct val="115000"/>
              </a:lnSpc>
              <a:spcBef>
                <a:spcPts val="0"/>
              </a:spcBef>
              <a:spcAft>
                <a:spcPts val="0"/>
              </a:spcAft>
              <a:buNone/>
            </a:pPr>
            <a:r>
              <a:rPr lang="en" sz="1150">
                <a:latin typeface="Verdana"/>
                <a:ea typeface="Verdana"/>
                <a:cs typeface="Verdana"/>
                <a:sym typeface="Verdana"/>
              </a:rPr>
              <a:t> #1 in Market Revenue</a:t>
            </a:r>
            <a:endParaRPr sz="1150">
              <a:latin typeface="Verdana"/>
              <a:ea typeface="Verdana"/>
              <a:cs typeface="Verdana"/>
              <a:sym typeface="Verdana"/>
            </a:endParaRPr>
          </a:p>
        </p:txBody>
      </p:sp>
      <p:sp>
        <p:nvSpPr>
          <p:cNvPr id="96" name="Google Shape;96;p15"/>
          <p:cNvSpPr txBox="1"/>
          <p:nvPr/>
        </p:nvSpPr>
        <p:spPr>
          <a:xfrm>
            <a:off x="594350" y="3895344"/>
            <a:ext cx="32238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A. What are their strengths?</a:t>
            </a:r>
            <a:endParaRPr sz="1150" b="1">
              <a:latin typeface="Verdana"/>
              <a:ea typeface="Verdana"/>
              <a:cs typeface="Verdana"/>
              <a:sym typeface="Verdana"/>
            </a:endParaRPr>
          </a:p>
        </p:txBody>
      </p:sp>
      <p:sp>
        <p:nvSpPr>
          <p:cNvPr id="97" name="Google Shape;97;p15"/>
          <p:cNvSpPr txBox="1"/>
          <p:nvPr/>
        </p:nvSpPr>
        <p:spPr>
          <a:xfrm>
            <a:off x="594350" y="4828944"/>
            <a:ext cx="32238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B. What are their weakness?</a:t>
            </a:r>
            <a:endParaRPr sz="1150" b="1">
              <a:latin typeface="Verdana"/>
              <a:ea typeface="Verdana"/>
              <a:cs typeface="Verdana"/>
              <a:sym typeface="Verdana"/>
            </a:endParaRPr>
          </a:p>
        </p:txBody>
      </p:sp>
      <p:sp>
        <p:nvSpPr>
          <p:cNvPr id="98" name="Google Shape;98;p15"/>
          <p:cNvSpPr txBox="1"/>
          <p:nvPr/>
        </p:nvSpPr>
        <p:spPr>
          <a:xfrm>
            <a:off x="823950" y="4176729"/>
            <a:ext cx="3480300" cy="650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150" i="1">
                <a:latin typeface="Verdana"/>
                <a:ea typeface="Verdana"/>
                <a:cs typeface="Verdana"/>
                <a:sym typeface="Verdana"/>
              </a:rPr>
              <a:t>competitionStrengthA</a:t>
            </a:r>
            <a:endParaRPr sz="1150" i="1">
              <a:latin typeface="Verdana"/>
              <a:ea typeface="Verdana"/>
              <a:cs typeface="Verdana"/>
              <a:sym typeface="Verdana"/>
            </a:endParaRPr>
          </a:p>
          <a:p>
            <a:pPr marL="0" lvl="0" indent="0" algn="l" rtl="0">
              <a:spcBef>
                <a:spcPts val="0"/>
              </a:spcBef>
              <a:spcAft>
                <a:spcPts val="0"/>
              </a:spcAft>
              <a:buNone/>
            </a:pPr>
            <a:endParaRPr sz="1150">
              <a:latin typeface="Verdana"/>
              <a:ea typeface="Verdana"/>
              <a:cs typeface="Verdana"/>
              <a:sym typeface="Verdana"/>
            </a:endParaRPr>
          </a:p>
        </p:txBody>
      </p:sp>
      <p:sp>
        <p:nvSpPr>
          <p:cNvPr id="99" name="Google Shape;99;p15"/>
          <p:cNvSpPr txBox="1"/>
          <p:nvPr/>
        </p:nvSpPr>
        <p:spPr>
          <a:xfrm>
            <a:off x="4947904" y="4179724"/>
            <a:ext cx="3891900" cy="649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150" i="1">
                <a:latin typeface="Verdana"/>
                <a:ea typeface="Verdana"/>
                <a:cs typeface="Verdana"/>
                <a:sym typeface="Verdana"/>
              </a:rPr>
              <a:t>competitionStrengthB</a:t>
            </a:r>
            <a:endParaRPr sz="1150">
              <a:latin typeface="Verdana"/>
              <a:ea typeface="Verdana"/>
              <a:cs typeface="Verdana"/>
              <a:sym typeface="Verdana"/>
            </a:endParaRPr>
          </a:p>
        </p:txBody>
      </p:sp>
      <p:sp>
        <p:nvSpPr>
          <p:cNvPr id="100" name="Google Shape;100;p15"/>
          <p:cNvSpPr txBox="1"/>
          <p:nvPr/>
        </p:nvSpPr>
        <p:spPr>
          <a:xfrm>
            <a:off x="823950" y="5116979"/>
            <a:ext cx="3480300" cy="429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150" i="1">
                <a:latin typeface="Verdana"/>
                <a:ea typeface="Verdana"/>
                <a:cs typeface="Verdana"/>
                <a:sym typeface="Verdana"/>
              </a:rPr>
              <a:t>competitionWeaknessA</a:t>
            </a:r>
            <a:endParaRPr sz="1150" i="1">
              <a:latin typeface="Verdana"/>
              <a:ea typeface="Verdana"/>
              <a:cs typeface="Verdana"/>
              <a:sym typeface="Verdana"/>
            </a:endParaRPr>
          </a:p>
          <a:p>
            <a:pPr marL="0" lvl="0" indent="0" algn="l" rtl="0">
              <a:spcBef>
                <a:spcPts val="0"/>
              </a:spcBef>
              <a:spcAft>
                <a:spcPts val="0"/>
              </a:spcAft>
              <a:buNone/>
            </a:pPr>
            <a:endParaRPr sz="1150">
              <a:latin typeface="Verdana"/>
              <a:ea typeface="Verdana"/>
              <a:cs typeface="Verdana"/>
              <a:sym typeface="Verdana"/>
            </a:endParaRPr>
          </a:p>
        </p:txBody>
      </p:sp>
      <p:sp>
        <p:nvSpPr>
          <p:cNvPr id="101" name="Google Shape;101;p15"/>
          <p:cNvSpPr txBox="1"/>
          <p:nvPr/>
        </p:nvSpPr>
        <p:spPr>
          <a:xfrm>
            <a:off x="4947904" y="5119742"/>
            <a:ext cx="4052100" cy="484500"/>
          </a:xfrm>
          <a:prstGeom prst="rect">
            <a:avLst/>
          </a:prstGeom>
          <a:noFill/>
          <a:ln>
            <a:noFill/>
          </a:ln>
        </p:spPr>
        <p:txBody>
          <a:bodyPr spcFirstLastPara="1" wrap="square" lIns="91425" tIns="91425" rIns="91425" bIns="91425" anchor="t" anchorCtr="0">
            <a:noAutofit/>
          </a:bodyPr>
          <a:lstStyle/>
          <a:p>
            <a:pPr marL="0" marR="114300" lvl="0" indent="0" algn="l" rtl="0">
              <a:lnSpc>
                <a:spcPct val="115000"/>
              </a:lnSpc>
              <a:spcBef>
                <a:spcPts val="0"/>
              </a:spcBef>
              <a:spcAft>
                <a:spcPts val="0"/>
              </a:spcAft>
              <a:buClr>
                <a:schemeClr val="dk1"/>
              </a:buClr>
              <a:buSzPts val="1100"/>
              <a:buFont typeface="Arial"/>
              <a:buNone/>
            </a:pPr>
            <a:r>
              <a:rPr lang="en" sz="1150" i="1">
                <a:latin typeface="Verdana"/>
                <a:ea typeface="Verdana"/>
                <a:cs typeface="Verdana"/>
                <a:sym typeface="Verdana"/>
              </a:rPr>
              <a:t>competitionWeaknessB</a:t>
            </a:r>
            <a:endParaRPr sz="1150">
              <a:latin typeface="Verdana"/>
              <a:ea typeface="Verdana"/>
              <a:cs typeface="Verdana"/>
              <a:sym typeface="Verdana"/>
            </a:endParaRPr>
          </a:p>
          <a:p>
            <a:pPr marL="152400" marR="152400" lvl="0" indent="0" algn="l" rtl="0">
              <a:lnSpc>
                <a:spcPct val="115000"/>
              </a:lnSpc>
              <a:spcBef>
                <a:spcPts val="0"/>
              </a:spcBef>
              <a:spcAft>
                <a:spcPts val="0"/>
              </a:spcAft>
              <a:buClr>
                <a:schemeClr val="dk1"/>
              </a:buClr>
              <a:buSzPts val="1100"/>
              <a:buFont typeface="Arial"/>
              <a:buNone/>
            </a:pPr>
            <a:endParaRPr sz="1150">
              <a:latin typeface="Verdana"/>
              <a:ea typeface="Verdana"/>
              <a:cs typeface="Verdana"/>
              <a:sym typeface="Verdana"/>
            </a:endParaRPr>
          </a:p>
          <a:p>
            <a:pPr marL="0" lvl="0" indent="0" algn="l" rtl="0">
              <a:spcBef>
                <a:spcPts val="0"/>
              </a:spcBef>
              <a:spcAft>
                <a:spcPts val="0"/>
              </a:spcAft>
              <a:buNone/>
            </a:pPr>
            <a:endParaRPr sz="1150">
              <a:latin typeface="Verdana"/>
              <a:ea typeface="Verdana"/>
              <a:cs typeface="Verdana"/>
              <a:sym typeface="Verdana"/>
            </a:endParaRPr>
          </a:p>
        </p:txBody>
      </p:sp>
      <p:sp>
        <p:nvSpPr>
          <p:cNvPr id="102" name="Google Shape;102;p15"/>
          <p:cNvSpPr txBox="1"/>
          <p:nvPr/>
        </p:nvSpPr>
        <p:spPr>
          <a:xfrm>
            <a:off x="6621600" y="1285236"/>
            <a:ext cx="2001900" cy="4299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i="1">
                <a:solidFill>
                  <a:schemeClr val="dk1"/>
                </a:solidFill>
                <a:latin typeface="Verdana"/>
                <a:ea typeface="Verdana"/>
                <a:cs typeface="Verdana"/>
                <a:sym typeface="Verdana"/>
              </a:rPr>
              <a:t>numberOfLocations</a:t>
            </a:r>
            <a:endParaRPr sz="1150">
              <a:latin typeface="Verdana"/>
              <a:ea typeface="Verdana"/>
              <a:cs typeface="Verdana"/>
              <a:sym typeface="Verdana"/>
            </a:endParaRPr>
          </a:p>
        </p:txBody>
      </p:sp>
      <p:sp>
        <p:nvSpPr>
          <p:cNvPr id="103" name="Google Shape;103;p15"/>
          <p:cNvSpPr txBox="1"/>
          <p:nvPr/>
        </p:nvSpPr>
        <p:spPr>
          <a:xfrm>
            <a:off x="8096800" y="1285236"/>
            <a:ext cx="2001900" cy="4299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i="1">
                <a:solidFill>
                  <a:schemeClr val="dk1"/>
                </a:solidFill>
                <a:latin typeface="Verdana"/>
                <a:ea typeface="Verdana"/>
                <a:cs typeface="Verdana"/>
                <a:sym typeface="Verdana"/>
              </a:rPr>
              <a:t>planToExpand</a:t>
            </a:r>
            <a:endParaRPr sz="1150">
              <a:latin typeface="Verdana"/>
              <a:ea typeface="Verdana"/>
              <a:cs typeface="Verdana"/>
              <a:sym typeface="Verdana"/>
            </a:endParaRPr>
          </a:p>
        </p:txBody>
      </p:sp>
      <p:sp>
        <p:nvSpPr>
          <p:cNvPr id="104" name="Google Shape;104;p15"/>
          <p:cNvSpPr txBox="1"/>
          <p:nvPr/>
        </p:nvSpPr>
        <p:spPr>
          <a:xfrm>
            <a:off x="6020695" y="1847088"/>
            <a:ext cx="2001900" cy="5670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sz="1150" i="1">
                <a:solidFill>
                  <a:schemeClr val="dk1"/>
                </a:solidFill>
                <a:latin typeface="Verdana"/>
                <a:ea typeface="Verdana"/>
                <a:cs typeface="Verdana"/>
                <a:sym typeface="Verdana"/>
              </a:rPr>
              <a:t>secondTierBusiness</a:t>
            </a:r>
            <a:endParaRPr sz="1150" i="1">
              <a:solidFill>
                <a:schemeClr val="dk1"/>
              </a:solidFill>
              <a:latin typeface="Verdana"/>
              <a:ea typeface="Verdana"/>
              <a:cs typeface="Verdana"/>
              <a:sym typeface="Verdana"/>
            </a:endParaRPr>
          </a:p>
          <a:p>
            <a:pPr marL="0" lvl="0" indent="0" algn="l" rtl="0">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#2 in Market Revenue</a:t>
            </a:r>
            <a:endParaRPr sz="1150">
              <a:solidFill>
                <a:schemeClr val="dk1"/>
              </a:solidFill>
              <a:latin typeface="Verdana"/>
              <a:ea typeface="Verdana"/>
              <a:cs typeface="Verdana"/>
              <a:sym typeface="Verdana"/>
            </a:endParaRPr>
          </a:p>
          <a:p>
            <a:pPr marL="0" lvl="0" indent="0" algn="l" rtl="0">
              <a:spcBef>
                <a:spcPts val="0"/>
              </a:spcBef>
              <a:spcAft>
                <a:spcPts val="0"/>
              </a:spcAft>
              <a:buNone/>
            </a:pPr>
            <a:endParaRPr sz="1150">
              <a:latin typeface="Verdana"/>
              <a:ea typeface="Verdana"/>
              <a:cs typeface="Verdana"/>
              <a:sym typeface="Verdana"/>
            </a:endParaRPr>
          </a:p>
        </p:txBody>
      </p:sp>
      <p:sp>
        <p:nvSpPr>
          <p:cNvPr id="105" name="Google Shape;105;p15"/>
          <p:cNvSpPr txBox="1"/>
          <p:nvPr/>
        </p:nvSpPr>
        <p:spPr>
          <a:xfrm>
            <a:off x="1872950" y="1843250"/>
            <a:ext cx="2002500" cy="5652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en" sz="1150" i="1">
                <a:solidFill>
                  <a:schemeClr val="dk1"/>
                </a:solidFill>
                <a:latin typeface="Verdana"/>
                <a:ea typeface="Verdana"/>
                <a:cs typeface="Verdana"/>
                <a:sym typeface="Verdana"/>
              </a:rPr>
              <a:t>firstTierBusiness</a:t>
            </a:r>
            <a:endParaRPr sz="1150" i="1">
              <a:solidFill>
                <a:schemeClr val="dk1"/>
              </a:solidFill>
              <a:latin typeface="Verdana"/>
              <a:ea typeface="Verdana"/>
              <a:cs typeface="Verdana"/>
              <a:sym typeface="Verdana"/>
            </a:endParaRPr>
          </a:p>
          <a:p>
            <a:pPr marL="0" lvl="0" indent="0" algn="l" rtl="0">
              <a:lnSpc>
                <a:spcPct val="115000"/>
              </a:lnSpc>
              <a:spcBef>
                <a:spcPts val="0"/>
              </a:spcBef>
              <a:spcAft>
                <a:spcPts val="0"/>
              </a:spcAft>
              <a:buNone/>
            </a:pPr>
            <a:r>
              <a:rPr lang="en" sz="1150">
                <a:solidFill>
                  <a:schemeClr val="dk1"/>
                </a:solidFill>
                <a:latin typeface="Verdana"/>
                <a:ea typeface="Verdana"/>
                <a:cs typeface="Verdana"/>
                <a:sym typeface="Verdana"/>
              </a:rPr>
              <a:t>#1 in Market Revenue</a:t>
            </a:r>
            <a:endParaRPr sz="1150" i="1">
              <a:solidFill>
                <a:schemeClr val="dk1"/>
              </a:solidFill>
              <a:latin typeface="Verdana"/>
              <a:ea typeface="Verdana"/>
              <a:cs typeface="Verdana"/>
              <a:sym typeface="Verdana"/>
            </a:endParaRPr>
          </a:p>
        </p:txBody>
      </p:sp>
      <p:sp>
        <p:nvSpPr>
          <p:cNvPr id="106" name="Google Shape;106;p15"/>
          <p:cNvSpPr txBox="1">
            <a:spLocks noGrp="1"/>
          </p:cNvSpPr>
          <p:nvPr>
            <p:ph type="body" idx="1"/>
          </p:nvPr>
        </p:nvSpPr>
        <p:spPr>
          <a:xfrm>
            <a:off x="365760" y="5860879"/>
            <a:ext cx="8227200" cy="429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b="1">
                <a:solidFill>
                  <a:srgbClr val="000000"/>
                </a:solidFill>
              </a:rPr>
              <a:t>3. </a:t>
            </a:r>
            <a:r>
              <a:rPr lang="en" sz="1150" b="1">
                <a:solidFill>
                  <a:srgbClr val="000000"/>
                </a:solidFill>
                <a:latin typeface="Verdana"/>
                <a:ea typeface="Verdana"/>
                <a:cs typeface="Verdana"/>
                <a:sym typeface="Verdana"/>
              </a:rPr>
              <a:t>What are the biggest misconceptions consumers have about </a:t>
            </a:r>
            <a:r>
              <a:rPr lang="en" b="1">
                <a:solidFill>
                  <a:srgbClr val="000000"/>
                </a:solidFill>
              </a:rPr>
              <a:t>your </a:t>
            </a:r>
            <a:r>
              <a:rPr lang="en" sz="1150" b="1">
                <a:solidFill>
                  <a:srgbClr val="000000"/>
                </a:solidFill>
                <a:latin typeface="Verdana"/>
                <a:ea typeface="Verdana"/>
                <a:cs typeface="Verdana"/>
                <a:sym typeface="Verdana"/>
              </a:rPr>
              <a:t>business?</a:t>
            </a:r>
            <a:endParaRPr sz="1150" b="1">
              <a:solidFill>
                <a:srgbClr val="000000"/>
              </a:solidFill>
              <a:latin typeface="Verdana"/>
              <a:ea typeface="Verdana"/>
              <a:cs typeface="Verdana"/>
              <a:sym typeface="Verdana"/>
            </a:endParaRPr>
          </a:p>
        </p:txBody>
      </p:sp>
      <p:sp>
        <p:nvSpPr>
          <p:cNvPr id="107" name="Google Shape;107;p15"/>
          <p:cNvSpPr txBox="1"/>
          <p:nvPr/>
        </p:nvSpPr>
        <p:spPr>
          <a:xfrm>
            <a:off x="594360" y="6153000"/>
            <a:ext cx="8148900" cy="6993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sz="1100">
                <a:latin typeface="Verdana"/>
                <a:ea typeface="Verdana"/>
                <a:cs typeface="Verdana"/>
                <a:sym typeface="Verdana"/>
              </a:rPr>
              <a:t>misconceptions</a:t>
            </a:r>
            <a:endParaRPr sz="1100">
              <a:latin typeface="Verdana"/>
              <a:ea typeface="Verdana"/>
              <a:cs typeface="Verdana"/>
              <a:sym typeface="Verdana"/>
            </a:endParaRPr>
          </a:p>
        </p:txBody>
      </p:sp>
      <p:sp>
        <p:nvSpPr>
          <p:cNvPr id="108" name="Google Shape;108;p15"/>
          <p:cNvSpPr txBox="1"/>
          <p:nvPr/>
        </p:nvSpPr>
        <p:spPr>
          <a:xfrm>
            <a:off x="365760" y="3355848"/>
            <a:ext cx="32238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2. Who is the main competition?</a:t>
            </a:r>
            <a:endParaRPr sz="1150" b="1">
              <a:latin typeface="Verdana"/>
              <a:ea typeface="Verdana"/>
              <a:cs typeface="Verdana"/>
              <a:sym typeface="Verdana"/>
            </a:endParaRPr>
          </a:p>
        </p:txBody>
      </p:sp>
      <p:sp>
        <p:nvSpPr>
          <p:cNvPr id="109" name="Google Shape;109;p15"/>
          <p:cNvSpPr txBox="1"/>
          <p:nvPr/>
        </p:nvSpPr>
        <p:spPr>
          <a:xfrm>
            <a:off x="595360" y="3637231"/>
            <a:ext cx="3480300" cy="302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150">
                <a:latin typeface="Verdana"/>
                <a:ea typeface="Verdana"/>
                <a:cs typeface="Verdana"/>
                <a:sym typeface="Verdana"/>
              </a:rPr>
              <a:t>competitionA</a:t>
            </a:r>
            <a:endParaRPr sz="1150">
              <a:latin typeface="Verdana"/>
              <a:ea typeface="Verdana"/>
              <a:cs typeface="Verdana"/>
              <a:sym typeface="Verdana"/>
            </a:endParaRPr>
          </a:p>
        </p:txBody>
      </p:sp>
      <p:sp>
        <p:nvSpPr>
          <p:cNvPr id="110" name="Google Shape;110;p15"/>
          <p:cNvSpPr txBox="1"/>
          <p:nvPr/>
        </p:nvSpPr>
        <p:spPr>
          <a:xfrm>
            <a:off x="4719310" y="3640229"/>
            <a:ext cx="3891900" cy="302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150">
                <a:latin typeface="Verdana"/>
                <a:ea typeface="Verdana"/>
                <a:cs typeface="Verdana"/>
                <a:sym typeface="Verdana"/>
              </a:rPr>
              <a:t>competitionB</a:t>
            </a:r>
            <a:endParaRPr sz="1150">
              <a:latin typeface="Verdana"/>
              <a:ea typeface="Verdana"/>
              <a:cs typeface="Verdana"/>
              <a:sym typeface="Verdana"/>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14"/>
        <p:cNvGrpSpPr/>
        <p:nvPr/>
      </p:nvGrpSpPr>
      <p:grpSpPr>
        <a:xfrm>
          <a:off x="0" y="0"/>
          <a:ext cx="0" cy="0"/>
          <a:chOff x="0" y="0"/>
          <a:chExt cx="0" cy="0"/>
        </a:xfrm>
      </p:grpSpPr>
      <p:sp>
        <p:nvSpPr>
          <p:cNvPr id="115" name="Google Shape;115;p16"/>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Strategic Marketing I</a:t>
            </a:r>
            <a:endParaRPr/>
          </a:p>
        </p:txBody>
      </p:sp>
      <p:sp>
        <p:nvSpPr>
          <p:cNvPr id="116" name="Google Shape;116;p16"/>
          <p:cNvSpPr txBox="1">
            <a:spLocks noGrp="1"/>
          </p:cNvSpPr>
          <p:nvPr>
            <p:ph type="body" idx="1"/>
          </p:nvPr>
        </p:nvSpPr>
        <p:spPr>
          <a:xfrm>
            <a:off x="365750" y="1170424"/>
            <a:ext cx="8227200" cy="385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b="1">
                <a:solidFill>
                  <a:schemeClr val="dk1"/>
                </a:solidFill>
              </a:rPr>
              <a:t>4. If you had the power to improve three things in your marketing, what would they be in order?</a:t>
            </a:r>
            <a:endParaRPr b="1">
              <a:solidFill>
                <a:schemeClr val="dk1"/>
              </a:solidFill>
            </a:endParaRPr>
          </a:p>
          <a:p>
            <a:pPr marL="0" lvl="0" indent="0" algn="l" rtl="0">
              <a:spcBef>
                <a:spcPts val="1600"/>
              </a:spcBef>
              <a:spcAft>
                <a:spcPts val="0"/>
              </a:spcAft>
              <a:buNone/>
            </a:pPr>
            <a:endParaRPr b="1">
              <a:solidFill>
                <a:srgbClr val="000000"/>
              </a:solidFill>
            </a:endParaRPr>
          </a:p>
        </p:txBody>
      </p:sp>
      <p:sp>
        <p:nvSpPr>
          <p:cNvPr id="117" name="Google Shape;117;p16"/>
          <p:cNvSpPr txBox="1">
            <a:spLocks noGrp="1"/>
          </p:cNvSpPr>
          <p:nvPr>
            <p:ph type="body" idx="1"/>
          </p:nvPr>
        </p:nvSpPr>
        <p:spPr>
          <a:xfrm>
            <a:off x="3542250" y="2231136"/>
            <a:ext cx="2059500" cy="3852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sz="1400" b="1">
                <a:solidFill>
                  <a:srgbClr val="000000"/>
                </a:solidFill>
                <a:latin typeface="Verdana"/>
                <a:ea typeface="Verdana"/>
                <a:cs typeface="Verdana"/>
                <a:sym typeface="Verdana"/>
              </a:rPr>
              <a:t>Client Objectives</a:t>
            </a:r>
            <a:endParaRPr sz="1400" b="1">
              <a:solidFill>
                <a:srgbClr val="000000"/>
              </a:solidFill>
              <a:latin typeface="Verdana"/>
              <a:ea typeface="Verdana"/>
              <a:cs typeface="Verdana"/>
              <a:sym typeface="Verdana"/>
            </a:endParaRPr>
          </a:p>
        </p:txBody>
      </p:sp>
      <p:sp>
        <p:nvSpPr>
          <p:cNvPr id="118" name="Google Shape;118;p16"/>
          <p:cNvSpPr txBox="1">
            <a:spLocks noGrp="1"/>
          </p:cNvSpPr>
          <p:nvPr>
            <p:ph type="body" idx="1"/>
          </p:nvPr>
        </p:nvSpPr>
        <p:spPr>
          <a:xfrm>
            <a:off x="365750" y="2505456"/>
            <a:ext cx="2059500" cy="2994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PRODUCT/SERVICE</a:t>
            </a:r>
            <a:endParaRPr sz="1150" b="1">
              <a:solidFill>
                <a:srgbClr val="000000"/>
              </a:solidFill>
              <a:latin typeface="Verdana"/>
              <a:ea typeface="Verdana"/>
              <a:cs typeface="Verdana"/>
              <a:sym typeface="Verdana"/>
            </a:endParaRPr>
          </a:p>
        </p:txBody>
      </p:sp>
      <p:sp>
        <p:nvSpPr>
          <p:cNvPr id="119" name="Google Shape;119;p16"/>
          <p:cNvSpPr txBox="1">
            <a:spLocks noGrp="1"/>
          </p:cNvSpPr>
          <p:nvPr>
            <p:ph type="body" idx="1"/>
          </p:nvPr>
        </p:nvSpPr>
        <p:spPr>
          <a:xfrm>
            <a:off x="4871475" y="2505456"/>
            <a:ext cx="2059500" cy="3852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CONSUMER</a:t>
            </a:r>
            <a:endParaRPr sz="1150" b="1">
              <a:solidFill>
                <a:srgbClr val="000000"/>
              </a:solidFill>
              <a:latin typeface="Verdana"/>
              <a:ea typeface="Verdana"/>
              <a:cs typeface="Verdana"/>
              <a:sym typeface="Verdana"/>
            </a:endParaRPr>
          </a:p>
        </p:txBody>
      </p:sp>
      <p:sp>
        <p:nvSpPr>
          <p:cNvPr id="120" name="Google Shape;120;p16"/>
          <p:cNvSpPr txBox="1">
            <a:spLocks noGrp="1"/>
          </p:cNvSpPr>
          <p:nvPr>
            <p:ph type="body" idx="1"/>
          </p:nvPr>
        </p:nvSpPr>
        <p:spPr>
          <a:xfrm>
            <a:off x="365738" y="4151376"/>
            <a:ext cx="2059500" cy="3018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PROMOTION</a:t>
            </a:r>
            <a:endParaRPr sz="1150" b="1">
              <a:solidFill>
                <a:srgbClr val="000000"/>
              </a:solidFill>
              <a:latin typeface="Verdana"/>
              <a:ea typeface="Verdana"/>
              <a:cs typeface="Verdana"/>
              <a:sym typeface="Verdana"/>
            </a:endParaRPr>
          </a:p>
        </p:txBody>
      </p:sp>
      <p:sp>
        <p:nvSpPr>
          <p:cNvPr id="121" name="Google Shape;121;p16"/>
          <p:cNvSpPr txBox="1">
            <a:spLocks noGrp="1"/>
          </p:cNvSpPr>
          <p:nvPr>
            <p:ph type="body" idx="1"/>
          </p:nvPr>
        </p:nvSpPr>
        <p:spPr>
          <a:xfrm>
            <a:off x="4871463" y="4151376"/>
            <a:ext cx="2059500" cy="3018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BRAND</a:t>
            </a:r>
            <a:endParaRPr sz="1150" b="1">
              <a:solidFill>
                <a:srgbClr val="000000"/>
              </a:solidFill>
              <a:latin typeface="Verdana"/>
              <a:ea typeface="Verdana"/>
              <a:cs typeface="Verdana"/>
              <a:sym typeface="Verdana"/>
            </a:endParaRPr>
          </a:p>
        </p:txBody>
      </p:sp>
      <p:sp>
        <p:nvSpPr>
          <p:cNvPr id="122" name="Google Shape;122;p16"/>
          <p:cNvSpPr txBox="1">
            <a:spLocks noGrp="1"/>
          </p:cNvSpPr>
          <p:nvPr>
            <p:ph type="body" idx="1"/>
          </p:nvPr>
        </p:nvSpPr>
        <p:spPr>
          <a:xfrm>
            <a:off x="365760" y="5724144"/>
            <a:ext cx="8227200" cy="429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b="1">
                <a:solidFill>
                  <a:srgbClr val="000000"/>
                </a:solidFill>
              </a:rPr>
              <a:t>5. What are your most distinctive selling advantages?</a:t>
            </a:r>
            <a:endParaRPr sz="1150" b="1">
              <a:solidFill>
                <a:srgbClr val="000000"/>
              </a:solidFill>
              <a:latin typeface="Verdana"/>
              <a:ea typeface="Verdana"/>
              <a:cs typeface="Verdana"/>
              <a:sym typeface="Verdana"/>
            </a:endParaRPr>
          </a:p>
        </p:txBody>
      </p:sp>
      <p:sp>
        <p:nvSpPr>
          <p:cNvPr id="123" name="Google Shape;123;p16"/>
          <p:cNvSpPr txBox="1"/>
          <p:nvPr/>
        </p:nvSpPr>
        <p:spPr>
          <a:xfrm>
            <a:off x="594360" y="5971032"/>
            <a:ext cx="8148900" cy="6993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sz="1100">
                <a:latin typeface="Verdana"/>
                <a:ea typeface="Verdana"/>
                <a:cs typeface="Verdana"/>
                <a:sym typeface="Verdana"/>
              </a:rPr>
              <a:t>sellingAdvantages</a:t>
            </a:r>
            <a:endParaRPr sz="1100">
              <a:latin typeface="Verdana"/>
              <a:ea typeface="Verdana"/>
              <a:cs typeface="Verdana"/>
              <a:sym typeface="Verdana"/>
            </a:endParaRPr>
          </a:p>
        </p:txBody>
      </p:sp>
      <p:graphicFrame>
        <p:nvGraphicFramePr>
          <p:cNvPr id="124" name="Google Shape;124;p16"/>
          <p:cNvGraphicFramePr/>
          <p:nvPr>
            <p:extLst>
              <p:ext uri="{D42A27DB-BD31-4B8C-83A1-F6EECF244321}">
                <p14:modId xmlns:p14="http://schemas.microsoft.com/office/powerpoint/2010/main" val="3055491995"/>
              </p:ext>
            </p:extLst>
          </p:nvPr>
        </p:nvGraphicFramePr>
        <p:xfrm>
          <a:off x="594360" y="2807208"/>
          <a:ext cx="3593600" cy="1181055"/>
        </p:xfrm>
        <a:graphic>
          <a:graphicData uri="http://schemas.openxmlformats.org/drawingml/2006/table">
            <a:tbl>
              <a:tblPr>
                <a:noFill/>
                <a:tableStyleId>{CFB75FC7-DD7D-40D8-B2B2-EE4B611A8D2E}</a:tableStyleId>
              </a:tblPr>
              <a:tblGrid>
                <a:gridCol w="3593600">
                  <a:extLst>
                    <a:ext uri="{9D8B030D-6E8A-4147-A177-3AD203B41FA5}">
                      <a16:colId xmlns:a16="http://schemas.microsoft.com/office/drawing/2014/main" val="20000"/>
                    </a:ext>
                  </a:extLst>
                </a:gridCol>
              </a:tblGrid>
              <a:tr h="236211">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Introduce:Product</a:t>
                      </a:r>
                      <a:endParaRPr sz="1000" b="1"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0"/>
                  </a:ext>
                </a:extLst>
              </a:tr>
              <a:tr h="236211">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Feature:Product</a:t>
                      </a:r>
                      <a:endParaRPr sz="1000" b="1"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1"/>
                  </a:ext>
                </a:extLst>
              </a:tr>
              <a:tr h="236211">
                <a:tc>
                  <a:txBody>
                    <a:bodyPr/>
                    <a:lstStyle/>
                    <a:p>
                      <a:pPr marL="0" lvl="0" indent="0" algn="l" rtl="0">
                        <a:lnSpc>
                          <a:spcPct val="115000"/>
                        </a:lnSpc>
                        <a:spcBef>
                          <a:spcPts val="0"/>
                        </a:spcBef>
                        <a:spcAft>
                          <a:spcPts val="0"/>
                        </a:spcAft>
                        <a:buNone/>
                      </a:pPr>
                      <a:r>
                        <a:rPr lang="en" sz="1000" dirty="0" err="1">
                          <a:latin typeface="Verdana"/>
                          <a:ea typeface="Verdana"/>
                          <a:cs typeface="Verdana"/>
                          <a:sym typeface="Verdana"/>
                        </a:rPr>
                        <a:t>Call:Product</a:t>
                      </a:r>
                      <a:endParaRPr sz="1000"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2"/>
                  </a:ext>
                </a:extLst>
              </a:tr>
              <a:tr h="236211">
                <a:tc>
                  <a:txBody>
                    <a:bodyPr/>
                    <a:lstStyle/>
                    <a:p>
                      <a:pPr marL="0" lvl="0" indent="0" algn="l" rtl="0">
                        <a:lnSpc>
                          <a:spcPct val="115000"/>
                        </a:lnSpc>
                        <a:spcBef>
                          <a:spcPts val="0"/>
                        </a:spcBef>
                        <a:spcAft>
                          <a:spcPts val="0"/>
                        </a:spcAft>
                        <a:buNone/>
                      </a:pPr>
                      <a:r>
                        <a:rPr lang="en" sz="1000" dirty="0" err="1">
                          <a:latin typeface="Verdana"/>
                          <a:ea typeface="Verdana"/>
                          <a:cs typeface="Verdana"/>
                          <a:sym typeface="Verdana"/>
                        </a:rPr>
                        <a:t>Promote:Product</a:t>
                      </a:r>
                      <a:endParaRPr sz="1000"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3"/>
                  </a:ext>
                </a:extLst>
              </a:tr>
              <a:tr h="236211">
                <a:tc>
                  <a:txBody>
                    <a:bodyPr/>
                    <a:lstStyle/>
                    <a:p>
                      <a:pPr marL="0" lvl="0" indent="0" algn="l" rtl="0">
                        <a:lnSpc>
                          <a:spcPct val="115000"/>
                        </a:lnSpc>
                        <a:spcBef>
                          <a:spcPts val="0"/>
                        </a:spcBef>
                        <a:spcAft>
                          <a:spcPts val="0"/>
                        </a:spcAft>
                        <a:buNone/>
                      </a:pPr>
                      <a:r>
                        <a:rPr lang="en" sz="1000" dirty="0" err="1">
                          <a:latin typeface="Verdana"/>
                          <a:ea typeface="Verdana"/>
                          <a:cs typeface="Verdana"/>
                          <a:sym typeface="Verdana"/>
                        </a:rPr>
                        <a:t>Utilize:Product</a:t>
                      </a:r>
                      <a:endParaRPr sz="1000"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4"/>
                  </a:ext>
                </a:extLst>
              </a:tr>
            </a:tbl>
          </a:graphicData>
        </a:graphic>
      </p:graphicFrame>
      <p:graphicFrame>
        <p:nvGraphicFramePr>
          <p:cNvPr id="125" name="Google Shape;125;p16"/>
          <p:cNvGraphicFramePr/>
          <p:nvPr>
            <p:extLst>
              <p:ext uri="{D42A27DB-BD31-4B8C-83A1-F6EECF244321}">
                <p14:modId xmlns:p14="http://schemas.microsoft.com/office/powerpoint/2010/main" val="2827486415"/>
              </p:ext>
            </p:extLst>
          </p:nvPr>
        </p:nvGraphicFramePr>
        <p:xfrm>
          <a:off x="5084064" y="2807208"/>
          <a:ext cx="3593600" cy="1289250"/>
        </p:xfrm>
        <a:graphic>
          <a:graphicData uri="http://schemas.openxmlformats.org/drawingml/2006/table">
            <a:tbl>
              <a:tblPr>
                <a:noFill/>
                <a:tableStyleId>{CFB75FC7-DD7D-40D8-B2B2-EE4B611A8D2E}</a:tableStyleId>
              </a:tblPr>
              <a:tblGrid>
                <a:gridCol w="3593600">
                  <a:extLst>
                    <a:ext uri="{9D8B030D-6E8A-4147-A177-3AD203B41FA5}">
                      <a16:colId xmlns:a16="http://schemas.microsoft.com/office/drawing/2014/main" val="20000"/>
                    </a:ext>
                  </a:extLst>
                </a:gridCol>
              </a:tblGrid>
              <a:tr h="257850">
                <a:tc>
                  <a:txBody>
                    <a:bodyPr/>
                    <a:lstStyle/>
                    <a:p>
                      <a:pPr marL="0" lvl="0" indent="0" algn="l" rtl="0">
                        <a:lnSpc>
                          <a:spcPct val="115000"/>
                        </a:lnSpc>
                        <a:spcBef>
                          <a:spcPts val="0"/>
                        </a:spcBef>
                        <a:spcAft>
                          <a:spcPts val="0"/>
                        </a:spcAft>
                        <a:buNone/>
                      </a:pPr>
                      <a:r>
                        <a:rPr lang="en" sz="1000" b="0" dirty="0" err="1">
                          <a:latin typeface="Verdana"/>
                          <a:ea typeface="Verdana"/>
                          <a:cs typeface="Verdana"/>
                          <a:sym typeface="Verdana"/>
                        </a:rPr>
                        <a:t>Retain:Consumer</a:t>
                      </a:r>
                      <a:endParaRPr sz="1000" b="0"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0"/>
                  </a:ext>
                </a:extLst>
              </a:tr>
              <a:tr h="257850">
                <a:tc>
                  <a:txBody>
                    <a:bodyPr/>
                    <a:lstStyle/>
                    <a:p>
                      <a:pPr marL="0" lvl="0" indent="0" algn="l" rtl="0">
                        <a:lnSpc>
                          <a:spcPct val="115000"/>
                        </a:lnSpc>
                        <a:spcBef>
                          <a:spcPts val="0"/>
                        </a:spcBef>
                        <a:spcAft>
                          <a:spcPts val="0"/>
                        </a:spcAft>
                        <a:buNone/>
                      </a:pPr>
                      <a:r>
                        <a:rPr lang="en-US" sz="1000" b="0" dirty="0" err="1">
                          <a:latin typeface="Verdana"/>
                          <a:ea typeface="Verdana"/>
                          <a:cs typeface="Verdana"/>
                          <a:sym typeface="Verdana"/>
                        </a:rPr>
                        <a:t>Increase:Consumer</a:t>
                      </a:r>
                      <a:endParaRPr sz="1000" b="0"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1"/>
                  </a:ext>
                </a:extLst>
              </a:tr>
              <a:tr h="257850">
                <a:tc>
                  <a:txBody>
                    <a:bodyPr/>
                    <a:lstStyle/>
                    <a:p>
                      <a:pPr marL="0" lvl="0" indent="0" algn="l" rtl="0">
                        <a:lnSpc>
                          <a:spcPct val="115000"/>
                        </a:lnSpc>
                        <a:spcBef>
                          <a:spcPts val="0"/>
                        </a:spcBef>
                        <a:spcAft>
                          <a:spcPts val="0"/>
                        </a:spcAft>
                        <a:buNone/>
                      </a:pPr>
                      <a:r>
                        <a:rPr lang="en" sz="1000" b="0" dirty="0" err="1">
                          <a:latin typeface="Verdana"/>
                          <a:ea typeface="Verdana"/>
                          <a:cs typeface="Verdana"/>
                          <a:sym typeface="Verdana"/>
                        </a:rPr>
                        <a:t>Grow:Consumer</a:t>
                      </a:r>
                      <a:endParaRPr sz="1000" b="0"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2"/>
                  </a:ext>
                </a:extLst>
              </a:tr>
              <a:tr h="257850">
                <a:tc>
                  <a:txBody>
                    <a:bodyPr/>
                    <a:lstStyle/>
                    <a:p>
                      <a:pPr marL="0" lvl="0" indent="0" algn="l" rtl="0">
                        <a:lnSpc>
                          <a:spcPct val="115000"/>
                        </a:lnSpc>
                        <a:spcBef>
                          <a:spcPts val="0"/>
                        </a:spcBef>
                        <a:spcAft>
                          <a:spcPts val="0"/>
                        </a:spcAft>
                        <a:buNone/>
                      </a:pPr>
                      <a:r>
                        <a:rPr lang="en" sz="1000" b="0" dirty="0" err="1">
                          <a:latin typeface="Verdana"/>
                          <a:ea typeface="Verdana"/>
                          <a:cs typeface="Verdana"/>
                          <a:sym typeface="Verdana"/>
                        </a:rPr>
                        <a:t>Expand:Consumer</a:t>
                      </a:r>
                      <a:endParaRPr sz="1000" b="0"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3"/>
                  </a:ext>
                </a:extLst>
              </a:tr>
              <a:tr h="257850">
                <a:tc>
                  <a:txBody>
                    <a:bodyPr/>
                    <a:lstStyle/>
                    <a:p>
                      <a:pPr marL="0" lvl="0" indent="0" algn="l" rtl="0">
                        <a:lnSpc>
                          <a:spcPct val="115000"/>
                        </a:lnSpc>
                        <a:spcBef>
                          <a:spcPts val="0"/>
                        </a:spcBef>
                        <a:spcAft>
                          <a:spcPts val="0"/>
                        </a:spcAft>
                        <a:buNone/>
                      </a:pPr>
                      <a:r>
                        <a:rPr lang="en" sz="1000" b="0" dirty="0" err="1">
                          <a:latin typeface="Verdana"/>
                          <a:ea typeface="Verdana"/>
                          <a:cs typeface="Verdana"/>
                          <a:sym typeface="Verdana"/>
                        </a:rPr>
                        <a:t>Change:Consumer</a:t>
                      </a:r>
                      <a:endParaRPr sz="1000" b="0"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4"/>
                  </a:ext>
                </a:extLst>
              </a:tr>
            </a:tbl>
          </a:graphicData>
        </a:graphic>
      </p:graphicFrame>
      <p:graphicFrame>
        <p:nvGraphicFramePr>
          <p:cNvPr id="126" name="Google Shape;126;p16"/>
          <p:cNvGraphicFramePr/>
          <p:nvPr>
            <p:extLst>
              <p:ext uri="{D42A27DB-BD31-4B8C-83A1-F6EECF244321}">
                <p14:modId xmlns:p14="http://schemas.microsoft.com/office/powerpoint/2010/main" val="2983055170"/>
              </p:ext>
            </p:extLst>
          </p:nvPr>
        </p:nvGraphicFramePr>
        <p:xfrm>
          <a:off x="611945" y="4508495"/>
          <a:ext cx="3593600" cy="1251468"/>
        </p:xfrm>
        <a:graphic>
          <a:graphicData uri="http://schemas.openxmlformats.org/drawingml/2006/table">
            <a:tbl>
              <a:tblPr>
                <a:noFill/>
                <a:tableStyleId>{CFB75FC7-DD7D-40D8-B2B2-EE4B611A8D2E}</a:tableStyleId>
              </a:tblPr>
              <a:tblGrid>
                <a:gridCol w="3593600">
                  <a:extLst>
                    <a:ext uri="{9D8B030D-6E8A-4147-A177-3AD203B41FA5}">
                      <a16:colId xmlns:a16="http://schemas.microsoft.com/office/drawing/2014/main" val="20000"/>
                    </a:ext>
                  </a:extLst>
                </a:gridCol>
              </a:tblGrid>
              <a:tr h="208578">
                <a:tc>
                  <a:txBody>
                    <a:bodyPr/>
                    <a:lstStyle/>
                    <a:p>
                      <a:pPr marL="0" lvl="0" indent="0" algn="l" rtl="0">
                        <a:lnSpc>
                          <a:spcPct val="115000"/>
                        </a:lnSpc>
                        <a:spcBef>
                          <a:spcPts val="0"/>
                        </a:spcBef>
                        <a:spcAft>
                          <a:spcPts val="0"/>
                        </a:spcAft>
                        <a:buNone/>
                      </a:pPr>
                      <a:r>
                        <a:rPr lang="en" sz="1000" b="1" dirty="0" err="1">
                          <a:solidFill>
                            <a:srgbClr val="222222"/>
                          </a:solidFill>
                          <a:latin typeface="Verdana"/>
                          <a:ea typeface="Verdana"/>
                          <a:cs typeface="Verdana"/>
                          <a:sym typeface="Verdana"/>
                        </a:rPr>
                        <a:t>Make:Promotion</a:t>
                      </a:r>
                      <a:endParaRPr sz="1000" b="1" dirty="0">
                        <a:solidFill>
                          <a:srgbClr val="222222"/>
                        </a:solidFill>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0"/>
                  </a:ext>
                </a:extLst>
              </a:tr>
              <a:tr h="208578">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Develop:Promotion</a:t>
                      </a:r>
                      <a:endParaRPr sz="1000" b="1"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1"/>
                  </a:ext>
                </a:extLst>
              </a:tr>
              <a:tr h="208578">
                <a:tc>
                  <a:txBody>
                    <a:bodyPr/>
                    <a:lstStyle/>
                    <a:p>
                      <a:pPr marL="0" lvl="0" indent="0" algn="l" rtl="0">
                        <a:lnSpc>
                          <a:spcPct val="115000"/>
                        </a:lnSpc>
                        <a:spcBef>
                          <a:spcPts val="0"/>
                        </a:spcBef>
                        <a:spcAft>
                          <a:spcPts val="0"/>
                        </a:spcAft>
                        <a:buNone/>
                      </a:pPr>
                      <a:r>
                        <a:rPr lang="en" sz="1000" dirty="0" err="1">
                          <a:latin typeface="Verdana"/>
                          <a:ea typeface="Verdana"/>
                          <a:cs typeface="Verdana"/>
                          <a:sym typeface="Verdana"/>
                        </a:rPr>
                        <a:t>Establish:Promotion</a:t>
                      </a:r>
                      <a:endParaRPr sz="1000"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2"/>
                  </a:ext>
                </a:extLst>
              </a:tr>
              <a:tr h="208578">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Develop:Promotion</a:t>
                      </a:r>
                      <a:endParaRPr sz="1000" b="1"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3"/>
                  </a:ext>
                </a:extLst>
              </a:tr>
              <a:tr h="208578">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Initiate:Promotion</a:t>
                      </a:r>
                      <a:endParaRPr sz="1000" b="1"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4"/>
                  </a:ext>
                </a:extLst>
              </a:tr>
              <a:tr h="208578">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Specially:Promotion</a:t>
                      </a:r>
                      <a:endParaRPr sz="1000" b="1"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5"/>
                  </a:ext>
                </a:extLst>
              </a:tr>
            </a:tbl>
          </a:graphicData>
        </a:graphic>
      </p:graphicFrame>
      <p:graphicFrame>
        <p:nvGraphicFramePr>
          <p:cNvPr id="127" name="Google Shape;127;p16"/>
          <p:cNvGraphicFramePr/>
          <p:nvPr>
            <p:extLst>
              <p:ext uri="{D42A27DB-BD31-4B8C-83A1-F6EECF244321}">
                <p14:modId xmlns:p14="http://schemas.microsoft.com/office/powerpoint/2010/main" val="751052941"/>
              </p:ext>
            </p:extLst>
          </p:nvPr>
        </p:nvGraphicFramePr>
        <p:xfrm>
          <a:off x="5084064" y="4549788"/>
          <a:ext cx="3593600" cy="1175004"/>
        </p:xfrm>
        <a:graphic>
          <a:graphicData uri="http://schemas.openxmlformats.org/drawingml/2006/table">
            <a:tbl>
              <a:tblPr>
                <a:noFill/>
                <a:tableStyleId>{CFB75FC7-DD7D-40D8-B2B2-EE4B611A8D2E}</a:tableStyleId>
              </a:tblPr>
              <a:tblGrid>
                <a:gridCol w="3593600">
                  <a:extLst>
                    <a:ext uri="{9D8B030D-6E8A-4147-A177-3AD203B41FA5}">
                      <a16:colId xmlns:a16="http://schemas.microsoft.com/office/drawing/2014/main" val="20000"/>
                    </a:ext>
                  </a:extLst>
                </a:gridCol>
              </a:tblGrid>
              <a:tr h="176894">
                <a:tc>
                  <a:txBody>
                    <a:bodyPr/>
                    <a:lstStyle/>
                    <a:p>
                      <a:pPr marL="0" lvl="0" indent="0" algn="l" rtl="0">
                        <a:lnSpc>
                          <a:spcPct val="115000"/>
                        </a:lnSpc>
                        <a:spcBef>
                          <a:spcPts val="0"/>
                        </a:spcBef>
                        <a:spcAft>
                          <a:spcPts val="0"/>
                        </a:spcAft>
                        <a:buNone/>
                      </a:pPr>
                      <a:r>
                        <a:rPr lang="en" sz="1000" b="1" dirty="0" err="1">
                          <a:solidFill>
                            <a:srgbClr val="222222"/>
                          </a:solidFill>
                          <a:latin typeface="Verdana"/>
                          <a:ea typeface="Verdana"/>
                          <a:cs typeface="Verdana"/>
                          <a:sym typeface="Verdana"/>
                        </a:rPr>
                        <a:t>Maintain:Brand</a:t>
                      </a:r>
                      <a:endParaRPr sz="1000" b="1" dirty="0">
                        <a:solidFill>
                          <a:srgbClr val="222222"/>
                        </a:solidFill>
                        <a:latin typeface="Verdana"/>
                        <a:ea typeface="Verdana"/>
                        <a:cs typeface="Verdana"/>
                        <a:sym typeface="Verdana"/>
                      </a:endParaRPr>
                    </a:p>
                  </a:txBody>
                  <a:tcPr marL="28575" marR="28575" marT="19050" marB="19050" anchor="b"/>
                </a:tc>
                <a:extLst>
                  <a:ext uri="{0D108BD9-81ED-4DB2-BD59-A6C34878D82A}">
                    <a16:rowId xmlns:a16="http://schemas.microsoft.com/office/drawing/2014/main" val="10000"/>
                  </a:ext>
                </a:extLst>
              </a:tr>
              <a:tr h="176894">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Elevate:Brand</a:t>
                      </a:r>
                      <a:endParaRPr sz="1000" b="1" dirty="0">
                        <a:latin typeface="Verdana"/>
                        <a:ea typeface="Verdana"/>
                        <a:cs typeface="Verdana"/>
                        <a:sym typeface="Verdana"/>
                      </a:endParaRPr>
                    </a:p>
                  </a:txBody>
                  <a:tcPr marL="28575" marR="28575" marT="19050" marB="19050" anchor="b"/>
                </a:tc>
                <a:extLst>
                  <a:ext uri="{0D108BD9-81ED-4DB2-BD59-A6C34878D82A}">
                    <a16:rowId xmlns:a16="http://schemas.microsoft.com/office/drawing/2014/main" val="10001"/>
                  </a:ext>
                </a:extLst>
              </a:tr>
              <a:tr h="176894">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Improve:Brand</a:t>
                      </a:r>
                      <a:endParaRPr sz="1000" b="1" dirty="0">
                        <a:latin typeface="Verdana"/>
                        <a:ea typeface="Verdana"/>
                        <a:cs typeface="Verdana"/>
                        <a:sym typeface="Verdana"/>
                      </a:endParaRPr>
                    </a:p>
                  </a:txBody>
                  <a:tcPr marL="28575" marR="28575" marT="19050" marB="19050" anchor="b"/>
                </a:tc>
                <a:extLst>
                  <a:ext uri="{0D108BD9-81ED-4DB2-BD59-A6C34878D82A}">
                    <a16:rowId xmlns:a16="http://schemas.microsoft.com/office/drawing/2014/main" val="10002"/>
                  </a:ext>
                </a:extLst>
              </a:tr>
              <a:tr h="176894">
                <a:tc>
                  <a:txBody>
                    <a:bodyPr/>
                    <a:lstStyle/>
                    <a:p>
                      <a:pPr marL="0" lvl="0" indent="0" algn="l" rtl="0">
                        <a:lnSpc>
                          <a:spcPct val="115000"/>
                        </a:lnSpc>
                        <a:spcBef>
                          <a:spcPts val="0"/>
                        </a:spcBef>
                        <a:spcAft>
                          <a:spcPts val="0"/>
                        </a:spcAft>
                        <a:buNone/>
                      </a:pPr>
                      <a:r>
                        <a:rPr lang="en" sz="1000" dirty="0" err="1">
                          <a:latin typeface="Verdana"/>
                          <a:ea typeface="Verdana"/>
                          <a:cs typeface="Verdana"/>
                          <a:sym typeface="Verdana"/>
                        </a:rPr>
                        <a:t>Enhance:Brand</a:t>
                      </a:r>
                      <a:endParaRPr sz="1000" dirty="0">
                        <a:latin typeface="Verdana"/>
                        <a:ea typeface="Verdana"/>
                        <a:cs typeface="Verdana"/>
                        <a:sym typeface="Verdana"/>
                      </a:endParaRPr>
                    </a:p>
                  </a:txBody>
                  <a:tcPr marL="28575" marR="28575" marT="19050" marB="19050" anchor="b"/>
                </a:tc>
                <a:extLst>
                  <a:ext uri="{0D108BD9-81ED-4DB2-BD59-A6C34878D82A}">
                    <a16:rowId xmlns:a16="http://schemas.microsoft.com/office/drawing/2014/main" val="10003"/>
                  </a:ext>
                </a:extLst>
              </a:tr>
              <a:tr h="176894">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Increase:Brand</a:t>
                      </a:r>
                      <a:endParaRPr sz="1000" b="1" dirty="0">
                        <a:latin typeface="Verdana"/>
                        <a:ea typeface="Verdana"/>
                        <a:cs typeface="Verdana"/>
                        <a:sym typeface="Verdana"/>
                      </a:endParaRPr>
                    </a:p>
                  </a:txBody>
                  <a:tcPr marL="28575" marR="28575" marT="19050" marB="19050" anchor="b"/>
                </a:tc>
                <a:extLst>
                  <a:ext uri="{0D108BD9-81ED-4DB2-BD59-A6C34878D82A}">
                    <a16:rowId xmlns:a16="http://schemas.microsoft.com/office/drawing/2014/main" val="10004"/>
                  </a:ext>
                </a:extLst>
              </a:tr>
              <a:tr h="176894">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Tech:Brand</a:t>
                      </a:r>
                      <a:endParaRPr sz="1000" b="1" dirty="0">
                        <a:latin typeface="Verdana"/>
                        <a:ea typeface="Verdana"/>
                        <a:cs typeface="Verdana"/>
                        <a:sym typeface="Verdana"/>
                      </a:endParaRPr>
                    </a:p>
                  </a:txBody>
                  <a:tcPr marL="28575" marR="28575" marT="19050" marB="19050" anchor="b"/>
                </a:tc>
                <a:extLst>
                  <a:ext uri="{0D108BD9-81ED-4DB2-BD59-A6C34878D82A}">
                    <a16:rowId xmlns:a16="http://schemas.microsoft.com/office/drawing/2014/main" val="10005"/>
                  </a:ext>
                </a:extLst>
              </a:tr>
            </a:tbl>
          </a:graphicData>
        </a:graphic>
      </p:graphicFrame>
      <p:graphicFrame>
        <p:nvGraphicFramePr>
          <p:cNvPr id="128" name="Google Shape;128;p16"/>
          <p:cNvGraphicFramePr/>
          <p:nvPr>
            <p:extLst>
              <p:ext uri="{D42A27DB-BD31-4B8C-83A1-F6EECF244321}">
                <p14:modId xmlns:p14="http://schemas.microsoft.com/office/powerpoint/2010/main" val="3439513245"/>
              </p:ext>
            </p:extLst>
          </p:nvPr>
        </p:nvGraphicFramePr>
        <p:xfrm>
          <a:off x="594350" y="1573425"/>
          <a:ext cx="4124325" cy="634746"/>
        </p:xfrm>
        <a:graphic>
          <a:graphicData uri="http://schemas.openxmlformats.org/drawingml/2006/table">
            <a:tbl>
              <a:tblPr>
                <a:noFill/>
                <a:tableStyleId>{CFB75FC7-DD7D-40D8-B2B2-EE4B611A8D2E}</a:tableStyleId>
              </a:tblPr>
              <a:tblGrid>
                <a:gridCol w="4124325">
                  <a:extLst>
                    <a:ext uri="{9D8B030D-6E8A-4147-A177-3AD203B41FA5}">
                      <a16:colId xmlns:a16="http://schemas.microsoft.com/office/drawing/2014/main" val="20000"/>
                    </a:ext>
                  </a:extLst>
                </a:gridCol>
              </a:tblGrid>
              <a:tr h="209550">
                <a:tc>
                  <a:txBody>
                    <a:bodyPr/>
                    <a:lstStyle/>
                    <a:p>
                      <a:pPr marL="0" lvl="0" indent="0" algn="l" rtl="0">
                        <a:lnSpc>
                          <a:spcPct val="115000"/>
                        </a:lnSpc>
                        <a:spcBef>
                          <a:spcPts val="0"/>
                        </a:spcBef>
                        <a:spcAft>
                          <a:spcPts val="0"/>
                        </a:spcAft>
                        <a:buNone/>
                      </a:pPr>
                      <a:r>
                        <a:rPr lang="en" sz="1100" dirty="0">
                          <a:latin typeface="Verdana"/>
                          <a:ea typeface="Verdana"/>
                          <a:cs typeface="Verdana"/>
                          <a:sym typeface="Verdana"/>
                        </a:rPr>
                        <a:t>order1</a:t>
                      </a:r>
                      <a:endParaRPr sz="1100" dirty="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0"/>
                  </a:ext>
                </a:extLst>
              </a:tr>
              <a:tr h="209550">
                <a:tc>
                  <a:txBody>
                    <a:bodyPr/>
                    <a:lstStyle/>
                    <a:p>
                      <a:pPr marL="0" lvl="0" indent="0" algn="l" rtl="0">
                        <a:lnSpc>
                          <a:spcPct val="115000"/>
                        </a:lnSpc>
                        <a:spcBef>
                          <a:spcPts val="0"/>
                        </a:spcBef>
                        <a:spcAft>
                          <a:spcPts val="0"/>
                        </a:spcAft>
                        <a:buNone/>
                      </a:pPr>
                      <a:r>
                        <a:rPr lang="en" sz="1100" dirty="0">
                          <a:latin typeface="Verdana"/>
                          <a:ea typeface="Verdana"/>
                          <a:cs typeface="Verdana"/>
                          <a:sym typeface="Verdana"/>
                        </a:rPr>
                        <a:t>order2</a:t>
                      </a:r>
                      <a:endParaRPr sz="1100" dirty="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1"/>
                  </a:ext>
                </a:extLst>
              </a:tr>
              <a:tr h="209550">
                <a:tc>
                  <a:txBody>
                    <a:bodyPr/>
                    <a:lstStyle/>
                    <a:p>
                      <a:pPr marL="0" lvl="0" indent="0" algn="l" rtl="0">
                        <a:lnSpc>
                          <a:spcPct val="115000"/>
                        </a:lnSpc>
                        <a:spcBef>
                          <a:spcPts val="0"/>
                        </a:spcBef>
                        <a:spcAft>
                          <a:spcPts val="0"/>
                        </a:spcAft>
                        <a:buNone/>
                      </a:pPr>
                      <a:r>
                        <a:rPr lang="en" sz="1100">
                          <a:latin typeface="Verdana"/>
                          <a:ea typeface="Verdana"/>
                          <a:cs typeface="Verdana"/>
                          <a:sym typeface="Verdana"/>
                        </a:rPr>
                        <a:t>order3</a:t>
                      </a:r>
                      <a:endParaRPr sz="1100" dirty="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2"/>
                  </a:ext>
                </a:extLst>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32"/>
        <p:cNvGrpSpPr/>
        <p:nvPr/>
      </p:nvGrpSpPr>
      <p:grpSpPr>
        <a:xfrm>
          <a:off x="0" y="0"/>
          <a:ext cx="0" cy="0"/>
          <a:chOff x="0" y="0"/>
          <a:chExt cx="0" cy="0"/>
        </a:xfrm>
      </p:grpSpPr>
      <p:sp>
        <p:nvSpPr>
          <p:cNvPr id="133" name="Google Shape;133;p17"/>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Strategic Marketing II</a:t>
            </a:r>
            <a:endParaRPr/>
          </a:p>
        </p:txBody>
      </p:sp>
      <p:sp>
        <p:nvSpPr>
          <p:cNvPr id="134" name="Google Shape;134;p17"/>
          <p:cNvSpPr txBox="1"/>
          <p:nvPr/>
        </p:nvSpPr>
        <p:spPr>
          <a:xfrm>
            <a:off x="364750" y="1172575"/>
            <a:ext cx="88587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6. What image do you want your company's name to project to customers and potential consumers?</a:t>
            </a:r>
            <a:endParaRPr sz="1150" b="1">
              <a:latin typeface="Verdana"/>
              <a:ea typeface="Verdana"/>
              <a:cs typeface="Verdana"/>
              <a:sym typeface="Verdana"/>
            </a:endParaRPr>
          </a:p>
        </p:txBody>
      </p:sp>
      <p:sp>
        <p:nvSpPr>
          <p:cNvPr id="135" name="Google Shape;135;p17"/>
          <p:cNvSpPr txBox="1"/>
          <p:nvPr/>
        </p:nvSpPr>
        <p:spPr>
          <a:xfrm>
            <a:off x="577750" y="1462550"/>
            <a:ext cx="8148900" cy="6993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sz="1150">
                <a:latin typeface="Verdana"/>
                <a:ea typeface="Verdana"/>
                <a:cs typeface="Verdana"/>
                <a:sym typeface="Verdana"/>
              </a:rPr>
              <a:t>companyNameProjectImage</a:t>
            </a:r>
            <a:endParaRPr sz="1150">
              <a:latin typeface="Verdana"/>
              <a:ea typeface="Verdana"/>
              <a:cs typeface="Verdana"/>
              <a:sym typeface="Verdana"/>
            </a:endParaRPr>
          </a:p>
        </p:txBody>
      </p:sp>
      <p:sp>
        <p:nvSpPr>
          <p:cNvPr id="136" name="Google Shape;136;p17"/>
          <p:cNvSpPr txBox="1"/>
          <p:nvPr/>
        </p:nvSpPr>
        <p:spPr>
          <a:xfrm>
            <a:off x="577750" y="2185416"/>
            <a:ext cx="2544300" cy="2583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Current Company Slogan</a:t>
            </a:r>
            <a:endParaRPr sz="1150" b="1">
              <a:latin typeface="Verdana"/>
              <a:ea typeface="Verdana"/>
              <a:cs typeface="Verdana"/>
              <a:sym typeface="Verdana"/>
            </a:endParaRPr>
          </a:p>
        </p:txBody>
      </p:sp>
      <p:sp>
        <p:nvSpPr>
          <p:cNvPr id="137" name="Google Shape;137;p17"/>
          <p:cNvSpPr txBox="1"/>
          <p:nvPr/>
        </p:nvSpPr>
        <p:spPr>
          <a:xfrm>
            <a:off x="2990088" y="2185416"/>
            <a:ext cx="4812900" cy="2583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currentCompanySlogan</a:t>
            </a:r>
            <a:endParaRPr sz="1150">
              <a:latin typeface="Verdana"/>
              <a:ea typeface="Verdana"/>
              <a:cs typeface="Verdana"/>
              <a:sym typeface="Verdana"/>
            </a:endParaRPr>
          </a:p>
        </p:txBody>
      </p:sp>
      <p:sp>
        <p:nvSpPr>
          <p:cNvPr id="138" name="Google Shape;138;p17"/>
          <p:cNvSpPr txBox="1"/>
          <p:nvPr/>
        </p:nvSpPr>
        <p:spPr>
          <a:xfrm>
            <a:off x="577750" y="2496312"/>
            <a:ext cx="4530900" cy="2583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Does your current slogan project the same image?</a:t>
            </a:r>
            <a:endParaRPr sz="1150" b="1">
              <a:latin typeface="Verdana"/>
              <a:ea typeface="Verdana"/>
              <a:cs typeface="Verdana"/>
              <a:sym typeface="Verdana"/>
            </a:endParaRPr>
          </a:p>
        </p:txBody>
      </p:sp>
      <p:sp>
        <p:nvSpPr>
          <p:cNvPr id="139" name="Google Shape;139;p17"/>
          <p:cNvSpPr txBox="1"/>
          <p:nvPr/>
        </p:nvSpPr>
        <p:spPr>
          <a:xfrm>
            <a:off x="4959550" y="2496312"/>
            <a:ext cx="1575300" cy="2559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planToExpand </a:t>
            </a:r>
            <a:endParaRPr/>
          </a:p>
        </p:txBody>
      </p:sp>
      <p:sp>
        <p:nvSpPr>
          <p:cNvPr id="140" name="Google Shape;140;p17"/>
          <p:cNvSpPr txBox="1"/>
          <p:nvPr/>
        </p:nvSpPr>
        <p:spPr>
          <a:xfrm>
            <a:off x="694944" y="3867912"/>
            <a:ext cx="8229600" cy="7314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compliments</a:t>
            </a:r>
            <a:endParaRPr sz="1150">
              <a:latin typeface="Verdana"/>
              <a:ea typeface="Verdana"/>
              <a:cs typeface="Verdana"/>
              <a:sym typeface="Verdana"/>
            </a:endParaRPr>
          </a:p>
        </p:txBody>
      </p:sp>
      <p:sp>
        <p:nvSpPr>
          <p:cNvPr id="141" name="Google Shape;141;p17"/>
          <p:cNvSpPr txBox="1"/>
          <p:nvPr/>
        </p:nvSpPr>
        <p:spPr>
          <a:xfrm>
            <a:off x="402325" y="5349250"/>
            <a:ext cx="3538800" cy="5907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9. What are your digital marketing strategies? What are your goals and measures of success?</a:t>
            </a:r>
            <a:endParaRPr sz="1150" b="1">
              <a:latin typeface="Verdana"/>
              <a:ea typeface="Verdana"/>
              <a:cs typeface="Verdana"/>
              <a:sym typeface="Verdana"/>
            </a:endParaRPr>
          </a:p>
        </p:txBody>
      </p:sp>
      <p:sp>
        <p:nvSpPr>
          <p:cNvPr id="142" name="Google Shape;142;p17"/>
          <p:cNvSpPr txBox="1"/>
          <p:nvPr/>
        </p:nvSpPr>
        <p:spPr>
          <a:xfrm>
            <a:off x="4736600" y="5349247"/>
            <a:ext cx="4200000" cy="5907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10. Do you have social media strategy (i.e. Facebook, Instagram, etc.)? If so, what are your goals and measures of success?</a:t>
            </a:r>
            <a:endParaRPr sz="1150" b="1">
              <a:latin typeface="Verdana"/>
              <a:ea typeface="Verdana"/>
              <a:cs typeface="Verdana"/>
              <a:sym typeface="Verdana"/>
            </a:endParaRPr>
          </a:p>
        </p:txBody>
      </p:sp>
      <p:sp>
        <p:nvSpPr>
          <p:cNvPr id="143" name="Google Shape;143;p17"/>
          <p:cNvSpPr txBox="1"/>
          <p:nvPr/>
        </p:nvSpPr>
        <p:spPr>
          <a:xfrm>
            <a:off x="402336" y="6071616"/>
            <a:ext cx="3731400" cy="8172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marketingStrategy</a:t>
            </a:r>
            <a:endParaRPr sz="1150">
              <a:latin typeface="Verdana"/>
              <a:ea typeface="Verdana"/>
              <a:cs typeface="Verdana"/>
              <a:sym typeface="Verdana"/>
            </a:endParaRPr>
          </a:p>
        </p:txBody>
      </p:sp>
      <p:sp>
        <p:nvSpPr>
          <p:cNvPr id="144" name="Google Shape;144;p17"/>
          <p:cNvSpPr txBox="1"/>
          <p:nvPr/>
        </p:nvSpPr>
        <p:spPr>
          <a:xfrm>
            <a:off x="4736592" y="6071616"/>
            <a:ext cx="3731400" cy="8172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socialStrategy</a:t>
            </a:r>
            <a:endParaRPr sz="1150">
              <a:latin typeface="Verdana"/>
              <a:ea typeface="Verdana"/>
              <a:cs typeface="Verdana"/>
              <a:sym typeface="Verdana"/>
            </a:endParaRPr>
          </a:p>
        </p:txBody>
      </p:sp>
      <p:graphicFrame>
        <p:nvGraphicFramePr>
          <p:cNvPr id="145" name="Google Shape;145;p17"/>
          <p:cNvGraphicFramePr/>
          <p:nvPr>
            <p:extLst>
              <p:ext uri="{D42A27DB-BD31-4B8C-83A1-F6EECF244321}">
                <p14:modId xmlns:p14="http://schemas.microsoft.com/office/powerpoint/2010/main" val="914132312"/>
              </p:ext>
            </p:extLst>
          </p:nvPr>
        </p:nvGraphicFramePr>
        <p:xfrm>
          <a:off x="365760" y="2813075"/>
          <a:ext cx="8384000" cy="844515"/>
        </p:xfrm>
        <a:graphic>
          <a:graphicData uri="http://schemas.openxmlformats.org/drawingml/2006/table">
            <a:tbl>
              <a:tblPr>
                <a:noFill/>
                <a:tableStyleId>{779AAC5F-F97D-4193-AF94-6FAFF6667CF6}</a:tableStyleId>
              </a:tblPr>
              <a:tblGrid>
                <a:gridCol w="1240025">
                  <a:extLst>
                    <a:ext uri="{9D8B030D-6E8A-4147-A177-3AD203B41FA5}">
                      <a16:colId xmlns:a16="http://schemas.microsoft.com/office/drawing/2014/main" val="20000"/>
                    </a:ext>
                  </a:extLst>
                </a:gridCol>
                <a:gridCol w="2635125">
                  <a:extLst>
                    <a:ext uri="{9D8B030D-6E8A-4147-A177-3AD203B41FA5}">
                      <a16:colId xmlns:a16="http://schemas.microsoft.com/office/drawing/2014/main" val="20001"/>
                    </a:ext>
                  </a:extLst>
                </a:gridCol>
                <a:gridCol w="2605250">
                  <a:extLst>
                    <a:ext uri="{9D8B030D-6E8A-4147-A177-3AD203B41FA5}">
                      <a16:colId xmlns:a16="http://schemas.microsoft.com/office/drawing/2014/main" val="20002"/>
                    </a:ext>
                  </a:extLst>
                </a:gridCol>
                <a:gridCol w="1903600">
                  <a:extLst>
                    <a:ext uri="{9D8B030D-6E8A-4147-A177-3AD203B41FA5}">
                      <a16:colId xmlns:a16="http://schemas.microsoft.com/office/drawing/2014/main" val="20003"/>
                    </a:ext>
                  </a:extLst>
                </a:gridCol>
              </a:tblGrid>
              <a:tr h="322500">
                <a:tc rowSpan="2">
                  <a:txBody>
                    <a:bodyPr/>
                    <a:lstStyle/>
                    <a:p>
                      <a:pPr marL="0" lvl="0" indent="0" algn="ctr" rtl="0">
                        <a:spcBef>
                          <a:spcPts val="0"/>
                        </a:spcBef>
                        <a:spcAft>
                          <a:spcPts val="0"/>
                        </a:spcAft>
                        <a:buNone/>
                      </a:pPr>
                      <a:r>
                        <a:rPr lang="en" sz="1100" b="1">
                          <a:latin typeface="Verdana"/>
                          <a:ea typeface="Verdana"/>
                          <a:cs typeface="Verdana"/>
                          <a:sym typeface="Verdana"/>
                        </a:rPr>
                        <a:t>7. What are your:</a:t>
                      </a:r>
                      <a:endParaRPr sz="1100" b="1">
                        <a:latin typeface="Verdana"/>
                        <a:ea typeface="Verdana"/>
                        <a:cs typeface="Verdana"/>
                        <a:sym typeface="Verdana"/>
                      </a:endParaRPr>
                    </a:p>
                  </a:txBody>
                  <a:tcPr marL="91425" marR="91425" marT="91425" marB="91425" anchor="ctr"/>
                </a:tc>
                <a:tc>
                  <a:txBody>
                    <a:bodyPr/>
                    <a:lstStyle/>
                    <a:p>
                      <a:pPr marL="0" lvl="0" indent="0" algn="ctr" rtl="0">
                        <a:spcBef>
                          <a:spcPts val="0"/>
                        </a:spcBef>
                        <a:spcAft>
                          <a:spcPts val="0"/>
                        </a:spcAft>
                        <a:buNone/>
                      </a:pPr>
                      <a:r>
                        <a:rPr lang="en" sz="1100" b="1">
                          <a:latin typeface="Verdana"/>
                          <a:ea typeface="Verdana"/>
                          <a:cs typeface="Verdana"/>
                          <a:sym typeface="Verdana"/>
                        </a:rPr>
                        <a:t>Poorest performing months</a:t>
                      </a:r>
                      <a:endParaRPr sz="1100" b="1">
                        <a:latin typeface="Verdana"/>
                        <a:ea typeface="Verdana"/>
                        <a:cs typeface="Verdana"/>
                        <a:sym typeface="Verdana"/>
                      </a:endParaRPr>
                    </a:p>
                  </a:txBody>
                  <a:tcPr marL="91425" marR="91425" marT="91425" marB="91425" anchor="ctr"/>
                </a:tc>
                <a:tc>
                  <a:txBody>
                    <a:bodyPr/>
                    <a:lstStyle/>
                    <a:p>
                      <a:pPr marL="0" lvl="0" indent="0" algn="ctr" rtl="0">
                        <a:spcBef>
                          <a:spcPts val="0"/>
                        </a:spcBef>
                        <a:spcAft>
                          <a:spcPts val="0"/>
                        </a:spcAft>
                        <a:buNone/>
                      </a:pPr>
                      <a:r>
                        <a:rPr lang="en" sz="1100" b="1">
                          <a:latin typeface="Verdana"/>
                          <a:ea typeface="Verdana"/>
                          <a:cs typeface="Verdana"/>
                          <a:sym typeface="Verdana"/>
                        </a:rPr>
                        <a:t>Best performing months</a:t>
                      </a:r>
                      <a:endParaRPr sz="1100" b="1">
                        <a:latin typeface="Verdana"/>
                        <a:ea typeface="Verdana"/>
                        <a:cs typeface="Verdana"/>
                        <a:sym typeface="Verdana"/>
                      </a:endParaRPr>
                    </a:p>
                  </a:txBody>
                  <a:tcPr marL="91425" marR="91425" marT="91425" marB="91425" anchor="ctr"/>
                </a:tc>
                <a:tc>
                  <a:txBody>
                    <a:bodyPr/>
                    <a:lstStyle/>
                    <a:p>
                      <a:pPr marL="0" lvl="0" indent="0" algn="ctr" rtl="0">
                        <a:spcBef>
                          <a:spcPts val="0"/>
                        </a:spcBef>
                        <a:spcAft>
                          <a:spcPts val="0"/>
                        </a:spcAft>
                        <a:buNone/>
                      </a:pPr>
                      <a:r>
                        <a:rPr lang="en" sz="1100" b="1">
                          <a:latin typeface="Verdana"/>
                          <a:ea typeface="Verdana"/>
                          <a:cs typeface="Verdana"/>
                          <a:sym typeface="Verdana"/>
                        </a:rPr>
                        <a:t>Best performing days</a:t>
                      </a:r>
                      <a:endParaRPr sz="1100" b="1">
                        <a:latin typeface="Verdana"/>
                        <a:ea typeface="Verdana"/>
                        <a:cs typeface="Verdana"/>
                        <a:sym typeface="Verdana"/>
                      </a:endParaRPr>
                    </a:p>
                  </a:txBody>
                  <a:tcPr marL="91425" marR="91425" marT="91425" marB="91425" anchor="ctr"/>
                </a:tc>
                <a:extLst>
                  <a:ext uri="{0D108BD9-81ED-4DB2-BD59-A6C34878D82A}">
                    <a16:rowId xmlns:a16="http://schemas.microsoft.com/office/drawing/2014/main" val="10000"/>
                  </a:ext>
                </a:extLst>
              </a:tr>
              <a:tr h="494025">
                <a:tc vMerge="1">
                  <a:txBody>
                    <a:bodyPr/>
                    <a:lstStyle/>
                    <a:p>
                      <a:endParaRPr lang="en-US"/>
                    </a:p>
                  </a:txBody>
                  <a:tcPr/>
                </a:tc>
                <a:tc>
                  <a:txBody>
                    <a:bodyPr/>
                    <a:lstStyle/>
                    <a:p>
                      <a:pPr marL="0" lvl="0" indent="0" algn="ctr" rtl="0">
                        <a:lnSpc>
                          <a:spcPct val="115000"/>
                        </a:lnSpc>
                        <a:spcBef>
                          <a:spcPts val="0"/>
                        </a:spcBef>
                        <a:spcAft>
                          <a:spcPts val="0"/>
                        </a:spcAft>
                        <a:buNone/>
                      </a:pPr>
                      <a:r>
                        <a:rPr lang="en" sz="1150" dirty="0" err="1">
                          <a:solidFill>
                            <a:schemeClr val="dk1"/>
                          </a:solidFill>
                          <a:latin typeface="Verdana"/>
                          <a:ea typeface="Verdana"/>
                          <a:cs typeface="Verdana"/>
                          <a:sym typeface="Verdana"/>
                        </a:rPr>
                        <a:t>poorestMonths</a:t>
                      </a:r>
                      <a:endParaRPr sz="1100" dirty="0">
                        <a:latin typeface="Verdana"/>
                        <a:ea typeface="Verdana"/>
                        <a:cs typeface="Verdana"/>
                        <a:sym typeface="Verdana"/>
                      </a:endParaRPr>
                    </a:p>
                  </a:txBody>
                  <a:tcPr marL="91425" marR="91425" marT="91425" marB="91425" anchor="ctr"/>
                </a:tc>
                <a:tc>
                  <a:txBody>
                    <a:bodyPr/>
                    <a:lstStyle/>
                    <a:p>
                      <a:pPr marL="0" lvl="0" indent="0" algn="ctr" rtl="0">
                        <a:spcBef>
                          <a:spcPts val="0"/>
                        </a:spcBef>
                        <a:spcAft>
                          <a:spcPts val="0"/>
                        </a:spcAft>
                        <a:buNone/>
                      </a:pPr>
                      <a:r>
                        <a:rPr lang="en" sz="1100" dirty="0" err="1">
                          <a:latin typeface="Verdana"/>
                          <a:ea typeface="Verdana"/>
                          <a:cs typeface="Verdana"/>
                          <a:sym typeface="Verdana"/>
                        </a:rPr>
                        <a:t>bestMonths</a:t>
                      </a:r>
                      <a:endParaRPr sz="1100" dirty="0">
                        <a:latin typeface="Verdana"/>
                        <a:ea typeface="Verdana"/>
                        <a:cs typeface="Verdana"/>
                        <a:sym typeface="Verdana"/>
                      </a:endParaRPr>
                    </a:p>
                  </a:txBody>
                  <a:tcPr marL="91425" marR="91425" marT="91425" marB="91425" anchor="ctr"/>
                </a:tc>
                <a:tc>
                  <a:txBody>
                    <a:bodyPr/>
                    <a:lstStyle/>
                    <a:p>
                      <a:pPr marL="0" lvl="0" indent="0" algn="ctr" rtl="0">
                        <a:spcBef>
                          <a:spcPts val="0"/>
                        </a:spcBef>
                        <a:spcAft>
                          <a:spcPts val="0"/>
                        </a:spcAft>
                        <a:buNone/>
                      </a:pPr>
                      <a:r>
                        <a:rPr lang="en" sz="1100">
                          <a:latin typeface="Verdana"/>
                          <a:ea typeface="Verdana"/>
                          <a:cs typeface="Verdana"/>
                          <a:sym typeface="Verdana"/>
                        </a:rPr>
                        <a:t>bestDays</a:t>
                      </a:r>
                      <a:endParaRPr sz="1100" dirty="0">
                        <a:latin typeface="Verdana"/>
                        <a:ea typeface="Verdana"/>
                        <a:cs typeface="Verdana"/>
                        <a:sym typeface="Verdana"/>
                      </a:endParaRPr>
                    </a:p>
                  </a:txBody>
                  <a:tcPr marL="91425" marR="91425" marT="91425" marB="91425" anchor="ctr"/>
                </a:tc>
                <a:extLst>
                  <a:ext uri="{0D108BD9-81ED-4DB2-BD59-A6C34878D82A}">
                    <a16:rowId xmlns:a16="http://schemas.microsoft.com/office/drawing/2014/main" val="10001"/>
                  </a:ext>
                </a:extLst>
              </a:tr>
            </a:tbl>
          </a:graphicData>
        </a:graphic>
      </p:graphicFrame>
      <p:sp>
        <p:nvSpPr>
          <p:cNvPr id="146" name="Google Shape;146;p17"/>
          <p:cNvSpPr txBox="1"/>
          <p:nvPr/>
        </p:nvSpPr>
        <p:spPr>
          <a:xfrm>
            <a:off x="398800" y="3582263"/>
            <a:ext cx="453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rgbClr val="000000"/>
                </a:solidFill>
                <a:latin typeface="Verdana"/>
                <a:ea typeface="Verdana"/>
                <a:cs typeface="Verdana"/>
                <a:sym typeface="Verdana"/>
              </a:rPr>
              <a:t>8. a. What’s the most frequent compliment you get? </a:t>
            </a:r>
            <a:endParaRPr sz="1150" b="1">
              <a:latin typeface="Verdana"/>
              <a:ea typeface="Verdana"/>
              <a:cs typeface="Verdana"/>
              <a:sym typeface="Verdana"/>
            </a:endParaRPr>
          </a:p>
        </p:txBody>
      </p:sp>
      <p:sp>
        <p:nvSpPr>
          <p:cNvPr id="147" name="Google Shape;147;p17"/>
          <p:cNvSpPr txBox="1"/>
          <p:nvPr/>
        </p:nvSpPr>
        <p:spPr>
          <a:xfrm>
            <a:off x="398800" y="4462272"/>
            <a:ext cx="453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rgbClr val="000000"/>
                </a:solidFill>
                <a:latin typeface="Verdana"/>
                <a:ea typeface="Verdana"/>
                <a:cs typeface="Verdana"/>
                <a:sym typeface="Verdana"/>
              </a:rPr>
              <a:t>    b. What’s the most frequent complaint you get? </a:t>
            </a:r>
            <a:endParaRPr sz="1150" b="1">
              <a:latin typeface="Verdana"/>
              <a:ea typeface="Verdana"/>
              <a:cs typeface="Verdana"/>
              <a:sym typeface="Verdana"/>
            </a:endParaRPr>
          </a:p>
        </p:txBody>
      </p:sp>
      <p:sp>
        <p:nvSpPr>
          <p:cNvPr id="148" name="Google Shape;148;p17"/>
          <p:cNvSpPr txBox="1"/>
          <p:nvPr/>
        </p:nvSpPr>
        <p:spPr>
          <a:xfrm>
            <a:off x="694944" y="4700016"/>
            <a:ext cx="8229600" cy="7314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complaint</a:t>
            </a:r>
            <a:endParaRPr sz="1150">
              <a:latin typeface="Verdana"/>
              <a:ea typeface="Verdana"/>
              <a:cs typeface="Verdana"/>
              <a:sym typeface="Verdana"/>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52"/>
        <p:cNvGrpSpPr/>
        <p:nvPr/>
      </p:nvGrpSpPr>
      <p:grpSpPr>
        <a:xfrm>
          <a:off x="0" y="0"/>
          <a:ext cx="0" cy="0"/>
          <a:chOff x="0" y="0"/>
          <a:chExt cx="0" cy="0"/>
        </a:xfrm>
      </p:grpSpPr>
      <p:sp>
        <p:nvSpPr>
          <p:cNvPr id="153" name="Google Shape;153;p18"/>
          <p:cNvSpPr txBox="1"/>
          <p:nvPr/>
        </p:nvSpPr>
        <p:spPr>
          <a:xfrm>
            <a:off x="5779008" y="1883664"/>
            <a:ext cx="706200" cy="72498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1600"/>
              </a:spcAft>
              <a:buNone/>
            </a:pPr>
            <a:r>
              <a:rPr lang="en" sz="4500">
                <a:solidFill>
                  <a:schemeClr val="dk1"/>
                </a:solidFill>
                <a:latin typeface="Verdana"/>
                <a:ea typeface="Verdana"/>
                <a:cs typeface="Verdana"/>
                <a:sym typeface="Verdana"/>
              </a:rPr>
              <a:t>150Id</a:t>
            </a:r>
            <a:endParaRPr sz="4500">
              <a:solidFill>
                <a:schemeClr val="dk1"/>
              </a:solidFill>
              <a:latin typeface="Verdana"/>
              <a:ea typeface="Verdana"/>
              <a:cs typeface="Verdana"/>
              <a:sym typeface="Verdana"/>
            </a:endParaRPr>
          </a:p>
        </p:txBody>
      </p:sp>
      <p:sp>
        <p:nvSpPr>
          <p:cNvPr id="154" name="Google Shape;154;p18"/>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Target Marketing</a:t>
            </a:r>
            <a:endParaRPr/>
          </a:p>
        </p:txBody>
      </p:sp>
      <p:sp>
        <p:nvSpPr>
          <p:cNvPr id="155" name="Google Shape;155;p18"/>
          <p:cNvSpPr txBox="1"/>
          <p:nvPr/>
        </p:nvSpPr>
        <p:spPr>
          <a:xfrm>
            <a:off x="364750" y="1172575"/>
            <a:ext cx="5008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A. What percentage of your "target" consumers are men?</a:t>
            </a:r>
            <a:endParaRPr b="1"/>
          </a:p>
        </p:txBody>
      </p:sp>
      <p:sp>
        <p:nvSpPr>
          <p:cNvPr id="156" name="Google Shape;156;p18"/>
          <p:cNvSpPr txBox="1"/>
          <p:nvPr/>
        </p:nvSpPr>
        <p:spPr>
          <a:xfrm>
            <a:off x="5806900" y="1172575"/>
            <a:ext cx="951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Women?</a:t>
            </a:r>
            <a:endParaRPr b="1"/>
          </a:p>
        </p:txBody>
      </p:sp>
      <p:sp>
        <p:nvSpPr>
          <p:cNvPr id="157" name="Google Shape;157;p18"/>
          <p:cNvSpPr txBox="1"/>
          <p:nvPr/>
        </p:nvSpPr>
        <p:spPr>
          <a:xfrm>
            <a:off x="364750" y="1650325"/>
            <a:ext cx="6280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B. What is the perceived income of your “target” consumer household?</a:t>
            </a:r>
            <a:endParaRPr b="1"/>
          </a:p>
        </p:txBody>
      </p:sp>
      <p:sp>
        <p:nvSpPr>
          <p:cNvPr id="158" name="Google Shape;158;p18"/>
          <p:cNvSpPr txBox="1"/>
          <p:nvPr/>
        </p:nvSpPr>
        <p:spPr>
          <a:xfrm>
            <a:off x="364750" y="2748325"/>
            <a:ext cx="762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C. </a:t>
            </a:r>
            <a:r>
              <a:rPr lang="en" sz="1150">
                <a:solidFill>
                  <a:schemeClr val="dk1"/>
                </a:solidFill>
                <a:latin typeface="Verdana"/>
                <a:ea typeface="Verdana"/>
                <a:cs typeface="Verdana"/>
                <a:sym typeface="Verdana"/>
              </a:rPr>
              <a:t> </a:t>
            </a:r>
            <a:r>
              <a:rPr lang="en" sz="1150" b="1">
                <a:solidFill>
                  <a:schemeClr val="dk1"/>
                </a:solidFill>
                <a:latin typeface="Verdana"/>
                <a:ea typeface="Verdana"/>
                <a:cs typeface="Verdana"/>
                <a:sym typeface="Verdana"/>
              </a:rPr>
              <a:t>How else would you describe your ideal "target" consumer (i.e. geo-targeting, home value, behavior, lifestyle, interests, family structure, etc)?</a:t>
            </a:r>
            <a:endParaRPr b="1"/>
          </a:p>
        </p:txBody>
      </p:sp>
      <p:sp>
        <p:nvSpPr>
          <p:cNvPr id="159" name="Google Shape;159;p18"/>
          <p:cNvSpPr txBox="1"/>
          <p:nvPr/>
        </p:nvSpPr>
        <p:spPr>
          <a:xfrm>
            <a:off x="364750" y="4032250"/>
            <a:ext cx="8458200" cy="526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800"/>
              </a:spcBef>
              <a:spcAft>
                <a:spcPts val="800"/>
              </a:spcAft>
              <a:buNone/>
            </a:pPr>
            <a:r>
              <a:rPr lang="en" sz="1150" b="1">
                <a:solidFill>
                  <a:schemeClr val="dk1"/>
                </a:solidFill>
                <a:latin typeface="Verdana"/>
                <a:ea typeface="Verdana"/>
                <a:cs typeface="Verdana"/>
                <a:sym typeface="Verdana"/>
              </a:rPr>
              <a:t>A lenograph is a picture of consumption by target values expressed by ratings 1-10, 10 the highest.</a:t>
            </a:r>
            <a:endParaRPr sz="1150">
              <a:solidFill>
                <a:schemeClr val="dk1"/>
              </a:solidFill>
              <a:latin typeface="Verdana"/>
              <a:ea typeface="Verdana"/>
              <a:cs typeface="Verdana"/>
              <a:sym typeface="Verdana"/>
            </a:endParaRPr>
          </a:p>
        </p:txBody>
      </p:sp>
      <p:graphicFrame>
        <p:nvGraphicFramePr>
          <p:cNvPr id="160" name="Google Shape;160;p18"/>
          <p:cNvGraphicFramePr/>
          <p:nvPr/>
        </p:nvGraphicFramePr>
        <p:xfrm>
          <a:off x="1201409" y="4562856"/>
          <a:ext cx="6741175" cy="2274981"/>
        </p:xfrm>
        <a:graphic>
          <a:graphicData uri="http://schemas.openxmlformats.org/drawingml/2006/table">
            <a:tbl>
              <a:tblPr>
                <a:noFill/>
                <a:tableStyleId>{779AAC5F-F97D-4193-AF94-6FAFF6667CF6}</a:tableStyleId>
              </a:tblPr>
              <a:tblGrid>
                <a:gridCol w="1130100">
                  <a:extLst>
                    <a:ext uri="{9D8B030D-6E8A-4147-A177-3AD203B41FA5}">
                      <a16:colId xmlns:a16="http://schemas.microsoft.com/office/drawing/2014/main" val="20000"/>
                    </a:ext>
                  </a:extLst>
                </a:gridCol>
                <a:gridCol w="1130100">
                  <a:extLst>
                    <a:ext uri="{9D8B030D-6E8A-4147-A177-3AD203B41FA5}">
                      <a16:colId xmlns:a16="http://schemas.microsoft.com/office/drawing/2014/main" val="20001"/>
                    </a:ext>
                  </a:extLst>
                </a:gridCol>
                <a:gridCol w="1130100">
                  <a:extLst>
                    <a:ext uri="{9D8B030D-6E8A-4147-A177-3AD203B41FA5}">
                      <a16:colId xmlns:a16="http://schemas.microsoft.com/office/drawing/2014/main" val="20002"/>
                    </a:ext>
                  </a:extLst>
                </a:gridCol>
                <a:gridCol w="1130100">
                  <a:extLst>
                    <a:ext uri="{9D8B030D-6E8A-4147-A177-3AD203B41FA5}">
                      <a16:colId xmlns:a16="http://schemas.microsoft.com/office/drawing/2014/main" val="20003"/>
                    </a:ext>
                  </a:extLst>
                </a:gridCol>
                <a:gridCol w="1130100">
                  <a:extLst>
                    <a:ext uri="{9D8B030D-6E8A-4147-A177-3AD203B41FA5}">
                      <a16:colId xmlns:a16="http://schemas.microsoft.com/office/drawing/2014/main" val="20004"/>
                    </a:ext>
                  </a:extLst>
                </a:gridCol>
                <a:gridCol w="1090675">
                  <a:extLst>
                    <a:ext uri="{9D8B030D-6E8A-4147-A177-3AD203B41FA5}">
                      <a16:colId xmlns:a16="http://schemas.microsoft.com/office/drawing/2014/main" val="20005"/>
                    </a:ext>
                  </a:extLst>
                </a:gridCol>
              </a:tblGrid>
              <a:tr h="579425">
                <a:tc>
                  <a:txBody>
                    <a:bodyPr/>
                    <a:lstStyle/>
                    <a:p>
                      <a:pPr marL="0" lvl="0" indent="0" algn="ctr" rtl="0">
                        <a:spcBef>
                          <a:spcPts val="0"/>
                        </a:spcBef>
                        <a:spcAft>
                          <a:spcPts val="0"/>
                        </a:spcAft>
                        <a:buNone/>
                      </a:pPr>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9E9E9E">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gridSpan="2">
                  <a:txBody>
                    <a:bodyPr/>
                    <a:lstStyle/>
                    <a:p>
                      <a:pPr marL="0" lvl="0" indent="0" algn="ctr" rtl="0">
                        <a:spcBef>
                          <a:spcPts val="0"/>
                        </a:spcBef>
                        <a:spcAft>
                          <a:spcPts val="0"/>
                        </a:spcAft>
                        <a:buNone/>
                      </a:pPr>
                      <a:r>
                        <a:rPr lang="en" sz="1900" b="1">
                          <a:latin typeface="Verdana"/>
                          <a:ea typeface="Verdana"/>
                          <a:cs typeface="Verdana"/>
                          <a:sym typeface="Verdana"/>
                        </a:rPr>
                        <a:t>Target 85%</a:t>
                      </a:r>
                      <a:endParaRPr sz="1900"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FFFF00"/>
                    </a:solidFill>
                  </a:tcPr>
                </a:tc>
                <a:tc hMerge="1">
                  <a:txBody>
                    <a:bodyPr/>
                    <a:lstStyle/>
                    <a:p>
                      <a:endParaRPr lang="en-US"/>
                    </a:p>
                  </a:txBody>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r h="579425">
                <a:tc>
                  <a:txBody>
                    <a:bodyPr/>
                    <a:lstStyle/>
                    <a:p>
                      <a:pPr marL="0" lvl="0" indent="0" algn="ctr" rtl="0">
                        <a:spcBef>
                          <a:spcPts val="0"/>
                        </a:spcBef>
                        <a:spcAft>
                          <a:spcPts val="0"/>
                        </a:spcAft>
                        <a:buNone/>
                      </a:pPr>
                      <a:r>
                        <a:rPr lang="en" b="1">
                          <a:latin typeface="Verdana"/>
                          <a:ea typeface="Verdana"/>
                          <a:cs typeface="Verdana"/>
                          <a:sym typeface="Verdana"/>
                        </a:rPr>
                        <a:t>12-18</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19-25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26-35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36-45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46-55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56+</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564600">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{{have12to18}}</a:t>
                      </a:r>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{{have19to25}}</a:t>
                      </a:r>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{{have26to35}}</a:t>
                      </a: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{{have36to45}}</a:t>
                      </a:r>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{{have46to55}}</a:t>
                      </a: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{{have56Plus}}</a:t>
                      </a:r>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{{want19to25}}</a:t>
                      </a:r>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{{want19to25}}</a:t>
                      </a:r>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{{want26to35}}</a:t>
                      </a: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{{want36to45}}</a:t>
                      </a:r>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{{want46to55}}</a:t>
                      </a: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{{want55Plus}}</a:t>
                      </a:r>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161" name="Google Shape;161;p18"/>
          <p:cNvSpPr txBox="1"/>
          <p:nvPr/>
        </p:nvSpPr>
        <p:spPr>
          <a:xfrm>
            <a:off x="364750" y="3390288"/>
            <a:ext cx="7818000" cy="433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1600"/>
              </a:spcAft>
              <a:buClr>
                <a:schemeClr val="dk1"/>
              </a:buClr>
              <a:buSzPts val="1100"/>
              <a:buFont typeface="Arial"/>
              <a:buNone/>
            </a:pPr>
            <a:r>
              <a:rPr lang="en" sz="1100">
                <a:solidFill>
                  <a:schemeClr val="dk1"/>
                </a:solidFill>
                <a:latin typeface="Verdana"/>
                <a:ea typeface="Verdana"/>
                <a:cs typeface="Verdana"/>
                <a:sym typeface="Verdana"/>
              </a:rPr>
              <a:t>describeIdealTargetConsumer </a:t>
            </a:r>
            <a:endParaRPr/>
          </a:p>
        </p:txBody>
      </p:sp>
      <p:sp>
        <p:nvSpPr>
          <p:cNvPr id="162" name="Google Shape;162;p18"/>
          <p:cNvSpPr txBox="1"/>
          <p:nvPr/>
        </p:nvSpPr>
        <p:spPr>
          <a:xfrm>
            <a:off x="1366525"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Under 50K</a:t>
            </a:r>
            <a:endParaRPr sz="1150">
              <a:latin typeface="Verdana"/>
              <a:ea typeface="Verdana"/>
              <a:cs typeface="Verdana"/>
              <a:sym typeface="Verdana"/>
            </a:endParaRPr>
          </a:p>
        </p:txBody>
      </p:sp>
      <p:sp>
        <p:nvSpPr>
          <p:cNvPr id="163" name="Google Shape;163;p18"/>
          <p:cNvSpPr txBox="1"/>
          <p:nvPr/>
        </p:nvSpPr>
        <p:spPr>
          <a:xfrm>
            <a:off x="3097300"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50K-</a:t>
            </a:r>
            <a:endParaRPr sz="1150">
              <a:latin typeface="Verdana"/>
              <a:ea typeface="Verdana"/>
              <a:cs typeface="Verdana"/>
              <a:sym typeface="Verdana"/>
            </a:endParaRPr>
          </a:p>
          <a:p>
            <a:pPr marL="0" lvl="0" indent="0" algn="l" rtl="0">
              <a:spcBef>
                <a:spcPts val="0"/>
              </a:spcBef>
              <a:spcAft>
                <a:spcPts val="0"/>
              </a:spcAft>
              <a:buNone/>
            </a:pPr>
            <a:r>
              <a:rPr lang="en" sz="1150">
                <a:latin typeface="Verdana"/>
                <a:ea typeface="Verdana"/>
                <a:cs typeface="Verdana"/>
                <a:sym typeface="Verdana"/>
              </a:rPr>
              <a:t>99K</a:t>
            </a:r>
            <a:endParaRPr sz="1150">
              <a:latin typeface="Verdana"/>
              <a:ea typeface="Verdana"/>
              <a:cs typeface="Verdana"/>
              <a:sym typeface="Verdana"/>
            </a:endParaRPr>
          </a:p>
        </p:txBody>
      </p:sp>
      <p:sp>
        <p:nvSpPr>
          <p:cNvPr id="164" name="Google Shape;164;p18"/>
          <p:cNvSpPr txBox="1"/>
          <p:nvPr/>
        </p:nvSpPr>
        <p:spPr>
          <a:xfrm>
            <a:off x="4828100"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100K-</a:t>
            </a:r>
            <a:endParaRPr sz="1150">
              <a:latin typeface="Verdana"/>
              <a:ea typeface="Verdana"/>
              <a:cs typeface="Verdana"/>
              <a:sym typeface="Verdana"/>
            </a:endParaRPr>
          </a:p>
          <a:p>
            <a:pPr marL="0" lvl="0" indent="0" algn="l" rtl="0">
              <a:spcBef>
                <a:spcPts val="0"/>
              </a:spcBef>
              <a:spcAft>
                <a:spcPts val="0"/>
              </a:spcAft>
              <a:buNone/>
            </a:pPr>
            <a:r>
              <a:rPr lang="en" sz="1150">
                <a:latin typeface="Verdana"/>
                <a:ea typeface="Verdana"/>
                <a:cs typeface="Verdana"/>
                <a:sym typeface="Verdana"/>
              </a:rPr>
              <a:t>149K</a:t>
            </a:r>
            <a:endParaRPr sz="1150">
              <a:latin typeface="Verdana"/>
              <a:ea typeface="Verdana"/>
              <a:cs typeface="Verdana"/>
              <a:sym typeface="Verdana"/>
            </a:endParaRPr>
          </a:p>
        </p:txBody>
      </p:sp>
      <p:sp>
        <p:nvSpPr>
          <p:cNvPr id="165" name="Google Shape;165;p18"/>
          <p:cNvSpPr txBox="1"/>
          <p:nvPr/>
        </p:nvSpPr>
        <p:spPr>
          <a:xfrm>
            <a:off x="6558875"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150K plus</a:t>
            </a:r>
            <a:endParaRPr sz="1150">
              <a:latin typeface="Verdana"/>
              <a:ea typeface="Verdana"/>
              <a:cs typeface="Verdana"/>
              <a:sym typeface="Verdana"/>
            </a:endParaRPr>
          </a:p>
        </p:txBody>
      </p:sp>
      <p:sp>
        <p:nvSpPr>
          <p:cNvPr id="166" name="Google Shape;166;p18"/>
          <p:cNvSpPr txBox="1"/>
          <p:nvPr/>
        </p:nvSpPr>
        <p:spPr>
          <a:xfrm>
            <a:off x="5284900" y="1206625"/>
            <a:ext cx="5220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Clr>
                <a:schemeClr val="dk1"/>
              </a:buClr>
              <a:buSzPts val="1100"/>
              <a:buFont typeface="Arial"/>
              <a:buNone/>
            </a:pPr>
            <a:r>
              <a:rPr lang="en" sz="1100">
                <a:solidFill>
                  <a:schemeClr val="dk1"/>
                </a:solidFill>
                <a:latin typeface="Verdana"/>
                <a:ea typeface="Verdana"/>
                <a:cs typeface="Verdana"/>
                <a:sym typeface="Verdana"/>
              </a:rPr>
              <a:t>pctMen</a:t>
            </a:r>
            <a:endParaRPr/>
          </a:p>
        </p:txBody>
      </p:sp>
      <p:sp>
        <p:nvSpPr>
          <p:cNvPr id="167" name="Google Shape;167;p18"/>
          <p:cNvSpPr txBox="1"/>
          <p:nvPr/>
        </p:nvSpPr>
        <p:spPr>
          <a:xfrm>
            <a:off x="6707075" y="1206625"/>
            <a:ext cx="5220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None/>
            </a:pPr>
            <a:r>
              <a:rPr lang="en" sz="1100">
                <a:solidFill>
                  <a:schemeClr val="dk1"/>
                </a:solidFill>
                <a:latin typeface="Verdana"/>
                <a:ea typeface="Verdana"/>
                <a:cs typeface="Verdana"/>
                <a:sym typeface="Verdana"/>
              </a:rPr>
              <a:t>pctWomen</a:t>
            </a:r>
            <a:endParaRPr/>
          </a:p>
        </p:txBody>
      </p:sp>
      <p:sp>
        <p:nvSpPr>
          <p:cNvPr id="168" name="Google Shape;168;p18"/>
          <p:cNvSpPr txBox="1"/>
          <p:nvPr/>
        </p:nvSpPr>
        <p:spPr>
          <a:xfrm>
            <a:off x="2286000" y="1883664"/>
            <a:ext cx="706200" cy="80463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1600"/>
              </a:spcAft>
              <a:buNone/>
            </a:pPr>
            <a:r>
              <a:rPr lang="en" sz="4500">
                <a:solidFill>
                  <a:schemeClr val="dk1"/>
                </a:solidFill>
                <a:latin typeface="Verdana"/>
                <a:ea typeface="Verdana"/>
                <a:cs typeface="Verdana"/>
                <a:sym typeface="Verdana"/>
              </a:rPr>
              <a:t>5099Id</a:t>
            </a:r>
            <a:endParaRPr sz="4500">
              <a:solidFill>
                <a:schemeClr val="dk1"/>
              </a:solidFill>
              <a:latin typeface="Verdana"/>
              <a:ea typeface="Verdana"/>
              <a:cs typeface="Verdana"/>
              <a:sym typeface="Verdana"/>
            </a:endParaRPr>
          </a:p>
        </p:txBody>
      </p:sp>
      <p:sp>
        <p:nvSpPr>
          <p:cNvPr id="169" name="Google Shape;169;p18"/>
          <p:cNvSpPr txBox="1"/>
          <p:nvPr/>
        </p:nvSpPr>
        <p:spPr>
          <a:xfrm>
            <a:off x="4023360" y="1883664"/>
            <a:ext cx="704100" cy="96396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1600"/>
              </a:spcAft>
              <a:buNone/>
            </a:pPr>
            <a:r>
              <a:rPr lang="en" sz="4500">
                <a:solidFill>
                  <a:schemeClr val="dk1"/>
                </a:solidFill>
                <a:latin typeface="Verdana"/>
                <a:ea typeface="Verdana"/>
                <a:cs typeface="Verdana"/>
                <a:sym typeface="Verdana"/>
              </a:rPr>
              <a:t>100149Id</a:t>
            </a:r>
            <a:endParaRPr sz="4500">
              <a:latin typeface="Verdana"/>
              <a:ea typeface="Verdana"/>
              <a:cs typeface="Verdana"/>
              <a:sym typeface="Verdana"/>
            </a:endParaRPr>
          </a:p>
        </p:txBody>
      </p:sp>
      <p:sp>
        <p:nvSpPr>
          <p:cNvPr id="170" name="Google Shape;170;p18"/>
          <p:cNvSpPr txBox="1"/>
          <p:nvPr/>
        </p:nvSpPr>
        <p:spPr>
          <a:xfrm>
            <a:off x="557784" y="1883664"/>
            <a:ext cx="704100" cy="104361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1600"/>
              </a:spcAft>
              <a:buClr>
                <a:schemeClr val="dk1"/>
              </a:buClr>
              <a:buSzPts val="1100"/>
              <a:buFont typeface="Arial"/>
              <a:buNone/>
            </a:pPr>
            <a:r>
              <a:rPr lang="en" sz="4500">
                <a:solidFill>
                  <a:schemeClr val="dk1"/>
                </a:solidFill>
                <a:latin typeface="Verdana"/>
                <a:ea typeface="Verdana"/>
                <a:cs typeface="Verdana"/>
                <a:sym typeface="Verdana"/>
              </a:rPr>
              <a:t>under50Id</a:t>
            </a:r>
            <a:endParaRPr sz="4500">
              <a:latin typeface="Verdana"/>
              <a:ea typeface="Verdana"/>
              <a:cs typeface="Verdana"/>
              <a:sym typeface="Verdana"/>
            </a:endParaRPr>
          </a:p>
        </p:txBody>
      </p:sp>
      <p:sp>
        <p:nvSpPr>
          <p:cNvPr id="171" name="Google Shape;171;p18"/>
          <p:cNvSpPr/>
          <p:nvPr/>
        </p:nvSpPr>
        <p:spPr>
          <a:xfrm rot="5400000">
            <a:off x="2633172"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 name="Google Shape;172;p18"/>
          <p:cNvSpPr/>
          <p:nvPr/>
        </p:nvSpPr>
        <p:spPr>
          <a:xfrm rot="-5400000" flipH="1">
            <a:off x="5986906"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 name="Google Shape;173;p18"/>
          <p:cNvSpPr txBox="1"/>
          <p:nvPr/>
        </p:nvSpPr>
        <p:spPr>
          <a:xfrm>
            <a:off x="290900" y="5737428"/>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HAVE</a:t>
            </a:r>
            <a:endParaRPr b="1">
              <a:latin typeface="Verdana"/>
              <a:ea typeface="Verdana"/>
              <a:cs typeface="Verdana"/>
              <a:sym typeface="Verdana"/>
            </a:endParaRPr>
          </a:p>
        </p:txBody>
      </p:sp>
      <p:sp>
        <p:nvSpPr>
          <p:cNvPr id="174" name="Google Shape;174;p18"/>
          <p:cNvSpPr txBox="1"/>
          <p:nvPr/>
        </p:nvSpPr>
        <p:spPr>
          <a:xfrm>
            <a:off x="290900" y="6286925"/>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WANT</a:t>
            </a:r>
            <a:endParaRPr b="1">
              <a:latin typeface="Verdana"/>
              <a:ea typeface="Verdana"/>
              <a:cs typeface="Verdana"/>
              <a:sym typeface="Verdana"/>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78"/>
        <p:cNvGrpSpPr/>
        <p:nvPr/>
      </p:nvGrpSpPr>
      <p:grpSpPr>
        <a:xfrm>
          <a:off x="0" y="0"/>
          <a:ext cx="0" cy="0"/>
          <a:chOff x="0" y="0"/>
          <a:chExt cx="0" cy="0"/>
        </a:xfrm>
      </p:grpSpPr>
      <p:sp>
        <p:nvSpPr>
          <p:cNvPr id="179" name="Google Shape;179;p19"/>
          <p:cNvSpPr txBox="1"/>
          <p:nvPr/>
        </p:nvSpPr>
        <p:spPr>
          <a:xfrm>
            <a:off x="4023360" y="1883664"/>
            <a:ext cx="704100" cy="96396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1600"/>
              </a:spcAft>
              <a:buNone/>
            </a:pPr>
            <a:r>
              <a:rPr lang="en" sz="4500">
                <a:solidFill>
                  <a:schemeClr val="dk1"/>
                </a:solidFill>
                <a:latin typeface="Verdana"/>
                <a:ea typeface="Verdana"/>
                <a:cs typeface="Verdana"/>
                <a:sym typeface="Verdana"/>
              </a:rPr>
              <a:t>100149Id</a:t>
            </a:r>
            <a:endParaRPr sz="4500">
              <a:latin typeface="Verdana"/>
              <a:ea typeface="Verdana"/>
              <a:cs typeface="Verdana"/>
              <a:sym typeface="Verdana"/>
            </a:endParaRPr>
          </a:p>
        </p:txBody>
      </p:sp>
      <p:sp>
        <p:nvSpPr>
          <p:cNvPr id="180" name="Google Shape;180;p19"/>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Target Marketing</a:t>
            </a:r>
            <a:endParaRPr/>
          </a:p>
        </p:txBody>
      </p:sp>
      <p:sp>
        <p:nvSpPr>
          <p:cNvPr id="181" name="Google Shape;181;p19"/>
          <p:cNvSpPr txBox="1"/>
          <p:nvPr/>
        </p:nvSpPr>
        <p:spPr>
          <a:xfrm>
            <a:off x="364750" y="1172575"/>
            <a:ext cx="5008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A. What percentage of your "target" consumers are men?</a:t>
            </a:r>
            <a:endParaRPr b="1"/>
          </a:p>
        </p:txBody>
      </p:sp>
      <p:sp>
        <p:nvSpPr>
          <p:cNvPr id="182" name="Google Shape;182;p19"/>
          <p:cNvSpPr txBox="1"/>
          <p:nvPr/>
        </p:nvSpPr>
        <p:spPr>
          <a:xfrm>
            <a:off x="5806900" y="1172575"/>
            <a:ext cx="951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Women?</a:t>
            </a:r>
            <a:endParaRPr b="1"/>
          </a:p>
        </p:txBody>
      </p:sp>
      <p:sp>
        <p:nvSpPr>
          <p:cNvPr id="183" name="Google Shape;183;p19"/>
          <p:cNvSpPr txBox="1"/>
          <p:nvPr/>
        </p:nvSpPr>
        <p:spPr>
          <a:xfrm>
            <a:off x="364750" y="1650325"/>
            <a:ext cx="6280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B. What is the perceived income of your “target” consumer household?</a:t>
            </a:r>
            <a:endParaRPr b="1"/>
          </a:p>
        </p:txBody>
      </p:sp>
      <p:sp>
        <p:nvSpPr>
          <p:cNvPr id="184" name="Google Shape;184;p19"/>
          <p:cNvSpPr txBox="1"/>
          <p:nvPr/>
        </p:nvSpPr>
        <p:spPr>
          <a:xfrm>
            <a:off x="364750" y="2748325"/>
            <a:ext cx="762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C. </a:t>
            </a:r>
            <a:r>
              <a:rPr lang="en" sz="1150">
                <a:solidFill>
                  <a:schemeClr val="dk1"/>
                </a:solidFill>
                <a:latin typeface="Verdana"/>
                <a:ea typeface="Verdana"/>
                <a:cs typeface="Verdana"/>
                <a:sym typeface="Verdana"/>
              </a:rPr>
              <a:t> </a:t>
            </a:r>
            <a:r>
              <a:rPr lang="en" sz="1150" b="1">
                <a:solidFill>
                  <a:schemeClr val="dk1"/>
                </a:solidFill>
                <a:latin typeface="Verdana"/>
                <a:ea typeface="Verdana"/>
                <a:cs typeface="Verdana"/>
                <a:sym typeface="Verdana"/>
              </a:rPr>
              <a:t>How else would you describe your ideal "target" consumer (i.e. geo-targeting, home value, behavior, lifestyle, interests, family structure, etc)?</a:t>
            </a:r>
            <a:endParaRPr b="1"/>
          </a:p>
        </p:txBody>
      </p:sp>
      <p:sp>
        <p:nvSpPr>
          <p:cNvPr id="185" name="Google Shape;185;p19"/>
          <p:cNvSpPr txBox="1"/>
          <p:nvPr/>
        </p:nvSpPr>
        <p:spPr>
          <a:xfrm>
            <a:off x="364750" y="4032238"/>
            <a:ext cx="8458200" cy="526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800"/>
              </a:spcBef>
              <a:spcAft>
                <a:spcPts val="800"/>
              </a:spcAft>
              <a:buNone/>
            </a:pPr>
            <a:r>
              <a:rPr lang="en" sz="1150" b="1">
                <a:solidFill>
                  <a:schemeClr val="dk1"/>
                </a:solidFill>
                <a:latin typeface="Verdana"/>
                <a:ea typeface="Verdana"/>
                <a:cs typeface="Verdana"/>
                <a:sym typeface="Verdana"/>
              </a:rPr>
              <a:t>A lenograph is a picture of consumption by target values expressed by ratings 1-10, 10 the highest.</a:t>
            </a:r>
            <a:endParaRPr sz="1150">
              <a:solidFill>
                <a:schemeClr val="dk1"/>
              </a:solidFill>
              <a:latin typeface="Verdana"/>
              <a:ea typeface="Verdana"/>
              <a:cs typeface="Verdana"/>
              <a:sym typeface="Verdana"/>
            </a:endParaRPr>
          </a:p>
        </p:txBody>
      </p:sp>
      <p:graphicFrame>
        <p:nvGraphicFramePr>
          <p:cNvPr id="186" name="Google Shape;186;p19"/>
          <p:cNvGraphicFramePr/>
          <p:nvPr/>
        </p:nvGraphicFramePr>
        <p:xfrm>
          <a:off x="1203108" y="4562856"/>
          <a:ext cx="6741175" cy="2261912"/>
        </p:xfrm>
        <a:graphic>
          <a:graphicData uri="http://schemas.openxmlformats.org/drawingml/2006/table">
            <a:tbl>
              <a:tblPr>
                <a:noFill/>
                <a:tableStyleId>{779AAC5F-F97D-4193-AF94-6FAFF6667CF6}</a:tableStyleId>
              </a:tblPr>
              <a:tblGrid>
                <a:gridCol w="1130100">
                  <a:extLst>
                    <a:ext uri="{9D8B030D-6E8A-4147-A177-3AD203B41FA5}">
                      <a16:colId xmlns:a16="http://schemas.microsoft.com/office/drawing/2014/main" val="20000"/>
                    </a:ext>
                  </a:extLst>
                </a:gridCol>
                <a:gridCol w="1130100">
                  <a:extLst>
                    <a:ext uri="{9D8B030D-6E8A-4147-A177-3AD203B41FA5}">
                      <a16:colId xmlns:a16="http://schemas.microsoft.com/office/drawing/2014/main" val="20001"/>
                    </a:ext>
                  </a:extLst>
                </a:gridCol>
                <a:gridCol w="1130100">
                  <a:extLst>
                    <a:ext uri="{9D8B030D-6E8A-4147-A177-3AD203B41FA5}">
                      <a16:colId xmlns:a16="http://schemas.microsoft.com/office/drawing/2014/main" val="20002"/>
                    </a:ext>
                  </a:extLst>
                </a:gridCol>
                <a:gridCol w="1130100">
                  <a:extLst>
                    <a:ext uri="{9D8B030D-6E8A-4147-A177-3AD203B41FA5}">
                      <a16:colId xmlns:a16="http://schemas.microsoft.com/office/drawing/2014/main" val="20003"/>
                    </a:ext>
                  </a:extLst>
                </a:gridCol>
                <a:gridCol w="1130100">
                  <a:extLst>
                    <a:ext uri="{9D8B030D-6E8A-4147-A177-3AD203B41FA5}">
                      <a16:colId xmlns:a16="http://schemas.microsoft.com/office/drawing/2014/main" val="20004"/>
                    </a:ext>
                  </a:extLst>
                </a:gridCol>
                <a:gridCol w="1090675">
                  <a:extLst>
                    <a:ext uri="{9D8B030D-6E8A-4147-A177-3AD203B41FA5}">
                      <a16:colId xmlns:a16="http://schemas.microsoft.com/office/drawing/2014/main" val="20005"/>
                    </a:ext>
                  </a:extLst>
                </a:gridCol>
              </a:tblGrid>
              <a:tr h="579425">
                <a:tc>
                  <a:txBody>
                    <a:bodyPr/>
                    <a:lstStyle/>
                    <a:p>
                      <a:pPr marL="0" lvl="0" indent="0" algn="ctr" rtl="0">
                        <a:spcBef>
                          <a:spcPts val="0"/>
                        </a:spcBef>
                        <a:spcAft>
                          <a:spcPts val="0"/>
                        </a:spcAft>
                        <a:buNone/>
                      </a:pPr>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sz="1900" b="1">
                        <a:latin typeface="Verdana"/>
                        <a:ea typeface="Verdana"/>
                        <a:cs typeface="Verdana"/>
                        <a:sym typeface="Verdana"/>
                      </a:endParaRPr>
                    </a:p>
                  </a:txBody>
                  <a:tcPr marL="91425" marR="91425" marT="91425" marB="91425" anchor="ctr">
                    <a:lnL w="9525" cap="flat" cmpd="sng">
                      <a:solidFill>
                        <a:srgbClr val="000000">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gridSpan="2">
                  <a:txBody>
                    <a:bodyPr/>
                    <a:lstStyle/>
                    <a:p>
                      <a:pPr marL="0" lvl="0" indent="0" algn="ctr" rtl="0">
                        <a:spcBef>
                          <a:spcPts val="0"/>
                        </a:spcBef>
                        <a:spcAft>
                          <a:spcPts val="0"/>
                        </a:spcAft>
                        <a:buNone/>
                      </a:pPr>
                      <a:r>
                        <a:rPr lang="en" sz="1900" b="1">
                          <a:latin typeface="Verdana"/>
                          <a:ea typeface="Verdana"/>
                          <a:cs typeface="Verdana"/>
                          <a:sym typeface="Verdana"/>
                        </a:rPr>
                        <a:t>Target 85%</a:t>
                      </a:r>
                      <a:endParaRPr sz="1900"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FFFF00"/>
                    </a:solidFill>
                  </a:tcPr>
                </a:tc>
                <a:tc hMerge="1">
                  <a:txBody>
                    <a:bodyPr/>
                    <a:lstStyle/>
                    <a:p>
                      <a:endParaRPr lang="en-US"/>
                    </a:p>
                  </a:txBody>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r h="579425">
                <a:tc>
                  <a:txBody>
                    <a:bodyPr/>
                    <a:lstStyle/>
                    <a:p>
                      <a:pPr marL="0" lvl="0" indent="0" algn="ctr" rtl="0">
                        <a:spcBef>
                          <a:spcPts val="0"/>
                        </a:spcBef>
                        <a:spcAft>
                          <a:spcPts val="0"/>
                        </a:spcAft>
                        <a:buNone/>
                      </a:pPr>
                      <a:r>
                        <a:rPr lang="en" b="1">
                          <a:latin typeface="Verdana"/>
                          <a:ea typeface="Verdana"/>
                          <a:cs typeface="Verdana"/>
                          <a:sym typeface="Verdana"/>
                        </a:rPr>
                        <a:t>12-18</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19-25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26-35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36-45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46-55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56+</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{{have12to18}}</a:t>
                      </a:r>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{{have19to25}}</a:t>
                      </a:r>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a:solidFill>
                            <a:schemeClr val="dk1"/>
                          </a:solidFill>
                          <a:latin typeface="Verdana"/>
                          <a:ea typeface="Verdana"/>
                          <a:cs typeface="Verdana"/>
                          <a:sym typeface="Verdana"/>
                        </a:rPr>
                        <a:t>{{have26to35}}</a:t>
                      </a:r>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{{have36to45}}</a:t>
                      </a: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{{have46to55}}</a:t>
                      </a:r>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{{have56Plus}}</a:t>
                      </a: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{{want19to25}}</a:t>
                      </a:r>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{{want19to25}}</a:t>
                      </a:r>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a:solidFill>
                            <a:schemeClr val="dk1"/>
                          </a:solidFill>
                          <a:latin typeface="Verdana"/>
                          <a:ea typeface="Verdana"/>
                          <a:cs typeface="Verdana"/>
                          <a:sym typeface="Verdana"/>
                        </a:rPr>
                        <a:t>{{want26to35}}</a:t>
                      </a:r>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{{want36to45}}</a:t>
                      </a: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{{want46to55}}</a:t>
                      </a:r>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{{want55Plus}}</a:t>
                      </a: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187" name="Google Shape;187;p19"/>
          <p:cNvSpPr txBox="1"/>
          <p:nvPr/>
        </p:nvSpPr>
        <p:spPr>
          <a:xfrm>
            <a:off x="1366525"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Under 50K</a:t>
            </a:r>
            <a:endParaRPr sz="1150">
              <a:latin typeface="Verdana"/>
              <a:ea typeface="Verdana"/>
              <a:cs typeface="Verdana"/>
              <a:sym typeface="Verdana"/>
            </a:endParaRPr>
          </a:p>
        </p:txBody>
      </p:sp>
      <p:sp>
        <p:nvSpPr>
          <p:cNvPr id="188" name="Google Shape;188;p19"/>
          <p:cNvSpPr txBox="1"/>
          <p:nvPr/>
        </p:nvSpPr>
        <p:spPr>
          <a:xfrm>
            <a:off x="3097300"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50K-</a:t>
            </a:r>
            <a:endParaRPr sz="1150">
              <a:latin typeface="Verdana"/>
              <a:ea typeface="Verdana"/>
              <a:cs typeface="Verdana"/>
              <a:sym typeface="Verdana"/>
            </a:endParaRPr>
          </a:p>
          <a:p>
            <a:pPr marL="0" lvl="0" indent="0" algn="l" rtl="0">
              <a:spcBef>
                <a:spcPts val="0"/>
              </a:spcBef>
              <a:spcAft>
                <a:spcPts val="0"/>
              </a:spcAft>
              <a:buNone/>
            </a:pPr>
            <a:r>
              <a:rPr lang="en" sz="1150">
                <a:latin typeface="Verdana"/>
                <a:ea typeface="Verdana"/>
                <a:cs typeface="Verdana"/>
                <a:sym typeface="Verdana"/>
              </a:rPr>
              <a:t>99K</a:t>
            </a:r>
            <a:endParaRPr sz="1150">
              <a:latin typeface="Verdana"/>
              <a:ea typeface="Verdana"/>
              <a:cs typeface="Verdana"/>
              <a:sym typeface="Verdana"/>
            </a:endParaRPr>
          </a:p>
        </p:txBody>
      </p:sp>
      <p:sp>
        <p:nvSpPr>
          <p:cNvPr id="189" name="Google Shape;189;p19"/>
          <p:cNvSpPr txBox="1"/>
          <p:nvPr/>
        </p:nvSpPr>
        <p:spPr>
          <a:xfrm>
            <a:off x="4828100"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100K-</a:t>
            </a:r>
            <a:endParaRPr sz="1150">
              <a:latin typeface="Verdana"/>
              <a:ea typeface="Verdana"/>
              <a:cs typeface="Verdana"/>
              <a:sym typeface="Verdana"/>
            </a:endParaRPr>
          </a:p>
          <a:p>
            <a:pPr marL="0" lvl="0" indent="0" algn="l" rtl="0">
              <a:spcBef>
                <a:spcPts val="0"/>
              </a:spcBef>
              <a:spcAft>
                <a:spcPts val="0"/>
              </a:spcAft>
              <a:buNone/>
            </a:pPr>
            <a:r>
              <a:rPr lang="en" sz="1150">
                <a:latin typeface="Verdana"/>
                <a:ea typeface="Verdana"/>
                <a:cs typeface="Verdana"/>
                <a:sym typeface="Verdana"/>
              </a:rPr>
              <a:t>149K</a:t>
            </a:r>
            <a:endParaRPr sz="1150">
              <a:latin typeface="Verdana"/>
              <a:ea typeface="Verdana"/>
              <a:cs typeface="Verdana"/>
              <a:sym typeface="Verdana"/>
            </a:endParaRPr>
          </a:p>
        </p:txBody>
      </p:sp>
      <p:sp>
        <p:nvSpPr>
          <p:cNvPr id="190" name="Google Shape;190;p19"/>
          <p:cNvSpPr txBox="1"/>
          <p:nvPr/>
        </p:nvSpPr>
        <p:spPr>
          <a:xfrm>
            <a:off x="6558875"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150K plus</a:t>
            </a:r>
            <a:endParaRPr sz="1150">
              <a:latin typeface="Verdana"/>
              <a:ea typeface="Verdana"/>
              <a:cs typeface="Verdana"/>
              <a:sym typeface="Verdana"/>
            </a:endParaRPr>
          </a:p>
        </p:txBody>
      </p:sp>
      <p:sp>
        <p:nvSpPr>
          <p:cNvPr id="191" name="Google Shape;191;p19"/>
          <p:cNvSpPr txBox="1"/>
          <p:nvPr/>
        </p:nvSpPr>
        <p:spPr>
          <a:xfrm>
            <a:off x="364750" y="3390288"/>
            <a:ext cx="7818000" cy="433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1600"/>
              </a:spcAft>
              <a:buNone/>
            </a:pPr>
            <a:r>
              <a:rPr lang="en" sz="1100">
                <a:solidFill>
                  <a:schemeClr val="dk1"/>
                </a:solidFill>
                <a:latin typeface="Verdana"/>
                <a:ea typeface="Verdana"/>
                <a:cs typeface="Verdana"/>
                <a:sym typeface="Verdana"/>
              </a:rPr>
              <a:t>describeIdealTargetConsumer </a:t>
            </a:r>
            <a:endParaRPr/>
          </a:p>
        </p:txBody>
      </p:sp>
      <p:sp>
        <p:nvSpPr>
          <p:cNvPr id="192" name="Google Shape;192;p19"/>
          <p:cNvSpPr txBox="1"/>
          <p:nvPr/>
        </p:nvSpPr>
        <p:spPr>
          <a:xfrm>
            <a:off x="5284900" y="1206625"/>
            <a:ext cx="5220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Clr>
                <a:schemeClr val="dk1"/>
              </a:buClr>
              <a:buSzPts val="1100"/>
              <a:buFont typeface="Arial"/>
              <a:buNone/>
            </a:pPr>
            <a:r>
              <a:rPr lang="en" sz="1100">
                <a:solidFill>
                  <a:schemeClr val="dk1"/>
                </a:solidFill>
                <a:latin typeface="Verdana"/>
                <a:ea typeface="Verdana"/>
                <a:cs typeface="Verdana"/>
                <a:sym typeface="Verdana"/>
              </a:rPr>
              <a:t>pctMen</a:t>
            </a:r>
            <a:endParaRPr/>
          </a:p>
        </p:txBody>
      </p:sp>
      <p:sp>
        <p:nvSpPr>
          <p:cNvPr id="193" name="Google Shape;193;p19"/>
          <p:cNvSpPr txBox="1"/>
          <p:nvPr/>
        </p:nvSpPr>
        <p:spPr>
          <a:xfrm>
            <a:off x="6707075" y="1206625"/>
            <a:ext cx="5220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None/>
            </a:pPr>
            <a:r>
              <a:rPr lang="en" sz="1100">
                <a:solidFill>
                  <a:schemeClr val="dk1"/>
                </a:solidFill>
                <a:latin typeface="Verdana"/>
                <a:ea typeface="Verdana"/>
                <a:cs typeface="Verdana"/>
                <a:sym typeface="Verdana"/>
              </a:rPr>
              <a:t>pctWomen</a:t>
            </a:r>
            <a:endParaRPr/>
          </a:p>
        </p:txBody>
      </p:sp>
      <p:sp>
        <p:nvSpPr>
          <p:cNvPr id="194" name="Google Shape;194;p19"/>
          <p:cNvSpPr txBox="1"/>
          <p:nvPr/>
        </p:nvSpPr>
        <p:spPr>
          <a:xfrm>
            <a:off x="2286000" y="1883664"/>
            <a:ext cx="706200" cy="80463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1600"/>
              </a:spcAft>
              <a:buNone/>
            </a:pPr>
            <a:r>
              <a:rPr lang="en" sz="4500">
                <a:solidFill>
                  <a:schemeClr val="dk1"/>
                </a:solidFill>
                <a:latin typeface="Verdana"/>
                <a:ea typeface="Verdana"/>
                <a:cs typeface="Verdana"/>
                <a:sym typeface="Verdana"/>
              </a:rPr>
              <a:t>5099Id</a:t>
            </a:r>
            <a:endParaRPr sz="4500">
              <a:solidFill>
                <a:schemeClr val="dk1"/>
              </a:solidFill>
              <a:latin typeface="Verdana"/>
              <a:ea typeface="Verdana"/>
              <a:cs typeface="Verdana"/>
              <a:sym typeface="Verdana"/>
            </a:endParaRPr>
          </a:p>
        </p:txBody>
      </p:sp>
      <p:sp>
        <p:nvSpPr>
          <p:cNvPr id="195" name="Google Shape;195;p19"/>
          <p:cNvSpPr txBox="1"/>
          <p:nvPr/>
        </p:nvSpPr>
        <p:spPr>
          <a:xfrm>
            <a:off x="5779008" y="1883664"/>
            <a:ext cx="706200" cy="72498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1600"/>
              </a:spcAft>
              <a:buNone/>
            </a:pPr>
            <a:r>
              <a:rPr lang="en" sz="4500">
                <a:solidFill>
                  <a:schemeClr val="dk1"/>
                </a:solidFill>
                <a:latin typeface="Verdana"/>
                <a:ea typeface="Verdana"/>
                <a:cs typeface="Verdana"/>
                <a:sym typeface="Verdana"/>
              </a:rPr>
              <a:t>150Id</a:t>
            </a:r>
            <a:endParaRPr sz="4500">
              <a:solidFill>
                <a:schemeClr val="dk1"/>
              </a:solidFill>
              <a:latin typeface="Verdana"/>
              <a:ea typeface="Verdana"/>
              <a:cs typeface="Verdana"/>
              <a:sym typeface="Verdana"/>
            </a:endParaRPr>
          </a:p>
        </p:txBody>
      </p:sp>
      <p:sp>
        <p:nvSpPr>
          <p:cNvPr id="196" name="Google Shape;196;p19"/>
          <p:cNvSpPr txBox="1"/>
          <p:nvPr/>
        </p:nvSpPr>
        <p:spPr>
          <a:xfrm>
            <a:off x="557784" y="1883664"/>
            <a:ext cx="704100" cy="104361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1600"/>
              </a:spcAft>
              <a:buClr>
                <a:schemeClr val="dk1"/>
              </a:buClr>
              <a:buSzPts val="1100"/>
              <a:buFont typeface="Arial"/>
              <a:buNone/>
            </a:pPr>
            <a:r>
              <a:rPr lang="en" sz="4500">
                <a:solidFill>
                  <a:schemeClr val="dk1"/>
                </a:solidFill>
                <a:latin typeface="Verdana"/>
                <a:ea typeface="Verdana"/>
                <a:cs typeface="Verdana"/>
                <a:sym typeface="Verdana"/>
              </a:rPr>
              <a:t>under50Id</a:t>
            </a:r>
            <a:endParaRPr sz="4500">
              <a:latin typeface="Verdana"/>
              <a:ea typeface="Verdana"/>
              <a:cs typeface="Verdana"/>
              <a:sym typeface="Verdana"/>
            </a:endParaRPr>
          </a:p>
        </p:txBody>
      </p:sp>
      <p:sp>
        <p:nvSpPr>
          <p:cNvPr id="197" name="Google Shape;197;p19"/>
          <p:cNvSpPr/>
          <p:nvPr/>
        </p:nvSpPr>
        <p:spPr>
          <a:xfrm rot="5400000">
            <a:off x="3767028"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 name="Google Shape;198;p19"/>
          <p:cNvSpPr/>
          <p:nvPr/>
        </p:nvSpPr>
        <p:spPr>
          <a:xfrm rot="-5400000" flipH="1">
            <a:off x="7120762"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 name="Google Shape;199;p19"/>
          <p:cNvSpPr txBox="1"/>
          <p:nvPr/>
        </p:nvSpPr>
        <p:spPr>
          <a:xfrm>
            <a:off x="290900" y="5737428"/>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HAVE</a:t>
            </a:r>
            <a:endParaRPr b="1">
              <a:latin typeface="Verdana"/>
              <a:ea typeface="Verdana"/>
              <a:cs typeface="Verdana"/>
              <a:sym typeface="Verdana"/>
            </a:endParaRPr>
          </a:p>
        </p:txBody>
      </p:sp>
      <p:sp>
        <p:nvSpPr>
          <p:cNvPr id="200" name="Google Shape;200;p19"/>
          <p:cNvSpPr txBox="1"/>
          <p:nvPr/>
        </p:nvSpPr>
        <p:spPr>
          <a:xfrm>
            <a:off x="290900" y="6286925"/>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WANT</a:t>
            </a:r>
            <a:endParaRPr b="1">
              <a:latin typeface="Verdana"/>
              <a:ea typeface="Verdana"/>
              <a:cs typeface="Verdana"/>
              <a:sym typeface="Verdana"/>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204"/>
        <p:cNvGrpSpPr/>
        <p:nvPr/>
      </p:nvGrpSpPr>
      <p:grpSpPr>
        <a:xfrm>
          <a:off x="0" y="0"/>
          <a:ext cx="0" cy="0"/>
          <a:chOff x="0" y="0"/>
          <a:chExt cx="0" cy="0"/>
        </a:xfrm>
      </p:grpSpPr>
      <p:graphicFrame>
        <p:nvGraphicFramePr>
          <p:cNvPr id="205" name="Google Shape;205;p20"/>
          <p:cNvGraphicFramePr/>
          <p:nvPr/>
        </p:nvGraphicFramePr>
        <p:xfrm>
          <a:off x="1203108" y="4562856"/>
          <a:ext cx="6741175" cy="2261912"/>
        </p:xfrm>
        <a:graphic>
          <a:graphicData uri="http://schemas.openxmlformats.org/drawingml/2006/table">
            <a:tbl>
              <a:tblPr>
                <a:noFill/>
                <a:tableStyleId>{779AAC5F-F97D-4193-AF94-6FAFF6667CF6}</a:tableStyleId>
              </a:tblPr>
              <a:tblGrid>
                <a:gridCol w="1130100">
                  <a:extLst>
                    <a:ext uri="{9D8B030D-6E8A-4147-A177-3AD203B41FA5}">
                      <a16:colId xmlns:a16="http://schemas.microsoft.com/office/drawing/2014/main" val="20000"/>
                    </a:ext>
                  </a:extLst>
                </a:gridCol>
                <a:gridCol w="1130100">
                  <a:extLst>
                    <a:ext uri="{9D8B030D-6E8A-4147-A177-3AD203B41FA5}">
                      <a16:colId xmlns:a16="http://schemas.microsoft.com/office/drawing/2014/main" val="20001"/>
                    </a:ext>
                  </a:extLst>
                </a:gridCol>
                <a:gridCol w="1130100">
                  <a:extLst>
                    <a:ext uri="{9D8B030D-6E8A-4147-A177-3AD203B41FA5}">
                      <a16:colId xmlns:a16="http://schemas.microsoft.com/office/drawing/2014/main" val="20002"/>
                    </a:ext>
                  </a:extLst>
                </a:gridCol>
                <a:gridCol w="1130100">
                  <a:extLst>
                    <a:ext uri="{9D8B030D-6E8A-4147-A177-3AD203B41FA5}">
                      <a16:colId xmlns:a16="http://schemas.microsoft.com/office/drawing/2014/main" val="20003"/>
                    </a:ext>
                  </a:extLst>
                </a:gridCol>
                <a:gridCol w="1130100">
                  <a:extLst>
                    <a:ext uri="{9D8B030D-6E8A-4147-A177-3AD203B41FA5}">
                      <a16:colId xmlns:a16="http://schemas.microsoft.com/office/drawing/2014/main" val="20004"/>
                    </a:ext>
                  </a:extLst>
                </a:gridCol>
                <a:gridCol w="1090675">
                  <a:extLst>
                    <a:ext uri="{9D8B030D-6E8A-4147-A177-3AD203B41FA5}">
                      <a16:colId xmlns:a16="http://schemas.microsoft.com/office/drawing/2014/main" val="20005"/>
                    </a:ext>
                  </a:extLst>
                </a:gridCol>
              </a:tblGrid>
              <a:tr h="579425">
                <a:tc>
                  <a:txBody>
                    <a:bodyPr/>
                    <a:lstStyle/>
                    <a:p>
                      <a:pPr marL="0" lvl="0" indent="0" algn="ctr" rtl="0">
                        <a:spcBef>
                          <a:spcPts val="0"/>
                        </a:spcBef>
                        <a:spcAft>
                          <a:spcPts val="0"/>
                        </a:spcAft>
                        <a:buNone/>
                      </a:pPr>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sz="1900" b="1">
                        <a:latin typeface="Verdana"/>
                        <a:ea typeface="Verdana"/>
                        <a:cs typeface="Verdana"/>
                        <a:sym typeface="Verdana"/>
                      </a:endParaRPr>
                    </a:p>
                  </a:txBody>
                  <a:tcPr marL="91425" marR="91425" marT="91425" marB="91425" anchor="ctr">
                    <a:lnL w="9525" cap="flat" cmpd="sng">
                      <a:solidFill>
                        <a:srgbClr val="000000">
                          <a:alpha val="0"/>
                        </a:srgbClr>
                      </a:solidFill>
                      <a:prstDash val="solid"/>
                      <a:round/>
                      <a:headEnd type="none" w="sm" len="sm"/>
                      <a:tailEnd type="none" w="sm" len="sm"/>
                    </a:lnL>
                    <a:lnR w="19050"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nchor="ctr">
                    <a:lnL w="19050" cap="flat" cmpd="sng">
                      <a:solidFill>
                        <a:srgbClr val="000000">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gridSpan="2">
                  <a:txBody>
                    <a:bodyPr/>
                    <a:lstStyle/>
                    <a:p>
                      <a:pPr marL="0" lvl="0" indent="0" algn="ctr" rtl="0">
                        <a:spcBef>
                          <a:spcPts val="0"/>
                        </a:spcBef>
                        <a:spcAft>
                          <a:spcPts val="0"/>
                        </a:spcAft>
                        <a:buNone/>
                      </a:pPr>
                      <a:r>
                        <a:rPr lang="en" sz="1900" b="1">
                          <a:latin typeface="Verdana"/>
                          <a:ea typeface="Verdana"/>
                          <a:cs typeface="Verdana"/>
                          <a:sym typeface="Verdana"/>
                        </a:rPr>
                        <a:t>Target 85%</a:t>
                      </a:r>
                      <a:endParaRPr sz="1900"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FFFF00"/>
                    </a:solidFill>
                  </a:tcPr>
                </a:tc>
                <a:tc hMerge="1">
                  <a:txBody>
                    <a:bodyPr/>
                    <a:lstStyle/>
                    <a:p>
                      <a:endParaRPr lang="en-US"/>
                    </a:p>
                  </a:txBody>
                  <a:tcPr/>
                </a:tc>
                <a:extLst>
                  <a:ext uri="{0D108BD9-81ED-4DB2-BD59-A6C34878D82A}">
                    <a16:rowId xmlns:a16="http://schemas.microsoft.com/office/drawing/2014/main" val="10000"/>
                  </a:ext>
                </a:extLst>
              </a:tr>
              <a:tr h="579425">
                <a:tc>
                  <a:txBody>
                    <a:bodyPr/>
                    <a:lstStyle/>
                    <a:p>
                      <a:pPr marL="0" lvl="0" indent="0" algn="ctr" rtl="0">
                        <a:spcBef>
                          <a:spcPts val="0"/>
                        </a:spcBef>
                        <a:spcAft>
                          <a:spcPts val="0"/>
                        </a:spcAft>
                        <a:buNone/>
                      </a:pPr>
                      <a:r>
                        <a:rPr lang="en" b="1">
                          <a:latin typeface="Verdana"/>
                          <a:ea typeface="Verdana"/>
                          <a:cs typeface="Verdana"/>
                          <a:sym typeface="Verdana"/>
                        </a:rPr>
                        <a:t>12-18</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19-25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26-35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36-45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46-55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56+</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{{have12to18}}</a:t>
                      </a:r>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{{have19to25}}</a:t>
                      </a:r>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a:solidFill>
                            <a:schemeClr val="dk1"/>
                          </a:solidFill>
                          <a:latin typeface="Verdana"/>
                          <a:ea typeface="Verdana"/>
                          <a:cs typeface="Verdana"/>
                          <a:sym typeface="Verdana"/>
                        </a:rPr>
                        <a:t>{{have26to35}}</a:t>
                      </a:r>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{{have36to45}}</a:t>
                      </a:r>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{{have46to55}}</a:t>
                      </a: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{{have56Plus}}</a:t>
                      </a:r>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{{want19to25}}</a:t>
                      </a:r>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{{want19to25}}</a:t>
                      </a:r>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a:solidFill>
                            <a:schemeClr val="dk1"/>
                          </a:solidFill>
                          <a:latin typeface="Verdana"/>
                          <a:ea typeface="Verdana"/>
                          <a:cs typeface="Verdana"/>
                          <a:sym typeface="Verdana"/>
                        </a:rPr>
                        <a:t>{{want26to35}}</a:t>
                      </a:r>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{{want36to45}}</a:t>
                      </a:r>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{{want46to55}}</a:t>
                      </a: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{{want55Plus}}</a:t>
                      </a:r>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206" name="Google Shape;206;p20"/>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Target Marketing</a:t>
            </a:r>
            <a:endParaRPr/>
          </a:p>
        </p:txBody>
      </p:sp>
      <p:sp>
        <p:nvSpPr>
          <p:cNvPr id="207" name="Google Shape;207;p20"/>
          <p:cNvSpPr txBox="1"/>
          <p:nvPr/>
        </p:nvSpPr>
        <p:spPr>
          <a:xfrm>
            <a:off x="364750" y="1172575"/>
            <a:ext cx="5008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A. What percentage of your "target" consumers are men?</a:t>
            </a:r>
            <a:endParaRPr b="1"/>
          </a:p>
        </p:txBody>
      </p:sp>
      <p:sp>
        <p:nvSpPr>
          <p:cNvPr id="208" name="Google Shape;208;p20"/>
          <p:cNvSpPr txBox="1"/>
          <p:nvPr/>
        </p:nvSpPr>
        <p:spPr>
          <a:xfrm>
            <a:off x="5806900" y="1172575"/>
            <a:ext cx="951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Women?</a:t>
            </a:r>
            <a:endParaRPr b="1"/>
          </a:p>
        </p:txBody>
      </p:sp>
      <p:sp>
        <p:nvSpPr>
          <p:cNvPr id="209" name="Google Shape;209;p20"/>
          <p:cNvSpPr txBox="1"/>
          <p:nvPr/>
        </p:nvSpPr>
        <p:spPr>
          <a:xfrm>
            <a:off x="364750" y="1650325"/>
            <a:ext cx="6280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B. What is the perceived income of your “target” consumer household?</a:t>
            </a:r>
            <a:endParaRPr b="1"/>
          </a:p>
        </p:txBody>
      </p:sp>
      <p:sp>
        <p:nvSpPr>
          <p:cNvPr id="210" name="Google Shape;210;p20"/>
          <p:cNvSpPr txBox="1"/>
          <p:nvPr/>
        </p:nvSpPr>
        <p:spPr>
          <a:xfrm>
            <a:off x="364750" y="2748325"/>
            <a:ext cx="762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C. </a:t>
            </a:r>
            <a:r>
              <a:rPr lang="en" sz="1150">
                <a:solidFill>
                  <a:schemeClr val="dk1"/>
                </a:solidFill>
                <a:latin typeface="Verdana"/>
                <a:ea typeface="Verdana"/>
                <a:cs typeface="Verdana"/>
                <a:sym typeface="Verdana"/>
              </a:rPr>
              <a:t> </a:t>
            </a:r>
            <a:r>
              <a:rPr lang="en" sz="1150" b="1">
                <a:solidFill>
                  <a:schemeClr val="dk1"/>
                </a:solidFill>
                <a:latin typeface="Verdana"/>
                <a:ea typeface="Verdana"/>
                <a:cs typeface="Verdana"/>
                <a:sym typeface="Verdana"/>
              </a:rPr>
              <a:t>How else would you describe your ideal "target" consumer (i.e. geo-targeting, home value, behavior, lifestyle, interests, family structure, etc)?</a:t>
            </a:r>
            <a:endParaRPr b="1"/>
          </a:p>
        </p:txBody>
      </p:sp>
      <p:sp>
        <p:nvSpPr>
          <p:cNvPr id="211" name="Google Shape;211;p20"/>
          <p:cNvSpPr txBox="1"/>
          <p:nvPr/>
        </p:nvSpPr>
        <p:spPr>
          <a:xfrm>
            <a:off x="364750" y="4032238"/>
            <a:ext cx="8458200" cy="526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800"/>
              </a:spcBef>
              <a:spcAft>
                <a:spcPts val="800"/>
              </a:spcAft>
              <a:buNone/>
            </a:pPr>
            <a:r>
              <a:rPr lang="en" sz="1150" b="1">
                <a:solidFill>
                  <a:schemeClr val="dk1"/>
                </a:solidFill>
                <a:latin typeface="Verdana"/>
                <a:ea typeface="Verdana"/>
                <a:cs typeface="Verdana"/>
                <a:sym typeface="Verdana"/>
              </a:rPr>
              <a:t>A lenograph is a picture of consumption by target values expressed by ratings 1-10, 10 the highest.</a:t>
            </a:r>
            <a:endParaRPr sz="1150">
              <a:solidFill>
                <a:schemeClr val="dk1"/>
              </a:solidFill>
              <a:latin typeface="Verdana"/>
              <a:ea typeface="Verdana"/>
              <a:cs typeface="Verdana"/>
              <a:sym typeface="Verdana"/>
            </a:endParaRPr>
          </a:p>
        </p:txBody>
      </p:sp>
      <p:sp>
        <p:nvSpPr>
          <p:cNvPr id="212" name="Google Shape;212;p20"/>
          <p:cNvSpPr txBox="1"/>
          <p:nvPr/>
        </p:nvSpPr>
        <p:spPr>
          <a:xfrm>
            <a:off x="1366525"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Under 50K</a:t>
            </a:r>
            <a:endParaRPr sz="1150">
              <a:latin typeface="Verdana"/>
              <a:ea typeface="Verdana"/>
              <a:cs typeface="Verdana"/>
              <a:sym typeface="Verdana"/>
            </a:endParaRPr>
          </a:p>
        </p:txBody>
      </p:sp>
      <p:sp>
        <p:nvSpPr>
          <p:cNvPr id="213" name="Google Shape;213;p20"/>
          <p:cNvSpPr txBox="1"/>
          <p:nvPr/>
        </p:nvSpPr>
        <p:spPr>
          <a:xfrm>
            <a:off x="3097300"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50K-</a:t>
            </a:r>
            <a:endParaRPr sz="1150">
              <a:latin typeface="Verdana"/>
              <a:ea typeface="Verdana"/>
              <a:cs typeface="Verdana"/>
              <a:sym typeface="Verdana"/>
            </a:endParaRPr>
          </a:p>
          <a:p>
            <a:pPr marL="0" lvl="0" indent="0" algn="l" rtl="0">
              <a:spcBef>
                <a:spcPts val="0"/>
              </a:spcBef>
              <a:spcAft>
                <a:spcPts val="0"/>
              </a:spcAft>
              <a:buNone/>
            </a:pPr>
            <a:r>
              <a:rPr lang="en" sz="1150">
                <a:latin typeface="Verdana"/>
                <a:ea typeface="Verdana"/>
                <a:cs typeface="Verdana"/>
                <a:sym typeface="Verdana"/>
              </a:rPr>
              <a:t>99K</a:t>
            </a:r>
            <a:endParaRPr sz="1150">
              <a:latin typeface="Verdana"/>
              <a:ea typeface="Verdana"/>
              <a:cs typeface="Verdana"/>
              <a:sym typeface="Verdana"/>
            </a:endParaRPr>
          </a:p>
        </p:txBody>
      </p:sp>
      <p:sp>
        <p:nvSpPr>
          <p:cNvPr id="214" name="Google Shape;214;p20"/>
          <p:cNvSpPr txBox="1"/>
          <p:nvPr/>
        </p:nvSpPr>
        <p:spPr>
          <a:xfrm>
            <a:off x="4828100"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100K-</a:t>
            </a:r>
            <a:endParaRPr sz="1150">
              <a:latin typeface="Verdana"/>
              <a:ea typeface="Verdana"/>
              <a:cs typeface="Verdana"/>
              <a:sym typeface="Verdana"/>
            </a:endParaRPr>
          </a:p>
          <a:p>
            <a:pPr marL="0" lvl="0" indent="0" algn="l" rtl="0">
              <a:spcBef>
                <a:spcPts val="0"/>
              </a:spcBef>
              <a:spcAft>
                <a:spcPts val="0"/>
              </a:spcAft>
              <a:buNone/>
            </a:pPr>
            <a:r>
              <a:rPr lang="en" sz="1150">
                <a:latin typeface="Verdana"/>
                <a:ea typeface="Verdana"/>
                <a:cs typeface="Verdana"/>
                <a:sym typeface="Verdana"/>
              </a:rPr>
              <a:t>149K</a:t>
            </a:r>
            <a:endParaRPr sz="1150">
              <a:latin typeface="Verdana"/>
              <a:ea typeface="Verdana"/>
              <a:cs typeface="Verdana"/>
              <a:sym typeface="Verdana"/>
            </a:endParaRPr>
          </a:p>
        </p:txBody>
      </p:sp>
      <p:sp>
        <p:nvSpPr>
          <p:cNvPr id="215" name="Google Shape;215;p20"/>
          <p:cNvSpPr txBox="1"/>
          <p:nvPr/>
        </p:nvSpPr>
        <p:spPr>
          <a:xfrm>
            <a:off x="6558875"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150K plus</a:t>
            </a:r>
            <a:endParaRPr sz="1150">
              <a:latin typeface="Verdana"/>
              <a:ea typeface="Verdana"/>
              <a:cs typeface="Verdana"/>
              <a:sym typeface="Verdana"/>
            </a:endParaRPr>
          </a:p>
        </p:txBody>
      </p:sp>
      <p:sp>
        <p:nvSpPr>
          <p:cNvPr id="216" name="Google Shape;216;p20"/>
          <p:cNvSpPr txBox="1"/>
          <p:nvPr/>
        </p:nvSpPr>
        <p:spPr>
          <a:xfrm>
            <a:off x="364750" y="3390288"/>
            <a:ext cx="7818000" cy="433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1600"/>
              </a:spcAft>
              <a:buNone/>
            </a:pPr>
            <a:r>
              <a:rPr lang="en" sz="1100">
                <a:solidFill>
                  <a:schemeClr val="dk1"/>
                </a:solidFill>
                <a:latin typeface="Verdana"/>
                <a:ea typeface="Verdana"/>
                <a:cs typeface="Verdana"/>
                <a:sym typeface="Verdana"/>
              </a:rPr>
              <a:t>describeIdealTargetConsumer </a:t>
            </a:r>
            <a:endParaRPr/>
          </a:p>
        </p:txBody>
      </p:sp>
      <p:sp>
        <p:nvSpPr>
          <p:cNvPr id="217" name="Google Shape;217;p20"/>
          <p:cNvSpPr txBox="1"/>
          <p:nvPr/>
        </p:nvSpPr>
        <p:spPr>
          <a:xfrm>
            <a:off x="5284900" y="1206625"/>
            <a:ext cx="5220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Clr>
                <a:schemeClr val="dk1"/>
              </a:buClr>
              <a:buSzPts val="1100"/>
              <a:buFont typeface="Arial"/>
              <a:buNone/>
            </a:pPr>
            <a:r>
              <a:rPr lang="en" sz="1100">
                <a:solidFill>
                  <a:schemeClr val="dk1"/>
                </a:solidFill>
                <a:latin typeface="Verdana"/>
                <a:ea typeface="Verdana"/>
                <a:cs typeface="Verdana"/>
                <a:sym typeface="Verdana"/>
              </a:rPr>
              <a:t>pctMen</a:t>
            </a:r>
            <a:endParaRPr/>
          </a:p>
        </p:txBody>
      </p:sp>
      <p:sp>
        <p:nvSpPr>
          <p:cNvPr id="218" name="Google Shape;218;p20"/>
          <p:cNvSpPr txBox="1"/>
          <p:nvPr/>
        </p:nvSpPr>
        <p:spPr>
          <a:xfrm>
            <a:off x="6707075" y="1206625"/>
            <a:ext cx="5220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None/>
            </a:pPr>
            <a:r>
              <a:rPr lang="en" sz="1100">
                <a:solidFill>
                  <a:schemeClr val="dk1"/>
                </a:solidFill>
                <a:latin typeface="Verdana"/>
                <a:ea typeface="Verdana"/>
                <a:cs typeface="Verdana"/>
                <a:sym typeface="Verdana"/>
              </a:rPr>
              <a:t>pctWomen</a:t>
            </a:r>
            <a:endParaRPr/>
          </a:p>
        </p:txBody>
      </p:sp>
      <p:sp>
        <p:nvSpPr>
          <p:cNvPr id="219" name="Google Shape;219;p20"/>
          <p:cNvSpPr txBox="1"/>
          <p:nvPr/>
        </p:nvSpPr>
        <p:spPr>
          <a:xfrm>
            <a:off x="2286000" y="1883664"/>
            <a:ext cx="706200" cy="80463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1600"/>
              </a:spcAft>
              <a:buNone/>
            </a:pPr>
            <a:r>
              <a:rPr lang="en" sz="4500">
                <a:solidFill>
                  <a:schemeClr val="dk1"/>
                </a:solidFill>
                <a:latin typeface="Verdana"/>
                <a:ea typeface="Verdana"/>
                <a:cs typeface="Verdana"/>
                <a:sym typeface="Verdana"/>
              </a:rPr>
              <a:t>5099Id</a:t>
            </a:r>
            <a:endParaRPr sz="4500">
              <a:solidFill>
                <a:schemeClr val="dk1"/>
              </a:solidFill>
              <a:latin typeface="Verdana"/>
              <a:ea typeface="Verdana"/>
              <a:cs typeface="Verdana"/>
              <a:sym typeface="Verdana"/>
            </a:endParaRPr>
          </a:p>
        </p:txBody>
      </p:sp>
      <p:sp>
        <p:nvSpPr>
          <p:cNvPr id="220" name="Google Shape;220;p20"/>
          <p:cNvSpPr txBox="1"/>
          <p:nvPr/>
        </p:nvSpPr>
        <p:spPr>
          <a:xfrm>
            <a:off x="4023360" y="1883664"/>
            <a:ext cx="704100" cy="96396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1600"/>
              </a:spcAft>
              <a:buNone/>
            </a:pPr>
            <a:r>
              <a:rPr lang="en" sz="4500">
                <a:solidFill>
                  <a:schemeClr val="dk1"/>
                </a:solidFill>
                <a:latin typeface="Verdana"/>
                <a:ea typeface="Verdana"/>
                <a:cs typeface="Verdana"/>
                <a:sym typeface="Verdana"/>
              </a:rPr>
              <a:t>100149Id</a:t>
            </a:r>
            <a:endParaRPr sz="4500">
              <a:latin typeface="Verdana"/>
              <a:ea typeface="Verdana"/>
              <a:cs typeface="Verdana"/>
              <a:sym typeface="Verdana"/>
            </a:endParaRPr>
          </a:p>
        </p:txBody>
      </p:sp>
      <p:sp>
        <p:nvSpPr>
          <p:cNvPr id="221" name="Google Shape;221;p20"/>
          <p:cNvSpPr txBox="1"/>
          <p:nvPr/>
        </p:nvSpPr>
        <p:spPr>
          <a:xfrm>
            <a:off x="5779008" y="1883664"/>
            <a:ext cx="706200" cy="72498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1600"/>
              </a:spcAft>
              <a:buNone/>
            </a:pPr>
            <a:r>
              <a:rPr lang="en" sz="4500">
                <a:solidFill>
                  <a:schemeClr val="dk1"/>
                </a:solidFill>
                <a:latin typeface="Verdana"/>
                <a:ea typeface="Verdana"/>
                <a:cs typeface="Verdana"/>
                <a:sym typeface="Verdana"/>
              </a:rPr>
              <a:t>150Id</a:t>
            </a:r>
            <a:endParaRPr sz="4500">
              <a:solidFill>
                <a:schemeClr val="dk1"/>
              </a:solidFill>
              <a:latin typeface="Verdana"/>
              <a:ea typeface="Verdana"/>
              <a:cs typeface="Verdana"/>
              <a:sym typeface="Verdana"/>
            </a:endParaRPr>
          </a:p>
        </p:txBody>
      </p:sp>
      <p:sp>
        <p:nvSpPr>
          <p:cNvPr id="222" name="Google Shape;222;p20"/>
          <p:cNvSpPr txBox="1"/>
          <p:nvPr/>
        </p:nvSpPr>
        <p:spPr>
          <a:xfrm>
            <a:off x="557784" y="1883664"/>
            <a:ext cx="704100" cy="104361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1600"/>
              </a:spcAft>
              <a:buClr>
                <a:schemeClr val="dk1"/>
              </a:buClr>
              <a:buSzPts val="1100"/>
              <a:buFont typeface="Arial"/>
              <a:buNone/>
            </a:pPr>
            <a:r>
              <a:rPr lang="en" sz="4500">
                <a:solidFill>
                  <a:schemeClr val="dk1"/>
                </a:solidFill>
                <a:latin typeface="Verdana"/>
                <a:ea typeface="Verdana"/>
                <a:cs typeface="Verdana"/>
                <a:sym typeface="Verdana"/>
              </a:rPr>
              <a:t>under50Id</a:t>
            </a:r>
            <a:endParaRPr sz="4500">
              <a:latin typeface="Verdana"/>
              <a:ea typeface="Verdana"/>
              <a:cs typeface="Verdana"/>
              <a:sym typeface="Verdana"/>
            </a:endParaRPr>
          </a:p>
        </p:txBody>
      </p:sp>
      <p:sp>
        <p:nvSpPr>
          <p:cNvPr id="223" name="Google Shape;223;p20"/>
          <p:cNvSpPr/>
          <p:nvPr/>
        </p:nvSpPr>
        <p:spPr>
          <a:xfrm rot="5400000">
            <a:off x="4876122"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 name="Google Shape;224;p20"/>
          <p:cNvSpPr txBox="1"/>
          <p:nvPr/>
        </p:nvSpPr>
        <p:spPr>
          <a:xfrm>
            <a:off x="290900" y="5737428"/>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HAVE</a:t>
            </a:r>
            <a:endParaRPr b="1">
              <a:latin typeface="Verdana"/>
              <a:ea typeface="Verdana"/>
              <a:cs typeface="Verdana"/>
              <a:sym typeface="Verdana"/>
            </a:endParaRPr>
          </a:p>
        </p:txBody>
      </p:sp>
      <p:sp>
        <p:nvSpPr>
          <p:cNvPr id="225" name="Google Shape;225;p20"/>
          <p:cNvSpPr txBox="1"/>
          <p:nvPr/>
        </p:nvSpPr>
        <p:spPr>
          <a:xfrm>
            <a:off x="290900" y="6286925"/>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WANT</a:t>
            </a:r>
            <a:endParaRPr b="1">
              <a:latin typeface="Verdana"/>
              <a:ea typeface="Verdana"/>
              <a:cs typeface="Verdana"/>
              <a:sym typeface="Verdana"/>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229"/>
        <p:cNvGrpSpPr/>
        <p:nvPr/>
      </p:nvGrpSpPr>
      <p:grpSpPr>
        <a:xfrm>
          <a:off x="0" y="0"/>
          <a:ext cx="0" cy="0"/>
          <a:chOff x="0" y="0"/>
          <a:chExt cx="0" cy="0"/>
        </a:xfrm>
      </p:grpSpPr>
      <p:sp>
        <p:nvSpPr>
          <p:cNvPr id="230" name="Google Shape;230;p21"/>
          <p:cNvSpPr txBox="1"/>
          <p:nvPr/>
        </p:nvSpPr>
        <p:spPr>
          <a:xfrm>
            <a:off x="2286000" y="1883664"/>
            <a:ext cx="706200" cy="80463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1600"/>
              </a:spcAft>
              <a:buNone/>
            </a:pPr>
            <a:r>
              <a:rPr lang="en" sz="4500">
                <a:solidFill>
                  <a:schemeClr val="dk1"/>
                </a:solidFill>
                <a:latin typeface="Verdana"/>
                <a:ea typeface="Verdana"/>
                <a:cs typeface="Verdana"/>
                <a:sym typeface="Verdana"/>
              </a:rPr>
              <a:t>5099Id</a:t>
            </a:r>
            <a:endParaRPr sz="4500">
              <a:solidFill>
                <a:schemeClr val="dk1"/>
              </a:solidFill>
              <a:latin typeface="Verdana"/>
              <a:ea typeface="Verdana"/>
              <a:cs typeface="Verdana"/>
              <a:sym typeface="Verdana"/>
            </a:endParaRPr>
          </a:p>
        </p:txBody>
      </p:sp>
      <p:sp>
        <p:nvSpPr>
          <p:cNvPr id="231" name="Google Shape;231;p21"/>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Target Marketing</a:t>
            </a:r>
            <a:endParaRPr/>
          </a:p>
        </p:txBody>
      </p:sp>
      <p:sp>
        <p:nvSpPr>
          <p:cNvPr id="232" name="Google Shape;232;p21"/>
          <p:cNvSpPr txBox="1"/>
          <p:nvPr/>
        </p:nvSpPr>
        <p:spPr>
          <a:xfrm>
            <a:off x="364750" y="1172575"/>
            <a:ext cx="5008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A. What percentage of your "target" consumers are men?</a:t>
            </a:r>
            <a:endParaRPr b="1"/>
          </a:p>
        </p:txBody>
      </p:sp>
      <p:sp>
        <p:nvSpPr>
          <p:cNvPr id="233" name="Google Shape;233;p21"/>
          <p:cNvSpPr txBox="1"/>
          <p:nvPr/>
        </p:nvSpPr>
        <p:spPr>
          <a:xfrm>
            <a:off x="5806900" y="1172575"/>
            <a:ext cx="951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Women?</a:t>
            </a:r>
            <a:endParaRPr b="1"/>
          </a:p>
        </p:txBody>
      </p:sp>
      <p:sp>
        <p:nvSpPr>
          <p:cNvPr id="234" name="Google Shape;234;p21"/>
          <p:cNvSpPr txBox="1"/>
          <p:nvPr/>
        </p:nvSpPr>
        <p:spPr>
          <a:xfrm>
            <a:off x="364750" y="1650325"/>
            <a:ext cx="6280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B. What is the perceived income of your “target” consumer household?</a:t>
            </a:r>
            <a:endParaRPr b="1"/>
          </a:p>
        </p:txBody>
      </p:sp>
      <p:sp>
        <p:nvSpPr>
          <p:cNvPr id="235" name="Google Shape;235;p21"/>
          <p:cNvSpPr txBox="1"/>
          <p:nvPr/>
        </p:nvSpPr>
        <p:spPr>
          <a:xfrm>
            <a:off x="364750" y="2748325"/>
            <a:ext cx="762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C. </a:t>
            </a:r>
            <a:r>
              <a:rPr lang="en" sz="1150">
                <a:solidFill>
                  <a:schemeClr val="dk1"/>
                </a:solidFill>
                <a:latin typeface="Verdana"/>
                <a:ea typeface="Verdana"/>
                <a:cs typeface="Verdana"/>
                <a:sym typeface="Verdana"/>
              </a:rPr>
              <a:t> </a:t>
            </a:r>
            <a:r>
              <a:rPr lang="en" sz="1150" b="1">
                <a:solidFill>
                  <a:schemeClr val="dk1"/>
                </a:solidFill>
                <a:latin typeface="Verdana"/>
                <a:ea typeface="Verdana"/>
                <a:cs typeface="Verdana"/>
                <a:sym typeface="Verdana"/>
              </a:rPr>
              <a:t>How else would you describe your ideal "target" consumer (i.e. geo-targeting, home value, behavior, lifestyle, interests, family structure, etc)?</a:t>
            </a:r>
            <a:endParaRPr b="1"/>
          </a:p>
        </p:txBody>
      </p:sp>
      <p:sp>
        <p:nvSpPr>
          <p:cNvPr id="236" name="Google Shape;236;p21"/>
          <p:cNvSpPr txBox="1"/>
          <p:nvPr/>
        </p:nvSpPr>
        <p:spPr>
          <a:xfrm>
            <a:off x="364750" y="4032238"/>
            <a:ext cx="8458200" cy="526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800"/>
              </a:spcBef>
              <a:spcAft>
                <a:spcPts val="800"/>
              </a:spcAft>
              <a:buNone/>
            </a:pPr>
            <a:r>
              <a:rPr lang="en" sz="1150" b="1">
                <a:solidFill>
                  <a:schemeClr val="dk1"/>
                </a:solidFill>
                <a:latin typeface="Verdana"/>
                <a:ea typeface="Verdana"/>
                <a:cs typeface="Verdana"/>
                <a:sym typeface="Verdana"/>
              </a:rPr>
              <a:t>A lenograph is a picture of consumption by target values expressed by ratings 1-10, 10 the highest.</a:t>
            </a:r>
            <a:endParaRPr sz="1150">
              <a:solidFill>
                <a:schemeClr val="dk1"/>
              </a:solidFill>
              <a:latin typeface="Verdana"/>
              <a:ea typeface="Verdana"/>
              <a:cs typeface="Verdana"/>
              <a:sym typeface="Verdana"/>
            </a:endParaRPr>
          </a:p>
        </p:txBody>
      </p:sp>
      <p:graphicFrame>
        <p:nvGraphicFramePr>
          <p:cNvPr id="237" name="Google Shape;237;p21"/>
          <p:cNvGraphicFramePr/>
          <p:nvPr/>
        </p:nvGraphicFramePr>
        <p:xfrm>
          <a:off x="1203108" y="4562856"/>
          <a:ext cx="6741175" cy="2261912"/>
        </p:xfrm>
        <a:graphic>
          <a:graphicData uri="http://schemas.openxmlformats.org/drawingml/2006/table">
            <a:tbl>
              <a:tblPr>
                <a:noFill/>
                <a:tableStyleId>{779AAC5F-F97D-4193-AF94-6FAFF6667CF6}</a:tableStyleId>
              </a:tblPr>
              <a:tblGrid>
                <a:gridCol w="1130100">
                  <a:extLst>
                    <a:ext uri="{9D8B030D-6E8A-4147-A177-3AD203B41FA5}">
                      <a16:colId xmlns:a16="http://schemas.microsoft.com/office/drawing/2014/main" val="20000"/>
                    </a:ext>
                  </a:extLst>
                </a:gridCol>
                <a:gridCol w="1130100">
                  <a:extLst>
                    <a:ext uri="{9D8B030D-6E8A-4147-A177-3AD203B41FA5}">
                      <a16:colId xmlns:a16="http://schemas.microsoft.com/office/drawing/2014/main" val="20001"/>
                    </a:ext>
                  </a:extLst>
                </a:gridCol>
                <a:gridCol w="1130100">
                  <a:extLst>
                    <a:ext uri="{9D8B030D-6E8A-4147-A177-3AD203B41FA5}">
                      <a16:colId xmlns:a16="http://schemas.microsoft.com/office/drawing/2014/main" val="20002"/>
                    </a:ext>
                  </a:extLst>
                </a:gridCol>
                <a:gridCol w="1130100">
                  <a:extLst>
                    <a:ext uri="{9D8B030D-6E8A-4147-A177-3AD203B41FA5}">
                      <a16:colId xmlns:a16="http://schemas.microsoft.com/office/drawing/2014/main" val="20003"/>
                    </a:ext>
                  </a:extLst>
                </a:gridCol>
                <a:gridCol w="1130100">
                  <a:extLst>
                    <a:ext uri="{9D8B030D-6E8A-4147-A177-3AD203B41FA5}">
                      <a16:colId xmlns:a16="http://schemas.microsoft.com/office/drawing/2014/main" val="20004"/>
                    </a:ext>
                  </a:extLst>
                </a:gridCol>
                <a:gridCol w="1090675">
                  <a:extLst>
                    <a:ext uri="{9D8B030D-6E8A-4147-A177-3AD203B41FA5}">
                      <a16:colId xmlns:a16="http://schemas.microsoft.com/office/drawing/2014/main" val="20005"/>
                    </a:ext>
                  </a:extLst>
                </a:gridCol>
              </a:tblGrid>
              <a:tr h="579425">
                <a:tc>
                  <a:txBody>
                    <a:bodyPr/>
                    <a:lstStyle/>
                    <a:p>
                      <a:pPr marL="0" lvl="0" indent="0" algn="ctr" rtl="0">
                        <a:spcBef>
                          <a:spcPts val="0"/>
                        </a:spcBef>
                        <a:spcAft>
                          <a:spcPts val="0"/>
                        </a:spcAft>
                        <a:buNone/>
                      </a:pPr>
                      <a:endParaRPr/>
                    </a:p>
                  </a:txBody>
                  <a:tcPr marL="91425" marR="91425" marT="91425" marB="91425" anchor="ctr">
                    <a:lnL w="9525" cap="flat" cmpd="sng">
                      <a:solidFill>
                        <a:srgbClr val="000000">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gridSpan="2">
                  <a:txBody>
                    <a:bodyPr/>
                    <a:lstStyle/>
                    <a:p>
                      <a:pPr marL="0" lvl="0" indent="0" algn="ctr" rtl="0">
                        <a:spcBef>
                          <a:spcPts val="0"/>
                        </a:spcBef>
                        <a:spcAft>
                          <a:spcPts val="0"/>
                        </a:spcAft>
                        <a:buNone/>
                      </a:pPr>
                      <a:r>
                        <a:rPr lang="en" sz="1900" b="1">
                          <a:solidFill>
                            <a:schemeClr val="dk1"/>
                          </a:solidFill>
                          <a:latin typeface="Verdana"/>
                          <a:ea typeface="Verdana"/>
                          <a:cs typeface="Verdana"/>
                          <a:sym typeface="Verdana"/>
                        </a:rPr>
                        <a:t>Target</a:t>
                      </a:r>
                      <a:r>
                        <a:rPr lang="en"/>
                        <a:t> </a:t>
                      </a:r>
                      <a:r>
                        <a:rPr lang="en" sz="1900" b="1">
                          <a:solidFill>
                            <a:schemeClr val="dk1"/>
                          </a:solidFill>
                          <a:latin typeface="Verdana"/>
                          <a:ea typeface="Verdana"/>
                          <a:cs typeface="Verdana"/>
                          <a:sym typeface="Verdana"/>
                        </a:rPr>
                        <a:t>85%</a:t>
                      </a:r>
                      <a:endParaRPr sz="1900"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FFFF00"/>
                    </a:solidFill>
                  </a:tcPr>
                </a:tc>
                <a:tc hMerge="1">
                  <a:txBody>
                    <a:bodyPr/>
                    <a:lstStyle/>
                    <a:p>
                      <a:endParaRPr lang="en-US"/>
                    </a:p>
                  </a:txBody>
                  <a:tcPr/>
                </a:tc>
                <a:tc>
                  <a:txBody>
                    <a:bodyPr/>
                    <a:lstStyle/>
                    <a:p>
                      <a:pPr marL="0" lvl="0" indent="0" algn="ctr" rtl="0">
                        <a:spcBef>
                          <a:spcPts val="0"/>
                        </a:spcBef>
                        <a:spcAft>
                          <a:spcPts val="0"/>
                        </a:spcAft>
                        <a:buNone/>
                      </a:pPr>
                      <a:endParaRPr sz="1900"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r h="579425">
                <a:tc>
                  <a:txBody>
                    <a:bodyPr/>
                    <a:lstStyle/>
                    <a:p>
                      <a:pPr marL="0" lvl="0" indent="0" algn="ctr" rtl="0">
                        <a:spcBef>
                          <a:spcPts val="0"/>
                        </a:spcBef>
                        <a:spcAft>
                          <a:spcPts val="0"/>
                        </a:spcAft>
                        <a:buNone/>
                      </a:pPr>
                      <a:r>
                        <a:rPr lang="en" b="1">
                          <a:latin typeface="Verdana"/>
                          <a:ea typeface="Verdana"/>
                          <a:cs typeface="Verdana"/>
                          <a:sym typeface="Verdana"/>
                        </a:rPr>
                        <a:t>12-18</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19-25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26-35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36-45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46-55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56+</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{{have12to18}}</a:t>
                      </a:r>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{{have19to25}}</a:t>
                      </a: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a:solidFill>
                            <a:schemeClr val="dk1"/>
                          </a:solidFill>
                          <a:latin typeface="Verdana"/>
                          <a:ea typeface="Verdana"/>
                          <a:cs typeface="Verdana"/>
                          <a:sym typeface="Verdana"/>
                        </a:rPr>
                        <a:t>{{have26to35}}</a:t>
                      </a:r>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{{have36to45}}</a:t>
                      </a: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{{have46to55}}</a:t>
                      </a:r>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{{have56Plus}}</a:t>
                      </a:r>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{{want19to25}}</a:t>
                      </a:r>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{{want19to25}}</a:t>
                      </a: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a:solidFill>
                            <a:schemeClr val="dk1"/>
                          </a:solidFill>
                          <a:latin typeface="Verdana"/>
                          <a:ea typeface="Verdana"/>
                          <a:cs typeface="Verdana"/>
                          <a:sym typeface="Verdana"/>
                        </a:rPr>
                        <a:t>{{want26to35}}</a:t>
                      </a:r>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{{want36to45}}</a:t>
                      </a: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{{want46to55}}</a:t>
                      </a:r>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{{want55Plus}}</a:t>
                      </a:r>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238" name="Google Shape;238;p21"/>
          <p:cNvSpPr txBox="1"/>
          <p:nvPr/>
        </p:nvSpPr>
        <p:spPr>
          <a:xfrm>
            <a:off x="1366525"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Under 50K</a:t>
            </a:r>
            <a:endParaRPr sz="1150">
              <a:latin typeface="Verdana"/>
              <a:ea typeface="Verdana"/>
              <a:cs typeface="Verdana"/>
              <a:sym typeface="Verdana"/>
            </a:endParaRPr>
          </a:p>
        </p:txBody>
      </p:sp>
      <p:sp>
        <p:nvSpPr>
          <p:cNvPr id="239" name="Google Shape;239;p21"/>
          <p:cNvSpPr txBox="1"/>
          <p:nvPr/>
        </p:nvSpPr>
        <p:spPr>
          <a:xfrm>
            <a:off x="3097300"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50K-</a:t>
            </a:r>
            <a:endParaRPr sz="1150">
              <a:latin typeface="Verdana"/>
              <a:ea typeface="Verdana"/>
              <a:cs typeface="Verdana"/>
              <a:sym typeface="Verdana"/>
            </a:endParaRPr>
          </a:p>
          <a:p>
            <a:pPr marL="0" lvl="0" indent="0" algn="l" rtl="0">
              <a:spcBef>
                <a:spcPts val="0"/>
              </a:spcBef>
              <a:spcAft>
                <a:spcPts val="0"/>
              </a:spcAft>
              <a:buNone/>
            </a:pPr>
            <a:r>
              <a:rPr lang="en" sz="1150">
                <a:latin typeface="Verdana"/>
                <a:ea typeface="Verdana"/>
                <a:cs typeface="Verdana"/>
                <a:sym typeface="Verdana"/>
              </a:rPr>
              <a:t>99K</a:t>
            </a:r>
            <a:endParaRPr sz="1150">
              <a:latin typeface="Verdana"/>
              <a:ea typeface="Verdana"/>
              <a:cs typeface="Verdana"/>
              <a:sym typeface="Verdana"/>
            </a:endParaRPr>
          </a:p>
        </p:txBody>
      </p:sp>
      <p:sp>
        <p:nvSpPr>
          <p:cNvPr id="240" name="Google Shape;240;p21"/>
          <p:cNvSpPr txBox="1"/>
          <p:nvPr/>
        </p:nvSpPr>
        <p:spPr>
          <a:xfrm>
            <a:off x="4828100"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100K-</a:t>
            </a:r>
            <a:endParaRPr sz="1150">
              <a:latin typeface="Verdana"/>
              <a:ea typeface="Verdana"/>
              <a:cs typeface="Verdana"/>
              <a:sym typeface="Verdana"/>
            </a:endParaRPr>
          </a:p>
          <a:p>
            <a:pPr marL="0" lvl="0" indent="0" algn="l" rtl="0">
              <a:spcBef>
                <a:spcPts val="0"/>
              </a:spcBef>
              <a:spcAft>
                <a:spcPts val="0"/>
              </a:spcAft>
              <a:buNone/>
            </a:pPr>
            <a:r>
              <a:rPr lang="en" sz="1150">
                <a:latin typeface="Verdana"/>
                <a:ea typeface="Verdana"/>
                <a:cs typeface="Verdana"/>
                <a:sym typeface="Verdana"/>
              </a:rPr>
              <a:t>149K</a:t>
            </a:r>
            <a:endParaRPr sz="1150">
              <a:latin typeface="Verdana"/>
              <a:ea typeface="Verdana"/>
              <a:cs typeface="Verdana"/>
              <a:sym typeface="Verdana"/>
            </a:endParaRPr>
          </a:p>
        </p:txBody>
      </p:sp>
      <p:sp>
        <p:nvSpPr>
          <p:cNvPr id="241" name="Google Shape;241;p21"/>
          <p:cNvSpPr txBox="1"/>
          <p:nvPr/>
        </p:nvSpPr>
        <p:spPr>
          <a:xfrm>
            <a:off x="6558875"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150K plus</a:t>
            </a:r>
            <a:endParaRPr sz="1150">
              <a:latin typeface="Verdana"/>
              <a:ea typeface="Verdana"/>
              <a:cs typeface="Verdana"/>
              <a:sym typeface="Verdana"/>
            </a:endParaRPr>
          </a:p>
        </p:txBody>
      </p:sp>
      <p:sp>
        <p:nvSpPr>
          <p:cNvPr id="242" name="Google Shape;242;p21"/>
          <p:cNvSpPr txBox="1"/>
          <p:nvPr/>
        </p:nvSpPr>
        <p:spPr>
          <a:xfrm>
            <a:off x="364750" y="3390288"/>
            <a:ext cx="7818000" cy="433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1600"/>
              </a:spcAft>
              <a:buNone/>
            </a:pPr>
            <a:r>
              <a:rPr lang="en" sz="1100">
                <a:solidFill>
                  <a:schemeClr val="dk1"/>
                </a:solidFill>
                <a:latin typeface="Verdana"/>
                <a:ea typeface="Verdana"/>
                <a:cs typeface="Verdana"/>
                <a:sym typeface="Verdana"/>
              </a:rPr>
              <a:t>describeIdealTargetConsumer </a:t>
            </a:r>
            <a:endParaRPr/>
          </a:p>
        </p:txBody>
      </p:sp>
      <p:sp>
        <p:nvSpPr>
          <p:cNvPr id="243" name="Google Shape;243;p21"/>
          <p:cNvSpPr txBox="1"/>
          <p:nvPr/>
        </p:nvSpPr>
        <p:spPr>
          <a:xfrm>
            <a:off x="5284900" y="1206625"/>
            <a:ext cx="5220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Clr>
                <a:schemeClr val="dk1"/>
              </a:buClr>
              <a:buSzPts val="1100"/>
              <a:buFont typeface="Arial"/>
              <a:buNone/>
            </a:pPr>
            <a:r>
              <a:rPr lang="en" sz="1100">
                <a:solidFill>
                  <a:schemeClr val="dk1"/>
                </a:solidFill>
                <a:latin typeface="Verdana"/>
                <a:ea typeface="Verdana"/>
                <a:cs typeface="Verdana"/>
                <a:sym typeface="Verdana"/>
              </a:rPr>
              <a:t>pctMen</a:t>
            </a:r>
            <a:endParaRPr/>
          </a:p>
        </p:txBody>
      </p:sp>
      <p:sp>
        <p:nvSpPr>
          <p:cNvPr id="244" name="Google Shape;244;p21"/>
          <p:cNvSpPr txBox="1"/>
          <p:nvPr/>
        </p:nvSpPr>
        <p:spPr>
          <a:xfrm>
            <a:off x="6707075" y="1206625"/>
            <a:ext cx="5220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None/>
            </a:pPr>
            <a:r>
              <a:rPr lang="en" sz="1100">
                <a:solidFill>
                  <a:schemeClr val="dk1"/>
                </a:solidFill>
                <a:latin typeface="Verdana"/>
                <a:ea typeface="Verdana"/>
                <a:cs typeface="Verdana"/>
                <a:sym typeface="Verdana"/>
              </a:rPr>
              <a:t>pctWomen</a:t>
            </a:r>
            <a:endParaRPr/>
          </a:p>
        </p:txBody>
      </p:sp>
      <p:sp>
        <p:nvSpPr>
          <p:cNvPr id="245" name="Google Shape;245;p21"/>
          <p:cNvSpPr txBox="1"/>
          <p:nvPr/>
        </p:nvSpPr>
        <p:spPr>
          <a:xfrm>
            <a:off x="4023360" y="1883664"/>
            <a:ext cx="704100" cy="96396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1600"/>
              </a:spcAft>
              <a:buNone/>
            </a:pPr>
            <a:r>
              <a:rPr lang="en" sz="4500">
                <a:solidFill>
                  <a:schemeClr val="dk1"/>
                </a:solidFill>
                <a:latin typeface="Verdana"/>
                <a:ea typeface="Verdana"/>
                <a:cs typeface="Verdana"/>
                <a:sym typeface="Verdana"/>
              </a:rPr>
              <a:t>100149Id</a:t>
            </a:r>
            <a:endParaRPr sz="4500">
              <a:latin typeface="Verdana"/>
              <a:ea typeface="Verdana"/>
              <a:cs typeface="Verdana"/>
              <a:sym typeface="Verdana"/>
            </a:endParaRPr>
          </a:p>
        </p:txBody>
      </p:sp>
      <p:sp>
        <p:nvSpPr>
          <p:cNvPr id="246" name="Google Shape;246;p21"/>
          <p:cNvSpPr txBox="1"/>
          <p:nvPr/>
        </p:nvSpPr>
        <p:spPr>
          <a:xfrm>
            <a:off x="5779008" y="1883664"/>
            <a:ext cx="706200" cy="72498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1600"/>
              </a:spcAft>
              <a:buNone/>
            </a:pPr>
            <a:r>
              <a:rPr lang="en" sz="4500">
                <a:solidFill>
                  <a:schemeClr val="dk1"/>
                </a:solidFill>
                <a:latin typeface="Verdana"/>
                <a:ea typeface="Verdana"/>
                <a:cs typeface="Verdana"/>
                <a:sym typeface="Verdana"/>
              </a:rPr>
              <a:t>150Id</a:t>
            </a:r>
            <a:endParaRPr sz="4500">
              <a:solidFill>
                <a:schemeClr val="dk1"/>
              </a:solidFill>
              <a:latin typeface="Verdana"/>
              <a:ea typeface="Verdana"/>
              <a:cs typeface="Verdana"/>
              <a:sym typeface="Verdana"/>
            </a:endParaRPr>
          </a:p>
        </p:txBody>
      </p:sp>
      <p:sp>
        <p:nvSpPr>
          <p:cNvPr id="247" name="Google Shape;247;p21"/>
          <p:cNvSpPr txBox="1"/>
          <p:nvPr/>
        </p:nvSpPr>
        <p:spPr>
          <a:xfrm>
            <a:off x="557784" y="1883664"/>
            <a:ext cx="704100" cy="104361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1600"/>
              </a:spcAft>
              <a:buClr>
                <a:schemeClr val="dk1"/>
              </a:buClr>
              <a:buSzPts val="1100"/>
              <a:buFont typeface="Arial"/>
              <a:buNone/>
            </a:pPr>
            <a:r>
              <a:rPr lang="en" sz="4500">
                <a:solidFill>
                  <a:schemeClr val="dk1"/>
                </a:solidFill>
                <a:latin typeface="Verdana"/>
                <a:ea typeface="Verdana"/>
                <a:cs typeface="Verdana"/>
                <a:sym typeface="Verdana"/>
              </a:rPr>
              <a:t>under50Id</a:t>
            </a:r>
            <a:endParaRPr sz="4500">
              <a:latin typeface="Verdana"/>
              <a:ea typeface="Verdana"/>
              <a:cs typeface="Verdana"/>
              <a:sym typeface="Verdana"/>
            </a:endParaRPr>
          </a:p>
        </p:txBody>
      </p:sp>
      <p:sp>
        <p:nvSpPr>
          <p:cNvPr id="248" name="Google Shape;248;p21"/>
          <p:cNvSpPr/>
          <p:nvPr/>
        </p:nvSpPr>
        <p:spPr>
          <a:xfrm rot="5400000">
            <a:off x="1508460"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 name="Google Shape;249;p21"/>
          <p:cNvSpPr/>
          <p:nvPr/>
        </p:nvSpPr>
        <p:spPr>
          <a:xfrm rot="-5400000" flipH="1">
            <a:off x="4862194"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 name="Google Shape;250;p21"/>
          <p:cNvSpPr txBox="1"/>
          <p:nvPr/>
        </p:nvSpPr>
        <p:spPr>
          <a:xfrm>
            <a:off x="290900" y="5737428"/>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HAVE</a:t>
            </a:r>
            <a:endParaRPr b="1">
              <a:latin typeface="Verdana"/>
              <a:ea typeface="Verdana"/>
              <a:cs typeface="Verdana"/>
              <a:sym typeface="Verdana"/>
            </a:endParaRPr>
          </a:p>
        </p:txBody>
      </p:sp>
      <p:sp>
        <p:nvSpPr>
          <p:cNvPr id="251" name="Google Shape;251;p21"/>
          <p:cNvSpPr txBox="1"/>
          <p:nvPr/>
        </p:nvSpPr>
        <p:spPr>
          <a:xfrm>
            <a:off x="290900" y="6286925"/>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WANT</a:t>
            </a:r>
            <a:endParaRPr b="1">
              <a:latin typeface="Verdana"/>
              <a:ea typeface="Verdana"/>
              <a:cs typeface="Verdana"/>
              <a:sym typeface="Verdana"/>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255"/>
        <p:cNvGrpSpPr/>
        <p:nvPr/>
      </p:nvGrpSpPr>
      <p:grpSpPr>
        <a:xfrm>
          <a:off x="0" y="0"/>
          <a:ext cx="0" cy="0"/>
          <a:chOff x="0" y="0"/>
          <a:chExt cx="0" cy="0"/>
        </a:xfrm>
      </p:grpSpPr>
      <p:sp>
        <p:nvSpPr>
          <p:cNvPr id="256" name="Google Shape;256;p22"/>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Target Marketing</a:t>
            </a:r>
            <a:endParaRPr/>
          </a:p>
        </p:txBody>
      </p:sp>
      <p:sp>
        <p:nvSpPr>
          <p:cNvPr id="257" name="Google Shape;257;p22"/>
          <p:cNvSpPr txBox="1"/>
          <p:nvPr/>
        </p:nvSpPr>
        <p:spPr>
          <a:xfrm>
            <a:off x="364750" y="1172575"/>
            <a:ext cx="5008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A. What percentage of your "target" consumers are men?</a:t>
            </a:r>
            <a:endParaRPr b="1"/>
          </a:p>
        </p:txBody>
      </p:sp>
      <p:sp>
        <p:nvSpPr>
          <p:cNvPr id="258" name="Google Shape;258;p22"/>
          <p:cNvSpPr txBox="1"/>
          <p:nvPr/>
        </p:nvSpPr>
        <p:spPr>
          <a:xfrm>
            <a:off x="5806900" y="1172575"/>
            <a:ext cx="951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Women?</a:t>
            </a:r>
            <a:endParaRPr b="1"/>
          </a:p>
        </p:txBody>
      </p:sp>
      <p:sp>
        <p:nvSpPr>
          <p:cNvPr id="259" name="Google Shape;259;p22"/>
          <p:cNvSpPr txBox="1"/>
          <p:nvPr/>
        </p:nvSpPr>
        <p:spPr>
          <a:xfrm>
            <a:off x="364750" y="1650325"/>
            <a:ext cx="6280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B. What is the perceived income of your “target” consumer household?</a:t>
            </a:r>
            <a:endParaRPr b="1"/>
          </a:p>
        </p:txBody>
      </p:sp>
      <p:sp>
        <p:nvSpPr>
          <p:cNvPr id="260" name="Google Shape;260;p22"/>
          <p:cNvSpPr txBox="1"/>
          <p:nvPr/>
        </p:nvSpPr>
        <p:spPr>
          <a:xfrm>
            <a:off x="364750" y="2748325"/>
            <a:ext cx="762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C. </a:t>
            </a:r>
            <a:r>
              <a:rPr lang="en" sz="1150">
                <a:solidFill>
                  <a:schemeClr val="dk1"/>
                </a:solidFill>
                <a:latin typeface="Verdana"/>
                <a:ea typeface="Verdana"/>
                <a:cs typeface="Verdana"/>
                <a:sym typeface="Verdana"/>
              </a:rPr>
              <a:t> </a:t>
            </a:r>
            <a:r>
              <a:rPr lang="en" sz="1150" b="1">
                <a:solidFill>
                  <a:schemeClr val="dk1"/>
                </a:solidFill>
                <a:latin typeface="Verdana"/>
                <a:ea typeface="Verdana"/>
                <a:cs typeface="Verdana"/>
                <a:sym typeface="Verdana"/>
              </a:rPr>
              <a:t>How else would you describe your ideal "target" consumer (i.e. geo-targeting, home value, behavior, lifestyle, interests, family structure, etc)?</a:t>
            </a:r>
            <a:endParaRPr b="1"/>
          </a:p>
        </p:txBody>
      </p:sp>
      <p:sp>
        <p:nvSpPr>
          <p:cNvPr id="261" name="Google Shape;261;p22"/>
          <p:cNvSpPr txBox="1"/>
          <p:nvPr/>
        </p:nvSpPr>
        <p:spPr>
          <a:xfrm>
            <a:off x="364750" y="4032250"/>
            <a:ext cx="8458200" cy="526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800"/>
              </a:spcBef>
              <a:spcAft>
                <a:spcPts val="800"/>
              </a:spcAft>
              <a:buNone/>
            </a:pPr>
            <a:r>
              <a:rPr lang="en" sz="1150" b="1">
                <a:solidFill>
                  <a:schemeClr val="dk1"/>
                </a:solidFill>
                <a:latin typeface="Verdana"/>
                <a:ea typeface="Verdana"/>
                <a:cs typeface="Verdana"/>
                <a:sym typeface="Verdana"/>
              </a:rPr>
              <a:t>A lenograph is a picture of consumption by target values expressed by ratings 1-10, 10 the highest.</a:t>
            </a:r>
            <a:endParaRPr sz="1150">
              <a:solidFill>
                <a:schemeClr val="dk1"/>
              </a:solidFill>
              <a:latin typeface="Verdana"/>
              <a:ea typeface="Verdana"/>
              <a:cs typeface="Verdana"/>
              <a:sym typeface="Verdana"/>
            </a:endParaRPr>
          </a:p>
        </p:txBody>
      </p:sp>
      <p:sp>
        <p:nvSpPr>
          <p:cNvPr id="262" name="Google Shape;262;p22"/>
          <p:cNvSpPr txBox="1"/>
          <p:nvPr/>
        </p:nvSpPr>
        <p:spPr>
          <a:xfrm>
            <a:off x="1366525"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Under 50K</a:t>
            </a:r>
            <a:endParaRPr sz="1150">
              <a:latin typeface="Verdana"/>
              <a:ea typeface="Verdana"/>
              <a:cs typeface="Verdana"/>
              <a:sym typeface="Verdana"/>
            </a:endParaRPr>
          </a:p>
        </p:txBody>
      </p:sp>
      <p:sp>
        <p:nvSpPr>
          <p:cNvPr id="263" name="Google Shape;263;p22"/>
          <p:cNvSpPr txBox="1"/>
          <p:nvPr/>
        </p:nvSpPr>
        <p:spPr>
          <a:xfrm>
            <a:off x="3097300"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50K-</a:t>
            </a:r>
            <a:endParaRPr sz="1150">
              <a:latin typeface="Verdana"/>
              <a:ea typeface="Verdana"/>
              <a:cs typeface="Verdana"/>
              <a:sym typeface="Verdana"/>
            </a:endParaRPr>
          </a:p>
          <a:p>
            <a:pPr marL="0" lvl="0" indent="0" algn="l" rtl="0">
              <a:spcBef>
                <a:spcPts val="0"/>
              </a:spcBef>
              <a:spcAft>
                <a:spcPts val="0"/>
              </a:spcAft>
              <a:buNone/>
            </a:pPr>
            <a:r>
              <a:rPr lang="en" sz="1150">
                <a:latin typeface="Verdana"/>
                <a:ea typeface="Verdana"/>
                <a:cs typeface="Verdana"/>
                <a:sym typeface="Verdana"/>
              </a:rPr>
              <a:t>99K</a:t>
            </a:r>
            <a:endParaRPr sz="1150">
              <a:latin typeface="Verdana"/>
              <a:ea typeface="Verdana"/>
              <a:cs typeface="Verdana"/>
              <a:sym typeface="Verdana"/>
            </a:endParaRPr>
          </a:p>
        </p:txBody>
      </p:sp>
      <p:sp>
        <p:nvSpPr>
          <p:cNvPr id="264" name="Google Shape;264;p22"/>
          <p:cNvSpPr txBox="1"/>
          <p:nvPr/>
        </p:nvSpPr>
        <p:spPr>
          <a:xfrm>
            <a:off x="4828100"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100K-</a:t>
            </a:r>
            <a:endParaRPr sz="1150">
              <a:latin typeface="Verdana"/>
              <a:ea typeface="Verdana"/>
              <a:cs typeface="Verdana"/>
              <a:sym typeface="Verdana"/>
            </a:endParaRPr>
          </a:p>
          <a:p>
            <a:pPr marL="0" lvl="0" indent="0" algn="l" rtl="0">
              <a:spcBef>
                <a:spcPts val="0"/>
              </a:spcBef>
              <a:spcAft>
                <a:spcPts val="0"/>
              </a:spcAft>
              <a:buNone/>
            </a:pPr>
            <a:r>
              <a:rPr lang="en" sz="1150">
                <a:latin typeface="Verdana"/>
                <a:ea typeface="Verdana"/>
                <a:cs typeface="Verdana"/>
                <a:sym typeface="Verdana"/>
              </a:rPr>
              <a:t>149K</a:t>
            </a:r>
            <a:endParaRPr sz="1150">
              <a:latin typeface="Verdana"/>
              <a:ea typeface="Verdana"/>
              <a:cs typeface="Verdana"/>
              <a:sym typeface="Verdana"/>
            </a:endParaRPr>
          </a:p>
        </p:txBody>
      </p:sp>
      <p:sp>
        <p:nvSpPr>
          <p:cNvPr id="265" name="Google Shape;265;p22"/>
          <p:cNvSpPr txBox="1"/>
          <p:nvPr/>
        </p:nvSpPr>
        <p:spPr>
          <a:xfrm>
            <a:off x="6558875"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150K plus</a:t>
            </a:r>
            <a:endParaRPr sz="1150">
              <a:latin typeface="Verdana"/>
              <a:ea typeface="Verdana"/>
              <a:cs typeface="Verdana"/>
              <a:sym typeface="Verdana"/>
            </a:endParaRPr>
          </a:p>
        </p:txBody>
      </p:sp>
      <p:sp>
        <p:nvSpPr>
          <p:cNvPr id="266" name="Google Shape;266;p22"/>
          <p:cNvSpPr txBox="1"/>
          <p:nvPr/>
        </p:nvSpPr>
        <p:spPr>
          <a:xfrm>
            <a:off x="364750" y="3390288"/>
            <a:ext cx="7818000" cy="433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1600"/>
              </a:spcAft>
              <a:buNone/>
            </a:pPr>
            <a:r>
              <a:rPr lang="en" sz="1100">
                <a:solidFill>
                  <a:schemeClr val="dk1"/>
                </a:solidFill>
                <a:latin typeface="Verdana"/>
                <a:ea typeface="Verdana"/>
                <a:cs typeface="Verdana"/>
                <a:sym typeface="Verdana"/>
              </a:rPr>
              <a:t>describeIdealTargetConsumer </a:t>
            </a:r>
            <a:endParaRPr/>
          </a:p>
        </p:txBody>
      </p:sp>
      <p:sp>
        <p:nvSpPr>
          <p:cNvPr id="267" name="Google Shape;267;p22"/>
          <p:cNvSpPr txBox="1"/>
          <p:nvPr/>
        </p:nvSpPr>
        <p:spPr>
          <a:xfrm>
            <a:off x="5284900" y="1206625"/>
            <a:ext cx="5220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Clr>
                <a:schemeClr val="dk1"/>
              </a:buClr>
              <a:buSzPts val="1100"/>
              <a:buFont typeface="Arial"/>
              <a:buNone/>
            </a:pPr>
            <a:r>
              <a:rPr lang="en" sz="1100">
                <a:solidFill>
                  <a:schemeClr val="dk1"/>
                </a:solidFill>
                <a:latin typeface="Verdana"/>
                <a:ea typeface="Verdana"/>
                <a:cs typeface="Verdana"/>
                <a:sym typeface="Verdana"/>
              </a:rPr>
              <a:t>pctMen</a:t>
            </a:r>
            <a:endParaRPr/>
          </a:p>
        </p:txBody>
      </p:sp>
      <p:sp>
        <p:nvSpPr>
          <p:cNvPr id="268" name="Google Shape;268;p22"/>
          <p:cNvSpPr txBox="1"/>
          <p:nvPr/>
        </p:nvSpPr>
        <p:spPr>
          <a:xfrm>
            <a:off x="6707075" y="1206625"/>
            <a:ext cx="5220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None/>
            </a:pPr>
            <a:r>
              <a:rPr lang="en" sz="1100">
                <a:solidFill>
                  <a:schemeClr val="dk1"/>
                </a:solidFill>
                <a:latin typeface="Verdana"/>
                <a:ea typeface="Verdana"/>
                <a:cs typeface="Verdana"/>
                <a:sym typeface="Verdana"/>
              </a:rPr>
              <a:t>pctWomen</a:t>
            </a:r>
            <a:endParaRPr/>
          </a:p>
        </p:txBody>
      </p:sp>
      <p:sp>
        <p:nvSpPr>
          <p:cNvPr id="269" name="Google Shape;269;p22"/>
          <p:cNvSpPr txBox="1"/>
          <p:nvPr/>
        </p:nvSpPr>
        <p:spPr>
          <a:xfrm>
            <a:off x="2286000" y="1883664"/>
            <a:ext cx="706200" cy="80463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1600"/>
              </a:spcAft>
              <a:buNone/>
            </a:pPr>
            <a:r>
              <a:rPr lang="en" sz="4500">
                <a:solidFill>
                  <a:schemeClr val="dk1"/>
                </a:solidFill>
                <a:latin typeface="Verdana"/>
                <a:ea typeface="Verdana"/>
                <a:cs typeface="Verdana"/>
                <a:sym typeface="Verdana"/>
              </a:rPr>
              <a:t>5099Id</a:t>
            </a:r>
            <a:endParaRPr sz="4500">
              <a:solidFill>
                <a:schemeClr val="dk1"/>
              </a:solidFill>
              <a:latin typeface="Verdana"/>
              <a:ea typeface="Verdana"/>
              <a:cs typeface="Verdana"/>
              <a:sym typeface="Verdana"/>
            </a:endParaRPr>
          </a:p>
        </p:txBody>
      </p:sp>
      <p:sp>
        <p:nvSpPr>
          <p:cNvPr id="270" name="Google Shape;270;p22"/>
          <p:cNvSpPr txBox="1"/>
          <p:nvPr/>
        </p:nvSpPr>
        <p:spPr>
          <a:xfrm>
            <a:off x="5779008" y="1883664"/>
            <a:ext cx="706200" cy="72498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1600"/>
              </a:spcAft>
              <a:buNone/>
            </a:pPr>
            <a:r>
              <a:rPr lang="en" sz="4500">
                <a:solidFill>
                  <a:schemeClr val="dk1"/>
                </a:solidFill>
                <a:latin typeface="Verdana"/>
                <a:ea typeface="Verdana"/>
                <a:cs typeface="Verdana"/>
                <a:sym typeface="Verdana"/>
              </a:rPr>
              <a:t>150Id</a:t>
            </a:r>
            <a:endParaRPr sz="4500">
              <a:solidFill>
                <a:schemeClr val="dk1"/>
              </a:solidFill>
              <a:latin typeface="Verdana"/>
              <a:ea typeface="Verdana"/>
              <a:cs typeface="Verdana"/>
              <a:sym typeface="Verdana"/>
            </a:endParaRPr>
          </a:p>
        </p:txBody>
      </p:sp>
      <p:sp>
        <p:nvSpPr>
          <p:cNvPr id="271" name="Google Shape;271;p22"/>
          <p:cNvSpPr txBox="1"/>
          <p:nvPr/>
        </p:nvSpPr>
        <p:spPr>
          <a:xfrm>
            <a:off x="557784" y="1883664"/>
            <a:ext cx="704100" cy="104361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1600"/>
              </a:spcAft>
              <a:buClr>
                <a:schemeClr val="dk1"/>
              </a:buClr>
              <a:buSzPts val="1100"/>
              <a:buFont typeface="Arial"/>
              <a:buNone/>
            </a:pPr>
            <a:r>
              <a:rPr lang="en" sz="4500">
                <a:solidFill>
                  <a:schemeClr val="dk1"/>
                </a:solidFill>
                <a:latin typeface="Verdana"/>
                <a:ea typeface="Verdana"/>
                <a:cs typeface="Verdana"/>
                <a:sym typeface="Verdana"/>
              </a:rPr>
              <a:t>under50Id</a:t>
            </a:r>
            <a:endParaRPr sz="4500">
              <a:latin typeface="Verdana"/>
              <a:ea typeface="Verdana"/>
              <a:cs typeface="Verdana"/>
              <a:sym typeface="Verdana"/>
            </a:endParaRPr>
          </a:p>
        </p:txBody>
      </p:sp>
      <p:sp>
        <p:nvSpPr>
          <p:cNvPr id="272" name="Google Shape;272;p22"/>
          <p:cNvSpPr txBox="1"/>
          <p:nvPr/>
        </p:nvSpPr>
        <p:spPr>
          <a:xfrm>
            <a:off x="4023360" y="1883664"/>
            <a:ext cx="704100" cy="96396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1600"/>
              </a:spcAft>
              <a:buNone/>
            </a:pPr>
            <a:r>
              <a:rPr lang="en" sz="4500">
                <a:solidFill>
                  <a:schemeClr val="dk1"/>
                </a:solidFill>
                <a:latin typeface="Verdana"/>
                <a:ea typeface="Verdana"/>
                <a:cs typeface="Verdana"/>
                <a:sym typeface="Verdana"/>
              </a:rPr>
              <a:t>100149Id</a:t>
            </a:r>
            <a:endParaRPr sz="4500">
              <a:latin typeface="Verdana"/>
              <a:ea typeface="Verdana"/>
              <a:cs typeface="Verdana"/>
              <a:sym typeface="Verdana"/>
            </a:endParaRPr>
          </a:p>
        </p:txBody>
      </p:sp>
      <p:sp>
        <p:nvSpPr>
          <p:cNvPr id="273" name="Google Shape;273;p22"/>
          <p:cNvSpPr/>
          <p:nvPr/>
        </p:nvSpPr>
        <p:spPr>
          <a:xfrm rot="-5400000" flipH="1">
            <a:off x="3729056"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aphicFrame>
        <p:nvGraphicFramePr>
          <p:cNvPr id="274" name="Google Shape;274;p22"/>
          <p:cNvGraphicFramePr/>
          <p:nvPr/>
        </p:nvGraphicFramePr>
        <p:xfrm>
          <a:off x="1203108" y="4562856"/>
          <a:ext cx="6741175" cy="2261786"/>
        </p:xfrm>
        <a:graphic>
          <a:graphicData uri="http://schemas.openxmlformats.org/drawingml/2006/table">
            <a:tbl>
              <a:tblPr>
                <a:noFill/>
                <a:tableStyleId>{779AAC5F-F97D-4193-AF94-6FAFF6667CF6}</a:tableStyleId>
              </a:tblPr>
              <a:tblGrid>
                <a:gridCol w="1130100">
                  <a:extLst>
                    <a:ext uri="{9D8B030D-6E8A-4147-A177-3AD203B41FA5}">
                      <a16:colId xmlns:a16="http://schemas.microsoft.com/office/drawing/2014/main" val="20000"/>
                    </a:ext>
                  </a:extLst>
                </a:gridCol>
                <a:gridCol w="1130100">
                  <a:extLst>
                    <a:ext uri="{9D8B030D-6E8A-4147-A177-3AD203B41FA5}">
                      <a16:colId xmlns:a16="http://schemas.microsoft.com/office/drawing/2014/main" val="20001"/>
                    </a:ext>
                  </a:extLst>
                </a:gridCol>
                <a:gridCol w="1130100">
                  <a:extLst>
                    <a:ext uri="{9D8B030D-6E8A-4147-A177-3AD203B41FA5}">
                      <a16:colId xmlns:a16="http://schemas.microsoft.com/office/drawing/2014/main" val="20002"/>
                    </a:ext>
                  </a:extLst>
                </a:gridCol>
                <a:gridCol w="1130100">
                  <a:extLst>
                    <a:ext uri="{9D8B030D-6E8A-4147-A177-3AD203B41FA5}">
                      <a16:colId xmlns:a16="http://schemas.microsoft.com/office/drawing/2014/main" val="20003"/>
                    </a:ext>
                  </a:extLst>
                </a:gridCol>
                <a:gridCol w="1130100">
                  <a:extLst>
                    <a:ext uri="{9D8B030D-6E8A-4147-A177-3AD203B41FA5}">
                      <a16:colId xmlns:a16="http://schemas.microsoft.com/office/drawing/2014/main" val="20004"/>
                    </a:ext>
                  </a:extLst>
                </a:gridCol>
                <a:gridCol w="1090675">
                  <a:extLst>
                    <a:ext uri="{9D8B030D-6E8A-4147-A177-3AD203B41FA5}">
                      <a16:colId xmlns:a16="http://schemas.microsoft.com/office/drawing/2014/main" val="20005"/>
                    </a:ext>
                  </a:extLst>
                </a:gridCol>
              </a:tblGrid>
              <a:tr h="579425">
                <a:tc gridSpan="2">
                  <a:txBody>
                    <a:bodyPr/>
                    <a:lstStyle/>
                    <a:p>
                      <a:pPr marL="0" lvl="0" indent="0" algn="ctr" rtl="0">
                        <a:spcBef>
                          <a:spcPts val="0"/>
                        </a:spcBef>
                        <a:spcAft>
                          <a:spcPts val="0"/>
                        </a:spcAft>
                        <a:buNone/>
                      </a:pPr>
                      <a:r>
                        <a:rPr lang="en" sz="1900" b="1"/>
                        <a:t>Target 85%</a:t>
                      </a:r>
                      <a:endParaRPr sz="1900" b="1"/>
                    </a:p>
                  </a:txBody>
                  <a:tcPr marL="91425" marR="91425" marT="91425" marB="91425" anchor="ctr">
                    <a:lnL w="19050" cap="flat" cmpd="sng">
                      <a:solidFill>
                        <a:schemeClr val="dk1"/>
                      </a:solidFill>
                      <a:prstDash val="solid"/>
                      <a:round/>
                      <a:headEnd type="none" w="sm" len="sm"/>
                      <a:tailEnd type="none" w="sm" len="sm"/>
                    </a:lnL>
                    <a:lnR w="19050" cap="flat" cmpd="sng">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FFFF00"/>
                    </a:solidFill>
                  </a:tcPr>
                </a:tc>
                <a:tc hMerge="1">
                  <a:txBody>
                    <a:bodyPr/>
                    <a:lstStyle/>
                    <a:p>
                      <a:endParaRPr lang="en-US"/>
                    </a:p>
                  </a:txBody>
                  <a:tcPr/>
                </a:tc>
                <a:tc>
                  <a:txBody>
                    <a:bodyPr/>
                    <a:lstStyle/>
                    <a:p>
                      <a:pPr marL="0" lvl="0" indent="0" algn="l" rtl="0">
                        <a:spcBef>
                          <a:spcPts val="0"/>
                        </a:spcBef>
                        <a:spcAft>
                          <a:spcPts val="0"/>
                        </a:spcAft>
                        <a:buNone/>
                      </a:pPr>
                      <a:endParaRPr/>
                    </a:p>
                  </a:txBody>
                  <a:tcPr marL="91425" marR="91425" marT="91425" marB="91425" anchor="ctr">
                    <a:lnL w="19050" cap="flat" cmpd="sng">
                      <a:solidFill>
                        <a:schemeClr val="dk1"/>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endParaRPr sz="1900" b="1">
                        <a:latin typeface="Verdana"/>
                        <a:ea typeface="Verdana"/>
                        <a:cs typeface="Verdana"/>
                        <a:sym typeface="Verdana"/>
                      </a:endParaRPr>
                    </a:p>
                  </a:txBody>
                  <a:tcPr marL="91425" marR="91425" marT="91425" marB="914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r h="579425">
                <a:tc>
                  <a:txBody>
                    <a:bodyPr/>
                    <a:lstStyle/>
                    <a:p>
                      <a:pPr marL="0" lvl="0" indent="0" algn="ctr" rtl="0">
                        <a:spcBef>
                          <a:spcPts val="0"/>
                        </a:spcBef>
                        <a:spcAft>
                          <a:spcPts val="0"/>
                        </a:spcAft>
                        <a:buNone/>
                      </a:pPr>
                      <a:r>
                        <a:rPr lang="en" b="1">
                          <a:latin typeface="Verdana"/>
                          <a:ea typeface="Verdana"/>
                          <a:cs typeface="Verdana"/>
                          <a:sym typeface="Verdana"/>
                        </a:rPr>
                        <a:t>12-18</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19-25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26-35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36-45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46-55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56+</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{{have12to18}}</a:t>
                      </a: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{{have19to25}}</a:t>
                      </a:r>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a:solidFill>
                            <a:schemeClr val="dk1"/>
                          </a:solidFill>
                          <a:latin typeface="Verdana"/>
                          <a:ea typeface="Verdana"/>
                          <a:cs typeface="Verdana"/>
                          <a:sym typeface="Verdana"/>
                        </a:rPr>
                        <a:t>{{have26to35}}</a:t>
                      </a: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{{have36to45}}</a:t>
                      </a:r>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{{have46to55}}</a:t>
                      </a:r>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{{have56Plus}}</a:t>
                      </a:r>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{{want19to25}}</a:t>
                      </a: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{{want19to25}}</a:t>
                      </a:r>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a:solidFill>
                            <a:schemeClr val="dk1"/>
                          </a:solidFill>
                          <a:latin typeface="Verdana"/>
                          <a:ea typeface="Verdana"/>
                          <a:cs typeface="Verdana"/>
                          <a:sym typeface="Verdana"/>
                        </a:rPr>
                        <a:t>{{want26to35}}</a:t>
                      </a: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{{want36to45}}</a:t>
                      </a:r>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{{want46to55}}</a:t>
                      </a:r>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{{want55Plus}}</a:t>
                      </a:r>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275" name="Google Shape;275;p22"/>
          <p:cNvSpPr txBox="1"/>
          <p:nvPr/>
        </p:nvSpPr>
        <p:spPr>
          <a:xfrm>
            <a:off x="290900" y="5737428"/>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HAVE</a:t>
            </a:r>
            <a:endParaRPr b="1">
              <a:latin typeface="Verdana"/>
              <a:ea typeface="Verdana"/>
              <a:cs typeface="Verdana"/>
              <a:sym typeface="Verdana"/>
            </a:endParaRPr>
          </a:p>
        </p:txBody>
      </p:sp>
      <p:sp>
        <p:nvSpPr>
          <p:cNvPr id="276" name="Google Shape;276;p22"/>
          <p:cNvSpPr txBox="1"/>
          <p:nvPr/>
        </p:nvSpPr>
        <p:spPr>
          <a:xfrm>
            <a:off x="290900" y="6286925"/>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WANT</a:t>
            </a:r>
            <a:endParaRPr b="1">
              <a:latin typeface="Verdana"/>
              <a:ea typeface="Verdana"/>
              <a:cs typeface="Verdana"/>
              <a:sym typeface="Verdana"/>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sp>
        <p:nvSpPr>
          <p:cNvPr id="281" name="Google Shape;281;p23"/>
          <p:cNvSpPr txBox="1">
            <a:spLocks noGrp="1"/>
          </p:cNvSpPr>
          <p:nvPr>
            <p:ph type="ctrTitle"/>
          </p:nvPr>
        </p:nvSpPr>
        <p:spPr>
          <a:xfrm>
            <a:off x="693450" y="475488"/>
            <a:ext cx="7757100" cy="8544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sz="2500"/>
              <a:t>Recommended Reallocation of </a:t>
            </a:r>
            <a:endParaRPr sz="2500"/>
          </a:p>
          <a:p>
            <a:pPr marL="0" lvl="0" indent="0" algn="ctr" rtl="0">
              <a:spcBef>
                <a:spcPts val="0"/>
              </a:spcBef>
              <a:spcAft>
                <a:spcPts val="0"/>
              </a:spcAft>
              <a:buNone/>
            </a:pPr>
            <a:r>
              <a:rPr lang="en" sz="2500"/>
              <a:t>Total Advertising Investment (TAI)</a:t>
            </a:r>
            <a:endParaRPr sz="2500"/>
          </a:p>
        </p:txBody>
      </p:sp>
      <p:sp>
        <p:nvSpPr>
          <p:cNvPr id="282" name="Google Shape;282;p23"/>
          <p:cNvSpPr txBox="1">
            <a:spLocks noGrp="1"/>
          </p:cNvSpPr>
          <p:nvPr>
            <p:ph type="body" idx="1"/>
          </p:nvPr>
        </p:nvSpPr>
        <p:spPr>
          <a:xfrm>
            <a:off x="5157216" y="1351525"/>
            <a:ext cx="3592200" cy="393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Proposed 12 Month Media Allocation</a:t>
            </a:r>
            <a:endParaRPr sz="1150" b="1">
              <a:solidFill>
                <a:srgbClr val="000000"/>
              </a:solidFill>
              <a:latin typeface="Verdana"/>
              <a:ea typeface="Verdana"/>
              <a:cs typeface="Verdana"/>
              <a:sym typeface="Verdana"/>
            </a:endParaRPr>
          </a:p>
        </p:txBody>
      </p:sp>
      <p:sp>
        <p:nvSpPr>
          <p:cNvPr id="283" name="Google Shape;283;p23"/>
          <p:cNvSpPr txBox="1"/>
          <p:nvPr/>
        </p:nvSpPr>
        <p:spPr>
          <a:xfrm>
            <a:off x="1143000" y="4122513"/>
            <a:ext cx="1510800" cy="538800"/>
          </a:xfrm>
          <a:prstGeom prst="rect">
            <a:avLst/>
          </a:prstGeom>
          <a:noFill/>
          <a:ln>
            <a:noFill/>
          </a:ln>
        </p:spPr>
        <p:txBody>
          <a:bodyPr spcFirstLastPara="1" wrap="square" lIns="91425" tIns="91425" rIns="91425" bIns="91425" anchor="t" anchorCtr="0">
            <a:spAutoFit/>
          </a:bodyPr>
          <a:lstStyle/>
          <a:p>
            <a:pPr marL="0" lvl="0" indent="0" algn="l" rtl="0">
              <a:lnSpc>
                <a:spcPct val="100000"/>
              </a:lnSpc>
              <a:spcBef>
                <a:spcPts val="0"/>
              </a:spcBef>
              <a:spcAft>
                <a:spcPts val="0"/>
              </a:spcAft>
              <a:buNone/>
            </a:pPr>
            <a:r>
              <a:rPr lang="en" sz="1150" b="1">
                <a:latin typeface="Verdana"/>
                <a:ea typeface="Verdana"/>
                <a:cs typeface="Verdana"/>
                <a:sym typeface="Verdana"/>
              </a:rPr>
              <a:t>Total Adv. Investment</a:t>
            </a:r>
            <a:endParaRPr sz="1150" b="1">
              <a:latin typeface="Verdana"/>
              <a:ea typeface="Verdana"/>
              <a:cs typeface="Verdana"/>
              <a:sym typeface="Verdana"/>
            </a:endParaRPr>
          </a:p>
        </p:txBody>
      </p:sp>
      <p:sp>
        <p:nvSpPr>
          <p:cNvPr id="284" name="Google Shape;284;p23"/>
          <p:cNvSpPr txBox="1"/>
          <p:nvPr/>
        </p:nvSpPr>
        <p:spPr>
          <a:xfrm>
            <a:off x="1140775" y="1641700"/>
            <a:ext cx="1782300" cy="2485800"/>
          </a:xfrm>
          <a:prstGeom prst="rect">
            <a:avLst/>
          </a:prstGeom>
          <a:noFill/>
          <a:ln>
            <a:noFill/>
          </a:ln>
        </p:spPr>
        <p:txBody>
          <a:bodyPr spcFirstLastPara="1" wrap="square" lIns="91425" tIns="91425" rIns="91425" bIns="91425" anchor="t" anchorCtr="0">
            <a:spAutoFit/>
          </a:bodyPr>
          <a:lstStyle/>
          <a:p>
            <a:pPr marL="0" lvl="0" indent="0" algn="l" rtl="0">
              <a:lnSpc>
                <a:spcPct val="150000"/>
              </a:lnSpc>
              <a:spcBef>
                <a:spcPts val="0"/>
              </a:spcBef>
              <a:spcAft>
                <a:spcPts val="0"/>
              </a:spcAft>
              <a:buNone/>
            </a:pPr>
            <a:r>
              <a:rPr lang="en" sz="1150">
                <a:latin typeface="Verdana"/>
                <a:ea typeface="Verdana"/>
                <a:cs typeface="Verdana"/>
                <a:sym typeface="Verdana"/>
              </a:rPr>
              <a:t>lastYearLabel1</a:t>
            </a:r>
            <a:endParaRPr sz="1150">
              <a:latin typeface="Verdana"/>
              <a:ea typeface="Verdana"/>
              <a:cs typeface="Verdana"/>
              <a:sym typeface="Verdana"/>
            </a:endParaRPr>
          </a:p>
          <a:p>
            <a:pPr marL="0" lvl="0" indent="0" algn="l" rtl="0">
              <a:lnSpc>
                <a:spcPct val="150000"/>
              </a:lnSpc>
              <a:spcBef>
                <a:spcPts val="0"/>
              </a:spcBef>
              <a:spcAft>
                <a:spcPts val="0"/>
              </a:spcAft>
              <a:buNone/>
            </a:pPr>
            <a:r>
              <a:rPr lang="en" sz="1150">
                <a:latin typeface="Verdana"/>
                <a:ea typeface="Verdana"/>
                <a:cs typeface="Verdana"/>
                <a:sym typeface="Verdana"/>
              </a:rPr>
              <a:t>lastYearLabel2</a:t>
            </a:r>
            <a:endParaRPr sz="1150">
              <a:latin typeface="Verdana"/>
              <a:ea typeface="Verdana"/>
              <a:cs typeface="Verdana"/>
              <a:sym typeface="Verdana"/>
            </a:endParaRPr>
          </a:p>
          <a:p>
            <a:pPr marL="0" lvl="0" indent="0" algn="l" rtl="0">
              <a:lnSpc>
                <a:spcPct val="150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lastYearLabel3</a:t>
            </a:r>
            <a:endParaRPr sz="1150">
              <a:latin typeface="Verdana"/>
              <a:ea typeface="Verdana"/>
              <a:cs typeface="Verdana"/>
              <a:sym typeface="Verdana"/>
            </a:endParaRPr>
          </a:p>
          <a:p>
            <a:pPr marL="0" lvl="0" indent="0" algn="l" rtl="0">
              <a:lnSpc>
                <a:spcPct val="150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lastYearLabel4</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lastYearLabel5</a:t>
            </a:r>
            <a:endParaRPr sz="1150">
              <a:latin typeface="Verdana"/>
              <a:ea typeface="Verdana"/>
              <a:cs typeface="Verdana"/>
              <a:sym typeface="Verdana"/>
            </a:endParaRPr>
          </a:p>
          <a:p>
            <a:pPr marL="0" lvl="0" indent="0" algn="l" rtl="0">
              <a:lnSpc>
                <a:spcPct val="150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lastYearLabel6</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lastYearLabel7</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lastYearLabel8</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lastYearLabel9</a:t>
            </a:r>
            <a:endParaRPr sz="1150">
              <a:solidFill>
                <a:schemeClr val="dk1"/>
              </a:solidFill>
              <a:latin typeface="Verdana"/>
              <a:ea typeface="Verdana"/>
              <a:cs typeface="Verdana"/>
              <a:sym typeface="Verdana"/>
            </a:endParaRPr>
          </a:p>
        </p:txBody>
      </p:sp>
      <p:sp>
        <p:nvSpPr>
          <p:cNvPr id="285" name="Google Shape;285;p23"/>
          <p:cNvSpPr txBox="1">
            <a:spLocks noGrp="1"/>
          </p:cNvSpPr>
          <p:nvPr>
            <p:ph type="body" idx="1"/>
          </p:nvPr>
        </p:nvSpPr>
        <p:spPr>
          <a:xfrm>
            <a:off x="642300" y="4907725"/>
            <a:ext cx="5007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B.</a:t>
            </a:r>
            <a:endParaRPr sz="1150" b="1">
              <a:solidFill>
                <a:srgbClr val="000000"/>
              </a:solidFill>
              <a:latin typeface="Verdana"/>
              <a:ea typeface="Verdana"/>
              <a:cs typeface="Verdana"/>
              <a:sym typeface="Verdana"/>
            </a:endParaRPr>
          </a:p>
        </p:txBody>
      </p:sp>
      <p:sp>
        <p:nvSpPr>
          <p:cNvPr id="286" name="Google Shape;286;p23"/>
          <p:cNvSpPr txBox="1">
            <a:spLocks noGrp="1"/>
          </p:cNvSpPr>
          <p:nvPr>
            <p:ph type="body" idx="1"/>
          </p:nvPr>
        </p:nvSpPr>
        <p:spPr>
          <a:xfrm>
            <a:off x="1190888" y="4907725"/>
            <a:ext cx="1997100" cy="390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solidFill>
                  <a:schemeClr val="dk1"/>
                </a:solidFill>
              </a:rPr>
              <a:t>totalMediaInvestmentInput</a:t>
            </a:r>
            <a:endParaRPr sz="1150">
              <a:solidFill>
                <a:srgbClr val="000000"/>
              </a:solidFill>
              <a:latin typeface="Verdana"/>
              <a:ea typeface="Verdana"/>
              <a:cs typeface="Verdana"/>
              <a:sym typeface="Verdana"/>
            </a:endParaRPr>
          </a:p>
        </p:txBody>
      </p:sp>
      <p:sp>
        <p:nvSpPr>
          <p:cNvPr id="287" name="Google Shape;287;p23"/>
          <p:cNvSpPr txBox="1">
            <a:spLocks noGrp="1"/>
          </p:cNvSpPr>
          <p:nvPr>
            <p:ph type="body" idx="1"/>
          </p:nvPr>
        </p:nvSpPr>
        <p:spPr>
          <a:xfrm>
            <a:off x="1143000" y="5196850"/>
            <a:ext cx="2102700" cy="3903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1600"/>
              </a:spcAft>
              <a:buNone/>
            </a:pPr>
            <a:r>
              <a:rPr lang="en" sz="1150" b="1">
                <a:solidFill>
                  <a:srgbClr val="000000"/>
                </a:solidFill>
                <a:latin typeface="Verdana"/>
                <a:ea typeface="Verdana"/>
                <a:cs typeface="Verdana"/>
                <a:sym typeface="Verdana"/>
              </a:rPr>
              <a:t>Total Adv Investment Next 12 Months</a:t>
            </a:r>
            <a:endParaRPr sz="1150" b="1">
              <a:solidFill>
                <a:srgbClr val="000000"/>
              </a:solidFill>
              <a:latin typeface="Verdana"/>
              <a:ea typeface="Verdana"/>
              <a:cs typeface="Verdana"/>
              <a:sym typeface="Verdana"/>
            </a:endParaRPr>
          </a:p>
        </p:txBody>
      </p:sp>
      <p:sp>
        <p:nvSpPr>
          <p:cNvPr id="288" name="Google Shape;288;p23"/>
          <p:cNvSpPr txBox="1">
            <a:spLocks noGrp="1"/>
          </p:cNvSpPr>
          <p:nvPr>
            <p:ph type="body" idx="1"/>
          </p:nvPr>
        </p:nvSpPr>
        <p:spPr>
          <a:xfrm>
            <a:off x="642300" y="5963950"/>
            <a:ext cx="5007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C.</a:t>
            </a:r>
            <a:endParaRPr sz="1150" b="1">
              <a:solidFill>
                <a:srgbClr val="000000"/>
              </a:solidFill>
              <a:latin typeface="Verdana"/>
              <a:ea typeface="Verdana"/>
              <a:cs typeface="Verdana"/>
              <a:sym typeface="Verdana"/>
            </a:endParaRPr>
          </a:p>
        </p:txBody>
      </p:sp>
      <p:sp>
        <p:nvSpPr>
          <p:cNvPr id="289" name="Google Shape;289;p23"/>
          <p:cNvSpPr txBox="1">
            <a:spLocks noGrp="1"/>
          </p:cNvSpPr>
          <p:nvPr>
            <p:ph type="body" idx="1"/>
          </p:nvPr>
        </p:nvSpPr>
        <p:spPr>
          <a:xfrm>
            <a:off x="1195800" y="6249220"/>
            <a:ext cx="1997100" cy="3903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1600"/>
              </a:spcAft>
              <a:buNone/>
            </a:pPr>
            <a:r>
              <a:rPr lang="en" sz="1150" b="1">
                <a:solidFill>
                  <a:srgbClr val="000000"/>
                </a:solidFill>
                <a:latin typeface="Verdana"/>
                <a:ea typeface="Verdana"/>
                <a:cs typeface="Verdana"/>
                <a:sym typeface="Verdana"/>
              </a:rPr>
              <a:t>Stretch Goal Total Adv. Investment Next 12 Months</a:t>
            </a:r>
            <a:endParaRPr sz="1150" b="1">
              <a:solidFill>
                <a:srgbClr val="000000"/>
              </a:solidFill>
              <a:latin typeface="Verdana"/>
              <a:ea typeface="Verdana"/>
              <a:cs typeface="Verdana"/>
              <a:sym typeface="Verdana"/>
            </a:endParaRPr>
          </a:p>
        </p:txBody>
      </p:sp>
      <p:sp>
        <p:nvSpPr>
          <p:cNvPr id="290" name="Google Shape;290;p23"/>
          <p:cNvSpPr txBox="1">
            <a:spLocks noGrp="1"/>
          </p:cNvSpPr>
          <p:nvPr>
            <p:ph type="body" idx="1"/>
          </p:nvPr>
        </p:nvSpPr>
        <p:spPr>
          <a:xfrm>
            <a:off x="3541650" y="5196838"/>
            <a:ext cx="2694600" cy="3903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1600"/>
              </a:spcAft>
              <a:buNone/>
            </a:pPr>
            <a:r>
              <a:rPr lang="en" sz="1150" b="1">
                <a:solidFill>
                  <a:srgbClr val="000000"/>
                </a:solidFill>
                <a:latin typeface="Verdana"/>
                <a:ea typeface="Verdana"/>
                <a:cs typeface="Verdana"/>
                <a:sym typeface="Verdana"/>
              </a:rPr>
              <a:t>Adv % of Gross Sales</a:t>
            </a:r>
            <a:endParaRPr sz="1150" b="1">
              <a:solidFill>
                <a:srgbClr val="000000"/>
              </a:solidFill>
              <a:latin typeface="Verdana"/>
              <a:ea typeface="Verdana"/>
              <a:cs typeface="Verdana"/>
              <a:sym typeface="Verdana"/>
            </a:endParaRPr>
          </a:p>
        </p:txBody>
      </p:sp>
      <p:sp>
        <p:nvSpPr>
          <p:cNvPr id="291" name="Google Shape;291;p23"/>
          <p:cNvSpPr txBox="1">
            <a:spLocks noGrp="1"/>
          </p:cNvSpPr>
          <p:nvPr>
            <p:ph type="body" idx="1"/>
          </p:nvPr>
        </p:nvSpPr>
        <p:spPr>
          <a:xfrm>
            <a:off x="3821700" y="6245352"/>
            <a:ext cx="2134500" cy="3903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1600"/>
              </a:spcAft>
              <a:buNone/>
            </a:pPr>
            <a:r>
              <a:rPr lang="en" sz="1150" b="1">
                <a:solidFill>
                  <a:srgbClr val="000000"/>
                </a:solidFill>
                <a:latin typeface="Verdana"/>
                <a:ea typeface="Verdana"/>
                <a:cs typeface="Verdana"/>
                <a:sym typeface="Verdana"/>
              </a:rPr>
              <a:t>Adv % of Gross Sales</a:t>
            </a:r>
            <a:endParaRPr sz="1150" b="1">
              <a:solidFill>
                <a:srgbClr val="000000"/>
              </a:solidFill>
              <a:latin typeface="Verdana"/>
              <a:ea typeface="Verdana"/>
              <a:cs typeface="Verdana"/>
              <a:sym typeface="Verdana"/>
            </a:endParaRPr>
          </a:p>
        </p:txBody>
      </p:sp>
      <p:sp>
        <p:nvSpPr>
          <p:cNvPr id="292" name="Google Shape;292;p23"/>
          <p:cNvSpPr txBox="1">
            <a:spLocks noGrp="1"/>
          </p:cNvSpPr>
          <p:nvPr>
            <p:ph type="body" idx="1"/>
          </p:nvPr>
        </p:nvSpPr>
        <p:spPr>
          <a:xfrm>
            <a:off x="6716850" y="5196850"/>
            <a:ext cx="1733400" cy="6543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0"/>
              </a:spcAft>
              <a:buNone/>
            </a:pPr>
            <a:r>
              <a:rPr lang="en" sz="1150" b="1">
                <a:solidFill>
                  <a:srgbClr val="000000"/>
                </a:solidFill>
                <a:latin typeface="Verdana"/>
                <a:ea typeface="Verdana"/>
                <a:cs typeface="Verdana"/>
                <a:sym typeface="Verdana"/>
              </a:rPr>
              <a:t>Estimated Gross Sales Next</a:t>
            </a:r>
            <a:r>
              <a:rPr lang="en" b="1">
                <a:solidFill>
                  <a:srgbClr val="000000"/>
                </a:solidFill>
              </a:rPr>
              <a:t> </a:t>
            </a:r>
            <a:endParaRPr b="1">
              <a:solidFill>
                <a:srgbClr val="000000"/>
              </a:solidFill>
            </a:endParaRPr>
          </a:p>
          <a:p>
            <a:pPr marL="0" lvl="0" indent="0" algn="ctr" rtl="0">
              <a:lnSpc>
                <a:spcPct val="100000"/>
              </a:lnSpc>
              <a:spcBef>
                <a:spcPts val="0"/>
              </a:spcBef>
              <a:spcAft>
                <a:spcPts val="0"/>
              </a:spcAft>
              <a:buNone/>
            </a:pPr>
            <a:r>
              <a:rPr lang="en" sz="1150" b="1">
                <a:solidFill>
                  <a:srgbClr val="000000"/>
                </a:solidFill>
                <a:latin typeface="Verdana"/>
                <a:ea typeface="Verdana"/>
                <a:cs typeface="Verdana"/>
                <a:sym typeface="Verdana"/>
              </a:rPr>
              <a:t>12 </a:t>
            </a:r>
            <a:r>
              <a:rPr lang="en" b="1">
                <a:solidFill>
                  <a:srgbClr val="000000"/>
                </a:solidFill>
              </a:rPr>
              <a:t>M</a:t>
            </a:r>
            <a:r>
              <a:rPr lang="en" sz="1150" b="1">
                <a:solidFill>
                  <a:srgbClr val="000000"/>
                </a:solidFill>
                <a:latin typeface="Verdana"/>
                <a:ea typeface="Verdana"/>
                <a:cs typeface="Verdana"/>
                <a:sym typeface="Verdana"/>
              </a:rPr>
              <a:t>onths</a:t>
            </a:r>
            <a:endParaRPr sz="1150" b="1">
              <a:solidFill>
                <a:srgbClr val="000000"/>
              </a:solidFill>
              <a:latin typeface="Verdana"/>
              <a:ea typeface="Verdana"/>
              <a:cs typeface="Verdana"/>
              <a:sym typeface="Verdana"/>
            </a:endParaRPr>
          </a:p>
        </p:txBody>
      </p:sp>
      <p:sp>
        <p:nvSpPr>
          <p:cNvPr id="293" name="Google Shape;293;p23"/>
          <p:cNvSpPr txBox="1">
            <a:spLocks noGrp="1"/>
          </p:cNvSpPr>
          <p:nvPr>
            <p:ph type="body" idx="1"/>
          </p:nvPr>
        </p:nvSpPr>
        <p:spPr>
          <a:xfrm>
            <a:off x="6828150" y="6249225"/>
            <a:ext cx="1510800" cy="3903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0"/>
              </a:spcAft>
              <a:buNone/>
            </a:pPr>
            <a:r>
              <a:rPr lang="en" sz="1150" b="1">
                <a:solidFill>
                  <a:srgbClr val="000000"/>
                </a:solidFill>
                <a:latin typeface="Verdana"/>
                <a:ea typeface="Verdana"/>
                <a:cs typeface="Verdana"/>
                <a:sym typeface="Verdana"/>
              </a:rPr>
              <a:t>Stretch Gross Sales Next</a:t>
            </a:r>
            <a:r>
              <a:rPr lang="en" b="1">
                <a:solidFill>
                  <a:srgbClr val="000000"/>
                </a:solidFill>
              </a:rPr>
              <a:t> </a:t>
            </a:r>
            <a:endParaRPr b="1">
              <a:solidFill>
                <a:srgbClr val="000000"/>
              </a:solidFill>
            </a:endParaRPr>
          </a:p>
          <a:p>
            <a:pPr marL="0" lvl="0" indent="0" algn="ctr" rtl="0">
              <a:lnSpc>
                <a:spcPct val="100000"/>
              </a:lnSpc>
              <a:spcBef>
                <a:spcPts val="0"/>
              </a:spcBef>
              <a:spcAft>
                <a:spcPts val="1600"/>
              </a:spcAft>
              <a:buNone/>
            </a:pPr>
            <a:r>
              <a:rPr lang="en" sz="1150" b="1">
                <a:solidFill>
                  <a:srgbClr val="000000"/>
                </a:solidFill>
                <a:latin typeface="Verdana"/>
                <a:ea typeface="Verdana"/>
                <a:cs typeface="Verdana"/>
                <a:sym typeface="Verdana"/>
              </a:rPr>
              <a:t>12 </a:t>
            </a:r>
            <a:r>
              <a:rPr lang="en" b="1">
                <a:solidFill>
                  <a:srgbClr val="000000"/>
                </a:solidFill>
              </a:rPr>
              <a:t>M</a:t>
            </a:r>
            <a:r>
              <a:rPr lang="en" sz="1150" b="1">
                <a:solidFill>
                  <a:srgbClr val="000000"/>
                </a:solidFill>
                <a:latin typeface="Verdana"/>
                <a:ea typeface="Verdana"/>
                <a:cs typeface="Verdana"/>
                <a:sym typeface="Verdana"/>
              </a:rPr>
              <a:t>onths</a:t>
            </a:r>
            <a:endParaRPr sz="1150" b="1">
              <a:solidFill>
                <a:srgbClr val="000000"/>
              </a:solidFill>
              <a:latin typeface="Verdana"/>
              <a:ea typeface="Verdana"/>
              <a:cs typeface="Verdana"/>
              <a:sym typeface="Verdana"/>
            </a:endParaRPr>
          </a:p>
        </p:txBody>
      </p:sp>
      <p:cxnSp>
        <p:nvCxnSpPr>
          <p:cNvPr id="294" name="Google Shape;294;p23"/>
          <p:cNvCxnSpPr/>
          <p:nvPr/>
        </p:nvCxnSpPr>
        <p:spPr>
          <a:xfrm>
            <a:off x="1172575" y="5244477"/>
            <a:ext cx="2015400" cy="0"/>
          </a:xfrm>
          <a:prstGeom prst="straightConnector1">
            <a:avLst/>
          </a:prstGeom>
          <a:noFill/>
          <a:ln w="9525" cap="flat" cmpd="sng">
            <a:solidFill>
              <a:srgbClr val="000000"/>
            </a:solidFill>
            <a:prstDash val="solid"/>
            <a:round/>
            <a:headEnd type="none" w="med" len="med"/>
            <a:tailEnd type="none" w="med" len="med"/>
          </a:ln>
        </p:spPr>
      </p:cxnSp>
      <p:cxnSp>
        <p:nvCxnSpPr>
          <p:cNvPr id="295" name="Google Shape;295;p23"/>
          <p:cNvCxnSpPr/>
          <p:nvPr/>
        </p:nvCxnSpPr>
        <p:spPr>
          <a:xfrm>
            <a:off x="1186650" y="6253077"/>
            <a:ext cx="2015400" cy="0"/>
          </a:xfrm>
          <a:prstGeom prst="straightConnector1">
            <a:avLst/>
          </a:prstGeom>
          <a:noFill/>
          <a:ln w="9525" cap="flat" cmpd="sng">
            <a:solidFill>
              <a:srgbClr val="000000"/>
            </a:solidFill>
            <a:prstDash val="solid"/>
            <a:round/>
            <a:headEnd type="none" w="med" len="med"/>
            <a:tailEnd type="none" w="med" len="med"/>
          </a:ln>
        </p:spPr>
      </p:cxnSp>
      <p:cxnSp>
        <p:nvCxnSpPr>
          <p:cNvPr id="296" name="Google Shape;296;p23"/>
          <p:cNvCxnSpPr/>
          <p:nvPr/>
        </p:nvCxnSpPr>
        <p:spPr>
          <a:xfrm>
            <a:off x="3881238" y="5246047"/>
            <a:ext cx="2015400" cy="0"/>
          </a:xfrm>
          <a:prstGeom prst="straightConnector1">
            <a:avLst/>
          </a:prstGeom>
          <a:noFill/>
          <a:ln w="9525" cap="flat" cmpd="sng">
            <a:solidFill>
              <a:srgbClr val="000000"/>
            </a:solidFill>
            <a:prstDash val="solid"/>
            <a:round/>
            <a:headEnd type="none" w="med" len="med"/>
            <a:tailEnd type="none" w="med" len="med"/>
          </a:ln>
        </p:spPr>
      </p:cxnSp>
      <p:cxnSp>
        <p:nvCxnSpPr>
          <p:cNvPr id="297" name="Google Shape;297;p23"/>
          <p:cNvCxnSpPr/>
          <p:nvPr/>
        </p:nvCxnSpPr>
        <p:spPr>
          <a:xfrm>
            <a:off x="3882140" y="6253077"/>
            <a:ext cx="2015400" cy="0"/>
          </a:xfrm>
          <a:prstGeom prst="straightConnector1">
            <a:avLst/>
          </a:prstGeom>
          <a:noFill/>
          <a:ln w="9525" cap="flat" cmpd="sng">
            <a:solidFill>
              <a:srgbClr val="000000"/>
            </a:solidFill>
            <a:prstDash val="solid"/>
            <a:round/>
            <a:headEnd type="none" w="med" len="med"/>
            <a:tailEnd type="none" w="med" len="med"/>
          </a:ln>
        </p:spPr>
      </p:cxnSp>
      <p:cxnSp>
        <p:nvCxnSpPr>
          <p:cNvPr id="298" name="Google Shape;298;p23"/>
          <p:cNvCxnSpPr/>
          <p:nvPr/>
        </p:nvCxnSpPr>
        <p:spPr>
          <a:xfrm>
            <a:off x="6716911" y="5244475"/>
            <a:ext cx="1732500" cy="0"/>
          </a:xfrm>
          <a:prstGeom prst="straightConnector1">
            <a:avLst/>
          </a:prstGeom>
          <a:noFill/>
          <a:ln w="9525" cap="flat" cmpd="sng">
            <a:solidFill>
              <a:srgbClr val="000000"/>
            </a:solidFill>
            <a:prstDash val="solid"/>
            <a:round/>
            <a:headEnd type="none" w="med" len="med"/>
            <a:tailEnd type="none" w="med" len="med"/>
          </a:ln>
        </p:spPr>
      </p:cxnSp>
      <p:cxnSp>
        <p:nvCxnSpPr>
          <p:cNvPr id="299" name="Google Shape;299;p23"/>
          <p:cNvCxnSpPr/>
          <p:nvPr/>
        </p:nvCxnSpPr>
        <p:spPr>
          <a:xfrm>
            <a:off x="6717687" y="6251500"/>
            <a:ext cx="1732500" cy="0"/>
          </a:xfrm>
          <a:prstGeom prst="straightConnector1">
            <a:avLst/>
          </a:prstGeom>
          <a:noFill/>
          <a:ln w="9525" cap="flat" cmpd="sng">
            <a:solidFill>
              <a:srgbClr val="000000"/>
            </a:solidFill>
            <a:prstDash val="solid"/>
            <a:round/>
            <a:headEnd type="none" w="med" len="med"/>
            <a:tailEnd type="none" w="med" len="med"/>
          </a:ln>
        </p:spPr>
      </p:cxnSp>
      <p:sp>
        <p:nvSpPr>
          <p:cNvPr id="300" name="Google Shape;300;p23"/>
          <p:cNvSpPr txBox="1">
            <a:spLocks noGrp="1"/>
          </p:cNvSpPr>
          <p:nvPr>
            <p:ph type="body" idx="1"/>
          </p:nvPr>
        </p:nvSpPr>
        <p:spPr>
          <a:xfrm>
            <a:off x="3385213" y="5049325"/>
            <a:ext cx="2988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t>
            </a:r>
            <a:endParaRPr sz="1150" b="1">
              <a:solidFill>
                <a:srgbClr val="000000"/>
              </a:solidFill>
              <a:latin typeface="Verdana"/>
              <a:ea typeface="Verdana"/>
              <a:cs typeface="Verdana"/>
              <a:sym typeface="Verdana"/>
            </a:endParaRPr>
          </a:p>
        </p:txBody>
      </p:sp>
      <p:sp>
        <p:nvSpPr>
          <p:cNvPr id="301" name="Google Shape;301;p23"/>
          <p:cNvSpPr txBox="1">
            <a:spLocks noGrp="1"/>
          </p:cNvSpPr>
          <p:nvPr>
            <p:ph type="body" idx="1"/>
          </p:nvPr>
        </p:nvSpPr>
        <p:spPr>
          <a:xfrm>
            <a:off x="3388113" y="6057925"/>
            <a:ext cx="2988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t>
            </a:r>
            <a:endParaRPr sz="1150" b="1">
              <a:solidFill>
                <a:srgbClr val="000000"/>
              </a:solidFill>
              <a:latin typeface="Verdana"/>
              <a:ea typeface="Verdana"/>
              <a:cs typeface="Verdana"/>
              <a:sym typeface="Verdana"/>
            </a:endParaRPr>
          </a:p>
        </p:txBody>
      </p:sp>
      <p:sp>
        <p:nvSpPr>
          <p:cNvPr id="302" name="Google Shape;302;p23"/>
          <p:cNvSpPr txBox="1">
            <a:spLocks noGrp="1"/>
          </p:cNvSpPr>
          <p:nvPr>
            <p:ph type="body" idx="1"/>
          </p:nvPr>
        </p:nvSpPr>
        <p:spPr>
          <a:xfrm>
            <a:off x="6212000" y="5049325"/>
            <a:ext cx="2988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t>
            </a:r>
            <a:endParaRPr sz="1150" b="1">
              <a:solidFill>
                <a:srgbClr val="000000"/>
              </a:solidFill>
              <a:latin typeface="Verdana"/>
              <a:ea typeface="Verdana"/>
              <a:cs typeface="Verdana"/>
              <a:sym typeface="Verdana"/>
            </a:endParaRPr>
          </a:p>
        </p:txBody>
      </p:sp>
      <p:sp>
        <p:nvSpPr>
          <p:cNvPr id="303" name="Google Shape;303;p23"/>
          <p:cNvSpPr txBox="1">
            <a:spLocks noGrp="1"/>
          </p:cNvSpPr>
          <p:nvPr>
            <p:ph type="body" idx="1"/>
          </p:nvPr>
        </p:nvSpPr>
        <p:spPr>
          <a:xfrm>
            <a:off x="6214900" y="6057925"/>
            <a:ext cx="2988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t>
            </a:r>
            <a:endParaRPr sz="1150" b="1">
              <a:solidFill>
                <a:srgbClr val="000000"/>
              </a:solidFill>
              <a:latin typeface="Verdana"/>
              <a:ea typeface="Verdana"/>
              <a:cs typeface="Verdana"/>
              <a:sym typeface="Verdana"/>
            </a:endParaRPr>
          </a:p>
        </p:txBody>
      </p:sp>
      <p:sp>
        <p:nvSpPr>
          <p:cNvPr id="304" name="Google Shape;304;p23"/>
          <p:cNvSpPr txBox="1"/>
          <p:nvPr/>
        </p:nvSpPr>
        <p:spPr>
          <a:xfrm>
            <a:off x="5156725" y="4123697"/>
            <a:ext cx="1510800" cy="538800"/>
          </a:xfrm>
          <a:prstGeom prst="rect">
            <a:avLst/>
          </a:prstGeom>
          <a:noFill/>
          <a:ln>
            <a:noFill/>
          </a:ln>
        </p:spPr>
        <p:txBody>
          <a:bodyPr spcFirstLastPara="1" wrap="square" lIns="91425" tIns="91425" rIns="91425" bIns="91425" anchor="t" anchorCtr="0">
            <a:spAutoFit/>
          </a:bodyPr>
          <a:lstStyle/>
          <a:p>
            <a:pPr marL="0" lvl="0" indent="0" algn="l" rtl="0">
              <a:lnSpc>
                <a:spcPct val="100000"/>
              </a:lnSpc>
              <a:spcBef>
                <a:spcPts val="0"/>
              </a:spcBef>
              <a:spcAft>
                <a:spcPts val="0"/>
              </a:spcAft>
              <a:buNone/>
            </a:pPr>
            <a:r>
              <a:rPr lang="en" sz="1150" b="1">
                <a:latin typeface="Verdana"/>
                <a:ea typeface="Verdana"/>
                <a:cs typeface="Verdana"/>
                <a:sym typeface="Verdana"/>
              </a:rPr>
              <a:t>Total Adv. Investment</a:t>
            </a:r>
            <a:endParaRPr sz="1150" b="1">
              <a:latin typeface="Verdana"/>
              <a:ea typeface="Verdana"/>
              <a:cs typeface="Verdana"/>
              <a:sym typeface="Verdana"/>
            </a:endParaRPr>
          </a:p>
        </p:txBody>
      </p:sp>
      <p:sp>
        <p:nvSpPr>
          <p:cNvPr id="305" name="Google Shape;305;p23"/>
          <p:cNvSpPr txBox="1"/>
          <p:nvPr/>
        </p:nvSpPr>
        <p:spPr>
          <a:xfrm>
            <a:off x="2769050" y="1642875"/>
            <a:ext cx="1782300" cy="2485800"/>
          </a:xfrm>
          <a:prstGeom prst="rect">
            <a:avLst/>
          </a:prstGeom>
          <a:noFill/>
          <a:ln>
            <a:noFill/>
          </a:ln>
        </p:spPr>
        <p:txBody>
          <a:bodyPr spcFirstLastPara="1" wrap="square" lIns="91425" tIns="91425" rIns="91425" bIns="91425" anchor="t" anchorCtr="0">
            <a:spAutoFit/>
          </a:bodyPr>
          <a:lstStyle/>
          <a:p>
            <a:pPr marL="0" lvl="0" indent="0" algn="l" rtl="0">
              <a:lnSpc>
                <a:spcPct val="150000"/>
              </a:lnSpc>
              <a:spcBef>
                <a:spcPts val="0"/>
              </a:spcBef>
              <a:spcAft>
                <a:spcPts val="0"/>
              </a:spcAft>
              <a:buNone/>
            </a:pPr>
            <a:r>
              <a:rPr lang="en" sz="1150" u="sng">
                <a:latin typeface="Verdana"/>
                <a:ea typeface="Verdana"/>
                <a:cs typeface="Verdana"/>
                <a:sym typeface="Verdana"/>
              </a:rPr>
              <a:t>lastYearValue1</a:t>
            </a:r>
            <a:endParaRPr sz="1150" u="sng">
              <a:latin typeface="Verdana"/>
              <a:ea typeface="Verdana"/>
              <a:cs typeface="Verdana"/>
              <a:sym typeface="Verdana"/>
            </a:endParaRPr>
          </a:p>
          <a:p>
            <a:pPr marL="0" lvl="0" indent="0" algn="l" rtl="0">
              <a:lnSpc>
                <a:spcPct val="150000"/>
              </a:lnSpc>
              <a:spcBef>
                <a:spcPts val="0"/>
              </a:spcBef>
              <a:spcAft>
                <a:spcPts val="0"/>
              </a:spcAft>
              <a:buNone/>
            </a:pPr>
            <a:r>
              <a:rPr lang="en" sz="1150" u="sng">
                <a:latin typeface="Verdana"/>
                <a:ea typeface="Verdana"/>
                <a:cs typeface="Verdana"/>
                <a:sym typeface="Verdana"/>
              </a:rPr>
              <a:t>lastYearValue2</a:t>
            </a:r>
            <a:endParaRPr sz="1150" u="sng">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lastYearValue3</a:t>
            </a:r>
            <a:endParaRPr sz="1150" u="sng">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lastYearValue4</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lastYearValue5</a:t>
            </a:r>
            <a:endParaRPr sz="1150" u="sng">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lastYearValue6</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lastYearValue7</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lastYearValue8</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lastYearValue9</a:t>
            </a:r>
            <a:endParaRPr sz="1150" u="sng">
              <a:solidFill>
                <a:schemeClr val="dk1"/>
              </a:solidFill>
              <a:latin typeface="Verdana"/>
              <a:ea typeface="Verdana"/>
              <a:cs typeface="Verdana"/>
              <a:sym typeface="Verdana"/>
            </a:endParaRPr>
          </a:p>
        </p:txBody>
      </p:sp>
      <p:sp>
        <p:nvSpPr>
          <p:cNvPr id="306" name="Google Shape;306;p23"/>
          <p:cNvSpPr txBox="1"/>
          <p:nvPr/>
        </p:nvSpPr>
        <p:spPr>
          <a:xfrm>
            <a:off x="5157213" y="1642288"/>
            <a:ext cx="1782300" cy="2485800"/>
          </a:xfrm>
          <a:prstGeom prst="rect">
            <a:avLst/>
          </a:prstGeom>
          <a:noFill/>
          <a:ln>
            <a:noFill/>
          </a:ln>
        </p:spPr>
        <p:txBody>
          <a:bodyPr spcFirstLastPara="1" wrap="square" lIns="91425" tIns="91425" rIns="91425" bIns="91425" anchor="t" anchorCtr="0">
            <a:spAutoFit/>
          </a:bodyPr>
          <a:lstStyle/>
          <a:p>
            <a:pPr marL="0" lvl="0" indent="0" algn="l" rtl="0">
              <a:lnSpc>
                <a:spcPct val="150000"/>
              </a:lnSpc>
              <a:spcBef>
                <a:spcPts val="0"/>
              </a:spcBef>
              <a:spcAft>
                <a:spcPts val="0"/>
              </a:spcAft>
              <a:buNone/>
            </a:pPr>
            <a:r>
              <a:rPr lang="en" sz="1150">
                <a:latin typeface="Verdana"/>
                <a:ea typeface="Verdana"/>
                <a:cs typeface="Verdana"/>
                <a:sym typeface="Verdana"/>
              </a:rPr>
              <a:t>proposedLabel1</a:t>
            </a:r>
            <a:endParaRPr sz="1150">
              <a:latin typeface="Verdana"/>
              <a:ea typeface="Verdana"/>
              <a:cs typeface="Verdana"/>
              <a:sym typeface="Verdana"/>
            </a:endParaRPr>
          </a:p>
          <a:p>
            <a:pPr marL="0" lvl="0" indent="0" algn="l" rtl="0">
              <a:lnSpc>
                <a:spcPct val="150000"/>
              </a:lnSpc>
              <a:spcBef>
                <a:spcPts val="0"/>
              </a:spcBef>
              <a:spcAft>
                <a:spcPts val="0"/>
              </a:spcAft>
              <a:buNone/>
            </a:pPr>
            <a:r>
              <a:rPr lang="en" sz="1150">
                <a:latin typeface="Verdana"/>
                <a:ea typeface="Verdana"/>
                <a:cs typeface="Verdana"/>
                <a:sym typeface="Verdana"/>
              </a:rPr>
              <a:t>proposedLabel2</a:t>
            </a:r>
            <a:endParaRPr sz="1150">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proposedLabel3</a:t>
            </a:r>
            <a:endParaRPr sz="1150">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proposedLabel4</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proposedLabel5</a:t>
            </a:r>
            <a:endParaRPr sz="1150">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proposedLabel6</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proposedLabel7</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proposedLabel8</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proposedLabel9</a:t>
            </a:r>
            <a:endParaRPr sz="1150">
              <a:solidFill>
                <a:schemeClr val="dk1"/>
              </a:solidFill>
              <a:latin typeface="Verdana"/>
              <a:ea typeface="Verdana"/>
              <a:cs typeface="Verdana"/>
              <a:sym typeface="Verdana"/>
            </a:endParaRPr>
          </a:p>
        </p:txBody>
      </p:sp>
      <p:sp>
        <p:nvSpPr>
          <p:cNvPr id="307" name="Google Shape;307;p23"/>
          <p:cNvSpPr txBox="1"/>
          <p:nvPr/>
        </p:nvSpPr>
        <p:spPr>
          <a:xfrm>
            <a:off x="6877426" y="1643475"/>
            <a:ext cx="1872000" cy="2485800"/>
          </a:xfrm>
          <a:prstGeom prst="rect">
            <a:avLst/>
          </a:prstGeom>
          <a:noFill/>
          <a:ln>
            <a:noFill/>
          </a:ln>
        </p:spPr>
        <p:txBody>
          <a:bodyPr spcFirstLastPara="1" wrap="square" lIns="91425" tIns="91425" rIns="91425" bIns="91425" anchor="t" anchorCtr="0">
            <a:spAutoFit/>
          </a:bodyPr>
          <a:lstStyle/>
          <a:p>
            <a:pPr marL="0" lvl="0" indent="0" algn="l" rtl="0">
              <a:lnSpc>
                <a:spcPct val="150000"/>
              </a:lnSpc>
              <a:spcBef>
                <a:spcPts val="0"/>
              </a:spcBef>
              <a:spcAft>
                <a:spcPts val="0"/>
              </a:spcAft>
              <a:buNone/>
            </a:pPr>
            <a:r>
              <a:rPr lang="en" sz="1150" u="sng">
                <a:latin typeface="Verdana"/>
                <a:ea typeface="Verdana"/>
                <a:cs typeface="Verdana"/>
                <a:sym typeface="Verdana"/>
              </a:rPr>
              <a:t>proposedValue1</a:t>
            </a:r>
            <a:endParaRPr sz="1150" u="sng">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proposedValue2</a:t>
            </a:r>
            <a:endParaRPr sz="1150" u="sng">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proposedValue3</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proposedValue4</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proposedValue5</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proposedValue6</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proposedValue7</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proposedValue8</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proposedValue9</a:t>
            </a:r>
            <a:endParaRPr sz="1150" u="sng">
              <a:solidFill>
                <a:schemeClr val="dk1"/>
              </a:solidFill>
              <a:latin typeface="Verdana"/>
              <a:ea typeface="Verdana"/>
              <a:cs typeface="Verdana"/>
              <a:sym typeface="Verdana"/>
            </a:endParaRPr>
          </a:p>
        </p:txBody>
      </p:sp>
      <p:sp>
        <p:nvSpPr>
          <p:cNvPr id="308" name="Google Shape;308;p23"/>
          <p:cNvSpPr txBox="1"/>
          <p:nvPr/>
        </p:nvSpPr>
        <p:spPr>
          <a:xfrm>
            <a:off x="2771275" y="4218663"/>
            <a:ext cx="22734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u="sng">
                <a:latin typeface="Verdana"/>
                <a:ea typeface="Verdana"/>
                <a:cs typeface="Verdana"/>
                <a:sym typeface="Verdana"/>
              </a:rPr>
              <a:t>totalMediaInvestment</a:t>
            </a:r>
            <a:endParaRPr sz="1150" u="sng">
              <a:latin typeface="Verdana"/>
              <a:ea typeface="Verdana"/>
              <a:cs typeface="Verdana"/>
              <a:sym typeface="Verdana"/>
            </a:endParaRPr>
          </a:p>
        </p:txBody>
      </p:sp>
      <p:sp>
        <p:nvSpPr>
          <p:cNvPr id="309" name="Google Shape;309;p23"/>
          <p:cNvSpPr txBox="1"/>
          <p:nvPr/>
        </p:nvSpPr>
        <p:spPr>
          <a:xfrm>
            <a:off x="6877425" y="4218432"/>
            <a:ext cx="24594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u="sng">
                <a:latin typeface="Verdana"/>
                <a:ea typeface="Verdana"/>
                <a:cs typeface="Verdana"/>
                <a:sym typeface="Verdana"/>
              </a:rPr>
              <a:t>totalMediaInvestmentTwo</a:t>
            </a:r>
            <a:endParaRPr sz="1150" u="sng">
              <a:latin typeface="Verdana"/>
              <a:ea typeface="Verdana"/>
              <a:cs typeface="Verdana"/>
              <a:sym typeface="Verdana"/>
            </a:endParaRPr>
          </a:p>
        </p:txBody>
      </p:sp>
      <p:sp>
        <p:nvSpPr>
          <p:cNvPr id="310" name="Google Shape;310;p23"/>
          <p:cNvSpPr txBox="1">
            <a:spLocks noGrp="1"/>
          </p:cNvSpPr>
          <p:nvPr>
            <p:ph type="body" idx="1"/>
          </p:nvPr>
        </p:nvSpPr>
        <p:spPr>
          <a:xfrm>
            <a:off x="3881238" y="4907725"/>
            <a:ext cx="1997100" cy="390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solidFill>
                  <a:schemeClr val="dk1"/>
                </a:solidFill>
              </a:rPr>
              <a:t>pctTAIGrossSalesLastYear</a:t>
            </a:r>
            <a:endParaRPr sz="1150">
              <a:solidFill>
                <a:srgbClr val="000000"/>
              </a:solidFill>
              <a:latin typeface="Verdana"/>
              <a:ea typeface="Verdana"/>
              <a:cs typeface="Verdana"/>
              <a:sym typeface="Verdana"/>
            </a:endParaRPr>
          </a:p>
        </p:txBody>
      </p:sp>
      <p:sp>
        <p:nvSpPr>
          <p:cNvPr id="311" name="Google Shape;311;p23"/>
          <p:cNvSpPr txBox="1">
            <a:spLocks noGrp="1"/>
          </p:cNvSpPr>
          <p:nvPr>
            <p:ph type="body" idx="1"/>
          </p:nvPr>
        </p:nvSpPr>
        <p:spPr>
          <a:xfrm>
            <a:off x="5975475" y="4910328"/>
            <a:ext cx="3216900" cy="390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solidFill>
                  <a:schemeClr val="dk1"/>
                </a:solidFill>
              </a:rPr>
              <a:t>grossSalesLastyear</a:t>
            </a:r>
            <a:endParaRPr sz="1150">
              <a:solidFill>
                <a:srgbClr val="000000"/>
              </a:solidFill>
              <a:latin typeface="Verdana"/>
              <a:ea typeface="Verdana"/>
              <a:cs typeface="Verdana"/>
              <a:sym typeface="Verdana"/>
            </a:endParaRPr>
          </a:p>
        </p:txBody>
      </p:sp>
      <p:sp>
        <p:nvSpPr>
          <p:cNvPr id="312" name="Google Shape;312;p23"/>
          <p:cNvSpPr txBox="1">
            <a:spLocks noGrp="1"/>
          </p:cNvSpPr>
          <p:nvPr>
            <p:ph type="body" idx="1"/>
          </p:nvPr>
        </p:nvSpPr>
        <p:spPr>
          <a:xfrm>
            <a:off x="1195788" y="5907250"/>
            <a:ext cx="1997100" cy="390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1150">
                <a:solidFill>
                  <a:schemeClr val="dk1"/>
                </a:solidFill>
                <a:latin typeface="Verdana"/>
                <a:ea typeface="Verdana"/>
                <a:cs typeface="Verdana"/>
                <a:sym typeface="Verdana"/>
              </a:rPr>
              <a:t>taiNext12Months</a:t>
            </a:r>
            <a:endParaRPr sz="1150">
              <a:solidFill>
                <a:srgbClr val="000000"/>
              </a:solidFill>
              <a:latin typeface="Verdana"/>
              <a:ea typeface="Verdana"/>
              <a:cs typeface="Verdana"/>
              <a:sym typeface="Verdana"/>
            </a:endParaRPr>
          </a:p>
        </p:txBody>
      </p:sp>
      <p:sp>
        <p:nvSpPr>
          <p:cNvPr id="313" name="Google Shape;313;p23"/>
          <p:cNvSpPr txBox="1">
            <a:spLocks noGrp="1"/>
          </p:cNvSpPr>
          <p:nvPr>
            <p:ph type="body" idx="1"/>
          </p:nvPr>
        </p:nvSpPr>
        <p:spPr>
          <a:xfrm>
            <a:off x="3886138" y="5907250"/>
            <a:ext cx="1997100" cy="390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1150">
                <a:solidFill>
                  <a:schemeClr val="dk1"/>
                </a:solidFill>
                <a:latin typeface="Verdana"/>
                <a:ea typeface="Verdana"/>
                <a:cs typeface="Verdana"/>
                <a:sym typeface="Verdana"/>
              </a:rPr>
              <a:t>pctGrossSales</a:t>
            </a:r>
            <a:endParaRPr sz="1150">
              <a:solidFill>
                <a:srgbClr val="000000"/>
              </a:solidFill>
              <a:latin typeface="Verdana"/>
              <a:ea typeface="Verdana"/>
              <a:cs typeface="Verdana"/>
              <a:sym typeface="Verdana"/>
            </a:endParaRPr>
          </a:p>
        </p:txBody>
      </p:sp>
      <p:sp>
        <p:nvSpPr>
          <p:cNvPr id="314" name="Google Shape;314;p23"/>
          <p:cNvSpPr txBox="1">
            <a:spLocks noGrp="1"/>
          </p:cNvSpPr>
          <p:nvPr>
            <p:ph type="body" idx="1"/>
          </p:nvPr>
        </p:nvSpPr>
        <p:spPr>
          <a:xfrm>
            <a:off x="5975475" y="5908725"/>
            <a:ext cx="3216900" cy="390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1150">
                <a:solidFill>
                  <a:schemeClr val="dk1"/>
                </a:solidFill>
                <a:latin typeface="Verdana"/>
                <a:ea typeface="Verdana"/>
                <a:cs typeface="Verdana"/>
                <a:sym typeface="Verdana"/>
              </a:rPr>
              <a:t>estimatedGrossSalesNext12Months</a:t>
            </a:r>
            <a:endParaRPr sz="1150">
              <a:solidFill>
                <a:srgbClr val="000000"/>
              </a:solidFill>
              <a:latin typeface="Verdana"/>
              <a:ea typeface="Verdana"/>
              <a:cs typeface="Verdana"/>
              <a:sym typeface="Verdana"/>
            </a:endParaRPr>
          </a:p>
        </p:txBody>
      </p:sp>
      <p:sp>
        <p:nvSpPr>
          <p:cNvPr id="315" name="Google Shape;315;p23"/>
          <p:cNvSpPr txBox="1">
            <a:spLocks noGrp="1"/>
          </p:cNvSpPr>
          <p:nvPr>
            <p:ph type="body" idx="1"/>
          </p:nvPr>
        </p:nvSpPr>
        <p:spPr>
          <a:xfrm>
            <a:off x="640080" y="1353025"/>
            <a:ext cx="5007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a:t>
            </a:r>
            <a:endParaRPr sz="1150" b="1">
              <a:solidFill>
                <a:srgbClr val="000000"/>
              </a:solidFill>
              <a:latin typeface="Verdana"/>
              <a:ea typeface="Verdana"/>
              <a:cs typeface="Verdana"/>
              <a:sym typeface="Verdana"/>
            </a:endParaRPr>
          </a:p>
        </p:txBody>
      </p:sp>
      <p:sp>
        <p:nvSpPr>
          <p:cNvPr id="316" name="Google Shape;316;p23"/>
          <p:cNvSpPr txBox="1">
            <a:spLocks noGrp="1"/>
          </p:cNvSpPr>
          <p:nvPr>
            <p:ph type="body" idx="1"/>
          </p:nvPr>
        </p:nvSpPr>
        <p:spPr>
          <a:xfrm>
            <a:off x="1140766" y="1351525"/>
            <a:ext cx="3592200" cy="393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Previous Year’s Media Allocation</a:t>
            </a:r>
            <a:endParaRPr sz="1150" b="1">
              <a:solidFill>
                <a:srgbClr val="000000"/>
              </a:solidFill>
              <a:latin typeface="Verdana"/>
              <a:ea typeface="Verdana"/>
              <a:cs typeface="Verdana"/>
              <a:sym typeface="Verdana"/>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320"/>
        <p:cNvGrpSpPr/>
        <p:nvPr/>
      </p:nvGrpSpPr>
      <p:grpSpPr>
        <a:xfrm>
          <a:off x="0" y="0"/>
          <a:ext cx="0" cy="0"/>
          <a:chOff x="0" y="0"/>
          <a:chExt cx="0" cy="0"/>
        </a:xfrm>
      </p:grpSpPr>
      <p:sp>
        <p:nvSpPr>
          <p:cNvPr id="321" name="Google Shape;321;p24"/>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12</a:t>
            </a:fld>
            <a:endParaRPr/>
          </a:p>
        </p:txBody>
      </p:sp>
      <p:sp>
        <p:nvSpPr>
          <p:cNvPr id="322" name="Google Shape;322;p24"/>
          <p:cNvSpPr txBox="1"/>
          <p:nvPr/>
        </p:nvSpPr>
        <p:spPr>
          <a:xfrm>
            <a:off x="1561650" y="6546625"/>
            <a:ext cx="6020700" cy="3657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Clr>
                <a:schemeClr val="dk1"/>
              </a:buClr>
              <a:buSzPts val="1100"/>
              <a:buFont typeface="Arial"/>
              <a:buNone/>
            </a:pPr>
            <a:endParaRPr sz="1350" b="1"/>
          </a:p>
        </p:txBody>
      </p:sp>
      <p:sp>
        <p:nvSpPr>
          <p:cNvPr id="323" name="Google Shape;323;p24"/>
          <p:cNvSpPr txBox="1"/>
          <p:nvPr/>
        </p:nvSpPr>
        <p:spPr>
          <a:xfrm>
            <a:off x="398025" y="475488"/>
            <a:ext cx="8399400" cy="8004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800"/>
              </a:spcBef>
              <a:spcAft>
                <a:spcPts val="800"/>
              </a:spcAft>
              <a:buClr>
                <a:schemeClr val="dk1"/>
              </a:buClr>
              <a:buSzPts val="1100"/>
              <a:buFont typeface="Arial"/>
              <a:buNone/>
            </a:pPr>
            <a:r>
              <a:rPr lang="en" sz="4000" b="1">
                <a:solidFill>
                  <a:schemeClr val="dk1"/>
                </a:solidFill>
              </a:rPr>
              <a:t>Previous Year’s Media Allocation</a:t>
            </a:r>
            <a:endParaRPr/>
          </a:p>
        </p:txBody>
      </p:sp>
      <p:sp>
        <p:nvSpPr>
          <p:cNvPr id="324" name="Google Shape;324;p24"/>
          <p:cNvSpPr txBox="1"/>
          <p:nvPr/>
        </p:nvSpPr>
        <p:spPr>
          <a:xfrm>
            <a:off x="841248" y="6556248"/>
            <a:ext cx="7466100" cy="393300"/>
          </a:xfrm>
          <a:prstGeom prst="rect">
            <a:avLst/>
          </a:prstGeom>
          <a:noFill/>
          <a:ln>
            <a:noFill/>
          </a:ln>
        </p:spPr>
        <p:txBody>
          <a:bodyPr spcFirstLastPara="1" wrap="square" lIns="91425" tIns="91425" rIns="91425" bIns="91425" anchor="t" anchorCtr="0">
            <a:noAutofit/>
          </a:bodyPr>
          <a:lstStyle/>
          <a:p>
            <a:pPr marL="0" lvl="0" indent="0" algn="ctr" rtl="0">
              <a:lnSpc>
                <a:spcPct val="100000"/>
              </a:lnSpc>
              <a:spcBef>
                <a:spcPts val="0"/>
              </a:spcBef>
              <a:spcAft>
                <a:spcPts val="0"/>
              </a:spcAft>
              <a:buNone/>
            </a:pPr>
            <a:r>
              <a:rPr lang="en" sz="1550" b="1">
                <a:solidFill>
                  <a:schemeClr val="dk1"/>
                </a:solidFill>
                <a:latin typeface="Verdana"/>
                <a:ea typeface="Verdana"/>
                <a:cs typeface="Verdana"/>
                <a:sym typeface="Verdana"/>
              </a:rPr>
              <a:t>Total Advertising Investment (TAI): totalAdvertisingInvestmentConfidentialClientEvaluationOnePage</a:t>
            </a:r>
            <a:endParaRPr sz="1550" b="1">
              <a:latin typeface="Verdana"/>
              <a:ea typeface="Verdana"/>
              <a:cs typeface="Verdana"/>
              <a:sym typeface="Verdana"/>
            </a:endParaRPr>
          </a:p>
        </p:txBody>
      </p:sp>
      <p:graphicFrame>
        <p:nvGraphicFramePr>
          <p:cNvPr id="2" name="Chart 1">
            <a:extLst>
              <a:ext uri="{FF2B5EF4-FFF2-40B4-BE49-F238E27FC236}">
                <a16:creationId xmlns:a16="http://schemas.microsoft.com/office/drawing/2014/main" id="{DB828F17-91B3-69FD-3162-FF31451B3449}"/>
              </a:ext>
            </a:extLst>
          </p:cNvPr>
          <p:cNvGraphicFramePr/>
          <p:nvPr>
            <p:extLst>
              <p:ext uri="{D42A27DB-BD31-4B8C-83A1-F6EECF244321}">
                <p14:modId xmlns:p14="http://schemas.microsoft.com/office/powerpoint/2010/main" val="1464298643"/>
              </p:ext>
            </p:extLst>
          </p:nvPr>
        </p:nvGraphicFramePr>
        <p:xfrm>
          <a:off x="1524000" y="1625600"/>
          <a:ext cx="6096000" cy="4064000"/>
        </p:xfrm>
        <a:graphic>
          <a:graphicData uri="http://schemas.openxmlformats.org/drawingml/2006/chart">
            <c:chart xmlns:c="http://schemas.openxmlformats.org/drawingml/2006/chart" xmlns:r="http://schemas.openxmlformats.org/officeDocument/2006/relationships" r:id="rId3"/>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320">
          <a:extLst>
            <a:ext uri="{FF2B5EF4-FFF2-40B4-BE49-F238E27FC236}">
              <a16:creationId xmlns:a16="http://schemas.microsoft.com/office/drawing/2014/main" id="{6F55685A-B20E-589F-C9AB-D97A0A27BBF8}"/>
            </a:ext>
          </a:extLst>
        </p:cNvPr>
        <p:cNvGrpSpPr/>
        <p:nvPr/>
      </p:nvGrpSpPr>
      <p:grpSpPr>
        <a:xfrm>
          <a:off x="0" y="0"/>
          <a:ext cx="0" cy="0"/>
          <a:chOff x="0" y="0"/>
          <a:chExt cx="0" cy="0"/>
        </a:xfrm>
      </p:grpSpPr>
      <p:sp>
        <p:nvSpPr>
          <p:cNvPr id="321" name="Google Shape;321;p24">
            <a:extLst>
              <a:ext uri="{FF2B5EF4-FFF2-40B4-BE49-F238E27FC236}">
                <a16:creationId xmlns:a16="http://schemas.microsoft.com/office/drawing/2014/main" id="{5EBB9E43-FC2B-98C6-5768-C8234EFA6A28}"/>
              </a:ext>
            </a:extLst>
          </p:cNvPr>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13</a:t>
            </a:fld>
            <a:endParaRPr/>
          </a:p>
        </p:txBody>
      </p:sp>
      <p:sp>
        <p:nvSpPr>
          <p:cNvPr id="322" name="Google Shape;322;p24">
            <a:extLst>
              <a:ext uri="{FF2B5EF4-FFF2-40B4-BE49-F238E27FC236}">
                <a16:creationId xmlns:a16="http://schemas.microsoft.com/office/drawing/2014/main" id="{CA0B8B14-CAFA-F139-7C17-A3F12DCC5D32}"/>
              </a:ext>
            </a:extLst>
          </p:cNvPr>
          <p:cNvSpPr txBox="1"/>
          <p:nvPr/>
        </p:nvSpPr>
        <p:spPr>
          <a:xfrm>
            <a:off x="1561650" y="6546625"/>
            <a:ext cx="6020700" cy="3657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Clr>
                <a:schemeClr val="dk1"/>
              </a:buClr>
              <a:buSzPts val="1100"/>
              <a:buFont typeface="Arial"/>
              <a:buNone/>
            </a:pPr>
            <a:endParaRPr sz="1350" b="1"/>
          </a:p>
        </p:txBody>
      </p:sp>
      <p:sp>
        <p:nvSpPr>
          <p:cNvPr id="323" name="Google Shape;323;p24">
            <a:extLst>
              <a:ext uri="{FF2B5EF4-FFF2-40B4-BE49-F238E27FC236}">
                <a16:creationId xmlns:a16="http://schemas.microsoft.com/office/drawing/2014/main" id="{8BBC5374-3FA0-0199-7FC1-DB5E1FB516C0}"/>
              </a:ext>
            </a:extLst>
          </p:cNvPr>
          <p:cNvSpPr txBox="1"/>
          <p:nvPr/>
        </p:nvSpPr>
        <p:spPr>
          <a:xfrm>
            <a:off x="398025" y="475488"/>
            <a:ext cx="8399400" cy="8004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800"/>
              </a:spcBef>
              <a:spcAft>
                <a:spcPts val="800"/>
              </a:spcAft>
              <a:buClr>
                <a:schemeClr val="dk1"/>
              </a:buClr>
              <a:buSzPts val="1100"/>
              <a:buFont typeface="Arial"/>
              <a:buNone/>
            </a:pPr>
            <a:r>
              <a:rPr lang="en" sz="4000" b="1">
                <a:solidFill>
                  <a:schemeClr val="dk1"/>
                </a:solidFill>
              </a:rPr>
              <a:t>Previous Year’s Media Allocation</a:t>
            </a:r>
            <a:endParaRPr/>
          </a:p>
        </p:txBody>
      </p:sp>
      <p:sp>
        <p:nvSpPr>
          <p:cNvPr id="324" name="Google Shape;324;p24">
            <a:extLst>
              <a:ext uri="{FF2B5EF4-FFF2-40B4-BE49-F238E27FC236}">
                <a16:creationId xmlns:a16="http://schemas.microsoft.com/office/drawing/2014/main" id="{9415B60E-BCC9-D6E8-D0B5-8C040B3BB268}"/>
              </a:ext>
            </a:extLst>
          </p:cNvPr>
          <p:cNvSpPr txBox="1"/>
          <p:nvPr/>
        </p:nvSpPr>
        <p:spPr>
          <a:xfrm>
            <a:off x="841248" y="6556248"/>
            <a:ext cx="7466100" cy="393300"/>
          </a:xfrm>
          <a:prstGeom prst="rect">
            <a:avLst/>
          </a:prstGeom>
          <a:noFill/>
          <a:ln>
            <a:noFill/>
          </a:ln>
        </p:spPr>
        <p:txBody>
          <a:bodyPr spcFirstLastPara="1" wrap="square" lIns="91425" tIns="91425" rIns="91425" bIns="91425" anchor="t" anchorCtr="0">
            <a:noAutofit/>
          </a:bodyPr>
          <a:lstStyle/>
          <a:p>
            <a:pPr marL="0" lvl="0" indent="0" algn="ctr" rtl="0">
              <a:lnSpc>
                <a:spcPct val="100000"/>
              </a:lnSpc>
              <a:spcBef>
                <a:spcPts val="0"/>
              </a:spcBef>
              <a:spcAft>
                <a:spcPts val="0"/>
              </a:spcAft>
              <a:buNone/>
            </a:pPr>
            <a:r>
              <a:rPr lang="en" sz="1550" b="1">
                <a:solidFill>
                  <a:schemeClr val="dk1"/>
                </a:solidFill>
                <a:latin typeface="Verdana"/>
                <a:ea typeface="Verdana"/>
                <a:cs typeface="Verdana"/>
                <a:sym typeface="Verdana"/>
              </a:rPr>
              <a:t>Total Advertising Investment (TAI): totalAdvertisingInvestmentConfidentialClientEvaluationOnePage</a:t>
            </a:r>
            <a:endParaRPr sz="1550" b="1">
              <a:latin typeface="Verdana"/>
              <a:ea typeface="Verdana"/>
              <a:cs typeface="Verdana"/>
              <a:sym typeface="Verdana"/>
            </a:endParaRPr>
          </a:p>
        </p:txBody>
      </p:sp>
      <p:pic>
        <p:nvPicPr>
          <p:cNvPr id="325" name="Google Shape;325;p24">
            <a:extLst>
              <a:ext uri="{FF2B5EF4-FFF2-40B4-BE49-F238E27FC236}">
                <a16:creationId xmlns:a16="http://schemas.microsoft.com/office/drawing/2014/main" id="{C7801B3F-6126-1D97-227B-3D43762B7A66}"/>
              </a:ext>
            </a:extLst>
          </p:cNvPr>
          <p:cNvPicPr preferRelativeResize="0"/>
          <p:nvPr/>
        </p:nvPicPr>
        <p:blipFill>
          <a:blip r:embed="rId3">
            <a:alphaModFix/>
          </a:blip>
          <a:stretch>
            <a:fillRect/>
          </a:stretch>
        </p:blipFill>
        <p:spPr>
          <a:xfrm>
            <a:off x="448056" y="1363660"/>
            <a:ext cx="8247888" cy="5099944"/>
          </a:xfrm>
          <a:prstGeom prst="rect">
            <a:avLst/>
          </a:prstGeom>
          <a:noFill/>
          <a:ln>
            <a:noFill/>
          </a:ln>
        </p:spPr>
      </p:pic>
    </p:spTree>
    <p:extLst>
      <p:ext uri="{BB962C8B-B14F-4D97-AF65-F5344CB8AC3E}">
        <p14:creationId xmlns:p14="http://schemas.microsoft.com/office/powerpoint/2010/main" val="94190026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329"/>
        <p:cNvGrpSpPr/>
        <p:nvPr/>
      </p:nvGrpSpPr>
      <p:grpSpPr>
        <a:xfrm>
          <a:off x="0" y="0"/>
          <a:ext cx="0" cy="0"/>
          <a:chOff x="0" y="0"/>
          <a:chExt cx="0" cy="0"/>
        </a:xfrm>
      </p:grpSpPr>
      <p:sp>
        <p:nvSpPr>
          <p:cNvPr id="330" name="Google Shape;330;p25"/>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14</a:t>
            </a:fld>
            <a:endParaRPr/>
          </a:p>
        </p:txBody>
      </p:sp>
      <p:sp>
        <p:nvSpPr>
          <p:cNvPr id="331" name="Google Shape;331;p25"/>
          <p:cNvSpPr txBox="1"/>
          <p:nvPr/>
        </p:nvSpPr>
        <p:spPr>
          <a:xfrm>
            <a:off x="398025" y="475488"/>
            <a:ext cx="8399400" cy="8004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800"/>
              </a:spcBef>
              <a:spcAft>
                <a:spcPts val="800"/>
              </a:spcAft>
              <a:buClr>
                <a:schemeClr val="dk1"/>
              </a:buClr>
              <a:buSzPts val="1100"/>
              <a:buFont typeface="Arial"/>
              <a:buNone/>
            </a:pPr>
            <a:r>
              <a:rPr lang="en" sz="4000" b="1">
                <a:solidFill>
                  <a:schemeClr val="dk1"/>
                </a:solidFill>
              </a:rPr>
              <a:t>Proposed Year’s Media Allocation</a:t>
            </a:r>
            <a:endParaRPr/>
          </a:p>
        </p:txBody>
      </p:sp>
      <p:sp>
        <p:nvSpPr>
          <p:cNvPr id="332" name="Google Shape;332;p25"/>
          <p:cNvSpPr txBox="1"/>
          <p:nvPr/>
        </p:nvSpPr>
        <p:spPr>
          <a:xfrm>
            <a:off x="841248" y="6556248"/>
            <a:ext cx="7466100" cy="3933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550" b="1">
                <a:solidFill>
                  <a:schemeClr val="dk1"/>
                </a:solidFill>
                <a:latin typeface="Verdana"/>
                <a:ea typeface="Verdana"/>
                <a:cs typeface="Verdana"/>
                <a:sym typeface="Verdana"/>
              </a:rPr>
              <a:t>Total Advertising Investment (TAI): </a:t>
            </a:r>
            <a:r>
              <a:rPr lang="en" sz="1550" b="1">
                <a:latin typeface="Verdana"/>
                <a:ea typeface="Verdana"/>
                <a:cs typeface="Verdana"/>
                <a:sym typeface="Verdana"/>
              </a:rPr>
              <a:t>totalAdvertisingInvestmentConfidentialClientEvaluationProposed</a:t>
            </a:r>
            <a:endParaRPr sz="1550" b="1">
              <a:latin typeface="Verdana"/>
              <a:ea typeface="Verdana"/>
              <a:cs typeface="Verdana"/>
              <a:sym typeface="Verdana"/>
            </a:endParaRPr>
          </a:p>
        </p:txBody>
      </p:sp>
      <p:pic>
        <p:nvPicPr>
          <p:cNvPr id="333" name="Google Shape;333;p25"/>
          <p:cNvPicPr preferRelativeResize="0"/>
          <p:nvPr/>
        </p:nvPicPr>
        <p:blipFill>
          <a:blip r:embed="rId3">
            <a:alphaModFix/>
          </a:blip>
          <a:stretch>
            <a:fillRect/>
          </a:stretch>
        </p:blipFill>
        <p:spPr>
          <a:xfrm>
            <a:off x="448056" y="1363660"/>
            <a:ext cx="8247888" cy="5099944"/>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337"/>
        <p:cNvGrpSpPr/>
        <p:nvPr/>
      </p:nvGrpSpPr>
      <p:grpSpPr>
        <a:xfrm>
          <a:off x="0" y="0"/>
          <a:ext cx="0" cy="0"/>
          <a:chOff x="0" y="0"/>
          <a:chExt cx="0" cy="0"/>
        </a:xfrm>
      </p:grpSpPr>
      <p:sp>
        <p:nvSpPr>
          <p:cNvPr id="338" name="Google Shape;338;p26"/>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Profile of Consumers</a:t>
            </a:r>
            <a:endParaRPr/>
          </a:p>
        </p:txBody>
      </p:sp>
      <p:sp>
        <p:nvSpPr>
          <p:cNvPr id="339" name="Google Shape;339;p26"/>
          <p:cNvSpPr txBox="1">
            <a:spLocks noGrp="1"/>
          </p:cNvSpPr>
          <p:nvPr>
            <p:ph type="body" idx="1"/>
          </p:nvPr>
        </p:nvSpPr>
        <p:spPr>
          <a:xfrm>
            <a:off x="457200" y="1174800"/>
            <a:ext cx="8229600" cy="54927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Replace this text with station/consumer information and/or customized research.</a:t>
            </a:r>
            <a:endParaRPr sz="1150">
              <a:solidFill>
                <a:schemeClr val="dk1"/>
              </a:solidFill>
              <a:latin typeface="Verdana"/>
              <a:ea typeface="Verdana"/>
              <a:cs typeface="Verdana"/>
              <a:sym typeface="Verdana"/>
            </a:endParaRPr>
          </a:p>
          <a:p>
            <a:pPr marL="0" lvl="0" indent="0" algn="l" rtl="0">
              <a:lnSpc>
                <a:spcPct val="115000"/>
              </a:lnSpc>
              <a:spcBef>
                <a:spcPts val="1000"/>
              </a:spcBef>
              <a:spcAft>
                <a:spcPts val="1000"/>
              </a:spcAft>
              <a:buNone/>
            </a:pPr>
            <a:endParaRPr sz="1150">
              <a:solidFill>
                <a:schemeClr val="dk1"/>
              </a:solidFill>
              <a:latin typeface="Verdana"/>
              <a:ea typeface="Verdana"/>
              <a:cs typeface="Verdana"/>
              <a:sym typeface="Verdana"/>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343"/>
        <p:cNvGrpSpPr/>
        <p:nvPr/>
      </p:nvGrpSpPr>
      <p:grpSpPr>
        <a:xfrm>
          <a:off x="0" y="0"/>
          <a:ext cx="0" cy="0"/>
          <a:chOff x="0" y="0"/>
          <a:chExt cx="0" cy="0"/>
        </a:xfrm>
      </p:grpSpPr>
      <p:sp>
        <p:nvSpPr>
          <p:cNvPr id="344" name="Google Shape;344;p27"/>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Marketing Strategies</a:t>
            </a:r>
            <a:endParaRPr/>
          </a:p>
        </p:txBody>
      </p:sp>
      <p:sp>
        <p:nvSpPr>
          <p:cNvPr id="345" name="Google Shape;345;p27"/>
          <p:cNvSpPr txBox="1">
            <a:spLocks noGrp="1"/>
          </p:cNvSpPr>
          <p:nvPr>
            <p:ph type="body" idx="1"/>
          </p:nvPr>
        </p:nvSpPr>
        <p:spPr>
          <a:xfrm>
            <a:off x="458400" y="1174799"/>
            <a:ext cx="8227200" cy="54927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a:solidFill>
                  <a:srgbClr val="00274D"/>
                </a:solidFill>
              </a:rPr>
              <a:t>Replace this text with marketing stra</a:t>
            </a:r>
            <a:endParaRPr sz="1150">
              <a:solidFill>
                <a:schemeClr val="dk1"/>
              </a:solidFill>
              <a:latin typeface="Verdana"/>
              <a:ea typeface="Verdana"/>
              <a:cs typeface="Verdana"/>
              <a:sym typeface="Verdana"/>
            </a:endParaRPr>
          </a:p>
          <a:p>
            <a:pPr marL="0" lvl="0" indent="0" algn="l" rtl="0">
              <a:lnSpc>
                <a:spcPct val="115000"/>
              </a:lnSpc>
              <a:spcBef>
                <a:spcPts val="1000"/>
              </a:spcBef>
              <a:spcAft>
                <a:spcPts val="1000"/>
              </a:spcAft>
              <a:buNone/>
            </a:pPr>
            <a:endParaRPr sz="1150">
              <a:latin typeface="Verdana"/>
              <a:ea typeface="Verdana"/>
              <a:cs typeface="Verdana"/>
              <a:sym typeface="Verdana"/>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349"/>
        <p:cNvGrpSpPr/>
        <p:nvPr/>
      </p:nvGrpSpPr>
      <p:grpSpPr>
        <a:xfrm>
          <a:off x="0" y="0"/>
          <a:ext cx="0" cy="0"/>
          <a:chOff x="0" y="0"/>
          <a:chExt cx="0" cy="0"/>
        </a:xfrm>
      </p:grpSpPr>
      <p:sp>
        <p:nvSpPr>
          <p:cNvPr id="350" name="Google Shape;350;p28"/>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Creative Concepts I</a:t>
            </a:r>
            <a:endParaRPr/>
          </a:p>
        </p:txBody>
      </p:sp>
      <p:sp>
        <p:nvSpPr>
          <p:cNvPr id="351" name="Google Shape;351;p28"/>
          <p:cNvSpPr txBox="1">
            <a:spLocks noGrp="1"/>
          </p:cNvSpPr>
          <p:nvPr>
            <p:ph type="body" idx="2"/>
          </p:nvPr>
        </p:nvSpPr>
        <p:spPr>
          <a:xfrm>
            <a:off x="367950" y="1174800"/>
            <a:ext cx="8408100" cy="5443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sz="1150">
              <a:solidFill>
                <a:srgbClr val="000000"/>
              </a:solidFill>
              <a:latin typeface="Verdana"/>
              <a:ea typeface="Verdana"/>
              <a:cs typeface="Verdana"/>
              <a:sym typeface="Verdana"/>
            </a:endParaRPr>
          </a:p>
          <a:p>
            <a:pPr marL="0" lvl="0" indent="0" algn="l" rtl="0">
              <a:spcBef>
                <a:spcPts val="1600"/>
              </a:spcBef>
              <a:spcAft>
                <a:spcPts val="1200"/>
              </a:spcAft>
              <a:buNone/>
            </a:pPr>
            <a:endParaRPr sz="1150">
              <a:solidFill>
                <a:srgbClr val="000000"/>
              </a:solidFill>
              <a:latin typeface="Verdana"/>
              <a:ea typeface="Verdana"/>
              <a:cs typeface="Verdana"/>
              <a:sym typeface="Verdana"/>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355"/>
        <p:cNvGrpSpPr/>
        <p:nvPr/>
      </p:nvGrpSpPr>
      <p:grpSpPr>
        <a:xfrm>
          <a:off x="0" y="0"/>
          <a:ext cx="0" cy="0"/>
          <a:chOff x="0" y="0"/>
          <a:chExt cx="0" cy="0"/>
        </a:xfrm>
      </p:grpSpPr>
      <p:sp>
        <p:nvSpPr>
          <p:cNvPr id="356" name="Google Shape;356;p29"/>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Creative Concepts II</a:t>
            </a:r>
            <a:endParaRPr/>
          </a:p>
        </p:txBody>
      </p:sp>
      <p:sp>
        <p:nvSpPr>
          <p:cNvPr id="357" name="Google Shape;357;p29"/>
          <p:cNvSpPr txBox="1">
            <a:spLocks noGrp="1"/>
          </p:cNvSpPr>
          <p:nvPr>
            <p:ph type="body" idx="2"/>
          </p:nvPr>
        </p:nvSpPr>
        <p:spPr>
          <a:xfrm>
            <a:off x="367950" y="1174800"/>
            <a:ext cx="8408100" cy="5530800"/>
          </a:xfrm>
          <a:prstGeom prst="rect">
            <a:avLst/>
          </a:prstGeom>
        </p:spPr>
        <p:txBody>
          <a:bodyPr spcFirstLastPara="1" wrap="square" lIns="91425" tIns="91425" rIns="91425" bIns="91425" anchor="t" anchorCtr="0">
            <a:noAutofit/>
          </a:bodyPr>
          <a:lstStyle/>
          <a:p>
            <a:pPr marL="0" lvl="0" indent="0" algn="l" rtl="0">
              <a:spcBef>
                <a:spcPts val="1200"/>
              </a:spcBef>
              <a:spcAft>
                <a:spcPts val="1200"/>
              </a:spcAft>
              <a:buNone/>
            </a:pPr>
            <a:endParaRPr sz="1150">
              <a:solidFill>
                <a:srgbClr val="000000"/>
              </a:solidFill>
              <a:latin typeface="Verdana"/>
              <a:ea typeface="Verdana"/>
              <a:cs typeface="Verdana"/>
              <a:sym typeface="Verdana"/>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361"/>
        <p:cNvGrpSpPr/>
        <p:nvPr/>
      </p:nvGrpSpPr>
      <p:grpSpPr>
        <a:xfrm>
          <a:off x="0" y="0"/>
          <a:ext cx="0" cy="0"/>
          <a:chOff x="0" y="0"/>
          <a:chExt cx="0" cy="0"/>
        </a:xfrm>
      </p:grpSpPr>
      <p:sp>
        <p:nvSpPr>
          <p:cNvPr id="362" name="Google Shape;362;p30"/>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Digital Marketing Strategies</a:t>
            </a:r>
            <a:endParaRPr/>
          </a:p>
        </p:txBody>
      </p:sp>
      <p:sp>
        <p:nvSpPr>
          <p:cNvPr id="363" name="Google Shape;363;p30"/>
          <p:cNvSpPr txBox="1">
            <a:spLocks noGrp="1"/>
          </p:cNvSpPr>
          <p:nvPr>
            <p:ph type="body" idx="1"/>
          </p:nvPr>
        </p:nvSpPr>
        <p:spPr>
          <a:xfrm>
            <a:off x="457200" y="1170400"/>
            <a:ext cx="8229600" cy="57093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Replace this text with station/consumer information and/or customized research.</a:t>
            </a:r>
            <a:endParaRPr sz="1150">
              <a:solidFill>
                <a:schemeClr val="dk1"/>
              </a:solidFill>
              <a:latin typeface="Verdana"/>
              <a:ea typeface="Verdana"/>
              <a:cs typeface="Verdana"/>
              <a:sym typeface="Verdana"/>
            </a:endParaRPr>
          </a:p>
          <a:p>
            <a:pPr marL="0" lvl="0" indent="0" algn="l" rtl="0">
              <a:spcBef>
                <a:spcPts val="1000"/>
              </a:spcBef>
              <a:spcAft>
                <a:spcPts val="1600"/>
              </a:spcAft>
              <a:buNone/>
            </a:pPr>
            <a:endParaRPr sz="1150">
              <a:latin typeface="Verdana"/>
              <a:ea typeface="Verdana"/>
              <a:cs typeface="Verdana"/>
              <a:sym typeface="Verdana"/>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367"/>
        <p:cNvGrpSpPr/>
        <p:nvPr/>
      </p:nvGrpSpPr>
      <p:grpSpPr>
        <a:xfrm>
          <a:off x="0" y="0"/>
          <a:ext cx="0" cy="0"/>
          <a:chOff x="0" y="0"/>
          <a:chExt cx="0" cy="0"/>
        </a:xfrm>
      </p:grpSpPr>
      <p:sp>
        <p:nvSpPr>
          <p:cNvPr id="368" name="Google Shape;368;p31"/>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Long Range Strategic Plans</a:t>
            </a:r>
            <a:endParaRPr/>
          </a:p>
        </p:txBody>
      </p:sp>
      <p:sp>
        <p:nvSpPr>
          <p:cNvPr id="369" name="Google Shape;369;p31"/>
          <p:cNvSpPr txBox="1"/>
          <p:nvPr/>
        </p:nvSpPr>
        <p:spPr>
          <a:xfrm>
            <a:off x="453938" y="1463040"/>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SATURATION</a:t>
            </a:r>
            <a:endParaRPr sz="1700">
              <a:latin typeface="Verdana"/>
              <a:ea typeface="Verdana"/>
              <a:cs typeface="Verdana"/>
              <a:sym typeface="Verdana"/>
            </a:endParaRPr>
          </a:p>
        </p:txBody>
      </p:sp>
      <p:sp>
        <p:nvSpPr>
          <p:cNvPr id="370" name="Google Shape;370;p31"/>
          <p:cNvSpPr txBox="1"/>
          <p:nvPr/>
        </p:nvSpPr>
        <p:spPr>
          <a:xfrm>
            <a:off x="3545038" y="1463040"/>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13 WEEKS</a:t>
            </a:r>
            <a:endParaRPr sz="1700">
              <a:latin typeface="Verdana"/>
              <a:ea typeface="Verdana"/>
              <a:cs typeface="Verdana"/>
              <a:sym typeface="Verdana"/>
            </a:endParaRPr>
          </a:p>
        </p:txBody>
      </p:sp>
      <p:sp>
        <p:nvSpPr>
          <p:cNvPr id="371" name="Google Shape;371;p31"/>
          <p:cNvSpPr txBox="1"/>
          <p:nvPr/>
        </p:nvSpPr>
        <p:spPr>
          <a:xfrm>
            <a:off x="6761963" y="1463040"/>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AWARENESS</a:t>
            </a:r>
            <a:endParaRPr sz="1700">
              <a:latin typeface="Verdana"/>
              <a:ea typeface="Verdana"/>
              <a:cs typeface="Verdana"/>
              <a:sym typeface="Verdana"/>
            </a:endParaRPr>
          </a:p>
        </p:txBody>
      </p:sp>
      <p:sp>
        <p:nvSpPr>
          <p:cNvPr id="372" name="Google Shape;372;p31"/>
          <p:cNvSpPr txBox="1"/>
          <p:nvPr/>
        </p:nvSpPr>
        <p:spPr>
          <a:xfrm>
            <a:off x="453925" y="3431678"/>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PENETRATION</a:t>
            </a:r>
            <a:endParaRPr sz="1700">
              <a:latin typeface="Verdana"/>
              <a:ea typeface="Verdana"/>
              <a:cs typeface="Verdana"/>
              <a:sym typeface="Verdana"/>
            </a:endParaRPr>
          </a:p>
        </p:txBody>
      </p:sp>
      <p:sp>
        <p:nvSpPr>
          <p:cNvPr id="373" name="Google Shape;373;p31"/>
          <p:cNvSpPr txBox="1"/>
          <p:nvPr/>
        </p:nvSpPr>
        <p:spPr>
          <a:xfrm>
            <a:off x="3545025" y="3431678"/>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26 WEEKS</a:t>
            </a:r>
            <a:endParaRPr sz="1700">
              <a:latin typeface="Verdana"/>
              <a:ea typeface="Verdana"/>
              <a:cs typeface="Verdana"/>
              <a:sym typeface="Verdana"/>
            </a:endParaRPr>
          </a:p>
        </p:txBody>
      </p:sp>
      <p:sp>
        <p:nvSpPr>
          <p:cNvPr id="374" name="Google Shape;374;p31"/>
          <p:cNvSpPr txBox="1"/>
          <p:nvPr/>
        </p:nvSpPr>
        <p:spPr>
          <a:xfrm>
            <a:off x="6761950" y="3431678"/>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RECOGNITION</a:t>
            </a:r>
            <a:endParaRPr sz="1700">
              <a:latin typeface="Verdana"/>
              <a:ea typeface="Verdana"/>
              <a:cs typeface="Verdana"/>
              <a:sym typeface="Verdana"/>
            </a:endParaRPr>
          </a:p>
        </p:txBody>
      </p:sp>
      <p:sp>
        <p:nvSpPr>
          <p:cNvPr id="375" name="Google Shape;375;p31"/>
          <p:cNvSpPr txBox="1"/>
          <p:nvPr/>
        </p:nvSpPr>
        <p:spPr>
          <a:xfrm>
            <a:off x="453938" y="5400315"/>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DOMINANCE</a:t>
            </a:r>
            <a:endParaRPr sz="1700">
              <a:latin typeface="Verdana"/>
              <a:ea typeface="Verdana"/>
              <a:cs typeface="Verdana"/>
              <a:sym typeface="Verdana"/>
            </a:endParaRPr>
          </a:p>
        </p:txBody>
      </p:sp>
      <p:sp>
        <p:nvSpPr>
          <p:cNvPr id="376" name="Google Shape;376;p31"/>
          <p:cNvSpPr txBox="1"/>
          <p:nvPr/>
        </p:nvSpPr>
        <p:spPr>
          <a:xfrm>
            <a:off x="3545038" y="5400315"/>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52 WEEKS</a:t>
            </a:r>
            <a:endParaRPr sz="1700">
              <a:latin typeface="Verdana"/>
              <a:ea typeface="Verdana"/>
              <a:cs typeface="Verdana"/>
              <a:sym typeface="Verdana"/>
            </a:endParaRPr>
          </a:p>
        </p:txBody>
      </p:sp>
      <p:sp>
        <p:nvSpPr>
          <p:cNvPr id="377" name="Google Shape;377;p31"/>
          <p:cNvSpPr txBox="1"/>
          <p:nvPr/>
        </p:nvSpPr>
        <p:spPr>
          <a:xfrm>
            <a:off x="6761963" y="5400315"/>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ACCEPTANCE</a:t>
            </a:r>
            <a:endParaRPr sz="1700">
              <a:latin typeface="Verdana"/>
              <a:ea typeface="Verdana"/>
              <a:cs typeface="Verdana"/>
              <a:sym typeface="Verdana"/>
            </a:endParaRPr>
          </a:p>
        </p:txBody>
      </p:sp>
      <p:sp>
        <p:nvSpPr>
          <p:cNvPr id="378" name="Google Shape;378;p31"/>
          <p:cNvSpPr/>
          <p:nvPr/>
        </p:nvSpPr>
        <p:spPr>
          <a:xfrm>
            <a:off x="2382025" y="5628925"/>
            <a:ext cx="1391400" cy="417300"/>
          </a:xfrm>
          <a:prstGeom prst="rightArrow">
            <a:avLst>
              <a:gd name="adj1" fmla="val 50000"/>
              <a:gd name="adj2" fmla="val 50000"/>
            </a:avLst>
          </a:prstGeom>
          <a:solidFill>
            <a:srgbClr val="7F7E0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 name="Google Shape;379;p31"/>
          <p:cNvSpPr/>
          <p:nvPr/>
        </p:nvSpPr>
        <p:spPr>
          <a:xfrm>
            <a:off x="5370550" y="5628925"/>
            <a:ext cx="1391400" cy="417300"/>
          </a:xfrm>
          <a:prstGeom prst="rightArrow">
            <a:avLst>
              <a:gd name="adj1" fmla="val 50000"/>
              <a:gd name="adj2" fmla="val 50000"/>
            </a:avLst>
          </a:prstGeom>
          <a:solidFill>
            <a:srgbClr val="7F7E0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 name="Google Shape;380;p31"/>
          <p:cNvSpPr/>
          <p:nvPr/>
        </p:nvSpPr>
        <p:spPr>
          <a:xfrm>
            <a:off x="2382025" y="1691625"/>
            <a:ext cx="1391400" cy="417300"/>
          </a:xfrm>
          <a:prstGeom prst="rightArrow">
            <a:avLst>
              <a:gd name="adj1" fmla="val 50000"/>
              <a:gd name="adj2" fmla="val 50000"/>
            </a:avLst>
          </a:pr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 name="Google Shape;381;p31"/>
          <p:cNvSpPr/>
          <p:nvPr/>
        </p:nvSpPr>
        <p:spPr>
          <a:xfrm>
            <a:off x="5370550" y="1691625"/>
            <a:ext cx="1391400" cy="417300"/>
          </a:xfrm>
          <a:prstGeom prst="rightArrow">
            <a:avLst>
              <a:gd name="adj1" fmla="val 50000"/>
              <a:gd name="adj2" fmla="val 50000"/>
            </a:avLst>
          </a:pr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 name="Google Shape;382;p31"/>
          <p:cNvSpPr/>
          <p:nvPr/>
        </p:nvSpPr>
        <p:spPr>
          <a:xfrm>
            <a:off x="2382038" y="3660288"/>
            <a:ext cx="1391400" cy="417300"/>
          </a:xfrm>
          <a:prstGeom prst="rightArrow">
            <a:avLst>
              <a:gd name="adj1" fmla="val 50000"/>
              <a:gd name="adj2" fmla="val 50000"/>
            </a:avLst>
          </a:prstGeom>
          <a:solidFill>
            <a:srgbClr val="002B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 name="Google Shape;383;p31"/>
          <p:cNvSpPr/>
          <p:nvPr/>
        </p:nvSpPr>
        <p:spPr>
          <a:xfrm>
            <a:off x="5370563" y="3660288"/>
            <a:ext cx="1391400" cy="417300"/>
          </a:xfrm>
          <a:prstGeom prst="rightArrow">
            <a:avLst>
              <a:gd name="adj1" fmla="val 50000"/>
              <a:gd name="adj2" fmla="val 50000"/>
            </a:avLst>
          </a:prstGeom>
          <a:solidFill>
            <a:srgbClr val="002B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387"/>
        <p:cNvGrpSpPr/>
        <p:nvPr/>
      </p:nvGrpSpPr>
      <p:grpSpPr>
        <a:xfrm>
          <a:off x="0" y="0"/>
          <a:ext cx="0" cy="0"/>
          <a:chOff x="0" y="0"/>
          <a:chExt cx="0" cy="0"/>
        </a:xfrm>
      </p:grpSpPr>
      <p:sp>
        <p:nvSpPr>
          <p:cNvPr id="388" name="Google Shape;388;p32"/>
          <p:cNvSpPr txBox="1">
            <a:spLocks noGrp="1"/>
          </p:cNvSpPr>
          <p:nvPr>
            <p:ph type="ctrTitle"/>
          </p:nvPr>
        </p:nvSpPr>
        <p:spPr>
          <a:xfrm>
            <a:off x="693450" y="475488"/>
            <a:ext cx="7757100" cy="699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2700"/>
              <a:t>Advantages to Long-Range Strategic Planning</a:t>
            </a:r>
            <a:endParaRPr sz="2700"/>
          </a:p>
        </p:txBody>
      </p:sp>
      <p:sp>
        <p:nvSpPr>
          <p:cNvPr id="389" name="Google Shape;389;p32"/>
          <p:cNvSpPr txBox="1"/>
          <p:nvPr/>
        </p:nvSpPr>
        <p:spPr>
          <a:xfrm>
            <a:off x="2371040" y="1283075"/>
            <a:ext cx="6197700" cy="874500"/>
          </a:xfrm>
          <a:prstGeom prst="rect">
            <a:avLst/>
          </a:prstGeom>
          <a:no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solidFill>
                  <a:schemeClr val="dk1"/>
                </a:solidFill>
                <a:latin typeface="Verdana"/>
                <a:ea typeface="Verdana"/>
                <a:cs typeface="Verdana"/>
                <a:sym typeface="Verdana"/>
              </a:rPr>
              <a:t>Long-term investments placed for a year usually achieve lower rates.</a:t>
            </a:r>
            <a:endParaRPr sz="1700">
              <a:latin typeface="Verdana"/>
              <a:ea typeface="Verdana"/>
              <a:cs typeface="Verdana"/>
              <a:sym typeface="Verdana"/>
            </a:endParaRPr>
          </a:p>
        </p:txBody>
      </p:sp>
      <p:sp>
        <p:nvSpPr>
          <p:cNvPr id="390" name="Google Shape;390;p32"/>
          <p:cNvSpPr/>
          <p:nvPr/>
        </p:nvSpPr>
        <p:spPr>
          <a:xfrm>
            <a:off x="575263" y="3682050"/>
            <a:ext cx="1391400" cy="417300"/>
          </a:xfrm>
          <a:prstGeom prst="rightArrow">
            <a:avLst>
              <a:gd name="adj1" fmla="val 50000"/>
              <a:gd name="adj2" fmla="val 50000"/>
            </a:avLst>
          </a:prstGeom>
          <a:solidFill>
            <a:srgbClr val="7F7E0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 name="Google Shape;391;p32"/>
          <p:cNvSpPr/>
          <p:nvPr/>
        </p:nvSpPr>
        <p:spPr>
          <a:xfrm>
            <a:off x="575263" y="1484815"/>
            <a:ext cx="1391400" cy="417300"/>
          </a:xfrm>
          <a:prstGeom prst="rightArrow">
            <a:avLst>
              <a:gd name="adj1" fmla="val 50000"/>
              <a:gd name="adj2" fmla="val 50000"/>
            </a:avLst>
          </a:pr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 name="Google Shape;392;p32"/>
          <p:cNvSpPr/>
          <p:nvPr/>
        </p:nvSpPr>
        <p:spPr>
          <a:xfrm>
            <a:off x="575263" y="5879250"/>
            <a:ext cx="1391400" cy="417300"/>
          </a:xfrm>
          <a:prstGeom prst="rightArrow">
            <a:avLst>
              <a:gd name="adj1" fmla="val 50000"/>
              <a:gd name="adj2" fmla="val 50000"/>
            </a:avLst>
          </a:pr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 name="Google Shape;393;p32"/>
          <p:cNvSpPr/>
          <p:nvPr/>
        </p:nvSpPr>
        <p:spPr>
          <a:xfrm>
            <a:off x="575250" y="2583438"/>
            <a:ext cx="1391400" cy="417300"/>
          </a:xfrm>
          <a:prstGeom prst="rightArrow">
            <a:avLst>
              <a:gd name="adj1" fmla="val 50000"/>
              <a:gd name="adj2" fmla="val 50000"/>
            </a:avLst>
          </a:prstGeom>
          <a:solidFill>
            <a:srgbClr val="002B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 name="Google Shape;394;p32"/>
          <p:cNvSpPr/>
          <p:nvPr/>
        </p:nvSpPr>
        <p:spPr>
          <a:xfrm>
            <a:off x="575250" y="4780638"/>
            <a:ext cx="1391400" cy="417300"/>
          </a:xfrm>
          <a:prstGeom prst="rightArrow">
            <a:avLst>
              <a:gd name="adj1" fmla="val 50000"/>
              <a:gd name="adj2" fmla="val 50000"/>
            </a:avLst>
          </a:prstGeom>
          <a:solidFill>
            <a:srgbClr val="002B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 name="Google Shape;395;p32"/>
          <p:cNvSpPr txBox="1"/>
          <p:nvPr/>
        </p:nvSpPr>
        <p:spPr>
          <a:xfrm>
            <a:off x="2371040" y="4525225"/>
            <a:ext cx="6197700" cy="874500"/>
          </a:xfrm>
          <a:prstGeom prst="rect">
            <a:avLst/>
          </a:prstGeom>
          <a:no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solidFill>
                  <a:schemeClr val="dk1"/>
                </a:solidFill>
                <a:latin typeface="Verdana"/>
                <a:ea typeface="Verdana"/>
                <a:cs typeface="Verdana"/>
                <a:sym typeface="Verdana"/>
              </a:rPr>
              <a:t>Consistent advertising creates the image of credibility and stability.</a:t>
            </a:r>
            <a:endParaRPr sz="1700">
              <a:latin typeface="Verdana"/>
              <a:ea typeface="Verdana"/>
              <a:cs typeface="Verdana"/>
              <a:sym typeface="Verdana"/>
            </a:endParaRPr>
          </a:p>
        </p:txBody>
      </p:sp>
      <p:sp>
        <p:nvSpPr>
          <p:cNvPr id="396" name="Google Shape;396;p32"/>
          <p:cNvSpPr txBox="1"/>
          <p:nvPr/>
        </p:nvSpPr>
        <p:spPr>
          <a:xfrm>
            <a:off x="2371040" y="3446725"/>
            <a:ext cx="6197700" cy="874500"/>
          </a:xfrm>
          <a:prstGeom prst="rect">
            <a:avLst/>
          </a:prstGeom>
          <a:no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solidFill>
                  <a:schemeClr val="dk1"/>
                </a:solidFill>
                <a:latin typeface="Verdana"/>
                <a:ea typeface="Verdana"/>
                <a:cs typeface="Verdana"/>
                <a:sym typeface="Verdana"/>
              </a:rPr>
              <a:t>Consistent continuity creates lasting impressions, not just short-term attention.</a:t>
            </a:r>
            <a:endParaRPr sz="1700">
              <a:latin typeface="Verdana"/>
              <a:ea typeface="Verdana"/>
              <a:cs typeface="Verdana"/>
              <a:sym typeface="Verdana"/>
            </a:endParaRPr>
          </a:p>
        </p:txBody>
      </p:sp>
      <p:sp>
        <p:nvSpPr>
          <p:cNvPr id="397" name="Google Shape;397;p32"/>
          <p:cNvSpPr txBox="1"/>
          <p:nvPr/>
        </p:nvSpPr>
        <p:spPr>
          <a:xfrm>
            <a:off x="2371040" y="5623775"/>
            <a:ext cx="6197700" cy="874500"/>
          </a:xfrm>
          <a:prstGeom prst="rect">
            <a:avLst/>
          </a:prstGeom>
          <a:no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solidFill>
                  <a:schemeClr val="dk1"/>
                </a:solidFill>
                <a:latin typeface="Verdana"/>
                <a:ea typeface="Verdana"/>
                <a:cs typeface="Verdana"/>
                <a:sym typeface="Verdana"/>
              </a:rPr>
              <a:t>All successful businesses consider long-range strategic planning a smart business decision.</a:t>
            </a:r>
            <a:endParaRPr sz="1700">
              <a:latin typeface="Verdana"/>
              <a:ea typeface="Verdana"/>
              <a:cs typeface="Verdana"/>
              <a:sym typeface="Verdana"/>
            </a:endParaRPr>
          </a:p>
        </p:txBody>
      </p:sp>
      <p:sp>
        <p:nvSpPr>
          <p:cNvPr id="398" name="Google Shape;398;p32"/>
          <p:cNvSpPr txBox="1"/>
          <p:nvPr/>
        </p:nvSpPr>
        <p:spPr>
          <a:xfrm>
            <a:off x="2371040" y="2368250"/>
            <a:ext cx="6197700" cy="874500"/>
          </a:xfrm>
          <a:prstGeom prst="rect">
            <a:avLst/>
          </a:prstGeom>
          <a:no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solidFill>
                  <a:schemeClr val="dk1"/>
                </a:solidFill>
                <a:latin typeface="Verdana"/>
                <a:ea typeface="Verdana"/>
                <a:cs typeface="Verdana"/>
                <a:sym typeface="Verdana"/>
              </a:rPr>
              <a:t>Advertising “Away from the Clutter” gains the competitive edge.</a:t>
            </a:r>
            <a:endParaRPr sz="1700">
              <a:latin typeface="Verdana"/>
              <a:ea typeface="Verdana"/>
              <a:cs typeface="Verdana"/>
              <a:sym typeface="Verdana"/>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402"/>
        <p:cNvGrpSpPr/>
        <p:nvPr/>
      </p:nvGrpSpPr>
      <p:grpSpPr>
        <a:xfrm>
          <a:off x="0" y="0"/>
          <a:ext cx="0" cy="0"/>
          <a:chOff x="0" y="0"/>
          <a:chExt cx="0" cy="0"/>
        </a:xfrm>
      </p:grpSpPr>
      <p:sp>
        <p:nvSpPr>
          <p:cNvPr id="403" name="Google Shape;403;p33"/>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Proposed Schedule - Plan A</a:t>
            </a:r>
            <a:endParaRPr/>
          </a:p>
        </p:txBody>
      </p:sp>
      <p:sp>
        <p:nvSpPr>
          <p:cNvPr id="404" name="Google Shape;404;p33"/>
          <p:cNvSpPr txBox="1">
            <a:spLocks noGrp="1"/>
          </p:cNvSpPr>
          <p:nvPr>
            <p:ph type="ctrTitle"/>
          </p:nvPr>
        </p:nvSpPr>
        <p:spPr>
          <a:xfrm>
            <a:off x="693450" y="1174812"/>
            <a:ext cx="7757100" cy="639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2100"/>
              <a:t>Budget Breakout by Month (For Next 12 Months)</a:t>
            </a:r>
            <a:endParaRPr sz="2100"/>
          </a:p>
          <a:p>
            <a:pPr marL="0" lvl="0" indent="0" algn="ctr" rtl="0">
              <a:spcBef>
                <a:spcPts val="0"/>
              </a:spcBef>
              <a:spcAft>
                <a:spcPts val="0"/>
              </a:spcAft>
              <a:buNone/>
            </a:pPr>
            <a:r>
              <a:rPr lang="en" sz="2100"/>
              <a:t>Proposed Media Plan: station</a:t>
            </a:r>
            <a:endParaRPr sz="2100"/>
          </a:p>
        </p:txBody>
      </p:sp>
      <p:pic>
        <p:nvPicPr>
          <p:cNvPr id="405" name="Google Shape;405;p33"/>
          <p:cNvPicPr preferRelativeResize="0"/>
          <p:nvPr/>
        </p:nvPicPr>
        <p:blipFill>
          <a:blip r:embed="rId3">
            <a:alphaModFix/>
          </a:blip>
          <a:stretch>
            <a:fillRect/>
          </a:stretch>
        </p:blipFill>
        <p:spPr>
          <a:xfrm>
            <a:off x="841248" y="2082272"/>
            <a:ext cx="7461504" cy="4613697"/>
          </a:xfrm>
          <a:prstGeom prst="rect">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409"/>
        <p:cNvGrpSpPr/>
        <p:nvPr/>
      </p:nvGrpSpPr>
      <p:grpSpPr>
        <a:xfrm>
          <a:off x="0" y="0"/>
          <a:ext cx="0" cy="0"/>
          <a:chOff x="0" y="0"/>
          <a:chExt cx="0" cy="0"/>
        </a:xfrm>
      </p:grpSpPr>
      <p:sp>
        <p:nvSpPr>
          <p:cNvPr id="410" name="Google Shape;410;p34"/>
          <p:cNvSpPr txBox="1">
            <a:spLocks noGrp="1"/>
          </p:cNvSpPr>
          <p:nvPr>
            <p:ph type="ctrTitle"/>
          </p:nvPr>
        </p:nvSpPr>
        <p:spPr>
          <a:xfrm>
            <a:off x="693450" y="478963"/>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Proposed Schedule - Plan A</a:t>
            </a:r>
            <a:endParaRPr/>
          </a:p>
        </p:txBody>
      </p:sp>
      <p:graphicFrame>
        <p:nvGraphicFramePr>
          <p:cNvPr id="411" name="Google Shape;411;p34"/>
          <p:cNvGraphicFramePr/>
          <p:nvPr/>
        </p:nvGraphicFramePr>
        <p:xfrm>
          <a:off x="457200" y="1325880"/>
          <a:ext cx="8229600" cy="1783080"/>
        </p:xfrm>
        <a:graphic>
          <a:graphicData uri="http://schemas.openxmlformats.org/drawingml/2006/table">
            <a:tbl>
              <a:tblPr>
                <a:noFill/>
                <a:tableStyleId>{CFB75FC7-DD7D-40D8-B2B2-EE4B611A8D2E}</a:tableStyleId>
              </a:tblPr>
              <a:tblGrid>
                <a:gridCol w="1246175">
                  <a:extLst>
                    <a:ext uri="{9D8B030D-6E8A-4147-A177-3AD203B41FA5}">
                      <a16:colId xmlns:a16="http://schemas.microsoft.com/office/drawing/2014/main" val="20000"/>
                    </a:ext>
                  </a:extLst>
                </a:gridCol>
                <a:gridCol w="1116875">
                  <a:extLst>
                    <a:ext uri="{9D8B030D-6E8A-4147-A177-3AD203B41FA5}">
                      <a16:colId xmlns:a16="http://schemas.microsoft.com/office/drawing/2014/main" val="20001"/>
                    </a:ext>
                  </a:extLst>
                </a:gridCol>
                <a:gridCol w="1528350">
                  <a:extLst>
                    <a:ext uri="{9D8B030D-6E8A-4147-A177-3AD203B41FA5}">
                      <a16:colId xmlns:a16="http://schemas.microsoft.com/office/drawing/2014/main" val="20002"/>
                    </a:ext>
                  </a:extLst>
                </a:gridCol>
                <a:gridCol w="2186750">
                  <a:extLst>
                    <a:ext uri="{9D8B030D-6E8A-4147-A177-3AD203B41FA5}">
                      <a16:colId xmlns:a16="http://schemas.microsoft.com/office/drawing/2014/main" val="20003"/>
                    </a:ext>
                  </a:extLst>
                </a:gridCol>
                <a:gridCol w="2151450">
                  <a:extLst>
                    <a:ext uri="{9D8B030D-6E8A-4147-A177-3AD203B41FA5}">
                      <a16:colId xmlns:a16="http://schemas.microsoft.com/office/drawing/2014/main" val="20004"/>
                    </a:ext>
                  </a:extLst>
                </a:gridCol>
              </a:tblGrid>
              <a:tr h="251450">
                <a:tc>
                  <a:txBody>
                    <a:bodyPr/>
                    <a:lstStyle/>
                    <a:p>
                      <a:pPr marL="0" lvl="0" indent="0" algn="l" rtl="0">
                        <a:spcBef>
                          <a:spcPts val="0"/>
                        </a:spcBef>
                        <a:spcAft>
                          <a:spcPts val="0"/>
                        </a:spcAft>
                        <a:buNone/>
                      </a:pPr>
                      <a:endParaRPr/>
                    </a:p>
                  </a:txBody>
                  <a:tcPr marL="28575" marR="28575" marT="19050" marB="19050" anchor="b"/>
                </a:tc>
                <a:tc gridSpan="2">
                  <a:txBody>
                    <a:bodyPr/>
                    <a:lstStyle/>
                    <a:p>
                      <a:pPr marL="0" lvl="0" indent="0" algn="ctr" rtl="0">
                        <a:lnSpc>
                          <a:spcPct val="115000"/>
                        </a:lnSpc>
                        <a:spcBef>
                          <a:spcPts val="0"/>
                        </a:spcBef>
                        <a:spcAft>
                          <a:spcPts val="0"/>
                        </a:spcAft>
                        <a:buNone/>
                      </a:pPr>
                      <a:r>
                        <a:rPr lang="en" sz="1200" b="1">
                          <a:latin typeface="Verdana"/>
                          <a:ea typeface="Verdana"/>
                          <a:cs typeface="Verdana"/>
                          <a:sym typeface="Verdana"/>
                        </a:rPr>
                        <a:t>Branding Months</a:t>
                      </a:r>
                      <a:endParaRPr sz="1200" b="1">
                        <a:latin typeface="Verdana"/>
                        <a:ea typeface="Verdana"/>
                        <a:cs typeface="Verdana"/>
                        <a:sym typeface="Verdana"/>
                      </a:endParaRPr>
                    </a:p>
                  </a:txBody>
                  <a:tcPr marL="28575" marR="28575" marT="19050" marB="19050" anchor="ctr"/>
                </a:tc>
                <a:tc hMerge="1">
                  <a:txBody>
                    <a:bodyPr/>
                    <a:lstStyle/>
                    <a:p>
                      <a:endParaRPr lang="en-US"/>
                    </a:p>
                  </a:txBody>
                  <a:tcP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extLst>
                  <a:ext uri="{0D108BD9-81ED-4DB2-BD59-A6C34878D82A}">
                    <a16:rowId xmlns:a16="http://schemas.microsoft.com/office/drawing/2014/main" val="10000"/>
                  </a:ext>
                </a:extLst>
              </a:tr>
              <a:tr h="228600">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200" b="1" i="1" u="sng">
                          <a:latin typeface="Verdana"/>
                          <a:ea typeface="Verdana"/>
                          <a:cs typeface="Verdana"/>
                          <a:sym typeface="Verdana"/>
                        </a:rPr>
                        <a:t>Branding Months</a:t>
                      </a:r>
                      <a:endParaRPr sz="1200" b="1" i="1" u="sng">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1"/>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 of Weeks/Months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2"/>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3"/>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Base Investment</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4"/>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$1,000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5"/>
                  </a:ext>
                </a:extLst>
              </a:tr>
              <a:tr h="251450">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6"/>
                  </a:ext>
                </a:extLst>
              </a:tr>
              <a:tr h="251450">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40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7"/>
                  </a:ext>
                </a:extLst>
              </a:tr>
            </a:tbl>
          </a:graphicData>
        </a:graphic>
      </p:graphicFrame>
      <p:graphicFrame>
        <p:nvGraphicFramePr>
          <p:cNvPr id="412" name="Google Shape;412;p34"/>
          <p:cNvGraphicFramePr/>
          <p:nvPr/>
        </p:nvGraphicFramePr>
        <p:xfrm>
          <a:off x="457200" y="3200400"/>
          <a:ext cx="8229600" cy="1783080"/>
        </p:xfrm>
        <a:graphic>
          <a:graphicData uri="http://schemas.openxmlformats.org/drawingml/2006/table">
            <a:tbl>
              <a:tblPr>
                <a:noFill/>
                <a:tableStyleId>{CFB75FC7-DD7D-40D8-B2B2-EE4B611A8D2E}</a:tableStyleId>
              </a:tblPr>
              <a:tblGrid>
                <a:gridCol w="1246200">
                  <a:extLst>
                    <a:ext uri="{9D8B030D-6E8A-4147-A177-3AD203B41FA5}">
                      <a16:colId xmlns:a16="http://schemas.microsoft.com/office/drawing/2014/main" val="20000"/>
                    </a:ext>
                  </a:extLst>
                </a:gridCol>
                <a:gridCol w="1116875">
                  <a:extLst>
                    <a:ext uri="{9D8B030D-6E8A-4147-A177-3AD203B41FA5}">
                      <a16:colId xmlns:a16="http://schemas.microsoft.com/office/drawing/2014/main" val="20001"/>
                    </a:ext>
                  </a:extLst>
                </a:gridCol>
                <a:gridCol w="1528350">
                  <a:extLst>
                    <a:ext uri="{9D8B030D-6E8A-4147-A177-3AD203B41FA5}">
                      <a16:colId xmlns:a16="http://schemas.microsoft.com/office/drawing/2014/main" val="20002"/>
                    </a:ext>
                  </a:extLst>
                </a:gridCol>
                <a:gridCol w="2186725">
                  <a:extLst>
                    <a:ext uri="{9D8B030D-6E8A-4147-A177-3AD203B41FA5}">
                      <a16:colId xmlns:a16="http://schemas.microsoft.com/office/drawing/2014/main" val="20003"/>
                    </a:ext>
                  </a:extLst>
                </a:gridCol>
                <a:gridCol w="2151450">
                  <a:extLst>
                    <a:ext uri="{9D8B030D-6E8A-4147-A177-3AD203B41FA5}">
                      <a16:colId xmlns:a16="http://schemas.microsoft.com/office/drawing/2014/main" val="20004"/>
                    </a:ext>
                  </a:extLst>
                </a:gridCol>
              </a:tblGrid>
              <a:tr h="251450">
                <a:tc>
                  <a:txBody>
                    <a:bodyPr/>
                    <a:lstStyle/>
                    <a:p>
                      <a:pPr marL="0" lvl="0" indent="0" algn="l" rtl="0">
                        <a:spcBef>
                          <a:spcPts val="0"/>
                        </a:spcBef>
                        <a:spcAft>
                          <a:spcPts val="0"/>
                        </a:spcAft>
                        <a:buNone/>
                      </a:pPr>
                      <a:endParaRPr/>
                    </a:p>
                  </a:txBody>
                  <a:tcPr marL="28575" marR="28575" marT="19050" marB="19050" anchor="b"/>
                </a:tc>
                <a:tc gridSpan="2">
                  <a:txBody>
                    <a:bodyPr/>
                    <a:lstStyle/>
                    <a:p>
                      <a:pPr marL="0" lvl="0" indent="0" algn="ctr" rtl="0">
                        <a:lnSpc>
                          <a:spcPct val="115000"/>
                        </a:lnSpc>
                        <a:spcBef>
                          <a:spcPts val="0"/>
                        </a:spcBef>
                        <a:spcAft>
                          <a:spcPts val="0"/>
                        </a:spcAft>
                        <a:buNone/>
                      </a:pPr>
                      <a:r>
                        <a:rPr lang="en" sz="1200" b="1">
                          <a:latin typeface="Verdana"/>
                          <a:ea typeface="Verdana"/>
                          <a:cs typeface="Verdana"/>
                          <a:sym typeface="Verdana"/>
                        </a:rPr>
                        <a:t>Spike Months</a:t>
                      </a:r>
                      <a:endParaRPr sz="1200" b="1">
                        <a:latin typeface="Verdana"/>
                        <a:ea typeface="Verdana"/>
                        <a:cs typeface="Verdana"/>
                        <a:sym typeface="Verdana"/>
                      </a:endParaRPr>
                    </a:p>
                  </a:txBody>
                  <a:tcPr marL="28575" marR="28575" marT="19050" marB="19050" anchor="ctr"/>
                </a:tc>
                <a:tc hMerge="1">
                  <a:txBody>
                    <a:bodyPr/>
                    <a:lstStyle/>
                    <a:p>
                      <a:endParaRPr lang="en-US"/>
                    </a:p>
                  </a:txBody>
                  <a:tcP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extLst>
                  <a:ext uri="{0D108BD9-81ED-4DB2-BD59-A6C34878D82A}">
                    <a16:rowId xmlns:a16="http://schemas.microsoft.com/office/drawing/2014/main" val="10000"/>
                  </a:ext>
                </a:extLst>
              </a:tr>
              <a:tr h="228600">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200" b="1" i="1" u="sng">
                          <a:latin typeface="Verdana"/>
                          <a:ea typeface="Verdana"/>
                          <a:cs typeface="Verdana"/>
                          <a:sym typeface="Verdana"/>
                        </a:rPr>
                        <a:t>Spike Months</a:t>
                      </a:r>
                      <a:endParaRPr sz="1200" b="1" i="1" u="sng">
                        <a:latin typeface="Verdana"/>
                        <a:ea typeface="Verdana"/>
                        <a:cs typeface="Verdana"/>
                        <a:sym typeface="Verdana"/>
                      </a:endParaRPr>
                    </a:p>
                  </a:txBody>
                  <a:tcPr marL="28575" marR="28575" marT="19050" marB="19050"/>
                </a:tc>
                <a:extLst>
                  <a:ext uri="{0D108BD9-81ED-4DB2-BD59-A6C34878D82A}">
                    <a16:rowId xmlns:a16="http://schemas.microsoft.com/office/drawing/2014/main" val="10001"/>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#Week/Months: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2"/>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2</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3"/>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Continuity Investment:</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4"/>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$2,000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5"/>
                  </a:ext>
                </a:extLst>
              </a:tr>
              <a:tr h="251450">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6"/>
                  </a:ext>
                </a:extLst>
              </a:tr>
              <a:tr h="251450">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80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7"/>
                  </a:ext>
                </a:extLst>
              </a:tr>
            </a:tbl>
          </a:graphicData>
        </a:graphic>
      </p:graphicFrame>
      <p:graphicFrame>
        <p:nvGraphicFramePr>
          <p:cNvPr id="413" name="Google Shape;413;p34"/>
          <p:cNvGraphicFramePr/>
          <p:nvPr/>
        </p:nvGraphicFramePr>
        <p:xfrm>
          <a:off x="457200" y="5029200"/>
          <a:ext cx="8229600" cy="1781493"/>
        </p:xfrm>
        <a:graphic>
          <a:graphicData uri="http://schemas.openxmlformats.org/drawingml/2006/table">
            <a:tbl>
              <a:tblPr>
                <a:noFill/>
                <a:tableStyleId>{CFB75FC7-DD7D-40D8-B2B2-EE4B611A8D2E}</a:tableStyleId>
              </a:tblPr>
              <a:tblGrid>
                <a:gridCol w="1246200">
                  <a:extLst>
                    <a:ext uri="{9D8B030D-6E8A-4147-A177-3AD203B41FA5}">
                      <a16:colId xmlns:a16="http://schemas.microsoft.com/office/drawing/2014/main" val="20000"/>
                    </a:ext>
                  </a:extLst>
                </a:gridCol>
                <a:gridCol w="1116875">
                  <a:extLst>
                    <a:ext uri="{9D8B030D-6E8A-4147-A177-3AD203B41FA5}">
                      <a16:colId xmlns:a16="http://schemas.microsoft.com/office/drawing/2014/main" val="20001"/>
                    </a:ext>
                  </a:extLst>
                </a:gridCol>
                <a:gridCol w="1528350">
                  <a:extLst>
                    <a:ext uri="{9D8B030D-6E8A-4147-A177-3AD203B41FA5}">
                      <a16:colId xmlns:a16="http://schemas.microsoft.com/office/drawing/2014/main" val="20002"/>
                    </a:ext>
                  </a:extLst>
                </a:gridCol>
                <a:gridCol w="2186725">
                  <a:extLst>
                    <a:ext uri="{9D8B030D-6E8A-4147-A177-3AD203B41FA5}">
                      <a16:colId xmlns:a16="http://schemas.microsoft.com/office/drawing/2014/main" val="20003"/>
                    </a:ext>
                  </a:extLst>
                </a:gridCol>
                <a:gridCol w="2151450">
                  <a:extLst>
                    <a:ext uri="{9D8B030D-6E8A-4147-A177-3AD203B41FA5}">
                      <a16:colId xmlns:a16="http://schemas.microsoft.com/office/drawing/2014/main" val="20004"/>
                    </a:ext>
                  </a:extLst>
                </a:gridCol>
              </a:tblGrid>
              <a:tr h="251450">
                <a:tc>
                  <a:txBody>
                    <a:bodyPr/>
                    <a:lstStyle/>
                    <a:p>
                      <a:pPr marL="0" lvl="0" indent="0" algn="l" rtl="0">
                        <a:spcBef>
                          <a:spcPts val="0"/>
                        </a:spcBef>
                        <a:spcAft>
                          <a:spcPts val="0"/>
                        </a:spcAft>
                        <a:buNone/>
                      </a:pPr>
                      <a:endParaRPr/>
                    </a:p>
                  </a:txBody>
                  <a:tcPr marL="28575" marR="28575" marT="19050" marB="19050" anchor="ctr"/>
                </a:tc>
                <a:tc gridSpan="2">
                  <a:txBody>
                    <a:bodyPr/>
                    <a:lstStyle/>
                    <a:p>
                      <a:pPr marL="0" lvl="0" indent="0" algn="ctr" rtl="0">
                        <a:lnSpc>
                          <a:spcPct val="115000"/>
                        </a:lnSpc>
                        <a:spcBef>
                          <a:spcPts val="0"/>
                        </a:spcBef>
                        <a:spcAft>
                          <a:spcPts val="0"/>
                        </a:spcAft>
                        <a:buNone/>
                      </a:pPr>
                      <a:r>
                        <a:rPr lang="en" sz="1200" b="1">
                          <a:latin typeface="Verdana"/>
                          <a:ea typeface="Verdana"/>
                          <a:cs typeface="Verdana"/>
                          <a:sym typeface="Verdana"/>
                        </a:rPr>
                        <a:t>Slow Months</a:t>
                      </a:r>
                      <a:endParaRPr sz="1200" b="1">
                        <a:latin typeface="Verdana"/>
                        <a:ea typeface="Verdana"/>
                        <a:cs typeface="Verdana"/>
                        <a:sym typeface="Verdana"/>
                      </a:endParaRPr>
                    </a:p>
                  </a:txBody>
                  <a:tcPr marL="28575" marR="28575" marT="19050" marB="19050" anchor="ctr"/>
                </a:tc>
                <a:tc hMerge="1">
                  <a:txBody>
                    <a:bodyPr/>
                    <a:lstStyle/>
                    <a:p>
                      <a:endParaRPr lang="en-US"/>
                    </a:p>
                  </a:txBody>
                  <a:tcP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extLst>
                  <a:ext uri="{0D108BD9-81ED-4DB2-BD59-A6C34878D82A}">
                    <a16:rowId xmlns:a16="http://schemas.microsoft.com/office/drawing/2014/main" val="10000"/>
                  </a:ext>
                </a:extLst>
              </a:tr>
              <a:tr h="228600">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200" b="1" i="1" u="sng">
                          <a:latin typeface="Verdana"/>
                          <a:ea typeface="Verdana"/>
                          <a:cs typeface="Verdana"/>
                          <a:sym typeface="Verdana"/>
                        </a:rPr>
                        <a:t>Slow Months</a:t>
                      </a:r>
                      <a:endParaRPr sz="1200" b="1" i="1" u="sng">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1"/>
                  </a:ext>
                </a:extLst>
              </a:tr>
              <a:tr h="200025">
                <a:tc>
                  <a:txBody>
                    <a:bodyPr/>
                    <a:lstStyle/>
                    <a:p>
                      <a:pPr marL="0" lvl="0" indent="0" algn="l" rtl="0">
                        <a:lnSpc>
                          <a:spcPct val="115000"/>
                        </a:lnSpc>
                        <a:spcBef>
                          <a:spcPts val="0"/>
                        </a:spcBef>
                        <a:spcAft>
                          <a:spcPts val="0"/>
                        </a:spcAft>
                        <a:buNone/>
                      </a:pPr>
                      <a:r>
                        <a:rPr lang="en" sz="1000"/>
                        <a:t>WAAA</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M-F</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6:00am - 7:00pm</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a:t>15</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#Week/Months: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2"/>
                  </a:ext>
                </a:extLst>
              </a:tr>
              <a:tr h="190500">
                <a:tc>
                  <a:txBody>
                    <a:bodyPr/>
                    <a:lstStyle/>
                    <a:p>
                      <a:pPr marL="0" lvl="0" indent="0" algn="l" rtl="0">
                        <a:lnSpc>
                          <a:spcPct val="115000"/>
                        </a:lnSpc>
                        <a:spcBef>
                          <a:spcPts val="0"/>
                        </a:spcBef>
                        <a:spcAft>
                          <a:spcPts val="0"/>
                        </a:spcAft>
                        <a:buNone/>
                      </a:pPr>
                      <a:r>
                        <a:rPr lang="en" sz="1000"/>
                        <a:t>WAAA</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M-F</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7:00pm - 12mid</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a:t>5</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a:t>3</a:t>
                      </a:r>
                      <a:endParaRPr sz="1000"/>
                    </a:p>
                  </a:txBody>
                  <a:tcPr marL="28575" marR="28575" marT="19050" marB="19050" anchor="ctr"/>
                </a:tc>
                <a:extLst>
                  <a:ext uri="{0D108BD9-81ED-4DB2-BD59-A6C34878D82A}">
                    <a16:rowId xmlns:a16="http://schemas.microsoft.com/office/drawing/2014/main" val="10003"/>
                  </a:ext>
                </a:extLst>
              </a:tr>
              <a:tr h="200025">
                <a:tc>
                  <a:txBody>
                    <a:bodyPr/>
                    <a:lstStyle/>
                    <a:p>
                      <a:pPr marL="0" lvl="0" indent="0" algn="l" rtl="0">
                        <a:lnSpc>
                          <a:spcPct val="115000"/>
                        </a:lnSpc>
                        <a:spcBef>
                          <a:spcPts val="0"/>
                        </a:spcBef>
                        <a:spcAft>
                          <a:spcPts val="0"/>
                        </a:spcAft>
                        <a:buNone/>
                      </a:pPr>
                      <a:r>
                        <a:rPr lang="en" sz="1000"/>
                        <a:t>WBBB</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M-F</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6:00am - 7:00pm</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a:t>15</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Continuity Investment:</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4"/>
                  </a:ext>
                </a:extLst>
              </a:tr>
              <a:tr h="200025">
                <a:tc>
                  <a:txBody>
                    <a:bodyPr/>
                    <a:lstStyle/>
                    <a:p>
                      <a:pPr marL="0" lvl="0" indent="0" algn="l" rtl="0">
                        <a:lnSpc>
                          <a:spcPct val="115000"/>
                        </a:lnSpc>
                        <a:spcBef>
                          <a:spcPts val="0"/>
                        </a:spcBef>
                        <a:spcAft>
                          <a:spcPts val="0"/>
                        </a:spcAft>
                        <a:buNone/>
                      </a:pPr>
                      <a:r>
                        <a:rPr lang="en" sz="1000"/>
                        <a:t>WBBB</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M-F</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7:00pm - 12mid</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a:t>5</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$3,000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5"/>
                  </a:ext>
                </a:extLst>
              </a:tr>
              <a:tr h="251450">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6"/>
                  </a:ext>
                </a:extLst>
              </a:tr>
              <a:tr h="251450">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t>120</a:t>
                      </a:r>
                      <a:endParaRPr sz="1000"/>
                    </a:p>
                  </a:txBody>
                  <a:tcPr marL="28575" marR="28575" marT="19050" marB="19050" anchor="ctr"/>
                </a:tc>
                <a:extLst>
                  <a:ext uri="{0D108BD9-81ED-4DB2-BD59-A6C34878D82A}">
                    <a16:rowId xmlns:a16="http://schemas.microsoft.com/office/drawing/2014/main" val="10007"/>
                  </a:ext>
                </a:extLst>
              </a:tr>
            </a:tbl>
          </a:graphicData>
        </a:graphic>
      </p:graphicFrame>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417"/>
        <p:cNvGrpSpPr/>
        <p:nvPr/>
      </p:nvGrpSpPr>
      <p:grpSpPr>
        <a:xfrm>
          <a:off x="0" y="0"/>
          <a:ext cx="0" cy="0"/>
          <a:chOff x="0" y="0"/>
          <a:chExt cx="0" cy="0"/>
        </a:xfrm>
      </p:grpSpPr>
      <p:sp>
        <p:nvSpPr>
          <p:cNvPr id="418" name="Google Shape;418;p35"/>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Proposed Schedule - Plan A</a:t>
            </a:r>
            <a:endParaRPr/>
          </a:p>
        </p:txBody>
      </p:sp>
      <p:sp>
        <p:nvSpPr>
          <p:cNvPr id="419" name="Google Shape;419;p35"/>
          <p:cNvSpPr txBox="1"/>
          <p:nvPr/>
        </p:nvSpPr>
        <p:spPr>
          <a:xfrm>
            <a:off x="1899150" y="1174800"/>
            <a:ext cx="5345700" cy="699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400" b="1">
                <a:solidFill>
                  <a:schemeClr val="dk1"/>
                </a:solidFill>
                <a:latin typeface="Verdana"/>
                <a:ea typeface="Verdana"/>
                <a:cs typeface="Verdana"/>
                <a:sym typeface="Verdana"/>
              </a:rPr>
              <a:t>clientBusinessName</a:t>
            </a:r>
            <a:endParaRPr sz="2400" b="1">
              <a:latin typeface="Verdana"/>
              <a:ea typeface="Verdana"/>
              <a:cs typeface="Verdana"/>
              <a:sym typeface="Verdana"/>
            </a:endParaRPr>
          </a:p>
        </p:txBody>
      </p:sp>
      <p:sp>
        <p:nvSpPr>
          <p:cNvPr id="420" name="Google Shape;420;p35"/>
          <p:cNvSpPr txBox="1"/>
          <p:nvPr/>
        </p:nvSpPr>
        <p:spPr>
          <a:xfrm>
            <a:off x="2168400" y="1759563"/>
            <a:ext cx="4807200" cy="9822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b="1">
                <a:solidFill>
                  <a:schemeClr val="dk1"/>
                </a:solidFill>
                <a:latin typeface="Verdana"/>
                <a:ea typeface="Verdana"/>
                <a:cs typeface="Verdana"/>
                <a:sym typeface="Verdana"/>
              </a:rPr>
              <a:t>Brand Equity Schedule </a:t>
            </a:r>
            <a:endParaRPr sz="2000" b="1">
              <a:solidFill>
                <a:schemeClr val="dk1"/>
              </a:solidFill>
              <a:latin typeface="Verdana"/>
              <a:ea typeface="Verdana"/>
              <a:cs typeface="Verdana"/>
              <a:sym typeface="Verdana"/>
            </a:endParaRPr>
          </a:p>
          <a:p>
            <a:pPr marL="0" lvl="0" indent="0" algn="ctr" rtl="0">
              <a:spcBef>
                <a:spcPts val="0"/>
              </a:spcBef>
              <a:spcAft>
                <a:spcPts val="0"/>
              </a:spcAft>
              <a:buNone/>
            </a:pPr>
            <a:r>
              <a:rPr lang="en" sz="2000" b="1">
                <a:solidFill>
                  <a:schemeClr val="dk1"/>
                </a:solidFill>
                <a:latin typeface="Verdana"/>
                <a:ea typeface="Verdana"/>
                <a:cs typeface="Verdana"/>
                <a:sym typeface="Verdana"/>
              </a:rPr>
              <a:t>Monthly Station Summary</a:t>
            </a:r>
            <a:endParaRPr sz="2000" b="1">
              <a:latin typeface="Verdana"/>
              <a:ea typeface="Verdana"/>
              <a:cs typeface="Verdana"/>
              <a:sym typeface="Verdana"/>
            </a:endParaRPr>
          </a:p>
        </p:txBody>
      </p:sp>
      <p:sp>
        <p:nvSpPr>
          <p:cNvPr id="421" name="Google Shape;421;p35"/>
          <p:cNvSpPr txBox="1"/>
          <p:nvPr/>
        </p:nvSpPr>
        <p:spPr>
          <a:xfrm>
            <a:off x="1179600" y="3067177"/>
            <a:ext cx="6784800" cy="3420600"/>
          </a:xfrm>
          <a:prstGeom prst="rect">
            <a:avLst/>
          </a:prstGeom>
          <a:noFill/>
          <a:ln>
            <a:noFill/>
          </a:ln>
        </p:spPr>
        <p:txBody>
          <a:bodyPr spcFirstLastPara="1" wrap="square" lIns="91425" tIns="91425" rIns="91425" bIns="91425" anchor="t" anchorCtr="0">
            <a:noAutofit/>
          </a:bodyPr>
          <a:lstStyle/>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Market: </a:t>
            </a:r>
            <a:r>
              <a:rPr lang="en">
                <a:solidFill>
                  <a:schemeClr val="dk1"/>
                </a:solidFill>
                <a:latin typeface="Verdana"/>
                <a:ea typeface="Verdana"/>
                <a:cs typeface="Verdana"/>
                <a:sym typeface="Verdana"/>
              </a:rPr>
              <a:t>planACity</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Projected Broadcast Monthly Reach: </a:t>
            </a:r>
            <a:r>
              <a:rPr lang="en">
                <a:solidFill>
                  <a:schemeClr val="dk1"/>
                </a:solidFill>
                <a:latin typeface="Verdana"/>
                <a:ea typeface="Verdana"/>
                <a:cs typeface="Verdana"/>
                <a:sym typeface="Verdana"/>
              </a:rPr>
              <a:t>planAReach</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Projected Monthly Broadcast Frequency: </a:t>
            </a:r>
            <a:r>
              <a:rPr lang="en">
                <a:solidFill>
                  <a:schemeClr val="dk1"/>
                </a:solidFill>
                <a:latin typeface="Verdana"/>
                <a:ea typeface="Verdana"/>
                <a:cs typeface="Verdana"/>
                <a:sym typeface="Verdana"/>
              </a:rPr>
              <a:t>planAFrequency</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Estimated Monthly Digital Gross Impressions: </a:t>
            </a:r>
            <a:r>
              <a:rPr lang="en">
                <a:solidFill>
                  <a:schemeClr val="dk1"/>
                </a:solidFill>
                <a:latin typeface="Verdana"/>
                <a:ea typeface="Verdana"/>
                <a:cs typeface="Verdana"/>
                <a:sym typeface="Verdana"/>
              </a:rPr>
              <a:t>planADigitalImpressionsMonthly</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Base Monthly Advertising Investment: </a:t>
            </a:r>
            <a:r>
              <a:rPr lang="en">
                <a:solidFill>
                  <a:schemeClr val="dk1"/>
                </a:solidFill>
                <a:latin typeface="Verdana"/>
                <a:ea typeface="Verdana"/>
                <a:cs typeface="Verdana"/>
                <a:sym typeface="Verdana"/>
              </a:rPr>
              <a:t>planAMonthly</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Base Daily Advertising Investment:</a:t>
            </a:r>
            <a:r>
              <a:rPr lang="en">
                <a:solidFill>
                  <a:schemeClr val="dk1"/>
                </a:solidFill>
                <a:latin typeface="Verdana"/>
                <a:ea typeface="Verdana"/>
                <a:cs typeface="Verdana"/>
                <a:sym typeface="Verdana"/>
              </a:rPr>
              <a:t> planADaily</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425"/>
        <p:cNvGrpSpPr/>
        <p:nvPr/>
      </p:nvGrpSpPr>
      <p:grpSpPr>
        <a:xfrm>
          <a:off x="0" y="0"/>
          <a:ext cx="0" cy="0"/>
          <a:chOff x="0" y="0"/>
          <a:chExt cx="0" cy="0"/>
        </a:xfrm>
      </p:grpSpPr>
      <p:sp>
        <p:nvSpPr>
          <p:cNvPr id="426" name="Google Shape;426;p36"/>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Break Even Analysis - Plan A</a:t>
            </a:r>
            <a:endParaRPr/>
          </a:p>
        </p:txBody>
      </p:sp>
      <p:sp>
        <p:nvSpPr>
          <p:cNvPr id="427" name="Google Shape;427;p36"/>
          <p:cNvSpPr txBox="1">
            <a:spLocks noGrp="1"/>
          </p:cNvSpPr>
          <p:nvPr>
            <p:ph type="body" idx="2"/>
          </p:nvPr>
        </p:nvSpPr>
        <p:spPr>
          <a:xfrm>
            <a:off x="347472" y="1563624"/>
            <a:ext cx="7205400" cy="4181400"/>
          </a:xfrm>
          <a:prstGeom prst="rect">
            <a:avLst/>
          </a:prstGeom>
        </p:spPr>
        <p:txBody>
          <a:bodyPr spcFirstLastPara="1" wrap="square" lIns="91425" tIns="91425" rIns="91425" bIns="91425" anchor="t" anchorCtr="0">
            <a:noAutofit/>
          </a:bodyPr>
          <a:lstStyle/>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Average sale (ticket, transaction, invoice) =</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Gross profit margin on average sale (sale less closing costs) =</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Closing or conversion rate =</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Projected prospect value (=A*B*C)=</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Client base monthly advertising investment =</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Monthly prospects needed to pay for advertising  investment (=E/D)=</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Monthly # of sales from prospects needed to break even (=F*C) =</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Gross sales per month needed to break even (=G*A)=</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Number of months to run </a:t>
            </a:r>
            <a:r>
              <a:rPr lang="en" sz="1300" b="1">
                <a:solidFill>
                  <a:schemeClr val="dk1"/>
                </a:solidFill>
              </a:rPr>
              <a:t>in </a:t>
            </a:r>
            <a:r>
              <a:rPr lang="en" sz="1300" b="1">
                <a:solidFill>
                  <a:schemeClr val="dk1"/>
                </a:solidFill>
                <a:latin typeface="Verdana"/>
                <a:ea typeface="Verdana"/>
                <a:cs typeface="Verdana"/>
                <a:sym typeface="Verdana"/>
              </a:rPr>
              <a:t>proposed marketing plan =</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Additional gross sales per year needed to break even (=H*I)= </a:t>
            </a:r>
            <a:endParaRPr sz="1300" b="1">
              <a:solidFill>
                <a:schemeClr val="dk1"/>
              </a:solidFill>
              <a:latin typeface="Verdana"/>
              <a:ea typeface="Verdana"/>
              <a:cs typeface="Verdana"/>
              <a:sym typeface="Verdana"/>
            </a:endParaRPr>
          </a:p>
        </p:txBody>
      </p:sp>
      <p:sp>
        <p:nvSpPr>
          <p:cNvPr id="428" name="Google Shape;428;p36"/>
          <p:cNvSpPr txBox="1">
            <a:spLocks noGrp="1"/>
          </p:cNvSpPr>
          <p:nvPr>
            <p:ph type="body" idx="2"/>
          </p:nvPr>
        </p:nvSpPr>
        <p:spPr>
          <a:xfrm>
            <a:off x="7554250" y="1566890"/>
            <a:ext cx="1241400" cy="4181400"/>
          </a:xfrm>
          <a:prstGeom prst="rect">
            <a:avLst/>
          </a:prstGeom>
        </p:spPr>
        <p:txBody>
          <a:bodyPr spcFirstLastPara="1" wrap="square" lIns="91425" tIns="91425" rIns="91425" bIns="91425" anchor="t" anchorCtr="0">
            <a:noAutofit/>
          </a:bodyPr>
          <a:lstStyle/>
          <a:p>
            <a:pPr marL="0" lvl="0" indent="0" algn="l" rtl="0">
              <a:lnSpc>
                <a:spcPct val="200000"/>
              </a:lnSpc>
              <a:spcBef>
                <a:spcPts val="0"/>
              </a:spcBef>
              <a:spcAft>
                <a:spcPts val="0"/>
              </a:spcAft>
              <a:buNone/>
            </a:pPr>
            <a:r>
              <a:rPr lang="en" sz="1300" u="sng">
                <a:solidFill>
                  <a:srgbClr val="000000"/>
                </a:solidFill>
                <a:latin typeface="Verdana"/>
                <a:ea typeface="Verdana"/>
                <a:cs typeface="Verdana"/>
                <a:sym typeface="Verdana"/>
              </a:rPr>
              <a:t>planAAverageSale</a:t>
            </a:r>
            <a:endParaRPr sz="1300" u="sng">
              <a:solidFill>
                <a:srgbClr val="000000"/>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planAGrossMargin</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planAClosingPct</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planAProspectValue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planAMonthly</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planAProspectsNeeded</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planAProspectSalesNeeded</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planAGrossProfitOnSales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planAMonths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planAAdditionalGrossSales</a:t>
            </a:r>
            <a:endParaRPr sz="1300" u="sng">
              <a:solidFill>
                <a:schemeClr val="dk1"/>
              </a:solidFill>
              <a:latin typeface="Verdana"/>
              <a:ea typeface="Verdana"/>
              <a:cs typeface="Verdana"/>
              <a:sym typeface="Verdana"/>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432"/>
        <p:cNvGrpSpPr/>
        <p:nvPr/>
      </p:nvGrpSpPr>
      <p:grpSpPr>
        <a:xfrm>
          <a:off x="0" y="0"/>
          <a:ext cx="0" cy="0"/>
          <a:chOff x="0" y="0"/>
          <a:chExt cx="0" cy="0"/>
        </a:xfrm>
      </p:grpSpPr>
      <p:sp>
        <p:nvSpPr>
          <p:cNvPr id="433" name="Google Shape;433;p37"/>
          <p:cNvSpPr txBox="1">
            <a:spLocks noGrp="1"/>
          </p:cNvSpPr>
          <p:nvPr>
            <p:ph type="ctrTitle"/>
          </p:nvPr>
        </p:nvSpPr>
        <p:spPr>
          <a:xfrm>
            <a:off x="520500" y="475500"/>
            <a:ext cx="81030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Lifetime Value Analysis - Plan A</a:t>
            </a:r>
            <a:endParaRPr/>
          </a:p>
        </p:txBody>
      </p:sp>
      <p:sp>
        <p:nvSpPr>
          <p:cNvPr id="434" name="Google Shape;434;p37"/>
          <p:cNvSpPr txBox="1">
            <a:spLocks noGrp="1"/>
          </p:cNvSpPr>
          <p:nvPr>
            <p:ph type="body" idx="2"/>
          </p:nvPr>
        </p:nvSpPr>
        <p:spPr>
          <a:xfrm>
            <a:off x="347472" y="1773936"/>
            <a:ext cx="7205400" cy="3767400"/>
          </a:xfrm>
          <a:prstGeom prst="rect">
            <a:avLst/>
          </a:prstGeom>
        </p:spPr>
        <p:txBody>
          <a:bodyPr spcFirstLastPara="1" wrap="square" lIns="91425" tIns="91425" rIns="91425" bIns="91425" anchor="t" anchorCtr="0">
            <a:noAutofit/>
          </a:bodyPr>
          <a:lstStyle/>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Average sale (ticket, transaction, invoice)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Times gross profit margin on average sale (sale less variable costs)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Equals gross profit per average sale (A*B)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Times the average repeat sales per year (per customer/client)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Equals the average customer/client value per year (C*D)=</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Times the average number of years of patronage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Equals the lifetime value of one customer/client (E*F)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So if your base monthly advertising investment averages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Then monthly customers/clients needed to break even (H/G)=</a:t>
            </a:r>
            <a:endParaRPr sz="1300" b="1">
              <a:solidFill>
                <a:srgbClr val="000000"/>
              </a:solidFill>
              <a:latin typeface="Verdana"/>
              <a:ea typeface="Verdana"/>
              <a:cs typeface="Verdana"/>
              <a:sym typeface="Verdana"/>
            </a:endParaRPr>
          </a:p>
        </p:txBody>
      </p:sp>
      <p:sp>
        <p:nvSpPr>
          <p:cNvPr id="435" name="Google Shape;435;p37"/>
          <p:cNvSpPr txBox="1">
            <a:spLocks noGrp="1"/>
          </p:cNvSpPr>
          <p:nvPr>
            <p:ph type="body" idx="2"/>
          </p:nvPr>
        </p:nvSpPr>
        <p:spPr>
          <a:xfrm>
            <a:off x="7552950" y="1774200"/>
            <a:ext cx="1253100" cy="3380700"/>
          </a:xfrm>
          <a:prstGeom prst="rect">
            <a:avLst/>
          </a:prstGeom>
        </p:spPr>
        <p:txBody>
          <a:bodyPr spcFirstLastPara="1" wrap="square" lIns="91425" tIns="91425" rIns="91425" bIns="91425" anchor="t" anchorCtr="0">
            <a:noAutofit/>
          </a:bodyPr>
          <a:lstStyle/>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a_averageSale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a_grossProfitMargin</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a_grossProfitPerSale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a_averageRepeatSales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a_averageCustomerValue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a_yearsOfPatronage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a_lifetimeValuePerCustomer</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planAMonthly</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a_prospectsNeededToBreakEven</a:t>
            </a:r>
            <a:endParaRPr sz="1300">
              <a:solidFill>
                <a:srgbClr val="000000"/>
              </a:solidFill>
              <a:latin typeface="Verdana"/>
              <a:ea typeface="Verdana"/>
              <a:cs typeface="Verdana"/>
              <a:sym typeface="Verdana"/>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439"/>
        <p:cNvGrpSpPr/>
        <p:nvPr/>
      </p:nvGrpSpPr>
      <p:grpSpPr>
        <a:xfrm>
          <a:off x="0" y="0"/>
          <a:ext cx="0" cy="0"/>
          <a:chOff x="0" y="0"/>
          <a:chExt cx="0" cy="0"/>
        </a:xfrm>
      </p:grpSpPr>
      <p:sp>
        <p:nvSpPr>
          <p:cNvPr id="440" name="Google Shape;440;p38"/>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Digital ROI Calculator - Plan A</a:t>
            </a:r>
            <a:endParaRPr/>
          </a:p>
        </p:txBody>
      </p:sp>
      <p:sp>
        <p:nvSpPr>
          <p:cNvPr id="441" name="Google Shape;441;p38"/>
          <p:cNvSpPr txBox="1">
            <a:spLocks noGrp="1"/>
          </p:cNvSpPr>
          <p:nvPr>
            <p:ph type="body" idx="2"/>
          </p:nvPr>
        </p:nvSpPr>
        <p:spPr>
          <a:xfrm>
            <a:off x="768096" y="1453896"/>
            <a:ext cx="6355200" cy="5193900"/>
          </a:xfrm>
          <a:prstGeom prst="rect">
            <a:avLst/>
          </a:prstGeom>
        </p:spPr>
        <p:txBody>
          <a:bodyPr spcFirstLastPara="1" wrap="square" lIns="91425" tIns="91425" rIns="91425" bIns="91425" anchor="t" anchorCtr="0">
            <a:noAutofit/>
          </a:bodyPr>
          <a:lstStyle/>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Digital Investment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Cost Per Thousand (CPM)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Impressions (=A/B*1,000)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Click Through Rate (.01%, .1%, etc)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 clicks (=C*D)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Cost per Click (=A/E)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Sales Conversion Percentage (2%, 10%, etc)=</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Number of Conversions (E*G)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Cost Per Conversion (A/H)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Projected Gross Profit Per Conversion ($100, $1,000, etc.)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Gross </a:t>
            </a:r>
            <a:r>
              <a:rPr lang="en" sz="1300" b="1">
                <a:solidFill>
                  <a:srgbClr val="000000"/>
                </a:solidFill>
              </a:rPr>
              <a:t>P</a:t>
            </a:r>
            <a:r>
              <a:rPr lang="en" sz="1300" b="1">
                <a:solidFill>
                  <a:srgbClr val="000000"/>
                </a:solidFill>
                <a:latin typeface="Verdana"/>
                <a:ea typeface="Verdana"/>
                <a:cs typeface="Verdana"/>
                <a:sym typeface="Verdana"/>
              </a:rPr>
              <a:t>rofit Generated from all Conversions (H*J)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Return on Investment (K-A)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 Monthly Return on Investment (L/A) = </a:t>
            </a:r>
            <a:endParaRPr sz="1300" b="1">
              <a:solidFill>
                <a:srgbClr val="000000"/>
              </a:solidFill>
              <a:latin typeface="Verdana"/>
              <a:ea typeface="Verdana"/>
              <a:cs typeface="Verdana"/>
              <a:sym typeface="Verdana"/>
            </a:endParaRPr>
          </a:p>
        </p:txBody>
      </p:sp>
      <p:sp>
        <p:nvSpPr>
          <p:cNvPr id="442" name="Google Shape;442;p38"/>
          <p:cNvSpPr txBox="1">
            <a:spLocks noGrp="1"/>
          </p:cNvSpPr>
          <p:nvPr>
            <p:ph type="body" idx="2"/>
          </p:nvPr>
        </p:nvSpPr>
        <p:spPr>
          <a:xfrm>
            <a:off x="7127862" y="1453115"/>
            <a:ext cx="1243500" cy="5192700"/>
          </a:xfrm>
          <a:prstGeom prst="rect">
            <a:avLst/>
          </a:prstGeom>
        </p:spPr>
        <p:txBody>
          <a:bodyPr spcFirstLastPara="1" wrap="square" lIns="91425" tIns="91425" rIns="91425" bIns="91425" anchor="t" anchorCtr="0">
            <a:noAutofit/>
          </a:bodyPr>
          <a:lstStyle/>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planAMonthlyDigitalInvestment</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planACostPerThousand</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planAClosingPctNumber</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planAClickThroughRate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planAMonthlyClicks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planACostPerClicks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planASalesConversionPercentage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planAMonthlyConversions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planACostPerConversion</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planAProjectedGrossProfit</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planAMonthlyGrossProfit</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planAMonthlyROID</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planAMonthlyROIP</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1600"/>
              </a:spcAft>
              <a:buNone/>
            </a:pPr>
            <a:endParaRPr sz="1300">
              <a:solidFill>
                <a:srgbClr val="000000"/>
              </a:solidFill>
              <a:latin typeface="Verdana"/>
              <a:ea typeface="Verdana"/>
              <a:cs typeface="Verdana"/>
              <a:sym typeface="Verdana"/>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446"/>
        <p:cNvGrpSpPr/>
        <p:nvPr/>
      </p:nvGrpSpPr>
      <p:grpSpPr>
        <a:xfrm>
          <a:off x="0" y="0"/>
          <a:ext cx="0" cy="0"/>
          <a:chOff x="0" y="0"/>
          <a:chExt cx="0" cy="0"/>
        </a:xfrm>
      </p:grpSpPr>
      <p:sp>
        <p:nvSpPr>
          <p:cNvPr id="447" name="Google Shape;447;p39"/>
          <p:cNvSpPr txBox="1">
            <a:spLocks noGrp="1"/>
          </p:cNvSpPr>
          <p:nvPr>
            <p:ph type="ctrTitle"/>
          </p:nvPr>
        </p:nvSpPr>
        <p:spPr>
          <a:xfrm>
            <a:off x="693450" y="475488"/>
            <a:ext cx="7757100" cy="699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Proposed Schedule - Plan B</a:t>
            </a:r>
            <a:endParaRPr/>
          </a:p>
        </p:txBody>
      </p:sp>
      <p:sp>
        <p:nvSpPr>
          <p:cNvPr id="448" name="Google Shape;448;p39"/>
          <p:cNvSpPr txBox="1">
            <a:spLocks noGrp="1"/>
          </p:cNvSpPr>
          <p:nvPr>
            <p:ph type="ctrTitle"/>
          </p:nvPr>
        </p:nvSpPr>
        <p:spPr>
          <a:xfrm>
            <a:off x="693450" y="1174812"/>
            <a:ext cx="7757100" cy="639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2100"/>
              <a:t>Budget Breakout by Month (For Next 12 Months)</a:t>
            </a:r>
            <a:endParaRPr sz="2100"/>
          </a:p>
          <a:p>
            <a:pPr marL="0" lvl="0" indent="0" algn="ctr" rtl="0">
              <a:spcBef>
                <a:spcPts val="0"/>
              </a:spcBef>
              <a:spcAft>
                <a:spcPts val="0"/>
              </a:spcAft>
              <a:buNone/>
            </a:pPr>
            <a:r>
              <a:rPr lang="en" sz="2100"/>
              <a:t>Proposed Media Plan: station</a:t>
            </a:r>
            <a:endParaRPr sz="2100"/>
          </a:p>
        </p:txBody>
      </p:sp>
      <p:pic>
        <p:nvPicPr>
          <p:cNvPr id="449" name="Google Shape;449;p39"/>
          <p:cNvPicPr preferRelativeResize="0"/>
          <p:nvPr/>
        </p:nvPicPr>
        <p:blipFill>
          <a:blip r:embed="rId3">
            <a:alphaModFix/>
          </a:blip>
          <a:stretch>
            <a:fillRect/>
          </a:stretch>
        </p:blipFill>
        <p:spPr>
          <a:xfrm>
            <a:off x="841248" y="2082272"/>
            <a:ext cx="7461504" cy="4613697"/>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453"/>
        <p:cNvGrpSpPr/>
        <p:nvPr/>
      </p:nvGrpSpPr>
      <p:grpSpPr>
        <a:xfrm>
          <a:off x="0" y="0"/>
          <a:ext cx="0" cy="0"/>
          <a:chOff x="0" y="0"/>
          <a:chExt cx="0" cy="0"/>
        </a:xfrm>
      </p:grpSpPr>
      <p:sp>
        <p:nvSpPr>
          <p:cNvPr id="454" name="Google Shape;454;p40"/>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Proposed Schedule - Plan B</a:t>
            </a:r>
            <a:endParaRPr/>
          </a:p>
        </p:txBody>
      </p:sp>
      <p:graphicFrame>
        <p:nvGraphicFramePr>
          <p:cNvPr id="455" name="Google Shape;455;p40"/>
          <p:cNvGraphicFramePr/>
          <p:nvPr/>
        </p:nvGraphicFramePr>
        <p:xfrm>
          <a:off x="457200" y="1174800"/>
          <a:ext cx="8229575" cy="1764875"/>
        </p:xfrm>
        <a:graphic>
          <a:graphicData uri="http://schemas.openxmlformats.org/drawingml/2006/table">
            <a:tbl>
              <a:tblPr>
                <a:noFill/>
                <a:tableStyleId>{CFB75FC7-DD7D-40D8-B2B2-EE4B611A8D2E}</a:tableStyleId>
              </a:tblPr>
              <a:tblGrid>
                <a:gridCol w="1203225">
                  <a:extLst>
                    <a:ext uri="{9D8B030D-6E8A-4147-A177-3AD203B41FA5}">
                      <a16:colId xmlns:a16="http://schemas.microsoft.com/office/drawing/2014/main" val="20000"/>
                    </a:ext>
                  </a:extLst>
                </a:gridCol>
                <a:gridCol w="1078350">
                  <a:extLst>
                    <a:ext uri="{9D8B030D-6E8A-4147-A177-3AD203B41FA5}">
                      <a16:colId xmlns:a16="http://schemas.microsoft.com/office/drawing/2014/main" val="20001"/>
                    </a:ext>
                  </a:extLst>
                </a:gridCol>
                <a:gridCol w="1475650">
                  <a:extLst>
                    <a:ext uri="{9D8B030D-6E8A-4147-A177-3AD203B41FA5}">
                      <a16:colId xmlns:a16="http://schemas.microsoft.com/office/drawing/2014/main" val="20002"/>
                    </a:ext>
                  </a:extLst>
                </a:gridCol>
                <a:gridCol w="2111325">
                  <a:extLst>
                    <a:ext uri="{9D8B030D-6E8A-4147-A177-3AD203B41FA5}">
                      <a16:colId xmlns:a16="http://schemas.microsoft.com/office/drawing/2014/main" val="20003"/>
                    </a:ext>
                  </a:extLst>
                </a:gridCol>
                <a:gridCol w="283750">
                  <a:extLst>
                    <a:ext uri="{9D8B030D-6E8A-4147-A177-3AD203B41FA5}">
                      <a16:colId xmlns:a16="http://schemas.microsoft.com/office/drawing/2014/main" val="20004"/>
                    </a:ext>
                  </a:extLst>
                </a:gridCol>
                <a:gridCol w="2077275">
                  <a:extLst>
                    <a:ext uri="{9D8B030D-6E8A-4147-A177-3AD203B41FA5}">
                      <a16:colId xmlns:a16="http://schemas.microsoft.com/office/drawing/2014/main" val="20005"/>
                    </a:ext>
                  </a:extLst>
                </a:gridCol>
              </a:tblGrid>
              <a:tr h="252125">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200" b="1" i="1" u="sng">
                          <a:latin typeface="Verdana"/>
                          <a:ea typeface="Verdana"/>
                          <a:cs typeface="Verdana"/>
                          <a:sym typeface="Verdana"/>
                        </a:rPr>
                        <a:t>Branding Months</a:t>
                      </a:r>
                      <a:endParaRPr sz="1200" b="1" i="1" u="sng">
                        <a:latin typeface="Verdana"/>
                        <a:ea typeface="Verdana"/>
                        <a:cs typeface="Verdana"/>
                        <a:sym typeface="Verdana"/>
                      </a:endParaRPr>
                    </a:p>
                  </a:txBody>
                  <a:tcPr marL="28575" marR="28575" marT="19050" marB="19050" anchor="b"/>
                </a:tc>
                <a:extLst>
                  <a:ext uri="{0D108BD9-81ED-4DB2-BD59-A6C34878D82A}">
                    <a16:rowId xmlns:a16="http://schemas.microsoft.com/office/drawing/2014/main" val="10000"/>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#Week/Months: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1"/>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7:00pmStation	Days	DayPart	Weekly Commercials		Branding Months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WAAA	M-F	6:00am - 7:00pm	15		#Week/Months: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WAAA	M-F	7:00pm - 12mid	5		1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WBBB	M-F	6:00am - 7:00pm	15		Base Investment: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WBBB	M-F	7:00pm - 12mid	5		$1,500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WCCC	M-F	6:00am - 7:00pm	15		Total # of Commercials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WCCC	M-F	7:00pm - 12mid	5		60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2"/>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Base Investment:</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3"/>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$1,500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4"/>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5"/>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6"/>
                  </a:ext>
                </a:extLst>
              </a:tr>
            </a:tbl>
          </a:graphicData>
        </a:graphic>
      </p:graphicFrame>
      <p:graphicFrame>
        <p:nvGraphicFramePr>
          <p:cNvPr id="456" name="Google Shape;456;p40"/>
          <p:cNvGraphicFramePr/>
          <p:nvPr/>
        </p:nvGraphicFramePr>
        <p:xfrm>
          <a:off x="457200" y="3015875"/>
          <a:ext cx="8229575" cy="1764875"/>
        </p:xfrm>
        <a:graphic>
          <a:graphicData uri="http://schemas.openxmlformats.org/drawingml/2006/table">
            <a:tbl>
              <a:tblPr>
                <a:noFill/>
                <a:tableStyleId>{CFB75FC7-DD7D-40D8-B2B2-EE4B611A8D2E}</a:tableStyleId>
              </a:tblPr>
              <a:tblGrid>
                <a:gridCol w="1203225">
                  <a:extLst>
                    <a:ext uri="{9D8B030D-6E8A-4147-A177-3AD203B41FA5}">
                      <a16:colId xmlns:a16="http://schemas.microsoft.com/office/drawing/2014/main" val="20000"/>
                    </a:ext>
                  </a:extLst>
                </a:gridCol>
                <a:gridCol w="1078350">
                  <a:extLst>
                    <a:ext uri="{9D8B030D-6E8A-4147-A177-3AD203B41FA5}">
                      <a16:colId xmlns:a16="http://schemas.microsoft.com/office/drawing/2014/main" val="20001"/>
                    </a:ext>
                  </a:extLst>
                </a:gridCol>
                <a:gridCol w="1475650">
                  <a:extLst>
                    <a:ext uri="{9D8B030D-6E8A-4147-A177-3AD203B41FA5}">
                      <a16:colId xmlns:a16="http://schemas.microsoft.com/office/drawing/2014/main" val="20002"/>
                    </a:ext>
                  </a:extLst>
                </a:gridCol>
                <a:gridCol w="2111325">
                  <a:extLst>
                    <a:ext uri="{9D8B030D-6E8A-4147-A177-3AD203B41FA5}">
                      <a16:colId xmlns:a16="http://schemas.microsoft.com/office/drawing/2014/main" val="20003"/>
                    </a:ext>
                  </a:extLst>
                </a:gridCol>
                <a:gridCol w="283750">
                  <a:extLst>
                    <a:ext uri="{9D8B030D-6E8A-4147-A177-3AD203B41FA5}">
                      <a16:colId xmlns:a16="http://schemas.microsoft.com/office/drawing/2014/main" val="20004"/>
                    </a:ext>
                  </a:extLst>
                </a:gridCol>
                <a:gridCol w="2077275">
                  <a:extLst>
                    <a:ext uri="{9D8B030D-6E8A-4147-A177-3AD203B41FA5}">
                      <a16:colId xmlns:a16="http://schemas.microsoft.com/office/drawing/2014/main" val="20005"/>
                    </a:ext>
                  </a:extLst>
                </a:gridCol>
              </a:tblGrid>
              <a:tr h="252125">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200" b="1" i="1" u="sng">
                          <a:latin typeface="Verdana"/>
                          <a:ea typeface="Verdana"/>
                          <a:cs typeface="Verdana"/>
                          <a:sym typeface="Verdana"/>
                        </a:rPr>
                        <a:t>Spike Months</a:t>
                      </a:r>
                      <a:endParaRPr sz="1200" b="1" i="1" u="sng">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0"/>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#Week/Months: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1"/>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2</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2"/>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Continuity Investment:</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3"/>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$3,000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4"/>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5"/>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120</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6"/>
                  </a:ext>
                </a:extLst>
              </a:tr>
            </a:tbl>
          </a:graphicData>
        </a:graphic>
      </p:graphicFrame>
      <p:graphicFrame>
        <p:nvGraphicFramePr>
          <p:cNvPr id="457" name="Google Shape;457;p40"/>
          <p:cNvGraphicFramePr/>
          <p:nvPr/>
        </p:nvGraphicFramePr>
        <p:xfrm>
          <a:off x="457200" y="4856950"/>
          <a:ext cx="8229575" cy="1861185"/>
        </p:xfrm>
        <a:graphic>
          <a:graphicData uri="http://schemas.openxmlformats.org/drawingml/2006/table">
            <a:tbl>
              <a:tblPr>
                <a:noFill/>
                <a:tableStyleId>{CFB75FC7-DD7D-40D8-B2B2-EE4B611A8D2E}</a:tableStyleId>
              </a:tblPr>
              <a:tblGrid>
                <a:gridCol w="1203225">
                  <a:extLst>
                    <a:ext uri="{9D8B030D-6E8A-4147-A177-3AD203B41FA5}">
                      <a16:colId xmlns:a16="http://schemas.microsoft.com/office/drawing/2014/main" val="20000"/>
                    </a:ext>
                  </a:extLst>
                </a:gridCol>
                <a:gridCol w="1078350">
                  <a:extLst>
                    <a:ext uri="{9D8B030D-6E8A-4147-A177-3AD203B41FA5}">
                      <a16:colId xmlns:a16="http://schemas.microsoft.com/office/drawing/2014/main" val="20001"/>
                    </a:ext>
                  </a:extLst>
                </a:gridCol>
                <a:gridCol w="1475650">
                  <a:extLst>
                    <a:ext uri="{9D8B030D-6E8A-4147-A177-3AD203B41FA5}">
                      <a16:colId xmlns:a16="http://schemas.microsoft.com/office/drawing/2014/main" val="20002"/>
                    </a:ext>
                  </a:extLst>
                </a:gridCol>
                <a:gridCol w="2111325">
                  <a:extLst>
                    <a:ext uri="{9D8B030D-6E8A-4147-A177-3AD203B41FA5}">
                      <a16:colId xmlns:a16="http://schemas.microsoft.com/office/drawing/2014/main" val="20003"/>
                    </a:ext>
                  </a:extLst>
                </a:gridCol>
                <a:gridCol w="283750">
                  <a:extLst>
                    <a:ext uri="{9D8B030D-6E8A-4147-A177-3AD203B41FA5}">
                      <a16:colId xmlns:a16="http://schemas.microsoft.com/office/drawing/2014/main" val="20004"/>
                    </a:ext>
                  </a:extLst>
                </a:gridCol>
                <a:gridCol w="2077275">
                  <a:extLst>
                    <a:ext uri="{9D8B030D-6E8A-4147-A177-3AD203B41FA5}">
                      <a16:colId xmlns:a16="http://schemas.microsoft.com/office/drawing/2014/main" val="20005"/>
                    </a:ext>
                  </a:extLst>
                </a:gridCol>
              </a:tblGrid>
              <a:tr h="251450">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200" b="1" i="1" u="sng">
                          <a:latin typeface="Verdana"/>
                          <a:ea typeface="Verdana"/>
                          <a:cs typeface="Verdana"/>
                          <a:sym typeface="Verdana"/>
                        </a:rPr>
                        <a:t>Slow Months</a:t>
                      </a:r>
                      <a:endParaRPr sz="1200" b="1" i="1" u="sng">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0"/>
                  </a:ext>
                </a:extLst>
              </a:tr>
              <a:tr h="251450">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#Week/Months: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1"/>
                  </a:ext>
                </a:extLst>
              </a:tr>
              <a:tr h="251450">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3</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2"/>
                  </a:ext>
                </a:extLst>
              </a:tr>
              <a:tr h="3524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Average Spike Investment:</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3"/>
                  </a:ext>
                </a:extLst>
              </a:tr>
              <a:tr h="251450">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4,500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4"/>
                  </a:ext>
                </a:extLst>
              </a:tr>
              <a:tr h="251450">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5"/>
                  </a:ext>
                </a:extLst>
              </a:tr>
              <a:tr h="251450">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180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6"/>
                  </a:ext>
                </a:extLst>
              </a:tr>
            </a:tbl>
          </a:graphicData>
        </a:graphic>
      </p:graphicFrame>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461"/>
        <p:cNvGrpSpPr/>
        <p:nvPr/>
      </p:nvGrpSpPr>
      <p:grpSpPr>
        <a:xfrm>
          <a:off x="0" y="0"/>
          <a:ext cx="0" cy="0"/>
          <a:chOff x="0" y="0"/>
          <a:chExt cx="0" cy="0"/>
        </a:xfrm>
      </p:grpSpPr>
      <p:sp>
        <p:nvSpPr>
          <p:cNvPr id="462" name="Google Shape;462;p41"/>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Proposed Schedule - Plan BT</a:t>
            </a:r>
            <a:endParaRPr/>
          </a:p>
        </p:txBody>
      </p:sp>
      <p:graphicFrame>
        <p:nvGraphicFramePr>
          <p:cNvPr id="463" name="Google Shape;463;p41"/>
          <p:cNvGraphicFramePr/>
          <p:nvPr/>
        </p:nvGraphicFramePr>
        <p:xfrm>
          <a:off x="459300" y="1280625"/>
          <a:ext cx="8277250" cy="2866455"/>
        </p:xfrm>
        <a:graphic>
          <a:graphicData uri="http://schemas.openxmlformats.org/drawingml/2006/table">
            <a:tbl>
              <a:tblPr>
                <a:noFill/>
                <a:tableStyleId>{CFB75FC7-DD7D-40D8-B2B2-EE4B611A8D2E}</a:tableStyleId>
              </a:tblPr>
              <a:tblGrid>
                <a:gridCol w="900675">
                  <a:extLst>
                    <a:ext uri="{9D8B030D-6E8A-4147-A177-3AD203B41FA5}">
                      <a16:colId xmlns:a16="http://schemas.microsoft.com/office/drawing/2014/main" val="20000"/>
                    </a:ext>
                  </a:extLst>
                </a:gridCol>
                <a:gridCol w="900675">
                  <a:extLst>
                    <a:ext uri="{9D8B030D-6E8A-4147-A177-3AD203B41FA5}">
                      <a16:colId xmlns:a16="http://schemas.microsoft.com/office/drawing/2014/main" val="20001"/>
                    </a:ext>
                  </a:extLst>
                </a:gridCol>
                <a:gridCol w="1540175">
                  <a:extLst>
                    <a:ext uri="{9D8B030D-6E8A-4147-A177-3AD203B41FA5}">
                      <a16:colId xmlns:a16="http://schemas.microsoft.com/office/drawing/2014/main" val="20002"/>
                    </a:ext>
                  </a:extLst>
                </a:gridCol>
                <a:gridCol w="2215675">
                  <a:extLst>
                    <a:ext uri="{9D8B030D-6E8A-4147-A177-3AD203B41FA5}">
                      <a16:colId xmlns:a16="http://schemas.microsoft.com/office/drawing/2014/main" val="20003"/>
                    </a:ext>
                  </a:extLst>
                </a:gridCol>
                <a:gridCol w="918700">
                  <a:extLst>
                    <a:ext uri="{9D8B030D-6E8A-4147-A177-3AD203B41FA5}">
                      <a16:colId xmlns:a16="http://schemas.microsoft.com/office/drawing/2014/main" val="20004"/>
                    </a:ext>
                  </a:extLst>
                </a:gridCol>
                <a:gridCol w="900675">
                  <a:extLst>
                    <a:ext uri="{9D8B030D-6E8A-4147-A177-3AD203B41FA5}">
                      <a16:colId xmlns:a16="http://schemas.microsoft.com/office/drawing/2014/main" val="20005"/>
                    </a:ext>
                  </a:extLst>
                </a:gridCol>
                <a:gridCol w="900675">
                  <a:extLst>
                    <a:ext uri="{9D8B030D-6E8A-4147-A177-3AD203B41FA5}">
                      <a16:colId xmlns:a16="http://schemas.microsoft.com/office/drawing/2014/main" val="20006"/>
                    </a:ext>
                  </a:extLst>
                </a:gridCol>
              </a:tblGrid>
              <a:tr h="228600">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marR="0" lvl="0" indent="0" algn="ctr" rtl="0">
                        <a:lnSpc>
                          <a:spcPct val="115000"/>
                        </a:lnSpc>
                        <a:spcBef>
                          <a:spcPts val="0"/>
                        </a:spcBef>
                        <a:spcAft>
                          <a:spcPts val="0"/>
                        </a:spcAft>
                        <a:buNone/>
                      </a:pPr>
                      <a:r>
                        <a:rPr lang="en" sz="1200" b="1" i="1" u="sng">
                          <a:latin typeface="Verdana"/>
                          <a:ea typeface="Verdana"/>
                          <a:cs typeface="Verdana"/>
                          <a:sym typeface="Verdana"/>
                        </a:rPr>
                        <a:t>Branding Months</a:t>
                      </a:r>
                      <a:endParaRPr sz="1200" b="1" i="1" u="sng">
                        <a:latin typeface="Verdana"/>
                        <a:ea typeface="Verdana"/>
                        <a:cs typeface="Verdana"/>
                        <a:sym typeface="Verdana"/>
                      </a:endParaRPr>
                    </a:p>
                  </a:txBody>
                  <a:tcPr marL="91425" marR="91425" marT="19050" marB="19050" anchor="b">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000000"/>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0"/>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marR="0" lvl="0" indent="0" algn="ctr" rtl="0">
                        <a:lnSpc>
                          <a:spcPct val="115000"/>
                        </a:lnSpc>
                        <a:spcBef>
                          <a:spcPts val="0"/>
                        </a:spcBef>
                        <a:spcAft>
                          <a:spcPts val="0"/>
                        </a:spcAft>
                        <a:buNone/>
                      </a:pPr>
                      <a:r>
                        <a:rPr lang="en" sz="1000" b="1">
                          <a:latin typeface="Verdana"/>
                          <a:ea typeface="Verdana"/>
                          <a:cs typeface="Verdana"/>
                          <a:sym typeface="Verdana"/>
                        </a:rPr>
                        <a:t>#Week/Months:</a:t>
                      </a:r>
                      <a:endParaRPr sz="1000" b="1">
                        <a:latin typeface="Verdana"/>
                        <a:ea typeface="Verdana"/>
                        <a:cs typeface="Verdana"/>
                        <a:sym typeface="Verdana"/>
                      </a:endParaRPr>
                    </a:p>
                  </a:txBody>
                  <a:tcPr marL="91425" marR="91425" marT="19050" marB="1905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l" rtl="0">
                        <a:spcBef>
                          <a:spcPts val="0"/>
                        </a:spcBef>
                        <a:spcAft>
                          <a:spcPts val="0"/>
                        </a:spcAft>
                        <a:buNone/>
                      </a:pPr>
                      <a:endParaRPr/>
                    </a:p>
                  </a:txBody>
                  <a:tcPr marL="28575" marR="28575" marT="19050" marB="19050" anchor="b">
                    <a:lnL w="9525" cap="flat" cmpd="sng">
                      <a:solidFill>
                        <a:srgbClr val="000000"/>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1"/>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2"/>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marR="0" lvl="0" indent="0" algn="ctr" rtl="0">
                        <a:lnSpc>
                          <a:spcPct val="115000"/>
                        </a:lnSpc>
                        <a:spcBef>
                          <a:spcPts val="0"/>
                        </a:spcBef>
                        <a:spcAft>
                          <a:spcPts val="0"/>
                        </a:spcAft>
                        <a:buNone/>
                      </a:pPr>
                      <a:r>
                        <a:rPr lang="en" sz="1000" b="1">
                          <a:latin typeface="Verdana"/>
                          <a:ea typeface="Verdana"/>
                          <a:cs typeface="Verdana"/>
                          <a:sym typeface="Verdana"/>
                        </a:rPr>
                        <a:t>Base Investment:</a:t>
                      </a:r>
                      <a:endParaRPr sz="1000" b="1">
                        <a:latin typeface="Verdana"/>
                        <a:ea typeface="Verdana"/>
                        <a:cs typeface="Verdana"/>
                        <a:sym typeface="Verdana"/>
                      </a:endParaRPr>
                    </a:p>
                  </a:txBody>
                  <a:tcPr marL="91425" marR="91425" marT="19050" marB="1905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l" rtl="0">
                        <a:spcBef>
                          <a:spcPts val="0"/>
                        </a:spcBef>
                        <a:spcAft>
                          <a:spcPts val="0"/>
                        </a:spcAft>
                        <a:buNone/>
                      </a:pPr>
                      <a:endParaRPr/>
                    </a:p>
                  </a:txBody>
                  <a:tcPr marL="28575" marR="28575" marT="19050" marB="19050" anchor="b">
                    <a:lnL w="9525" cap="flat" cmpd="sng">
                      <a:solidFill>
                        <a:srgbClr val="000000"/>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3"/>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$1,500</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4"/>
                  </a:ext>
                </a:extLst>
              </a:tr>
              <a:tr h="5048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5"/>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6"/>
                  </a:ext>
                </a:extLst>
              </a:tr>
            </a:tbl>
          </a:graphicData>
        </a:graphic>
      </p:graphicFrame>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467"/>
        <p:cNvGrpSpPr/>
        <p:nvPr/>
      </p:nvGrpSpPr>
      <p:grpSpPr>
        <a:xfrm>
          <a:off x="0" y="0"/>
          <a:ext cx="0" cy="0"/>
          <a:chOff x="0" y="0"/>
          <a:chExt cx="0" cy="0"/>
        </a:xfrm>
      </p:grpSpPr>
      <p:sp>
        <p:nvSpPr>
          <p:cNvPr id="468" name="Google Shape;468;p42"/>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Proposed Schedule - Plan B</a:t>
            </a:r>
            <a:endParaRPr/>
          </a:p>
        </p:txBody>
      </p:sp>
      <p:sp>
        <p:nvSpPr>
          <p:cNvPr id="469" name="Google Shape;469;p42"/>
          <p:cNvSpPr txBox="1"/>
          <p:nvPr/>
        </p:nvSpPr>
        <p:spPr>
          <a:xfrm>
            <a:off x="2257950" y="1174800"/>
            <a:ext cx="4628100" cy="699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400" b="1">
                <a:solidFill>
                  <a:schemeClr val="dk1"/>
                </a:solidFill>
                <a:latin typeface="Verdana"/>
                <a:ea typeface="Verdana"/>
                <a:cs typeface="Verdana"/>
                <a:sym typeface="Verdana"/>
              </a:rPr>
              <a:t>clientBusinessName</a:t>
            </a:r>
            <a:endParaRPr sz="2400" b="1">
              <a:latin typeface="Verdana"/>
              <a:ea typeface="Verdana"/>
              <a:cs typeface="Verdana"/>
              <a:sym typeface="Verdana"/>
            </a:endParaRPr>
          </a:p>
        </p:txBody>
      </p:sp>
      <p:sp>
        <p:nvSpPr>
          <p:cNvPr id="470" name="Google Shape;470;p42"/>
          <p:cNvSpPr txBox="1"/>
          <p:nvPr/>
        </p:nvSpPr>
        <p:spPr>
          <a:xfrm>
            <a:off x="2168400" y="1759563"/>
            <a:ext cx="4807200" cy="9822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b="1">
                <a:solidFill>
                  <a:schemeClr val="dk1"/>
                </a:solidFill>
                <a:latin typeface="Verdana"/>
                <a:ea typeface="Verdana"/>
                <a:cs typeface="Verdana"/>
                <a:sym typeface="Verdana"/>
              </a:rPr>
              <a:t>Brand Equity Schedule </a:t>
            </a:r>
            <a:endParaRPr sz="2000" b="1">
              <a:solidFill>
                <a:schemeClr val="dk1"/>
              </a:solidFill>
              <a:latin typeface="Verdana"/>
              <a:ea typeface="Verdana"/>
              <a:cs typeface="Verdana"/>
              <a:sym typeface="Verdana"/>
            </a:endParaRPr>
          </a:p>
          <a:p>
            <a:pPr marL="0" lvl="0" indent="0" algn="ctr" rtl="0">
              <a:spcBef>
                <a:spcPts val="0"/>
              </a:spcBef>
              <a:spcAft>
                <a:spcPts val="0"/>
              </a:spcAft>
              <a:buNone/>
            </a:pPr>
            <a:r>
              <a:rPr lang="en" sz="2000" b="1">
                <a:solidFill>
                  <a:schemeClr val="dk1"/>
                </a:solidFill>
                <a:latin typeface="Verdana"/>
                <a:ea typeface="Verdana"/>
                <a:cs typeface="Verdana"/>
                <a:sym typeface="Verdana"/>
              </a:rPr>
              <a:t>Monthly Station Summary</a:t>
            </a:r>
            <a:endParaRPr sz="2000" b="1">
              <a:latin typeface="Verdana"/>
              <a:ea typeface="Verdana"/>
              <a:cs typeface="Verdana"/>
              <a:sym typeface="Verdana"/>
            </a:endParaRPr>
          </a:p>
        </p:txBody>
      </p:sp>
      <p:sp>
        <p:nvSpPr>
          <p:cNvPr id="471" name="Google Shape;471;p42"/>
          <p:cNvSpPr txBox="1"/>
          <p:nvPr/>
        </p:nvSpPr>
        <p:spPr>
          <a:xfrm>
            <a:off x="1179600" y="3067177"/>
            <a:ext cx="6784800" cy="3420600"/>
          </a:xfrm>
          <a:prstGeom prst="rect">
            <a:avLst/>
          </a:prstGeom>
          <a:noFill/>
          <a:ln>
            <a:noFill/>
          </a:ln>
        </p:spPr>
        <p:txBody>
          <a:bodyPr spcFirstLastPara="1" wrap="square" lIns="91425" tIns="91425" rIns="91425" bIns="91425" anchor="t" anchorCtr="0">
            <a:noAutofit/>
          </a:bodyPr>
          <a:lstStyle/>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Market: </a:t>
            </a:r>
            <a:r>
              <a:rPr lang="en">
                <a:solidFill>
                  <a:schemeClr val="dk1"/>
                </a:solidFill>
                <a:latin typeface="Verdana"/>
                <a:ea typeface="Verdana"/>
                <a:cs typeface="Verdana"/>
                <a:sym typeface="Verdana"/>
              </a:rPr>
              <a:t>planBCity</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Projected Broadcast Monthly Reach: </a:t>
            </a:r>
            <a:r>
              <a:rPr lang="en">
                <a:solidFill>
                  <a:schemeClr val="dk1"/>
                </a:solidFill>
                <a:latin typeface="Verdana"/>
                <a:ea typeface="Verdana"/>
                <a:cs typeface="Verdana"/>
                <a:sym typeface="Verdana"/>
              </a:rPr>
              <a:t>planBReach</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Projected Monthly Broadcast Frequency: </a:t>
            </a:r>
            <a:r>
              <a:rPr lang="en">
                <a:solidFill>
                  <a:schemeClr val="dk1"/>
                </a:solidFill>
                <a:latin typeface="Verdana"/>
                <a:ea typeface="Verdana"/>
                <a:cs typeface="Verdana"/>
                <a:sym typeface="Verdana"/>
              </a:rPr>
              <a:t>planBFrequency</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Estimated Monthly Digital Gross Impressions: </a:t>
            </a:r>
            <a:r>
              <a:rPr lang="en">
                <a:solidFill>
                  <a:schemeClr val="dk1"/>
                </a:solidFill>
                <a:latin typeface="Verdana"/>
                <a:ea typeface="Verdana"/>
                <a:cs typeface="Verdana"/>
                <a:sym typeface="Verdana"/>
              </a:rPr>
              <a:t>planBDigitalImpressionsMonthly</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Base Monthly Advertising Investment: </a:t>
            </a:r>
            <a:r>
              <a:rPr lang="en">
                <a:solidFill>
                  <a:schemeClr val="dk1"/>
                </a:solidFill>
                <a:latin typeface="Verdana"/>
                <a:ea typeface="Verdana"/>
                <a:cs typeface="Verdana"/>
                <a:sym typeface="Verdana"/>
              </a:rPr>
              <a:t>planBMonthly</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Base Daily Advertising Investment:</a:t>
            </a:r>
            <a:r>
              <a:rPr lang="en">
                <a:solidFill>
                  <a:schemeClr val="dk1"/>
                </a:solidFill>
                <a:latin typeface="Verdana"/>
                <a:ea typeface="Verdana"/>
                <a:cs typeface="Verdana"/>
                <a:sym typeface="Verdana"/>
              </a:rPr>
              <a:t> planBDaily</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475"/>
        <p:cNvGrpSpPr/>
        <p:nvPr/>
      </p:nvGrpSpPr>
      <p:grpSpPr>
        <a:xfrm>
          <a:off x="0" y="0"/>
          <a:ext cx="0" cy="0"/>
          <a:chOff x="0" y="0"/>
          <a:chExt cx="0" cy="0"/>
        </a:xfrm>
      </p:grpSpPr>
      <p:sp>
        <p:nvSpPr>
          <p:cNvPr id="476" name="Google Shape;476;p43"/>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Break Even Analysis - Plan B</a:t>
            </a:r>
            <a:endParaRPr/>
          </a:p>
        </p:txBody>
      </p:sp>
      <p:sp>
        <p:nvSpPr>
          <p:cNvPr id="477" name="Google Shape;477;p43"/>
          <p:cNvSpPr txBox="1">
            <a:spLocks noGrp="1"/>
          </p:cNvSpPr>
          <p:nvPr>
            <p:ph type="body" idx="2"/>
          </p:nvPr>
        </p:nvSpPr>
        <p:spPr>
          <a:xfrm>
            <a:off x="7552960" y="1563625"/>
            <a:ext cx="3399900" cy="4178700"/>
          </a:xfrm>
          <a:prstGeom prst="rect">
            <a:avLst/>
          </a:prstGeom>
        </p:spPr>
        <p:txBody>
          <a:bodyPr spcFirstLastPara="1" wrap="square" lIns="91425" tIns="91425" rIns="91425" bIns="91425" anchor="t" anchorCtr="0">
            <a:noAutofit/>
          </a:bodyPr>
          <a:lstStyle/>
          <a:p>
            <a:pPr marL="0" lvl="0" indent="0" algn="l" rtl="0">
              <a:lnSpc>
                <a:spcPct val="200000"/>
              </a:lnSpc>
              <a:spcBef>
                <a:spcPts val="0"/>
              </a:spcBef>
              <a:spcAft>
                <a:spcPts val="0"/>
              </a:spcAft>
              <a:buNone/>
            </a:pPr>
            <a:r>
              <a:rPr lang="en" sz="1300" u="sng">
                <a:solidFill>
                  <a:srgbClr val="000000"/>
                </a:solidFill>
                <a:latin typeface="Verdana"/>
                <a:ea typeface="Verdana"/>
                <a:cs typeface="Verdana"/>
                <a:sym typeface="Verdana"/>
              </a:rPr>
              <a:t>planBAverageSale</a:t>
            </a:r>
            <a:endParaRPr sz="1300" u="sng">
              <a:solidFill>
                <a:srgbClr val="000000"/>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planBGrossMargin</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planBClosingPct</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planBProspectValue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planBMonthly</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planBProspectsNeeded</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planBProspectSalesNeeded</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planBGrossProfitOnSales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planBMonths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planBAdditionalGrossSales</a:t>
            </a:r>
            <a:endParaRPr sz="1300" u="sng">
              <a:solidFill>
                <a:schemeClr val="dk1"/>
              </a:solidFill>
              <a:latin typeface="Verdana"/>
              <a:ea typeface="Verdana"/>
              <a:cs typeface="Verdana"/>
              <a:sym typeface="Verdana"/>
            </a:endParaRPr>
          </a:p>
        </p:txBody>
      </p:sp>
      <p:sp>
        <p:nvSpPr>
          <p:cNvPr id="478" name="Google Shape;478;p43"/>
          <p:cNvSpPr txBox="1"/>
          <p:nvPr/>
        </p:nvSpPr>
        <p:spPr>
          <a:xfrm>
            <a:off x="347250" y="1566890"/>
            <a:ext cx="7206000" cy="4181400"/>
          </a:xfrm>
          <a:prstGeom prst="rect">
            <a:avLst/>
          </a:prstGeom>
          <a:noFill/>
          <a:ln>
            <a:noFill/>
          </a:ln>
        </p:spPr>
        <p:txBody>
          <a:bodyPr spcFirstLastPara="1" wrap="square" lIns="91425" tIns="91425" rIns="91425" bIns="91425" anchor="t" anchorCtr="0">
            <a:noAutofit/>
          </a:bodyPr>
          <a:lstStyle/>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Average sale (ticket, transaction, invoice)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Gross profit margin on average sale (sale less closing costs)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Closing or conversion rate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Projected prospect value (=A*B*C)=</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Client base monthly advertising investment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prospects needed to pay for advertising  investment (=E/D)=</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 of sales from prospects needed to break even (=F*C)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Gross sales per month needed to break even (=G*A)=</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Number of months to run </a:t>
            </a:r>
            <a:r>
              <a:rPr lang="en" sz="1300" b="1">
                <a:latin typeface="Verdana"/>
                <a:ea typeface="Verdana"/>
                <a:cs typeface="Verdana"/>
                <a:sym typeface="Verdana"/>
              </a:rPr>
              <a:t>in </a:t>
            </a:r>
            <a:r>
              <a:rPr lang="en" sz="1300" b="1">
                <a:solidFill>
                  <a:srgbClr val="000000"/>
                </a:solidFill>
                <a:latin typeface="Verdana"/>
                <a:ea typeface="Verdana"/>
                <a:cs typeface="Verdana"/>
                <a:sym typeface="Verdana"/>
              </a:rPr>
              <a:t>proposed marketing plan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Additional gross sales per year needed to break even (=H*I)= </a:t>
            </a:r>
            <a:endParaRPr sz="1300" b="1">
              <a:solidFill>
                <a:srgbClr val="000000"/>
              </a:solidFill>
              <a:latin typeface="Verdana"/>
              <a:ea typeface="Verdana"/>
              <a:cs typeface="Verdana"/>
              <a:sym typeface="Verdana"/>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482"/>
        <p:cNvGrpSpPr/>
        <p:nvPr/>
      </p:nvGrpSpPr>
      <p:grpSpPr>
        <a:xfrm>
          <a:off x="0" y="0"/>
          <a:ext cx="0" cy="0"/>
          <a:chOff x="0" y="0"/>
          <a:chExt cx="0" cy="0"/>
        </a:xfrm>
      </p:grpSpPr>
      <p:sp>
        <p:nvSpPr>
          <p:cNvPr id="483" name="Google Shape;483;p44"/>
          <p:cNvSpPr txBox="1">
            <a:spLocks noGrp="1"/>
          </p:cNvSpPr>
          <p:nvPr>
            <p:ph type="ctrTitle"/>
          </p:nvPr>
        </p:nvSpPr>
        <p:spPr>
          <a:xfrm>
            <a:off x="346800" y="475500"/>
            <a:ext cx="84504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Lifetime Value Analysis - Plan B</a:t>
            </a:r>
            <a:endParaRPr/>
          </a:p>
        </p:txBody>
      </p:sp>
      <p:sp>
        <p:nvSpPr>
          <p:cNvPr id="484" name="Google Shape;484;p44"/>
          <p:cNvSpPr txBox="1">
            <a:spLocks noGrp="1"/>
          </p:cNvSpPr>
          <p:nvPr>
            <p:ph type="body" idx="2"/>
          </p:nvPr>
        </p:nvSpPr>
        <p:spPr>
          <a:xfrm>
            <a:off x="7552950" y="1773925"/>
            <a:ext cx="3638400" cy="3766800"/>
          </a:xfrm>
          <a:prstGeom prst="rect">
            <a:avLst/>
          </a:prstGeom>
        </p:spPr>
        <p:txBody>
          <a:bodyPr spcFirstLastPara="1" wrap="square" lIns="91425" tIns="91425" rIns="91425" bIns="91425" anchor="t" anchorCtr="0">
            <a:noAutofit/>
          </a:bodyPr>
          <a:lstStyle/>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b_averageSale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b_grossProfitMargin</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b_grossProfitPerSale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b_averageRepeatSales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b_averageCustomerValue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b_yearsOfPatronage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b_lifetimeValuePerCustomer</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planBMonthly</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b_prospectsNeededToBreakEven</a:t>
            </a:r>
            <a:endParaRPr sz="1300">
              <a:solidFill>
                <a:srgbClr val="000000"/>
              </a:solidFill>
              <a:latin typeface="Verdana"/>
              <a:ea typeface="Verdana"/>
              <a:cs typeface="Verdana"/>
              <a:sym typeface="Verdana"/>
            </a:endParaRPr>
          </a:p>
        </p:txBody>
      </p:sp>
      <p:sp>
        <p:nvSpPr>
          <p:cNvPr id="485" name="Google Shape;485;p44"/>
          <p:cNvSpPr txBox="1">
            <a:spLocks noGrp="1"/>
          </p:cNvSpPr>
          <p:nvPr>
            <p:ph type="body" idx="2"/>
          </p:nvPr>
        </p:nvSpPr>
        <p:spPr>
          <a:xfrm>
            <a:off x="347550" y="1774199"/>
            <a:ext cx="7205400" cy="3766800"/>
          </a:xfrm>
          <a:prstGeom prst="rect">
            <a:avLst/>
          </a:prstGeom>
        </p:spPr>
        <p:txBody>
          <a:bodyPr spcFirstLastPara="1" wrap="square" lIns="91425" tIns="91425" rIns="91425" bIns="91425" anchor="t" anchorCtr="0">
            <a:noAutofit/>
          </a:bodyPr>
          <a:lstStyle/>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Average sale (ticket, transaction, invoice)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Times gross profit margin on average sale (sale less variable costs)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Equals gross profit per average sale (A*B)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Times the average repeat sales per year (per customer/client)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Equals the average customer/client value per year (C*D)=</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Times the average number of years of patronage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Equals the lifetime value of one customer/client (E*F)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So if your base monthly advertising investment averages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Then monthly customers/clients needed to break even (H/G)=</a:t>
            </a:r>
            <a:endParaRPr sz="1300" b="1">
              <a:solidFill>
                <a:srgbClr val="000000"/>
              </a:solidFill>
              <a:latin typeface="Verdana"/>
              <a:ea typeface="Verdana"/>
              <a:cs typeface="Verdana"/>
              <a:sym typeface="Verdana"/>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489"/>
        <p:cNvGrpSpPr/>
        <p:nvPr/>
      </p:nvGrpSpPr>
      <p:grpSpPr>
        <a:xfrm>
          <a:off x="0" y="0"/>
          <a:ext cx="0" cy="0"/>
          <a:chOff x="0" y="0"/>
          <a:chExt cx="0" cy="0"/>
        </a:xfrm>
      </p:grpSpPr>
      <p:sp>
        <p:nvSpPr>
          <p:cNvPr id="490" name="Google Shape;490;p45"/>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Digital ROI Calculator - Plan B</a:t>
            </a:r>
            <a:endParaRPr/>
          </a:p>
        </p:txBody>
      </p:sp>
      <p:sp>
        <p:nvSpPr>
          <p:cNvPr id="491" name="Google Shape;491;p45"/>
          <p:cNvSpPr txBox="1">
            <a:spLocks noGrp="1"/>
          </p:cNvSpPr>
          <p:nvPr>
            <p:ph type="body" idx="2"/>
          </p:nvPr>
        </p:nvSpPr>
        <p:spPr>
          <a:xfrm>
            <a:off x="7132320" y="1453896"/>
            <a:ext cx="1243500" cy="5193900"/>
          </a:xfrm>
          <a:prstGeom prst="rect">
            <a:avLst/>
          </a:prstGeom>
        </p:spPr>
        <p:txBody>
          <a:bodyPr spcFirstLastPara="1" wrap="square" lIns="91425" tIns="91425" rIns="91425" bIns="91425" anchor="t" anchorCtr="0">
            <a:noAutofit/>
          </a:bodyPr>
          <a:lstStyle/>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planBMonthlyDigitalInvestment</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planBCostPerThousand</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planBClosingPctNumber</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planBClickThroughRate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planBMonthlyClicks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planBCostPerClicks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planBSalesConversionPercentage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planBMonthlyConversions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planBCostPerConversion</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planBProjectedGrossProfit</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planBMonthlyGrossProfit</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planBMonthlyROID</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planBMonthlyROIP</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1600"/>
              </a:spcAft>
              <a:buNone/>
            </a:pPr>
            <a:endParaRPr sz="1300">
              <a:solidFill>
                <a:srgbClr val="000000"/>
              </a:solidFill>
              <a:latin typeface="Verdana"/>
              <a:ea typeface="Verdana"/>
              <a:cs typeface="Verdana"/>
              <a:sym typeface="Verdana"/>
            </a:endParaRPr>
          </a:p>
        </p:txBody>
      </p:sp>
      <p:sp>
        <p:nvSpPr>
          <p:cNvPr id="492" name="Google Shape;492;p45"/>
          <p:cNvSpPr txBox="1">
            <a:spLocks noGrp="1"/>
          </p:cNvSpPr>
          <p:nvPr>
            <p:ph type="body" idx="2"/>
          </p:nvPr>
        </p:nvSpPr>
        <p:spPr>
          <a:xfrm>
            <a:off x="772638" y="1453125"/>
            <a:ext cx="6355200" cy="5192700"/>
          </a:xfrm>
          <a:prstGeom prst="rect">
            <a:avLst/>
          </a:prstGeom>
        </p:spPr>
        <p:txBody>
          <a:bodyPr spcFirstLastPara="1" wrap="square" lIns="91425" tIns="91425" rIns="91425" bIns="91425" anchor="t" anchorCtr="0">
            <a:noAutofit/>
          </a:bodyPr>
          <a:lstStyle/>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Digital Investment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Cost Per Thousand (CPM)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Impressions (=A/B*1,000)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Click Through Rate (.01%, .1%, etc)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 clicks (=C*D)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Cost Per Click (=A/E)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Sales Conversion Percentage (2%, 10%, etc)=</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Number of Conversions (E*G)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Cost Per Conversion (A/H)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Projected Gross Profit Per Conversion ($100, $1,000, etc.)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Gross </a:t>
            </a:r>
            <a:r>
              <a:rPr lang="en" sz="1300" b="1">
                <a:solidFill>
                  <a:srgbClr val="000000"/>
                </a:solidFill>
              </a:rPr>
              <a:t>P</a:t>
            </a:r>
            <a:r>
              <a:rPr lang="en" sz="1300" b="1">
                <a:solidFill>
                  <a:srgbClr val="000000"/>
                </a:solidFill>
                <a:latin typeface="Verdana"/>
                <a:ea typeface="Verdana"/>
                <a:cs typeface="Verdana"/>
                <a:sym typeface="Verdana"/>
              </a:rPr>
              <a:t>rofit Generated from all Conversions (H*J)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Return on Investment (K-A)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 Monthly Return on Investment (L/A) = </a:t>
            </a:r>
            <a:endParaRPr sz="1300" b="1">
              <a:solidFill>
                <a:srgbClr val="000000"/>
              </a:solidFill>
              <a:latin typeface="Verdana"/>
              <a:ea typeface="Verdana"/>
              <a:cs typeface="Verdana"/>
              <a:sym typeface="Verdana"/>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496"/>
        <p:cNvGrpSpPr/>
        <p:nvPr/>
      </p:nvGrpSpPr>
      <p:grpSpPr>
        <a:xfrm>
          <a:off x="0" y="0"/>
          <a:ext cx="0" cy="0"/>
          <a:chOff x="0" y="0"/>
          <a:chExt cx="0" cy="0"/>
        </a:xfrm>
      </p:grpSpPr>
      <p:sp>
        <p:nvSpPr>
          <p:cNvPr id="497" name="Google Shape;497;p46"/>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Plan A</a:t>
            </a:r>
            <a:endParaRPr/>
          </a:p>
        </p:txBody>
      </p:sp>
      <p:sp>
        <p:nvSpPr>
          <p:cNvPr id="498" name="Google Shape;498;p46"/>
          <p:cNvSpPr txBox="1">
            <a:spLocks noGrp="1"/>
          </p:cNvSpPr>
          <p:nvPr>
            <p:ph type="body" idx="1"/>
          </p:nvPr>
        </p:nvSpPr>
        <p:spPr>
          <a:xfrm>
            <a:off x="489950" y="1170432"/>
            <a:ext cx="8181900" cy="1623900"/>
          </a:xfrm>
          <a:prstGeom prst="rect">
            <a:avLst/>
          </a:prstGeom>
        </p:spPr>
        <p:txBody>
          <a:bodyPr spcFirstLastPara="1" wrap="square" lIns="91425" tIns="91425" rIns="91425" bIns="91425" anchor="t" anchorCtr="0">
            <a:noAutofit/>
          </a:bodyPr>
          <a:lstStyle/>
          <a:p>
            <a:pPr marL="0" lvl="0" indent="0" algn="l" rtl="0">
              <a:lnSpc>
                <a:spcPct val="150000"/>
              </a:lnSpc>
              <a:spcBef>
                <a:spcPts val="0"/>
              </a:spcBef>
              <a:spcAft>
                <a:spcPts val="0"/>
              </a:spcAft>
              <a:buNone/>
            </a:pPr>
            <a:r>
              <a:rPr lang="en" sz="1150">
                <a:solidFill>
                  <a:srgbClr val="000000"/>
                </a:solidFill>
                <a:latin typeface="Verdana"/>
                <a:ea typeface="Verdana"/>
                <a:cs typeface="Verdana"/>
                <a:sym typeface="Verdana"/>
              </a:rPr>
              <a:t>For the benefit of the client, </a:t>
            </a:r>
            <a:r>
              <a:rPr lang="en" sz="1150" b="1">
                <a:solidFill>
                  <a:srgbClr val="000000"/>
                </a:solidFill>
                <a:latin typeface="Verdana"/>
                <a:ea typeface="Verdana"/>
                <a:cs typeface="Verdana"/>
                <a:sym typeface="Verdana"/>
              </a:rPr>
              <a:t>station </a:t>
            </a:r>
            <a:r>
              <a:rPr lang="en" sz="1150">
                <a:solidFill>
                  <a:srgbClr val="000000"/>
                </a:solidFill>
                <a:latin typeface="Verdana"/>
                <a:ea typeface="Verdana"/>
                <a:cs typeface="Verdana"/>
                <a:sym typeface="Verdana"/>
              </a:rPr>
              <a:t>agrees to develop a marketing strategy to help:</a:t>
            </a:r>
            <a:endParaRPr sz="1150">
              <a:solidFill>
                <a:srgbClr val="000000"/>
              </a:solidFill>
              <a:latin typeface="Verdana"/>
              <a:ea typeface="Verdana"/>
              <a:cs typeface="Verdana"/>
              <a:sym typeface="Verdana"/>
            </a:endParaRPr>
          </a:p>
          <a:p>
            <a:pPr marL="457200" lvl="0" indent="-301625" algn="l" rtl="0">
              <a:lnSpc>
                <a:spcPct val="150000"/>
              </a:lnSpc>
              <a:spcBef>
                <a:spcPts val="0"/>
              </a:spcBef>
              <a:spcAft>
                <a:spcPts val="0"/>
              </a:spcAft>
              <a:buClr>
                <a:srgbClr val="000000"/>
              </a:buClr>
              <a:buSzPts val="1150"/>
              <a:buFont typeface="Verdana"/>
              <a:buAutoNum type="arabicPeriod"/>
            </a:pPr>
            <a:r>
              <a:rPr lang="en" sz="1150">
                <a:solidFill>
                  <a:srgbClr val="000000"/>
                </a:solidFill>
                <a:latin typeface="Verdana"/>
                <a:ea typeface="Verdana"/>
                <a:cs typeface="Verdana"/>
                <a:sym typeface="Verdana"/>
              </a:rPr>
              <a:t>Initiate Cause Marketing Program</a:t>
            </a:r>
            <a:endParaRPr sz="1150">
              <a:solidFill>
                <a:srgbClr val="000000"/>
              </a:solidFill>
              <a:latin typeface="Verdana"/>
              <a:ea typeface="Verdana"/>
              <a:cs typeface="Verdana"/>
              <a:sym typeface="Verdana"/>
            </a:endParaRPr>
          </a:p>
          <a:p>
            <a:pPr marL="457200" lvl="0" indent="-301625" algn="l" rtl="0">
              <a:lnSpc>
                <a:spcPct val="150000"/>
              </a:lnSpc>
              <a:spcBef>
                <a:spcPts val="0"/>
              </a:spcBef>
              <a:spcAft>
                <a:spcPts val="0"/>
              </a:spcAft>
              <a:buClr>
                <a:srgbClr val="000000"/>
              </a:buClr>
              <a:buSzPts val="1150"/>
              <a:buFont typeface="Verdana"/>
              <a:buAutoNum type="arabicPeriod"/>
            </a:pPr>
            <a:r>
              <a:rPr lang="en" sz="1150">
                <a:solidFill>
                  <a:srgbClr val="000000"/>
                </a:solidFill>
                <a:latin typeface="Verdana"/>
                <a:ea typeface="Verdana"/>
                <a:cs typeface="Verdana"/>
                <a:sym typeface="Verdana"/>
              </a:rPr>
              <a:t>Tech Recruitment</a:t>
            </a:r>
            <a:endParaRPr sz="1150">
              <a:solidFill>
                <a:srgbClr val="000000"/>
              </a:solidFill>
              <a:latin typeface="Verdana"/>
              <a:ea typeface="Verdana"/>
              <a:cs typeface="Verdana"/>
              <a:sym typeface="Verdana"/>
            </a:endParaRPr>
          </a:p>
          <a:p>
            <a:pPr marL="457200" lvl="0" indent="-301625" algn="l" rtl="0">
              <a:lnSpc>
                <a:spcPct val="150000"/>
              </a:lnSpc>
              <a:spcBef>
                <a:spcPts val="0"/>
              </a:spcBef>
              <a:spcAft>
                <a:spcPts val="0"/>
              </a:spcAft>
              <a:buClr>
                <a:srgbClr val="000000"/>
              </a:buClr>
              <a:buSzPts val="1150"/>
              <a:buFont typeface="Verdana"/>
              <a:buAutoNum type="arabicPeriod"/>
            </a:pPr>
            <a:r>
              <a:rPr lang="en" sz="1150">
                <a:solidFill>
                  <a:srgbClr val="000000"/>
                </a:solidFill>
                <a:latin typeface="Verdana"/>
                <a:ea typeface="Verdana"/>
                <a:cs typeface="Verdana"/>
                <a:sym typeface="Verdana"/>
              </a:rPr>
              <a:t>Expand Target Consumers (by age, sex, geography)</a:t>
            </a:r>
            <a:endParaRPr sz="1150">
              <a:solidFill>
                <a:srgbClr val="000000"/>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rgbClr val="000000"/>
                </a:solidFill>
                <a:latin typeface="Verdana"/>
                <a:ea typeface="Verdana"/>
                <a:cs typeface="Verdana"/>
                <a:sym typeface="Verdana"/>
              </a:rPr>
              <a:t>In return for fulfilling stated goals </a:t>
            </a:r>
            <a:r>
              <a:rPr lang="en">
                <a:solidFill>
                  <a:srgbClr val="000000"/>
                </a:solidFill>
              </a:rPr>
              <a:t>clientBusinessName</a:t>
            </a:r>
            <a:r>
              <a:rPr lang="en" sz="1150">
                <a:solidFill>
                  <a:srgbClr val="000000"/>
                </a:solidFill>
                <a:latin typeface="Verdana"/>
                <a:ea typeface="Verdana"/>
                <a:cs typeface="Verdana"/>
                <a:sym typeface="Verdana"/>
              </a:rPr>
              <a:t> agrees to invest in the following long-term plan:</a:t>
            </a:r>
            <a:endParaRPr sz="1150">
              <a:solidFill>
                <a:srgbClr val="000000"/>
              </a:solidFill>
              <a:latin typeface="Verdana"/>
              <a:ea typeface="Verdana"/>
              <a:cs typeface="Verdana"/>
              <a:sym typeface="Verdana"/>
            </a:endParaRPr>
          </a:p>
        </p:txBody>
      </p:sp>
      <p:sp>
        <p:nvSpPr>
          <p:cNvPr id="499" name="Google Shape;499;p46"/>
          <p:cNvSpPr txBox="1">
            <a:spLocks noGrp="1"/>
          </p:cNvSpPr>
          <p:nvPr>
            <p:ph type="body" idx="1"/>
          </p:nvPr>
        </p:nvSpPr>
        <p:spPr>
          <a:xfrm>
            <a:off x="356838" y="4184975"/>
            <a:ext cx="8430300" cy="6993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800" b="1">
                <a:solidFill>
                  <a:schemeClr val="dk1"/>
                </a:solidFill>
                <a:latin typeface="Verdana"/>
                <a:ea typeface="Verdana"/>
                <a:cs typeface="Verdana"/>
                <a:sym typeface="Verdana"/>
              </a:rPr>
              <a:t>Client may cancel after 13 weeks from schedule start date with two weeks’ notice and no short rate. This offer is good for 10 business days from the date of presentation. In accordance with Paragraphs 49 and 50 of United States Federal Communications Commission Report and Order No. FCC 07-217, this station will not discriminate in any contract for advertising on the basis of race or ethnicity, and all such contracts will be evaluated, accepted, negotiated and completed without regard to race or ethnicity</a:t>
            </a:r>
            <a:endParaRPr sz="1050" b="1">
              <a:solidFill>
                <a:srgbClr val="000000"/>
              </a:solidFill>
              <a:latin typeface="Verdana"/>
              <a:ea typeface="Verdana"/>
              <a:cs typeface="Verdana"/>
              <a:sym typeface="Verdana"/>
            </a:endParaRPr>
          </a:p>
        </p:txBody>
      </p:sp>
      <p:sp>
        <p:nvSpPr>
          <p:cNvPr id="500" name="Google Shape;500;p46"/>
          <p:cNvSpPr txBox="1">
            <a:spLocks noGrp="1"/>
          </p:cNvSpPr>
          <p:nvPr>
            <p:ph type="body" idx="1"/>
          </p:nvPr>
        </p:nvSpPr>
        <p:spPr>
          <a:xfrm>
            <a:off x="356563" y="4799225"/>
            <a:ext cx="2337600" cy="366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400" b="1" u="sng">
                <a:solidFill>
                  <a:srgbClr val="000000"/>
                </a:solidFill>
                <a:latin typeface="Verdana"/>
                <a:ea typeface="Verdana"/>
                <a:cs typeface="Verdana"/>
                <a:sym typeface="Verdana"/>
              </a:rPr>
              <a:t>Analysis of Schedule:</a:t>
            </a:r>
            <a:endParaRPr sz="1400" b="1" u="sng">
              <a:solidFill>
                <a:srgbClr val="000000"/>
              </a:solidFill>
              <a:latin typeface="Verdana"/>
              <a:ea typeface="Verdana"/>
              <a:cs typeface="Verdana"/>
              <a:sym typeface="Verdana"/>
            </a:endParaRPr>
          </a:p>
        </p:txBody>
      </p:sp>
      <p:sp>
        <p:nvSpPr>
          <p:cNvPr id="501" name="Google Shape;501;p46"/>
          <p:cNvSpPr txBox="1">
            <a:spLocks noGrp="1"/>
          </p:cNvSpPr>
          <p:nvPr>
            <p:ph type="body" idx="1"/>
          </p:nvPr>
        </p:nvSpPr>
        <p:spPr>
          <a:xfrm>
            <a:off x="356563" y="5166125"/>
            <a:ext cx="4292400" cy="366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Average Monthly Client Investment:</a:t>
            </a:r>
            <a:r>
              <a:rPr lang="en" sz="1150">
                <a:solidFill>
                  <a:srgbClr val="000000"/>
                </a:solidFill>
                <a:latin typeface="Verdana"/>
                <a:ea typeface="Verdana"/>
                <a:cs typeface="Verdana"/>
                <a:sym typeface="Verdana"/>
              </a:rPr>
              <a:t> $3</a:t>
            </a:r>
            <a:endParaRPr sz="1150">
              <a:solidFill>
                <a:srgbClr val="000000"/>
              </a:solidFill>
              <a:latin typeface="Verdana"/>
              <a:ea typeface="Verdana"/>
              <a:cs typeface="Verdana"/>
              <a:sym typeface="Verdana"/>
            </a:endParaRPr>
          </a:p>
        </p:txBody>
      </p:sp>
      <p:sp>
        <p:nvSpPr>
          <p:cNvPr id="502" name="Google Shape;502;p46"/>
          <p:cNvSpPr txBox="1">
            <a:spLocks noGrp="1"/>
          </p:cNvSpPr>
          <p:nvPr>
            <p:ph type="body" idx="1"/>
          </p:nvPr>
        </p:nvSpPr>
        <p:spPr>
          <a:xfrm>
            <a:off x="356563" y="5533025"/>
            <a:ext cx="4292400" cy="366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Average Daily Client Investment:</a:t>
            </a:r>
            <a:r>
              <a:rPr lang="en" sz="1150">
                <a:solidFill>
                  <a:srgbClr val="000000"/>
                </a:solidFill>
                <a:latin typeface="Verdana"/>
                <a:ea typeface="Verdana"/>
                <a:cs typeface="Verdana"/>
                <a:sym typeface="Verdana"/>
              </a:rPr>
              <a:t> $0</a:t>
            </a:r>
            <a:endParaRPr sz="1150">
              <a:solidFill>
                <a:srgbClr val="000000"/>
              </a:solidFill>
              <a:latin typeface="Verdana"/>
              <a:ea typeface="Verdana"/>
              <a:cs typeface="Verdana"/>
              <a:sym typeface="Verdana"/>
            </a:endParaRPr>
          </a:p>
        </p:txBody>
      </p:sp>
      <p:sp>
        <p:nvSpPr>
          <p:cNvPr id="503" name="Google Shape;503;p46"/>
          <p:cNvSpPr txBox="1">
            <a:spLocks noGrp="1"/>
          </p:cNvSpPr>
          <p:nvPr>
            <p:ph type="body" idx="1"/>
          </p:nvPr>
        </p:nvSpPr>
        <p:spPr>
          <a:xfrm>
            <a:off x="2416613" y="5914100"/>
            <a:ext cx="4292400" cy="3669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sz="1150">
                <a:solidFill>
                  <a:srgbClr val="000000"/>
                </a:solidFill>
                <a:latin typeface="Verdana"/>
                <a:ea typeface="Verdana"/>
                <a:cs typeface="Verdana"/>
                <a:sym typeface="Verdana"/>
              </a:rPr>
              <a:t>Thank you for you trust and confidence</a:t>
            </a:r>
            <a:endParaRPr sz="1150">
              <a:solidFill>
                <a:srgbClr val="000000"/>
              </a:solidFill>
              <a:latin typeface="Verdana"/>
              <a:ea typeface="Verdana"/>
              <a:cs typeface="Verdana"/>
              <a:sym typeface="Verdana"/>
            </a:endParaRPr>
          </a:p>
        </p:txBody>
      </p:sp>
      <p:cxnSp>
        <p:nvCxnSpPr>
          <p:cNvPr id="504" name="Google Shape;504;p46"/>
          <p:cNvCxnSpPr/>
          <p:nvPr/>
        </p:nvCxnSpPr>
        <p:spPr>
          <a:xfrm>
            <a:off x="495825" y="6613975"/>
            <a:ext cx="3657600" cy="0"/>
          </a:xfrm>
          <a:prstGeom prst="straightConnector1">
            <a:avLst/>
          </a:prstGeom>
          <a:noFill/>
          <a:ln w="19050" cap="flat" cmpd="sng">
            <a:solidFill>
              <a:srgbClr val="000000"/>
            </a:solidFill>
            <a:prstDash val="solid"/>
            <a:round/>
            <a:headEnd type="none" w="med" len="med"/>
            <a:tailEnd type="none" w="med" len="med"/>
          </a:ln>
        </p:spPr>
      </p:cxnSp>
      <p:cxnSp>
        <p:nvCxnSpPr>
          <p:cNvPr id="505" name="Google Shape;505;p46"/>
          <p:cNvCxnSpPr/>
          <p:nvPr/>
        </p:nvCxnSpPr>
        <p:spPr>
          <a:xfrm>
            <a:off x="4972200" y="6613975"/>
            <a:ext cx="3657600" cy="0"/>
          </a:xfrm>
          <a:prstGeom prst="straightConnector1">
            <a:avLst/>
          </a:prstGeom>
          <a:noFill/>
          <a:ln w="19050" cap="flat" cmpd="sng">
            <a:solidFill>
              <a:srgbClr val="000000"/>
            </a:solidFill>
            <a:prstDash val="solid"/>
            <a:round/>
            <a:headEnd type="none" w="med" len="med"/>
            <a:tailEnd type="none" w="med" len="med"/>
          </a:ln>
        </p:spPr>
      </p:cxnSp>
      <p:sp>
        <p:nvSpPr>
          <p:cNvPr id="506" name="Google Shape;506;p46"/>
          <p:cNvSpPr txBox="1"/>
          <p:nvPr/>
        </p:nvSpPr>
        <p:spPr>
          <a:xfrm>
            <a:off x="495838" y="6544400"/>
            <a:ext cx="12324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a:latin typeface="Verdana"/>
                <a:ea typeface="Verdana"/>
                <a:cs typeface="Verdana"/>
                <a:sym typeface="Verdana"/>
              </a:rPr>
              <a:t>Accepted for</a:t>
            </a:r>
            <a:endParaRPr sz="1150">
              <a:latin typeface="Verdana"/>
              <a:ea typeface="Verdana"/>
              <a:cs typeface="Verdana"/>
              <a:sym typeface="Verdana"/>
            </a:endParaRPr>
          </a:p>
        </p:txBody>
      </p:sp>
      <p:sp>
        <p:nvSpPr>
          <p:cNvPr id="507" name="Google Shape;507;p46"/>
          <p:cNvSpPr txBox="1"/>
          <p:nvPr/>
        </p:nvSpPr>
        <p:spPr>
          <a:xfrm>
            <a:off x="4972213" y="6544400"/>
            <a:ext cx="12324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a:latin typeface="Verdana"/>
                <a:ea typeface="Verdana"/>
                <a:cs typeface="Verdana"/>
                <a:sym typeface="Verdana"/>
              </a:rPr>
              <a:t>Accepted for</a:t>
            </a:r>
            <a:endParaRPr sz="1150">
              <a:latin typeface="Verdana"/>
              <a:ea typeface="Verdana"/>
              <a:cs typeface="Verdana"/>
              <a:sym typeface="Verdana"/>
            </a:endParaRPr>
          </a:p>
        </p:txBody>
      </p:sp>
      <p:sp>
        <p:nvSpPr>
          <p:cNvPr id="508" name="Google Shape;508;p46"/>
          <p:cNvSpPr txBox="1"/>
          <p:nvPr/>
        </p:nvSpPr>
        <p:spPr>
          <a:xfrm>
            <a:off x="3581918" y="6544400"/>
            <a:ext cx="571500" cy="3618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50">
                <a:latin typeface="Verdana"/>
                <a:ea typeface="Verdana"/>
                <a:cs typeface="Verdana"/>
                <a:sym typeface="Verdana"/>
              </a:rPr>
              <a:t>Date</a:t>
            </a:r>
            <a:endParaRPr sz="1150">
              <a:latin typeface="Verdana"/>
              <a:ea typeface="Verdana"/>
              <a:cs typeface="Verdana"/>
              <a:sym typeface="Verdana"/>
            </a:endParaRPr>
          </a:p>
        </p:txBody>
      </p:sp>
      <p:sp>
        <p:nvSpPr>
          <p:cNvPr id="509" name="Google Shape;509;p46"/>
          <p:cNvSpPr txBox="1"/>
          <p:nvPr/>
        </p:nvSpPr>
        <p:spPr>
          <a:xfrm>
            <a:off x="8058293" y="6544400"/>
            <a:ext cx="571500" cy="3618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50">
                <a:latin typeface="Verdana"/>
                <a:ea typeface="Verdana"/>
                <a:cs typeface="Verdana"/>
                <a:sym typeface="Verdana"/>
              </a:rPr>
              <a:t>Date</a:t>
            </a:r>
            <a:endParaRPr sz="1150">
              <a:latin typeface="Verdana"/>
              <a:ea typeface="Verdana"/>
              <a:cs typeface="Verdana"/>
              <a:sym typeface="Verdana"/>
            </a:endParaRPr>
          </a:p>
        </p:txBody>
      </p:sp>
      <p:graphicFrame>
        <p:nvGraphicFramePr>
          <p:cNvPr id="510" name="Google Shape;510;p46"/>
          <p:cNvGraphicFramePr/>
          <p:nvPr/>
        </p:nvGraphicFramePr>
        <p:xfrm>
          <a:off x="297400" y="2615775"/>
          <a:ext cx="8374450" cy="1493450"/>
        </p:xfrm>
        <a:graphic>
          <a:graphicData uri="http://schemas.openxmlformats.org/drawingml/2006/table">
            <a:tbl>
              <a:tblPr>
                <a:noFill/>
                <a:tableStyleId>{CFB75FC7-DD7D-40D8-B2B2-EE4B611A8D2E}</a:tableStyleId>
              </a:tblPr>
              <a:tblGrid>
                <a:gridCol w="598175">
                  <a:extLst>
                    <a:ext uri="{9D8B030D-6E8A-4147-A177-3AD203B41FA5}">
                      <a16:colId xmlns:a16="http://schemas.microsoft.com/office/drawing/2014/main" val="20000"/>
                    </a:ext>
                  </a:extLst>
                </a:gridCol>
                <a:gridCol w="598175">
                  <a:extLst>
                    <a:ext uri="{9D8B030D-6E8A-4147-A177-3AD203B41FA5}">
                      <a16:colId xmlns:a16="http://schemas.microsoft.com/office/drawing/2014/main" val="20001"/>
                    </a:ext>
                  </a:extLst>
                </a:gridCol>
                <a:gridCol w="598175">
                  <a:extLst>
                    <a:ext uri="{9D8B030D-6E8A-4147-A177-3AD203B41FA5}">
                      <a16:colId xmlns:a16="http://schemas.microsoft.com/office/drawing/2014/main" val="20002"/>
                    </a:ext>
                  </a:extLst>
                </a:gridCol>
                <a:gridCol w="598175">
                  <a:extLst>
                    <a:ext uri="{9D8B030D-6E8A-4147-A177-3AD203B41FA5}">
                      <a16:colId xmlns:a16="http://schemas.microsoft.com/office/drawing/2014/main" val="20003"/>
                    </a:ext>
                  </a:extLst>
                </a:gridCol>
                <a:gridCol w="598175">
                  <a:extLst>
                    <a:ext uri="{9D8B030D-6E8A-4147-A177-3AD203B41FA5}">
                      <a16:colId xmlns:a16="http://schemas.microsoft.com/office/drawing/2014/main" val="20004"/>
                    </a:ext>
                  </a:extLst>
                </a:gridCol>
                <a:gridCol w="598175">
                  <a:extLst>
                    <a:ext uri="{9D8B030D-6E8A-4147-A177-3AD203B41FA5}">
                      <a16:colId xmlns:a16="http://schemas.microsoft.com/office/drawing/2014/main" val="20005"/>
                    </a:ext>
                  </a:extLst>
                </a:gridCol>
                <a:gridCol w="598175">
                  <a:extLst>
                    <a:ext uri="{9D8B030D-6E8A-4147-A177-3AD203B41FA5}">
                      <a16:colId xmlns:a16="http://schemas.microsoft.com/office/drawing/2014/main" val="20006"/>
                    </a:ext>
                  </a:extLst>
                </a:gridCol>
                <a:gridCol w="598175">
                  <a:extLst>
                    <a:ext uri="{9D8B030D-6E8A-4147-A177-3AD203B41FA5}">
                      <a16:colId xmlns:a16="http://schemas.microsoft.com/office/drawing/2014/main" val="20007"/>
                    </a:ext>
                  </a:extLst>
                </a:gridCol>
                <a:gridCol w="598175">
                  <a:extLst>
                    <a:ext uri="{9D8B030D-6E8A-4147-A177-3AD203B41FA5}">
                      <a16:colId xmlns:a16="http://schemas.microsoft.com/office/drawing/2014/main" val="20008"/>
                    </a:ext>
                  </a:extLst>
                </a:gridCol>
                <a:gridCol w="598175">
                  <a:extLst>
                    <a:ext uri="{9D8B030D-6E8A-4147-A177-3AD203B41FA5}">
                      <a16:colId xmlns:a16="http://schemas.microsoft.com/office/drawing/2014/main" val="20009"/>
                    </a:ext>
                  </a:extLst>
                </a:gridCol>
                <a:gridCol w="598175">
                  <a:extLst>
                    <a:ext uri="{9D8B030D-6E8A-4147-A177-3AD203B41FA5}">
                      <a16:colId xmlns:a16="http://schemas.microsoft.com/office/drawing/2014/main" val="20010"/>
                    </a:ext>
                  </a:extLst>
                </a:gridCol>
                <a:gridCol w="598175">
                  <a:extLst>
                    <a:ext uri="{9D8B030D-6E8A-4147-A177-3AD203B41FA5}">
                      <a16:colId xmlns:a16="http://schemas.microsoft.com/office/drawing/2014/main" val="20011"/>
                    </a:ext>
                  </a:extLst>
                </a:gridCol>
                <a:gridCol w="598175">
                  <a:extLst>
                    <a:ext uri="{9D8B030D-6E8A-4147-A177-3AD203B41FA5}">
                      <a16:colId xmlns:a16="http://schemas.microsoft.com/office/drawing/2014/main" val="20012"/>
                    </a:ext>
                  </a:extLst>
                </a:gridCol>
                <a:gridCol w="598175">
                  <a:extLst>
                    <a:ext uri="{9D8B030D-6E8A-4147-A177-3AD203B41FA5}">
                      <a16:colId xmlns:a16="http://schemas.microsoft.com/office/drawing/2014/main" val="20013"/>
                    </a:ext>
                  </a:extLst>
                </a:gridCol>
              </a:tblGrid>
              <a:tr h="309400">
                <a:tc>
                  <a:txBody>
                    <a:bodyPr/>
                    <a:lstStyle/>
                    <a:p>
                      <a:pPr marL="0" lvl="0" indent="0" algn="ctr" rtl="0">
                        <a:lnSpc>
                          <a:spcPct val="115000"/>
                        </a:lnSpc>
                        <a:spcBef>
                          <a:spcPts val="0"/>
                        </a:spcBef>
                        <a:spcAft>
                          <a:spcPts val="0"/>
                        </a:spcAft>
                        <a:buNone/>
                      </a:pPr>
                      <a:r>
                        <a:rPr lang="en" sz="1000">
                          <a:solidFill>
                            <a:srgbClr val="FFFFFF"/>
                          </a:solidFill>
                        </a:rPr>
                        <a:t>Media</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Jan</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Feb</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Mar</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Apr</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May</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Jun</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Jul</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Aug</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Sep</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Oct</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Nov</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Dec</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Total</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extLst>
                  <a:ext uri="{0D108BD9-81ED-4DB2-BD59-A6C34878D82A}">
                    <a16:rowId xmlns:a16="http://schemas.microsoft.com/office/drawing/2014/main" val="10000"/>
                  </a:ext>
                </a:extLst>
              </a:tr>
              <a:tr h="210075">
                <a:tc>
                  <a:txBody>
                    <a:bodyPr/>
                    <a:lstStyle/>
                    <a:p>
                      <a:pPr marL="0" lvl="0" indent="0" algn="ctr" rtl="0">
                        <a:lnSpc>
                          <a:spcPct val="115000"/>
                        </a:lnSpc>
                        <a:spcBef>
                          <a:spcPts val="0"/>
                        </a:spcBef>
                        <a:spcAft>
                          <a:spcPts val="0"/>
                        </a:spcAft>
                        <a:buNone/>
                      </a:pPr>
                      <a:r>
                        <a:rPr lang="en" sz="1000"/>
                        <a:t>WWWW</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$4,500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$4,500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$4,500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$36,000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1"/>
                  </a:ext>
                </a:extLst>
              </a:tr>
              <a:tr h="210075">
                <a:tc>
                  <a:txBody>
                    <a:bodyPr/>
                    <a:lstStyle/>
                    <a:p>
                      <a:pPr marL="0" lvl="0" indent="0" algn="ctr" rtl="0">
                        <a:lnSpc>
                          <a:spcPct val="115000"/>
                        </a:lnSpc>
                        <a:spcBef>
                          <a:spcPts val="0"/>
                        </a:spcBef>
                        <a:spcAft>
                          <a:spcPts val="0"/>
                        </a:spcAft>
                        <a:buNone/>
                      </a:pPr>
                      <a:r>
                        <a:rPr lang="en" sz="1000"/>
                        <a:t>Digital</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$12,000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2"/>
                  </a:ext>
                </a:extLst>
              </a:tr>
              <a:tr h="381950">
                <a:tc>
                  <a:txBody>
                    <a:bodyPr/>
                    <a:lstStyle/>
                    <a:p>
                      <a:pPr marL="0" lvl="0" indent="0" algn="ctr" rtl="0">
                        <a:lnSpc>
                          <a:spcPct val="115000"/>
                        </a:lnSpc>
                        <a:spcBef>
                          <a:spcPts val="0"/>
                        </a:spcBef>
                        <a:spcAft>
                          <a:spcPts val="0"/>
                        </a:spcAft>
                        <a:buNone/>
                      </a:pPr>
                      <a:r>
                        <a:rPr lang="en" sz="1000" u="sng">
                          <a:solidFill>
                            <a:schemeClr val="hlink"/>
                          </a:solidFill>
                          <a:hlinkClick r:id="rId3"/>
                        </a:rPr>
                        <a:t>wwww.com</a:t>
                      </a:r>
                      <a:endParaRPr sz="1000" u="sng">
                        <a:solidFill>
                          <a:schemeClr val="hlink"/>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$6,000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3"/>
                  </a:ext>
                </a:extLst>
              </a:tr>
              <a:tr h="381950">
                <a:tc>
                  <a:txBody>
                    <a:bodyPr/>
                    <a:lstStyle/>
                    <a:p>
                      <a:pPr marL="0" lvl="0" indent="0" algn="ctr" rtl="0">
                        <a:lnSpc>
                          <a:spcPct val="115000"/>
                        </a:lnSpc>
                        <a:spcBef>
                          <a:spcPts val="0"/>
                        </a:spcBef>
                        <a:spcAft>
                          <a:spcPts val="0"/>
                        </a:spcAft>
                        <a:buNone/>
                      </a:pPr>
                      <a:r>
                        <a:rPr lang="en" sz="1000"/>
                        <a:t>Monthly Totals</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$4,500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$4,500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$6,000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$6,000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$6,000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$4,500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$4,500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$4,500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$4,500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$54,000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4"/>
                  </a:ext>
                </a:extLst>
              </a:tr>
            </a:tbl>
          </a:graphicData>
        </a:graphic>
      </p:graphicFrame>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514"/>
        <p:cNvGrpSpPr/>
        <p:nvPr/>
      </p:nvGrpSpPr>
      <p:grpSpPr>
        <a:xfrm>
          <a:off x="0" y="0"/>
          <a:ext cx="0" cy="0"/>
          <a:chOff x="0" y="0"/>
          <a:chExt cx="0" cy="0"/>
        </a:xfrm>
      </p:grpSpPr>
      <p:sp>
        <p:nvSpPr>
          <p:cNvPr id="515" name="Google Shape;515;p47"/>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Plan B</a:t>
            </a:r>
            <a:endParaRPr/>
          </a:p>
        </p:txBody>
      </p:sp>
      <p:sp>
        <p:nvSpPr>
          <p:cNvPr id="516" name="Google Shape;516;p47"/>
          <p:cNvSpPr txBox="1">
            <a:spLocks noGrp="1"/>
          </p:cNvSpPr>
          <p:nvPr>
            <p:ph type="body" idx="1"/>
          </p:nvPr>
        </p:nvSpPr>
        <p:spPr>
          <a:xfrm>
            <a:off x="356563" y="4799225"/>
            <a:ext cx="2337600" cy="366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400" b="1" u="sng">
                <a:solidFill>
                  <a:srgbClr val="000000"/>
                </a:solidFill>
                <a:latin typeface="Verdana"/>
                <a:ea typeface="Verdana"/>
                <a:cs typeface="Verdana"/>
                <a:sym typeface="Verdana"/>
              </a:rPr>
              <a:t>Analysis of Schedule:</a:t>
            </a:r>
            <a:endParaRPr sz="1400" b="1" u="sng">
              <a:solidFill>
                <a:srgbClr val="000000"/>
              </a:solidFill>
              <a:latin typeface="Verdana"/>
              <a:ea typeface="Verdana"/>
              <a:cs typeface="Verdana"/>
              <a:sym typeface="Verdana"/>
            </a:endParaRPr>
          </a:p>
        </p:txBody>
      </p:sp>
      <p:sp>
        <p:nvSpPr>
          <p:cNvPr id="517" name="Google Shape;517;p47"/>
          <p:cNvSpPr txBox="1">
            <a:spLocks noGrp="1"/>
          </p:cNvSpPr>
          <p:nvPr>
            <p:ph type="body" idx="1"/>
          </p:nvPr>
        </p:nvSpPr>
        <p:spPr>
          <a:xfrm>
            <a:off x="356563" y="5166125"/>
            <a:ext cx="4292400" cy="366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Average Monthly Client Investment:</a:t>
            </a:r>
            <a:r>
              <a:rPr lang="en" sz="1150">
                <a:solidFill>
                  <a:srgbClr val="000000"/>
                </a:solidFill>
                <a:latin typeface="Verdana"/>
                <a:ea typeface="Verdana"/>
                <a:cs typeface="Verdana"/>
                <a:sym typeface="Verdana"/>
              </a:rPr>
              <a:t> $3</a:t>
            </a:r>
            <a:endParaRPr sz="1150">
              <a:solidFill>
                <a:srgbClr val="000000"/>
              </a:solidFill>
              <a:latin typeface="Verdana"/>
              <a:ea typeface="Verdana"/>
              <a:cs typeface="Verdana"/>
              <a:sym typeface="Verdana"/>
            </a:endParaRPr>
          </a:p>
        </p:txBody>
      </p:sp>
      <p:sp>
        <p:nvSpPr>
          <p:cNvPr id="518" name="Google Shape;518;p47"/>
          <p:cNvSpPr txBox="1">
            <a:spLocks noGrp="1"/>
          </p:cNvSpPr>
          <p:nvPr>
            <p:ph type="body" idx="1"/>
          </p:nvPr>
        </p:nvSpPr>
        <p:spPr>
          <a:xfrm>
            <a:off x="356563" y="5533025"/>
            <a:ext cx="4292400" cy="366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Average Daily Client Investment:</a:t>
            </a:r>
            <a:r>
              <a:rPr lang="en" sz="1150">
                <a:solidFill>
                  <a:srgbClr val="000000"/>
                </a:solidFill>
                <a:latin typeface="Verdana"/>
                <a:ea typeface="Verdana"/>
                <a:cs typeface="Verdana"/>
                <a:sym typeface="Verdana"/>
              </a:rPr>
              <a:t> $0</a:t>
            </a:r>
            <a:endParaRPr sz="1150">
              <a:solidFill>
                <a:srgbClr val="000000"/>
              </a:solidFill>
              <a:latin typeface="Verdana"/>
              <a:ea typeface="Verdana"/>
              <a:cs typeface="Verdana"/>
              <a:sym typeface="Verdana"/>
            </a:endParaRPr>
          </a:p>
        </p:txBody>
      </p:sp>
      <p:sp>
        <p:nvSpPr>
          <p:cNvPr id="519" name="Google Shape;519;p47"/>
          <p:cNvSpPr txBox="1">
            <a:spLocks noGrp="1"/>
          </p:cNvSpPr>
          <p:nvPr>
            <p:ph type="body" idx="1"/>
          </p:nvPr>
        </p:nvSpPr>
        <p:spPr>
          <a:xfrm>
            <a:off x="2416613" y="5914100"/>
            <a:ext cx="4292400" cy="3669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sz="1150">
                <a:solidFill>
                  <a:srgbClr val="000000"/>
                </a:solidFill>
                <a:latin typeface="Verdana"/>
                <a:ea typeface="Verdana"/>
                <a:cs typeface="Verdana"/>
                <a:sym typeface="Verdana"/>
              </a:rPr>
              <a:t>Thank you for you trust and confidence</a:t>
            </a:r>
            <a:endParaRPr sz="1150">
              <a:solidFill>
                <a:srgbClr val="000000"/>
              </a:solidFill>
              <a:latin typeface="Verdana"/>
              <a:ea typeface="Verdana"/>
              <a:cs typeface="Verdana"/>
              <a:sym typeface="Verdana"/>
            </a:endParaRPr>
          </a:p>
        </p:txBody>
      </p:sp>
      <p:cxnSp>
        <p:nvCxnSpPr>
          <p:cNvPr id="520" name="Google Shape;520;p47"/>
          <p:cNvCxnSpPr/>
          <p:nvPr/>
        </p:nvCxnSpPr>
        <p:spPr>
          <a:xfrm>
            <a:off x="495825" y="6613975"/>
            <a:ext cx="3657600" cy="0"/>
          </a:xfrm>
          <a:prstGeom prst="straightConnector1">
            <a:avLst/>
          </a:prstGeom>
          <a:noFill/>
          <a:ln w="19050" cap="flat" cmpd="sng">
            <a:solidFill>
              <a:srgbClr val="000000"/>
            </a:solidFill>
            <a:prstDash val="solid"/>
            <a:round/>
            <a:headEnd type="none" w="med" len="med"/>
            <a:tailEnd type="none" w="med" len="med"/>
          </a:ln>
        </p:spPr>
      </p:cxnSp>
      <p:cxnSp>
        <p:nvCxnSpPr>
          <p:cNvPr id="521" name="Google Shape;521;p47"/>
          <p:cNvCxnSpPr/>
          <p:nvPr/>
        </p:nvCxnSpPr>
        <p:spPr>
          <a:xfrm>
            <a:off x="4972200" y="6613975"/>
            <a:ext cx="3657600" cy="0"/>
          </a:xfrm>
          <a:prstGeom prst="straightConnector1">
            <a:avLst/>
          </a:prstGeom>
          <a:noFill/>
          <a:ln w="19050" cap="flat" cmpd="sng">
            <a:solidFill>
              <a:srgbClr val="000000"/>
            </a:solidFill>
            <a:prstDash val="solid"/>
            <a:round/>
            <a:headEnd type="none" w="med" len="med"/>
            <a:tailEnd type="none" w="med" len="med"/>
          </a:ln>
        </p:spPr>
      </p:cxnSp>
      <p:sp>
        <p:nvSpPr>
          <p:cNvPr id="522" name="Google Shape;522;p47"/>
          <p:cNvSpPr txBox="1"/>
          <p:nvPr/>
        </p:nvSpPr>
        <p:spPr>
          <a:xfrm>
            <a:off x="495838" y="6544400"/>
            <a:ext cx="12324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a:latin typeface="Verdana"/>
                <a:ea typeface="Verdana"/>
                <a:cs typeface="Verdana"/>
                <a:sym typeface="Verdana"/>
              </a:rPr>
              <a:t>Accepted for</a:t>
            </a:r>
            <a:endParaRPr sz="1150">
              <a:latin typeface="Verdana"/>
              <a:ea typeface="Verdana"/>
              <a:cs typeface="Verdana"/>
              <a:sym typeface="Verdana"/>
            </a:endParaRPr>
          </a:p>
        </p:txBody>
      </p:sp>
      <p:sp>
        <p:nvSpPr>
          <p:cNvPr id="523" name="Google Shape;523;p47"/>
          <p:cNvSpPr txBox="1"/>
          <p:nvPr/>
        </p:nvSpPr>
        <p:spPr>
          <a:xfrm>
            <a:off x="4972213" y="6544400"/>
            <a:ext cx="12324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a:latin typeface="Verdana"/>
                <a:ea typeface="Verdana"/>
                <a:cs typeface="Verdana"/>
                <a:sym typeface="Verdana"/>
              </a:rPr>
              <a:t>Accepted for</a:t>
            </a:r>
            <a:endParaRPr sz="1150">
              <a:latin typeface="Verdana"/>
              <a:ea typeface="Verdana"/>
              <a:cs typeface="Verdana"/>
              <a:sym typeface="Verdana"/>
            </a:endParaRPr>
          </a:p>
        </p:txBody>
      </p:sp>
      <p:sp>
        <p:nvSpPr>
          <p:cNvPr id="524" name="Google Shape;524;p47"/>
          <p:cNvSpPr txBox="1"/>
          <p:nvPr/>
        </p:nvSpPr>
        <p:spPr>
          <a:xfrm>
            <a:off x="3581918" y="6544400"/>
            <a:ext cx="571500" cy="3618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50">
                <a:latin typeface="Verdana"/>
                <a:ea typeface="Verdana"/>
                <a:cs typeface="Verdana"/>
                <a:sym typeface="Verdana"/>
              </a:rPr>
              <a:t>Date</a:t>
            </a:r>
            <a:endParaRPr sz="1150">
              <a:latin typeface="Verdana"/>
              <a:ea typeface="Verdana"/>
              <a:cs typeface="Verdana"/>
              <a:sym typeface="Verdana"/>
            </a:endParaRPr>
          </a:p>
        </p:txBody>
      </p:sp>
      <p:sp>
        <p:nvSpPr>
          <p:cNvPr id="525" name="Google Shape;525;p47"/>
          <p:cNvSpPr txBox="1"/>
          <p:nvPr/>
        </p:nvSpPr>
        <p:spPr>
          <a:xfrm>
            <a:off x="8058293" y="6544400"/>
            <a:ext cx="571500" cy="3618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50">
                <a:latin typeface="Verdana"/>
                <a:ea typeface="Verdana"/>
                <a:cs typeface="Verdana"/>
                <a:sym typeface="Verdana"/>
              </a:rPr>
              <a:t>Date</a:t>
            </a:r>
            <a:endParaRPr sz="1150">
              <a:latin typeface="Verdana"/>
              <a:ea typeface="Verdana"/>
              <a:cs typeface="Verdana"/>
              <a:sym typeface="Verdana"/>
            </a:endParaRPr>
          </a:p>
        </p:txBody>
      </p:sp>
      <p:sp>
        <p:nvSpPr>
          <p:cNvPr id="526" name="Google Shape;526;p47"/>
          <p:cNvSpPr txBox="1">
            <a:spLocks noGrp="1"/>
          </p:cNvSpPr>
          <p:nvPr>
            <p:ph type="body" idx="1"/>
          </p:nvPr>
        </p:nvSpPr>
        <p:spPr>
          <a:xfrm>
            <a:off x="489950" y="1170432"/>
            <a:ext cx="8181900" cy="1623900"/>
          </a:xfrm>
          <a:prstGeom prst="rect">
            <a:avLst/>
          </a:prstGeom>
        </p:spPr>
        <p:txBody>
          <a:bodyPr spcFirstLastPara="1" wrap="square" lIns="91425" tIns="91425" rIns="91425" bIns="91425" anchor="t" anchorCtr="0">
            <a:noAutofit/>
          </a:bodyPr>
          <a:lstStyle/>
          <a:p>
            <a:pPr marL="0" lvl="0" indent="0" algn="l" rtl="0">
              <a:lnSpc>
                <a:spcPct val="150000"/>
              </a:lnSpc>
              <a:spcBef>
                <a:spcPts val="0"/>
              </a:spcBef>
              <a:spcAft>
                <a:spcPts val="0"/>
              </a:spcAft>
              <a:buNone/>
            </a:pPr>
            <a:r>
              <a:rPr lang="en" sz="1150">
                <a:solidFill>
                  <a:srgbClr val="000000"/>
                </a:solidFill>
                <a:latin typeface="Verdana"/>
                <a:ea typeface="Verdana"/>
                <a:cs typeface="Verdana"/>
                <a:sym typeface="Verdana"/>
              </a:rPr>
              <a:t>For the benefit of the client, </a:t>
            </a:r>
            <a:r>
              <a:rPr lang="en" sz="1150" b="1">
                <a:solidFill>
                  <a:srgbClr val="000000"/>
                </a:solidFill>
                <a:latin typeface="Verdana"/>
                <a:ea typeface="Verdana"/>
                <a:cs typeface="Verdana"/>
                <a:sym typeface="Verdana"/>
              </a:rPr>
              <a:t>station </a:t>
            </a:r>
            <a:r>
              <a:rPr lang="en" sz="1150">
                <a:solidFill>
                  <a:srgbClr val="000000"/>
                </a:solidFill>
                <a:latin typeface="Verdana"/>
                <a:ea typeface="Verdana"/>
                <a:cs typeface="Verdana"/>
                <a:sym typeface="Verdana"/>
              </a:rPr>
              <a:t>agrees to develop a marketing strategy to help:</a:t>
            </a:r>
            <a:endParaRPr sz="1150">
              <a:solidFill>
                <a:srgbClr val="000000"/>
              </a:solidFill>
              <a:latin typeface="Verdana"/>
              <a:ea typeface="Verdana"/>
              <a:cs typeface="Verdana"/>
              <a:sym typeface="Verdana"/>
            </a:endParaRPr>
          </a:p>
          <a:p>
            <a:pPr marL="457200" lvl="0" indent="-301625" algn="l" rtl="0">
              <a:lnSpc>
                <a:spcPct val="150000"/>
              </a:lnSpc>
              <a:spcBef>
                <a:spcPts val="0"/>
              </a:spcBef>
              <a:spcAft>
                <a:spcPts val="0"/>
              </a:spcAft>
              <a:buClr>
                <a:srgbClr val="000000"/>
              </a:buClr>
              <a:buSzPts val="1150"/>
              <a:buFont typeface="Verdana"/>
              <a:buAutoNum type="arabicPeriod"/>
            </a:pPr>
            <a:r>
              <a:rPr lang="en" sz="1150">
                <a:solidFill>
                  <a:srgbClr val="000000"/>
                </a:solidFill>
                <a:latin typeface="Verdana"/>
                <a:ea typeface="Verdana"/>
                <a:cs typeface="Verdana"/>
                <a:sym typeface="Verdana"/>
              </a:rPr>
              <a:t>Initiate Cause Marketing Program</a:t>
            </a:r>
            <a:endParaRPr sz="1150">
              <a:solidFill>
                <a:srgbClr val="000000"/>
              </a:solidFill>
              <a:latin typeface="Verdana"/>
              <a:ea typeface="Verdana"/>
              <a:cs typeface="Verdana"/>
              <a:sym typeface="Verdana"/>
            </a:endParaRPr>
          </a:p>
          <a:p>
            <a:pPr marL="457200" lvl="0" indent="-301625" algn="l" rtl="0">
              <a:lnSpc>
                <a:spcPct val="150000"/>
              </a:lnSpc>
              <a:spcBef>
                <a:spcPts val="0"/>
              </a:spcBef>
              <a:spcAft>
                <a:spcPts val="0"/>
              </a:spcAft>
              <a:buClr>
                <a:srgbClr val="000000"/>
              </a:buClr>
              <a:buSzPts val="1150"/>
              <a:buFont typeface="Verdana"/>
              <a:buAutoNum type="arabicPeriod"/>
            </a:pPr>
            <a:r>
              <a:rPr lang="en" sz="1150">
                <a:solidFill>
                  <a:srgbClr val="000000"/>
                </a:solidFill>
                <a:latin typeface="Verdana"/>
                <a:ea typeface="Verdana"/>
                <a:cs typeface="Verdana"/>
                <a:sym typeface="Verdana"/>
              </a:rPr>
              <a:t>Tech Recruitment</a:t>
            </a:r>
            <a:endParaRPr sz="1150">
              <a:solidFill>
                <a:srgbClr val="000000"/>
              </a:solidFill>
              <a:latin typeface="Verdana"/>
              <a:ea typeface="Verdana"/>
              <a:cs typeface="Verdana"/>
              <a:sym typeface="Verdana"/>
            </a:endParaRPr>
          </a:p>
          <a:p>
            <a:pPr marL="457200" lvl="0" indent="-301625" algn="l" rtl="0">
              <a:lnSpc>
                <a:spcPct val="150000"/>
              </a:lnSpc>
              <a:spcBef>
                <a:spcPts val="0"/>
              </a:spcBef>
              <a:spcAft>
                <a:spcPts val="0"/>
              </a:spcAft>
              <a:buClr>
                <a:srgbClr val="000000"/>
              </a:buClr>
              <a:buSzPts val="1150"/>
              <a:buFont typeface="Verdana"/>
              <a:buAutoNum type="arabicPeriod"/>
            </a:pPr>
            <a:r>
              <a:rPr lang="en" sz="1150">
                <a:solidFill>
                  <a:srgbClr val="000000"/>
                </a:solidFill>
                <a:latin typeface="Verdana"/>
                <a:ea typeface="Verdana"/>
                <a:cs typeface="Verdana"/>
                <a:sym typeface="Verdana"/>
              </a:rPr>
              <a:t>Expand Target Consumers (by age, sex, geography)</a:t>
            </a:r>
            <a:endParaRPr sz="1150">
              <a:solidFill>
                <a:srgbClr val="000000"/>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rgbClr val="000000"/>
                </a:solidFill>
                <a:latin typeface="Verdana"/>
                <a:ea typeface="Verdana"/>
                <a:cs typeface="Verdana"/>
                <a:sym typeface="Verdana"/>
              </a:rPr>
              <a:t>In return for fulfilling stated goals </a:t>
            </a:r>
            <a:r>
              <a:rPr lang="en">
                <a:solidFill>
                  <a:srgbClr val="000000"/>
                </a:solidFill>
              </a:rPr>
              <a:t>clientBusinessName</a:t>
            </a:r>
            <a:r>
              <a:rPr lang="en" sz="1150">
                <a:solidFill>
                  <a:srgbClr val="000000"/>
                </a:solidFill>
                <a:latin typeface="Verdana"/>
                <a:ea typeface="Verdana"/>
                <a:cs typeface="Verdana"/>
                <a:sym typeface="Verdana"/>
              </a:rPr>
              <a:t> agrees to invest in the following long-term plan:</a:t>
            </a:r>
            <a:endParaRPr sz="1150">
              <a:solidFill>
                <a:srgbClr val="000000"/>
              </a:solidFill>
              <a:latin typeface="Verdana"/>
              <a:ea typeface="Verdana"/>
              <a:cs typeface="Verdana"/>
              <a:sym typeface="Verdana"/>
            </a:endParaRPr>
          </a:p>
        </p:txBody>
      </p:sp>
      <p:sp>
        <p:nvSpPr>
          <p:cNvPr id="527" name="Google Shape;527;p47"/>
          <p:cNvSpPr txBox="1">
            <a:spLocks noGrp="1"/>
          </p:cNvSpPr>
          <p:nvPr>
            <p:ph type="body" idx="1"/>
          </p:nvPr>
        </p:nvSpPr>
        <p:spPr>
          <a:xfrm>
            <a:off x="356838" y="4184975"/>
            <a:ext cx="8430300" cy="6993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800" b="1">
                <a:solidFill>
                  <a:schemeClr val="dk1"/>
                </a:solidFill>
                <a:latin typeface="Verdana"/>
                <a:ea typeface="Verdana"/>
                <a:cs typeface="Verdana"/>
                <a:sym typeface="Verdana"/>
              </a:rPr>
              <a:t>Client may cancel after 13 weeks from schedule start date with two weeks’ notice and no short rate. This offer is good for 10 business days from the date of presentation. In accordance with Paragraphs 49 and 50 of United States Federal Communications Commission Report and Order No. FCC 07-217, this station will not discriminate in any contract for advertising on the basis of race or ethnicity, and all such contracts will be evaluated, accepted, negotiated and completed without regard to race or ethnicity</a:t>
            </a:r>
            <a:endParaRPr sz="1050" b="1">
              <a:solidFill>
                <a:srgbClr val="000000"/>
              </a:solidFill>
              <a:latin typeface="Verdana"/>
              <a:ea typeface="Verdana"/>
              <a:cs typeface="Verdana"/>
              <a:sym typeface="Verdana"/>
            </a:endParaRPr>
          </a:p>
        </p:txBody>
      </p:sp>
      <p:graphicFrame>
        <p:nvGraphicFramePr>
          <p:cNvPr id="528" name="Google Shape;528;p47"/>
          <p:cNvGraphicFramePr/>
          <p:nvPr/>
        </p:nvGraphicFramePr>
        <p:xfrm>
          <a:off x="356850" y="2530113"/>
          <a:ext cx="8272950" cy="1623900"/>
        </p:xfrm>
        <a:graphic>
          <a:graphicData uri="http://schemas.openxmlformats.org/drawingml/2006/table">
            <a:tbl>
              <a:tblPr>
                <a:noFill/>
                <a:tableStyleId>{CFB75FC7-DD7D-40D8-B2B2-EE4B611A8D2E}</a:tableStyleId>
              </a:tblPr>
              <a:tblGrid>
                <a:gridCol w="590925">
                  <a:extLst>
                    <a:ext uri="{9D8B030D-6E8A-4147-A177-3AD203B41FA5}">
                      <a16:colId xmlns:a16="http://schemas.microsoft.com/office/drawing/2014/main" val="20000"/>
                    </a:ext>
                  </a:extLst>
                </a:gridCol>
                <a:gridCol w="590925">
                  <a:extLst>
                    <a:ext uri="{9D8B030D-6E8A-4147-A177-3AD203B41FA5}">
                      <a16:colId xmlns:a16="http://schemas.microsoft.com/office/drawing/2014/main" val="20001"/>
                    </a:ext>
                  </a:extLst>
                </a:gridCol>
                <a:gridCol w="590925">
                  <a:extLst>
                    <a:ext uri="{9D8B030D-6E8A-4147-A177-3AD203B41FA5}">
                      <a16:colId xmlns:a16="http://schemas.microsoft.com/office/drawing/2014/main" val="20002"/>
                    </a:ext>
                  </a:extLst>
                </a:gridCol>
                <a:gridCol w="590925">
                  <a:extLst>
                    <a:ext uri="{9D8B030D-6E8A-4147-A177-3AD203B41FA5}">
                      <a16:colId xmlns:a16="http://schemas.microsoft.com/office/drawing/2014/main" val="20003"/>
                    </a:ext>
                  </a:extLst>
                </a:gridCol>
                <a:gridCol w="590925">
                  <a:extLst>
                    <a:ext uri="{9D8B030D-6E8A-4147-A177-3AD203B41FA5}">
                      <a16:colId xmlns:a16="http://schemas.microsoft.com/office/drawing/2014/main" val="20004"/>
                    </a:ext>
                  </a:extLst>
                </a:gridCol>
                <a:gridCol w="590925">
                  <a:extLst>
                    <a:ext uri="{9D8B030D-6E8A-4147-A177-3AD203B41FA5}">
                      <a16:colId xmlns:a16="http://schemas.microsoft.com/office/drawing/2014/main" val="20005"/>
                    </a:ext>
                  </a:extLst>
                </a:gridCol>
                <a:gridCol w="590925">
                  <a:extLst>
                    <a:ext uri="{9D8B030D-6E8A-4147-A177-3AD203B41FA5}">
                      <a16:colId xmlns:a16="http://schemas.microsoft.com/office/drawing/2014/main" val="20006"/>
                    </a:ext>
                  </a:extLst>
                </a:gridCol>
                <a:gridCol w="590925">
                  <a:extLst>
                    <a:ext uri="{9D8B030D-6E8A-4147-A177-3AD203B41FA5}">
                      <a16:colId xmlns:a16="http://schemas.microsoft.com/office/drawing/2014/main" val="20007"/>
                    </a:ext>
                  </a:extLst>
                </a:gridCol>
                <a:gridCol w="590925">
                  <a:extLst>
                    <a:ext uri="{9D8B030D-6E8A-4147-A177-3AD203B41FA5}">
                      <a16:colId xmlns:a16="http://schemas.microsoft.com/office/drawing/2014/main" val="20008"/>
                    </a:ext>
                  </a:extLst>
                </a:gridCol>
                <a:gridCol w="590925">
                  <a:extLst>
                    <a:ext uri="{9D8B030D-6E8A-4147-A177-3AD203B41FA5}">
                      <a16:colId xmlns:a16="http://schemas.microsoft.com/office/drawing/2014/main" val="20009"/>
                    </a:ext>
                  </a:extLst>
                </a:gridCol>
                <a:gridCol w="590925">
                  <a:extLst>
                    <a:ext uri="{9D8B030D-6E8A-4147-A177-3AD203B41FA5}">
                      <a16:colId xmlns:a16="http://schemas.microsoft.com/office/drawing/2014/main" val="20010"/>
                    </a:ext>
                  </a:extLst>
                </a:gridCol>
                <a:gridCol w="590925">
                  <a:extLst>
                    <a:ext uri="{9D8B030D-6E8A-4147-A177-3AD203B41FA5}">
                      <a16:colId xmlns:a16="http://schemas.microsoft.com/office/drawing/2014/main" val="20011"/>
                    </a:ext>
                  </a:extLst>
                </a:gridCol>
                <a:gridCol w="590925">
                  <a:extLst>
                    <a:ext uri="{9D8B030D-6E8A-4147-A177-3AD203B41FA5}">
                      <a16:colId xmlns:a16="http://schemas.microsoft.com/office/drawing/2014/main" val="20012"/>
                    </a:ext>
                  </a:extLst>
                </a:gridCol>
                <a:gridCol w="590925">
                  <a:extLst>
                    <a:ext uri="{9D8B030D-6E8A-4147-A177-3AD203B41FA5}">
                      <a16:colId xmlns:a16="http://schemas.microsoft.com/office/drawing/2014/main" val="20013"/>
                    </a:ext>
                  </a:extLst>
                </a:gridCol>
              </a:tblGrid>
              <a:tr h="212650">
                <a:tc>
                  <a:txBody>
                    <a:bodyPr/>
                    <a:lstStyle/>
                    <a:p>
                      <a:pPr marL="0" lvl="0" indent="0" algn="ctr" rtl="0">
                        <a:lnSpc>
                          <a:spcPct val="115000"/>
                        </a:lnSpc>
                        <a:spcBef>
                          <a:spcPts val="0"/>
                        </a:spcBef>
                        <a:spcAft>
                          <a:spcPts val="0"/>
                        </a:spcAft>
                        <a:buNone/>
                      </a:pPr>
                      <a:r>
                        <a:rPr lang="en" sz="1000">
                          <a:solidFill>
                            <a:srgbClr val="FFFFFF"/>
                          </a:solidFill>
                        </a:rPr>
                        <a:t>Media</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Jan</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Feb</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Mar</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Apr</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May</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Jun</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Jul</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Aug</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Sep</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Oct</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Nov</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Dec</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Total</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extLst>
                  <a:ext uri="{0D108BD9-81ED-4DB2-BD59-A6C34878D82A}">
                    <a16:rowId xmlns:a16="http://schemas.microsoft.com/office/drawing/2014/main" val="10000"/>
                  </a:ext>
                </a:extLst>
              </a:tr>
              <a:tr h="212650">
                <a:tc>
                  <a:txBody>
                    <a:bodyPr/>
                    <a:lstStyle/>
                    <a:p>
                      <a:pPr marL="0" lvl="0" indent="0" algn="ctr" rtl="0">
                        <a:lnSpc>
                          <a:spcPct val="115000"/>
                        </a:lnSpc>
                        <a:spcBef>
                          <a:spcPts val="0"/>
                        </a:spcBef>
                        <a:spcAft>
                          <a:spcPts val="0"/>
                        </a:spcAft>
                        <a:buNone/>
                      </a:pPr>
                      <a:r>
                        <a:rPr lang="en" sz="1000"/>
                        <a:t>WWWW</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$4,500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$4,500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$4,500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$36,000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1"/>
                  </a:ext>
                </a:extLst>
              </a:tr>
              <a:tr h="212650">
                <a:tc>
                  <a:txBody>
                    <a:bodyPr/>
                    <a:lstStyle/>
                    <a:p>
                      <a:pPr marL="0" lvl="0" indent="0" algn="ctr" rtl="0">
                        <a:lnSpc>
                          <a:spcPct val="115000"/>
                        </a:lnSpc>
                        <a:spcBef>
                          <a:spcPts val="0"/>
                        </a:spcBef>
                        <a:spcAft>
                          <a:spcPts val="0"/>
                        </a:spcAft>
                        <a:buNone/>
                      </a:pPr>
                      <a:r>
                        <a:rPr lang="en" sz="1000"/>
                        <a:t>Digital</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$12,000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2"/>
                  </a:ext>
                </a:extLst>
              </a:tr>
              <a:tr h="386650">
                <a:tc>
                  <a:txBody>
                    <a:bodyPr/>
                    <a:lstStyle/>
                    <a:p>
                      <a:pPr marL="0" lvl="0" indent="0" algn="ctr" rtl="0">
                        <a:lnSpc>
                          <a:spcPct val="115000"/>
                        </a:lnSpc>
                        <a:spcBef>
                          <a:spcPts val="0"/>
                        </a:spcBef>
                        <a:spcAft>
                          <a:spcPts val="0"/>
                        </a:spcAft>
                        <a:buNone/>
                      </a:pPr>
                      <a:r>
                        <a:rPr lang="en" sz="1000" u="sng">
                          <a:solidFill>
                            <a:schemeClr val="hlink"/>
                          </a:solidFill>
                          <a:hlinkClick r:id="rId3"/>
                        </a:rPr>
                        <a:t>wwww.com</a:t>
                      </a:r>
                      <a:endParaRPr sz="1000" u="sng">
                        <a:solidFill>
                          <a:schemeClr val="hlink"/>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$6,000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3"/>
                  </a:ext>
                </a:extLst>
              </a:tr>
              <a:tr h="212650">
                <a:tc>
                  <a:txBody>
                    <a:bodyPr/>
                    <a:lstStyle/>
                    <a:p>
                      <a:pPr marL="0" lvl="0" indent="0" algn="ctr" rtl="0">
                        <a:lnSpc>
                          <a:spcPct val="115000"/>
                        </a:lnSpc>
                        <a:spcBef>
                          <a:spcPts val="0"/>
                        </a:spcBef>
                        <a:spcAft>
                          <a:spcPts val="0"/>
                        </a:spcAft>
                        <a:buNone/>
                      </a:pPr>
                      <a:r>
                        <a:rPr lang="en" sz="1000"/>
                        <a:t>WWWA</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$12,000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4"/>
                  </a:ext>
                </a:extLst>
              </a:tr>
              <a:tr h="386650">
                <a:tc>
                  <a:txBody>
                    <a:bodyPr/>
                    <a:lstStyle/>
                    <a:p>
                      <a:pPr marL="0" lvl="0" indent="0" algn="ctr" rtl="0">
                        <a:lnSpc>
                          <a:spcPct val="115000"/>
                        </a:lnSpc>
                        <a:spcBef>
                          <a:spcPts val="0"/>
                        </a:spcBef>
                        <a:spcAft>
                          <a:spcPts val="0"/>
                        </a:spcAft>
                        <a:buNone/>
                      </a:pPr>
                      <a:r>
                        <a:rPr lang="en" sz="1000"/>
                        <a:t>Monthly Totals</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$7,500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$7,500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$7,500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$66,000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5"/>
                  </a:ext>
                </a:extLst>
              </a:tr>
            </a:tbl>
          </a:graphicData>
        </a:graphic>
      </p:graphicFrame>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532"/>
        <p:cNvGrpSpPr/>
        <p:nvPr/>
      </p:nvGrpSpPr>
      <p:grpSpPr>
        <a:xfrm>
          <a:off x="0" y="0"/>
          <a:ext cx="0" cy="0"/>
          <a:chOff x="0" y="0"/>
          <a:chExt cx="0" cy="0"/>
        </a:xfrm>
      </p:grpSpPr>
      <p:sp>
        <p:nvSpPr>
          <p:cNvPr id="533" name="Google Shape;533;p48"/>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Client Policy Agreement</a:t>
            </a:r>
            <a:endParaRPr/>
          </a:p>
        </p:txBody>
      </p:sp>
      <p:sp>
        <p:nvSpPr>
          <p:cNvPr id="534" name="Google Shape;534;p48"/>
          <p:cNvSpPr txBox="1">
            <a:spLocks noGrp="1"/>
          </p:cNvSpPr>
          <p:nvPr>
            <p:ph type="body" idx="1"/>
          </p:nvPr>
        </p:nvSpPr>
        <p:spPr>
          <a:xfrm>
            <a:off x="458400" y="1170425"/>
            <a:ext cx="8227200" cy="11247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sz="1800">
                <a:solidFill>
                  <a:srgbClr val="000000"/>
                </a:solidFill>
                <a:latin typeface="Verdana"/>
                <a:ea typeface="Verdana"/>
                <a:cs typeface="Verdana"/>
                <a:sym typeface="Verdana"/>
              </a:rPr>
              <a:t>At station we have an agreement, which we will discuss with all our business partners and review throughout the year</a:t>
            </a:r>
            <a:endParaRPr sz="1800">
              <a:solidFill>
                <a:srgbClr val="000000"/>
              </a:solidFill>
              <a:latin typeface="Verdana"/>
              <a:ea typeface="Verdana"/>
              <a:cs typeface="Verdana"/>
              <a:sym typeface="Verdana"/>
            </a:endParaRPr>
          </a:p>
        </p:txBody>
      </p:sp>
      <p:sp>
        <p:nvSpPr>
          <p:cNvPr id="535" name="Google Shape;535;p48"/>
          <p:cNvSpPr txBox="1">
            <a:spLocks noGrp="1"/>
          </p:cNvSpPr>
          <p:nvPr>
            <p:ph type="body" idx="2"/>
          </p:nvPr>
        </p:nvSpPr>
        <p:spPr>
          <a:xfrm>
            <a:off x="365700" y="2295125"/>
            <a:ext cx="8412600" cy="4205400"/>
          </a:xfrm>
          <a:prstGeom prst="rect">
            <a:avLst/>
          </a:prstGeom>
        </p:spPr>
        <p:txBody>
          <a:bodyPr spcFirstLastPara="1" wrap="square" lIns="91425" tIns="91425" rIns="91425" bIns="91425" anchor="t" anchorCtr="0">
            <a:noAutofit/>
          </a:bodyPr>
          <a:lstStyle/>
          <a:p>
            <a:pPr marL="457200" lvl="0" indent="-301625" algn="l" rtl="0">
              <a:spcBef>
                <a:spcPts val="120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We will conduct a confidential needs analysis (Database) to gain a complete understanding of your business, your market and your stated objectives.  </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You will be supplied with a customized Summary of Conclusions and Recommendations (SCR) that is tailored to help you achieve your business goals.</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You can be sure that your Marketing Representative will be professional, objective and totally focused on your needs (vs. what’s only in the best interest of the station group).</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You will be offered total production and digital services and once complete, we will provide all creative to you for your final approval before going on-air or on-line.</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The order will be placed as requested and you can expect a duplicate of your submitted broadcast schedules and net figures so that you know all times and costs.</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You will be contacted following the first week on air to ensure that everything is running as scheduled.</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You will be provided with the latest qualitative research and will be continuously updated on relevant market information and changes.</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You can expect an exceptional customer experience including follow-through on all promises made and prompt return phone calls.</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While we will be in constant contact, you will be asked to formally evaluate our performance and your results every 3, 6, 9 and 12 months.  </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If any of the above conditions are not met, please contact </a:t>
            </a:r>
            <a:r>
              <a:rPr lang="en" sz="1150" i="1">
                <a:solidFill>
                  <a:schemeClr val="dk1"/>
                </a:solidFill>
              </a:rPr>
              <a:t>portfolioManagerName </a:t>
            </a:r>
            <a:r>
              <a:rPr lang="en" sz="1150">
                <a:solidFill>
                  <a:schemeClr val="dk1"/>
                </a:solidFill>
                <a:latin typeface="Verdana"/>
                <a:ea typeface="Verdana"/>
                <a:cs typeface="Verdana"/>
                <a:sym typeface="Verdana"/>
              </a:rPr>
              <a:t>at +1 (804) 356-7006</a:t>
            </a:r>
            <a:endParaRPr sz="1150">
              <a:solidFill>
                <a:schemeClr val="dk1"/>
              </a:solidFill>
              <a:latin typeface="Verdana"/>
              <a:ea typeface="Verdana"/>
              <a:cs typeface="Verdana"/>
              <a:sym typeface="Verdana"/>
            </a:endParaRPr>
          </a:p>
          <a:p>
            <a:pPr marL="0" lvl="0" indent="0" algn="l" rtl="0">
              <a:spcBef>
                <a:spcPts val="1200"/>
              </a:spcBef>
              <a:spcAft>
                <a:spcPts val="1600"/>
              </a:spcAft>
              <a:buNone/>
            </a:pPr>
            <a:endParaRPr>
              <a:latin typeface="Verdana"/>
              <a:ea typeface="Verdana"/>
              <a:cs typeface="Verdana"/>
              <a:sym typeface="Verdana"/>
            </a:endParaRP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539"/>
        <p:cNvGrpSpPr/>
        <p:nvPr/>
      </p:nvGrpSpPr>
      <p:grpSpPr>
        <a:xfrm>
          <a:off x="0" y="0"/>
          <a:ext cx="0" cy="0"/>
          <a:chOff x="0" y="0"/>
          <a:chExt cx="0" cy="0"/>
        </a:xfrm>
      </p:grpSpPr>
      <p:sp>
        <p:nvSpPr>
          <p:cNvPr id="540" name="Google Shape;540;p49"/>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Sales Service Agreement</a:t>
            </a:r>
            <a:endParaRPr/>
          </a:p>
        </p:txBody>
      </p:sp>
      <p:sp>
        <p:nvSpPr>
          <p:cNvPr id="541" name="Google Shape;541;p49"/>
          <p:cNvSpPr txBox="1">
            <a:spLocks noGrp="1"/>
          </p:cNvSpPr>
          <p:nvPr>
            <p:ph type="body" idx="1"/>
          </p:nvPr>
        </p:nvSpPr>
        <p:spPr>
          <a:xfrm>
            <a:off x="458400" y="1170425"/>
            <a:ext cx="8227200" cy="7875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sz="1150" b="1">
                <a:solidFill>
                  <a:srgbClr val="000000"/>
                </a:solidFill>
                <a:latin typeface="Verdana"/>
                <a:ea typeface="Verdana"/>
                <a:cs typeface="Verdana"/>
                <a:sym typeface="Verdana"/>
              </a:rPr>
              <a:t>This Sales Service Agreement is part of our Consumer Satisfaction Index (CSI) which is meant to build and serve long term alliances. Please help me know how well we are servicing you by grading each of the following segments 1 to 5 with 5 being the highest.</a:t>
            </a:r>
            <a:endParaRPr sz="1150" b="1">
              <a:solidFill>
                <a:srgbClr val="000000"/>
              </a:solidFill>
              <a:latin typeface="Verdana"/>
              <a:ea typeface="Verdana"/>
              <a:cs typeface="Verdana"/>
              <a:sym typeface="Verdana"/>
            </a:endParaRPr>
          </a:p>
        </p:txBody>
      </p:sp>
      <p:sp>
        <p:nvSpPr>
          <p:cNvPr id="542" name="Google Shape;542;p49"/>
          <p:cNvSpPr txBox="1">
            <a:spLocks noGrp="1"/>
          </p:cNvSpPr>
          <p:nvPr>
            <p:ph type="body" idx="2"/>
          </p:nvPr>
        </p:nvSpPr>
        <p:spPr>
          <a:xfrm>
            <a:off x="365750" y="2386584"/>
            <a:ext cx="5376600" cy="3621000"/>
          </a:xfrm>
          <a:prstGeom prst="rect">
            <a:avLst/>
          </a:prstGeom>
        </p:spPr>
        <p:txBody>
          <a:bodyPr spcFirstLastPara="1" wrap="square" lIns="91425" tIns="91425" rIns="91425" bIns="91425" anchor="t" anchorCtr="0">
            <a:noAutofit/>
          </a:bodyPr>
          <a:lstStyle/>
          <a:p>
            <a:pPr marL="457200" lvl="0" indent="-301625" algn="l" rtl="0">
              <a:lnSpc>
                <a:spcPct val="100000"/>
              </a:lnSpc>
              <a:spcBef>
                <a:spcPts val="0"/>
              </a:spcBef>
              <a:spcAft>
                <a:spcPts val="0"/>
              </a:spcAft>
              <a:buClr>
                <a:schemeClr val="dk1"/>
              </a:buClr>
              <a:buSzPts val="1150"/>
              <a:buFont typeface="Verdana"/>
              <a:buChar char="●"/>
            </a:pPr>
            <a:r>
              <a:rPr lang="en" sz="1150">
                <a:solidFill>
                  <a:schemeClr val="dk1"/>
                </a:solidFill>
                <a:latin typeface="Verdana"/>
                <a:ea typeface="Verdana"/>
                <a:cs typeface="Verdana"/>
                <a:sym typeface="Verdana"/>
              </a:rPr>
              <a:t>The Marketing Representative has a full understanding of my business needs, goals and objectives.</a:t>
            </a:r>
            <a:endParaRPr sz="1150">
              <a:solidFill>
                <a:schemeClr val="dk1"/>
              </a:solidFill>
              <a:latin typeface="Verdana"/>
              <a:ea typeface="Verdana"/>
              <a:cs typeface="Verdana"/>
              <a:sym typeface="Verdana"/>
            </a:endParaRPr>
          </a:p>
          <a:p>
            <a:pPr marL="457200" lvl="0" indent="-301625" algn="l" rtl="0">
              <a:lnSpc>
                <a:spcPct val="100000"/>
              </a:lnSpc>
              <a:spcBef>
                <a:spcPts val="1000"/>
              </a:spcBef>
              <a:spcAft>
                <a:spcPts val="0"/>
              </a:spcAft>
              <a:buClr>
                <a:schemeClr val="dk1"/>
              </a:buClr>
              <a:buSzPts val="1150"/>
              <a:buFont typeface="Verdana"/>
              <a:buChar char="●"/>
            </a:pPr>
            <a:r>
              <a:rPr lang="en" sz="1150">
                <a:solidFill>
                  <a:schemeClr val="dk1"/>
                </a:solidFill>
                <a:latin typeface="Verdana"/>
                <a:ea typeface="Verdana"/>
                <a:cs typeface="Verdana"/>
                <a:sym typeface="Verdana"/>
              </a:rPr>
              <a:t>He/she has been in constant contact to make sure that the program is running as planned.</a:t>
            </a:r>
            <a:endParaRPr sz="1150">
              <a:solidFill>
                <a:schemeClr val="dk1"/>
              </a:solidFill>
              <a:latin typeface="Verdana"/>
              <a:ea typeface="Verdana"/>
              <a:cs typeface="Verdana"/>
              <a:sym typeface="Verdana"/>
            </a:endParaRPr>
          </a:p>
          <a:p>
            <a:pPr marL="457200" lvl="0" indent="-301625" algn="l" rtl="0">
              <a:lnSpc>
                <a:spcPct val="100000"/>
              </a:lnSpc>
              <a:spcBef>
                <a:spcPts val="1000"/>
              </a:spcBef>
              <a:spcAft>
                <a:spcPts val="0"/>
              </a:spcAft>
              <a:buClr>
                <a:schemeClr val="dk1"/>
              </a:buClr>
              <a:buSzPts val="1150"/>
              <a:buFont typeface="Verdana"/>
              <a:buChar char="●"/>
            </a:pPr>
            <a:r>
              <a:rPr lang="en" sz="1150">
                <a:solidFill>
                  <a:schemeClr val="dk1"/>
                </a:solidFill>
                <a:latin typeface="Verdana"/>
                <a:ea typeface="Verdana"/>
                <a:cs typeface="Verdana"/>
                <a:sym typeface="Verdana"/>
              </a:rPr>
              <a:t>Statement/Invoice questions have been handled in a timely fashion.</a:t>
            </a:r>
            <a:endParaRPr sz="1150">
              <a:solidFill>
                <a:schemeClr val="dk1"/>
              </a:solidFill>
              <a:latin typeface="Verdana"/>
              <a:ea typeface="Verdana"/>
              <a:cs typeface="Verdana"/>
              <a:sym typeface="Verdana"/>
            </a:endParaRPr>
          </a:p>
          <a:p>
            <a:pPr marL="457200" lvl="0" indent="-301625" algn="l" rtl="0">
              <a:lnSpc>
                <a:spcPct val="100000"/>
              </a:lnSpc>
              <a:spcBef>
                <a:spcPts val="1000"/>
              </a:spcBef>
              <a:spcAft>
                <a:spcPts val="0"/>
              </a:spcAft>
              <a:buClr>
                <a:schemeClr val="dk1"/>
              </a:buClr>
              <a:buSzPts val="1150"/>
              <a:buFont typeface="Verdana"/>
              <a:buChar char="●"/>
            </a:pPr>
            <a:r>
              <a:rPr lang="en" sz="1150">
                <a:solidFill>
                  <a:schemeClr val="dk1"/>
                </a:solidFill>
                <a:latin typeface="Verdana"/>
                <a:ea typeface="Verdana"/>
                <a:cs typeface="Verdana"/>
                <a:sym typeface="Verdana"/>
              </a:rPr>
              <a:t>Client calls have been returned within a reasonable time frame.</a:t>
            </a:r>
            <a:endParaRPr sz="1150">
              <a:solidFill>
                <a:schemeClr val="dk1"/>
              </a:solidFill>
              <a:latin typeface="Verdana"/>
              <a:ea typeface="Verdana"/>
              <a:cs typeface="Verdana"/>
              <a:sym typeface="Verdana"/>
            </a:endParaRPr>
          </a:p>
          <a:p>
            <a:pPr marL="457200" lvl="0" indent="-301625" algn="l" rtl="0">
              <a:lnSpc>
                <a:spcPct val="100000"/>
              </a:lnSpc>
              <a:spcBef>
                <a:spcPts val="1000"/>
              </a:spcBef>
              <a:spcAft>
                <a:spcPts val="0"/>
              </a:spcAft>
              <a:buClr>
                <a:schemeClr val="dk1"/>
              </a:buClr>
              <a:buSzPts val="1150"/>
              <a:buFont typeface="Verdana"/>
              <a:buChar char="●"/>
            </a:pPr>
            <a:r>
              <a:rPr lang="en" sz="1150">
                <a:solidFill>
                  <a:schemeClr val="dk1"/>
                </a:solidFill>
                <a:latin typeface="Verdana"/>
                <a:ea typeface="Verdana"/>
                <a:cs typeface="Verdana"/>
                <a:sym typeface="Verdana"/>
              </a:rPr>
              <a:t>Promises have been kept and commitments have been honored at all times.</a:t>
            </a:r>
            <a:endParaRPr sz="1150">
              <a:solidFill>
                <a:schemeClr val="dk1"/>
              </a:solidFill>
              <a:latin typeface="Verdana"/>
              <a:ea typeface="Verdana"/>
              <a:cs typeface="Verdana"/>
              <a:sym typeface="Verdana"/>
            </a:endParaRPr>
          </a:p>
          <a:p>
            <a:pPr marL="457200" lvl="0" indent="-301625" algn="l" rtl="0">
              <a:lnSpc>
                <a:spcPct val="100000"/>
              </a:lnSpc>
              <a:spcBef>
                <a:spcPts val="1000"/>
              </a:spcBef>
              <a:spcAft>
                <a:spcPts val="0"/>
              </a:spcAft>
              <a:buClr>
                <a:schemeClr val="dk1"/>
              </a:buClr>
              <a:buSzPts val="1150"/>
              <a:buFont typeface="Verdana"/>
              <a:buChar char="●"/>
            </a:pPr>
            <a:r>
              <a:rPr lang="en" sz="1150">
                <a:solidFill>
                  <a:schemeClr val="dk1"/>
                </a:solidFill>
                <a:latin typeface="Verdana"/>
                <a:ea typeface="Verdana"/>
                <a:cs typeface="Verdana"/>
                <a:sym typeface="Verdana"/>
              </a:rPr>
              <a:t>The overall service experience rating I would give my Marketing Representative.</a:t>
            </a:r>
            <a:endParaRPr sz="1150">
              <a:solidFill>
                <a:schemeClr val="dk1"/>
              </a:solidFill>
              <a:latin typeface="Verdana"/>
              <a:ea typeface="Verdana"/>
              <a:cs typeface="Verdana"/>
              <a:sym typeface="Verdana"/>
            </a:endParaRPr>
          </a:p>
          <a:p>
            <a:pPr marL="457200" lvl="0" indent="-301625" algn="l" rtl="0">
              <a:lnSpc>
                <a:spcPct val="100000"/>
              </a:lnSpc>
              <a:spcBef>
                <a:spcPts val="1000"/>
              </a:spcBef>
              <a:spcAft>
                <a:spcPts val="0"/>
              </a:spcAft>
              <a:buClr>
                <a:schemeClr val="dk1"/>
              </a:buClr>
              <a:buSzPts val="1150"/>
              <a:buFont typeface="Verdana"/>
              <a:buChar char="●"/>
            </a:pPr>
            <a:r>
              <a:rPr lang="en" sz="1150">
                <a:solidFill>
                  <a:schemeClr val="dk1"/>
                </a:solidFill>
                <a:latin typeface="Verdana"/>
                <a:ea typeface="Verdana"/>
                <a:cs typeface="Verdana"/>
                <a:sym typeface="Verdana"/>
              </a:rPr>
              <a:t>The marketing program has met my expectations given the time period it has been running.</a:t>
            </a:r>
            <a:endParaRPr sz="1150">
              <a:solidFill>
                <a:schemeClr val="dk1"/>
              </a:solidFill>
              <a:latin typeface="Verdana"/>
              <a:ea typeface="Verdana"/>
              <a:cs typeface="Verdana"/>
              <a:sym typeface="Verdana"/>
            </a:endParaRPr>
          </a:p>
          <a:p>
            <a:pPr marL="457200" lvl="0" indent="-301625" algn="l" rtl="0">
              <a:lnSpc>
                <a:spcPct val="100000"/>
              </a:lnSpc>
              <a:spcBef>
                <a:spcPts val="1000"/>
              </a:spcBef>
              <a:spcAft>
                <a:spcPts val="1000"/>
              </a:spcAft>
              <a:buClr>
                <a:schemeClr val="dk1"/>
              </a:buClr>
              <a:buSzPts val="1150"/>
              <a:buFont typeface="Verdana"/>
              <a:buChar char="●"/>
            </a:pPr>
            <a:r>
              <a:rPr lang="en" sz="1150">
                <a:solidFill>
                  <a:schemeClr val="dk1"/>
                </a:solidFill>
                <a:latin typeface="Verdana"/>
                <a:ea typeface="Verdana"/>
                <a:cs typeface="Verdana"/>
                <a:sym typeface="Verdana"/>
              </a:rPr>
              <a:t>How likely I would be to recommend someone else to this group.</a:t>
            </a:r>
            <a:endParaRPr sz="1150">
              <a:solidFill>
                <a:schemeClr val="dk1"/>
              </a:solidFill>
              <a:latin typeface="Verdana"/>
              <a:ea typeface="Verdana"/>
              <a:cs typeface="Verdana"/>
              <a:sym typeface="Verdana"/>
            </a:endParaRPr>
          </a:p>
        </p:txBody>
      </p:sp>
      <p:sp>
        <p:nvSpPr>
          <p:cNvPr id="543" name="Google Shape;543;p49"/>
          <p:cNvSpPr txBox="1"/>
          <p:nvPr/>
        </p:nvSpPr>
        <p:spPr>
          <a:xfrm>
            <a:off x="365750" y="1988075"/>
            <a:ext cx="3160500" cy="400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a:latin typeface="Verdana"/>
                <a:ea typeface="Verdana"/>
                <a:cs typeface="Verdana"/>
                <a:sym typeface="Verdana"/>
              </a:rPr>
              <a:t>CONTINUOUS BASIC SERVICE</a:t>
            </a:r>
            <a:endParaRPr>
              <a:latin typeface="Verdana"/>
              <a:ea typeface="Verdana"/>
              <a:cs typeface="Verdana"/>
              <a:sym typeface="Verdana"/>
            </a:endParaRPr>
          </a:p>
        </p:txBody>
      </p:sp>
      <p:cxnSp>
        <p:nvCxnSpPr>
          <p:cNvPr id="544" name="Google Shape;544;p49"/>
          <p:cNvCxnSpPr/>
          <p:nvPr/>
        </p:nvCxnSpPr>
        <p:spPr>
          <a:xfrm>
            <a:off x="7850825" y="2557450"/>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45" name="Google Shape;545;p49"/>
          <p:cNvCxnSpPr/>
          <p:nvPr/>
        </p:nvCxnSpPr>
        <p:spPr>
          <a:xfrm>
            <a:off x="7850825" y="3020507"/>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46" name="Google Shape;546;p49"/>
          <p:cNvCxnSpPr/>
          <p:nvPr/>
        </p:nvCxnSpPr>
        <p:spPr>
          <a:xfrm>
            <a:off x="7850825" y="3483564"/>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47" name="Google Shape;547;p49"/>
          <p:cNvCxnSpPr/>
          <p:nvPr/>
        </p:nvCxnSpPr>
        <p:spPr>
          <a:xfrm>
            <a:off x="7850825" y="3946622"/>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48" name="Google Shape;548;p49"/>
          <p:cNvCxnSpPr/>
          <p:nvPr/>
        </p:nvCxnSpPr>
        <p:spPr>
          <a:xfrm>
            <a:off x="7850825" y="4409679"/>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49" name="Google Shape;549;p49"/>
          <p:cNvCxnSpPr/>
          <p:nvPr/>
        </p:nvCxnSpPr>
        <p:spPr>
          <a:xfrm>
            <a:off x="7850825" y="4872736"/>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50" name="Google Shape;550;p49"/>
          <p:cNvCxnSpPr/>
          <p:nvPr/>
        </p:nvCxnSpPr>
        <p:spPr>
          <a:xfrm>
            <a:off x="7850825" y="5335793"/>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51" name="Google Shape;551;p49"/>
          <p:cNvCxnSpPr/>
          <p:nvPr/>
        </p:nvCxnSpPr>
        <p:spPr>
          <a:xfrm>
            <a:off x="7850825" y="5837400"/>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52" name="Google Shape;552;p49"/>
          <p:cNvCxnSpPr/>
          <p:nvPr/>
        </p:nvCxnSpPr>
        <p:spPr>
          <a:xfrm>
            <a:off x="505000" y="6408575"/>
            <a:ext cx="3657600" cy="0"/>
          </a:xfrm>
          <a:prstGeom prst="straightConnector1">
            <a:avLst/>
          </a:prstGeom>
          <a:noFill/>
          <a:ln w="19050" cap="flat" cmpd="sng">
            <a:solidFill>
              <a:srgbClr val="000000"/>
            </a:solidFill>
            <a:prstDash val="solid"/>
            <a:round/>
            <a:headEnd type="none" w="med" len="med"/>
            <a:tailEnd type="none" w="med" len="med"/>
          </a:ln>
        </p:spPr>
      </p:cxnSp>
      <p:cxnSp>
        <p:nvCxnSpPr>
          <p:cNvPr id="553" name="Google Shape;553;p49"/>
          <p:cNvCxnSpPr/>
          <p:nvPr/>
        </p:nvCxnSpPr>
        <p:spPr>
          <a:xfrm>
            <a:off x="4981375" y="6408575"/>
            <a:ext cx="3657600" cy="0"/>
          </a:xfrm>
          <a:prstGeom prst="straightConnector1">
            <a:avLst/>
          </a:prstGeom>
          <a:noFill/>
          <a:ln w="19050" cap="flat" cmpd="sng">
            <a:solidFill>
              <a:srgbClr val="000000"/>
            </a:solidFill>
            <a:prstDash val="solid"/>
            <a:round/>
            <a:headEnd type="none" w="med" len="med"/>
            <a:tailEnd type="none" w="med" len="med"/>
          </a:ln>
        </p:spPr>
      </p:cxnSp>
      <p:sp>
        <p:nvSpPr>
          <p:cNvPr id="554" name="Google Shape;554;p49"/>
          <p:cNvSpPr txBox="1"/>
          <p:nvPr/>
        </p:nvSpPr>
        <p:spPr>
          <a:xfrm>
            <a:off x="505025" y="6339000"/>
            <a:ext cx="1800900" cy="538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a:latin typeface="Verdana"/>
                <a:ea typeface="Verdana"/>
                <a:cs typeface="Verdana"/>
                <a:sym typeface="Verdana"/>
              </a:rPr>
              <a:t>Signed by Integrated Marketing Consultant</a:t>
            </a:r>
            <a:endParaRPr sz="1150">
              <a:latin typeface="Verdana"/>
              <a:ea typeface="Verdana"/>
              <a:cs typeface="Verdana"/>
              <a:sym typeface="Verdana"/>
            </a:endParaRPr>
          </a:p>
        </p:txBody>
      </p:sp>
      <p:sp>
        <p:nvSpPr>
          <p:cNvPr id="555" name="Google Shape;555;p49"/>
          <p:cNvSpPr txBox="1"/>
          <p:nvPr/>
        </p:nvSpPr>
        <p:spPr>
          <a:xfrm>
            <a:off x="4981400" y="6339000"/>
            <a:ext cx="14790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a:latin typeface="Verdana"/>
                <a:ea typeface="Verdana"/>
                <a:cs typeface="Verdana"/>
                <a:sym typeface="Verdana"/>
              </a:rPr>
              <a:t>Signed by Client</a:t>
            </a:r>
            <a:endParaRPr sz="1150">
              <a:latin typeface="Verdana"/>
              <a:ea typeface="Verdana"/>
              <a:cs typeface="Verdana"/>
              <a:sym typeface="Verdana"/>
            </a:endParaRPr>
          </a:p>
        </p:txBody>
      </p:sp>
      <p:sp>
        <p:nvSpPr>
          <p:cNvPr id="556" name="Google Shape;556;p49"/>
          <p:cNvSpPr txBox="1"/>
          <p:nvPr/>
        </p:nvSpPr>
        <p:spPr>
          <a:xfrm>
            <a:off x="3591093" y="6339000"/>
            <a:ext cx="571500" cy="3618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50">
                <a:latin typeface="Verdana"/>
                <a:ea typeface="Verdana"/>
                <a:cs typeface="Verdana"/>
                <a:sym typeface="Verdana"/>
              </a:rPr>
              <a:t>Date</a:t>
            </a:r>
            <a:endParaRPr sz="1150">
              <a:latin typeface="Verdana"/>
              <a:ea typeface="Verdana"/>
              <a:cs typeface="Verdana"/>
              <a:sym typeface="Verdana"/>
            </a:endParaRPr>
          </a:p>
        </p:txBody>
      </p:sp>
      <p:sp>
        <p:nvSpPr>
          <p:cNvPr id="557" name="Google Shape;557;p49"/>
          <p:cNvSpPr txBox="1"/>
          <p:nvPr/>
        </p:nvSpPr>
        <p:spPr>
          <a:xfrm>
            <a:off x="8067468" y="6339000"/>
            <a:ext cx="571500" cy="3618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50">
                <a:latin typeface="Verdana"/>
                <a:ea typeface="Verdana"/>
                <a:cs typeface="Verdana"/>
                <a:sym typeface="Verdana"/>
              </a:rPr>
              <a:t>Date</a:t>
            </a:r>
            <a:endParaRPr sz="1150">
              <a:latin typeface="Verdana"/>
              <a:ea typeface="Verdana"/>
              <a:cs typeface="Verdana"/>
              <a:sym typeface="Verdana"/>
            </a:endParaRPr>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19107</TotalTime>
  <Words>28946</Words>
  <Application>Microsoft Macintosh PowerPoint</Application>
  <PresentationFormat>Custom</PresentationFormat>
  <Paragraphs>1999</Paragraphs>
  <Slides>38</Slides>
  <Notes>38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38</vt:i4>
      </vt:variant>
    </vt:vector>
  </HeadingPairs>
  <TitlesOfParts>
    <vt:vector size="41" baseType="lpstr">
      <vt:lpstr>Arial</vt:lpstr>
      <vt:lpstr>Verdana</vt:lpstr>
      <vt:lpstr>Simple Light</vt:lpstr>
      <vt:lpstr>PowerPoint Presentation</vt:lpstr>
      <vt:lpstr>Team Commitment</vt:lpstr>
      <vt:lpstr>Marketplace Competition</vt:lpstr>
      <vt:lpstr>Strategic Marketing I</vt:lpstr>
      <vt:lpstr>Strategic Marketing II</vt:lpstr>
      <vt:lpstr>Target Marketing</vt:lpstr>
      <vt:lpstr>Target Marketing</vt:lpstr>
      <vt:lpstr>Target Marketing</vt:lpstr>
      <vt:lpstr>Target Marketing</vt:lpstr>
      <vt:lpstr>Target Marketing</vt:lpstr>
      <vt:lpstr>Recommended Reallocation of  Total Advertising Investment (TAI)</vt:lpstr>
      <vt:lpstr>PowerPoint Presentation</vt:lpstr>
      <vt:lpstr>PowerPoint Presentation</vt:lpstr>
      <vt:lpstr>PowerPoint Presentation</vt:lpstr>
      <vt:lpstr>Profile of Consumers</vt:lpstr>
      <vt:lpstr>Marketing Strategies</vt:lpstr>
      <vt:lpstr>Creative Concepts I</vt:lpstr>
      <vt:lpstr>Creative Concepts II</vt:lpstr>
      <vt:lpstr>Digital Marketing Strategies</vt:lpstr>
      <vt:lpstr>Long Range Strategic Plans</vt:lpstr>
      <vt:lpstr>Advantages to Long-Range Strategic Planning</vt:lpstr>
      <vt:lpstr>Proposed Schedule - Plan A</vt:lpstr>
      <vt:lpstr>Proposed Schedule - Plan A</vt:lpstr>
      <vt:lpstr>Proposed Schedule - Plan A</vt:lpstr>
      <vt:lpstr>Break Even Analysis - Plan A</vt:lpstr>
      <vt:lpstr>Lifetime Value Analysis - Plan A</vt:lpstr>
      <vt:lpstr>Digital ROI Calculator - Plan A</vt:lpstr>
      <vt:lpstr>Proposed Schedule - Plan B</vt:lpstr>
      <vt:lpstr>Proposed Schedule - Plan B</vt:lpstr>
      <vt:lpstr>Proposed Schedule - Plan BT</vt:lpstr>
      <vt:lpstr>Proposed Schedule - Plan B</vt:lpstr>
      <vt:lpstr>Break Even Analysis - Plan B</vt:lpstr>
      <vt:lpstr>Lifetime Value Analysis - Plan B</vt:lpstr>
      <vt:lpstr>Digital ROI Calculator - Plan B</vt:lpstr>
      <vt:lpstr>Plan A</vt:lpstr>
      <vt:lpstr>Plan B</vt:lpstr>
      <vt:lpstr>Client Policy Agreement</vt:lpstr>
      <vt:lpstr>Sales Service Agreement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cp:lastModifiedBy>andrew hinton</cp:lastModifiedBy>
  <cp:revision>30</cp:revision>
  <dcterms:modified xsi:type="dcterms:W3CDTF">2026-03-07T19:31:58Z</dcterms:modified>
</cp:coreProperties>
</file>