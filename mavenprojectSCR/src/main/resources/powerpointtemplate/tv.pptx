
<file path=[Content_Types].xml><?xml version="1.0" encoding="utf-8"?>
<Types xmlns="http://schemas.openxmlformats.org/package/2006/content-types">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commentAuthors+xml" PartName="/ppt/commentAuthors.xml"/>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notesSlide+xml" PartName="/ppt/notesSlides/notesSlide16.xml"/>
  <Override ContentType="application/vnd.openxmlformats-officedocument.presentationml.notesSlide+xml" PartName="/ppt/notesSlides/notesSlide17.xml"/>
  <Override ContentType="application/vnd.openxmlformats-officedocument.presentationml.notesSlide+xml" PartName="/ppt/notesSlides/notesSlide18.xml"/>
  <Override ContentType="application/vnd.openxmlformats-officedocument.presentationml.notesSlide+xml" PartName="/ppt/notesSlides/notesSlide19.xml"/>
  <Override ContentType="application/vnd.openxmlformats-officedocument.presentationml.notesSlide+xml" PartName="/ppt/notesSlides/notesSlide20.xml"/>
  <Override ContentType="application/vnd.openxmlformats-officedocument.presentationml.notesSlide+xml" PartName="/ppt/notesSlides/notesSlide21.xml"/>
  <Override ContentType="application/vnd.openxmlformats-officedocument.presentationml.notesSlide+xml" PartName="/ppt/notesSlides/notesSlide22.xml"/>
  <Override ContentType="application/vnd.openxmlformats-officedocument.presentationml.notesSlide+xml" PartName="/ppt/notesSlides/notesSlide23.xml"/>
  <Override ContentType="application/vnd.openxmlformats-officedocument.presentationml.notesSlide+xml" PartName="/ppt/notesSlides/notesSlide24.xml"/>
  <Override ContentType="application/vnd.openxmlformats-officedocument.presentationml.notesSlide+xml" PartName="/ppt/notesSlides/notesSlide25.xml"/>
  <Override ContentType="application/vnd.openxmlformats-officedocument.presentationml.notesSlide+xml" PartName="/ppt/notesSlides/notesSlide26.xml"/>
  <Override ContentType="application/vnd.openxmlformats-officedocument.presentationml.notesSlide+xml" PartName="/ppt/notesSlides/notesSlide27.xml"/>
  <Override ContentType="application/vnd.openxmlformats-officedocument.presentationml.notesSlide+xml" PartName="/ppt/notesSlides/notesSlide28.xml"/>
  <Override ContentType="application/vnd.openxmlformats-officedocument.presentationml.notesSlide+xml" PartName="/ppt/notesSlides/notesSlide29.xml"/>
  <Override ContentType="application/vnd.openxmlformats-officedocument.presentationml.notesSlide+xml" PartName="/ppt/notesSlides/notesSlide30.xml"/>
  <Override ContentType="application/vnd.openxmlformats-officedocument.presentationml.notesSlide+xml" PartName="/ppt/notesSlides/notesSlide31.xml"/>
  <Override ContentType="application/vnd.openxmlformats-officedocument.presentationml.notesSlide+xml" PartName="/ppt/notesSlides/notesSlide32.xml"/>
  <Override ContentType="application/vnd.openxmlformats-officedocument.presentationml.notesSlide+xml" PartName="/ppt/notesSlides/notesSlide33.xml"/>
  <Override ContentType="application/vnd.openxmlformats-officedocument.presentationml.notesSlide+xml" PartName="/ppt/notesSlides/notesSlide34.xml"/>
  <Override ContentType="application/vnd.openxmlformats-officedocument.presentationml.notesSlide+xml" PartName="/ppt/notesSlides/notesSlide35.xml"/>
  <Override ContentType="application/vnd.openxmlformats-officedocument.presentationml.notesSlide+xml" PartName="/ppt/notesSlides/notesSlide36.xml"/>
  <Override ContentType="application/vnd.openxmlformats-officedocument.presentationml.notesSlide+xml" PartName="/ppt/notesSlides/notesSlide37.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slide+xml" PartName="/ppt/slides/slide27.xml"/>
  <Override ContentType="application/vnd.openxmlformats-officedocument.presentationml.slide+xml" PartName="/ppt/slides/slide28.xml"/>
  <Override ContentType="application/vnd.openxmlformats-officedocument.presentationml.slide+xml" PartName="/ppt/slides/slide29.xml"/>
  <Override ContentType="application/vnd.openxmlformats-officedocument.presentationml.slide+xml" PartName="/ppt/slides/slide30.xml"/>
  <Override ContentType="application/vnd.openxmlformats-officedocument.presentationml.slide+xml" PartName="/ppt/slides/slide31.xml"/>
  <Override ContentType="application/vnd.openxmlformats-officedocument.presentationml.slide+xml" PartName="/ppt/slides/slide32.xml"/>
  <Override ContentType="application/vnd.openxmlformats-officedocument.presentationml.slide+xml" PartName="/ppt/slides/slide33.xml"/>
  <Override ContentType="application/vnd.openxmlformats-officedocument.presentationml.slide+xml" PartName="/ppt/slides/slide34.xml"/>
  <Override ContentType="application/vnd.openxmlformats-officedocument.presentationml.slide+xml" PartName="/ppt/slides/slide35.xml"/>
  <Override ContentType="application/vnd.openxmlformats-officedocument.presentationml.slide+xml" PartName="/ppt/slides/slide36.xml"/>
  <Override ContentType="application/vnd.openxmlformats-officedocument.presentationml.slide+xml" PartName="/ppt/slides/slide37.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core.xml" Type="http://schemas.openxmlformats.org/package/2006/relationships/metadata/core-properties"/><Relationship Id="rId3"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2"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43"/>
    <p:restoredTop sz="94479"/>
  </p:normalViewPr>
  <p:slideViewPr>
    <p:cSldViewPr snapToGrid="0">
      <p:cViewPr varScale="1">
        <p:scale>
          <a:sx n="73" d="100"/>
          <a:sy n="73" d="100"/>
        </p:scale>
        <p:origin x="368" y="184"/>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9.xml" Type="http://schemas.openxmlformats.org/officeDocument/2006/relationships/slide"/><Relationship Id="rId11" Target="slides/slide10.xml" Type="http://schemas.openxmlformats.org/officeDocument/2006/relationships/slide"/><Relationship Id="rId12" Target="slides/slide11.xml" Type="http://schemas.openxmlformats.org/officeDocument/2006/relationships/slide"/><Relationship Id="rId13" Target="slides/slide12.xml" Type="http://schemas.openxmlformats.org/officeDocument/2006/relationships/slide"/><Relationship Id="rId14" Target="slides/slide13.xml" Type="http://schemas.openxmlformats.org/officeDocument/2006/relationships/slide"/><Relationship Id="rId15" Target="slides/slide14.xml" Type="http://schemas.openxmlformats.org/officeDocument/2006/relationships/slide"/><Relationship Id="rId16" Target="slides/slide15.xml" Type="http://schemas.openxmlformats.org/officeDocument/2006/relationships/slide"/><Relationship Id="rId17" Target="slides/slide16.xml" Type="http://schemas.openxmlformats.org/officeDocument/2006/relationships/slide"/><Relationship Id="rId18" Target="slides/slide17.xml" Type="http://schemas.openxmlformats.org/officeDocument/2006/relationships/slide"/><Relationship Id="rId19" Target="slides/slide18.xml" Type="http://schemas.openxmlformats.org/officeDocument/2006/relationships/slide"/><Relationship Id="rId2" Target="slides/slide1.xml" Type="http://schemas.openxmlformats.org/officeDocument/2006/relationships/slide"/><Relationship Id="rId20" Target="slides/slide19.xml" Type="http://schemas.openxmlformats.org/officeDocument/2006/relationships/slide"/><Relationship Id="rId21" Target="slides/slide20.xml" Type="http://schemas.openxmlformats.org/officeDocument/2006/relationships/slide"/><Relationship Id="rId22" Target="slides/slide21.xml" Type="http://schemas.openxmlformats.org/officeDocument/2006/relationships/slide"/><Relationship Id="rId23" Target="slides/slide22.xml" Type="http://schemas.openxmlformats.org/officeDocument/2006/relationships/slide"/><Relationship Id="rId24" Target="slides/slide23.xml" Type="http://schemas.openxmlformats.org/officeDocument/2006/relationships/slide"/><Relationship Id="rId25" Target="slides/slide24.xml" Type="http://schemas.openxmlformats.org/officeDocument/2006/relationships/slide"/><Relationship Id="rId26" Target="slides/slide25.xml" Type="http://schemas.openxmlformats.org/officeDocument/2006/relationships/slide"/><Relationship Id="rId27" Target="slides/slide26.xml" Type="http://schemas.openxmlformats.org/officeDocument/2006/relationships/slide"/><Relationship Id="rId28" Target="slides/slide27.xml" Type="http://schemas.openxmlformats.org/officeDocument/2006/relationships/slide"/><Relationship Id="rId29" Target="slides/slide28.xml" Type="http://schemas.openxmlformats.org/officeDocument/2006/relationships/slide"/><Relationship Id="rId3" Target="slides/slide2.xml" Type="http://schemas.openxmlformats.org/officeDocument/2006/relationships/slide"/><Relationship Id="rId30" Target="slides/slide29.xml" Type="http://schemas.openxmlformats.org/officeDocument/2006/relationships/slide"/><Relationship Id="rId31" Target="slides/slide30.xml" Type="http://schemas.openxmlformats.org/officeDocument/2006/relationships/slide"/><Relationship Id="rId32" Target="slides/slide31.xml" Type="http://schemas.openxmlformats.org/officeDocument/2006/relationships/slide"/><Relationship Id="rId33" Target="slides/slide32.xml" Type="http://schemas.openxmlformats.org/officeDocument/2006/relationships/slide"/><Relationship Id="rId34" Target="slides/slide33.xml" Type="http://schemas.openxmlformats.org/officeDocument/2006/relationships/slide"/><Relationship Id="rId35" Target="slides/slide34.xml" Type="http://schemas.openxmlformats.org/officeDocument/2006/relationships/slide"/><Relationship Id="rId36" Target="slides/slide35.xml" Type="http://schemas.openxmlformats.org/officeDocument/2006/relationships/slide"/><Relationship Id="rId37" Target="slides/slide36.xml" Type="http://schemas.openxmlformats.org/officeDocument/2006/relationships/slide"/><Relationship Id="rId38" Target="slides/slide37.xml" Type="http://schemas.openxmlformats.org/officeDocument/2006/relationships/slide"/><Relationship Id="rId39" Target="notesMasters/notesMaster1.xml" Type="http://schemas.openxmlformats.org/officeDocument/2006/relationships/notesMaster"/><Relationship Id="rId4" Target="slides/slide3.xml" Type="http://schemas.openxmlformats.org/officeDocument/2006/relationships/slide"/><Relationship Id="rId40" Target="commentAuthors.xml" Type="http://schemas.openxmlformats.org/officeDocument/2006/relationships/commentAuthors"/><Relationship Id="rId41" Target="presProps.xml" Type="http://schemas.openxmlformats.org/officeDocument/2006/relationships/presProps"/><Relationship Id="rId42" Target="viewProps.xml" Type="http://schemas.openxmlformats.org/officeDocument/2006/relationships/viewProps"/><Relationship Id="rId43" Target="theme/theme1.xml" Type="http://schemas.openxmlformats.org/officeDocument/2006/relationships/theme"/><Relationship Id="rId44" Target="tableStyles.xml" Type="http://schemas.openxmlformats.org/officeDocument/2006/relationships/tableStyles"/><Relationship Id="rId5" Target="slides/slide4.xml" Type="http://schemas.openxmlformats.org/officeDocument/2006/relationships/slide"/><Relationship Id="rId6" Target="slides/slide5.xml" Type="http://schemas.openxmlformats.org/officeDocument/2006/relationships/slide"/><Relationship Id="rId7" Target="slides/slide6.xml" Type="http://schemas.openxmlformats.org/officeDocument/2006/relationships/slide"/><Relationship Id="rId8" Target="slides/slide7.xml" Type="http://schemas.openxmlformats.org/officeDocument/2006/relationships/slide"/><Relationship Id="rId9" Target="slides/slide8.xml" Type="http://schemas.openxmlformats.org/officeDocument/2006/relationships/slide"/></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1-03T14:13:19.609" idx="1">
    <p:pos x="10" y="10"/>
    <p:text/>
    <p:extLst>
      <p:ext uri="{C676402C-5697-4E1C-873F-D02D1690AC5C}">
        <p15:threadingInfo xmlns:p15="http://schemas.microsoft.com/office/powerpoint/2012/main" timeZoneBias="480"/>
      </p:ext>
    </p:extLst>
  </p:cm>
</p:cmLst>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_rels/notesSlide1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6.xml" Type="http://schemas.openxmlformats.org/officeDocument/2006/relationships/slide"/></Relationships>
</file>

<file path=ppt/notesSlides/_rels/notesSlide1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7.xml" Type="http://schemas.openxmlformats.org/officeDocument/2006/relationships/slide"/></Relationships>
</file>

<file path=ppt/notesSlides/_rels/notesSlide1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8.xml" Type="http://schemas.openxmlformats.org/officeDocument/2006/relationships/slide"/></Relationships>
</file>

<file path=ppt/notesSlides/_rels/notesSlide1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9.xml" Type="http://schemas.openxmlformats.org/officeDocument/2006/relationships/slide"/></Relationships>
</file>

<file path=ppt/notesSlides/_rels/notesSlide2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0.xml" Type="http://schemas.openxmlformats.org/officeDocument/2006/relationships/slide"/></Relationships>
</file>

<file path=ppt/notesSlides/_rels/notesSlide2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1.xml" Type="http://schemas.openxmlformats.org/officeDocument/2006/relationships/slide"/></Relationships>
</file>

<file path=ppt/notesSlides/_rels/notesSlide2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2.xml" Type="http://schemas.openxmlformats.org/officeDocument/2006/relationships/slide"/></Relationships>
</file>

<file path=ppt/notesSlides/_rels/notesSlide2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3.xml" Type="http://schemas.openxmlformats.org/officeDocument/2006/relationships/slide"/></Relationships>
</file>

<file path=ppt/notesSlides/_rels/notesSlide2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4.xml" Type="http://schemas.openxmlformats.org/officeDocument/2006/relationships/slide"/></Relationships>
</file>

<file path=ppt/notesSlides/_rels/notesSlide2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5.xml" Type="http://schemas.openxmlformats.org/officeDocument/2006/relationships/slide"/></Relationships>
</file>

<file path=ppt/notesSlides/_rels/notesSlide2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6.xml" Type="http://schemas.openxmlformats.org/officeDocument/2006/relationships/slide"/></Relationships>
</file>

<file path=ppt/notesSlides/_rels/notesSlide2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7.xml" Type="http://schemas.openxmlformats.org/officeDocument/2006/relationships/slide"/></Relationships>
</file>

<file path=ppt/notesSlides/_rels/notesSlide2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8.xml" Type="http://schemas.openxmlformats.org/officeDocument/2006/relationships/slide"/></Relationships>
</file>

<file path=ppt/notesSlides/_rels/notesSlide2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9.xml" Type="http://schemas.openxmlformats.org/officeDocument/2006/relationships/slide"/></Relationships>
</file>

<file path=ppt/notesSlides/_rels/notesSlide3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0.xml" Type="http://schemas.openxmlformats.org/officeDocument/2006/relationships/slide"/></Relationships>
</file>

<file path=ppt/notesSlides/_rels/notesSlide3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1.xml" Type="http://schemas.openxmlformats.org/officeDocument/2006/relationships/slide"/></Relationships>
</file>

<file path=ppt/notesSlides/_rels/notesSlide3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2.xml" Type="http://schemas.openxmlformats.org/officeDocument/2006/relationships/slide"/></Relationships>
</file>

<file path=ppt/notesSlides/_rels/notesSlide3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3.xml" Type="http://schemas.openxmlformats.org/officeDocument/2006/relationships/slide"/></Relationships>
</file>

<file path=ppt/notesSlides/_rels/notesSlide3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4.xml" Type="http://schemas.openxmlformats.org/officeDocument/2006/relationships/slide"/></Relationships>
</file>

<file path=ppt/notesSlides/_rels/notesSlide3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5.xml" Type="http://schemas.openxmlformats.org/officeDocument/2006/relationships/slide"/></Relationships>
</file>

<file path=ppt/notesSlides/_rels/notesSlide3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6.xml" Type="http://schemas.openxmlformats.org/officeDocument/2006/relationships/slide"/></Relationships>
</file>

<file path=ppt/notesSlides/_rels/notesSlide3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7.xml" Type="http://schemas.openxmlformats.org/officeDocument/2006/relationships/slide"/></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6175" y="685800"/>
            <a:ext cx="42861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b1f3d784ca_0_4:notes"/>
          <p:cNvSpPr>
            <a:spLocks noGrp="1" noRot="1" noChangeAspect="1"/>
          </p:cNvSpPr>
          <p:nvPr>
            <p:ph type="sldImg" idx="2"/>
          </p:nvPr>
        </p:nvSpPr>
        <p:spPr>
          <a:xfrm>
            <a:off x="1286175" y="685800"/>
            <a:ext cx="42861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b1f3d784ca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6175" y="685800"/>
            <a:ext cx="42861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6175" y="685800"/>
            <a:ext cx="42861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 Id="rId2" Target="../media/image2.png" Type="http://schemas.openxmlformats.org/officeDocument/2006/relationships/image"/></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490250" y="640213"/>
            <a:ext cx="6367800" cy="58179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7" name="Google Shape;47;p8"/>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13" Target="../media/image1.png" Type="http://schemas.openxmlformats.org/officeDocument/2006/relationships/imag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3">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a:solidFill>
                  <a:schemeClr val="dk1"/>
                </a:solidFill>
                <a:latin typeface="Verdana"/>
                <a:ea typeface="Verdana"/>
                <a:cs typeface="Verdana"/>
                <a:sym typeface="Verdana"/>
              </a:rPr>
              <a:t>Copyright © 1984-2023  Executive Decision Systems, Inc. and The Guld Resource Group, LLC.</a:t>
            </a:r>
            <a:endParaRPr sz="700" b="1">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Relationships xmlns="http://schemas.openxmlformats.org/package/2006/relationships"><Relationship Id="rId1" Target="../slideLayouts/slideLayout2.xml" Type="http://schemas.openxmlformats.org/officeDocument/2006/relationships/slideLayout"/><Relationship Id="rId2" Target="../notesSlides/notesSlide1.xml" Type="http://schemas.openxmlformats.org/officeDocument/2006/relationships/notesSlide"/><Relationship Id="rId3" Target="../comments/comment1.xml" Type="http://schemas.openxmlformats.org/officeDocument/2006/relationships/comments"/></Relationships>
</file>

<file path=ppt/slides/_rels/slide2.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2.xml" Type="http://schemas.openxmlformats.org/officeDocument/2006/relationships/notesSlide"/><Relationship Id="rId3" Target="../comments/comment2.xml" Type="http://schemas.openxmlformats.org/officeDocument/2006/relationships/comments"/></Relationships>
</file>

<file path=ppt/slides/_rels/slide3.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3.xml" Type="http://schemas.openxmlformats.org/officeDocument/2006/relationships/notesSlide"/></Relationships>
</file>

<file path=ppt/slides/_rels/slide4.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4.xml" Type="http://schemas.openxmlformats.org/officeDocument/2006/relationships/notesSlide"/></Relationships>
</file>

<file path=ppt/slides/_rels/slide5.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5.xml" Type="http://schemas.openxmlformats.org/officeDocument/2006/relationships/notesSlide"/></Relationships>
</file>

<file path=ppt/slides/_rels/slide6.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6.xml" Type="http://schemas.openxmlformats.org/officeDocument/2006/relationships/notesSlide"/></Relationships>
</file>

<file path=ppt/slides/_rels/slide7.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7.xml" Type="http://schemas.openxmlformats.org/officeDocument/2006/relationships/notesSlide"/></Relationships>
</file>

<file path=ppt/slides/_rels/slide8.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8.xml" Type="http://schemas.openxmlformats.org/officeDocument/2006/relationships/notesSlide"/></Relationships>
</file>

<file path=ppt/slides/_rels/slide9.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9.xml" Type="http://schemas.openxmlformats.org/officeDocument/2006/relationships/notesSlide"/></Relationships>
</file>

<file path=ppt/slides/_rels/slide10.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10.xml" Type="http://schemas.openxmlformats.org/officeDocument/2006/relationships/notesSlide"/></Relationships>
</file>

<file path=ppt/slides/_rels/slide11.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11.xml" Type="http://schemas.openxmlformats.org/officeDocument/2006/relationships/notesSlide"/></Relationships>
</file>

<file path=ppt/slides/_rels/slide12.xml.rels><?xml version="1.0" encoding="UTF-8" standalone="yes"?><Relationships xmlns="http://schemas.openxmlformats.org/package/2006/relationships"><Relationship Id="rId1" Target="../slideLayouts/slideLayout3.xml" Type="http://schemas.openxmlformats.org/officeDocument/2006/relationships/slideLayout"/><Relationship Id="rId2" Target="../notesSlides/notesSlide12.xml" Type="http://schemas.openxmlformats.org/officeDocument/2006/relationships/notesSlide"/><Relationship Id="rId3" Target="../media/image3.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 Id="rId3" Target="../media/image4.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14.xml" Type="http://schemas.openxmlformats.org/officeDocument/2006/relationships/notesSlide"/></Relationships>
</file>

<file path=ppt/slides/_rels/slide15.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15.xml" Type="http://schemas.openxmlformats.org/officeDocument/2006/relationships/notesSlide"/></Relationships>
</file>

<file path=ppt/slides/_rels/slide16.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16.xml" Type="http://schemas.openxmlformats.org/officeDocument/2006/relationships/notesSlide"/></Relationships>
</file>

<file path=ppt/slides/_rels/slide17.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17.xml" Type="http://schemas.openxmlformats.org/officeDocument/2006/relationships/notesSlide"/></Relationships>
</file>

<file path=ppt/slides/_rels/slide18.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18.xml" Type="http://schemas.openxmlformats.org/officeDocument/2006/relationships/notesSlide"/></Relationships>
</file>

<file path=ppt/slides/_rels/slide19.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19.xml" Type="http://schemas.openxmlformats.org/officeDocument/2006/relationships/notesSlide"/></Relationships>
</file>

<file path=ppt/slides/_rels/slide20.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20.xml" Type="http://schemas.openxmlformats.org/officeDocument/2006/relationships/notesSlide"/></Relationships>
</file>

<file path=ppt/slides/_rels/slide21.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21.xml" Type="http://schemas.openxmlformats.org/officeDocument/2006/relationships/notesSlide"/><Relationship Id="rId3" Target="../media/image5.pn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22.xml" Type="http://schemas.openxmlformats.org/officeDocument/2006/relationships/notesSlide"/></Relationships>
</file>

<file path=ppt/slides/_rels/slide23.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23.xml" Type="http://schemas.openxmlformats.org/officeDocument/2006/relationships/notesSlide"/></Relationships>
</file>

<file path=ppt/slides/_rels/slide24.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24.xml" Type="http://schemas.openxmlformats.org/officeDocument/2006/relationships/notesSlide"/></Relationships>
</file>

<file path=ppt/slides/_rels/slide25.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25.xml" Type="http://schemas.openxmlformats.org/officeDocument/2006/relationships/notesSlide"/></Relationships>
</file>

<file path=ppt/slides/_rels/slide26.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26.xml" Type="http://schemas.openxmlformats.org/officeDocument/2006/relationships/notesSlide"/></Relationships>
</file>

<file path=ppt/slides/_rels/slide27.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27.xml" Type="http://schemas.openxmlformats.org/officeDocument/2006/relationships/notesSlide"/><Relationship Id="rId3" Target="../media/image5.png" Type="http://schemas.openxmlformats.org/officeDocument/2006/relationships/image"/></Relationships>
</file>

<file path=ppt/slides/_rels/slide28.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28.xml" Type="http://schemas.openxmlformats.org/officeDocument/2006/relationships/notesSlide"/></Relationships>
</file>

<file path=ppt/slides/_rels/slide29.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29.xml" Type="http://schemas.openxmlformats.org/officeDocument/2006/relationships/notesSlide"/></Relationships>
</file>

<file path=ppt/slides/_rels/slide30.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30.xml" Type="http://schemas.openxmlformats.org/officeDocument/2006/relationships/notesSlide"/></Relationships>
</file>

<file path=ppt/slides/_rels/slide31.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31.xml" Type="http://schemas.openxmlformats.org/officeDocument/2006/relationships/notesSlide"/></Relationships>
</file>

<file path=ppt/slides/_rels/slide32.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32.xml" Type="http://schemas.openxmlformats.org/officeDocument/2006/relationships/notesSlide"/></Relationships>
</file>

<file path=ppt/slides/_rels/slide33.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33.xml" Type="http://schemas.openxmlformats.org/officeDocument/2006/relationships/notesSlide"/></Relationships>
</file>

<file path=ppt/slides/_rels/slide34.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34.xml" Type="http://schemas.openxmlformats.org/officeDocument/2006/relationships/notesSlide"/><Relationship Id="rId3" Target="http://wwww.com" TargetMode="External" Type="http://schemas.openxmlformats.org/officeDocument/2006/relationships/hyperlink"/></Relationships>
</file>

<file path=ppt/slides/_rels/slide35.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35.xml" Type="http://schemas.openxmlformats.org/officeDocument/2006/relationships/notesSlide"/><Relationship Id="rId3" Target="http://wwww.com" TargetMode="External" Type="http://schemas.openxmlformats.org/officeDocument/2006/relationships/hyperlink"/></Relationships>
</file>

<file path=ppt/slides/_rels/slide36.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36.xml" Type="http://schemas.openxmlformats.org/officeDocument/2006/relationships/notesSlide"/></Relationships>
</file>

<file path=ppt/slides/_rels/slide37.xml.rels><?xml version="1.0" encoding="UTF-8" standalone="yes"?><Relationships xmlns="http://schemas.openxmlformats.org/package/2006/relationships"><Relationship Id="rId1" Target="../slideLayouts/slideLayout1.xml" Type="http://schemas.openxmlformats.org/officeDocument/2006/relationships/slideLayout"/><Relationship Id="rId2" Target="../notesSlides/notesSlide37.xml" Type="http://schemas.openxmlformats.org/officeDocument/2006/relationships/notesSlide"/></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Shape 66"/>
        <p:cNvGrpSpPr/>
        <p:nvPr/>
      </p:nvGrpSpPr>
      <p:grpSpPr>
        <a:xfrm>
          <a:off x="0" y="0"/>
          <a:ext cx="0" cy="0"/>
          <a:chOff x="0" y="0"/>
          <a:chExt cx="0" cy="0"/>
        </a:xfrm>
      </p:grpSpPr>
      <p:sp>
        <p:nvSpPr>
          <p:cNvPr id="67" name="Google Shape;67;p13"/>
          <p:cNvSpPr txBox="1">
            <a:spLocks noGrp="1"/>
          </p:cNvSpPr>
          <p:nvPr>
            <p:ph idx="1" type="subTitle"/>
          </p:nvPr>
        </p:nvSpPr>
        <p:spPr>
          <a:xfrm>
            <a:off x="1131085" y="3533551"/>
            <a:ext cx="3876000" cy="559800"/>
          </a:xfrm>
          <a:prstGeom prst="rect">
            <a:avLst/>
          </a:prstGeom>
        </p:spPr>
        <p:txBody>
          <a:bodyPr anchor="t" anchorCtr="0" bIns="91425" lIns="91425" rIns="91425" spcFirstLastPara="1" tIns="91425" wrap="square">
            <a:noAutofit/>
          </a:bodyPr>
          <a:lstStyle/>
          <a:p>
            <a:pPr algn="l" indent="0" lvl="0" marL="0" rtl="0">
              <a:spcBef>
                <a:spcPts val="0"/>
              </a:spcBef>
              <a:spcAft>
                <a:spcPts val="0"/>
              </a:spcAft>
              <a:buClr>
                <a:schemeClr val="dk1"/>
              </a:buClr>
              <a:buSzPts val="1100"/>
              <a:buFont typeface="Arial"/>
              <a:buNone/>
            </a:pPr>
            <a:r>
              <a:rPr b="0" lang="en">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algn="l" indent="0" lvl="0" marL="0"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idx="2" type="subTitle"/>
          </p:nvPr>
        </p:nvSpPr>
        <p:spPr>
          <a:xfrm>
            <a:off x="1131085" y="3996734"/>
            <a:ext cx="3876000" cy="559800"/>
          </a:xfrm>
          <a:prstGeom prst="rect">
            <a:avLst/>
          </a:prstGeom>
        </p:spPr>
        <p:txBody>
          <a:bodyPr anchor="t" anchorCtr="0" bIns="91425" lIns="91425" rIns="91425" spcFirstLastPara="1" tIns="91425" wrap="square">
            <a:noAutofit/>
          </a:bodyPr>
          <a:lstStyle/>
          <a:p>
            <a:pPr algn="l" indent="0" lvl="0" marL="0" rtl="0">
              <a:spcBef>
                <a:spcPts val="0"/>
              </a:spcBef>
              <a:spcAft>
                <a:spcPts val="1600"/>
              </a:spcAft>
              <a:buNone/>
            </a:pPr>
            <a:r>
              <a:rPr dirty="0" lang="en">
                <a:latin typeface="Verdana"/>
                <a:ea typeface="Verdana"/>
                <a:cs typeface="Verdana"/>
                <a:sym typeface="Verdana"/>
              </a:rPr>
              <a:t/>
            </a:r>
            <a:r>
              <a:rPr b="0" dirty="0" err="1" lang="en">
                <a:latin typeface="Verdana"/>
                <a:ea typeface="Verdana"/>
                <a:cs typeface="Verdana"/>
                <a:sym typeface="Verdana"/>
              </a:rPr>
              <a:t>clientBusinessName</a:t>
            </a:r>
            <a:r>
              <a:rPr dirty="0" lang="en">
                <a:latin typeface="Verdana"/>
                <a:ea typeface="Verdana"/>
                <a:cs typeface="Verdana"/>
                <a:sym typeface="Verdana"/>
              </a:rPr>
              <a:t/>
            </a:r>
            <a:endParaRPr dirty="0">
              <a:latin typeface="Verdana"/>
              <a:ea typeface="Verdana"/>
              <a:cs typeface="Verdana"/>
              <a:sym typeface="Verdana"/>
            </a:endParaRPr>
          </a:p>
        </p:txBody>
      </p:sp>
      <p:sp>
        <p:nvSpPr>
          <p:cNvPr id="69" name="Google Shape;69;p13"/>
          <p:cNvSpPr txBox="1">
            <a:spLocks noGrp="1"/>
          </p:cNvSpPr>
          <p:nvPr>
            <p:ph idx="3" type="subTitle"/>
          </p:nvPr>
        </p:nvSpPr>
        <p:spPr>
          <a:xfrm>
            <a:off x="1131075" y="5284026"/>
            <a:ext cx="3876000" cy="559800"/>
          </a:xfrm>
          <a:prstGeom prst="rect">
            <a:avLst/>
          </a:prstGeom>
        </p:spPr>
        <p:txBody>
          <a:bodyPr anchor="t" anchorCtr="0" bIns="91425" lIns="91425" rIns="91425" spcFirstLastPara="1" tIns="91425" wrap="square">
            <a:noAutofit/>
          </a:bodyPr>
          <a:lstStyle/>
          <a:p>
            <a:pPr algn="l" indent="0" lvl="0" marL="0" rtl="0">
              <a:spcBef>
                <a:spcPts val="0"/>
              </a:spcBef>
              <a:spcAft>
                <a:spcPts val="0"/>
              </a:spcAft>
              <a:buNone/>
            </a:pPr>
            <a:r>
              <a:rPr dirty="0" lang="en">
                <a:latin typeface="Verdana"/>
                <a:ea typeface="Verdana"/>
                <a:cs typeface="Verdana"/>
                <a:sym typeface="Verdana"/>
              </a:rPr>
              <a:t/>
            </a:r>
            <a:r>
              <a:rPr b="0" dirty="0" err="1" lang="en">
                <a:latin typeface="Verdana"/>
                <a:ea typeface="Verdana"/>
                <a:cs typeface="Verdana"/>
                <a:sym typeface="Verdana"/>
              </a:rPr>
              <a:t>portfolioManagerName</a:t>
            </a:r>
            <a:r>
              <a:rPr dirty="0" lang="en">
                <a:latin typeface="Verdana"/>
                <a:ea typeface="Verdana"/>
                <a:cs typeface="Verdana"/>
                <a:sym typeface="Verdana"/>
              </a:rPr>
              <a:t/>
            </a:r>
            <a:endParaRPr dirty="0">
              <a:latin typeface="Verdana"/>
              <a:ea typeface="Verdana"/>
              <a:cs typeface="Verdana"/>
              <a:sym typeface="Verdana"/>
            </a:endParaRPr>
          </a:p>
          <a:p>
            <a:pPr algn="l" indent="0" lvl="0" marL="0"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idx="12" type="sldNum"/>
          </p:nvPr>
        </p:nvSpPr>
        <p:spPr>
          <a:xfrm>
            <a:off x="8472458" y="6632131"/>
            <a:ext cx="548700" cy="559800"/>
          </a:xfrm>
          <a:prstGeom prst="rect">
            <a:avLst/>
          </a:prstGeom>
        </p:spPr>
        <p:txBody>
          <a:bodyPr anchor="ctr" anchorCtr="0" bIns="91425" lIns="91425" rIns="91425" spcFirstLastPara="1" tIns="91425" wrap="square">
            <a:noAutofit/>
          </a:bodyPr>
          <a:lstStyle/>
          <a:p>
            <a:pPr algn="r" indent="0" lvl="0" marL="0" rtl="0">
              <a:spcBef>
                <a:spcPts val="0"/>
              </a:spcBef>
              <a:spcAft>
                <a:spcPts val="0"/>
              </a:spcAft>
              <a:buNone/>
            </a:pPr>
            <a:fld id="{00000000-1234-1234-1234-123412341234}" type="slidenum">
              <a:rPr lang="en"/>
              <a:t>1</a:t>
            </a:fld>
            <a:endParaRPr/>
          </a:p>
        </p:txBody>
      </p:sp>
      <p:sp>
        <p:nvSpPr>
          <p:cNvPr id="71" name="Google Shape;71;p13"/>
          <p:cNvSpPr txBox="1">
            <a:spLocks noGrp="1"/>
          </p:cNvSpPr>
          <p:nvPr>
            <p:ph idx="3" type="subTitle"/>
          </p:nvPr>
        </p:nvSpPr>
        <p:spPr>
          <a:xfrm>
            <a:off x="1131075" y="5724550"/>
            <a:ext cx="1890300" cy="559800"/>
          </a:xfrm>
          <a:prstGeom prst="rect">
            <a:avLst/>
          </a:prstGeom>
        </p:spPr>
        <p:txBody>
          <a:bodyPr anchor="t" anchorCtr="0" bIns="91425" lIns="91425" rIns="91425" spcFirstLastPara="1" tIns="91425" wrap="square">
            <a:noAutofit/>
          </a:bodyPr>
          <a:lstStyle/>
          <a:p>
            <a:pPr algn="l" indent="0" lvl="0" marL="0" rtl="0">
              <a:spcBef>
                <a:spcPts val="0"/>
              </a:spcBef>
              <a:spcAft>
                <a:spcPts val="0"/>
              </a:spcAft>
              <a:buNone/>
            </a:pPr>
            <a:r>
              <a:rPr dirty="0" lang="en">
                <a:latin typeface="Verdana"/>
                <a:ea typeface="Verdana"/>
                <a:cs typeface="Verdana"/>
                <a:sym typeface="Verdana"/>
              </a:rPr>
              <a:t/>
            </a:r>
            <a:r>
              <a:rPr b="0" dirty="0" lang="en">
                <a:latin typeface="Verdana"/>
                <a:ea typeface="Verdana"/>
                <a:cs typeface="Verdana"/>
                <a:sym typeface="Verdana"/>
              </a:rPr>
              <a:t>station</a:t>
            </a:r>
            <a:r>
              <a:rPr dirty="0" lang="en">
                <a:latin typeface="Verdana"/>
                <a:ea typeface="Verdana"/>
                <a:cs typeface="Verdana"/>
                <a:sym typeface="Verdana"/>
              </a:rPr>
              <a:t/>
            </a:r>
            <a:endParaRPr dirty="0">
              <a:latin typeface="Verdana"/>
              <a:ea typeface="Verdana"/>
              <a:cs typeface="Verdana"/>
              <a:sym typeface="Verdana"/>
            </a:endParaRPr>
          </a:p>
          <a:p>
            <a:pPr algn="l" indent="0" lvl="0" marL="0"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dirty="0" lang="en"/>
              <a:t>Team Commitment</a:t>
            </a:r>
            <a:endParaRPr dirty="0"/>
          </a:p>
        </p:txBody>
      </p:sp>
      <p:sp>
        <p:nvSpPr>
          <p:cNvPr id="77" name="Google Shape;77;p14"/>
          <p:cNvSpPr txBox="1">
            <a:spLocks noGrp="1"/>
          </p:cNvSpPr>
          <p:nvPr>
            <p:ph idx="1" type="body"/>
          </p:nvPr>
        </p:nvSpPr>
        <p:spPr>
          <a:xfrm>
            <a:off x="458400" y="2172253"/>
            <a:ext cx="8227200" cy="917400"/>
          </a:xfrm>
          <a:prstGeom prst="rect">
            <a:avLst/>
          </a:prstGeom>
        </p:spPr>
        <p:txBody>
          <a:bodyPr anchor="t" anchorCtr="0" bIns="91425" lIns="91425" rIns="91425" spcFirstLastPara="1" tIns="91425" wrap="square">
            <a:noAutofit/>
          </a:bodyPr>
          <a:lstStyle/>
          <a:p>
            <a:pPr algn="l" indent="0" lvl="0" marL="0"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algn="l" indent="0" lvl="0" marL="0"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anchor="t" anchorCtr="0" bIns="91425" lIns="91425" rIns="91425" spcFirstLastPara="1" tIns="91425" wrap="square">
            <a:noAutofit/>
          </a:bodyPr>
          <a:lstStyle/>
          <a:p>
            <a:pPr algn="ctr" indent="0" lvl="0" marL="0" rtl="0">
              <a:spcBef>
                <a:spcPts val="0"/>
              </a:spcBef>
              <a:spcAft>
                <a:spcPts val="0"/>
              </a:spcAft>
              <a:buNone/>
            </a:pPr>
            <a:r>
              <a:rPr b="1" lang="en" sz="1550">
                <a:latin typeface="Verdana"/>
                <a:ea typeface="Verdana"/>
                <a:cs typeface="Verdana"/>
                <a:sym typeface="Verdana"/>
              </a:rPr>
              <a:t>The following proposal will be submitted to</a:t>
            </a:r>
            <a:endParaRPr b="1" sz="1550">
              <a:latin typeface="Verdana"/>
              <a:ea typeface="Verdana"/>
              <a:cs typeface="Verdana"/>
              <a:sym typeface="Verdana"/>
            </a:endParaRPr>
          </a:p>
          <a:p>
            <a:pPr algn="ctr" indent="0" lvl="0" marL="0" rtl="0">
              <a:spcBef>
                <a:spcPts val="0"/>
              </a:spcBef>
              <a:spcAft>
                <a:spcPts val="0"/>
              </a:spcAft>
              <a:buNone/>
            </a:pPr>
            <a:r>
              <a:rPr b="1" lang="en" sz="1550">
                <a:latin typeface="Verdana"/>
                <a:ea typeface="Verdana"/>
                <a:cs typeface="Verdana"/>
                <a:sym typeface="Verdana"/>
              </a:rPr>
              <a:t>clientBusinessName</a:t>
            </a:r>
            <a:endParaRPr b="1" sz="1550">
              <a:latin typeface="Verdana"/>
              <a:ea typeface="Verdana"/>
              <a:cs typeface="Verdana"/>
              <a:sym typeface="Verdana"/>
            </a:endParaRPr>
          </a:p>
        </p:txBody>
      </p:sp>
      <p:sp>
        <p:nvSpPr>
          <p:cNvPr id="79" name="Google Shape;79;p14"/>
          <p:cNvSpPr txBox="1">
            <a:spLocks noGrp="1"/>
          </p:cNvSpPr>
          <p:nvPr>
            <p:ph idx="2" type="body"/>
          </p:nvPr>
        </p:nvSpPr>
        <p:spPr>
          <a:xfrm>
            <a:off x="4517626" y="3739896"/>
            <a:ext cx="4078200" cy="2354100"/>
          </a:xfrm>
          <a:prstGeom prst="rect">
            <a:avLst/>
          </a:prstGeom>
        </p:spPr>
        <p:txBody>
          <a:bodyPr anchor="t" anchorCtr="0" bIns="91425" lIns="91425" rIns="91425" spcFirstLastPara="1" tIns="91425" wrap="square">
            <a:noAutofit/>
          </a:bodyPr>
          <a:lstStyle/>
          <a:p>
            <a:pPr algn="ctr" indent="0" lvl="0" marL="0"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algn="ctr" indent="0" lvl="0" marL="0"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algn="ctr" indent="0" lvl="0" marL="0"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algn="ctr" indent="0" lvl="0" marL="0"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algn="ctr" indent="0" lvl="0" marL="0"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idx="2" type="body"/>
          </p:nvPr>
        </p:nvSpPr>
        <p:spPr>
          <a:xfrm>
            <a:off x="493776" y="3739896"/>
            <a:ext cx="4078200" cy="2354100"/>
          </a:xfrm>
          <a:prstGeom prst="rect">
            <a:avLst/>
          </a:prstGeom>
        </p:spPr>
        <p:txBody>
          <a:bodyPr anchor="t" anchorCtr="0" bIns="91425" lIns="91425" rIns="91425" spcFirstLastPara="1" tIns="91425" wrap="square">
            <a:noAutofit/>
          </a:bodyPr>
          <a:lstStyle/>
          <a:p>
            <a:pPr algn="ctr" indent="0" lvl="0" marL="0"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algn="ctr" indent="0" lvl="0" marL="0"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algn="ctr" indent="0" lvl="0" marL="0"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algn="ctr" indent="0" lvl="0" marL="0"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algn="l" indent="0" lvl="0" marL="0" rtl="0">
              <a:spcBef>
                <a:spcPts val="1600"/>
              </a:spcBef>
              <a:spcAft>
                <a:spcPts val="0"/>
              </a:spcAft>
              <a:buClr>
                <a:schemeClr val="dk1"/>
              </a:buClr>
              <a:buSzPts val="1100"/>
              <a:buFont typeface="Arial"/>
              <a:buNone/>
            </a:pPr>
            <a:endParaRPr sz="1250">
              <a:solidFill>
                <a:schemeClr val="dk1"/>
              </a:solidFill>
            </a:endParaRPr>
          </a:p>
          <a:p>
            <a:pPr algn="ctr" indent="0" lvl="0" marL="0"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latin typeface="Verdana"/>
                <a:ea typeface="Verdana"/>
                <a:cs typeface="Verdana"/>
                <a:sym typeface="Verdana"/>
              </a:rPr>
              <a:t>1. How long have you been in business?</a:t>
            </a:r>
            <a:endParaRPr b="1" sz="1150">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latin typeface="Verdana"/>
                <a:ea typeface="Verdana"/>
                <a:cs typeface="Verdana"/>
                <a:sym typeface="Verdana"/>
              </a:rPr>
              <a:t>How many locations?</a:t>
            </a:r>
            <a:endParaRPr b="1" sz="1150">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latin typeface="Verdana"/>
                <a:ea typeface="Verdana"/>
                <a:cs typeface="Verdana"/>
                <a:sym typeface="Verdana"/>
              </a:rPr>
              <a:t>Plans to expand?</a:t>
            </a:r>
            <a:endParaRPr b="1" sz="1150">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fmla="val 16667" name="adj"/>
            </a:avLst>
          </a:prstGeom>
          <a:noFill/>
          <a:ln cap="flat" cmpd="sng" w="28575">
            <a:solidFill>
              <a:srgbClr val="000000"/>
            </a:solidFill>
            <a:prstDash val="solid"/>
            <a:round/>
            <a:headEnd len="sm" type="none" w="sm"/>
            <a:tailEnd len="sm" type="none" w="sm"/>
          </a:ln>
        </p:spPr>
        <p:txBody>
          <a:bodyPr anchor="ctr" anchorCtr="0" bIns="91425" lIns="91425" rIns="91425" spcFirstLastPara="1" tIns="91425" wrap="square">
            <a:noAutofit/>
          </a:bodyPr>
          <a:lstStyle/>
          <a:p>
            <a:pPr algn="ctr" indent="0" lvl="0" marL="0" rtl="0">
              <a:spcBef>
                <a:spcPts val="0"/>
              </a:spcBef>
              <a:spcAft>
                <a:spcPts val="0"/>
              </a:spcAft>
              <a:buNone/>
            </a:pPr>
            <a:r>
              <a:rPr b="1" lang="en" sz="1150">
                <a:latin typeface="Verdana"/>
                <a:ea typeface="Verdana"/>
                <a:cs typeface="Verdana"/>
                <a:sym typeface="Verdana"/>
              </a:rPr>
              <a:t>1st Tier</a:t>
            </a:r>
            <a:endParaRPr b="1" sz="1150">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fmla="val 16667" name="adj"/>
            </a:avLst>
          </a:prstGeom>
          <a:noFill/>
          <a:ln cap="flat" cmpd="sng" w="28575">
            <a:solidFill>
              <a:srgbClr val="000000"/>
            </a:solidFill>
            <a:prstDash val="solid"/>
            <a:round/>
            <a:headEnd len="sm" type="none" w="sm"/>
            <a:tailEnd len="sm" type="none" w="sm"/>
          </a:ln>
        </p:spPr>
        <p:txBody>
          <a:bodyPr anchor="ctr" anchorCtr="0" bIns="91425" lIns="91425" rIns="91425" spcFirstLastPara="1" tIns="91425" wrap="square">
            <a:noAutofit/>
          </a:bodyPr>
          <a:lstStyle/>
          <a:p>
            <a:pPr algn="ctr" indent="0" lvl="0" marL="0" rtl="0">
              <a:spcBef>
                <a:spcPts val="0"/>
              </a:spcBef>
              <a:spcAft>
                <a:spcPts val="0"/>
              </a:spcAft>
              <a:buNone/>
            </a:pPr>
            <a:r>
              <a:rPr b="1" lang="en" sz="1150">
                <a:latin typeface="Verdana"/>
                <a:ea typeface="Verdana"/>
                <a:cs typeface="Verdana"/>
                <a:sym typeface="Verdana"/>
              </a:rPr>
              <a:t>3rd Tier</a:t>
            </a:r>
            <a:endParaRPr b="1" sz="1150">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fmla="val 16667" name="adj"/>
            </a:avLst>
          </a:prstGeom>
          <a:noFill/>
          <a:ln cap="flat" cmpd="sng" w="28575">
            <a:solidFill>
              <a:srgbClr val="000000"/>
            </a:solidFill>
            <a:prstDash val="solid"/>
            <a:round/>
            <a:headEnd len="sm" type="none" w="sm"/>
            <a:tailEnd len="sm" type="none" w="sm"/>
          </a:ln>
        </p:spPr>
        <p:txBody>
          <a:bodyPr anchor="ctr" anchorCtr="0" bIns="91425" lIns="91425" rIns="91425" spcFirstLastPara="1" tIns="91425" wrap="square">
            <a:noAutofit/>
          </a:bodyPr>
          <a:lstStyle/>
          <a:p>
            <a:pPr algn="ctr" indent="0" lvl="0" marL="0" rtl="0">
              <a:spcBef>
                <a:spcPts val="0"/>
              </a:spcBef>
              <a:spcAft>
                <a:spcPts val="0"/>
              </a:spcAft>
              <a:buNone/>
            </a:pPr>
            <a:r>
              <a:rPr b="1" lang="en" sz="1150">
                <a:latin typeface="Verdana"/>
                <a:ea typeface="Verdana"/>
                <a:cs typeface="Verdana"/>
                <a:sym typeface="Verdana"/>
              </a:rPr>
              <a:t>2nd Tier</a:t>
            </a:r>
            <a:endParaRPr b="1" sz="115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fmla="val 16667" name="adj"/>
            </a:avLst>
          </a:prstGeom>
          <a:noFill/>
          <a:ln cap="flat" cmpd="sng" w="28575">
            <a:solidFill>
              <a:srgbClr val="000000"/>
            </a:solidFill>
            <a:prstDash val="solid"/>
            <a:round/>
            <a:headEnd len="sm" type="none" w="sm"/>
            <a:tailEnd len="sm" type="none" w="sm"/>
          </a:ln>
        </p:spPr>
        <p:txBody>
          <a:bodyPr anchor="ctr" anchorCtr="0" bIns="91425" lIns="91425" rIns="91425" spcFirstLastPara="1" tIns="91425" wrap="square">
            <a:noAutofit/>
          </a:bodyPr>
          <a:lstStyle/>
          <a:p>
            <a:pPr algn="ctr" indent="0" lvl="0" marL="0" rtl="0">
              <a:spcBef>
                <a:spcPts val="0"/>
              </a:spcBef>
              <a:spcAft>
                <a:spcPts val="0"/>
              </a:spcAft>
              <a:buNone/>
            </a:pPr>
            <a:r>
              <a:rPr b="1" lang="en" sz="1150">
                <a:latin typeface="Verdana"/>
                <a:ea typeface="Verdana"/>
                <a:cs typeface="Verdana"/>
                <a:sym typeface="Verdana"/>
              </a:rPr>
              <a:t>4th Tier</a:t>
            </a:r>
            <a:endParaRPr b="1" sz="1150">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algn="l" indent="0" lvl="0" marL="0"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anchor="ctr" anchorCtr="0" bIns="91425" lIns="91425" rIns="91425" spcFirstLastPara="1" tIns="91425" wrap="square">
            <a:noAutofit/>
          </a:bodyPr>
          <a:lstStyle/>
          <a:p>
            <a:pPr algn="l" indent="0" lvl="0" marL="0"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algn="l" indent="0" lvl="0" marL="0"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latin typeface="Verdana"/>
                <a:ea typeface="Verdana"/>
                <a:cs typeface="Verdana"/>
                <a:sym typeface="Verdana"/>
              </a:rPr>
              <a:t>A. What are their strengths?</a:t>
            </a:r>
            <a:endParaRPr b="1" sz="1150">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latin typeface="Verdana"/>
                <a:ea typeface="Verdana"/>
                <a:cs typeface="Verdana"/>
                <a:sym typeface="Verdana"/>
              </a:rPr>
              <a:t>B. What are their weakness?</a:t>
            </a:r>
            <a:endParaRPr b="1" sz="1150">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anchor="t"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
            </a:r>
            <a:r>
              <a:rPr i="1" lang="en" sz="1150">
                <a:latin typeface="Verdana"/>
                <a:ea typeface="Verdana"/>
                <a:cs typeface="Verdana"/>
                <a:sym typeface="Verdana"/>
              </a:rPr>
              <a:t>competitionStrengthA</a:t>
            </a:r>
            <a:endParaRPr i="1" sz="1150">
              <a:latin typeface="Verdana"/>
              <a:ea typeface="Verdana"/>
              <a:cs typeface="Verdana"/>
              <a:sym typeface="Verdana"/>
            </a:endParaRPr>
          </a:p>
          <a:p>
            <a:pPr algn="l" indent="0" lvl="0" marL="0"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anchor="t"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
            </a:r>
            <a:r>
              <a:rPr i="1" lang="en" sz="1150">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anchor="t"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
            </a:r>
            <a:r>
              <a:rPr i="1" lang="en" sz="1150">
                <a:latin typeface="Verdana"/>
                <a:ea typeface="Verdana"/>
                <a:cs typeface="Verdana"/>
                <a:sym typeface="Verdana"/>
              </a:rPr>
              <a:t>competitionWeaknessA</a:t>
            </a:r>
            <a:endParaRPr i="1" sz="1150">
              <a:latin typeface="Verdana"/>
              <a:ea typeface="Verdana"/>
              <a:cs typeface="Verdana"/>
              <a:sym typeface="Verdana"/>
            </a:endParaRPr>
          </a:p>
          <a:p>
            <a:pPr algn="l" indent="0" lvl="0" marL="0"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anchor="t" anchorCtr="0" bIns="91425" lIns="91425" rIns="91425" spcFirstLastPara="1" tIns="91425" wrap="square">
            <a:noAutofit/>
          </a:bodyPr>
          <a:lstStyle/>
          <a:p>
            <a:pPr algn="l" indent="0" lvl="0" marL="0" marR="114300"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
            </a:r>
            <a:r>
              <a:rPr i="1" lang="en" sz="1150">
                <a:latin typeface="Verdana"/>
                <a:ea typeface="Verdana"/>
                <a:cs typeface="Verdana"/>
                <a:sym typeface="Verdana"/>
              </a:rPr>
              <a:t>competitionWeaknessB</a:t>
            </a:r>
            <a:endParaRPr sz="1150">
              <a:latin typeface="Verdana"/>
              <a:ea typeface="Verdana"/>
              <a:cs typeface="Verdana"/>
              <a:sym typeface="Verdana"/>
            </a:endParaRPr>
          </a:p>
          <a:p>
            <a:pPr algn="l" indent="0" lvl="0" marL="152400" marR="152400"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algn="l" indent="0" lvl="0" marL="0"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00">
                <a:solidFill>
                  <a:schemeClr val="dk1"/>
                </a:solidFill>
                <a:latin typeface="Verdana"/>
                <a:ea typeface="Verdana"/>
                <a:cs typeface="Verdana"/>
                <a:sym typeface="Verdana"/>
              </a:rPr>
              <a:t/>
            </a:r>
            <a:r>
              <a:rPr i="1" lang="en" sz="1150">
                <a:solidFill>
                  <a:schemeClr val="dk1"/>
                </a:solidFill>
                <a:latin typeface="Verdana"/>
                <a:ea typeface="Verdana"/>
                <a:cs typeface="Verdana"/>
                <a:sym typeface="Verdana"/>
              </a:rPr>
              <a:t>numberOfLocations</a:t>
            </a:r>
            <a:r>
              <a:rPr lang="en" sz="1100">
                <a:solidFill>
                  <a:schemeClr val="dk1"/>
                </a:solidFill>
                <a:latin typeface="Verdana"/>
                <a:ea typeface="Verdana"/>
                <a:cs typeface="Verdana"/>
                <a:sym typeface="Verdana"/>
              </a:rPr>
              <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00">
                <a:solidFill>
                  <a:schemeClr val="dk1"/>
                </a:solidFill>
                <a:latin typeface="Verdana"/>
                <a:ea typeface="Verdana"/>
                <a:cs typeface="Verdana"/>
                <a:sym typeface="Verdana"/>
              </a:rPr>
              <a:t/>
            </a:r>
            <a:r>
              <a:rPr i="1" lang="en" sz="1150">
                <a:solidFill>
                  <a:schemeClr val="dk1"/>
                </a:solidFill>
                <a:latin typeface="Verdana"/>
                <a:ea typeface="Verdana"/>
                <a:cs typeface="Verdana"/>
                <a:sym typeface="Verdana"/>
              </a:rPr>
              <a:t>planToExpand</a:t>
            </a:r>
            <a:r>
              <a:rPr lang="en" sz="1100">
                <a:solidFill>
                  <a:schemeClr val="dk1"/>
                </a:solidFill>
                <a:latin typeface="Verdana"/>
                <a:ea typeface="Verdana"/>
                <a:cs typeface="Verdana"/>
                <a:sym typeface="Verdana"/>
              </a:rPr>
              <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anchor="t" anchorCtr="0" bIns="91425" lIns="91425" rIns="91425" spcFirstLastPara="1" tIns="91425" wrap="square">
            <a:noAutofit/>
          </a:bodyPr>
          <a:lstStyle/>
          <a:p>
            <a:pPr algn="l" indent="0" lvl="0" marL="0"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
            </a:r>
            <a:r>
              <a:rPr i="1" lang="en" sz="1150">
                <a:solidFill>
                  <a:schemeClr val="dk1"/>
                </a:solidFill>
                <a:latin typeface="Verdana"/>
                <a:ea typeface="Verdana"/>
                <a:cs typeface="Verdana"/>
                <a:sym typeface="Verdana"/>
              </a:rPr>
              <a:t>secondTierBusiness</a:t>
            </a:r>
            <a:endParaRPr i="1" sz="1150">
              <a:solidFill>
                <a:schemeClr val="dk1"/>
              </a:solidFill>
              <a:latin typeface="Verdana"/>
              <a:ea typeface="Verdana"/>
              <a:cs typeface="Verdana"/>
              <a:sym typeface="Verdana"/>
            </a:endParaRPr>
          </a:p>
          <a:p>
            <a:pPr algn="l" indent="0" lvl="0" marL="0"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algn="l" indent="0" lvl="0" marL="0"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anchor="ctr" anchorCtr="0" bIns="91425" lIns="91425" rIns="91425" spcFirstLastPara="1" tIns="91425" wrap="square">
            <a:noAutofit/>
          </a:bodyPr>
          <a:lstStyle/>
          <a:p>
            <a:pPr algn="l" indent="0" lvl="0" marL="0" rtl="0">
              <a:lnSpc>
                <a:spcPct val="115000"/>
              </a:lnSpc>
              <a:spcBef>
                <a:spcPts val="0"/>
              </a:spcBef>
              <a:spcAft>
                <a:spcPts val="0"/>
              </a:spcAft>
              <a:buNone/>
            </a:pPr>
            <a:r>
              <a:rPr lang="en" sz="1150">
                <a:solidFill>
                  <a:schemeClr val="dk1"/>
                </a:solidFill>
                <a:latin typeface="Verdana"/>
                <a:ea typeface="Verdana"/>
                <a:cs typeface="Verdana"/>
                <a:sym typeface="Verdana"/>
              </a:rPr>
              <a:t/>
            </a:r>
            <a:r>
              <a:rPr i="1" lang="en" sz="1150">
                <a:solidFill>
                  <a:schemeClr val="dk1"/>
                </a:solidFill>
                <a:latin typeface="Verdana"/>
                <a:ea typeface="Verdana"/>
                <a:cs typeface="Verdana"/>
                <a:sym typeface="Verdana"/>
              </a:rPr>
              <a:t>firstTierBusiness</a:t>
            </a:r>
            <a:endParaRPr i="1" sz="1150">
              <a:solidFill>
                <a:schemeClr val="dk1"/>
              </a:solidFill>
              <a:latin typeface="Verdana"/>
              <a:ea typeface="Verdana"/>
              <a:cs typeface="Verdana"/>
              <a:sym typeface="Verdana"/>
            </a:endParaRPr>
          </a:p>
          <a:p>
            <a:pPr algn="l" indent="0" lvl="0" marL="0"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i="1" sz="1150">
              <a:solidFill>
                <a:schemeClr val="dk1"/>
              </a:solidFill>
              <a:latin typeface="Verdana"/>
              <a:ea typeface="Verdana"/>
              <a:cs typeface="Verdana"/>
              <a:sym typeface="Verdana"/>
            </a:endParaRPr>
          </a:p>
        </p:txBody>
      </p:sp>
      <p:sp>
        <p:nvSpPr>
          <p:cNvPr id="106" name="Google Shape;106;p15"/>
          <p:cNvSpPr txBox="1">
            <a:spLocks noGrp="1"/>
          </p:cNvSpPr>
          <p:nvPr>
            <p:ph idx="1" type="body"/>
          </p:nvPr>
        </p:nvSpPr>
        <p:spPr>
          <a:xfrm>
            <a:off x="365760" y="5860879"/>
            <a:ext cx="8227200" cy="429900"/>
          </a:xfrm>
          <a:prstGeom prst="rect">
            <a:avLst/>
          </a:prstGeom>
        </p:spPr>
        <p:txBody>
          <a:bodyPr anchor="t" anchorCtr="0" bIns="91425" lIns="91425" rIns="91425" spcFirstLastPara="1" tIns="91425" wrap="square">
            <a:noAutofit/>
          </a:bodyPr>
          <a:lstStyle/>
          <a:p>
            <a:pPr algn="l" indent="0" lvl="0" marL="0" rtl="0">
              <a:spcBef>
                <a:spcPts val="0"/>
              </a:spcBef>
              <a:spcAft>
                <a:spcPts val="1600"/>
              </a:spcAft>
              <a:buNone/>
            </a:pPr>
            <a:r>
              <a:rPr b="1" lang="en">
                <a:solidFill>
                  <a:srgbClr val="000000"/>
                </a:solidFill>
              </a:rPr>
              <a:t>3. </a:t>
            </a:r>
            <a:r>
              <a:rPr b="1" lang="en" sz="1150">
                <a:solidFill>
                  <a:srgbClr val="000000"/>
                </a:solidFill>
                <a:latin typeface="Verdana"/>
                <a:ea typeface="Verdana"/>
                <a:cs typeface="Verdana"/>
                <a:sym typeface="Verdana"/>
              </a:rPr>
              <a:t>What are the biggest misconceptions consumers have about </a:t>
            </a:r>
            <a:r>
              <a:rPr b="1" lang="en">
                <a:solidFill>
                  <a:srgbClr val="000000"/>
                </a:solidFill>
              </a:rPr>
              <a:t>your </a:t>
            </a:r>
            <a:r>
              <a:rPr b="1" lang="en" sz="1150">
                <a:solidFill>
                  <a:srgbClr val="000000"/>
                </a:solidFill>
                <a:latin typeface="Verdana"/>
                <a:ea typeface="Verdana"/>
                <a:cs typeface="Verdana"/>
                <a:sym typeface="Verdana"/>
              </a:rPr>
              <a:t>business?</a:t>
            </a:r>
            <a:endParaRPr b="1" sz="1150">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anchor="t" anchorCtr="0" bIns="91425" lIns="91425" rIns="91425" spcFirstLastPara="1" tIns="91425" wrap="square">
            <a:noAutofit/>
          </a:bodyPr>
          <a:lstStyle/>
          <a:p>
            <a:pPr algn="l" indent="0" lvl="0" marL="0"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latin typeface="Verdana"/>
                <a:ea typeface="Verdana"/>
                <a:cs typeface="Verdana"/>
                <a:sym typeface="Verdana"/>
              </a:rPr>
              <a:t>2. Who is the main competition?</a:t>
            </a:r>
            <a:endParaRPr b="1" sz="1150">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anchor="t"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anchor="t"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Strategic Marketing I</a:t>
            </a:r>
            <a:endParaRPr/>
          </a:p>
        </p:txBody>
      </p:sp>
      <p:sp>
        <p:nvSpPr>
          <p:cNvPr id="116" name="Google Shape;116;p16"/>
          <p:cNvSpPr txBox="1">
            <a:spLocks noGrp="1"/>
          </p:cNvSpPr>
          <p:nvPr>
            <p:ph idx="1" type="body"/>
          </p:nvPr>
        </p:nvSpPr>
        <p:spPr>
          <a:xfrm>
            <a:off x="365750" y="1170424"/>
            <a:ext cx="8227200" cy="385200"/>
          </a:xfrm>
          <a:prstGeom prst="rect">
            <a:avLst/>
          </a:prstGeom>
        </p:spPr>
        <p:txBody>
          <a:bodyPr anchor="t" anchorCtr="0" bIns="91425" lIns="91425" rIns="91425" spcFirstLastPara="1" tIns="91425" wrap="square">
            <a:noAutofit/>
          </a:bodyPr>
          <a:lstStyle/>
          <a:p>
            <a:pPr algn="l" indent="0" lvl="0" marL="0" rtl="0">
              <a:spcBef>
                <a:spcPts val="0"/>
              </a:spcBef>
              <a:spcAft>
                <a:spcPts val="0"/>
              </a:spcAft>
              <a:buClr>
                <a:schemeClr val="dk1"/>
              </a:buClr>
              <a:buSzPts val="1100"/>
              <a:buFont typeface="Arial"/>
              <a:buNone/>
            </a:pPr>
            <a:r>
              <a:rPr b="1" lang="en">
                <a:solidFill>
                  <a:schemeClr val="dk1"/>
                </a:solidFill>
              </a:rPr>
              <a:t>4. If you had the power to improve three things in your marketing, what would they be in order?</a:t>
            </a:r>
            <a:endParaRPr b="1">
              <a:solidFill>
                <a:schemeClr val="dk1"/>
              </a:solidFill>
            </a:endParaRPr>
          </a:p>
          <a:p>
            <a:pPr algn="l" indent="0" lvl="0" marL="0" rtl="0">
              <a:spcBef>
                <a:spcPts val="1600"/>
              </a:spcBef>
              <a:spcAft>
                <a:spcPts val="0"/>
              </a:spcAft>
              <a:buNone/>
            </a:pPr>
            <a:endParaRPr b="1">
              <a:solidFill>
                <a:srgbClr val="000000"/>
              </a:solidFill>
            </a:endParaRPr>
          </a:p>
        </p:txBody>
      </p:sp>
      <p:sp>
        <p:nvSpPr>
          <p:cNvPr id="117" name="Google Shape;117;p16"/>
          <p:cNvSpPr txBox="1">
            <a:spLocks noGrp="1"/>
          </p:cNvSpPr>
          <p:nvPr>
            <p:ph idx="1" type="body"/>
          </p:nvPr>
        </p:nvSpPr>
        <p:spPr>
          <a:xfrm>
            <a:off x="3542250" y="2231136"/>
            <a:ext cx="2059500" cy="385200"/>
          </a:xfrm>
          <a:prstGeom prst="rect">
            <a:avLst/>
          </a:prstGeom>
        </p:spPr>
        <p:txBody>
          <a:bodyPr anchor="t" anchorCtr="0" bIns="91425" lIns="91425" rIns="91425" spcFirstLastPara="1" tIns="91425" wrap="square">
            <a:noAutofit/>
          </a:bodyPr>
          <a:lstStyle/>
          <a:p>
            <a:pPr algn="ctr" indent="0" lvl="0" marL="0" rtl="0">
              <a:spcBef>
                <a:spcPts val="0"/>
              </a:spcBef>
              <a:spcAft>
                <a:spcPts val="1600"/>
              </a:spcAft>
              <a:buNone/>
            </a:pPr>
            <a:r>
              <a:rPr b="1" lang="en" sz="1400">
                <a:solidFill>
                  <a:srgbClr val="000000"/>
                </a:solidFill>
                <a:latin typeface="Verdana"/>
                <a:ea typeface="Verdana"/>
                <a:cs typeface="Verdana"/>
                <a:sym typeface="Verdana"/>
              </a:rPr>
              <a:t>Client Objectives</a:t>
            </a:r>
            <a:endParaRPr b="1" sz="1400">
              <a:solidFill>
                <a:srgbClr val="000000"/>
              </a:solidFill>
              <a:latin typeface="Verdana"/>
              <a:ea typeface="Verdana"/>
              <a:cs typeface="Verdana"/>
              <a:sym typeface="Verdana"/>
            </a:endParaRPr>
          </a:p>
        </p:txBody>
      </p:sp>
      <p:sp>
        <p:nvSpPr>
          <p:cNvPr id="118" name="Google Shape;118;p16"/>
          <p:cNvSpPr txBox="1">
            <a:spLocks noGrp="1"/>
          </p:cNvSpPr>
          <p:nvPr>
            <p:ph idx="1" type="body"/>
          </p:nvPr>
        </p:nvSpPr>
        <p:spPr>
          <a:xfrm>
            <a:off x="365750" y="2505456"/>
            <a:ext cx="2059500" cy="299400"/>
          </a:xfrm>
          <a:prstGeom prst="rect">
            <a:avLst/>
          </a:prstGeom>
        </p:spPr>
        <p:txBody>
          <a:bodyPr anchor="t" anchorCtr="0" bIns="91425" lIns="91425" rIns="91425" spcFirstLastPara="1" tIns="91425" wrap="square">
            <a:noAutofit/>
          </a:bodyPr>
          <a:lstStyle/>
          <a:p>
            <a:pPr algn="l" indent="0" lvl="0" marL="0" rtl="0">
              <a:spcBef>
                <a:spcPts val="0"/>
              </a:spcBef>
              <a:spcAft>
                <a:spcPts val="1600"/>
              </a:spcAft>
              <a:buNone/>
            </a:pPr>
            <a:r>
              <a:rPr b="1" lang="en" sz="1150">
                <a:solidFill>
                  <a:srgbClr val="000000"/>
                </a:solidFill>
                <a:latin typeface="Verdana"/>
                <a:ea typeface="Verdana"/>
                <a:cs typeface="Verdana"/>
                <a:sym typeface="Verdana"/>
              </a:rPr>
              <a:t>PRODUCT/SERVICE</a:t>
            </a:r>
            <a:endParaRPr b="1" sz="1150">
              <a:solidFill>
                <a:srgbClr val="000000"/>
              </a:solidFill>
              <a:latin typeface="Verdana"/>
              <a:ea typeface="Verdana"/>
              <a:cs typeface="Verdana"/>
              <a:sym typeface="Verdana"/>
            </a:endParaRPr>
          </a:p>
        </p:txBody>
      </p:sp>
      <p:sp>
        <p:nvSpPr>
          <p:cNvPr id="119" name="Google Shape;119;p16"/>
          <p:cNvSpPr txBox="1">
            <a:spLocks noGrp="1"/>
          </p:cNvSpPr>
          <p:nvPr>
            <p:ph idx="1" type="body"/>
          </p:nvPr>
        </p:nvSpPr>
        <p:spPr>
          <a:xfrm>
            <a:off x="4871475" y="2505456"/>
            <a:ext cx="2059500" cy="385200"/>
          </a:xfrm>
          <a:prstGeom prst="rect">
            <a:avLst/>
          </a:prstGeom>
        </p:spPr>
        <p:txBody>
          <a:bodyPr anchor="t" anchorCtr="0" bIns="91425" lIns="91425" rIns="91425" spcFirstLastPara="1" tIns="91425" wrap="square">
            <a:noAutofit/>
          </a:bodyPr>
          <a:lstStyle/>
          <a:p>
            <a:pPr algn="l" indent="0" lvl="0" marL="0" rtl="0">
              <a:spcBef>
                <a:spcPts val="0"/>
              </a:spcBef>
              <a:spcAft>
                <a:spcPts val="1600"/>
              </a:spcAft>
              <a:buNone/>
            </a:pPr>
            <a:r>
              <a:rPr b="1" lang="en" sz="1150">
                <a:solidFill>
                  <a:srgbClr val="000000"/>
                </a:solidFill>
                <a:latin typeface="Verdana"/>
                <a:ea typeface="Verdana"/>
                <a:cs typeface="Verdana"/>
                <a:sym typeface="Verdana"/>
              </a:rPr>
              <a:t>CONSUMER</a:t>
            </a:r>
            <a:endParaRPr b="1" sz="1150">
              <a:solidFill>
                <a:srgbClr val="000000"/>
              </a:solidFill>
              <a:latin typeface="Verdana"/>
              <a:ea typeface="Verdana"/>
              <a:cs typeface="Verdana"/>
              <a:sym typeface="Verdana"/>
            </a:endParaRPr>
          </a:p>
        </p:txBody>
      </p:sp>
      <p:sp>
        <p:nvSpPr>
          <p:cNvPr id="120" name="Google Shape;120;p16"/>
          <p:cNvSpPr txBox="1">
            <a:spLocks noGrp="1"/>
          </p:cNvSpPr>
          <p:nvPr>
            <p:ph idx="1" type="body"/>
          </p:nvPr>
        </p:nvSpPr>
        <p:spPr>
          <a:xfrm>
            <a:off x="365738" y="4151376"/>
            <a:ext cx="2059500" cy="301800"/>
          </a:xfrm>
          <a:prstGeom prst="rect">
            <a:avLst/>
          </a:prstGeom>
        </p:spPr>
        <p:txBody>
          <a:bodyPr anchor="t" anchorCtr="0" bIns="91425" lIns="91425" rIns="91425" spcFirstLastPara="1" tIns="91425" wrap="square">
            <a:noAutofit/>
          </a:bodyPr>
          <a:lstStyle/>
          <a:p>
            <a:pPr algn="l" indent="0" lvl="0" marL="0" rtl="0">
              <a:spcBef>
                <a:spcPts val="0"/>
              </a:spcBef>
              <a:spcAft>
                <a:spcPts val="1600"/>
              </a:spcAft>
              <a:buNone/>
            </a:pPr>
            <a:r>
              <a:rPr b="1" lang="en" sz="1150">
                <a:solidFill>
                  <a:srgbClr val="000000"/>
                </a:solidFill>
                <a:latin typeface="Verdana"/>
                <a:ea typeface="Verdana"/>
                <a:cs typeface="Verdana"/>
                <a:sym typeface="Verdana"/>
              </a:rPr>
              <a:t>PROMOTION</a:t>
            </a:r>
            <a:endParaRPr b="1" sz="1150">
              <a:solidFill>
                <a:srgbClr val="000000"/>
              </a:solidFill>
              <a:latin typeface="Verdana"/>
              <a:ea typeface="Verdana"/>
              <a:cs typeface="Verdana"/>
              <a:sym typeface="Verdana"/>
            </a:endParaRPr>
          </a:p>
        </p:txBody>
      </p:sp>
      <p:sp>
        <p:nvSpPr>
          <p:cNvPr id="121" name="Google Shape;121;p16"/>
          <p:cNvSpPr txBox="1">
            <a:spLocks noGrp="1"/>
          </p:cNvSpPr>
          <p:nvPr>
            <p:ph idx="1" type="body"/>
          </p:nvPr>
        </p:nvSpPr>
        <p:spPr>
          <a:xfrm>
            <a:off x="4871463" y="4151376"/>
            <a:ext cx="2059500" cy="301800"/>
          </a:xfrm>
          <a:prstGeom prst="rect">
            <a:avLst/>
          </a:prstGeom>
        </p:spPr>
        <p:txBody>
          <a:bodyPr anchor="t" anchorCtr="0" bIns="91425" lIns="91425" rIns="91425" spcFirstLastPara="1" tIns="91425" wrap="square">
            <a:noAutofit/>
          </a:bodyPr>
          <a:lstStyle/>
          <a:p>
            <a:pPr algn="l" indent="0" lvl="0" marL="0" rtl="0">
              <a:spcBef>
                <a:spcPts val="0"/>
              </a:spcBef>
              <a:spcAft>
                <a:spcPts val="1600"/>
              </a:spcAft>
              <a:buNone/>
            </a:pPr>
            <a:r>
              <a:rPr b="1" lang="en" sz="1150">
                <a:solidFill>
                  <a:srgbClr val="000000"/>
                </a:solidFill>
                <a:latin typeface="Verdana"/>
                <a:ea typeface="Verdana"/>
                <a:cs typeface="Verdana"/>
                <a:sym typeface="Verdana"/>
              </a:rPr>
              <a:t>BRAND</a:t>
            </a:r>
            <a:endParaRPr b="1" sz="1150">
              <a:solidFill>
                <a:srgbClr val="000000"/>
              </a:solidFill>
              <a:latin typeface="Verdana"/>
              <a:ea typeface="Verdana"/>
              <a:cs typeface="Verdana"/>
              <a:sym typeface="Verdana"/>
            </a:endParaRPr>
          </a:p>
        </p:txBody>
      </p:sp>
      <p:sp>
        <p:nvSpPr>
          <p:cNvPr id="122" name="Google Shape;122;p16"/>
          <p:cNvSpPr txBox="1">
            <a:spLocks noGrp="1"/>
          </p:cNvSpPr>
          <p:nvPr>
            <p:ph idx="1" type="body"/>
          </p:nvPr>
        </p:nvSpPr>
        <p:spPr>
          <a:xfrm>
            <a:off x="365760" y="5724144"/>
            <a:ext cx="8227200" cy="429900"/>
          </a:xfrm>
          <a:prstGeom prst="rect">
            <a:avLst/>
          </a:prstGeom>
        </p:spPr>
        <p:txBody>
          <a:bodyPr anchor="t" anchorCtr="0" bIns="91425" lIns="91425" rIns="91425" spcFirstLastPara="1" tIns="91425" wrap="square">
            <a:noAutofit/>
          </a:bodyPr>
          <a:lstStyle/>
          <a:p>
            <a:pPr algn="l" indent="0" lvl="0" marL="0" rtl="0">
              <a:spcBef>
                <a:spcPts val="0"/>
              </a:spcBef>
              <a:spcAft>
                <a:spcPts val="1600"/>
              </a:spcAft>
              <a:buNone/>
            </a:pPr>
            <a:r>
              <a:rPr b="1" lang="en">
                <a:solidFill>
                  <a:srgbClr val="000000"/>
                </a:solidFill>
              </a:rPr>
              <a:t>5. What are your most distinctive selling advantages?</a:t>
            </a:r>
            <a:endParaRPr b="1" sz="1150">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anchor="t" anchorCtr="0" bIns="91425" lIns="91425" rIns="91425" spcFirstLastPara="1" tIns="91425" wrap="square">
            <a:noAutofit/>
          </a:bodyPr>
          <a:lstStyle/>
          <a:p>
            <a:pPr algn="l" indent="0" lvl="0" marL="0"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nvGraphicFramePr>
        <p:xfrm>
          <a:off x="594360"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algn="l" indent="0" lvl="0" marL="0" rtl="0">
                        <a:lnSpc>
                          <a:spcPct val="115000"/>
                        </a:lnSpc>
                        <a:spcBef>
                          <a:spcPts val="0"/>
                        </a:spcBef>
                        <a:spcAft>
                          <a:spcPts val="0"/>
                        </a:spcAft>
                        <a:buNone/>
                      </a:pPr>
                      <a:r>
                        <a:rPr b="1" lang="en" sz="1000">
                          <a:latin typeface="Verdana"/>
                          <a:ea typeface="Verdana"/>
                          <a:cs typeface="Verdana"/>
                          <a:sym typeface="Verdana"/>
                        </a:rPr>
                        <a:t>Introduce New Department/Products/Services</a:t>
                      </a:r>
                      <a:endParaRPr b="1" sz="1000">
                        <a:latin typeface="Verdana"/>
                        <a:ea typeface="Verdana"/>
                        <a:cs typeface="Verdana"/>
                        <a:sym typeface="Verdana"/>
                      </a:endParaRPr>
                    </a:p>
                  </a:txBody>
                  <a:tcPr anchor="b" marB="19050" marL="28575" marR="28575" marT="19050">
                    <a:solidFill>
                      <a:srgbClr val="FFFFFF"/>
                    </a:solidFill>
                  </a:tcPr>
                </a:tc>
                <a:extLst>
                  <a:ext uri="{0D108BD9-81ED-4DB2-BD59-A6C34878D82A}">
                    <a16:rowId xmlns:a16="http://schemas.microsoft.com/office/drawing/2014/main" val="10000"/>
                  </a:ext>
                </a:extLst>
              </a:tr>
              <a:tr h="257850">
                <a:tc>
                  <a:txBody>
                    <a:bodyPr/>
                    <a:lstStyle/>
                    <a:p>
                      <a:pPr algn="l" indent="0" lvl="0" marL="0" rtl="0">
                        <a:lnSpc>
                          <a:spcPct val="115000"/>
                        </a:lnSpc>
                        <a:spcBef>
                          <a:spcPts val="0"/>
                        </a:spcBef>
                        <a:spcAft>
                          <a:spcPts val="0"/>
                        </a:spcAft>
                        <a:buNone/>
                      </a:pPr>
                      <a:r>
                        <a:rPr b="1" lang="en" sz="1000">
                          <a:latin typeface="Verdana"/>
                          <a:ea typeface="Verdana"/>
                          <a:cs typeface="Verdana"/>
                          <a:sym typeface="Verdana"/>
                        </a:rPr>
                        <a:t>Feature Specific Products/Services</a:t>
                      </a:r>
                      <a:endParaRPr b="1" sz="1000">
                        <a:latin typeface="Verdana"/>
                        <a:ea typeface="Verdana"/>
                        <a:cs typeface="Verdana"/>
                        <a:sym typeface="Verdana"/>
                      </a:endParaRPr>
                    </a:p>
                  </a:txBody>
                  <a:tcPr anchor="b" marB="19050" marL="28575" marR="28575" marT="19050">
                    <a:solidFill>
                      <a:srgbClr val="FFFFFF"/>
                    </a:solidFill>
                  </a:tcPr>
                </a:tc>
                <a:extLst>
                  <a:ext uri="{0D108BD9-81ED-4DB2-BD59-A6C34878D82A}">
                    <a16:rowId xmlns:a16="http://schemas.microsoft.com/office/drawing/2014/main" val="10001"/>
                  </a:ext>
                </a:extLst>
              </a:tr>
              <a:tr h="257850">
                <a:tc>
                  <a:txBody>
                    <a:bodyPr/>
                    <a:lstStyle/>
                    <a:p>
                      <a:pPr algn="l" indent="0" lvl="0" marL="0" rtl="0">
                        <a:lnSpc>
                          <a:spcPct val="115000"/>
                        </a:lnSpc>
                        <a:spcBef>
                          <a:spcPts val="0"/>
                        </a:spcBef>
                        <a:spcAft>
                          <a:spcPts val="0"/>
                        </a:spcAft>
                        <a:buNone/>
                      </a:pPr>
                      <a:r>
                        <a:rPr lang="en" sz="1000">
                          <a:latin typeface="Verdana"/>
                          <a:ea typeface="Verdana"/>
                          <a:cs typeface="Verdana"/>
                          <a:sym typeface="Verdana"/>
                        </a:rPr>
                        <a:t>Call Attention to Brands/Private Labels Carried</a:t>
                      </a:r>
                      <a:endParaRPr sz="1000">
                        <a:latin typeface="Verdana"/>
                        <a:ea typeface="Verdana"/>
                        <a:cs typeface="Verdana"/>
                        <a:sym typeface="Verdana"/>
                      </a:endParaRPr>
                    </a:p>
                  </a:txBody>
                  <a:tcPr anchor="b" marB="19050" marL="28575" marR="28575" marT="19050">
                    <a:solidFill>
                      <a:srgbClr val="FFFFFF"/>
                    </a:solidFill>
                  </a:tcPr>
                </a:tc>
                <a:extLst>
                  <a:ext uri="{0D108BD9-81ED-4DB2-BD59-A6C34878D82A}">
                    <a16:rowId xmlns:a16="http://schemas.microsoft.com/office/drawing/2014/main" val="10002"/>
                  </a:ext>
                </a:extLst>
              </a:tr>
              <a:tr h="257850">
                <a:tc>
                  <a:txBody>
                    <a:bodyPr/>
                    <a:lstStyle/>
                    <a:p>
                      <a:pPr algn="l" indent="0" lvl="0" marL="0" rtl="0">
                        <a:lnSpc>
                          <a:spcPct val="115000"/>
                        </a:lnSpc>
                        <a:spcBef>
                          <a:spcPts val="0"/>
                        </a:spcBef>
                        <a:spcAft>
                          <a:spcPts val="0"/>
                        </a:spcAft>
                        <a:buNone/>
                      </a:pPr>
                      <a:r>
                        <a:rPr lang="en" sz="1000">
                          <a:latin typeface="Verdana"/>
                          <a:ea typeface="Verdana"/>
                          <a:cs typeface="Verdana"/>
                          <a:sym typeface="Verdana"/>
                        </a:rPr>
                        <a:t>Promote Off-price Items/Services</a:t>
                      </a:r>
                      <a:endParaRPr sz="1000">
                        <a:latin typeface="Verdana"/>
                        <a:ea typeface="Verdana"/>
                        <a:cs typeface="Verdana"/>
                        <a:sym typeface="Verdana"/>
                      </a:endParaRPr>
                    </a:p>
                  </a:txBody>
                  <a:tcPr anchor="b" marB="19050" marL="28575" marR="28575" marT="19050">
                    <a:solidFill>
                      <a:srgbClr val="FFFFFF"/>
                    </a:solidFill>
                  </a:tcPr>
                </a:tc>
                <a:extLst>
                  <a:ext uri="{0D108BD9-81ED-4DB2-BD59-A6C34878D82A}">
                    <a16:rowId xmlns:a16="http://schemas.microsoft.com/office/drawing/2014/main" val="10003"/>
                  </a:ext>
                </a:extLst>
              </a:tr>
              <a:tr h="257850">
                <a:tc>
                  <a:txBody>
                    <a:bodyPr/>
                    <a:lstStyle/>
                    <a:p>
                      <a:pPr algn="l" indent="0" lvl="0" marL="0" rtl="0">
                        <a:lnSpc>
                          <a:spcPct val="115000"/>
                        </a:lnSpc>
                        <a:spcBef>
                          <a:spcPts val="0"/>
                        </a:spcBef>
                        <a:spcAft>
                          <a:spcPts val="0"/>
                        </a:spcAft>
                        <a:buNone/>
                      </a:pPr>
                      <a:r>
                        <a:rPr lang="en" sz="1000">
                          <a:latin typeface="Verdana"/>
                          <a:ea typeface="Verdana"/>
                          <a:cs typeface="Verdana"/>
                          <a:sym typeface="Verdana"/>
                        </a:rPr>
                        <a:t>Utilize Co-op/Vendor Dollars</a:t>
                      </a:r>
                      <a:endParaRPr sz="1000">
                        <a:latin typeface="Verdana"/>
                        <a:ea typeface="Verdana"/>
                        <a:cs typeface="Verdana"/>
                        <a:sym typeface="Verdana"/>
                      </a:endParaRPr>
                    </a:p>
                  </a:txBody>
                  <a:tcPr anchor="b" marB="19050" marL="28575" marR="28575" marT="19050">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algn="l" indent="0" lvl="0" marL="0" rtl="0">
                        <a:lnSpc>
                          <a:spcPct val="115000"/>
                        </a:lnSpc>
                        <a:spcBef>
                          <a:spcPts val="0"/>
                        </a:spcBef>
                        <a:spcAft>
                          <a:spcPts val="0"/>
                        </a:spcAft>
                        <a:buNone/>
                      </a:pPr>
                      <a:r>
                        <a:rPr b="1" lang="en" sz="1000">
                          <a:latin typeface="Verdana"/>
                          <a:ea typeface="Verdana"/>
                          <a:cs typeface="Verdana"/>
                          <a:sym typeface="Verdana"/>
                        </a:rPr>
                        <a:t>Maintain Market Dominance</a:t>
                      </a:r>
                      <a:endParaRPr b="1" sz="1000">
                        <a:latin typeface="Verdana"/>
                        <a:ea typeface="Verdana"/>
                        <a:cs typeface="Verdana"/>
                        <a:sym typeface="Verdana"/>
                      </a:endParaRPr>
                    </a:p>
                  </a:txBody>
                  <a:tcPr anchor="b" marB="19050" marL="28575" marR="28575" marT="19050">
                    <a:solidFill>
                      <a:srgbClr val="FFFFFF"/>
                    </a:solidFill>
                  </a:tcPr>
                </a:tc>
                <a:extLst>
                  <a:ext uri="{0D108BD9-81ED-4DB2-BD59-A6C34878D82A}">
                    <a16:rowId xmlns:a16="http://schemas.microsoft.com/office/drawing/2014/main" val="10000"/>
                  </a:ext>
                </a:extLst>
              </a:tr>
              <a:tr h="257850">
                <a:tc>
                  <a:txBody>
                    <a:bodyPr/>
                    <a:lstStyle/>
                    <a:p>
                      <a:pPr algn="l" indent="0" lvl="0" marL="0" rtl="0">
                        <a:lnSpc>
                          <a:spcPct val="115000"/>
                        </a:lnSpc>
                        <a:spcBef>
                          <a:spcPts val="0"/>
                        </a:spcBef>
                        <a:spcAft>
                          <a:spcPts val="0"/>
                        </a:spcAft>
                        <a:buNone/>
                      </a:pPr>
                      <a:r>
                        <a:rPr b="1" lang="en" sz="1000">
                          <a:latin typeface="Verdana"/>
                          <a:ea typeface="Verdana"/>
                          <a:cs typeface="Verdana"/>
                          <a:sym typeface="Verdana"/>
                        </a:rPr>
                        <a:t>Elevate Business Brand/Image</a:t>
                      </a:r>
                      <a:endParaRPr b="1" sz="1000">
                        <a:latin typeface="Verdana"/>
                        <a:ea typeface="Verdana"/>
                        <a:cs typeface="Verdana"/>
                        <a:sym typeface="Verdana"/>
                      </a:endParaRPr>
                    </a:p>
                  </a:txBody>
                  <a:tcPr anchor="b" marB="19050" marL="28575" marR="28575" marT="19050">
                    <a:solidFill>
                      <a:srgbClr val="FFFFFF"/>
                    </a:solidFill>
                  </a:tcPr>
                </a:tc>
                <a:extLst>
                  <a:ext uri="{0D108BD9-81ED-4DB2-BD59-A6C34878D82A}">
                    <a16:rowId xmlns:a16="http://schemas.microsoft.com/office/drawing/2014/main" val="10001"/>
                  </a:ext>
                </a:extLst>
              </a:tr>
              <a:tr h="257850">
                <a:tc>
                  <a:txBody>
                    <a:bodyPr/>
                    <a:lstStyle/>
                    <a:p>
                      <a:pPr algn="l" indent="0" lvl="0" marL="0" rtl="0">
                        <a:lnSpc>
                          <a:spcPct val="115000"/>
                        </a:lnSpc>
                        <a:spcBef>
                          <a:spcPts val="0"/>
                        </a:spcBef>
                        <a:spcAft>
                          <a:spcPts val="0"/>
                        </a:spcAft>
                        <a:buNone/>
                      </a:pPr>
                      <a:r>
                        <a:rPr b="1" lang="en" sz="1000">
                          <a:latin typeface="Verdana"/>
                          <a:ea typeface="Verdana"/>
                          <a:cs typeface="Verdana"/>
                          <a:sym typeface="Verdana"/>
                        </a:rPr>
                        <a:t>Improve Reputation and Listing Management</a:t>
                      </a:r>
                      <a:endParaRPr b="1" sz="1000">
                        <a:latin typeface="Verdana"/>
                        <a:ea typeface="Verdana"/>
                        <a:cs typeface="Verdana"/>
                        <a:sym typeface="Verdana"/>
                      </a:endParaRPr>
                    </a:p>
                  </a:txBody>
                  <a:tcPr anchor="b" marB="19050" marL="28575" marR="28575" marT="19050">
                    <a:solidFill>
                      <a:srgbClr val="FFFFFF"/>
                    </a:solidFill>
                  </a:tcPr>
                </a:tc>
                <a:extLst>
                  <a:ext uri="{0D108BD9-81ED-4DB2-BD59-A6C34878D82A}">
                    <a16:rowId xmlns:a16="http://schemas.microsoft.com/office/drawing/2014/main" val="10002"/>
                  </a:ext>
                </a:extLst>
              </a:tr>
              <a:tr h="257850">
                <a:tc>
                  <a:txBody>
                    <a:bodyPr/>
                    <a:lstStyle/>
                    <a:p>
                      <a:pPr algn="l" indent="0" lvl="0" marL="0" rtl="0">
                        <a:lnSpc>
                          <a:spcPct val="115000"/>
                        </a:lnSpc>
                        <a:spcBef>
                          <a:spcPts val="0"/>
                        </a:spcBef>
                        <a:spcAft>
                          <a:spcPts val="0"/>
                        </a:spcAft>
                        <a:buNone/>
                      </a:pPr>
                      <a:r>
                        <a:rPr b="1" lang="en" sz="1000">
                          <a:latin typeface="Verdana"/>
                          <a:ea typeface="Verdana"/>
                          <a:cs typeface="Verdana"/>
                          <a:sym typeface="Verdana"/>
                        </a:rPr>
                        <a:t>Enhance Website (Mobile, Response, SEO, SEM)</a:t>
                      </a:r>
                      <a:endParaRPr b="1" sz="1000">
                        <a:latin typeface="Verdana"/>
                        <a:ea typeface="Verdana"/>
                        <a:cs typeface="Verdana"/>
                        <a:sym typeface="Verdana"/>
                      </a:endParaRPr>
                    </a:p>
                  </a:txBody>
                  <a:tcPr anchor="b" marB="19050" marL="28575" marR="28575" marT="19050">
                    <a:solidFill>
                      <a:srgbClr val="FFFFFF"/>
                    </a:solidFill>
                  </a:tcPr>
                </a:tc>
                <a:extLst>
                  <a:ext uri="{0D108BD9-81ED-4DB2-BD59-A6C34878D82A}">
                    <a16:rowId xmlns:a16="http://schemas.microsoft.com/office/drawing/2014/main" val="10003"/>
                  </a:ext>
                </a:extLst>
              </a:tr>
              <a:tr h="257850">
                <a:tc>
                  <a:txBody>
                    <a:bodyPr/>
                    <a:lstStyle/>
                    <a:p>
                      <a:pPr algn="l" indent="0" lvl="0" marL="0" rtl="0">
                        <a:lnSpc>
                          <a:spcPct val="115000"/>
                        </a:lnSpc>
                        <a:spcBef>
                          <a:spcPts val="0"/>
                        </a:spcBef>
                        <a:spcAft>
                          <a:spcPts val="0"/>
                        </a:spcAft>
                        <a:buNone/>
                      </a:pPr>
                      <a:r>
                        <a:rPr b="1" lang="en" sz="1000">
                          <a:latin typeface="Verdana"/>
                          <a:ea typeface="Verdana"/>
                          <a:cs typeface="Verdana"/>
                          <a:sym typeface="Verdana"/>
                        </a:rPr>
                        <a:t>Increase Market Share</a:t>
                      </a:r>
                      <a:endParaRPr b="1" sz="1000">
                        <a:latin typeface="Verdana"/>
                        <a:ea typeface="Verdana"/>
                        <a:cs typeface="Verdana"/>
                        <a:sym typeface="Verdana"/>
                      </a:endParaRPr>
                    </a:p>
                  </a:txBody>
                  <a:tcPr anchor="b" marB="19050" marL="28575" marR="28575" marT="19050">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nvGraphicFramePr>
        <p:xfrm>
          <a:off x="594360" y="445312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14875">
                <a:tc>
                  <a:txBody>
                    <a:bodyPr/>
                    <a:lstStyle/>
                    <a:p>
                      <a:pPr algn="l" indent="0" lvl="0" marL="0" rtl="0">
                        <a:lnSpc>
                          <a:spcPct val="115000"/>
                        </a:lnSpc>
                        <a:spcBef>
                          <a:spcPts val="0"/>
                        </a:spcBef>
                        <a:spcAft>
                          <a:spcPts val="0"/>
                        </a:spcAft>
                        <a:buNone/>
                      </a:pPr>
                      <a:r>
                        <a:rPr b="1" lang="en" sz="1000">
                          <a:solidFill>
                            <a:srgbClr val="222222"/>
                          </a:solidFill>
                          <a:latin typeface="Verdana"/>
                          <a:ea typeface="Verdana"/>
                          <a:cs typeface="Verdana"/>
                          <a:sym typeface="Verdana"/>
                        </a:rPr>
                        <a:t>Make Promotional Events Stronger</a:t>
                      </a:r>
                      <a:endParaRPr b="1" sz="1000">
                        <a:solidFill>
                          <a:srgbClr val="222222"/>
                        </a:solidFill>
                        <a:latin typeface="Verdana"/>
                        <a:ea typeface="Verdana"/>
                        <a:cs typeface="Verdana"/>
                        <a:sym typeface="Verdana"/>
                      </a:endParaRPr>
                    </a:p>
                  </a:txBody>
                  <a:tcPr anchor="b" marB="19050" marL="28575" marR="28575" marT="19050">
                    <a:solidFill>
                      <a:srgbClr val="FFFFFF"/>
                    </a:solidFill>
                  </a:tcPr>
                </a:tc>
                <a:extLst>
                  <a:ext uri="{0D108BD9-81ED-4DB2-BD59-A6C34878D82A}">
                    <a16:rowId xmlns:a16="http://schemas.microsoft.com/office/drawing/2014/main" val="10000"/>
                  </a:ext>
                </a:extLst>
              </a:tr>
              <a:tr h="214875">
                <a:tc>
                  <a:txBody>
                    <a:bodyPr/>
                    <a:lstStyle/>
                    <a:p>
                      <a:pPr algn="l" indent="0" lvl="0" marL="0" rtl="0">
                        <a:lnSpc>
                          <a:spcPct val="115000"/>
                        </a:lnSpc>
                        <a:spcBef>
                          <a:spcPts val="0"/>
                        </a:spcBef>
                        <a:spcAft>
                          <a:spcPts val="0"/>
                        </a:spcAft>
                        <a:buNone/>
                      </a:pPr>
                      <a:r>
                        <a:rPr b="1" lang="en" sz="1000">
                          <a:latin typeface="Verdana"/>
                          <a:ea typeface="Verdana"/>
                          <a:cs typeface="Verdana"/>
                          <a:sym typeface="Verdana"/>
                        </a:rPr>
                        <a:t>Develop Digital/Mobile/Social Strategies</a:t>
                      </a:r>
                      <a:endParaRPr b="1" sz="1000">
                        <a:latin typeface="Verdana"/>
                        <a:ea typeface="Verdana"/>
                        <a:cs typeface="Verdana"/>
                        <a:sym typeface="Verdana"/>
                      </a:endParaRPr>
                    </a:p>
                  </a:txBody>
                  <a:tcPr anchor="b" marB="19050" marL="28575" marR="28575" marT="19050">
                    <a:solidFill>
                      <a:srgbClr val="FFFFFF"/>
                    </a:solidFill>
                  </a:tcPr>
                </a:tc>
                <a:extLst>
                  <a:ext uri="{0D108BD9-81ED-4DB2-BD59-A6C34878D82A}">
                    <a16:rowId xmlns:a16="http://schemas.microsoft.com/office/drawing/2014/main" val="10001"/>
                  </a:ext>
                </a:extLst>
              </a:tr>
              <a:tr h="214875">
                <a:tc>
                  <a:txBody>
                    <a:bodyPr/>
                    <a:lstStyle/>
                    <a:p>
                      <a:pPr algn="l" indent="0" lvl="0" marL="0" rtl="0">
                        <a:lnSpc>
                          <a:spcPct val="115000"/>
                        </a:lnSpc>
                        <a:spcBef>
                          <a:spcPts val="0"/>
                        </a:spcBef>
                        <a:spcAft>
                          <a:spcPts val="0"/>
                        </a:spcAft>
                        <a:buNone/>
                      </a:pPr>
                      <a:r>
                        <a:rPr lang="en" sz="1000">
                          <a:latin typeface="Verdana"/>
                          <a:ea typeface="Verdana"/>
                          <a:cs typeface="Verdana"/>
                          <a:sym typeface="Verdana"/>
                        </a:rPr>
                        <a:t>Establish a quarterly spike/seasonal campaign</a:t>
                      </a:r>
                      <a:endParaRPr sz="1000">
                        <a:latin typeface="Verdana"/>
                        <a:ea typeface="Verdana"/>
                        <a:cs typeface="Verdana"/>
                        <a:sym typeface="Verdana"/>
                      </a:endParaRPr>
                    </a:p>
                  </a:txBody>
                  <a:tcPr anchor="b" marB="19050" marL="28575" marR="28575" marT="19050">
                    <a:solidFill>
                      <a:srgbClr val="FFFFFF"/>
                    </a:solidFill>
                  </a:tcPr>
                </a:tc>
                <a:extLst>
                  <a:ext uri="{0D108BD9-81ED-4DB2-BD59-A6C34878D82A}">
                    <a16:rowId xmlns:a16="http://schemas.microsoft.com/office/drawing/2014/main" val="10002"/>
                  </a:ext>
                </a:extLst>
              </a:tr>
              <a:tr h="214875">
                <a:tc>
                  <a:txBody>
                    <a:bodyPr/>
                    <a:lstStyle/>
                    <a:p>
                      <a:pPr algn="l" indent="0" lvl="0" marL="0" rtl="0">
                        <a:lnSpc>
                          <a:spcPct val="115000"/>
                        </a:lnSpc>
                        <a:spcBef>
                          <a:spcPts val="0"/>
                        </a:spcBef>
                        <a:spcAft>
                          <a:spcPts val="0"/>
                        </a:spcAft>
                        <a:buNone/>
                      </a:pPr>
                      <a:r>
                        <a:rPr b="1" lang="en" sz="1000">
                          <a:latin typeface="Verdana"/>
                          <a:ea typeface="Verdana"/>
                          <a:cs typeface="Verdana"/>
                          <a:sym typeface="Verdana"/>
                        </a:rPr>
                        <a:t>Develop Database Marketing (Email and Text)</a:t>
                      </a:r>
                      <a:endParaRPr b="1" sz="1000">
                        <a:latin typeface="Verdana"/>
                        <a:ea typeface="Verdana"/>
                        <a:cs typeface="Verdana"/>
                        <a:sym typeface="Verdana"/>
                      </a:endParaRPr>
                    </a:p>
                  </a:txBody>
                  <a:tcPr anchor="b" marB="19050" marL="28575" marR="28575" marT="19050">
                    <a:solidFill>
                      <a:srgbClr val="FFFFFF"/>
                    </a:solidFill>
                  </a:tcPr>
                </a:tc>
                <a:extLst>
                  <a:ext uri="{0D108BD9-81ED-4DB2-BD59-A6C34878D82A}">
                    <a16:rowId xmlns:a16="http://schemas.microsoft.com/office/drawing/2014/main" val="10003"/>
                  </a:ext>
                </a:extLst>
              </a:tr>
              <a:tr h="214875">
                <a:tc>
                  <a:txBody>
                    <a:bodyPr/>
                    <a:lstStyle/>
                    <a:p>
                      <a:pPr algn="l" indent="0" lvl="0" marL="0" rtl="0">
                        <a:lnSpc>
                          <a:spcPct val="115000"/>
                        </a:lnSpc>
                        <a:spcBef>
                          <a:spcPts val="0"/>
                        </a:spcBef>
                        <a:spcAft>
                          <a:spcPts val="0"/>
                        </a:spcAft>
                        <a:buNone/>
                      </a:pPr>
                      <a:r>
                        <a:rPr b="1" lang="en" sz="1000">
                          <a:latin typeface="Verdana"/>
                          <a:ea typeface="Verdana"/>
                          <a:cs typeface="Verdana"/>
                          <a:sym typeface="Verdana"/>
                        </a:rPr>
                        <a:t>Initiate Cause Marketing Programs</a:t>
                      </a:r>
                      <a:endParaRPr b="1" sz="1000">
                        <a:latin typeface="Verdana"/>
                        <a:ea typeface="Verdana"/>
                        <a:cs typeface="Verdana"/>
                        <a:sym typeface="Verdana"/>
                      </a:endParaRPr>
                    </a:p>
                  </a:txBody>
                  <a:tcPr anchor="b" marB="19050" marL="28575" marR="28575" marT="19050">
                    <a:solidFill>
                      <a:srgbClr val="FFFFFF"/>
                    </a:solidFill>
                  </a:tcPr>
                </a:tc>
                <a:extLst>
                  <a:ext uri="{0D108BD9-81ED-4DB2-BD59-A6C34878D82A}">
                    <a16:rowId xmlns:a16="http://schemas.microsoft.com/office/drawing/2014/main" val="10004"/>
                  </a:ext>
                </a:extLst>
              </a:tr>
              <a:tr h="214875">
                <a:tc>
                  <a:txBody>
                    <a:bodyPr/>
                    <a:lstStyle/>
                    <a:p>
                      <a:pPr algn="l" indent="0" lvl="0" marL="0" rtl="0">
                        <a:lnSpc>
                          <a:spcPct val="115000"/>
                        </a:lnSpc>
                        <a:spcBef>
                          <a:spcPts val="0"/>
                        </a:spcBef>
                        <a:spcAft>
                          <a:spcPts val="0"/>
                        </a:spcAft>
                        <a:buNone/>
                      </a:pPr>
                      <a:r>
                        <a:rPr b="1" lang="en" sz="1000">
                          <a:latin typeface="Verdana"/>
                          <a:ea typeface="Verdana"/>
                          <a:cs typeface="Verdana"/>
                          <a:sym typeface="Verdana"/>
                        </a:rPr>
                        <a:t>Develop Specially Staged Events</a:t>
                      </a:r>
                      <a:endParaRPr b="1" sz="1000">
                        <a:latin typeface="Verdana"/>
                        <a:ea typeface="Verdana"/>
                        <a:cs typeface="Verdana"/>
                        <a:sym typeface="Verdana"/>
                      </a:endParaRPr>
                    </a:p>
                  </a:txBody>
                  <a:tcPr anchor="b" marB="19050" marL="28575" marR="28575" marT="19050">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nvGraphicFramePr>
        <p:xfrm>
          <a:off x="5084064" y="445312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14875">
                <a:tc>
                  <a:txBody>
                    <a:bodyPr/>
                    <a:lstStyle/>
                    <a:p>
                      <a:pPr algn="l" indent="0" lvl="0" marL="0" rtl="0">
                        <a:lnSpc>
                          <a:spcPct val="115000"/>
                        </a:lnSpc>
                        <a:spcBef>
                          <a:spcPts val="0"/>
                        </a:spcBef>
                        <a:spcAft>
                          <a:spcPts val="0"/>
                        </a:spcAft>
                        <a:buNone/>
                      </a:pPr>
                      <a:r>
                        <a:rPr b="1" lang="en" sz="1000">
                          <a:solidFill>
                            <a:srgbClr val="222222"/>
                          </a:solidFill>
                          <a:latin typeface="Verdana"/>
                          <a:ea typeface="Verdana"/>
                          <a:cs typeface="Verdana"/>
                          <a:sym typeface="Verdana"/>
                        </a:rPr>
                        <a:t>Maintain Market Dominance</a:t>
                      </a:r>
                      <a:endParaRPr b="1" sz="1000">
                        <a:solidFill>
                          <a:srgbClr val="222222"/>
                        </a:solidFill>
                        <a:latin typeface="Verdana"/>
                        <a:ea typeface="Verdana"/>
                        <a:cs typeface="Verdana"/>
                        <a:sym typeface="Verdana"/>
                      </a:endParaRPr>
                    </a:p>
                  </a:txBody>
                  <a:tcPr anchor="b" marB="19050" marL="28575" marR="28575" marT="19050"/>
                </a:tc>
                <a:extLst>
                  <a:ext uri="{0D108BD9-81ED-4DB2-BD59-A6C34878D82A}">
                    <a16:rowId xmlns:a16="http://schemas.microsoft.com/office/drawing/2014/main" val="10000"/>
                  </a:ext>
                </a:extLst>
              </a:tr>
              <a:tr h="214875">
                <a:tc>
                  <a:txBody>
                    <a:bodyPr/>
                    <a:lstStyle/>
                    <a:p>
                      <a:pPr algn="l" indent="0" lvl="0" marL="0" rtl="0">
                        <a:lnSpc>
                          <a:spcPct val="115000"/>
                        </a:lnSpc>
                        <a:spcBef>
                          <a:spcPts val="0"/>
                        </a:spcBef>
                        <a:spcAft>
                          <a:spcPts val="0"/>
                        </a:spcAft>
                        <a:buNone/>
                      </a:pPr>
                      <a:r>
                        <a:rPr b="1" lang="en" sz="1000">
                          <a:latin typeface="Verdana"/>
                          <a:ea typeface="Verdana"/>
                          <a:cs typeface="Verdana"/>
                          <a:sym typeface="Verdana"/>
                        </a:rPr>
                        <a:t>Elevate Business Brand/Image</a:t>
                      </a:r>
                      <a:endParaRPr b="1" sz="1000">
                        <a:latin typeface="Verdana"/>
                        <a:ea typeface="Verdana"/>
                        <a:cs typeface="Verdana"/>
                        <a:sym typeface="Verdana"/>
                      </a:endParaRPr>
                    </a:p>
                  </a:txBody>
                  <a:tcPr anchor="b" marB="19050" marL="28575" marR="28575" marT="19050"/>
                </a:tc>
                <a:extLst>
                  <a:ext uri="{0D108BD9-81ED-4DB2-BD59-A6C34878D82A}">
                    <a16:rowId xmlns:a16="http://schemas.microsoft.com/office/drawing/2014/main" val="10001"/>
                  </a:ext>
                </a:extLst>
              </a:tr>
              <a:tr h="214875">
                <a:tc>
                  <a:txBody>
                    <a:bodyPr/>
                    <a:lstStyle/>
                    <a:p>
                      <a:pPr algn="l" indent="0" lvl="0" marL="0" rtl="0">
                        <a:lnSpc>
                          <a:spcPct val="115000"/>
                        </a:lnSpc>
                        <a:spcBef>
                          <a:spcPts val="0"/>
                        </a:spcBef>
                        <a:spcAft>
                          <a:spcPts val="0"/>
                        </a:spcAft>
                        <a:buNone/>
                      </a:pPr>
                      <a:r>
                        <a:rPr b="1" lang="en" sz="1000">
                          <a:latin typeface="Verdana"/>
                          <a:ea typeface="Verdana"/>
                          <a:cs typeface="Verdana"/>
                          <a:sym typeface="Verdana"/>
                        </a:rPr>
                        <a:t>Improve Reputation and Listing Management</a:t>
                      </a:r>
                      <a:endParaRPr b="1" sz="1000">
                        <a:latin typeface="Verdana"/>
                        <a:ea typeface="Verdana"/>
                        <a:cs typeface="Verdana"/>
                        <a:sym typeface="Verdana"/>
                      </a:endParaRPr>
                    </a:p>
                  </a:txBody>
                  <a:tcPr anchor="b" marB="19050" marL="28575" marR="28575" marT="19050"/>
                </a:tc>
                <a:extLst>
                  <a:ext uri="{0D108BD9-81ED-4DB2-BD59-A6C34878D82A}">
                    <a16:rowId xmlns:a16="http://schemas.microsoft.com/office/drawing/2014/main" val="10002"/>
                  </a:ext>
                </a:extLst>
              </a:tr>
              <a:tr h="214875">
                <a:tc>
                  <a:txBody>
                    <a:bodyPr/>
                    <a:lstStyle/>
                    <a:p>
                      <a:pPr algn="l" indent="0" lvl="0" marL="0" rtl="0">
                        <a:lnSpc>
                          <a:spcPct val="115000"/>
                        </a:lnSpc>
                        <a:spcBef>
                          <a:spcPts val="0"/>
                        </a:spcBef>
                        <a:spcAft>
                          <a:spcPts val="0"/>
                        </a:spcAft>
                        <a:buNone/>
                      </a:pPr>
                      <a:r>
                        <a:rPr lang="en" sz="1000">
                          <a:latin typeface="Verdana"/>
                          <a:ea typeface="Verdana"/>
                          <a:cs typeface="Verdana"/>
                          <a:sym typeface="Verdana"/>
                        </a:rPr>
                        <a:t>Enhance Website (Mobile, Response, SEO, SEM)</a:t>
                      </a:r>
                      <a:endParaRPr sz="1000">
                        <a:latin typeface="Verdana"/>
                        <a:ea typeface="Verdana"/>
                        <a:cs typeface="Verdana"/>
                        <a:sym typeface="Verdana"/>
                      </a:endParaRPr>
                    </a:p>
                  </a:txBody>
                  <a:tcPr anchor="b" marB="19050" marL="28575" marR="28575" marT="19050"/>
                </a:tc>
                <a:extLst>
                  <a:ext uri="{0D108BD9-81ED-4DB2-BD59-A6C34878D82A}">
                    <a16:rowId xmlns:a16="http://schemas.microsoft.com/office/drawing/2014/main" val="10003"/>
                  </a:ext>
                </a:extLst>
              </a:tr>
              <a:tr h="214875">
                <a:tc>
                  <a:txBody>
                    <a:bodyPr/>
                    <a:lstStyle/>
                    <a:p>
                      <a:pPr algn="l" indent="0" lvl="0" marL="0" rtl="0">
                        <a:lnSpc>
                          <a:spcPct val="115000"/>
                        </a:lnSpc>
                        <a:spcBef>
                          <a:spcPts val="0"/>
                        </a:spcBef>
                        <a:spcAft>
                          <a:spcPts val="0"/>
                        </a:spcAft>
                        <a:buNone/>
                      </a:pPr>
                      <a:r>
                        <a:rPr b="1" lang="en" sz="1000">
                          <a:latin typeface="Verdana"/>
                          <a:ea typeface="Verdana"/>
                          <a:cs typeface="Verdana"/>
                          <a:sym typeface="Verdana"/>
                        </a:rPr>
                        <a:t>Increase Market Share</a:t>
                      </a:r>
                      <a:endParaRPr b="1" sz="1000">
                        <a:latin typeface="Verdana"/>
                        <a:ea typeface="Verdana"/>
                        <a:cs typeface="Verdana"/>
                        <a:sym typeface="Verdana"/>
                      </a:endParaRPr>
                    </a:p>
                  </a:txBody>
                  <a:tcPr anchor="b" marB="19050" marL="28575" marR="28575" marT="19050"/>
                </a:tc>
                <a:extLst>
                  <a:ext uri="{0D108BD9-81ED-4DB2-BD59-A6C34878D82A}">
                    <a16:rowId xmlns:a16="http://schemas.microsoft.com/office/drawing/2014/main" val="10004"/>
                  </a:ext>
                </a:extLst>
              </a:tr>
              <a:tr h="214875">
                <a:tc>
                  <a:txBody>
                    <a:bodyPr/>
                    <a:lstStyle/>
                    <a:p>
                      <a:pPr algn="l" indent="0" lvl="0" marL="0" rtl="0">
                        <a:lnSpc>
                          <a:spcPct val="115000"/>
                        </a:lnSpc>
                        <a:spcBef>
                          <a:spcPts val="0"/>
                        </a:spcBef>
                        <a:spcAft>
                          <a:spcPts val="0"/>
                        </a:spcAft>
                        <a:buNone/>
                      </a:pPr>
                      <a:r>
                        <a:rPr b="1" lang="en" sz="1000">
                          <a:latin typeface="Verdana"/>
                          <a:ea typeface="Verdana"/>
                          <a:cs typeface="Verdana"/>
                          <a:sym typeface="Verdana"/>
                        </a:rPr>
                        <a:t>Tech Recruitment</a:t>
                      </a:r>
                      <a:endParaRPr b="1" sz="1000">
                        <a:latin typeface="Verdana"/>
                        <a:ea typeface="Verdana"/>
                        <a:cs typeface="Verdana"/>
                        <a:sym typeface="Verdana"/>
                      </a:endParaRPr>
                    </a:p>
                  </a:txBody>
                  <a:tcPr anchor="b" marB="19050" marL="28575" marR="28575" marT="19050"/>
                </a:tc>
                <a:extLst>
                  <a:ext uri="{0D108BD9-81ED-4DB2-BD59-A6C34878D82A}">
                    <a16:rowId xmlns:a16="http://schemas.microsoft.com/office/drawing/2014/main" val="10005"/>
                  </a:ext>
                </a:extLst>
              </a:tr>
            </a:tbl>
          </a:graphicData>
        </a:graphic>
      </p:graphicFrame>
      <p:graphicFrame>
        <p:nvGraphicFramePr>
          <p:cNvPr id="128" name="Google Shape;128;p16"/>
          <p:cNvGraphicFramePr/>
          <p:nvPr/>
        </p:nvGraphicFramePr>
        <p:xfrm>
          <a:off x="594350" y="1573425"/>
          <a:ext cx="4124325" cy="634938"/>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algn="l" indent="0" lvl="0" marL="0" rtl="0">
                        <a:lnSpc>
                          <a:spcPct val="115000"/>
                        </a:lnSpc>
                        <a:spcBef>
                          <a:spcPts val="0"/>
                        </a:spcBef>
                        <a:spcAft>
                          <a:spcPts val="0"/>
                        </a:spcAft>
                        <a:buNone/>
                      </a:pPr>
                      <a:r>
                        <a:rPr lang="en" sz="1100">
                          <a:latin typeface="Verdana"/>
                          <a:ea typeface="Verdana"/>
                          <a:cs typeface="Verdana"/>
                          <a:sym typeface="Verdana"/>
                        </a:rPr>
                        <a:t>1. Initiate Cause Marketing Programs</a:t>
                      </a:r>
                      <a:endParaRPr sz="1100">
                        <a:latin typeface="Verdana"/>
                        <a:ea typeface="Verdana"/>
                        <a:cs typeface="Verdana"/>
                        <a:sym typeface="Verdana"/>
                      </a:endParaRPr>
                    </a:p>
                  </a:txBody>
                  <a:tcPr anchor="ctr" marB="19050" marL="28575" marR="28575" marT="19050"/>
                </a:tc>
                <a:extLst>
                  <a:ext uri="{0D108BD9-81ED-4DB2-BD59-A6C34878D82A}">
                    <a16:rowId xmlns:a16="http://schemas.microsoft.com/office/drawing/2014/main" val="10000"/>
                  </a:ext>
                </a:extLst>
              </a:tr>
              <a:tr h="209550">
                <a:tc>
                  <a:txBody>
                    <a:bodyPr/>
                    <a:lstStyle/>
                    <a:p>
                      <a:pPr algn="l" indent="0" lvl="0" marL="0" rtl="0">
                        <a:lnSpc>
                          <a:spcPct val="115000"/>
                        </a:lnSpc>
                        <a:spcBef>
                          <a:spcPts val="0"/>
                        </a:spcBef>
                        <a:spcAft>
                          <a:spcPts val="0"/>
                        </a:spcAft>
                        <a:buNone/>
                      </a:pPr>
                      <a:r>
                        <a:rPr lang="en" sz="1100">
                          <a:latin typeface="Verdana"/>
                          <a:ea typeface="Verdana"/>
                          <a:cs typeface="Verdana"/>
                          <a:sym typeface="Verdana"/>
                        </a:rPr>
                        <a:t>2. Tech Recruitment</a:t>
                      </a:r>
                      <a:endParaRPr sz="1100">
                        <a:latin typeface="Verdana"/>
                        <a:ea typeface="Verdana"/>
                        <a:cs typeface="Verdana"/>
                        <a:sym typeface="Verdana"/>
                      </a:endParaRPr>
                    </a:p>
                  </a:txBody>
                  <a:tcPr anchor="ctr" marB="19050" marL="28575" marR="28575" marT="19050"/>
                </a:tc>
                <a:extLst>
                  <a:ext uri="{0D108BD9-81ED-4DB2-BD59-A6C34878D82A}">
                    <a16:rowId xmlns:a16="http://schemas.microsoft.com/office/drawing/2014/main" val="10001"/>
                  </a:ext>
                </a:extLst>
              </a:tr>
              <a:tr h="209550">
                <a:tc>
                  <a:txBody>
                    <a:bodyPr/>
                    <a:lstStyle/>
                    <a:p>
                      <a:pPr algn="l" indent="0" lvl="0" marL="0" rtl="0">
                        <a:lnSpc>
                          <a:spcPct val="115000"/>
                        </a:lnSpc>
                        <a:spcBef>
                          <a:spcPts val="0"/>
                        </a:spcBef>
                        <a:spcAft>
                          <a:spcPts val="0"/>
                        </a:spcAft>
                        <a:buNone/>
                      </a:pPr>
                      <a:r>
                        <a:rPr lang="en" sz="1100">
                          <a:latin typeface="Verdana"/>
                          <a:ea typeface="Verdana"/>
                          <a:cs typeface="Verdana"/>
                          <a:sym typeface="Verdana"/>
                        </a:rPr>
                        <a:t>3. Expand Target Consumers (by age, sex, geography)</a:t>
                      </a:r>
                      <a:endParaRPr sz="1100">
                        <a:latin typeface="Verdana"/>
                        <a:ea typeface="Verdana"/>
                        <a:cs typeface="Verdana"/>
                        <a:sym typeface="Verdana"/>
                      </a:endParaRPr>
                    </a:p>
                  </a:txBody>
                  <a:tcPr anchor="ctr" marB="19050" marL="28575" marR="28575" marT="19050"/>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6. What image do you want your company's name to project to customers and potential consumers?</a:t>
            </a:r>
            <a:endParaRPr b="1" sz="1150">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anchor="t" anchorCtr="0" bIns="91425" lIns="91425" rIns="91425" spcFirstLastPara="1" tIns="91425" wrap="square">
            <a:noAutofit/>
          </a:bodyPr>
          <a:lstStyle/>
          <a:p>
            <a:pPr algn="l" indent="0" lvl="0" marL="0"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latin typeface="Verdana"/>
                <a:ea typeface="Verdana"/>
                <a:cs typeface="Verdana"/>
                <a:sym typeface="Verdana"/>
              </a:rPr>
              <a:t>Current Company Slogan</a:t>
            </a:r>
            <a:endParaRPr b="1" sz="1150">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anchor="ctr" anchorCtr="0" bIns="91425" lIns="91425" rIns="91425" spcFirstLastPara="1" tIns="91425" wrap="square">
            <a:noAutofit/>
          </a:bodyPr>
          <a:lstStyle/>
          <a:p>
            <a:pPr algn="l" indent="0" lvl="0" marL="0"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latin typeface="Verdana"/>
                <a:ea typeface="Verdana"/>
                <a:cs typeface="Verdana"/>
                <a:sym typeface="Verdana"/>
              </a:rPr>
              <a:t>Does your current slogan project the same image?</a:t>
            </a:r>
            <a:endParaRPr b="1" sz="1150">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anchor="ctr" anchorCtr="0" bIns="91425" lIns="91425" rIns="91425" spcFirstLastPara="1" tIns="91425" wrap="square">
            <a:noAutofit/>
          </a:bodyPr>
          <a:lstStyle/>
          <a:p>
            <a:pPr algn="l" indent="0" lvl="0" marL="0"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anchor="ctr" anchorCtr="0" bIns="91425" lIns="91425" rIns="91425" spcFirstLastPara="1" tIns="91425" wrap="square">
            <a:noAutofit/>
          </a:bodyPr>
          <a:lstStyle/>
          <a:p>
            <a:pPr algn="l" indent="0" lvl="0" marL="0"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9. What are your digital marketing strategies? What are your goals and measures of success?</a:t>
            </a:r>
            <a:endParaRPr b="1" sz="1150">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10. Do you have social media strategy (i.e. Facebook, Instagram, etc.)? If so, what are your goals and measures of success?</a:t>
            </a:r>
            <a:endParaRPr b="1" sz="1150">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anchor="ctr" anchorCtr="0" bIns="91425" lIns="91425" rIns="91425" spcFirstLastPara="1" tIns="91425" wrap="square">
            <a:noAutofit/>
          </a:bodyPr>
          <a:lstStyle/>
          <a:p>
            <a:pPr algn="l" indent="0" lvl="0" marL="0"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anchor="ctr" anchorCtr="0" bIns="91425" lIns="91425" rIns="91425" spcFirstLastPara="1" tIns="91425" wrap="square">
            <a:noAutofit/>
          </a:bodyPr>
          <a:lstStyle/>
          <a:p>
            <a:pPr algn="l" indent="0" lvl="0" marL="0"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algn="ctr" indent="0" lvl="0" marL="0" rtl="0">
                        <a:spcBef>
                          <a:spcPts val="0"/>
                        </a:spcBef>
                        <a:spcAft>
                          <a:spcPts val="0"/>
                        </a:spcAft>
                        <a:buNone/>
                      </a:pPr>
                      <a:r>
                        <a:rPr b="1" lang="en" sz="1100">
                          <a:latin typeface="Verdana"/>
                          <a:ea typeface="Verdana"/>
                          <a:cs typeface="Verdana"/>
                          <a:sym typeface="Verdana"/>
                        </a:rPr>
                        <a:t>7. What are your:</a:t>
                      </a:r>
                      <a:endParaRPr b="1" sz="1100">
                        <a:latin typeface="Verdana"/>
                        <a:ea typeface="Verdana"/>
                        <a:cs typeface="Verdana"/>
                        <a:sym typeface="Verdana"/>
                      </a:endParaRPr>
                    </a:p>
                  </a:txBody>
                  <a:tcPr anchor="ctr" marB="91425" marL="91425" marR="91425" marT="91425"/>
                </a:tc>
                <a:tc>
                  <a:txBody>
                    <a:bodyPr/>
                    <a:lstStyle/>
                    <a:p>
                      <a:pPr algn="ctr" indent="0" lvl="0" marL="0" rtl="0">
                        <a:spcBef>
                          <a:spcPts val="0"/>
                        </a:spcBef>
                        <a:spcAft>
                          <a:spcPts val="0"/>
                        </a:spcAft>
                        <a:buNone/>
                      </a:pPr>
                      <a:r>
                        <a:rPr b="1" lang="en" sz="1100">
                          <a:latin typeface="Verdana"/>
                          <a:ea typeface="Verdana"/>
                          <a:cs typeface="Verdana"/>
                          <a:sym typeface="Verdana"/>
                        </a:rPr>
                        <a:t>Poorest performing months</a:t>
                      </a:r>
                      <a:endParaRPr b="1" sz="1100">
                        <a:latin typeface="Verdana"/>
                        <a:ea typeface="Verdana"/>
                        <a:cs typeface="Verdana"/>
                        <a:sym typeface="Verdana"/>
                      </a:endParaRPr>
                    </a:p>
                  </a:txBody>
                  <a:tcPr anchor="ctr" marB="91425" marL="91425" marR="91425" marT="91425"/>
                </a:tc>
                <a:tc>
                  <a:txBody>
                    <a:bodyPr/>
                    <a:lstStyle/>
                    <a:p>
                      <a:pPr algn="ctr" indent="0" lvl="0" marL="0" rtl="0">
                        <a:spcBef>
                          <a:spcPts val="0"/>
                        </a:spcBef>
                        <a:spcAft>
                          <a:spcPts val="0"/>
                        </a:spcAft>
                        <a:buNone/>
                      </a:pPr>
                      <a:r>
                        <a:rPr b="1" lang="en" sz="1100">
                          <a:latin typeface="Verdana"/>
                          <a:ea typeface="Verdana"/>
                          <a:cs typeface="Verdana"/>
                          <a:sym typeface="Verdana"/>
                        </a:rPr>
                        <a:t>Best performing months</a:t>
                      </a:r>
                      <a:endParaRPr b="1" sz="1100">
                        <a:latin typeface="Verdana"/>
                        <a:ea typeface="Verdana"/>
                        <a:cs typeface="Verdana"/>
                        <a:sym typeface="Verdana"/>
                      </a:endParaRPr>
                    </a:p>
                  </a:txBody>
                  <a:tcPr anchor="ctr" marB="91425" marL="91425" marR="91425" marT="91425"/>
                </a:tc>
                <a:tc>
                  <a:txBody>
                    <a:bodyPr/>
                    <a:lstStyle/>
                    <a:p>
                      <a:pPr algn="ctr" indent="0" lvl="0" marL="0" rtl="0">
                        <a:spcBef>
                          <a:spcPts val="0"/>
                        </a:spcBef>
                        <a:spcAft>
                          <a:spcPts val="0"/>
                        </a:spcAft>
                        <a:buNone/>
                      </a:pPr>
                      <a:r>
                        <a:rPr b="1" lang="en" sz="1100">
                          <a:latin typeface="Verdana"/>
                          <a:ea typeface="Verdana"/>
                          <a:cs typeface="Verdana"/>
                          <a:sym typeface="Verdana"/>
                        </a:rPr>
                        <a:t>Best performing days</a:t>
                      </a:r>
                      <a:endParaRPr b="1" sz="1100">
                        <a:latin typeface="Verdana"/>
                        <a:ea typeface="Verdana"/>
                        <a:cs typeface="Verdana"/>
                        <a:sym typeface="Verdana"/>
                      </a:endParaRPr>
                    </a:p>
                  </a:txBody>
                  <a:tcPr anchor="ctr" marB="91425" marL="91425" marR="91425" marT="91425"/>
                </a:tc>
                <a:extLst>
                  <a:ext uri="{0D108BD9-81ED-4DB2-BD59-A6C34878D82A}">
                    <a16:rowId xmlns:a16="http://schemas.microsoft.com/office/drawing/2014/main" val="10000"/>
                  </a:ext>
                </a:extLst>
              </a:tr>
              <a:tr h="494025">
                <a:tc vMerge="1">
                  <a:txBody>
                    <a:bodyPr/>
                    <a:lstStyle/>
                    <a:p>
                      <a:endParaRPr lang="en-US"/>
                    </a:p>
                  </a:txBody>
                  <a:tcPr/>
                </a:tc>
                <a:tc>
                  <a:txBody>
                    <a:bodyPr/>
                    <a:lstStyle/>
                    <a:p>
                      <a:pPr algn="ctr" indent="0" lvl="0" marL="0" rtl="0">
                        <a:lnSpc>
                          <a:spcPct val="115000"/>
                        </a:lnSpc>
                        <a:spcBef>
                          <a:spcPts val="0"/>
                        </a:spcBef>
                        <a:spcAft>
                          <a:spcPts val="0"/>
                        </a:spcAft>
                        <a:buNone/>
                      </a:pPr>
                      <a:r>
                        <a:rPr lang="en" sz="1150">
                          <a:solidFill>
                            <a:schemeClr val="dk1"/>
                          </a:solidFill>
                          <a:latin typeface="Verdana"/>
                          <a:ea typeface="Verdana"/>
                          <a:cs typeface="Verdana"/>
                          <a:sym typeface="Verdana"/>
                        </a:rPr>
                        <a:t>{{poorestMonths}}</a:t>
                      </a:r>
                      <a:endParaRPr sz="1100">
                        <a:latin typeface="Verdana"/>
                        <a:ea typeface="Verdana"/>
                        <a:cs typeface="Verdana"/>
                        <a:sym typeface="Verdana"/>
                      </a:endParaRPr>
                    </a:p>
                  </a:txBody>
                  <a:tcPr anchor="ctr" marB="91425" marL="91425" marR="91425" marT="91425"/>
                </a:tc>
                <a:tc>
                  <a:txBody>
                    <a:bodyPr/>
                    <a:lstStyle/>
                    <a:p>
                      <a:pPr algn="ctr" indent="0" lvl="0" marL="0" rtl="0">
                        <a:spcBef>
                          <a:spcPts val="0"/>
                        </a:spcBef>
                        <a:spcAft>
                          <a:spcPts val="0"/>
                        </a:spcAft>
                        <a:buNone/>
                      </a:pPr>
                      <a:r>
                        <a:rPr lang="en" sz="1100">
                          <a:latin typeface="Verdana"/>
                          <a:ea typeface="Verdana"/>
                          <a:cs typeface="Verdana"/>
                          <a:sym typeface="Verdana"/>
                        </a:rPr>
                        <a:t>{{bestMonths}}</a:t>
                      </a:r>
                      <a:endParaRPr sz="1100">
                        <a:latin typeface="Verdana"/>
                        <a:ea typeface="Verdana"/>
                        <a:cs typeface="Verdana"/>
                        <a:sym typeface="Verdana"/>
                      </a:endParaRPr>
                    </a:p>
                  </a:txBody>
                  <a:tcPr anchor="ctr" marB="91425" marL="91425" marR="91425" marT="91425"/>
                </a:tc>
                <a:tc>
                  <a:txBody>
                    <a:bodyPr/>
                    <a:lstStyle/>
                    <a:p>
                      <a:pPr algn="ctr" indent="0" lvl="0" marL="0" rtl="0">
                        <a:spcBef>
                          <a:spcPts val="0"/>
                        </a:spcBef>
                        <a:spcAft>
                          <a:spcPts val="0"/>
                        </a:spcAft>
                        <a:buNone/>
                      </a:pPr>
                      <a:r>
                        <a:rPr lang="en" sz="1100">
                          <a:latin typeface="Verdana"/>
                          <a:ea typeface="Verdana"/>
                          <a:cs typeface="Verdana"/>
                          <a:sym typeface="Verdana"/>
                        </a:rPr>
                        <a:t>{{bestDays}}</a:t>
                      </a:r>
                      <a:endParaRPr sz="1100">
                        <a:latin typeface="Verdana"/>
                        <a:ea typeface="Verdana"/>
                        <a:cs typeface="Verdana"/>
                        <a:sym typeface="Verdana"/>
                      </a:endParaRPr>
                    </a:p>
                  </a:txBody>
                  <a:tcPr anchor="ctr" marB="91425" marL="91425" marR="91425" marT="91425"/>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rgbClr val="000000"/>
                </a:solidFill>
                <a:latin typeface="Verdana"/>
                <a:ea typeface="Verdana"/>
                <a:cs typeface="Verdana"/>
                <a:sym typeface="Verdana"/>
              </a:rPr>
              <a:t>8. a. What’s the most frequent compliment you get? </a:t>
            </a:r>
            <a:endParaRPr b="1" sz="1150">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rgbClr val="000000"/>
                </a:solidFill>
                <a:latin typeface="Verdana"/>
                <a:ea typeface="Verdana"/>
                <a:cs typeface="Verdana"/>
                <a:sym typeface="Verdana"/>
              </a:rPr>
              <a:t>    b. What’s the most frequent complaint you get? </a:t>
            </a:r>
            <a:endParaRPr b="1" sz="1150">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anchor="ctr" anchorCtr="0" bIns="91425" lIns="91425" rIns="91425" spcFirstLastPara="1" tIns="91425" wrap="square">
            <a:noAutofit/>
          </a:bodyPr>
          <a:lstStyle/>
          <a:p>
            <a:pPr algn="l" indent="0" lvl="0" marL="0"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Shape 152"/>
        <p:cNvGrpSpPr/>
        <p:nvPr/>
      </p:nvGrpSpPr>
      <p:grpSpPr>
        <a:xfrm>
          <a:off x="0" y="0"/>
          <a:ext cx="0" cy="0"/>
          <a:chOff x="0" y="0"/>
          <a:chExt cx="0" cy="0"/>
        </a:xfrm>
      </p:grpSpPr>
      <p:sp>
        <p:nvSpPr>
          <p:cNvPr id="153" name="Google Shape;153;p18"/>
          <p:cNvSpPr txBox="1"/>
          <p:nvPr/>
        </p:nvSpPr>
        <p:spPr>
          <a:xfrm>
            <a:off x="5779008" y="1883664"/>
            <a:ext cx="706200" cy="7249800"/>
          </a:xfrm>
          <a:prstGeom prst="rect">
            <a:avLst/>
          </a:prstGeom>
          <a:noFill/>
          <a:ln>
            <a:noFill/>
          </a:ln>
        </p:spPr>
        <p:txBody>
          <a:bodyPr anchor="t" anchorCtr="0" bIns="91425" lIns="91425" rIns="91425" spcFirstLastPara="1" tIns="91425" wrap="square">
            <a:spAutoFit/>
          </a:bodyPr>
          <a:lstStyle/>
          <a:p>
            <a:pPr algn="ctr" indent="0" lvl="0" marL="0"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154" name="Google Shape;154;p18"/>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Target Marketing</a:t>
            </a:r>
            <a:endParaRPr/>
          </a:p>
        </p:txBody>
      </p:sp>
      <p:sp>
        <p:nvSpPr>
          <p:cNvPr id="155" name="Google Shape;155;p18"/>
          <p:cNvSpPr txBox="1"/>
          <p:nvPr/>
        </p:nvSpPr>
        <p:spPr>
          <a:xfrm>
            <a:off x="364750" y="1172575"/>
            <a:ext cx="50082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A. What percentage of your "target" consumers are men?</a:t>
            </a:r>
            <a:endParaRPr b="1"/>
          </a:p>
        </p:txBody>
      </p:sp>
      <p:sp>
        <p:nvSpPr>
          <p:cNvPr id="156" name="Google Shape;156;p18"/>
          <p:cNvSpPr txBox="1"/>
          <p:nvPr/>
        </p:nvSpPr>
        <p:spPr>
          <a:xfrm>
            <a:off x="5806900" y="1172575"/>
            <a:ext cx="9519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Women?</a:t>
            </a:r>
            <a:endParaRPr b="1"/>
          </a:p>
        </p:txBody>
      </p:sp>
      <p:sp>
        <p:nvSpPr>
          <p:cNvPr id="157" name="Google Shape;157;p18"/>
          <p:cNvSpPr txBox="1"/>
          <p:nvPr/>
        </p:nvSpPr>
        <p:spPr>
          <a:xfrm>
            <a:off x="364750" y="1650325"/>
            <a:ext cx="62802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b="1" lang="en" sz="1150">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anchor="ctr" anchorCtr="0" bIns="91425" lIns="91425" rIns="91425" spcFirstLastPara="1" tIns="91425" wrap="square">
            <a:noAutofit/>
          </a:bodyPr>
          <a:lstStyle/>
          <a:p>
            <a:pPr algn="l" indent="0" lvl="0" marL="0" rtl="0">
              <a:lnSpc>
                <a:spcPct val="115000"/>
              </a:lnSpc>
              <a:spcBef>
                <a:spcPts val="800"/>
              </a:spcBef>
              <a:spcAft>
                <a:spcPts val="800"/>
              </a:spcAft>
              <a:buNone/>
            </a:pPr>
            <a:r>
              <a:rPr b="1" lang="en" sz="1150">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nvGraphicFramePr>
        <p:xfrm>
          <a:off x="1201409" y="4562856"/>
          <a:ext cx="6741175" cy="2274981"/>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algn="ctr" indent="0" lvl="0" marL="0" rtl="0">
                        <a:spcBef>
                          <a:spcPts val="0"/>
                        </a:spcBef>
                        <a:spcAft>
                          <a:spcPts val="0"/>
                        </a:spcAft>
                        <a:buNone/>
                      </a:pPr>
                      <a:endParaRPr/>
                    </a:p>
                  </a:txBody>
                  <a:tcPr anchor="ctr" marB="91425" marL="91425" marR="91425" marT="91425">
                    <a:lnL cap="flat" cmpd="sng" w="9525">
                      <a:solidFill>
                        <a:srgbClr val="9E9E9E">
                          <a:alpha val="0"/>
                        </a:srgbClr>
                      </a:solidFill>
                      <a:prstDash val="solid"/>
                      <a:round/>
                      <a:headEnd len="sm" type="none" w="sm"/>
                      <a:tailEnd len="sm" type="none" w="sm"/>
                    </a:lnL>
                    <a:lnR cap="flat" cmpd="sng" w="9525">
                      <a:solidFill>
                        <a:srgbClr val="9E9E9E">
                          <a:alpha val="0"/>
                        </a:srgbClr>
                      </a:solidFill>
                      <a:prstDash val="solid"/>
                      <a:round/>
                      <a:headEnd len="sm" type="none" w="sm"/>
                      <a:tailEnd len="sm" type="none" w="sm"/>
                    </a:lnR>
                    <a:lnT cap="flat" cmpd="sng" w="9525">
                      <a:solidFill>
                        <a:srgbClr val="9E9E9E">
                          <a:alpha val="0"/>
                        </a:srgbClr>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endParaRPr/>
                    </a:p>
                  </a:txBody>
                  <a:tcPr anchor="ctr" marB="91425" marL="91425" marR="91425" marT="91425">
                    <a:lnL cap="flat" cmpd="sng" w="9525">
                      <a:solidFill>
                        <a:srgbClr val="9E9E9E">
                          <a:alpha val="0"/>
                        </a:srgbClr>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9E9E9E">
                          <a:alpha val="0"/>
                        </a:srgbClr>
                      </a:solidFill>
                      <a:prstDash val="solid"/>
                      <a:round/>
                      <a:headEnd len="sm" type="none" w="sm"/>
                      <a:tailEnd len="sm" type="none" w="sm"/>
                    </a:lnT>
                    <a:lnB cap="flat" cmpd="sng" w="9525">
                      <a:solidFill>
                        <a:srgbClr val="000000"/>
                      </a:solidFill>
                      <a:prstDash val="solid"/>
                      <a:round/>
                      <a:headEnd len="sm" type="none" w="sm"/>
                      <a:tailEnd len="sm" type="none" w="sm"/>
                    </a:lnB>
                  </a:tcPr>
                </a:tc>
                <a:tc gridSpan="2">
                  <a:txBody>
                    <a:bodyPr/>
                    <a:lstStyle/>
                    <a:p>
                      <a:pPr algn="ctr" indent="0" lvl="0" marL="0" rtl="0">
                        <a:spcBef>
                          <a:spcPts val="0"/>
                        </a:spcBef>
                        <a:spcAft>
                          <a:spcPts val="0"/>
                        </a:spcAft>
                        <a:buNone/>
                      </a:pPr>
                      <a:r>
                        <a:rPr b="1" lang="en" sz="1900">
                          <a:latin typeface="Verdana"/>
                          <a:ea typeface="Verdana"/>
                          <a:cs typeface="Verdana"/>
                          <a:sym typeface="Verdana"/>
                        </a:rPr>
                        <a:t>Target 85%</a:t>
                      </a:r>
                      <a:endParaRPr b="1" sz="1900">
                        <a:latin typeface="Verdana"/>
                        <a:ea typeface="Verdana"/>
                        <a:cs typeface="Verdana"/>
                        <a:sym typeface="Verdana"/>
                      </a:endParaRPr>
                    </a:p>
                  </a:txBody>
                  <a:tcPr anchor="ctr" marB="91425" marL="91425" marR="91425" marT="91425">
                    <a:lnL cap="flat" cmpd="sng" w="19050">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19050">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solidFill>
                      <a:srgbClr val="FFFF00"/>
                    </a:solidFill>
                  </a:tcPr>
                </a:tc>
                <a:tc hMerge="1">
                  <a:txBody>
                    <a:bodyPr/>
                    <a:lstStyle/>
                    <a:p>
                      <a:endParaRPr lang="en-US"/>
                    </a:p>
                  </a:txBody>
                  <a:tcPr/>
                </a:tc>
                <a:tc>
                  <a:txBody>
                    <a:bodyPr/>
                    <a:lstStyle/>
                    <a:p>
                      <a:pPr algn="ctr" indent="0" lvl="0" marL="0" rtl="0">
                        <a:spcBef>
                          <a:spcPts val="0"/>
                        </a:spcBef>
                        <a:spcAft>
                          <a:spcPts val="0"/>
                        </a:spcAft>
                        <a:buNone/>
                      </a:pPr>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9E9E9E">
                          <a:alpha val="0"/>
                        </a:srgbClr>
                      </a:solidFill>
                      <a:prstDash val="solid"/>
                      <a:round/>
                      <a:headEnd len="sm" type="none" w="sm"/>
                      <a:tailEnd len="sm" type="none" w="sm"/>
                    </a:lnR>
                    <a:lnT cap="flat" cmpd="sng" w="9525">
                      <a:solidFill>
                        <a:srgbClr val="9E9E9E">
                          <a:alpha val="0"/>
                        </a:srgbClr>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endParaRPr/>
                    </a:p>
                  </a:txBody>
                  <a:tcPr anchor="ctr" marB="91425" marL="91425" marR="91425" marT="91425">
                    <a:lnL cap="flat" cmpd="sng" w="9525">
                      <a:solidFill>
                        <a:srgbClr val="9E9E9E">
                          <a:alpha val="0"/>
                        </a:srgbClr>
                      </a:solidFill>
                      <a:prstDash val="solid"/>
                      <a:round/>
                      <a:headEnd len="sm" type="none" w="sm"/>
                      <a:tailEnd len="sm" type="none" w="sm"/>
                    </a:lnL>
                    <a:lnR cap="flat" cmpd="sng" w="9525">
                      <a:solidFill>
                        <a:srgbClr val="9E9E9E">
                          <a:alpha val="0"/>
                        </a:srgbClr>
                      </a:solidFill>
                      <a:prstDash val="solid"/>
                      <a:round/>
                      <a:headEnd len="sm" type="none" w="sm"/>
                      <a:tailEnd len="sm" type="none" w="sm"/>
                    </a:lnR>
                    <a:lnT cap="flat" cmpd="sng" w="9525">
                      <a:solidFill>
                        <a:srgbClr val="9E9E9E">
                          <a:alpha val="0"/>
                        </a:srgbClr>
                      </a:solidFill>
                      <a:prstDash val="solid"/>
                      <a:round/>
                      <a:headEnd len="sm" type="none" w="sm"/>
                      <a:tailEnd len="sm" type="none" w="sm"/>
                    </a:lnT>
                    <a:lnB cap="flat" cmpd="sng" w="9525">
                      <a:solidFill>
                        <a:srgbClr val="000000"/>
                      </a:solidFill>
                      <a:prstDash val="solid"/>
                      <a:round/>
                      <a:headEnd len="sm" type="none" w="sm"/>
                      <a:tailEnd len="sm" type="none" w="sm"/>
                    </a:lnB>
                  </a:tcPr>
                </a:tc>
                <a:extLst>
                  <a:ext uri="{0D108BD9-81ED-4DB2-BD59-A6C34878D82A}">
                    <a16:rowId xmlns:a16="http://schemas.microsoft.com/office/drawing/2014/main" val="10000"/>
                  </a:ext>
                </a:extLst>
              </a:tr>
              <a:tr h="579425">
                <a:tc>
                  <a:txBody>
                    <a:bodyPr/>
                    <a:lstStyle/>
                    <a:p>
                      <a:pPr algn="ctr" indent="0" lvl="0" marL="0" rtl="0">
                        <a:spcBef>
                          <a:spcPts val="0"/>
                        </a:spcBef>
                        <a:spcAft>
                          <a:spcPts val="0"/>
                        </a:spcAft>
                        <a:buNone/>
                      </a:pPr>
                      <a:r>
                        <a:rPr b="1" lang="en">
                          <a:latin typeface="Verdana"/>
                          <a:ea typeface="Verdana"/>
                          <a:cs typeface="Verdana"/>
                          <a:sym typeface="Verdana"/>
                        </a:rPr>
                        <a:t>12-18</a:t>
                      </a:r>
                      <a:endParaRPr b="1">
                        <a:latin typeface="Verdana"/>
                        <a:ea typeface="Verdana"/>
                        <a:cs typeface="Verdana"/>
                        <a:sym typeface="Verdana"/>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19-25</a:t>
                      </a:r>
                      <a:endParaRPr b="1">
                        <a:latin typeface="Verdana"/>
                        <a:ea typeface="Verdana"/>
                        <a:cs typeface="Verdana"/>
                        <a:sym typeface="Verdana"/>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26-35</a:t>
                      </a:r>
                      <a:endParaRPr b="1">
                        <a:latin typeface="Verdana"/>
                        <a:ea typeface="Verdana"/>
                        <a:cs typeface="Verdana"/>
                        <a:sym typeface="Verdana"/>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36-45</a:t>
                      </a:r>
                      <a:endParaRPr b="1">
                        <a:latin typeface="Verdana"/>
                        <a:ea typeface="Verdana"/>
                        <a:cs typeface="Verdana"/>
                        <a:sym typeface="Verdana"/>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46-55</a:t>
                      </a:r>
                      <a:endParaRPr b="1">
                        <a:latin typeface="Verdana"/>
                        <a:ea typeface="Verdana"/>
                        <a:cs typeface="Verdana"/>
                        <a:sym typeface="Verdana"/>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56+</a:t>
                      </a:r>
                      <a:endParaRPr b="1">
                        <a:latin typeface="Verdana"/>
                        <a:ea typeface="Verdana"/>
                        <a:cs typeface="Verdana"/>
                        <a:sym typeface="Verdana"/>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extLst>
                  <a:ext uri="{0D108BD9-81ED-4DB2-BD59-A6C34878D82A}">
                    <a16:rowId xmlns:a16="http://schemas.microsoft.com/office/drawing/2014/main" val="10001"/>
                  </a:ext>
                </a:extLst>
              </a:tr>
              <a:tr h="564600">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{{have26to35}}</a:t>
                      </a:r>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extLst>
                  <a:ext uri="{0D108BD9-81ED-4DB2-BD59-A6C34878D82A}">
                    <a16:rowId xmlns:a16="http://schemas.microsoft.com/office/drawing/2014/main" val="10002"/>
                  </a:ext>
                </a:extLst>
              </a:tr>
              <a:tr h="527425">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{{want26to35}}</a:t>
                      </a:r>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19050">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19050">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anchor="ctr" anchorCtr="0" bIns="91425" lIns="91425" rIns="91425" spcFirstLastPara="1" tIns="91425" wrap="square">
            <a:noAutofit/>
          </a:bodyPr>
          <a:lstStyle/>
          <a:p>
            <a:pPr algn="l" indent="0" lvl="0" marL="0"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818400" cy="526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63" name="Google Shape;163;p18"/>
          <p:cNvSpPr txBox="1"/>
          <p:nvPr/>
        </p:nvSpPr>
        <p:spPr>
          <a:xfrm>
            <a:off x="3097300" y="2058725"/>
            <a:ext cx="818400" cy="526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algn="l" indent="0" lvl="0" marL="0"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64" name="Google Shape;164;p18"/>
          <p:cNvSpPr txBox="1"/>
          <p:nvPr/>
        </p:nvSpPr>
        <p:spPr>
          <a:xfrm>
            <a:off x="4828100" y="2058725"/>
            <a:ext cx="818400" cy="526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algn="l" indent="0" lvl="0" marL="0"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65" name="Google Shape;165;p18"/>
          <p:cNvSpPr txBox="1"/>
          <p:nvPr/>
        </p:nvSpPr>
        <p:spPr>
          <a:xfrm>
            <a:off x="6558875" y="2058725"/>
            <a:ext cx="818400" cy="526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66" name="Google Shape;166;p18"/>
          <p:cNvSpPr txBox="1"/>
          <p:nvPr/>
        </p:nvSpPr>
        <p:spPr>
          <a:xfrm>
            <a:off x="5284900" y="1206625"/>
            <a:ext cx="522000" cy="365700"/>
          </a:xfrm>
          <a:prstGeom prst="rect">
            <a:avLst/>
          </a:prstGeom>
          <a:noFill/>
          <a:ln>
            <a:noFill/>
          </a:ln>
        </p:spPr>
        <p:txBody>
          <a:bodyPr anchor="t" anchorCtr="0" bIns="91425" lIns="91425" rIns="91425" spcFirstLastPara="1" tIns="91425" wrap="square">
            <a:noAutofit/>
          </a:bodyPr>
          <a:lstStyle/>
          <a:p>
            <a:pPr algn="l" indent="0" lvl="0" marL="0"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67" name="Google Shape;167;p18"/>
          <p:cNvSpPr txBox="1"/>
          <p:nvPr/>
        </p:nvSpPr>
        <p:spPr>
          <a:xfrm>
            <a:off x="6707075" y="1206625"/>
            <a:ext cx="522000" cy="365700"/>
          </a:xfrm>
          <a:prstGeom prst="rect">
            <a:avLst/>
          </a:prstGeom>
          <a:noFill/>
          <a:ln>
            <a:noFill/>
          </a:ln>
        </p:spPr>
        <p:txBody>
          <a:bodyPr anchor="t" anchorCtr="0" bIns="91425" lIns="91425" rIns="91425" spcFirstLastPara="1" tIns="91425" wrap="square">
            <a:noAutofit/>
          </a:bodyPr>
          <a:lstStyle/>
          <a:p>
            <a:pPr algn="l" indent="0" lvl="0" marL="0"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68" name="Google Shape;168;p18"/>
          <p:cNvSpPr txBox="1"/>
          <p:nvPr/>
        </p:nvSpPr>
        <p:spPr>
          <a:xfrm>
            <a:off x="2286000" y="1883664"/>
            <a:ext cx="706200" cy="8046300"/>
          </a:xfrm>
          <a:prstGeom prst="rect">
            <a:avLst/>
          </a:prstGeom>
          <a:noFill/>
          <a:ln>
            <a:noFill/>
          </a:ln>
        </p:spPr>
        <p:txBody>
          <a:bodyPr anchor="t" anchorCtr="0" bIns="91425" lIns="91425" rIns="91425" spcFirstLastPara="1" tIns="91425" wrap="square">
            <a:spAutoFit/>
          </a:bodyPr>
          <a:lstStyle/>
          <a:p>
            <a:pPr algn="ctr" indent="0" lvl="0" marL="0"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169" name="Google Shape;169;p18"/>
          <p:cNvSpPr txBox="1"/>
          <p:nvPr/>
        </p:nvSpPr>
        <p:spPr>
          <a:xfrm>
            <a:off x="4023360" y="1883664"/>
            <a:ext cx="704100" cy="9639600"/>
          </a:xfrm>
          <a:prstGeom prst="rect">
            <a:avLst/>
          </a:prstGeom>
          <a:noFill/>
          <a:ln>
            <a:noFill/>
          </a:ln>
        </p:spPr>
        <p:txBody>
          <a:bodyPr anchor="t" anchorCtr="0" bIns="91425" lIns="91425" rIns="91425" spcFirstLastPara="1" tIns="91425" wrap="square">
            <a:spAutoFit/>
          </a:bodyPr>
          <a:lstStyle/>
          <a:p>
            <a:pPr algn="ctr" indent="0" lvl="0" marL="0"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170" name="Google Shape;170;p18"/>
          <p:cNvSpPr txBox="1"/>
          <p:nvPr/>
        </p:nvSpPr>
        <p:spPr>
          <a:xfrm>
            <a:off x="557784" y="1883664"/>
            <a:ext cx="704100" cy="10436100"/>
          </a:xfrm>
          <a:prstGeom prst="rect">
            <a:avLst/>
          </a:prstGeom>
          <a:noFill/>
          <a:ln>
            <a:noFill/>
          </a:ln>
        </p:spPr>
        <p:txBody>
          <a:bodyPr anchor="t" anchorCtr="0" bIns="91425" lIns="91425" rIns="91425" spcFirstLastPara="1" tIns="91425" wrap="square">
            <a:spAutoFit/>
          </a:bodyPr>
          <a:lstStyle/>
          <a:p>
            <a:pPr algn="ctr" indent="0" lvl="0" marL="0"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171" name="Google Shape;171;p18"/>
          <p:cNvSpPr/>
          <p:nvPr/>
        </p:nvSpPr>
        <p:spPr>
          <a:xfrm rot="5400000">
            <a:off x="2633172" y="4330739"/>
            <a:ext cx="566100" cy="1022700"/>
          </a:xfrm>
          <a:prstGeom prst="curvedRightArrow">
            <a:avLst>
              <a:gd fmla="val 25000" name="adj1"/>
              <a:gd fmla="val 50000" name="adj2"/>
              <a:gd fmla="val 25000" name="adj3"/>
            </a:avLst>
          </a:prstGeom>
          <a:solidFill>
            <a:srgbClr val="FF0000"/>
          </a:solidFill>
          <a:ln cap="flat" cmpd="sng" w="9525">
            <a:solidFill>
              <a:srgbClr val="FF0000"/>
            </a:solidFill>
            <a:prstDash val="solid"/>
            <a:round/>
            <a:headEnd len="sm" type="none" w="sm"/>
            <a:tailEnd len="sm" type="none" w="sm"/>
          </a:ln>
        </p:spPr>
        <p:txBody>
          <a:bodyPr anchor="ctr" anchorCtr="0" bIns="91425" lIns="91425" rIns="91425" spcFirstLastPara="1" tIns="91425" wrap="square">
            <a:noAutofit/>
          </a:bodyPr>
          <a:lstStyle/>
          <a:p>
            <a:pPr algn="l" indent="0" lvl="0" marL="0" rtl="0">
              <a:spcBef>
                <a:spcPts val="0"/>
              </a:spcBef>
              <a:spcAft>
                <a:spcPts val="0"/>
              </a:spcAft>
              <a:buNone/>
            </a:pPr>
            <a:endParaRPr/>
          </a:p>
        </p:txBody>
      </p:sp>
      <p:sp>
        <p:nvSpPr>
          <p:cNvPr id="172" name="Google Shape;172;p18"/>
          <p:cNvSpPr/>
          <p:nvPr/>
        </p:nvSpPr>
        <p:spPr>
          <a:xfrm flipH="1" rot="-5400000">
            <a:off x="5986906" y="4330739"/>
            <a:ext cx="566100" cy="1022700"/>
          </a:xfrm>
          <a:prstGeom prst="curvedRightArrow">
            <a:avLst>
              <a:gd fmla="val 25000" name="adj1"/>
              <a:gd fmla="val 50000" name="adj2"/>
              <a:gd fmla="val 25000" name="adj3"/>
            </a:avLst>
          </a:prstGeom>
          <a:solidFill>
            <a:srgbClr val="FF0000"/>
          </a:solidFill>
          <a:ln cap="flat" cmpd="sng" w="9525">
            <a:solidFill>
              <a:srgbClr val="FF0000"/>
            </a:solidFill>
            <a:prstDash val="solid"/>
            <a:round/>
            <a:headEnd len="sm" type="none" w="sm"/>
            <a:tailEnd len="sm" type="none" w="sm"/>
          </a:ln>
        </p:spPr>
        <p:txBody>
          <a:bodyPr anchor="ctr" anchorCtr="0" bIns="91425" lIns="91425" rIns="91425" spcFirstLastPara="1" tIns="91425" wrap="square">
            <a:noAutofit/>
          </a:bodyPr>
          <a:lstStyle/>
          <a:p>
            <a:pPr algn="l" indent="0" lvl="0" marL="0"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b="1" lang="en">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b="1" lang="en">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Shape 178"/>
        <p:cNvGrpSpPr/>
        <p:nvPr/>
      </p:nvGrpSpPr>
      <p:grpSpPr>
        <a:xfrm>
          <a:off x="0" y="0"/>
          <a:ext cx="0" cy="0"/>
          <a:chOff x="0" y="0"/>
          <a:chExt cx="0" cy="0"/>
        </a:xfrm>
      </p:grpSpPr>
      <p:sp>
        <p:nvSpPr>
          <p:cNvPr id="179" name="Google Shape;179;p19"/>
          <p:cNvSpPr txBox="1"/>
          <p:nvPr/>
        </p:nvSpPr>
        <p:spPr>
          <a:xfrm>
            <a:off x="4023360" y="1883664"/>
            <a:ext cx="704100" cy="9639600"/>
          </a:xfrm>
          <a:prstGeom prst="rect">
            <a:avLst/>
          </a:prstGeom>
          <a:noFill/>
          <a:ln>
            <a:noFill/>
          </a:ln>
        </p:spPr>
        <p:txBody>
          <a:bodyPr anchor="t" anchorCtr="0" bIns="91425" lIns="91425" rIns="91425" spcFirstLastPara="1" tIns="91425" wrap="square">
            <a:spAutoFit/>
          </a:bodyPr>
          <a:lstStyle/>
          <a:p>
            <a:pPr algn="ctr" indent="0" lvl="0" marL="0"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180" name="Google Shape;180;p19"/>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b="1" lang="en" sz="1150">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anchor="ctr" anchorCtr="0" bIns="91425" lIns="91425" rIns="91425" spcFirstLastPara="1" tIns="91425" wrap="square">
            <a:noAutofit/>
          </a:bodyPr>
          <a:lstStyle/>
          <a:p>
            <a:pPr algn="l" indent="0" lvl="0" marL="0" rtl="0">
              <a:lnSpc>
                <a:spcPct val="115000"/>
              </a:lnSpc>
              <a:spcBef>
                <a:spcPts val="800"/>
              </a:spcBef>
              <a:spcAft>
                <a:spcPts val="800"/>
              </a:spcAft>
              <a:buNone/>
            </a:pPr>
            <a:r>
              <a:rPr b="1" lang="en" sz="1150">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algn="ctr" indent="0" lvl="0" marL="0" rtl="0">
                        <a:spcBef>
                          <a:spcPts val="0"/>
                        </a:spcBef>
                        <a:spcAft>
                          <a:spcPts val="0"/>
                        </a:spcAft>
                        <a:buNone/>
                      </a:pPr>
                      <a:endParaRPr/>
                    </a:p>
                  </a:txBody>
                  <a:tcPr anchor="ctr" marB="91425" marL="91425" marR="91425" marT="91425">
                    <a:lnL cap="flat" cmpd="sng" w="9525">
                      <a:solidFill>
                        <a:srgbClr val="9E9E9E">
                          <a:alpha val="0"/>
                        </a:srgbClr>
                      </a:solidFill>
                      <a:prstDash val="solid"/>
                      <a:round/>
                      <a:headEnd len="sm" type="none" w="sm"/>
                      <a:tailEnd len="sm" type="none" w="sm"/>
                    </a:lnL>
                    <a:lnR cap="flat" cmpd="sng" w="9525">
                      <a:solidFill>
                        <a:srgbClr val="9E9E9E">
                          <a:alpha val="0"/>
                        </a:srgbClr>
                      </a:solidFill>
                      <a:prstDash val="solid"/>
                      <a:round/>
                      <a:headEnd len="sm" type="none" w="sm"/>
                      <a:tailEnd len="sm" type="none" w="sm"/>
                    </a:lnR>
                    <a:lnT cap="flat" cmpd="sng" w="9525">
                      <a:solidFill>
                        <a:srgbClr val="9E9E9E">
                          <a:alpha val="0"/>
                        </a:srgbClr>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endParaRPr/>
                    </a:p>
                  </a:txBody>
                  <a:tcPr anchor="ctr" marB="91425" marL="91425" marR="91425" marT="91425">
                    <a:lnL cap="flat" cmpd="sng" w="9525">
                      <a:solidFill>
                        <a:srgbClr val="9E9E9E">
                          <a:alpha val="0"/>
                        </a:srgbClr>
                      </a:solidFill>
                      <a:prstDash val="solid"/>
                      <a:round/>
                      <a:headEnd len="sm" type="none" w="sm"/>
                      <a:tailEnd len="sm" type="none" w="sm"/>
                    </a:lnL>
                    <a:lnR cap="flat" cmpd="sng" w="9525">
                      <a:solidFill>
                        <a:srgbClr val="000000">
                          <a:alpha val="0"/>
                        </a:srgbClr>
                      </a:solidFill>
                      <a:prstDash val="solid"/>
                      <a:round/>
                      <a:headEnd len="sm" type="none" w="sm"/>
                      <a:tailEnd len="sm" type="none" w="sm"/>
                    </a:lnR>
                    <a:lnT cap="flat" cmpd="sng" w="9525">
                      <a:solidFill>
                        <a:srgbClr val="9E9E9E">
                          <a:alpha val="0"/>
                        </a:srgbClr>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endParaRPr b="1" sz="1900">
                        <a:latin typeface="Verdana"/>
                        <a:ea typeface="Verdana"/>
                        <a:cs typeface="Verdana"/>
                        <a:sym typeface="Verdana"/>
                      </a:endParaRPr>
                    </a:p>
                  </a:txBody>
                  <a:tcPr anchor="ctr" marB="91425" marL="91425" marR="91425" marT="91425">
                    <a:lnL cap="flat" cmpd="sng" w="9525">
                      <a:solidFill>
                        <a:srgbClr val="000000">
                          <a:alpha val="0"/>
                        </a:srgbClr>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alpha val="0"/>
                        </a:srgbClr>
                      </a:solidFill>
                      <a:prstDash val="solid"/>
                      <a:round/>
                      <a:headEnd len="sm" type="none" w="sm"/>
                      <a:tailEnd len="sm" type="none" w="sm"/>
                    </a:lnT>
                    <a:lnB cap="flat" cmpd="sng" w="9525">
                      <a:solidFill>
                        <a:srgbClr val="000000"/>
                      </a:solidFill>
                      <a:prstDash val="solid"/>
                      <a:round/>
                      <a:headEnd len="sm" type="none" w="sm"/>
                      <a:tailEnd len="sm" type="none" w="sm"/>
                    </a:lnB>
                  </a:tcPr>
                </a:tc>
                <a:tc gridSpan="2">
                  <a:txBody>
                    <a:bodyPr/>
                    <a:lstStyle/>
                    <a:p>
                      <a:pPr algn="ctr" indent="0" lvl="0" marL="0" rtl="0">
                        <a:spcBef>
                          <a:spcPts val="0"/>
                        </a:spcBef>
                        <a:spcAft>
                          <a:spcPts val="0"/>
                        </a:spcAft>
                        <a:buNone/>
                      </a:pPr>
                      <a:r>
                        <a:rPr b="1" lang="en" sz="1900">
                          <a:latin typeface="Verdana"/>
                          <a:ea typeface="Verdana"/>
                          <a:cs typeface="Verdana"/>
                          <a:sym typeface="Verdana"/>
                        </a:rPr>
                        <a:t>Target 85%</a:t>
                      </a:r>
                      <a:endParaRPr b="1" sz="1900">
                        <a:latin typeface="Verdana"/>
                        <a:ea typeface="Verdana"/>
                        <a:cs typeface="Verdana"/>
                        <a:sym typeface="Verdana"/>
                      </a:endParaRPr>
                    </a:p>
                  </a:txBody>
                  <a:tcPr anchor="ctr" marB="91425" marL="91425" marR="91425" marT="91425">
                    <a:lnL cap="flat" cmpd="sng" w="19050">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19050">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solidFill>
                      <a:srgbClr val="FFFF00"/>
                    </a:solidFill>
                  </a:tcPr>
                </a:tc>
                <a:tc hMerge="1">
                  <a:txBody>
                    <a:bodyPr/>
                    <a:lstStyle/>
                    <a:p>
                      <a:endParaRPr lang="en-US"/>
                    </a:p>
                  </a:txBody>
                  <a:tcPr/>
                </a:tc>
                <a:tc>
                  <a:txBody>
                    <a:bodyPr/>
                    <a:lstStyle/>
                    <a:p>
                      <a:pPr algn="ctr" indent="0" lvl="0" marL="0" rtl="0">
                        <a:spcBef>
                          <a:spcPts val="0"/>
                        </a:spcBef>
                        <a:spcAft>
                          <a:spcPts val="0"/>
                        </a:spcAft>
                        <a:buNone/>
                      </a:pPr>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9E9E9E">
                          <a:alpha val="0"/>
                        </a:srgbClr>
                      </a:solidFill>
                      <a:prstDash val="solid"/>
                      <a:round/>
                      <a:headEnd len="sm" type="none" w="sm"/>
                      <a:tailEnd len="sm" type="none" w="sm"/>
                    </a:lnR>
                    <a:lnT cap="flat" cmpd="sng" w="9525">
                      <a:solidFill>
                        <a:srgbClr val="9E9E9E">
                          <a:alpha val="0"/>
                        </a:srgbClr>
                      </a:solidFill>
                      <a:prstDash val="solid"/>
                      <a:round/>
                      <a:headEnd len="sm" type="none" w="sm"/>
                      <a:tailEnd len="sm" type="none" w="sm"/>
                    </a:lnT>
                    <a:lnB cap="flat" cmpd="sng" w="9525">
                      <a:solidFill>
                        <a:srgbClr val="000000"/>
                      </a:solidFill>
                      <a:prstDash val="solid"/>
                      <a:round/>
                      <a:headEnd len="sm" type="none" w="sm"/>
                      <a:tailEnd len="sm" type="none" w="sm"/>
                    </a:lnB>
                  </a:tcPr>
                </a:tc>
                <a:extLst>
                  <a:ext uri="{0D108BD9-81ED-4DB2-BD59-A6C34878D82A}">
                    <a16:rowId xmlns:a16="http://schemas.microsoft.com/office/drawing/2014/main" val="10000"/>
                  </a:ext>
                </a:extLst>
              </a:tr>
              <a:tr h="579425">
                <a:tc>
                  <a:txBody>
                    <a:bodyPr/>
                    <a:lstStyle/>
                    <a:p>
                      <a:pPr algn="ctr" indent="0" lvl="0" marL="0" rtl="0">
                        <a:spcBef>
                          <a:spcPts val="0"/>
                        </a:spcBef>
                        <a:spcAft>
                          <a:spcPts val="0"/>
                        </a:spcAft>
                        <a:buNone/>
                      </a:pPr>
                      <a:r>
                        <a:rPr b="1" lang="en">
                          <a:latin typeface="Verdana"/>
                          <a:ea typeface="Verdana"/>
                          <a:cs typeface="Verdana"/>
                          <a:sym typeface="Verdana"/>
                        </a:rPr>
                        <a:t>12-18</a:t>
                      </a:r>
                      <a:endParaRPr b="1">
                        <a:latin typeface="Verdana"/>
                        <a:ea typeface="Verdana"/>
                        <a:cs typeface="Verdana"/>
                        <a:sym typeface="Verdana"/>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19-25</a:t>
                      </a:r>
                      <a:endParaRPr b="1">
                        <a:latin typeface="Verdana"/>
                        <a:ea typeface="Verdana"/>
                        <a:cs typeface="Verdana"/>
                        <a:sym typeface="Verdana"/>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26-35</a:t>
                      </a:r>
                      <a:endParaRPr b="1">
                        <a:latin typeface="Verdana"/>
                        <a:ea typeface="Verdana"/>
                        <a:cs typeface="Verdana"/>
                        <a:sym typeface="Verdana"/>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36-45</a:t>
                      </a:r>
                      <a:endParaRPr b="1">
                        <a:latin typeface="Verdana"/>
                        <a:ea typeface="Verdana"/>
                        <a:cs typeface="Verdana"/>
                        <a:sym typeface="Verdana"/>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46-55</a:t>
                      </a:r>
                      <a:endParaRPr b="1">
                        <a:latin typeface="Verdana"/>
                        <a:ea typeface="Verdana"/>
                        <a:cs typeface="Verdana"/>
                        <a:sym typeface="Verdana"/>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56+</a:t>
                      </a:r>
                      <a:endParaRPr b="1">
                        <a:latin typeface="Verdana"/>
                        <a:ea typeface="Verdana"/>
                        <a:cs typeface="Verdana"/>
                        <a:sym typeface="Verdana"/>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extLst>
                  <a:ext uri="{0D108BD9-81ED-4DB2-BD59-A6C34878D82A}">
                    <a16:rowId xmlns:a16="http://schemas.microsoft.com/office/drawing/2014/main" val="10001"/>
                  </a:ext>
                </a:extLst>
              </a:tr>
              <a:tr h="527425">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extLst>
                  <a:ext uri="{0D108BD9-81ED-4DB2-BD59-A6C34878D82A}">
                    <a16:rowId xmlns:a16="http://schemas.microsoft.com/office/drawing/2014/main" val="10002"/>
                  </a:ext>
                </a:extLst>
              </a:tr>
              <a:tr h="527425">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19050">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19050">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818400" cy="526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algn="l" indent="0" lvl="0" marL="0"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89" name="Google Shape;189;p19"/>
          <p:cNvSpPr txBox="1"/>
          <p:nvPr/>
        </p:nvSpPr>
        <p:spPr>
          <a:xfrm>
            <a:off x="4828100" y="2058725"/>
            <a:ext cx="818400" cy="526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algn="l" indent="0" lvl="0" marL="0"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90" name="Google Shape;190;p19"/>
          <p:cNvSpPr txBox="1"/>
          <p:nvPr/>
        </p:nvSpPr>
        <p:spPr>
          <a:xfrm>
            <a:off x="6558875" y="2058725"/>
            <a:ext cx="818400" cy="526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anchor="ctr" anchorCtr="0" bIns="91425" lIns="91425" rIns="91425" spcFirstLastPara="1" tIns="91425" wrap="square">
            <a:noAutofit/>
          </a:bodyPr>
          <a:lstStyle/>
          <a:p>
            <a:pPr algn="l" indent="0" lvl="0" marL="0"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522000" cy="365700"/>
          </a:xfrm>
          <a:prstGeom prst="rect">
            <a:avLst/>
          </a:prstGeom>
          <a:noFill/>
          <a:ln>
            <a:noFill/>
          </a:ln>
        </p:spPr>
        <p:txBody>
          <a:bodyPr anchor="t" anchorCtr="0" bIns="91425" lIns="91425" rIns="91425" spcFirstLastPara="1" tIns="91425" wrap="square">
            <a:noAutofit/>
          </a:bodyPr>
          <a:lstStyle/>
          <a:p>
            <a:pPr algn="l" indent="0" lvl="0" marL="0"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93" name="Google Shape;193;p19"/>
          <p:cNvSpPr txBox="1"/>
          <p:nvPr/>
        </p:nvSpPr>
        <p:spPr>
          <a:xfrm>
            <a:off x="6707075" y="1206625"/>
            <a:ext cx="522000" cy="365700"/>
          </a:xfrm>
          <a:prstGeom prst="rect">
            <a:avLst/>
          </a:prstGeom>
          <a:noFill/>
          <a:ln>
            <a:noFill/>
          </a:ln>
        </p:spPr>
        <p:txBody>
          <a:bodyPr anchor="t" anchorCtr="0" bIns="91425" lIns="91425" rIns="91425" spcFirstLastPara="1" tIns="91425" wrap="square">
            <a:noAutofit/>
          </a:bodyPr>
          <a:lstStyle/>
          <a:p>
            <a:pPr algn="l" indent="0" lvl="0" marL="0"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94" name="Google Shape;194;p19"/>
          <p:cNvSpPr txBox="1"/>
          <p:nvPr/>
        </p:nvSpPr>
        <p:spPr>
          <a:xfrm>
            <a:off x="2286000" y="1883664"/>
            <a:ext cx="706200" cy="8046300"/>
          </a:xfrm>
          <a:prstGeom prst="rect">
            <a:avLst/>
          </a:prstGeom>
          <a:noFill/>
          <a:ln>
            <a:noFill/>
          </a:ln>
        </p:spPr>
        <p:txBody>
          <a:bodyPr anchor="t" anchorCtr="0" bIns="91425" lIns="91425" rIns="91425" spcFirstLastPara="1" tIns="91425" wrap="square">
            <a:spAutoFit/>
          </a:bodyPr>
          <a:lstStyle/>
          <a:p>
            <a:pPr algn="ctr" indent="0" lvl="0" marL="0"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195" name="Google Shape;195;p19"/>
          <p:cNvSpPr txBox="1"/>
          <p:nvPr/>
        </p:nvSpPr>
        <p:spPr>
          <a:xfrm>
            <a:off x="5779008" y="1883664"/>
            <a:ext cx="706200" cy="7249800"/>
          </a:xfrm>
          <a:prstGeom prst="rect">
            <a:avLst/>
          </a:prstGeom>
          <a:noFill/>
          <a:ln>
            <a:noFill/>
          </a:ln>
        </p:spPr>
        <p:txBody>
          <a:bodyPr anchor="t" anchorCtr="0" bIns="91425" lIns="91425" rIns="91425" spcFirstLastPara="1" tIns="91425" wrap="square">
            <a:spAutoFit/>
          </a:bodyPr>
          <a:lstStyle/>
          <a:p>
            <a:pPr algn="ctr" indent="0" lvl="0" marL="0"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196" name="Google Shape;196;p19"/>
          <p:cNvSpPr txBox="1"/>
          <p:nvPr/>
        </p:nvSpPr>
        <p:spPr>
          <a:xfrm>
            <a:off x="557784" y="1883664"/>
            <a:ext cx="704100" cy="10436100"/>
          </a:xfrm>
          <a:prstGeom prst="rect">
            <a:avLst/>
          </a:prstGeom>
          <a:noFill/>
          <a:ln>
            <a:noFill/>
          </a:ln>
        </p:spPr>
        <p:txBody>
          <a:bodyPr anchor="t" anchorCtr="0" bIns="91425" lIns="91425" rIns="91425" spcFirstLastPara="1" tIns="91425" wrap="square">
            <a:spAutoFit/>
          </a:bodyPr>
          <a:lstStyle/>
          <a:p>
            <a:pPr algn="ctr" indent="0" lvl="0" marL="0"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197" name="Google Shape;197;p19"/>
          <p:cNvSpPr/>
          <p:nvPr/>
        </p:nvSpPr>
        <p:spPr>
          <a:xfrm rot="5400000">
            <a:off x="3767028" y="4330739"/>
            <a:ext cx="566100" cy="1022700"/>
          </a:xfrm>
          <a:prstGeom prst="curvedRightArrow">
            <a:avLst>
              <a:gd fmla="val 25000" name="adj1"/>
              <a:gd fmla="val 50000" name="adj2"/>
              <a:gd fmla="val 25000" name="adj3"/>
            </a:avLst>
          </a:prstGeom>
          <a:solidFill>
            <a:srgbClr val="FF0000"/>
          </a:solidFill>
          <a:ln cap="flat" cmpd="sng" w="9525">
            <a:solidFill>
              <a:srgbClr val="FF0000"/>
            </a:solidFill>
            <a:prstDash val="solid"/>
            <a:round/>
            <a:headEnd len="sm" type="none" w="sm"/>
            <a:tailEnd len="sm" type="none" w="sm"/>
          </a:ln>
        </p:spPr>
        <p:txBody>
          <a:bodyPr anchor="ctr" anchorCtr="0" bIns="91425" lIns="91425" rIns="91425" spcFirstLastPara="1" tIns="91425" wrap="square">
            <a:noAutofit/>
          </a:bodyPr>
          <a:lstStyle/>
          <a:p>
            <a:pPr algn="l" indent="0" lvl="0" marL="0" rtl="0">
              <a:spcBef>
                <a:spcPts val="0"/>
              </a:spcBef>
              <a:spcAft>
                <a:spcPts val="0"/>
              </a:spcAft>
              <a:buNone/>
            </a:pPr>
            <a:endParaRPr/>
          </a:p>
        </p:txBody>
      </p:sp>
      <p:sp>
        <p:nvSpPr>
          <p:cNvPr id="198" name="Google Shape;198;p19"/>
          <p:cNvSpPr/>
          <p:nvPr/>
        </p:nvSpPr>
        <p:spPr>
          <a:xfrm flipH="1" rot="-5400000">
            <a:off x="7120762" y="4330739"/>
            <a:ext cx="566100" cy="1022700"/>
          </a:xfrm>
          <a:prstGeom prst="curvedRightArrow">
            <a:avLst>
              <a:gd fmla="val 25000" name="adj1"/>
              <a:gd fmla="val 50000" name="adj2"/>
              <a:gd fmla="val 25000" name="adj3"/>
            </a:avLst>
          </a:prstGeom>
          <a:solidFill>
            <a:srgbClr val="FF0000"/>
          </a:solidFill>
          <a:ln cap="flat" cmpd="sng" w="9525">
            <a:solidFill>
              <a:srgbClr val="FF0000"/>
            </a:solidFill>
            <a:prstDash val="solid"/>
            <a:round/>
            <a:headEnd len="sm" type="none" w="sm"/>
            <a:tailEnd len="sm" type="none" w="sm"/>
          </a:ln>
        </p:spPr>
        <p:txBody>
          <a:bodyPr anchor="ctr" anchorCtr="0" bIns="91425" lIns="91425" rIns="91425" spcFirstLastPara="1" tIns="91425" wrap="square">
            <a:noAutofit/>
          </a:bodyPr>
          <a:lstStyle/>
          <a:p>
            <a:pPr algn="l" indent="0" lvl="0" marL="0"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b="1" lang="en">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b="1" lang="en">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algn="ctr" indent="0" lvl="0" marL="0" rtl="0">
                        <a:spcBef>
                          <a:spcPts val="0"/>
                        </a:spcBef>
                        <a:spcAft>
                          <a:spcPts val="0"/>
                        </a:spcAft>
                        <a:buNone/>
                      </a:pPr>
                      <a:endParaRPr/>
                    </a:p>
                  </a:txBody>
                  <a:tcPr anchor="ctr" marB="91425" marL="91425" marR="91425" marT="91425">
                    <a:lnL cap="flat" cmpd="sng" w="9525">
                      <a:solidFill>
                        <a:srgbClr val="9E9E9E">
                          <a:alpha val="0"/>
                        </a:srgbClr>
                      </a:solidFill>
                      <a:prstDash val="solid"/>
                      <a:round/>
                      <a:headEnd len="sm" type="none" w="sm"/>
                      <a:tailEnd len="sm" type="none" w="sm"/>
                    </a:lnL>
                    <a:lnR cap="flat" cmpd="sng" w="9525">
                      <a:solidFill>
                        <a:srgbClr val="9E9E9E">
                          <a:alpha val="0"/>
                        </a:srgbClr>
                      </a:solidFill>
                      <a:prstDash val="solid"/>
                      <a:round/>
                      <a:headEnd len="sm" type="none" w="sm"/>
                      <a:tailEnd len="sm" type="none" w="sm"/>
                    </a:lnR>
                    <a:lnT cap="flat" cmpd="sng" w="9525">
                      <a:solidFill>
                        <a:srgbClr val="9E9E9E">
                          <a:alpha val="0"/>
                        </a:srgbClr>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endParaRPr/>
                    </a:p>
                  </a:txBody>
                  <a:tcPr anchor="ctr" marB="91425" marL="91425" marR="91425" marT="91425">
                    <a:lnL cap="flat" cmpd="sng" w="9525">
                      <a:solidFill>
                        <a:srgbClr val="9E9E9E">
                          <a:alpha val="0"/>
                        </a:srgbClr>
                      </a:solidFill>
                      <a:prstDash val="solid"/>
                      <a:round/>
                      <a:headEnd len="sm" type="none" w="sm"/>
                      <a:tailEnd len="sm" type="none" w="sm"/>
                    </a:lnL>
                    <a:lnR cap="flat" cmpd="sng" w="9525">
                      <a:solidFill>
                        <a:srgbClr val="000000">
                          <a:alpha val="0"/>
                        </a:srgbClr>
                      </a:solidFill>
                      <a:prstDash val="solid"/>
                      <a:round/>
                      <a:headEnd len="sm" type="none" w="sm"/>
                      <a:tailEnd len="sm" type="none" w="sm"/>
                    </a:lnR>
                    <a:lnT cap="flat" cmpd="sng" w="9525">
                      <a:solidFill>
                        <a:srgbClr val="9E9E9E">
                          <a:alpha val="0"/>
                        </a:srgbClr>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endParaRPr b="1" sz="1900">
                        <a:latin typeface="Verdana"/>
                        <a:ea typeface="Verdana"/>
                        <a:cs typeface="Verdana"/>
                        <a:sym typeface="Verdana"/>
                      </a:endParaRPr>
                    </a:p>
                  </a:txBody>
                  <a:tcPr anchor="ctr" marB="91425" marL="91425" marR="91425" marT="91425">
                    <a:lnL cap="flat" cmpd="sng" w="9525">
                      <a:solidFill>
                        <a:srgbClr val="000000">
                          <a:alpha val="0"/>
                        </a:srgbClr>
                      </a:solidFill>
                      <a:prstDash val="solid"/>
                      <a:round/>
                      <a:headEnd len="sm" type="none" w="sm"/>
                      <a:tailEnd len="sm" type="none" w="sm"/>
                    </a:lnL>
                    <a:lnR cap="flat" cmpd="sng" w="19050">
                      <a:solidFill>
                        <a:srgbClr val="000000">
                          <a:alpha val="0"/>
                        </a:srgbClr>
                      </a:solidFill>
                      <a:prstDash val="solid"/>
                      <a:round/>
                      <a:headEnd len="sm" type="none" w="sm"/>
                      <a:tailEnd len="sm" type="none" w="sm"/>
                    </a:lnR>
                    <a:lnT cap="flat" cmpd="sng" w="9525">
                      <a:solidFill>
                        <a:srgbClr val="000000">
                          <a:alpha val="0"/>
                        </a:srgbClr>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l" indent="0" lvl="0" marL="0" rtl="0">
                        <a:spcBef>
                          <a:spcPts val="0"/>
                        </a:spcBef>
                        <a:spcAft>
                          <a:spcPts val="0"/>
                        </a:spcAft>
                        <a:buNone/>
                      </a:pPr>
                      <a:endParaRPr/>
                    </a:p>
                  </a:txBody>
                  <a:tcPr anchor="ctr" marB="91425" marL="91425" marR="91425" marT="91425">
                    <a:lnL cap="flat" cmpd="sng" w="19050">
                      <a:solidFill>
                        <a:srgbClr val="000000">
                          <a:alpha val="0"/>
                        </a:srgbClr>
                      </a:solidFill>
                      <a:prstDash val="solid"/>
                      <a:round/>
                      <a:headEnd len="sm" type="none" w="sm"/>
                      <a:tailEnd len="sm" type="none" w="sm"/>
                    </a:lnL>
                    <a:lnR cap="flat" cmpd="sng" w="19050">
                      <a:solidFill>
                        <a:srgbClr val="000000"/>
                      </a:solidFill>
                      <a:prstDash val="solid"/>
                      <a:round/>
                      <a:headEnd len="sm" type="none" w="sm"/>
                      <a:tailEnd len="sm" type="none" w="sm"/>
                    </a:lnR>
                    <a:lnT cap="flat" cmpd="sng" w="19050">
                      <a:solidFill>
                        <a:srgbClr val="000000">
                          <a:alpha val="0"/>
                        </a:srgbClr>
                      </a:solidFill>
                      <a:prstDash val="solid"/>
                      <a:round/>
                      <a:headEnd len="sm" type="none" w="sm"/>
                      <a:tailEnd len="sm" type="none" w="sm"/>
                    </a:lnT>
                    <a:lnB cap="flat" cmpd="sng" w="9525">
                      <a:solidFill>
                        <a:srgbClr val="000000"/>
                      </a:solidFill>
                      <a:prstDash val="solid"/>
                      <a:round/>
                      <a:headEnd len="sm" type="none" w="sm"/>
                      <a:tailEnd len="sm" type="none" w="sm"/>
                    </a:lnB>
                  </a:tcPr>
                </a:tc>
                <a:tc gridSpan="2">
                  <a:txBody>
                    <a:bodyPr/>
                    <a:lstStyle/>
                    <a:p>
                      <a:pPr algn="ctr" indent="0" lvl="0" marL="0" rtl="0">
                        <a:spcBef>
                          <a:spcPts val="0"/>
                        </a:spcBef>
                        <a:spcAft>
                          <a:spcPts val="0"/>
                        </a:spcAft>
                        <a:buNone/>
                      </a:pPr>
                      <a:r>
                        <a:rPr b="1" lang="en" sz="1900">
                          <a:latin typeface="Verdana"/>
                          <a:ea typeface="Verdana"/>
                          <a:cs typeface="Verdana"/>
                          <a:sym typeface="Verdana"/>
                        </a:rPr>
                        <a:t>Target 85%</a:t>
                      </a:r>
                      <a:endParaRPr b="1" sz="1900">
                        <a:latin typeface="Verdana"/>
                        <a:ea typeface="Verdana"/>
                        <a:cs typeface="Verdana"/>
                        <a:sym typeface="Verdana"/>
                      </a:endParaRPr>
                    </a:p>
                  </a:txBody>
                  <a:tcPr anchor="ctr" marB="91425" marL="91425" marR="91425" marT="91425">
                    <a:lnL cap="flat" cmpd="sng" w="19050">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19050">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algn="ctr" indent="0" lvl="0" marL="0" rtl="0">
                        <a:spcBef>
                          <a:spcPts val="0"/>
                        </a:spcBef>
                        <a:spcAft>
                          <a:spcPts val="0"/>
                        </a:spcAft>
                        <a:buNone/>
                      </a:pPr>
                      <a:r>
                        <a:rPr b="1" lang="en">
                          <a:latin typeface="Verdana"/>
                          <a:ea typeface="Verdana"/>
                          <a:cs typeface="Verdana"/>
                          <a:sym typeface="Verdana"/>
                        </a:rPr>
                        <a:t>12-18</a:t>
                      </a:r>
                      <a:endParaRPr b="1">
                        <a:latin typeface="Verdana"/>
                        <a:ea typeface="Verdana"/>
                        <a:cs typeface="Verdana"/>
                        <a:sym typeface="Verdana"/>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19-25</a:t>
                      </a:r>
                      <a:endParaRPr b="1">
                        <a:latin typeface="Verdana"/>
                        <a:ea typeface="Verdana"/>
                        <a:cs typeface="Verdana"/>
                        <a:sym typeface="Verdana"/>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26-35</a:t>
                      </a:r>
                      <a:endParaRPr b="1">
                        <a:latin typeface="Verdana"/>
                        <a:ea typeface="Verdana"/>
                        <a:cs typeface="Verdana"/>
                        <a:sym typeface="Verdana"/>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36-45</a:t>
                      </a:r>
                      <a:endParaRPr b="1">
                        <a:latin typeface="Verdana"/>
                        <a:ea typeface="Verdana"/>
                        <a:cs typeface="Verdana"/>
                        <a:sym typeface="Verdana"/>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46-55</a:t>
                      </a:r>
                      <a:endParaRPr b="1">
                        <a:latin typeface="Verdana"/>
                        <a:ea typeface="Verdana"/>
                        <a:cs typeface="Verdana"/>
                        <a:sym typeface="Verdana"/>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56+</a:t>
                      </a:r>
                      <a:endParaRPr b="1">
                        <a:latin typeface="Verdana"/>
                        <a:ea typeface="Verdana"/>
                        <a:cs typeface="Verdana"/>
                        <a:sym typeface="Verdana"/>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extLst>
                  <a:ext uri="{0D108BD9-81ED-4DB2-BD59-A6C34878D82A}">
                    <a16:rowId xmlns:a16="http://schemas.microsoft.com/office/drawing/2014/main" val="10001"/>
                  </a:ext>
                </a:extLst>
              </a:tr>
              <a:tr h="527425">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extLst>
                  <a:ext uri="{0D108BD9-81ED-4DB2-BD59-A6C34878D82A}">
                    <a16:rowId xmlns:a16="http://schemas.microsoft.com/office/drawing/2014/main" val="10002"/>
                  </a:ext>
                </a:extLst>
              </a:tr>
              <a:tr h="527425">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19050">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19050">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19050">
                      <a:solidFill>
                        <a:srgbClr val="000000"/>
                      </a:solidFill>
                      <a:prstDash val="solid"/>
                      <a:round/>
                      <a:headEnd len="sm" type="none" w="sm"/>
                      <a:tailEnd len="sm" type="none" w="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b="1" lang="en" sz="1150">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anchor="ctr" anchorCtr="0" bIns="91425" lIns="91425" rIns="91425" spcFirstLastPara="1" tIns="91425" wrap="square">
            <a:noAutofit/>
          </a:bodyPr>
          <a:lstStyle/>
          <a:p>
            <a:pPr algn="l" indent="0" lvl="0" marL="0" rtl="0">
              <a:lnSpc>
                <a:spcPct val="115000"/>
              </a:lnSpc>
              <a:spcBef>
                <a:spcPts val="800"/>
              </a:spcBef>
              <a:spcAft>
                <a:spcPts val="800"/>
              </a:spcAft>
              <a:buNone/>
            </a:pPr>
            <a:r>
              <a:rPr b="1" lang="en" sz="1150">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818400" cy="526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13" name="Google Shape;213;p20"/>
          <p:cNvSpPr txBox="1"/>
          <p:nvPr/>
        </p:nvSpPr>
        <p:spPr>
          <a:xfrm>
            <a:off x="3097300" y="2058725"/>
            <a:ext cx="818400" cy="526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algn="l" indent="0" lvl="0" marL="0"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14" name="Google Shape;214;p20"/>
          <p:cNvSpPr txBox="1"/>
          <p:nvPr/>
        </p:nvSpPr>
        <p:spPr>
          <a:xfrm>
            <a:off x="4828100" y="2058725"/>
            <a:ext cx="818400" cy="526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algn="l" indent="0" lvl="0" marL="0"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15" name="Google Shape;215;p20"/>
          <p:cNvSpPr txBox="1"/>
          <p:nvPr/>
        </p:nvSpPr>
        <p:spPr>
          <a:xfrm>
            <a:off x="6558875" y="2058725"/>
            <a:ext cx="818400" cy="526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16" name="Google Shape;216;p20"/>
          <p:cNvSpPr txBox="1"/>
          <p:nvPr/>
        </p:nvSpPr>
        <p:spPr>
          <a:xfrm>
            <a:off x="364750" y="3390288"/>
            <a:ext cx="7818000" cy="433800"/>
          </a:xfrm>
          <a:prstGeom prst="rect">
            <a:avLst/>
          </a:prstGeom>
          <a:noFill/>
          <a:ln>
            <a:noFill/>
          </a:ln>
        </p:spPr>
        <p:txBody>
          <a:bodyPr anchor="ctr" anchorCtr="0" bIns="91425" lIns="91425" rIns="91425" spcFirstLastPara="1" tIns="91425" wrap="square">
            <a:noAutofit/>
          </a:bodyPr>
          <a:lstStyle/>
          <a:p>
            <a:pPr algn="l" indent="0" lvl="0" marL="0"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522000" cy="365700"/>
          </a:xfrm>
          <a:prstGeom prst="rect">
            <a:avLst/>
          </a:prstGeom>
          <a:noFill/>
          <a:ln>
            <a:noFill/>
          </a:ln>
        </p:spPr>
        <p:txBody>
          <a:bodyPr anchor="t" anchorCtr="0" bIns="91425" lIns="91425" rIns="91425" spcFirstLastPara="1" tIns="91425" wrap="square">
            <a:noAutofit/>
          </a:bodyPr>
          <a:lstStyle/>
          <a:p>
            <a:pPr algn="l" indent="0" lvl="0" marL="0"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18" name="Google Shape;218;p20"/>
          <p:cNvSpPr txBox="1"/>
          <p:nvPr/>
        </p:nvSpPr>
        <p:spPr>
          <a:xfrm>
            <a:off x="6707075" y="1206625"/>
            <a:ext cx="522000" cy="365700"/>
          </a:xfrm>
          <a:prstGeom prst="rect">
            <a:avLst/>
          </a:prstGeom>
          <a:noFill/>
          <a:ln>
            <a:noFill/>
          </a:ln>
        </p:spPr>
        <p:txBody>
          <a:bodyPr anchor="t" anchorCtr="0" bIns="91425" lIns="91425" rIns="91425" spcFirstLastPara="1" tIns="91425" wrap="square">
            <a:noAutofit/>
          </a:bodyPr>
          <a:lstStyle/>
          <a:p>
            <a:pPr algn="l" indent="0" lvl="0" marL="0"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19" name="Google Shape;219;p20"/>
          <p:cNvSpPr txBox="1"/>
          <p:nvPr/>
        </p:nvSpPr>
        <p:spPr>
          <a:xfrm>
            <a:off x="2286000" y="1883664"/>
            <a:ext cx="706200" cy="8046300"/>
          </a:xfrm>
          <a:prstGeom prst="rect">
            <a:avLst/>
          </a:prstGeom>
          <a:noFill/>
          <a:ln>
            <a:noFill/>
          </a:ln>
        </p:spPr>
        <p:txBody>
          <a:bodyPr anchor="t" anchorCtr="0" bIns="91425" lIns="91425" rIns="91425" spcFirstLastPara="1" tIns="91425" wrap="square">
            <a:spAutoFit/>
          </a:bodyPr>
          <a:lstStyle/>
          <a:p>
            <a:pPr algn="ctr" indent="0" lvl="0" marL="0"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20" name="Google Shape;220;p20"/>
          <p:cNvSpPr txBox="1"/>
          <p:nvPr/>
        </p:nvSpPr>
        <p:spPr>
          <a:xfrm>
            <a:off x="4023360" y="1883664"/>
            <a:ext cx="704100" cy="9639600"/>
          </a:xfrm>
          <a:prstGeom prst="rect">
            <a:avLst/>
          </a:prstGeom>
          <a:noFill/>
          <a:ln>
            <a:noFill/>
          </a:ln>
        </p:spPr>
        <p:txBody>
          <a:bodyPr anchor="t" anchorCtr="0" bIns="91425" lIns="91425" rIns="91425" spcFirstLastPara="1" tIns="91425" wrap="square">
            <a:spAutoFit/>
          </a:bodyPr>
          <a:lstStyle/>
          <a:p>
            <a:pPr algn="ctr" indent="0" lvl="0" marL="0"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21" name="Google Shape;221;p20"/>
          <p:cNvSpPr txBox="1"/>
          <p:nvPr/>
        </p:nvSpPr>
        <p:spPr>
          <a:xfrm>
            <a:off x="5779008" y="1883664"/>
            <a:ext cx="706200" cy="7249800"/>
          </a:xfrm>
          <a:prstGeom prst="rect">
            <a:avLst/>
          </a:prstGeom>
          <a:noFill/>
          <a:ln>
            <a:noFill/>
          </a:ln>
        </p:spPr>
        <p:txBody>
          <a:bodyPr anchor="t" anchorCtr="0" bIns="91425" lIns="91425" rIns="91425" spcFirstLastPara="1" tIns="91425" wrap="square">
            <a:spAutoFit/>
          </a:bodyPr>
          <a:lstStyle/>
          <a:p>
            <a:pPr algn="ctr" indent="0" lvl="0" marL="0"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22" name="Google Shape;222;p20"/>
          <p:cNvSpPr txBox="1"/>
          <p:nvPr/>
        </p:nvSpPr>
        <p:spPr>
          <a:xfrm>
            <a:off x="557784" y="1883664"/>
            <a:ext cx="704100" cy="10436100"/>
          </a:xfrm>
          <a:prstGeom prst="rect">
            <a:avLst/>
          </a:prstGeom>
          <a:noFill/>
          <a:ln>
            <a:noFill/>
          </a:ln>
        </p:spPr>
        <p:txBody>
          <a:bodyPr anchor="t" anchorCtr="0" bIns="91425" lIns="91425" rIns="91425" spcFirstLastPara="1" tIns="91425" wrap="square">
            <a:spAutoFit/>
          </a:bodyPr>
          <a:lstStyle/>
          <a:p>
            <a:pPr algn="ctr" indent="0" lvl="0" marL="0"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23" name="Google Shape;223;p20"/>
          <p:cNvSpPr/>
          <p:nvPr/>
        </p:nvSpPr>
        <p:spPr>
          <a:xfrm rot="5400000">
            <a:off x="4876122" y="4330739"/>
            <a:ext cx="566100" cy="1022700"/>
          </a:xfrm>
          <a:prstGeom prst="curvedRightArrow">
            <a:avLst>
              <a:gd fmla="val 25000" name="adj1"/>
              <a:gd fmla="val 50000" name="adj2"/>
              <a:gd fmla="val 25000" name="adj3"/>
            </a:avLst>
          </a:prstGeom>
          <a:solidFill>
            <a:srgbClr val="FF0000"/>
          </a:solidFill>
          <a:ln cap="flat" cmpd="sng" w="9525">
            <a:solidFill>
              <a:srgbClr val="FF0000"/>
            </a:solidFill>
            <a:prstDash val="solid"/>
            <a:round/>
            <a:headEnd len="sm" type="none" w="sm"/>
            <a:tailEnd len="sm" type="none" w="sm"/>
          </a:ln>
        </p:spPr>
        <p:txBody>
          <a:bodyPr anchor="ctr" anchorCtr="0" bIns="91425" lIns="91425" rIns="91425" spcFirstLastPara="1" tIns="91425" wrap="square">
            <a:noAutofit/>
          </a:bodyPr>
          <a:lstStyle/>
          <a:p>
            <a:pPr algn="l" indent="0" lvl="0" marL="0"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b="1" lang="en">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b="1" lang="en">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Shape 229"/>
        <p:cNvGrpSpPr/>
        <p:nvPr/>
      </p:nvGrpSpPr>
      <p:grpSpPr>
        <a:xfrm>
          <a:off x="0" y="0"/>
          <a:ext cx="0" cy="0"/>
          <a:chOff x="0" y="0"/>
          <a:chExt cx="0" cy="0"/>
        </a:xfrm>
      </p:grpSpPr>
      <p:sp>
        <p:nvSpPr>
          <p:cNvPr id="230" name="Google Shape;230;p21"/>
          <p:cNvSpPr txBox="1"/>
          <p:nvPr/>
        </p:nvSpPr>
        <p:spPr>
          <a:xfrm>
            <a:off x="2286000" y="1883664"/>
            <a:ext cx="706200" cy="8046300"/>
          </a:xfrm>
          <a:prstGeom prst="rect">
            <a:avLst/>
          </a:prstGeom>
          <a:noFill/>
          <a:ln>
            <a:noFill/>
          </a:ln>
        </p:spPr>
        <p:txBody>
          <a:bodyPr anchor="t" anchorCtr="0" bIns="91425" lIns="91425" rIns="91425" spcFirstLastPara="1" tIns="91425" wrap="square">
            <a:spAutoFit/>
          </a:bodyPr>
          <a:lstStyle/>
          <a:p>
            <a:pPr algn="ctr" indent="0" lvl="0" marL="0"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31" name="Google Shape;231;p21"/>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b="1" lang="en" sz="1150">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anchor="ctr" anchorCtr="0" bIns="91425" lIns="91425" rIns="91425" spcFirstLastPara="1" tIns="91425" wrap="square">
            <a:noAutofit/>
          </a:bodyPr>
          <a:lstStyle/>
          <a:p>
            <a:pPr algn="l" indent="0" lvl="0" marL="0" rtl="0">
              <a:lnSpc>
                <a:spcPct val="115000"/>
              </a:lnSpc>
              <a:spcBef>
                <a:spcPts val="800"/>
              </a:spcBef>
              <a:spcAft>
                <a:spcPts val="800"/>
              </a:spcAft>
              <a:buNone/>
            </a:pPr>
            <a:r>
              <a:rPr b="1" lang="en" sz="1150">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algn="ctr" indent="0" lvl="0" marL="0" rtl="0">
                        <a:spcBef>
                          <a:spcPts val="0"/>
                        </a:spcBef>
                        <a:spcAft>
                          <a:spcPts val="0"/>
                        </a:spcAft>
                        <a:buNone/>
                      </a:pPr>
                      <a:endParaRPr/>
                    </a:p>
                  </a:txBody>
                  <a:tcPr anchor="ctr" marB="91425" marL="91425" marR="91425" marT="91425">
                    <a:lnL cap="flat" cmpd="sng" w="9525">
                      <a:solidFill>
                        <a:srgbClr val="000000">
                          <a:alpha val="0"/>
                        </a:srgbClr>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alpha val="0"/>
                        </a:srgbClr>
                      </a:solidFill>
                      <a:prstDash val="solid"/>
                      <a:round/>
                      <a:headEnd len="sm" type="none" w="sm"/>
                      <a:tailEnd len="sm" type="none" w="sm"/>
                    </a:lnT>
                    <a:lnB cap="flat" cmpd="sng" w="9525">
                      <a:solidFill>
                        <a:srgbClr val="000000"/>
                      </a:solidFill>
                      <a:prstDash val="solid"/>
                      <a:round/>
                      <a:headEnd len="sm" type="none" w="sm"/>
                      <a:tailEnd len="sm" type="none" w="sm"/>
                    </a:lnB>
                  </a:tcPr>
                </a:tc>
                <a:tc gridSpan="2">
                  <a:txBody>
                    <a:bodyPr/>
                    <a:lstStyle/>
                    <a:p>
                      <a:pPr algn="ctr" indent="0" lvl="0" marL="0" rtl="0">
                        <a:spcBef>
                          <a:spcPts val="0"/>
                        </a:spcBef>
                        <a:spcAft>
                          <a:spcPts val="0"/>
                        </a:spcAft>
                        <a:buNone/>
                      </a:pPr>
                      <a:r>
                        <a:rPr b="1" lang="en" sz="1900">
                          <a:solidFill>
                            <a:schemeClr val="dk1"/>
                          </a:solidFill>
                          <a:latin typeface="Verdana"/>
                          <a:ea typeface="Verdana"/>
                          <a:cs typeface="Verdana"/>
                          <a:sym typeface="Verdana"/>
                        </a:rPr>
                        <a:t>Target</a:t>
                      </a:r>
                      <a:r>
                        <a:rPr lang="en"/>
                        <a:t> </a:t>
                      </a:r>
                      <a:r>
                        <a:rPr b="1" lang="en" sz="1900">
                          <a:solidFill>
                            <a:schemeClr val="dk1"/>
                          </a:solidFill>
                          <a:latin typeface="Verdana"/>
                          <a:ea typeface="Verdana"/>
                          <a:cs typeface="Verdana"/>
                          <a:sym typeface="Verdana"/>
                        </a:rPr>
                        <a:t>85%</a:t>
                      </a:r>
                      <a:endParaRPr b="1" sz="1900">
                        <a:latin typeface="Verdana"/>
                        <a:ea typeface="Verdana"/>
                        <a:cs typeface="Verdana"/>
                        <a:sym typeface="Verdana"/>
                      </a:endParaRPr>
                    </a:p>
                  </a:txBody>
                  <a:tcPr anchor="ctr" marB="91425" marL="91425" marR="91425" marT="91425">
                    <a:lnL cap="flat" cmpd="sng" w="19050">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19050">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solidFill>
                      <a:srgbClr val="FFFF00"/>
                    </a:solidFill>
                  </a:tcPr>
                </a:tc>
                <a:tc hMerge="1">
                  <a:txBody>
                    <a:bodyPr/>
                    <a:lstStyle/>
                    <a:p>
                      <a:endParaRPr lang="en-US"/>
                    </a:p>
                  </a:txBody>
                  <a:tcPr/>
                </a:tc>
                <a:tc>
                  <a:txBody>
                    <a:bodyPr/>
                    <a:lstStyle/>
                    <a:p>
                      <a:pPr algn="ctr" indent="0" lvl="0" marL="0" rtl="0">
                        <a:spcBef>
                          <a:spcPts val="0"/>
                        </a:spcBef>
                        <a:spcAft>
                          <a:spcPts val="0"/>
                        </a:spcAft>
                        <a:buNone/>
                      </a:pPr>
                      <a:endParaRPr b="1" sz="1900">
                        <a:latin typeface="Verdana"/>
                        <a:ea typeface="Verdana"/>
                        <a:cs typeface="Verdana"/>
                        <a:sym typeface="Verdana"/>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alpha val="0"/>
                        </a:srgbClr>
                      </a:solidFill>
                      <a:prstDash val="solid"/>
                      <a:round/>
                      <a:headEnd len="sm" type="none" w="sm"/>
                      <a:tailEnd len="sm" type="none" w="sm"/>
                    </a:lnR>
                    <a:lnT cap="flat" cmpd="sng" w="9525">
                      <a:solidFill>
                        <a:srgbClr val="000000">
                          <a:alpha val="0"/>
                        </a:srgbClr>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endParaRPr/>
                    </a:p>
                  </a:txBody>
                  <a:tcPr anchor="ctr" marB="91425" marL="91425" marR="91425" marT="91425">
                    <a:lnL cap="flat" cmpd="sng" w="9525">
                      <a:solidFill>
                        <a:srgbClr val="000000">
                          <a:alpha val="0"/>
                        </a:srgbClr>
                      </a:solidFill>
                      <a:prstDash val="solid"/>
                      <a:round/>
                      <a:headEnd len="sm" type="none" w="sm"/>
                      <a:tailEnd len="sm" type="none" w="sm"/>
                    </a:lnL>
                    <a:lnR cap="flat" cmpd="sng" w="9525">
                      <a:solidFill>
                        <a:srgbClr val="000000">
                          <a:alpha val="0"/>
                        </a:srgbClr>
                      </a:solidFill>
                      <a:prstDash val="solid"/>
                      <a:round/>
                      <a:headEnd len="sm" type="none" w="sm"/>
                      <a:tailEnd len="sm" type="none" w="sm"/>
                    </a:lnR>
                    <a:lnT cap="flat" cmpd="sng" w="9525">
                      <a:solidFill>
                        <a:srgbClr val="000000">
                          <a:alpha val="0"/>
                        </a:srgbClr>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endParaRPr/>
                    </a:p>
                  </a:txBody>
                  <a:tcPr anchor="ctr" marB="91425" marL="91425" marR="91425" marT="91425">
                    <a:lnL cap="flat" cmpd="sng" w="9525">
                      <a:solidFill>
                        <a:srgbClr val="000000">
                          <a:alpha val="0"/>
                        </a:srgbClr>
                      </a:solidFill>
                      <a:prstDash val="solid"/>
                      <a:round/>
                      <a:headEnd len="sm" type="none" w="sm"/>
                      <a:tailEnd len="sm" type="none" w="sm"/>
                    </a:lnL>
                    <a:lnR cap="flat" cmpd="sng" w="9525">
                      <a:solidFill>
                        <a:srgbClr val="000000">
                          <a:alpha val="0"/>
                        </a:srgbClr>
                      </a:solidFill>
                      <a:prstDash val="solid"/>
                      <a:round/>
                      <a:headEnd len="sm" type="none" w="sm"/>
                      <a:tailEnd len="sm" type="none" w="sm"/>
                    </a:lnR>
                    <a:lnT cap="flat" cmpd="sng" w="9525">
                      <a:solidFill>
                        <a:srgbClr val="000000">
                          <a:alpha val="0"/>
                        </a:srgbClr>
                      </a:solidFill>
                      <a:prstDash val="solid"/>
                      <a:round/>
                      <a:headEnd len="sm" type="none" w="sm"/>
                      <a:tailEnd len="sm" type="none" w="sm"/>
                    </a:lnT>
                    <a:lnB cap="flat" cmpd="sng" w="9525">
                      <a:solidFill>
                        <a:srgbClr val="000000"/>
                      </a:solidFill>
                      <a:prstDash val="solid"/>
                      <a:round/>
                      <a:headEnd len="sm" type="none" w="sm"/>
                      <a:tailEnd len="sm" type="none" w="sm"/>
                    </a:lnB>
                  </a:tcPr>
                </a:tc>
                <a:extLst>
                  <a:ext uri="{0D108BD9-81ED-4DB2-BD59-A6C34878D82A}">
                    <a16:rowId xmlns:a16="http://schemas.microsoft.com/office/drawing/2014/main" val="10000"/>
                  </a:ext>
                </a:extLst>
              </a:tr>
              <a:tr h="579425">
                <a:tc>
                  <a:txBody>
                    <a:bodyPr/>
                    <a:lstStyle/>
                    <a:p>
                      <a:pPr algn="ctr" indent="0" lvl="0" marL="0" rtl="0">
                        <a:spcBef>
                          <a:spcPts val="0"/>
                        </a:spcBef>
                        <a:spcAft>
                          <a:spcPts val="0"/>
                        </a:spcAft>
                        <a:buNone/>
                      </a:pPr>
                      <a:r>
                        <a:rPr b="1" lang="en">
                          <a:latin typeface="Verdana"/>
                          <a:ea typeface="Verdana"/>
                          <a:cs typeface="Verdana"/>
                          <a:sym typeface="Verdana"/>
                        </a:rPr>
                        <a:t>12-18</a:t>
                      </a:r>
                      <a:endParaRPr b="1">
                        <a:latin typeface="Verdana"/>
                        <a:ea typeface="Verdana"/>
                        <a:cs typeface="Verdana"/>
                        <a:sym typeface="Verdana"/>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19-25</a:t>
                      </a:r>
                      <a:endParaRPr b="1">
                        <a:latin typeface="Verdana"/>
                        <a:ea typeface="Verdana"/>
                        <a:cs typeface="Verdana"/>
                        <a:sym typeface="Verdana"/>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26-35</a:t>
                      </a:r>
                      <a:endParaRPr b="1">
                        <a:latin typeface="Verdana"/>
                        <a:ea typeface="Verdana"/>
                        <a:cs typeface="Verdana"/>
                        <a:sym typeface="Verdana"/>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36-45</a:t>
                      </a:r>
                      <a:endParaRPr b="1">
                        <a:latin typeface="Verdana"/>
                        <a:ea typeface="Verdana"/>
                        <a:cs typeface="Verdana"/>
                        <a:sym typeface="Verdana"/>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46-55</a:t>
                      </a:r>
                      <a:endParaRPr b="1">
                        <a:latin typeface="Verdana"/>
                        <a:ea typeface="Verdana"/>
                        <a:cs typeface="Verdana"/>
                        <a:sym typeface="Verdana"/>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56+</a:t>
                      </a:r>
                      <a:endParaRPr b="1">
                        <a:latin typeface="Verdana"/>
                        <a:ea typeface="Verdana"/>
                        <a:cs typeface="Verdana"/>
                        <a:sym typeface="Verdana"/>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extLst>
                  <a:ext uri="{0D108BD9-81ED-4DB2-BD59-A6C34878D82A}">
                    <a16:rowId xmlns:a16="http://schemas.microsoft.com/office/drawing/2014/main" val="10001"/>
                  </a:ext>
                </a:extLst>
              </a:tr>
              <a:tr h="527425">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extLst>
                  <a:ext uri="{0D108BD9-81ED-4DB2-BD59-A6C34878D82A}">
                    <a16:rowId xmlns:a16="http://schemas.microsoft.com/office/drawing/2014/main" val="10002"/>
                  </a:ext>
                </a:extLst>
              </a:tr>
              <a:tr h="527425">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19050">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19050">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5" y="2058725"/>
            <a:ext cx="818400" cy="526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39" name="Google Shape;239;p21"/>
          <p:cNvSpPr txBox="1"/>
          <p:nvPr/>
        </p:nvSpPr>
        <p:spPr>
          <a:xfrm>
            <a:off x="3097300" y="2058725"/>
            <a:ext cx="818400" cy="526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algn="l" indent="0" lvl="0" marL="0"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40" name="Google Shape;240;p21"/>
          <p:cNvSpPr txBox="1"/>
          <p:nvPr/>
        </p:nvSpPr>
        <p:spPr>
          <a:xfrm>
            <a:off x="4828100" y="2058725"/>
            <a:ext cx="818400" cy="526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algn="l" indent="0" lvl="0" marL="0"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41" name="Google Shape;241;p21"/>
          <p:cNvSpPr txBox="1"/>
          <p:nvPr/>
        </p:nvSpPr>
        <p:spPr>
          <a:xfrm>
            <a:off x="6558875" y="2058725"/>
            <a:ext cx="818400" cy="526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anchor="ctr" anchorCtr="0" bIns="91425" lIns="91425" rIns="91425" spcFirstLastPara="1" tIns="91425" wrap="square">
            <a:noAutofit/>
          </a:bodyPr>
          <a:lstStyle/>
          <a:p>
            <a:pPr algn="l" indent="0" lvl="0" marL="0"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522000" cy="365700"/>
          </a:xfrm>
          <a:prstGeom prst="rect">
            <a:avLst/>
          </a:prstGeom>
          <a:noFill/>
          <a:ln>
            <a:noFill/>
          </a:ln>
        </p:spPr>
        <p:txBody>
          <a:bodyPr anchor="t" anchorCtr="0" bIns="91425" lIns="91425" rIns="91425" spcFirstLastPara="1" tIns="91425" wrap="square">
            <a:noAutofit/>
          </a:bodyPr>
          <a:lstStyle/>
          <a:p>
            <a:pPr algn="l" indent="0" lvl="0" marL="0"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44" name="Google Shape;244;p21"/>
          <p:cNvSpPr txBox="1"/>
          <p:nvPr/>
        </p:nvSpPr>
        <p:spPr>
          <a:xfrm>
            <a:off x="6707075" y="1206625"/>
            <a:ext cx="522000" cy="365700"/>
          </a:xfrm>
          <a:prstGeom prst="rect">
            <a:avLst/>
          </a:prstGeom>
          <a:noFill/>
          <a:ln>
            <a:noFill/>
          </a:ln>
        </p:spPr>
        <p:txBody>
          <a:bodyPr anchor="t" anchorCtr="0" bIns="91425" lIns="91425" rIns="91425" spcFirstLastPara="1" tIns="91425" wrap="square">
            <a:noAutofit/>
          </a:bodyPr>
          <a:lstStyle/>
          <a:p>
            <a:pPr algn="l" indent="0" lvl="0" marL="0"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45" name="Google Shape;245;p21"/>
          <p:cNvSpPr txBox="1"/>
          <p:nvPr/>
        </p:nvSpPr>
        <p:spPr>
          <a:xfrm>
            <a:off x="4023360" y="1883664"/>
            <a:ext cx="704100" cy="9639600"/>
          </a:xfrm>
          <a:prstGeom prst="rect">
            <a:avLst/>
          </a:prstGeom>
          <a:noFill/>
          <a:ln>
            <a:noFill/>
          </a:ln>
        </p:spPr>
        <p:txBody>
          <a:bodyPr anchor="t" anchorCtr="0" bIns="91425" lIns="91425" rIns="91425" spcFirstLastPara="1" tIns="91425" wrap="square">
            <a:spAutoFit/>
          </a:bodyPr>
          <a:lstStyle/>
          <a:p>
            <a:pPr algn="ctr" indent="0" lvl="0" marL="0"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46" name="Google Shape;246;p21"/>
          <p:cNvSpPr txBox="1"/>
          <p:nvPr/>
        </p:nvSpPr>
        <p:spPr>
          <a:xfrm>
            <a:off x="5779008" y="1883664"/>
            <a:ext cx="706200" cy="7249800"/>
          </a:xfrm>
          <a:prstGeom prst="rect">
            <a:avLst/>
          </a:prstGeom>
          <a:noFill/>
          <a:ln>
            <a:noFill/>
          </a:ln>
        </p:spPr>
        <p:txBody>
          <a:bodyPr anchor="t" anchorCtr="0" bIns="91425" lIns="91425" rIns="91425" spcFirstLastPara="1" tIns="91425" wrap="square">
            <a:spAutoFit/>
          </a:bodyPr>
          <a:lstStyle/>
          <a:p>
            <a:pPr algn="ctr" indent="0" lvl="0" marL="0"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47" name="Google Shape;247;p21"/>
          <p:cNvSpPr txBox="1"/>
          <p:nvPr/>
        </p:nvSpPr>
        <p:spPr>
          <a:xfrm>
            <a:off x="557784" y="1883664"/>
            <a:ext cx="704100" cy="10436100"/>
          </a:xfrm>
          <a:prstGeom prst="rect">
            <a:avLst/>
          </a:prstGeom>
          <a:noFill/>
          <a:ln>
            <a:noFill/>
          </a:ln>
        </p:spPr>
        <p:txBody>
          <a:bodyPr anchor="t" anchorCtr="0" bIns="91425" lIns="91425" rIns="91425" spcFirstLastPara="1" tIns="91425" wrap="square">
            <a:spAutoFit/>
          </a:bodyPr>
          <a:lstStyle/>
          <a:p>
            <a:pPr algn="ctr" indent="0" lvl="0" marL="0"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48" name="Google Shape;248;p21"/>
          <p:cNvSpPr/>
          <p:nvPr/>
        </p:nvSpPr>
        <p:spPr>
          <a:xfrm rot="5400000">
            <a:off x="1508460" y="4330739"/>
            <a:ext cx="566100" cy="1022700"/>
          </a:xfrm>
          <a:prstGeom prst="curvedRightArrow">
            <a:avLst>
              <a:gd fmla="val 25000" name="adj1"/>
              <a:gd fmla="val 50000" name="adj2"/>
              <a:gd fmla="val 25000" name="adj3"/>
            </a:avLst>
          </a:prstGeom>
          <a:solidFill>
            <a:srgbClr val="FF0000"/>
          </a:solidFill>
          <a:ln cap="flat" cmpd="sng" w="9525">
            <a:solidFill>
              <a:srgbClr val="FF0000"/>
            </a:solidFill>
            <a:prstDash val="solid"/>
            <a:round/>
            <a:headEnd len="sm" type="none" w="sm"/>
            <a:tailEnd len="sm" type="none" w="sm"/>
          </a:ln>
        </p:spPr>
        <p:txBody>
          <a:bodyPr anchor="ctr" anchorCtr="0" bIns="91425" lIns="91425" rIns="91425" spcFirstLastPara="1" tIns="91425" wrap="square">
            <a:noAutofit/>
          </a:bodyPr>
          <a:lstStyle/>
          <a:p>
            <a:pPr algn="l" indent="0" lvl="0" marL="0" rtl="0">
              <a:spcBef>
                <a:spcPts val="0"/>
              </a:spcBef>
              <a:spcAft>
                <a:spcPts val="0"/>
              </a:spcAft>
              <a:buNone/>
            </a:pPr>
            <a:endParaRPr/>
          </a:p>
        </p:txBody>
      </p:sp>
      <p:sp>
        <p:nvSpPr>
          <p:cNvPr id="249" name="Google Shape;249;p21"/>
          <p:cNvSpPr/>
          <p:nvPr/>
        </p:nvSpPr>
        <p:spPr>
          <a:xfrm flipH="1" rot="-5400000">
            <a:off x="4862194" y="4330739"/>
            <a:ext cx="566100" cy="1022700"/>
          </a:xfrm>
          <a:prstGeom prst="curvedRightArrow">
            <a:avLst>
              <a:gd fmla="val 25000" name="adj1"/>
              <a:gd fmla="val 50000" name="adj2"/>
              <a:gd fmla="val 25000" name="adj3"/>
            </a:avLst>
          </a:prstGeom>
          <a:solidFill>
            <a:srgbClr val="FF0000"/>
          </a:solidFill>
          <a:ln cap="flat" cmpd="sng" w="9525">
            <a:solidFill>
              <a:srgbClr val="FF0000"/>
            </a:solidFill>
            <a:prstDash val="solid"/>
            <a:round/>
            <a:headEnd len="sm" type="none" w="sm"/>
            <a:tailEnd len="sm" type="none" w="sm"/>
          </a:ln>
        </p:spPr>
        <p:txBody>
          <a:bodyPr anchor="ctr" anchorCtr="0" bIns="91425" lIns="91425" rIns="91425" spcFirstLastPara="1" tIns="91425" wrap="square">
            <a:noAutofit/>
          </a:bodyPr>
          <a:lstStyle/>
          <a:p>
            <a:pPr algn="l" indent="0" lvl="0" marL="0"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b="1" lang="en">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b="1" lang="en">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b="1" lang="en" sz="1150">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b="1" lang="en" sz="1150">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anchor="ctr" anchorCtr="0" bIns="91425" lIns="91425" rIns="91425" spcFirstLastPara="1" tIns="91425" wrap="square">
            <a:noAutofit/>
          </a:bodyPr>
          <a:lstStyle/>
          <a:p>
            <a:pPr algn="l" indent="0" lvl="0" marL="0" rtl="0">
              <a:lnSpc>
                <a:spcPct val="115000"/>
              </a:lnSpc>
              <a:spcBef>
                <a:spcPts val="800"/>
              </a:spcBef>
              <a:spcAft>
                <a:spcPts val="800"/>
              </a:spcAft>
              <a:buNone/>
            </a:pPr>
            <a:r>
              <a:rPr b="1" lang="en" sz="1150">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algn="l" indent="0" lvl="0" marL="0"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algn="l" indent="0" lvl="0" marL="0"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anchor="ctr" anchorCtr="0" bIns="91425" lIns="91425" rIns="91425" spcFirstLastPara="1" tIns="91425" wrap="square">
            <a:noAutofit/>
          </a:bodyPr>
          <a:lstStyle/>
          <a:p>
            <a:pPr algn="l" indent="0" lvl="0" marL="0"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anchor="ctr" anchorCtr="0" bIns="91425" lIns="91425" rIns="91425" spcFirstLastPara="1" tIns="91425" wrap="square">
            <a:noAutofit/>
          </a:bodyPr>
          <a:lstStyle/>
          <a:p>
            <a:pPr algn="l" indent="0" lvl="0" marL="0"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anchor="t" anchorCtr="0" bIns="91425" lIns="91425" rIns="91425" spcFirstLastPara="1" tIns="91425" wrap="square">
            <a:noAutofit/>
          </a:bodyPr>
          <a:lstStyle/>
          <a:p>
            <a:pPr algn="l" indent="0" lvl="0" marL="0"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anchor="t" anchorCtr="0" bIns="91425" lIns="91425" rIns="91425" spcFirstLastPara="1" tIns="91425" wrap="square">
            <a:noAutofit/>
          </a:bodyPr>
          <a:lstStyle/>
          <a:p>
            <a:pPr algn="l" indent="0" lvl="0" marL="0"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69" name="Google Shape;269;p22"/>
          <p:cNvSpPr txBox="1"/>
          <p:nvPr/>
        </p:nvSpPr>
        <p:spPr>
          <a:xfrm>
            <a:off x="2286000" y="1883664"/>
            <a:ext cx="706200" cy="8046300"/>
          </a:xfrm>
          <a:prstGeom prst="rect">
            <a:avLst/>
          </a:prstGeom>
          <a:noFill/>
          <a:ln>
            <a:noFill/>
          </a:ln>
        </p:spPr>
        <p:txBody>
          <a:bodyPr anchor="t" anchorCtr="0" bIns="91425" lIns="91425" rIns="91425" spcFirstLastPara="1" tIns="91425" wrap="square">
            <a:spAutoFit/>
          </a:bodyPr>
          <a:lstStyle/>
          <a:p>
            <a:pPr algn="ctr" indent="0" lvl="0" marL="0"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70" name="Google Shape;270;p22"/>
          <p:cNvSpPr txBox="1"/>
          <p:nvPr/>
        </p:nvSpPr>
        <p:spPr>
          <a:xfrm>
            <a:off x="5779008" y="1883664"/>
            <a:ext cx="706200" cy="7249800"/>
          </a:xfrm>
          <a:prstGeom prst="rect">
            <a:avLst/>
          </a:prstGeom>
          <a:noFill/>
          <a:ln>
            <a:noFill/>
          </a:ln>
        </p:spPr>
        <p:txBody>
          <a:bodyPr anchor="t" anchorCtr="0" bIns="91425" lIns="91425" rIns="91425" spcFirstLastPara="1" tIns="91425" wrap="square">
            <a:spAutoFit/>
          </a:bodyPr>
          <a:lstStyle/>
          <a:p>
            <a:pPr algn="ctr" indent="0" lvl="0" marL="0"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71" name="Google Shape;271;p22"/>
          <p:cNvSpPr txBox="1"/>
          <p:nvPr/>
        </p:nvSpPr>
        <p:spPr>
          <a:xfrm>
            <a:off x="557784" y="1883664"/>
            <a:ext cx="704100" cy="10436100"/>
          </a:xfrm>
          <a:prstGeom prst="rect">
            <a:avLst/>
          </a:prstGeom>
          <a:noFill/>
          <a:ln>
            <a:noFill/>
          </a:ln>
        </p:spPr>
        <p:txBody>
          <a:bodyPr anchor="t" anchorCtr="0" bIns="91425" lIns="91425" rIns="91425" spcFirstLastPara="1" tIns="91425" wrap="square">
            <a:spAutoFit/>
          </a:bodyPr>
          <a:lstStyle/>
          <a:p>
            <a:pPr algn="ctr" indent="0" lvl="0" marL="0"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72" name="Google Shape;272;p22"/>
          <p:cNvSpPr txBox="1"/>
          <p:nvPr/>
        </p:nvSpPr>
        <p:spPr>
          <a:xfrm>
            <a:off x="4023360" y="1883664"/>
            <a:ext cx="704100" cy="9639600"/>
          </a:xfrm>
          <a:prstGeom prst="rect">
            <a:avLst/>
          </a:prstGeom>
          <a:noFill/>
          <a:ln>
            <a:noFill/>
          </a:ln>
        </p:spPr>
        <p:txBody>
          <a:bodyPr anchor="t" anchorCtr="0" bIns="91425" lIns="91425" rIns="91425" spcFirstLastPara="1" tIns="91425" wrap="square">
            <a:spAutoFit/>
          </a:bodyPr>
          <a:lstStyle/>
          <a:p>
            <a:pPr algn="ctr" indent="0" lvl="0" marL="0"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73" name="Google Shape;273;p22"/>
          <p:cNvSpPr/>
          <p:nvPr/>
        </p:nvSpPr>
        <p:spPr>
          <a:xfrm flipH="1" rot="-5400000">
            <a:off x="3729056" y="4330739"/>
            <a:ext cx="566100" cy="1022700"/>
          </a:xfrm>
          <a:prstGeom prst="curvedRightArrow">
            <a:avLst>
              <a:gd fmla="val 25000" name="adj1"/>
              <a:gd fmla="val 50000" name="adj2"/>
              <a:gd fmla="val 25000" name="adj3"/>
            </a:avLst>
          </a:prstGeom>
          <a:solidFill>
            <a:srgbClr val="FF0000"/>
          </a:solidFill>
          <a:ln cap="flat" cmpd="sng" w="9525">
            <a:solidFill>
              <a:srgbClr val="FF0000"/>
            </a:solidFill>
            <a:prstDash val="solid"/>
            <a:round/>
            <a:headEnd len="sm" type="none" w="sm"/>
            <a:tailEnd len="sm" type="none" w="sm"/>
          </a:ln>
        </p:spPr>
        <p:txBody>
          <a:bodyPr anchor="ctr" anchorCtr="0" bIns="91425" lIns="91425" rIns="91425" spcFirstLastPara="1" tIns="91425" wrap="square">
            <a:noAutofit/>
          </a:bodyPr>
          <a:lstStyle/>
          <a:p>
            <a:pPr algn="l" indent="0" lvl="0" marL="0" rtl="0">
              <a:spcBef>
                <a:spcPts val="0"/>
              </a:spcBef>
              <a:spcAft>
                <a:spcPts val="0"/>
              </a:spcAft>
              <a:buNone/>
            </a:pPr>
            <a:endParaRPr/>
          </a:p>
        </p:txBody>
      </p:sp>
      <p:graphicFrame>
        <p:nvGraphicFramePr>
          <p:cNvPr id="274" name="Google Shape;274;p22"/>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algn="ctr" indent="0" lvl="0" marL="0" rtl="0">
                        <a:spcBef>
                          <a:spcPts val="0"/>
                        </a:spcBef>
                        <a:spcAft>
                          <a:spcPts val="0"/>
                        </a:spcAft>
                        <a:buNone/>
                      </a:pPr>
                      <a:r>
                        <a:rPr b="1" lang="en" sz="1900"/>
                        <a:t>Target 85%</a:t>
                      </a:r>
                      <a:endParaRPr b="1" sz="1900"/>
                    </a:p>
                  </a:txBody>
                  <a:tcPr anchor="ctr" marB="91425" marL="91425" marR="91425" marT="91425">
                    <a:lnL cap="flat" cmpd="sng" w="19050">
                      <a:solidFill>
                        <a:schemeClr val="dk1"/>
                      </a:solidFill>
                      <a:prstDash val="solid"/>
                      <a:round/>
                      <a:headEnd len="sm" type="none" w="sm"/>
                      <a:tailEnd len="sm" type="none" w="sm"/>
                    </a:lnL>
                    <a:lnR cap="flat" cmpd="sng" w="19050">
                      <a:solidFill>
                        <a:schemeClr val="dk1"/>
                      </a:solidFill>
                      <a:prstDash val="solid"/>
                      <a:round/>
                      <a:headEnd len="sm" type="none" w="sm"/>
                      <a:tailEnd len="sm" type="none" w="sm"/>
                    </a:lnR>
                    <a:lnT cap="flat" cmpd="sng" w="19050">
                      <a:solidFill>
                        <a:schemeClr val="dk1"/>
                      </a:solidFill>
                      <a:prstDash val="solid"/>
                      <a:round/>
                      <a:headEnd len="sm" type="none" w="sm"/>
                      <a:tailEnd len="sm" type="none" w="sm"/>
                    </a:lnT>
                    <a:lnB cap="flat" cmpd="sng" w="9525">
                      <a:solidFill>
                        <a:schemeClr val="dk1"/>
                      </a:solidFill>
                      <a:prstDash val="solid"/>
                      <a:round/>
                      <a:headEnd len="sm" type="none" w="sm"/>
                      <a:tailEnd len="sm" type="none" w="sm"/>
                    </a:lnB>
                    <a:solidFill>
                      <a:srgbClr val="FFFF00"/>
                    </a:solidFill>
                  </a:tcPr>
                </a:tc>
                <a:tc hMerge="1">
                  <a:txBody>
                    <a:bodyPr/>
                    <a:lstStyle/>
                    <a:p>
                      <a:endParaRPr lang="en-US"/>
                    </a:p>
                  </a:txBody>
                  <a:tcPr/>
                </a:tc>
                <a:tc>
                  <a:txBody>
                    <a:bodyPr/>
                    <a:lstStyle/>
                    <a:p>
                      <a:pPr algn="l" indent="0" lvl="0" marL="0" rtl="0">
                        <a:spcBef>
                          <a:spcPts val="0"/>
                        </a:spcBef>
                        <a:spcAft>
                          <a:spcPts val="0"/>
                        </a:spcAft>
                        <a:buNone/>
                      </a:pPr>
                      <a:endParaRPr/>
                    </a:p>
                  </a:txBody>
                  <a:tcPr anchor="ctr" marB="91425" marL="91425" marR="91425" marT="91425">
                    <a:lnL cap="flat" cmpd="sng" w="19050">
                      <a:solidFill>
                        <a:schemeClr val="dk1"/>
                      </a:solidFill>
                      <a:prstDash val="solid"/>
                      <a:round/>
                      <a:headEnd len="sm" type="none" w="sm"/>
                      <a:tailEnd len="sm" type="none" w="sm"/>
                    </a:lnL>
                    <a:lnR cap="flat" cmpd="sng" w="9525">
                      <a:solidFill>
                        <a:srgbClr val="000000">
                          <a:alpha val="0"/>
                        </a:srgbClr>
                      </a:solidFill>
                      <a:prstDash val="solid"/>
                      <a:round/>
                      <a:headEnd len="sm" type="none" w="sm"/>
                      <a:tailEnd len="sm" type="none" w="sm"/>
                    </a:lnR>
                    <a:lnT cap="flat" cmpd="sng" w="9525">
                      <a:solidFill>
                        <a:srgbClr val="000000">
                          <a:alpha val="0"/>
                        </a:srgbClr>
                      </a:solidFill>
                      <a:prstDash val="solid"/>
                      <a:round/>
                      <a:headEnd len="sm" type="none" w="sm"/>
                      <a:tailEnd len="sm" type="none" w="sm"/>
                    </a:lnT>
                    <a:lnB cap="flat" cmpd="sng" w="9525">
                      <a:solidFill>
                        <a:schemeClr val="dk1"/>
                      </a:solidFill>
                      <a:prstDash val="solid"/>
                      <a:round/>
                      <a:headEnd len="sm" type="none" w="sm"/>
                      <a:tailEnd len="sm" type="none" w="sm"/>
                    </a:lnB>
                  </a:tcPr>
                </a:tc>
                <a:tc>
                  <a:txBody>
                    <a:bodyPr/>
                    <a:lstStyle/>
                    <a:p>
                      <a:pPr algn="ctr" indent="0" lvl="0" marL="0" rtl="0">
                        <a:spcBef>
                          <a:spcPts val="0"/>
                        </a:spcBef>
                        <a:spcAft>
                          <a:spcPts val="0"/>
                        </a:spcAft>
                        <a:buNone/>
                      </a:pPr>
                      <a:endParaRPr b="1" sz="1900">
                        <a:latin typeface="Verdana"/>
                        <a:ea typeface="Verdana"/>
                        <a:cs typeface="Verdana"/>
                        <a:sym typeface="Verdana"/>
                      </a:endParaRPr>
                    </a:p>
                  </a:txBody>
                  <a:tcPr anchor="ctr" marB="91425" marL="91425" marR="91425" marT="91425">
                    <a:lnL cap="flat" cmpd="sng" w="9525">
                      <a:solidFill>
                        <a:srgbClr val="000000">
                          <a:alpha val="0"/>
                        </a:srgbClr>
                      </a:solidFill>
                      <a:prstDash val="solid"/>
                      <a:round/>
                      <a:headEnd len="sm" type="none" w="sm"/>
                      <a:tailEnd len="sm" type="none" w="sm"/>
                    </a:lnL>
                    <a:lnR cap="flat" cmpd="sng" w="9525">
                      <a:solidFill>
                        <a:srgbClr val="000000">
                          <a:alpha val="0"/>
                        </a:srgbClr>
                      </a:solidFill>
                      <a:prstDash val="solid"/>
                      <a:round/>
                      <a:headEnd len="sm" type="none" w="sm"/>
                      <a:tailEnd len="sm" type="none" w="sm"/>
                    </a:lnR>
                    <a:lnT cap="flat" cmpd="sng" w="9525">
                      <a:solidFill>
                        <a:srgbClr val="000000">
                          <a:alpha val="0"/>
                        </a:srgbClr>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endParaRPr/>
                    </a:p>
                  </a:txBody>
                  <a:tcPr anchor="ctr" marB="91425" marL="91425" marR="91425" marT="91425">
                    <a:lnL cap="flat" cmpd="sng" w="9525">
                      <a:solidFill>
                        <a:srgbClr val="000000">
                          <a:alpha val="0"/>
                        </a:srgbClr>
                      </a:solidFill>
                      <a:prstDash val="solid"/>
                      <a:round/>
                      <a:headEnd len="sm" type="none" w="sm"/>
                      <a:tailEnd len="sm" type="none" w="sm"/>
                    </a:lnL>
                    <a:lnR cap="flat" cmpd="sng" w="9525">
                      <a:solidFill>
                        <a:srgbClr val="000000">
                          <a:alpha val="0"/>
                        </a:srgbClr>
                      </a:solidFill>
                      <a:prstDash val="solid"/>
                      <a:round/>
                      <a:headEnd len="sm" type="none" w="sm"/>
                      <a:tailEnd len="sm" type="none" w="sm"/>
                    </a:lnR>
                    <a:lnT cap="flat" cmpd="sng" w="9525">
                      <a:solidFill>
                        <a:srgbClr val="000000">
                          <a:alpha val="0"/>
                        </a:srgbClr>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endParaRPr/>
                    </a:p>
                  </a:txBody>
                  <a:tcPr anchor="ctr" marB="91425" marL="91425" marR="91425" marT="91425">
                    <a:lnL cap="flat" cmpd="sng" w="9525">
                      <a:solidFill>
                        <a:srgbClr val="000000">
                          <a:alpha val="0"/>
                        </a:srgbClr>
                      </a:solidFill>
                      <a:prstDash val="solid"/>
                      <a:round/>
                      <a:headEnd len="sm" type="none" w="sm"/>
                      <a:tailEnd len="sm" type="none" w="sm"/>
                    </a:lnL>
                    <a:lnR cap="flat" cmpd="sng" w="9525">
                      <a:solidFill>
                        <a:srgbClr val="000000">
                          <a:alpha val="0"/>
                        </a:srgbClr>
                      </a:solidFill>
                      <a:prstDash val="solid"/>
                      <a:round/>
                      <a:headEnd len="sm" type="none" w="sm"/>
                      <a:tailEnd len="sm" type="none" w="sm"/>
                    </a:lnR>
                    <a:lnT cap="flat" cmpd="sng" w="9525">
                      <a:solidFill>
                        <a:srgbClr val="000000">
                          <a:alpha val="0"/>
                        </a:srgbClr>
                      </a:solidFill>
                      <a:prstDash val="solid"/>
                      <a:round/>
                      <a:headEnd len="sm" type="none" w="sm"/>
                      <a:tailEnd len="sm" type="none" w="sm"/>
                    </a:lnT>
                    <a:lnB cap="flat" cmpd="sng" w="9525">
                      <a:solidFill>
                        <a:srgbClr val="000000"/>
                      </a:solidFill>
                      <a:prstDash val="solid"/>
                      <a:round/>
                      <a:headEnd len="sm" type="none" w="sm"/>
                      <a:tailEnd len="sm" type="none" w="sm"/>
                    </a:lnB>
                  </a:tcPr>
                </a:tc>
                <a:extLst>
                  <a:ext uri="{0D108BD9-81ED-4DB2-BD59-A6C34878D82A}">
                    <a16:rowId xmlns:a16="http://schemas.microsoft.com/office/drawing/2014/main" val="10000"/>
                  </a:ext>
                </a:extLst>
              </a:tr>
              <a:tr h="579425">
                <a:tc>
                  <a:txBody>
                    <a:bodyPr/>
                    <a:lstStyle/>
                    <a:p>
                      <a:pPr algn="ctr" indent="0" lvl="0" marL="0" rtl="0">
                        <a:spcBef>
                          <a:spcPts val="0"/>
                        </a:spcBef>
                        <a:spcAft>
                          <a:spcPts val="0"/>
                        </a:spcAft>
                        <a:buNone/>
                      </a:pPr>
                      <a:r>
                        <a:rPr b="1" lang="en">
                          <a:latin typeface="Verdana"/>
                          <a:ea typeface="Verdana"/>
                          <a:cs typeface="Verdana"/>
                          <a:sym typeface="Verdana"/>
                        </a:rPr>
                        <a:t>12-18</a:t>
                      </a:r>
                      <a:endParaRPr b="1">
                        <a:latin typeface="Verdana"/>
                        <a:ea typeface="Verdana"/>
                        <a:cs typeface="Verdana"/>
                        <a:sym typeface="Verdana"/>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chemeClr val="dk1"/>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19-25</a:t>
                      </a:r>
                      <a:endParaRPr b="1">
                        <a:latin typeface="Verdana"/>
                        <a:ea typeface="Verdana"/>
                        <a:cs typeface="Verdana"/>
                        <a:sym typeface="Verdana"/>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chemeClr val="dk1"/>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26-35</a:t>
                      </a:r>
                      <a:endParaRPr b="1">
                        <a:latin typeface="Verdana"/>
                        <a:ea typeface="Verdana"/>
                        <a:cs typeface="Verdana"/>
                        <a:sym typeface="Verdana"/>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chemeClr val="dk1"/>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36-45</a:t>
                      </a:r>
                      <a:endParaRPr b="1">
                        <a:latin typeface="Verdana"/>
                        <a:ea typeface="Verdana"/>
                        <a:cs typeface="Verdana"/>
                        <a:sym typeface="Verdana"/>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46-55</a:t>
                      </a:r>
                      <a:endParaRPr b="1">
                        <a:latin typeface="Verdana"/>
                        <a:ea typeface="Verdana"/>
                        <a:cs typeface="Verdana"/>
                        <a:sym typeface="Verdana"/>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spcBef>
                          <a:spcPts val="0"/>
                        </a:spcBef>
                        <a:spcAft>
                          <a:spcPts val="0"/>
                        </a:spcAft>
                        <a:buNone/>
                      </a:pPr>
                      <a:r>
                        <a:rPr b="1" lang="en">
                          <a:latin typeface="Verdana"/>
                          <a:ea typeface="Verdana"/>
                          <a:cs typeface="Verdana"/>
                          <a:sym typeface="Verdana"/>
                        </a:rPr>
                        <a:t>56+</a:t>
                      </a:r>
                      <a:endParaRPr b="1">
                        <a:latin typeface="Verdana"/>
                        <a:ea typeface="Verdana"/>
                        <a:cs typeface="Verdana"/>
                        <a:sym typeface="Verdana"/>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extLst>
                  <a:ext uri="{0D108BD9-81ED-4DB2-BD59-A6C34878D82A}">
                    <a16:rowId xmlns:a16="http://schemas.microsoft.com/office/drawing/2014/main" val="10001"/>
                  </a:ext>
                </a:extLst>
              </a:tr>
              <a:tr h="527425">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extLst>
                  <a:ext uri="{0D108BD9-81ED-4DB2-BD59-A6C34878D82A}">
                    <a16:rowId xmlns:a16="http://schemas.microsoft.com/office/drawing/2014/main" val="10002"/>
                  </a:ext>
                </a:extLst>
              </a:tr>
              <a:tr h="527425">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19050">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anchor="ctr" marB="91425" marL="91425" marR="91425" marT="91425">
                    <a:lnL cap="flat" cmpd="sng" w="9525">
                      <a:solidFill>
                        <a:srgbClr val="000000"/>
                      </a:solidFill>
                      <a:prstDash val="solid"/>
                      <a:round/>
                      <a:headEnd len="sm" type="none" w="sm"/>
                      <a:tailEnd len="sm" type="none" w="sm"/>
                    </a:lnL>
                    <a:lnR cap="flat" cmpd="sng" w="19050">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19050">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anchor="ctr" marB="91425" marL="91425" marR="91425" marT="91425">
                    <a:lnL cap="flat" cmpd="sng" w="19050">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anchor="ctr" marB="91425" marL="91425" marR="91425" marT="91425">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000000"/>
                      </a:solidFill>
                      <a:prstDash val="solid"/>
                      <a:round/>
                      <a:headEnd len="sm" type="none" w="sm"/>
                      <a:tailEnd len="sm" type="none" w="sm"/>
                    </a:lnT>
                    <a:lnB cap="flat" cmpd="sng" w="9525">
                      <a:solidFill>
                        <a:srgbClr val="000000"/>
                      </a:solidFill>
                      <a:prstDash val="solid"/>
                      <a:round/>
                      <a:headEnd len="sm" type="none" w="sm"/>
                      <a:tailEnd len="sm" type="none" w="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b="1" lang="en">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b="1" lang="en">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sz="2500"/>
              <a:t>Recommended Reallocation of </a:t>
            </a:r>
            <a:endParaRPr sz="2500"/>
          </a:p>
          <a:p>
            <a:pPr algn="ctr" indent="0" lvl="0" marL="0" rtl="0">
              <a:spcBef>
                <a:spcPts val="0"/>
              </a:spcBef>
              <a:spcAft>
                <a:spcPts val="0"/>
              </a:spcAft>
              <a:buNone/>
            </a:pPr>
            <a:r>
              <a:rPr lang="en" sz="2500"/>
              <a:t>Total Advertising Investment (TAI)</a:t>
            </a:r>
            <a:endParaRPr sz="2500"/>
          </a:p>
        </p:txBody>
      </p:sp>
      <p:sp>
        <p:nvSpPr>
          <p:cNvPr id="282" name="Google Shape;282;p23"/>
          <p:cNvSpPr txBox="1">
            <a:spLocks noGrp="1"/>
          </p:cNvSpPr>
          <p:nvPr>
            <p:ph idx="1" type="body"/>
          </p:nvPr>
        </p:nvSpPr>
        <p:spPr>
          <a:xfrm>
            <a:off x="5157216" y="1351525"/>
            <a:ext cx="3592200" cy="393300"/>
          </a:xfrm>
          <a:prstGeom prst="rect">
            <a:avLst/>
          </a:prstGeom>
        </p:spPr>
        <p:txBody>
          <a:bodyPr anchor="t" anchorCtr="0" bIns="91425" lIns="91425" rIns="91425" spcFirstLastPara="1" tIns="91425" wrap="square">
            <a:noAutofit/>
          </a:bodyPr>
          <a:lstStyle/>
          <a:p>
            <a:pPr algn="l" indent="0" lvl="0" marL="0" rtl="0">
              <a:spcBef>
                <a:spcPts val="0"/>
              </a:spcBef>
              <a:spcAft>
                <a:spcPts val="1600"/>
              </a:spcAft>
              <a:buNone/>
            </a:pPr>
            <a:r>
              <a:rPr b="1" lang="en" sz="1150">
                <a:solidFill>
                  <a:srgbClr val="000000"/>
                </a:solidFill>
                <a:latin typeface="Verdana"/>
                <a:ea typeface="Verdana"/>
                <a:cs typeface="Verdana"/>
                <a:sym typeface="Verdana"/>
              </a:rPr>
              <a:t>Proposed 12 Month Media Allocation</a:t>
            </a:r>
            <a:endParaRPr b="1" sz="1150">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anchor="t" anchorCtr="0" bIns="91425" lIns="91425" rIns="91425" spcFirstLastPara="1" tIns="91425" wrap="square">
            <a:spAutoFit/>
          </a:bodyPr>
          <a:lstStyle/>
          <a:p>
            <a:pPr algn="l" indent="0" lvl="0" marL="0" rtl="0">
              <a:lnSpc>
                <a:spcPct val="100000"/>
              </a:lnSpc>
              <a:spcBef>
                <a:spcPts val="0"/>
              </a:spcBef>
              <a:spcAft>
                <a:spcPts val="0"/>
              </a:spcAft>
              <a:buNone/>
            </a:pPr>
            <a:r>
              <a:rPr b="1" lang="en" sz="1150">
                <a:latin typeface="Verdana"/>
                <a:ea typeface="Verdana"/>
                <a:cs typeface="Verdana"/>
                <a:sym typeface="Verdana"/>
              </a:rPr>
              <a:t>Total Adv. Investment</a:t>
            </a:r>
            <a:endParaRPr b="1" sz="1150">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anchor="t" anchorCtr="0" bIns="91425" lIns="91425" rIns="91425" spcFirstLastPara="1" tIns="91425" wrap="square">
            <a:spAutoFit/>
          </a:bodyPr>
          <a:lstStyle/>
          <a:p>
            <a:pPr algn="l" indent="0" lvl="0" marL="0"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algn="l" indent="0" lvl="0" marL="0"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algn="l" indent="0" lvl="0" marL="0"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algn="l" indent="0" lvl="0" marL="0"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algn="l" indent="0" lvl="0" marL="0"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algn="l" indent="0" lvl="0" marL="0"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algn="l" indent="0" lvl="0" marL="0"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algn="l" indent="0" lvl="0" marL="0"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algn="l" indent="0" lvl="0" marL="0"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idx="1" type="body"/>
          </p:nvPr>
        </p:nvSpPr>
        <p:spPr>
          <a:xfrm>
            <a:off x="642300" y="4907725"/>
            <a:ext cx="500700" cy="390300"/>
          </a:xfrm>
          <a:prstGeom prst="rect">
            <a:avLst/>
          </a:prstGeom>
        </p:spPr>
        <p:txBody>
          <a:bodyPr anchor="t" anchorCtr="0" bIns="91425" lIns="91425" rIns="91425" spcFirstLastPara="1" tIns="91425" wrap="square">
            <a:noAutofit/>
          </a:bodyPr>
          <a:lstStyle/>
          <a:p>
            <a:pPr algn="l" indent="0" lvl="0" marL="0" rtl="0">
              <a:spcBef>
                <a:spcPts val="0"/>
              </a:spcBef>
              <a:spcAft>
                <a:spcPts val="1600"/>
              </a:spcAft>
              <a:buNone/>
            </a:pPr>
            <a:r>
              <a:rPr b="1" lang="en" sz="1150">
                <a:solidFill>
                  <a:srgbClr val="000000"/>
                </a:solidFill>
                <a:latin typeface="Verdana"/>
                <a:ea typeface="Verdana"/>
                <a:cs typeface="Verdana"/>
                <a:sym typeface="Verdana"/>
              </a:rPr>
              <a:t>B.</a:t>
            </a:r>
            <a:endParaRPr b="1" sz="1150">
              <a:solidFill>
                <a:srgbClr val="000000"/>
              </a:solidFill>
              <a:latin typeface="Verdana"/>
              <a:ea typeface="Verdana"/>
              <a:cs typeface="Verdana"/>
              <a:sym typeface="Verdana"/>
            </a:endParaRPr>
          </a:p>
        </p:txBody>
      </p:sp>
      <p:sp>
        <p:nvSpPr>
          <p:cNvPr id="286" name="Google Shape;286;p23"/>
          <p:cNvSpPr txBox="1">
            <a:spLocks noGrp="1"/>
          </p:cNvSpPr>
          <p:nvPr>
            <p:ph idx="1" type="body"/>
          </p:nvPr>
        </p:nvSpPr>
        <p:spPr>
          <a:xfrm>
            <a:off x="1190888" y="4907725"/>
            <a:ext cx="1997100" cy="390300"/>
          </a:xfrm>
          <a:prstGeom prst="rect">
            <a:avLst/>
          </a:prstGeom>
        </p:spPr>
        <p:txBody>
          <a:bodyPr anchor="t" anchorCtr="0" bIns="91425" lIns="91425" rIns="91425" spcFirstLastPara="1" tIns="91425" wrap="square">
            <a:noAutofit/>
          </a:bodyPr>
          <a:lstStyle/>
          <a:p>
            <a:pPr algn="ctr" indent="0" lvl="0" marL="0"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
            </a:r>
            <a:r>
              <a:rPr lang="en">
                <a:solidFill>
                  <a:schemeClr val="dk1"/>
                </a:solidFill>
              </a:rPr>
              <a:t>totalMediaInvestmentInput</a:t>
            </a:r>
            <a:r>
              <a:rPr lang="en" sz="1150">
                <a:solidFill>
                  <a:schemeClr val="dk1"/>
                </a:solidFill>
                <a:latin typeface="Verdana"/>
                <a:ea typeface="Verdana"/>
                <a:cs typeface="Verdana"/>
                <a:sym typeface="Verdana"/>
              </a:rPr>
              <a:t/>
            </a:r>
            <a:endParaRPr sz="1150">
              <a:solidFill>
                <a:srgbClr val="000000"/>
              </a:solidFill>
              <a:latin typeface="Verdana"/>
              <a:ea typeface="Verdana"/>
              <a:cs typeface="Verdana"/>
              <a:sym typeface="Verdana"/>
            </a:endParaRPr>
          </a:p>
        </p:txBody>
      </p:sp>
      <p:sp>
        <p:nvSpPr>
          <p:cNvPr id="287" name="Google Shape;287;p23"/>
          <p:cNvSpPr txBox="1">
            <a:spLocks noGrp="1"/>
          </p:cNvSpPr>
          <p:nvPr>
            <p:ph idx="1" type="body"/>
          </p:nvPr>
        </p:nvSpPr>
        <p:spPr>
          <a:xfrm>
            <a:off x="1143000" y="5196850"/>
            <a:ext cx="2102700" cy="390300"/>
          </a:xfrm>
          <a:prstGeom prst="rect">
            <a:avLst/>
          </a:prstGeom>
        </p:spPr>
        <p:txBody>
          <a:bodyPr anchor="t" anchorCtr="0" bIns="91425" lIns="91425" rIns="91425" spcFirstLastPara="1" tIns="91425" wrap="square">
            <a:noAutofit/>
          </a:bodyPr>
          <a:lstStyle/>
          <a:p>
            <a:pPr algn="ctr" indent="0" lvl="0" marL="0" rtl="0">
              <a:lnSpc>
                <a:spcPct val="100000"/>
              </a:lnSpc>
              <a:spcBef>
                <a:spcPts val="0"/>
              </a:spcBef>
              <a:spcAft>
                <a:spcPts val="1600"/>
              </a:spcAft>
              <a:buNone/>
            </a:pPr>
            <a:r>
              <a:rPr b="1" lang="en" sz="1150">
                <a:solidFill>
                  <a:srgbClr val="000000"/>
                </a:solidFill>
                <a:latin typeface="Verdana"/>
                <a:ea typeface="Verdana"/>
                <a:cs typeface="Verdana"/>
                <a:sym typeface="Verdana"/>
              </a:rPr>
              <a:t>Total Adv Investment Next 12 Months</a:t>
            </a:r>
            <a:endParaRPr b="1" sz="1150">
              <a:solidFill>
                <a:srgbClr val="000000"/>
              </a:solidFill>
              <a:latin typeface="Verdana"/>
              <a:ea typeface="Verdana"/>
              <a:cs typeface="Verdana"/>
              <a:sym typeface="Verdana"/>
            </a:endParaRPr>
          </a:p>
        </p:txBody>
      </p:sp>
      <p:sp>
        <p:nvSpPr>
          <p:cNvPr id="288" name="Google Shape;288;p23"/>
          <p:cNvSpPr txBox="1">
            <a:spLocks noGrp="1"/>
          </p:cNvSpPr>
          <p:nvPr>
            <p:ph idx="1" type="body"/>
          </p:nvPr>
        </p:nvSpPr>
        <p:spPr>
          <a:xfrm>
            <a:off x="642300" y="5963950"/>
            <a:ext cx="500700" cy="390300"/>
          </a:xfrm>
          <a:prstGeom prst="rect">
            <a:avLst/>
          </a:prstGeom>
        </p:spPr>
        <p:txBody>
          <a:bodyPr anchor="t" anchorCtr="0" bIns="91425" lIns="91425" rIns="91425" spcFirstLastPara="1" tIns="91425" wrap="square">
            <a:noAutofit/>
          </a:bodyPr>
          <a:lstStyle/>
          <a:p>
            <a:pPr algn="l" indent="0" lvl="0" marL="0" rtl="0">
              <a:spcBef>
                <a:spcPts val="0"/>
              </a:spcBef>
              <a:spcAft>
                <a:spcPts val="1600"/>
              </a:spcAft>
              <a:buNone/>
            </a:pPr>
            <a:r>
              <a:rPr b="1" lang="en" sz="1150">
                <a:solidFill>
                  <a:srgbClr val="000000"/>
                </a:solidFill>
                <a:latin typeface="Verdana"/>
                <a:ea typeface="Verdana"/>
                <a:cs typeface="Verdana"/>
                <a:sym typeface="Verdana"/>
              </a:rPr>
              <a:t>C.</a:t>
            </a:r>
            <a:endParaRPr b="1" sz="1150">
              <a:solidFill>
                <a:srgbClr val="000000"/>
              </a:solidFill>
              <a:latin typeface="Verdana"/>
              <a:ea typeface="Verdana"/>
              <a:cs typeface="Verdana"/>
              <a:sym typeface="Verdana"/>
            </a:endParaRPr>
          </a:p>
        </p:txBody>
      </p:sp>
      <p:sp>
        <p:nvSpPr>
          <p:cNvPr id="289" name="Google Shape;289;p23"/>
          <p:cNvSpPr txBox="1">
            <a:spLocks noGrp="1"/>
          </p:cNvSpPr>
          <p:nvPr>
            <p:ph idx="1" type="body"/>
          </p:nvPr>
        </p:nvSpPr>
        <p:spPr>
          <a:xfrm>
            <a:off x="1195800" y="6249220"/>
            <a:ext cx="1997100" cy="390300"/>
          </a:xfrm>
          <a:prstGeom prst="rect">
            <a:avLst/>
          </a:prstGeom>
        </p:spPr>
        <p:txBody>
          <a:bodyPr anchor="t" anchorCtr="0" bIns="91425" lIns="91425" rIns="91425" spcFirstLastPara="1" tIns="91425" wrap="square">
            <a:noAutofit/>
          </a:bodyPr>
          <a:lstStyle/>
          <a:p>
            <a:pPr algn="ctr" indent="0" lvl="0" marL="0" rtl="0">
              <a:lnSpc>
                <a:spcPct val="100000"/>
              </a:lnSpc>
              <a:spcBef>
                <a:spcPts val="0"/>
              </a:spcBef>
              <a:spcAft>
                <a:spcPts val="1600"/>
              </a:spcAft>
              <a:buNone/>
            </a:pPr>
            <a:r>
              <a:rPr b="1" lang="en" sz="1150">
                <a:solidFill>
                  <a:srgbClr val="000000"/>
                </a:solidFill>
                <a:latin typeface="Verdana"/>
                <a:ea typeface="Verdana"/>
                <a:cs typeface="Verdana"/>
                <a:sym typeface="Verdana"/>
              </a:rPr>
              <a:t>Stretch Goal Total Adv. Investment Next 12 Months</a:t>
            </a:r>
            <a:endParaRPr b="1" sz="1150">
              <a:solidFill>
                <a:srgbClr val="000000"/>
              </a:solidFill>
              <a:latin typeface="Verdana"/>
              <a:ea typeface="Verdana"/>
              <a:cs typeface="Verdana"/>
              <a:sym typeface="Verdana"/>
            </a:endParaRPr>
          </a:p>
        </p:txBody>
      </p:sp>
      <p:sp>
        <p:nvSpPr>
          <p:cNvPr id="290" name="Google Shape;290;p23"/>
          <p:cNvSpPr txBox="1">
            <a:spLocks noGrp="1"/>
          </p:cNvSpPr>
          <p:nvPr>
            <p:ph idx="1" type="body"/>
          </p:nvPr>
        </p:nvSpPr>
        <p:spPr>
          <a:xfrm>
            <a:off x="3541650" y="5196838"/>
            <a:ext cx="2694600" cy="390300"/>
          </a:xfrm>
          <a:prstGeom prst="rect">
            <a:avLst/>
          </a:prstGeom>
        </p:spPr>
        <p:txBody>
          <a:bodyPr anchor="t" anchorCtr="0" bIns="91425" lIns="91425" rIns="91425" spcFirstLastPara="1" tIns="91425" wrap="square">
            <a:noAutofit/>
          </a:bodyPr>
          <a:lstStyle/>
          <a:p>
            <a:pPr algn="ctr" indent="0" lvl="0" marL="0" rtl="0">
              <a:lnSpc>
                <a:spcPct val="100000"/>
              </a:lnSpc>
              <a:spcBef>
                <a:spcPts val="0"/>
              </a:spcBef>
              <a:spcAft>
                <a:spcPts val="1600"/>
              </a:spcAft>
              <a:buNone/>
            </a:pPr>
            <a:r>
              <a:rPr b="1" lang="en" sz="1150">
                <a:solidFill>
                  <a:srgbClr val="000000"/>
                </a:solidFill>
                <a:latin typeface="Verdana"/>
                <a:ea typeface="Verdana"/>
                <a:cs typeface="Verdana"/>
                <a:sym typeface="Verdana"/>
              </a:rPr>
              <a:t>Adv % of Gross Sales</a:t>
            </a:r>
            <a:endParaRPr b="1" sz="1150">
              <a:solidFill>
                <a:srgbClr val="000000"/>
              </a:solidFill>
              <a:latin typeface="Verdana"/>
              <a:ea typeface="Verdana"/>
              <a:cs typeface="Verdana"/>
              <a:sym typeface="Verdana"/>
            </a:endParaRPr>
          </a:p>
        </p:txBody>
      </p:sp>
      <p:sp>
        <p:nvSpPr>
          <p:cNvPr id="291" name="Google Shape;291;p23"/>
          <p:cNvSpPr txBox="1">
            <a:spLocks noGrp="1"/>
          </p:cNvSpPr>
          <p:nvPr>
            <p:ph idx="1" type="body"/>
          </p:nvPr>
        </p:nvSpPr>
        <p:spPr>
          <a:xfrm>
            <a:off x="3821700" y="6245352"/>
            <a:ext cx="2134500" cy="390300"/>
          </a:xfrm>
          <a:prstGeom prst="rect">
            <a:avLst/>
          </a:prstGeom>
        </p:spPr>
        <p:txBody>
          <a:bodyPr anchor="t" anchorCtr="0" bIns="91425" lIns="91425" rIns="91425" spcFirstLastPara="1" tIns="91425" wrap="square">
            <a:noAutofit/>
          </a:bodyPr>
          <a:lstStyle/>
          <a:p>
            <a:pPr algn="ctr" indent="0" lvl="0" marL="0" rtl="0">
              <a:lnSpc>
                <a:spcPct val="100000"/>
              </a:lnSpc>
              <a:spcBef>
                <a:spcPts val="0"/>
              </a:spcBef>
              <a:spcAft>
                <a:spcPts val="1600"/>
              </a:spcAft>
              <a:buNone/>
            </a:pPr>
            <a:r>
              <a:rPr b="1" lang="en" sz="1150">
                <a:solidFill>
                  <a:srgbClr val="000000"/>
                </a:solidFill>
                <a:latin typeface="Verdana"/>
                <a:ea typeface="Verdana"/>
                <a:cs typeface="Verdana"/>
                <a:sym typeface="Verdana"/>
              </a:rPr>
              <a:t>Adv % of Gross Sales</a:t>
            </a:r>
            <a:endParaRPr b="1" sz="1150">
              <a:solidFill>
                <a:srgbClr val="000000"/>
              </a:solidFill>
              <a:latin typeface="Verdana"/>
              <a:ea typeface="Verdana"/>
              <a:cs typeface="Verdana"/>
              <a:sym typeface="Verdana"/>
            </a:endParaRPr>
          </a:p>
        </p:txBody>
      </p:sp>
      <p:sp>
        <p:nvSpPr>
          <p:cNvPr id="292" name="Google Shape;292;p23"/>
          <p:cNvSpPr txBox="1">
            <a:spLocks noGrp="1"/>
          </p:cNvSpPr>
          <p:nvPr>
            <p:ph idx="1" type="body"/>
          </p:nvPr>
        </p:nvSpPr>
        <p:spPr>
          <a:xfrm>
            <a:off x="6716850" y="5196850"/>
            <a:ext cx="1733400" cy="654300"/>
          </a:xfrm>
          <a:prstGeom prst="rect">
            <a:avLst/>
          </a:prstGeom>
        </p:spPr>
        <p:txBody>
          <a:bodyPr anchor="t" anchorCtr="0" bIns="91425" lIns="91425" rIns="91425" spcFirstLastPara="1" tIns="91425" wrap="square">
            <a:noAutofit/>
          </a:bodyPr>
          <a:lstStyle/>
          <a:p>
            <a:pPr algn="ctr" indent="0" lvl="0" marL="0" rtl="0">
              <a:lnSpc>
                <a:spcPct val="100000"/>
              </a:lnSpc>
              <a:spcBef>
                <a:spcPts val="0"/>
              </a:spcBef>
              <a:spcAft>
                <a:spcPts val="0"/>
              </a:spcAft>
              <a:buNone/>
            </a:pPr>
            <a:r>
              <a:rPr b="1" lang="en" sz="1150">
                <a:solidFill>
                  <a:srgbClr val="000000"/>
                </a:solidFill>
                <a:latin typeface="Verdana"/>
                <a:ea typeface="Verdana"/>
                <a:cs typeface="Verdana"/>
                <a:sym typeface="Verdana"/>
              </a:rPr>
              <a:t>Estimated Gross Sales Next</a:t>
            </a:r>
            <a:r>
              <a:rPr b="1" lang="en">
                <a:solidFill>
                  <a:srgbClr val="000000"/>
                </a:solidFill>
              </a:rPr>
              <a:t> </a:t>
            </a:r>
            <a:endParaRPr b="1">
              <a:solidFill>
                <a:srgbClr val="000000"/>
              </a:solidFill>
            </a:endParaRPr>
          </a:p>
          <a:p>
            <a:pPr algn="ctr" indent="0" lvl="0" marL="0" rtl="0">
              <a:lnSpc>
                <a:spcPct val="100000"/>
              </a:lnSpc>
              <a:spcBef>
                <a:spcPts val="0"/>
              </a:spcBef>
              <a:spcAft>
                <a:spcPts val="0"/>
              </a:spcAft>
              <a:buNone/>
            </a:pPr>
            <a:r>
              <a:rPr b="1" lang="en" sz="1150">
                <a:solidFill>
                  <a:srgbClr val="000000"/>
                </a:solidFill>
                <a:latin typeface="Verdana"/>
                <a:ea typeface="Verdana"/>
                <a:cs typeface="Verdana"/>
                <a:sym typeface="Verdana"/>
              </a:rPr>
              <a:t>12 </a:t>
            </a:r>
            <a:r>
              <a:rPr b="1" lang="en">
                <a:solidFill>
                  <a:srgbClr val="000000"/>
                </a:solidFill>
              </a:rPr>
              <a:t>M</a:t>
            </a:r>
            <a:r>
              <a:rPr b="1" lang="en" sz="1150">
                <a:solidFill>
                  <a:srgbClr val="000000"/>
                </a:solidFill>
                <a:latin typeface="Verdana"/>
                <a:ea typeface="Verdana"/>
                <a:cs typeface="Verdana"/>
                <a:sym typeface="Verdana"/>
              </a:rPr>
              <a:t>onths</a:t>
            </a:r>
            <a:endParaRPr b="1" sz="1150">
              <a:solidFill>
                <a:srgbClr val="000000"/>
              </a:solidFill>
              <a:latin typeface="Verdana"/>
              <a:ea typeface="Verdana"/>
              <a:cs typeface="Verdana"/>
              <a:sym typeface="Verdana"/>
            </a:endParaRPr>
          </a:p>
        </p:txBody>
      </p:sp>
      <p:sp>
        <p:nvSpPr>
          <p:cNvPr id="293" name="Google Shape;293;p23"/>
          <p:cNvSpPr txBox="1">
            <a:spLocks noGrp="1"/>
          </p:cNvSpPr>
          <p:nvPr>
            <p:ph idx="1" type="body"/>
          </p:nvPr>
        </p:nvSpPr>
        <p:spPr>
          <a:xfrm>
            <a:off x="6828150" y="6249225"/>
            <a:ext cx="1510800" cy="390300"/>
          </a:xfrm>
          <a:prstGeom prst="rect">
            <a:avLst/>
          </a:prstGeom>
        </p:spPr>
        <p:txBody>
          <a:bodyPr anchor="t" anchorCtr="0" bIns="91425" lIns="91425" rIns="91425" spcFirstLastPara="1" tIns="91425" wrap="square">
            <a:noAutofit/>
          </a:bodyPr>
          <a:lstStyle/>
          <a:p>
            <a:pPr algn="ctr" indent="0" lvl="0" marL="0" rtl="0">
              <a:lnSpc>
                <a:spcPct val="100000"/>
              </a:lnSpc>
              <a:spcBef>
                <a:spcPts val="0"/>
              </a:spcBef>
              <a:spcAft>
                <a:spcPts val="0"/>
              </a:spcAft>
              <a:buNone/>
            </a:pPr>
            <a:r>
              <a:rPr b="1" lang="en" sz="1150">
                <a:solidFill>
                  <a:srgbClr val="000000"/>
                </a:solidFill>
                <a:latin typeface="Verdana"/>
                <a:ea typeface="Verdana"/>
                <a:cs typeface="Verdana"/>
                <a:sym typeface="Verdana"/>
              </a:rPr>
              <a:t>Stretch Gross Sales Next</a:t>
            </a:r>
            <a:r>
              <a:rPr b="1" lang="en">
                <a:solidFill>
                  <a:srgbClr val="000000"/>
                </a:solidFill>
              </a:rPr>
              <a:t> </a:t>
            </a:r>
            <a:endParaRPr b="1">
              <a:solidFill>
                <a:srgbClr val="000000"/>
              </a:solidFill>
            </a:endParaRPr>
          </a:p>
          <a:p>
            <a:pPr algn="ctr" indent="0" lvl="0" marL="0" rtl="0">
              <a:lnSpc>
                <a:spcPct val="100000"/>
              </a:lnSpc>
              <a:spcBef>
                <a:spcPts val="0"/>
              </a:spcBef>
              <a:spcAft>
                <a:spcPts val="1600"/>
              </a:spcAft>
              <a:buNone/>
            </a:pPr>
            <a:r>
              <a:rPr b="1" lang="en" sz="1150">
                <a:solidFill>
                  <a:srgbClr val="000000"/>
                </a:solidFill>
                <a:latin typeface="Verdana"/>
                <a:ea typeface="Verdana"/>
                <a:cs typeface="Verdana"/>
                <a:sym typeface="Verdana"/>
              </a:rPr>
              <a:t>12 </a:t>
            </a:r>
            <a:r>
              <a:rPr b="1" lang="en">
                <a:solidFill>
                  <a:srgbClr val="000000"/>
                </a:solidFill>
              </a:rPr>
              <a:t>M</a:t>
            </a:r>
            <a:r>
              <a:rPr b="1" lang="en" sz="1150">
                <a:solidFill>
                  <a:srgbClr val="000000"/>
                </a:solidFill>
                <a:latin typeface="Verdana"/>
                <a:ea typeface="Verdana"/>
                <a:cs typeface="Verdana"/>
                <a:sym typeface="Verdana"/>
              </a:rPr>
              <a:t>onths</a:t>
            </a:r>
            <a:endParaRPr b="1" sz="1150">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cap="flat" cmpd="sng" w="9525">
            <a:solidFill>
              <a:srgbClr val="000000"/>
            </a:solidFill>
            <a:prstDash val="solid"/>
            <a:round/>
            <a:headEnd len="med" type="none" w="med"/>
            <a:tailEnd len="med" type="none" w="med"/>
          </a:ln>
        </p:spPr>
      </p:cxnSp>
      <p:cxnSp>
        <p:nvCxnSpPr>
          <p:cNvPr id="295" name="Google Shape;295;p23"/>
          <p:cNvCxnSpPr/>
          <p:nvPr/>
        </p:nvCxnSpPr>
        <p:spPr>
          <a:xfrm>
            <a:off x="1186650" y="6253077"/>
            <a:ext cx="2015400" cy="0"/>
          </a:xfrm>
          <a:prstGeom prst="straightConnector1">
            <a:avLst/>
          </a:prstGeom>
          <a:noFill/>
          <a:ln cap="flat" cmpd="sng" w="9525">
            <a:solidFill>
              <a:srgbClr val="000000"/>
            </a:solidFill>
            <a:prstDash val="solid"/>
            <a:round/>
            <a:headEnd len="med" type="none" w="med"/>
            <a:tailEnd len="med" type="none" w="med"/>
          </a:ln>
        </p:spPr>
      </p:cxnSp>
      <p:cxnSp>
        <p:nvCxnSpPr>
          <p:cNvPr id="296" name="Google Shape;296;p23"/>
          <p:cNvCxnSpPr/>
          <p:nvPr/>
        </p:nvCxnSpPr>
        <p:spPr>
          <a:xfrm>
            <a:off x="3881238" y="5246047"/>
            <a:ext cx="2015400" cy="0"/>
          </a:xfrm>
          <a:prstGeom prst="straightConnector1">
            <a:avLst/>
          </a:prstGeom>
          <a:noFill/>
          <a:ln cap="flat" cmpd="sng" w="9525">
            <a:solidFill>
              <a:srgbClr val="000000"/>
            </a:solidFill>
            <a:prstDash val="solid"/>
            <a:round/>
            <a:headEnd len="med" type="none" w="med"/>
            <a:tailEnd len="med" type="none" w="med"/>
          </a:ln>
        </p:spPr>
      </p:cxnSp>
      <p:cxnSp>
        <p:nvCxnSpPr>
          <p:cNvPr id="297" name="Google Shape;297;p23"/>
          <p:cNvCxnSpPr/>
          <p:nvPr/>
        </p:nvCxnSpPr>
        <p:spPr>
          <a:xfrm>
            <a:off x="3882140" y="6253077"/>
            <a:ext cx="2015400" cy="0"/>
          </a:xfrm>
          <a:prstGeom prst="straightConnector1">
            <a:avLst/>
          </a:prstGeom>
          <a:noFill/>
          <a:ln cap="flat" cmpd="sng" w="9525">
            <a:solidFill>
              <a:srgbClr val="000000"/>
            </a:solidFill>
            <a:prstDash val="solid"/>
            <a:round/>
            <a:headEnd len="med" type="none" w="med"/>
            <a:tailEnd len="med" type="none" w="med"/>
          </a:ln>
        </p:spPr>
      </p:cxnSp>
      <p:cxnSp>
        <p:nvCxnSpPr>
          <p:cNvPr id="298" name="Google Shape;298;p23"/>
          <p:cNvCxnSpPr/>
          <p:nvPr/>
        </p:nvCxnSpPr>
        <p:spPr>
          <a:xfrm>
            <a:off x="6716911" y="5244475"/>
            <a:ext cx="1732500" cy="0"/>
          </a:xfrm>
          <a:prstGeom prst="straightConnector1">
            <a:avLst/>
          </a:prstGeom>
          <a:noFill/>
          <a:ln cap="flat" cmpd="sng" w="9525">
            <a:solidFill>
              <a:srgbClr val="000000"/>
            </a:solidFill>
            <a:prstDash val="solid"/>
            <a:round/>
            <a:headEnd len="med" type="none" w="med"/>
            <a:tailEnd len="med" type="none" w="med"/>
          </a:ln>
        </p:spPr>
      </p:cxnSp>
      <p:cxnSp>
        <p:nvCxnSpPr>
          <p:cNvPr id="299" name="Google Shape;299;p23"/>
          <p:cNvCxnSpPr/>
          <p:nvPr/>
        </p:nvCxnSpPr>
        <p:spPr>
          <a:xfrm>
            <a:off x="6717687" y="6251500"/>
            <a:ext cx="1732500" cy="0"/>
          </a:xfrm>
          <a:prstGeom prst="straightConnector1">
            <a:avLst/>
          </a:prstGeom>
          <a:noFill/>
          <a:ln cap="flat" cmpd="sng" w="9525">
            <a:solidFill>
              <a:srgbClr val="000000"/>
            </a:solidFill>
            <a:prstDash val="solid"/>
            <a:round/>
            <a:headEnd len="med" type="none" w="med"/>
            <a:tailEnd len="med" type="none" w="med"/>
          </a:ln>
        </p:spPr>
      </p:cxnSp>
      <p:sp>
        <p:nvSpPr>
          <p:cNvPr id="300" name="Google Shape;300;p23"/>
          <p:cNvSpPr txBox="1">
            <a:spLocks noGrp="1"/>
          </p:cNvSpPr>
          <p:nvPr>
            <p:ph idx="1" type="body"/>
          </p:nvPr>
        </p:nvSpPr>
        <p:spPr>
          <a:xfrm>
            <a:off x="3385213" y="5049325"/>
            <a:ext cx="298800" cy="390300"/>
          </a:xfrm>
          <a:prstGeom prst="rect">
            <a:avLst/>
          </a:prstGeom>
        </p:spPr>
        <p:txBody>
          <a:bodyPr anchor="t" anchorCtr="0" bIns="91425" lIns="91425" rIns="91425" spcFirstLastPara="1" tIns="91425" wrap="square">
            <a:noAutofit/>
          </a:bodyPr>
          <a:lstStyle/>
          <a:p>
            <a:pPr algn="l" indent="0" lvl="0" marL="0" rtl="0">
              <a:spcBef>
                <a:spcPts val="0"/>
              </a:spcBef>
              <a:spcAft>
                <a:spcPts val="1600"/>
              </a:spcAft>
              <a:buNone/>
            </a:pPr>
            <a:r>
              <a:rPr b="1" lang="en" sz="1150">
                <a:solidFill>
                  <a:srgbClr val="000000"/>
                </a:solidFill>
                <a:latin typeface="Verdana"/>
                <a:ea typeface="Verdana"/>
                <a:cs typeface="Verdana"/>
                <a:sym typeface="Verdana"/>
              </a:rPr>
              <a:t>/</a:t>
            </a:r>
            <a:endParaRPr b="1" sz="1150">
              <a:solidFill>
                <a:srgbClr val="000000"/>
              </a:solidFill>
              <a:latin typeface="Verdana"/>
              <a:ea typeface="Verdana"/>
              <a:cs typeface="Verdana"/>
              <a:sym typeface="Verdana"/>
            </a:endParaRPr>
          </a:p>
        </p:txBody>
      </p:sp>
      <p:sp>
        <p:nvSpPr>
          <p:cNvPr id="301" name="Google Shape;301;p23"/>
          <p:cNvSpPr txBox="1">
            <a:spLocks noGrp="1"/>
          </p:cNvSpPr>
          <p:nvPr>
            <p:ph idx="1" type="body"/>
          </p:nvPr>
        </p:nvSpPr>
        <p:spPr>
          <a:xfrm>
            <a:off x="3388113" y="6057925"/>
            <a:ext cx="298800" cy="390300"/>
          </a:xfrm>
          <a:prstGeom prst="rect">
            <a:avLst/>
          </a:prstGeom>
        </p:spPr>
        <p:txBody>
          <a:bodyPr anchor="t" anchorCtr="0" bIns="91425" lIns="91425" rIns="91425" spcFirstLastPara="1" tIns="91425" wrap="square">
            <a:noAutofit/>
          </a:bodyPr>
          <a:lstStyle/>
          <a:p>
            <a:pPr algn="l" indent="0" lvl="0" marL="0" rtl="0">
              <a:spcBef>
                <a:spcPts val="0"/>
              </a:spcBef>
              <a:spcAft>
                <a:spcPts val="1600"/>
              </a:spcAft>
              <a:buNone/>
            </a:pPr>
            <a:r>
              <a:rPr b="1" lang="en" sz="1150">
                <a:solidFill>
                  <a:srgbClr val="000000"/>
                </a:solidFill>
                <a:latin typeface="Verdana"/>
                <a:ea typeface="Verdana"/>
                <a:cs typeface="Verdana"/>
                <a:sym typeface="Verdana"/>
              </a:rPr>
              <a:t>/</a:t>
            </a:r>
            <a:endParaRPr b="1" sz="1150">
              <a:solidFill>
                <a:srgbClr val="000000"/>
              </a:solidFill>
              <a:latin typeface="Verdana"/>
              <a:ea typeface="Verdana"/>
              <a:cs typeface="Verdana"/>
              <a:sym typeface="Verdana"/>
            </a:endParaRPr>
          </a:p>
        </p:txBody>
      </p:sp>
      <p:sp>
        <p:nvSpPr>
          <p:cNvPr id="302" name="Google Shape;302;p23"/>
          <p:cNvSpPr txBox="1">
            <a:spLocks noGrp="1"/>
          </p:cNvSpPr>
          <p:nvPr>
            <p:ph idx="1" type="body"/>
          </p:nvPr>
        </p:nvSpPr>
        <p:spPr>
          <a:xfrm>
            <a:off x="6212000" y="5049325"/>
            <a:ext cx="298800" cy="390300"/>
          </a:xfrm>
          <a:prstGeom prst="rect">
            <a:avLst/>
          </a:prstGeom>
        </p:spPr>
        <p:txBody>
          <a:bodyPr anchor="t" anchorCtr="0" bIns="91425" lIns="91425" rIns="91425" spcFirstLastPara="1" tIns="91425" wrap="square">
            <a:noAutofit/>
          </a:bodyPr>
          <a:lstStyle/>
          <a:p>
            <a:pPr algn="l" indent="0" lvl="0" marL="0" rtl="0">
              <a:spcBef>
                <a:spcPts val="0"/>
              </a:spcBef>
              <a:spcAft>
                <a:spcPts val="1600"/>
              </a:spcAft>
              <a:buNone/>
            </a:pPr>
            <a:r>
              <a:rPr b="1" lang="en" sz="1150">
                <a:solidFill>
                  <a:srgbClr val="000000"/>
                </a:solidFill>
                <a:latin typeface="Verdana"/>
                <a:ea typeface="Verdana"/>
                <a:cs typeface="Verdana"/>
                <a:sym typeface="Verdana"/>
              </a:rPr>
              <a:t>=</a:t>
            </a:r>
            <a:endParaRPr b="1" sz="1150">
              <a:solidFill>
                <a:srgbClr val="000000"/>
              </a:solidFill>
              <a:latin typeface="Verdana"/>
              <a:ea typeface="Verdana"/>
              <a:cs typeface="Verdana"/>
              <a:sym typeface="Verdana"/>
            </a:endParaRPr>
          </a:p>
        </p:txBody>
      </p:sp>
      <p:sp>
        <p:nvSpPr>
          <p:cNvPr id="303" name="Google Shape;303;p23"/>
          <p:cNvSpPr txBox="1">
            <a:spLocks noGrp="1"/>
          </p:cNvSpPr>
          <p:nvPr>
            <p:ph idx="1" type="body"/>
          </p:nvPr>
        </p:nvSpPr>
        <p:spPr>
          <a:xfrm>
            <a:off x="6214900" y="6057925"/>
            <a:ext cx="298800" cy="390300"/>
          </a:xfrm>
          <a:prstGeom prst="rect">
            <a:avLst/>
          </a:prstGeom>
        </p:spPr>
        <p:txBody>
          <a:bodyPr anchor="t" anchorCtr="0" bIns="91425" lIns="91425" rIns="91425" spcFirstLastPara="1" tIns="91425" wrap="square">
            <a:noAutofit/>
          </a:bodyPr>
          <a:lstStyle/>
          <a:p>
            <a:pPr algn="l" indent="0" lvl="0" marL="0" rtl="0">
              <a:spcBef>
                <a:spcPts val="0"/>
              </a:spcBef>
              <a:spcAft>
                <a:spcPts val="1600"/>
              </a:spcAft>
              <a:buNone/>
            </a:pPr>
            <a:r>
              <a:rPr b="1" lang="en" sz="1150">
                <a:solidFill>
                  <a:srgbClr val="000000"/>
                </a:solidFill>
                <a:latin typeface="Verdana"/>
                <a:ea typeface="Verdana"/>
                <a:cs typeface="Verdana"/>
                <a:sym typeface="Verdana"/>
              </a:rPr>
              <a:t>=</a:t>
            </a:r>
            <a:endParaRPr b="1" sz="1150">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anchor="t" anchorCtr="0" bIns="91425" lIns="91425" rIns="91425" spcFirstLastPara="1" tIns="91425" wrap="square">
            <a:spAutoFit/>
          </a:bodyPr>
          <a:lstStyle/>
          <a:p>
            <a:pPr algn="l" indent="0" lvl="0" marL="0" rtl="0">
              <a:lnSpc>
                <a:spcPct val="100000"/>
              </a:lnSpc>
              <a:spcBef>
                <a:spcPts val="0"/>
              </a:spcBef>
              <a:spcAft>
                <a:spcPts val="0"/>
              </a:spcAft>
              <a:buNone/>
            </a:pPr>
            <a:r>
              <a:rPr b="1" lang="en" sz="1150">
                <a:latin typeface="Verdana"/>
                <a:ea typeface="Verdana"/>
                <a:cs typeface="Verdana"/>
                <a:sym typeface="Verdana"/>
              </a:rPr>
              <a:t>Total Adv. Investment</a:t>
            </a:r>
            <a:endParaRPr b="1" sz="1150">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anchor="t" anchorCtr="0" bIns="91425" lIns="91425" rIns="91425" spcFirstLastPara="1" tIns="91425" wrap="square">
            <a:spAutoFit/>
          </a:bodyPr>
          <a:lstStyle/>
          <a:p>
            <a:pPr algn="l" indent="0" lvl="0" marL="0"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algn="l" indent="0" lvl="0" marL="0"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algn="l" indent="0" lvl="0" marL="0"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algn="l" indent="0" lvl="0" marL="0"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algn="l" indent="0" lvl="0" marL="0"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algn="l" indent="0" lvl="0" marL="0"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algn="l" indent="0" lvl="0" marL="0"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algn="l" indent="0" lvl="0" marL="0"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algn="l" indent="0" lvl="0" marL="0"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anchor="t" anchorCtr="0" bIns="91425" lIns="91425" rIns="91425" spcFirstLastPara="1" tIns="91425" wrap="square">
            <a:spAutoFit/>
          </a:bodyPr>
          <a:lstStyle/>
          <a:p>
            <a:pPr algn="l" indent="0" lvl="0" marL="0"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algn="l" indent="0" lvl="0" marL="0"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algn="l" indent="0" lvl="0" marL="0"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algn="l" indent="0" lvl="0" marL="0"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algn="l" indent="0" lvl="0" marL="0"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algn="l" indent="0" lvl="0" marL="0"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algn="l" indent="0" lvl="0" marL="0"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algn="l" indent="0" lvl="0" marL="0"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algn="l" indent="0" lvl="0" marL="0"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anchor="t" anchorCtr="0" bIns="91425" lIns="91425" rIns="91425" spcFirstLastPara="1" tIns="91425" wrap="square">
            <a:spAutoFit/>
          </a:bodyPr>
          <a:lstStyle/>
          <a:p>
            <a:pPr algn="l" indent="0" lvl="0" marL="0"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algn="l" indent="0" lvl="0" marL="0"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algn="l" indent="0" lvl="0" marL="0"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algn="l" indent="0" lvl="0" marL="0"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algn="l" indent="0" lvl="0" marL="0"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algn="l" indent="0" lvl="0" marL="0"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algn="l" indent="0" lvl="0" marL="0"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algn="l" indent="0" lvl="0" marL="0"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algn="l" indent="0" lvl="0" marL="0"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anchor="t" anchorCtr="0" bIns="91425" lIns="91425" rIns="91425" spcFirstLastPara="1" tIns="91425" wrap="square">
            <a:spAutoFit/>
          </a:bodyPr>
          <a:lstStyle/>
          <a:p>
            <a:pPr algn="l" indent="0" lvl="0" marL="0"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anchor="t" anchorCtr="0" bIns="91425" lIns="91425" rIns="91425" spcFirstLastPara="1" tIns="91425" wrap="square">
            <a:spAutoFit/>
          </a:bodyPr>
          <a:lstStyle/>
          <a:p>
            <a:pPr algn="l" indent="0" lvl="0" marL="0"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idx="1" type="body"/>
          </p:nvPr>
        </p:nvSpPr>
        <p:spPr>
          <a:xfrm>
            <a:off x="3881238" y="4907725"/>
            <a:ext cx="1997100" cy="390300"/>
          </a:xfrm>
          <a:prstGeom prst="rect">
            <a:avLst/>
          </a:prstGeom>
        </p:spPr>
        <p:txBody>
          <a:bodyPr anchor="t" anchorCtr="0" bIns="91425" lIns="91425" rIns="91425" spcFirstLastPara="1" tIns="91425" wrap="square">
            <a:noAutofit/>
          </a:bodyPr>
          <a:lstStyle/>
          <a:p>
            <a:pPr algn="ctr" indent="0" lvl="0" marL="0" rtl="0">
              <a:spcBef>
                <a:spcPts val="0"/>
              </a:spcBef>
              <a:spcAft>
                <a:spcPts val="0"/>
              </a:spcAft>
              <a:buNone/>
            </a:pPr>
            <a:r>
              <a:rPr lang="en" sz="1150">
                <a:solidFill>
                  <a:schemeClr val="dk1"/>
                </a:solidFill>
                <a:latin typeface="Verdana"/>
                <a:ea typeface="Verdana"/>
                <a:cs typeface="Verdana"/>
                <a:sym typeface="Verdana"/>
              </a:rPr>
              <a:t/>
            </a:r>
            <a:r>
              <a:rPr lang="en">
                <a:solidFill>
                  <a:schemeClr val="dk1"/>
                </a:solidFill>
              </a:rPr>
              <a:t>pctTAIGrossSalesLastYear</a:t>
            </a:r>
            <a:r>
              <a:rPr lang="en" sz="1150">
                <a:solidFill>
                  <a:schemeClr val="dk1"/>
                </a:solidFill>
                <a:latin typeface="Verdana"/>
                <a:ea typeface="Verdana"/>
                <a:cs typeface="Verdana"/>
                <a:sym typeface="Verdana"/>
              </a:rPr>
              <a:t/>
            </a:r>
            <a:endParaRPr sz="1150">
              <a:solidFill>
                <a:srgbClr val="000000"/>
              </a:solidFill>
              <a:latin typeface="Verdana"/>
              <a:ea typeface="Verdana"/>
              <a:cs typeface="Verdana"/>
              <a:sym typeface="Verdana"/>
            </a:endParaRPr>
          </a:p>
        </p:txBody>
      </p:sp>
      <p:sp>
        <p:nvSpPr>
          <p:cNvPr id="311" name="Google Shape;311;p23"/>
          <p:cNvSpPr txBox="1">
            <a:spLocks noGrp="1"/>
          </p:cNvSpPr>
          <p:nvPr>
            <p:ph idx="1" type="body"/>
          </p:nvPr>
        </p:nvSpPr>
        <p:spPr>
          <a:xfrm>
            <a:off x="5975475" y="4910328"/>
            <a:ext cx="3216900" cy="390300"/>
          </a:xfrm>
          <a:prstGeom prst="rect">
            <a:avLst/>
          </a:prstGeom>
        </p:spPr>
        <p:txBody>
          <a:bodyPr anchor="t" anchorCtr="0" bIns="91425" lIns="91425" rIns="91425" spcFirstLastPara="1" tIns="91425" wrap="square">
            <a:noAutofit/>
          </a:bodyPr>
          <a:lstStyle/>
          <a:p>
            <a:pPr algn="ctr" indent="0" lvl="0" marL="0" rtl="0">
              <a:spcBef>
                <a:spcPts val="0"/>
              </a:spcBef>
              <a:spcAft>
                <a:spcPts val="0"/>
              </a:spcAft>
              <a:buNone/>
            </a:pPr>
            <a:r>
              <a:rPr lang="en" sz="1150">
                <a:solidFill>
                  <a:schemeClr val="dk1"/>
                </a:solidFill>
                <a:latin typeface="Verdana"/>
                <a:ea typeface="Verdana"/>
                <a:cs typeface="Verdana"/>
                <a:sym typeface="Verdana"/>
              </a:rPr>
              <a:t/>
            </a:r>
            <a:r>
              <a:rPr lang="en">
                <a:solidFill>
                  <a:schemeClr val="dk1"/>
                </a:solidFill>
              </a:rPr>
              <a:t>grossSalesLastyear</a:t>
            </a:r>
            <a:r>
              <a:rPr lang="en" sz="1150">
                <a:solidFill>
                  <a:schemeClr val="dk1"/>
                </a:solidFill>
                <a:latin typeface="Verdana"/>
                <a:ea typeface="Verdana"/>
                <a:cs typeface="Verdana"/>
                <a:sym typeface="Verdana"/>
              </a:rPr>
              <a:t/>
            </a:r>
            <a:endParaRPr sz="1150">
              <a:solidFill>
                <a:srgbClr val="000000"/>
              </a:solidFill>
              <a:latin typeface="Verdana"/>
              <a:ea typeface="Verdana"/>
              <a:cs typeface="Verdana"/>
              <a:sym typeface="Verdana"/>
            </a:endParaRPr>
          </a:p>
        </p:txBody>
      </p:sp>
      <p:sp>
        <p:nvSpPr>
          <p:cNvPr id="312" name="Google Shape;312;p23"/>
          <p:cNvSpPr txBox="1">
            <a:spLocks noGrp="1"/>
          </p:cNvSpPr>
          <p:nvPr>
            <p:ph idx="1" type="body"/>
          </p:nvPr>
        </p:nvSpPr>
        <p:spPr>
          <a:xfrm>
            <a:off x="1195788" y="5907250"/>
            <a:ext cx="1997100" cy="390300"/>
          </a:xfrm>
          <a:prstGeom prst="rect">
            <a:avLst/>
          </a:prstGeom>
        </p:spPr>
        <p:txBody>
          <a:bodyPr anchor="t" anchorCtr="0" bIns="91425" lIns="91425" rIns="91425" spcFirstLastPara="1" tIns="91425" wrap="square">
            <a:noAutofit/>
          </a:bodyPr>
          <a:lstStyle/>
          <a:p>
            <a:pPr algn="ctr" indent="0" lvl="0" marL="0"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idx="1" type="body"/>
          </p:nvPr>
        </p:nvSpPr>
        <p:spPr>
          <a:xfrm>
            <a:off x="3886138" y="5907250"/>
            <a:ext cx="1997100" cy="390300"/>
          </a:xfrm>
          <a:prstGeom prst="rect">
            <a:avLst/>
          </a:prstGeom>
        </p:spPr>
        <p:txBody>
          <a:bodyPr anchor="t" anchorCtr="0" bIns="91425" lIns="91425" rIns="91425" spcFirstLastPara="1" tIns="91425" wrap="square">
            <a:noAutofit/>
          </a:bodyPr>
          <a:lstStyle/>
          <a:p>
            <a:pPr algn="ctr" indent="0" lvl="0" marL="0"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idx="1" type="body"/>
          </p:nvPr>
        </p:nvSpPr>
        <p:spPr>
          <a:xfrm>
            <a:off x="5975475" y="5908725"/>
            <a:ext cx="3216900" cy="390300"/>
          </a:xfrm>
          <a:prstGeom prst="rect">
            <a:avLst/>
          </a:prstGeom>
        </p:spPr>
        <p:txBody>
          <a:bodyPr anchor="t" anchorCtr="0" bIns="91425" lIns="91425" rIns="91425" spcFirstLastPara="1" tIns="91425" wrap="square">
            <a:noAutofit/>
          </a:bodyPr>
          <a:lstStyle/>
          <a:p>
            <a:pPr algn="ctr" indent="0" lvl="0" marL="0"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idx="1" type="body"/>
          </p:nvPr>
        </p:nvSpPr>
        <p:spPr>
          <a:xfrm>
            <a:off x="640080" y="1353025"/>
            <a:ext cx="500700" cy="390300"/>
          </a:xfrm>
          <a:prstGeom prst="rect">
            <a:avLst/>
          </a:prstGeom>
        </p:spPr>
        <p:txBody>
          <a:bodyPr anchor="t" anchorCtr="0" bIns="91425" lIns="91425" rIns="91425" spcFirstLastPara="1" tIns="91425" wrap="square">
            <a:noAutofit/>
          </a:bodyPr>
          <a:lstStyle/>
          <a:p>
            <a:pPr algn="l" indent="0" lvl="0" marL="0" rtl="0">
              <a:spcBef>
                <a:spcPts val="0"/>
              </a:spcBef>
              <a:spcAft>
                <a:spcPts val="1600"/>
              </a:spcAft>
              <a:buNone/>
            </a:pPr>
            <a:r>
              <a:rPr b="1" lang="en" sz="1150">
                <a:solidFill>
                  <a:srgbClr val="000000"/>
                </a:solidFill>
                <a:latin typeface="Verdana"/>
                <a:ea typeface="Verdana"/>
                <a:cs typeface="Verdana"/>
                <a:sym typeface="Verdana"/>
              </a:rPr>
              <a:t>A.</a:t>
            </a:r>
            <a:endParaRPr b="1" sz="1150">
              <a:solidFill>
                <a:srgbClr val="000000"/>
              </a:solidFill>
              <a:latin typeface="Verdana"/>
              <a:ea typeface="Verdana"/>
              <a:cs typeface="Verdana"/>
              <a:sym typeface="Verdana"/>
            </a:endParaRPr>
          </a:p>
        </p:txBody>
      </p:sp>
      <p:sp>
        <p:nvSpPr>
          <p:cNvPr id="316" name="Google Shape;316;p23"/>
          <p:cNvSpPr txBox="1">
            <a:spLocks noGrp="1"/>
          </p:cNvSpPr>
          <p:nvPr>
            <p:ph idx="1" type="body"/>
          </p:nvPr>
        </p:nvSpPr>
        <p:spPr>
          <a:xfrm>
            <a:off x="1140766" y="1351525"/>
            <a:ext cx="3592200" cy="393300"/>
          </a:xfrm>
          <a:prstGeom prst="rect">
            <a:avLst/>
          </a:prstGeom>
        </p:spPr>
        <p:txBody>
          <a:bodyPr anchor="t" anchorCtr="0" bIns="91425" lIns="91425" rIns="91425" spcFirstLastPara="1" tIns="91425" wrap="square">
            <a:noAutofit/>
          </a:bodyPr>
          <a:lstStyle/>
          <a:p>
            <a:pPr algn="l" indent="0" lvl="0" marL="0" rtl="0">
              <a:spcBef>
                <a:spcPts val="0"/>
              </a:spcBef>
              <a:spcAft>
                <a:spcPts val="1600"/>
              </a:spcAft>
              <a:buNone/>
            </a:pPr>
            <a:r>
              <a:rPr b="1" lang="en" sz="1150">
                <a:solidFill>
                  <a:srgbClr val="000000"/>
                </a:solidFill>
                <a:latin typeface="Verdana"/>
                <a:ea typeface="Verdana"/>
                <a:cs typeface="Verdana"/>
                <a:sym typeface="Verdana"/>
              </a:rPr>
              <a:t>Previous Year’s Media Allocation</a:t>
            </a:r>
            <a:endParaRPr b="1" sz="1150">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Shape 320"/>
        <p:cNvGrpSpPr/>
        <p:nvPr/>
      </p:nvGrpSpPr>
      <p:grpSpPr>
        <a:xfrm>
          <a:off x="0" y="0"/>
          <a:ext cx="0" cy="0"/>
          <a:chOff x="0" y="0"/>
          <a:chExt cx="0" cy="0"/>
        </a:xfrm>
      </p:grpSpPr>
      <p:sp>
        <p:nvSpPr>
          <p:cNvPr id="321" name="Google Shape;321;p24"/>
          <p:cNvSpPr txBox="1">
            <a:spLocks noGrp="1"/>
          </p:cNvSpPr>
          <p:nvPr>
            <p:ph idx="12" type="sldNum"/>
          </p:nvPr>
        </p:nvSpPr>
        <p:spPr>
          <a:xfrm>
            <a:off x="8472458" y="6632131"/>
            <a:ext cx="548700" cy="559800"/>
          </a:xfrm>
          <a:prstGeom prst="rect">
            <a:avLst/>
          </a:prstGeom>
        </p:spPr>
        <p:txBody>
          <a:bodyPr anchor="ctr" anchorCtr="0" bIns="91425" lIns="91425" rIns="91425" spcFirstLastPara="1" tIns="91425" wrap="square">
            <a:noAutofit/>
          </a:bodyPr>
          <a:lstStyle/>
          <a:p>
            <a:pPr algn="r" indent="0" lvl="0" marL="0"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anchor="t" anchorCtr="0" bIns="91425" lIns="91425" rIns="91425" spcFirstLastPara="1" tIns="91425" wrap="square">
            <a:noAutofit/>
          </a:bodyPr>
          <a:lstStyle/>
          <a:p>
            <a:pPr algn="ctr" indent="0" lvl="0" marL="0" rtl="0">
              <a:lnSpc>
                <a:spcPct val="115000"/>
              </a:lnSpc>
              <a:spcBef>
                <a:spcPts val="0"/>
              </a:spcBef>
              <a:spcAft>
                <a:spcPts val="0"/>
              </a:spcAft>
              <a:buClr>
                <a:schemeClr val="dk1"/>
              </a:buClr>
              <a:buSzPts val="1100"/>
              <a:buFont typeface="Arial"/>
              <a:buNone/>
            </a:pPr>
            <a:endParaRPr b="1" sz="1350"/>
          </a:p>
        </p:txBody>
      </p:sp>
      <p:sp>
        <p:nvSpPr>
          <p:cNvPr id="323" name="Google Shape;323;p24"/>
          <p:cNvSpPr txBox="1"/>
          <p:nvPr/>
        </p:nvSpPr>
        <p:spPr>
          <a:xfrm>
            <a:off x="398025" y="475488"/>
            <a:ext cx="8399400" cy="800400"/>
          </a:xfrm>
          <a:prstGeom prst="rect">
            <a:avLst/>
          </a:prstGeom>
          <a:noFill/>
          <a:ln>
            <a:noFill/>
          </a:ln>
        </p:spPr>
        <p:txBody>
          <a:bodyPr anchor="t" anchorCtr="0" bIns="91425" lIns="91425" rIns="91425" spcFirstLastPara="1" tIns="91425" wrap="square">
            <a:spAutoFit/>
          </a:bodyPr>
          <a:lstStyle/>
          <a:p>
            <a:pPr algn="ctr" indent="0" lvl="0" marL="0" rtl="0">
              <a:lnSpc>
                <a:spcPct val="115000"/>
              </a:lnSpc>
              <a:spcBef>
                <a:spcPts val="800"/>
              </a:spcBef>
              <a:spcAft>
                <a:spcPts val="800"/>
              </a:spcAft>
              <a:buClr>
                <a:schemeClr val="dk1"/>
              </a:buClr>
              <a:buSzPts val="1100"/>
              <a:buFont typeface="Arial"/>
              <a:buNone/>
            </a:pPr>
            <a:r>
              <a:rPr b="1" lang="en" sz="4000">
                <a:solidFill>
                  <a:schemeClr val="dk1"/>
                </a:solidFill>
              </a:rPr>
              <a:t>Previous Year’s Media Allocation</a:t>
            </a:r>
            <a:endParaRPr/>
          </a:p>
        </p:txBody>
      </p:sp>
      <p:sp>
        <p:nvSpPr>
          <p:cNvPr id="324" name="Google Shape;324;p24"/>
          <p:cNvSpPr txBox="1"/>
          <p:nvPr/>
        </p:nvSpPr>
        <p:spPr>
          <a:xfrm>
            <a:off x="841248" y="6556248"/>
            <a:ext cx="7466100" cy="393300"/>
          </a:xfrm>
          <a:prstGeom prst="rect">
            <a:avLst/>
          </a:prstGeom>
          <a:noFill/>
          <a:ln>
            <a:noFill/>
          </a:ln>
        </p:spPr>
        <p:txBody>
          <a:bodyPr anchor="t" anchorCtr="0" bIns="91425" lIns="91425" rIns="91425" spcFirstLastPara="1" tIns="91425" wrap="square">
            <a:noAutofit/>
          </a:bodyPr>
          <a:lstStyle/>
          <a:p>
            <a:pPr algn="ctr" indent="0" lvl="0" marL="0" rtl="0">
              <a:lnSpc>
                <a:spcPct val="100000"/>
              </a:lnSpc>
              <a:spcBef>
                <a:spcPts val="0"/>
              </a:spcBef>
              <a:spcAft>
                <a:spcPts val="0"/>
              </a:spcAft>
              <a:buNone/>
            </a:pPr>
            <a:r>
              <a:rPr b="1" lang="en" sz="1550">
                <a:solidFill>
                  <a:schemeClr val="dk1"/>
                </a:solidFill>
                <a:latin typeface="Verdana"/>
                <a:ea typeface="Verdana"/>
                <a:cs typeface="Verdana"/>
                <a:sym typeface="Verdana"/>
              </a:rPr>
              <a:t>Total Advertising Investment (TAI): totalAdvertisingInvestmentConfidentialClientEvaluationOnePage</a:t>
            </a:r>
            <a:endParaRPr b="1" sz="1550">
              <a:latin typeface="Verdana"/>
              <a:ea typeface="Verdana"/>
              <a:cs typeface="Verdana"/>
              <a:sym typeface="Verdana"/>
            </a:endParaRPr>
          </a:p>
        </p:txBody>
      </p:sp>
      <p:pic>
        <p:nvPicPr>
          <p:cNvPr id="325" name="Google Shape;325;p24"/>
          <p:cNvPicPr preferRelativeResize="0"/>
          <p:nvPr/>
        </p:nvPicPr>
        <p:blipFill>
          <a:blip r:embed="rId3">
            <a:alphaModFix/>
          </a:blip>
          <a:stretch>
            <a:fillRect/>
          </a:stretch>
        </p:blipFill>
        <p:spPr>
          <a:xfrm>
            <a:off x="448056" y="1363660"/>
            <a:ext cx="8247888" cy="5099944"/>
          </a:xfrm>
          <a:prstGeom prst="rect">
            <a:avLst/>
          </a:prstGeom>
          <a:noFill/>
          <a:ln>
            <a:noFill/>
          </a:ln>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Shape 329"/>
        <p:cNvGrpSpPr/>
        <p:nvPr/>
      </p:nvGrpSpPr>
      <p:grpSpPr>
        <a:xfrm>
          <a:off x="0" y="0"/>
          <a:ext cx="0" cy="0"/>
          <a:chOff x="0" y="0"/>
          <a:chExt cx="0" cy="0"/>
        </a:xfrm>
      </p:grpSpPr>
      <p:sp>
        <p:nvSpPr>
          <p:cNvPr id="330" name="Google Shape;330;p25"/>
          <p:cNvSpPr txBox="1">
            <a:spLocks noGrp="1"/>
          </p:cNvSpPr>
          <p:nvPr>
            <p:ph idx="12" type="sldNum"/>
          </p:nvPr>
        </p:nvSpPr>
        <p:spPr>
          <a:xfrm>
            <a:off x="8472458" y="6632131"/>
            <a:ext cx="548700" cy="559800"/>
          </a:xfrm>
          <a:prstGeom prst="rect">
            <a:avLst/>
          </a:prstGeom>
        </p:spPr>
        <p:txBody>
          <a:bodyPr anchor="ctr" anchorCtr="0" bIns="91425" lIns="91425" rIns="91425" spcFirstLastPara="1" tIns="91425" wrap="square">
            <a:noAutofit/>
          </a:bodyPr>
          <a:lstStyle/>
          <a:p>
            <a:pPr algn="r" indent="0" lvl="0" marL="0" rtl="0">
              <a:spcBef>
                <a:spcPts val="0"/>
              </a:spcBef>
              <a:spcAft>
                <a:spcPts val="0"/>
              </a:spcAft>
              <a:buNone/>
            </a:pPr>
            <a:fld id="{00000000-1234-1234-1234-123412341234}" type="slidenum">
              <a:rPr lang="en"/>
              <a:t>13</a:t>
            </a:fld>
            <a:endParaRPr/>
          </a:p>
        </p:txBody>
      </p:sp>
      <p:sp>
        <p:nvSpPr>
          <p:cNvPr id="331" name="Google Shape;331;p25"/>
          <p:cNvSpPr txBox="1"/>
          <p:nvPr/>
        </p:nvSpPr>
        <p:spPr>
          <a:xfrm>
            <a:off x="398025" y="475488"/>
            <a:ext cx="8399400" cy="800400"/>
          </a:xfrm>
          <a:prstGeom prst="rect">
            <a:avLst/>
          </a:prstGeom>
          <a:noFill/>
          <a:ln>
            <a:noFill/>
          </a:ln>
        </p:spPr>
        <p:txBody>
          <a:bodyPr anchor="t" anchorCtr="0" bIns="91425" lIns="91425" rIns="91425" spcFirstLastPara="1" tIns="91425" wrap="square">
            <a:spAutoFit/>
          </a:bodyPr>
          <a:lstStyle/>
          <a:p>
            <a:pPr algn="ctr" indent="0" lvl="0" marL="0" rtl="0">
              <a:lnSpc>
                <a:spcPct val="115000"/>
              </a:lnSpc>
              <a:spcBef>
                <a:spcPts val="800"/>
              </a:spcBef>
              <a:spcAft>
                <a:spcPts val="800"/>
              </a:spcAft>
              <a:buClr>
                <a:schemeClr val="dk1"/>
              </a:buClr>
              <a:buSzPts val="1100"/>
              <a:buFont typeface="Arial"/>
              <a:buNone/>
            </a:pPr>
            <a:r>
              <a:rPr b="1" lang="en" sz="4000">
                <a:solidFill>
                  <a:schemeClr val="dk1"/>
                </a:solidFill>
              </a:rPr>
              <a:t>Proposed Year’s Media Allocation</a:t>
            </a:r>
            <a:endParaRPr/>
          </a:p>
        </p:txBody>
      </p:sp>
      <p:sp>
        <p:nvSpPr>
          <p:cNvPr id="332" name="Google Shape;332;p25"/>
          <p:cNvSpPr txBox="1"/>
          <p:nvPr/>
        </p:nvSpPr>
        <p:spPr>
          <a:xfrm>
            <a:off x="841248" y="6556248"/>
            <a:ext cx="7466100" cy="393300"/>
          </a:xfrm>
          <a:prstGeom prst="rect">
            <a:avLst/>
          </a:prstGeom>
          <a:noFill/>
          <a:ln>
            <a:noFill/>
          </a:ln>
        </p:spPr>
        <p:txBody>
          <a:bodyPr anchor="t" anchorCtr="0" bIns="91425" lIns="91425" rIns="91425" spcFirstLastPara="1" tIns="91425" wrap="square">
            <a:noAutofit/>
          </a:bodyPr>
          <a:lstStyle/>
          <a:p>
            <a:pPr algn="ctr" indent="0" lvl="0" marL="0" rtl="0">
              <a:spcBef>
                <a:spcPts val="0"/>
              </a:spcBef>
              <a:spcAft>
                <a:spcPts val="0"/>
              </a:spcAft>
              <a:buNone/>
            </a:pPr>
            <a:r>
              <a:rPr b="1" lang="en" sz="1550">
                <a:solidFill>
                  <a:schemeClr val="dk1"/>
                </a:solidFill>
                <a:latin typeface="Verdana"/>
                <a:ea typeface="Verdana"/>
                <a:cs typeface="Verdana"/>
                <a:sym typeface="Verdana"/>
              </a:rPr>
              <a:t>Total Advertising Investment (TAI): </a:t>
            </a:r>
            <a:r>
              <a:rPr b="1" lang="en" sz="1550">
                <a:latin typeface="Verdana"/>
                <a:ea typeface="Verdana"/>
                <a:cs typeface="Verdana"/>
                <a:sym typeface="Verdana"/>
              </a:rPr>
              <a:t>totalAdvertisingInvestmentConfidentialClientEvaluationProposed</a:t>
            </a:r>
            <a:endParaRPr b="1" sz="1550">
              <a:latin typeface="Verdana"/>
              <a:ea typeface="Verdana"/>
              <a:cs typeface="Verdana"/>
              <a:sym typeface="Verdana"/>
            </a:endParaRPr>
          </a:p>
        </p:txBody>
      </p:sp>
      <p:pic>
        <p:nvPicPr>
          <p:cNvPr id="333" name="Google Shape;333;p25"/>
          <p:cNvPicPr preferRelativeResize="0"/>
          <p:nvPr/>
        </p:nvPicPr>
        <p:blipFill>
          <a:blip r:embed="rId3">
            <a:alphaModFix/>
          </a:blip>
          <a:stretch>
            <a:fillRect/>
          </a:stretch>
        </p:blipFill>
        <p:spPr>
          <a:xfrm>
            <a:off x="448056" y="1363660"/>
            <a:ext cx="8247888" cy="5099944"/>
          </a:xfrm>
          <a:prstGeom prst="rect">
            <a:avLst/>
          </a:prstGeom>
          <a:noFill/>
          <a:ln>
            <a:noFill/>
          </a:ln>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Profile of Consumers</a:t>
            </a:r>
            <a:endParaRPr/>
          </a:p>
        </p:txBody>
      </p:sp>
      <p:sp>
        <p:nvSpPr>
          <p:cNvPr id="339" name="Google Shape;339;p26"/>
          <p:cNvSpPr txBox="1">
            <a:spLocks noGrp="1"/>
          </p:cNvSpPr>
          <p:nvPr>
            <p:ph idx="1" type="body"/>
          </p:nvPr>
        </p:nvSpPr>
        <p:spPr>
          <a:xfrm>
            <a:off x="457200" y="1174800"/>
            <a:ext cx="8229600" cy="5492700"/>
          </a:xfrm>
          <a:prstGeom prst="rect">
            <a:avLst/>
          </a:prstGeom>
        </p:spPr>
        <p:txBody>
          <a:bodyPr anchor="t" anchorCtr="0" bIns="91425" lIns="91425" rIns="91425" spcFirstLastPara="1" tIns="91425" wrap="square">
            <a:noAutofit/>
          </a:bodyPr>
          <a:lstStyle/>
          <a:p>
            <a:pPr algn="l" indent="0" lvl="0" marL="0"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algn="l" indent="0" lvl="0" marL="0"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Marketing Strategies</a:t>
            </a:r>
            <a:endParaRPr/>
          </a:p>
        </p:txBody>
      </p:sp>
      <p:sp>
        <p:nvSpPr>
          <p:cNvPr id="345" name="Google Shape;345;p27"/>
          <p:cNvSpPr txBox="1">
            <a:spLocks noGrp="1"/>
          </p:cNvSpPr>
          <p:nvPr>
            <p:ph idx="1" type="body"/>
          </p:nvPr>
        </p:nvSpPr>
        <p:spPr>
          <a:xfrm>
            <a:off x="458400" y="1174799"/>
            <a:ext cx="8227200" cy="5492700"/>
          </a:xfrm>
          <a:prstGeom prst="rect">
            <a:avLst/>
          </a:prstGeom>
        </p:spPr>
        <p:txBody>
          <a:bodyPr anchor="t" anchorCtr="0" bIns="91425" lIns="91425" rIns="91425" spcFirstLastPara="1" tIns="91425" wrap="square">
            <a:noAutofit/>
          </a:bodyPr>
          <a:lstStyle/>
          <a:p>
            <a:pPr algn="l" indent="0" lvl="0" marL="0"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algn="l" indent="0" lvl="0" marL="0"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Creative Concepts I</a:t>
            </a:r>
            <a:endParaRPr/>
          </a:p>
        </p:txBody>
      </p:sp>
      <p:sp>
        <p:nvSpPr>
          <p:cNvPr id="351" name="Google Shape;351;p28"/>
          <p:cNvSpPr txBox="1">
            <a:spLocks noGrp="1"/>
          </p:cNvSpPr>
          <p:nvPr>
            <p:ph idx="2" type="body"/>
          </p:nvPr>
        </p:nvSpPr>
        <p:spPr>
          <a:xfrm>
            <a:off x="367950" y="1174800"/>
            <a:ext cx="8408100" cy="5443800"/>
          </a:xfrm>
          <a:prstGeom prst="rect">
            <a:avLst/>
          </a:prstGeom>
        </p:spPr>
        <p:txBody>
          <a:bodyPr anchor="t" anchorCtr="0" bIns="91425" lIns="91425" rIns="91425" spcFirstLastPara="1" tIns="91425" wrap="square">
            <a:noAutofit/>
          </a:bodyPr>
          <a:lstStyle/>
          <a:p>
            <a:pPr algn="l" indent="0" lvl="0" marL="0" rtl="0">
              <a:spcBef>
                <a:spcPts val="0"/>
              </a:spcBef>
              <a:spcAft>
                <a:spcPts val="0"/>
              </a:spcAft>
              <a:buNone/>
            </a:pPr>
            <a:endParaRPr sz="1150">
              <a:solidFill>
                <a:srgbClr val="000000"/>
              </a:solidFill>
              <a:latin typeface="Verdana"/>
              <a:ea typeface="Verdana"/>
              <a:cs typeface="Verdana"/>
              <a:sym typeface="Verdana"/>
            </a:endParaRPr>
          </a:p>
          <a:p>
            <a:pPr algn="l" indent="0" lvl="0" marL="0"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Creative Concepts II</a:t>
            </a:r>
            <a:endParaRPr/>
          </a:p>
        </p:txBody>
      </p:sp>
      <p:sp>
        <p:nvSpPr>
          <p:cNvPr id="357" name="Google Shape;357;p29"/>
          <p:cNvSpPr txBox="1">
            <a:spLocks noGrp="1"/>
          </p:cNvSpPr>
          <p:nvPr>
            <p:ph idx="2" type="body"/>
          </p:nvPr>
        </p:nvSpPr>
        <p:spPr>
          <a:xfrm>
            <a:off x="367950" y="1174800"/>
            <a:ext cx="8408100" cy="5530800"/>
          </a:xfrm>
          <a:prstGeom prst="rect">
            <a:avLst/>
          </a:prstGeom>
        </p:spPr>
        <p:txBody>
          <a:bodyPr anchor="t" anchorCtr="0" bIns="91425" lIns="91425" rIns="91425" spcFirstLastPara="1" tIns="91425" wrap="square">
            <a:noAutofit/>
          </a:bodyPr>
          <a:lstStyle/>
          <a:p>
            <a:pPr algn="l" indent="0" lvl="0" marL="0"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Digital Marketing Strategies</a:t>
            </a:r>
            <a:endParaRPr/>
          </a:p>
        </p:txBody>
      </p:sp>
      <p:sp>
        <p:nvSpPr>
          <p:cNvPr id="363" name="Google Shape;363;p30"/>
          <p:cNvSpPr txBox="1">
            <a:spLocks noGrp="1"/>
          </p:cNvSpPr>
          <p:nvPr>
            <p:ph idx="1" type="body"/>
          </p:nvPr>
        </p:nvSpPr>
        <p:spPr>
          <a:xfrm>
            <a:off x="457200" y="1170400"/>
            <a:ext cx="8229600" cy="5709300"/>
          </a:xfrm>
          <a:prstGeom prst="rect">
            <a:avLst/>
          </a:prstGeom>
        </p:spPr>
        <p:txBody>
          <a:bodyPr anchor="t" anchorCtr="0" bIns="91425" lIns="91425" rIns="91425" spcFirstLastPara="1" tIns="91425" wrap="square">
            <a:noAutofit/>
          </a:bodyPr>
          <a:lstStyle/>
          <a:p>
            <a:pPr algn="l" indent="0" lvl="0" marL="0"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algn="l" indent="0" lvl="0" marL="0"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fmla="val 50000" name="adj1"/>
              <a:gd fmla="val 50000" name="adj2"/>
            </a:avLst>
          </a:prstGeom>
          <a:solidFill>
            <a:srgbClr val="7F7E05"/>
          </a:solidFill>
          <a:ln>
            <a:noFill/>
          </a:ln>
        </p:spPr>
        <p:txBody>
          <a:bodyPr anchor="ctr" anchorCtr="0" bIns="91425" lIns="91425" rIns="91425" spcFirstLastPara="1" tIns="91425" wrap="square">
            <a:noAutofit/>
          </a:bodyPr>
          <a:lstStyle/>
          <a:p>
            <a:pPr algn="l" indent="0" lvl="0" marL="0" rtl="0">
              <a:spcBef>
                <a:spcPts val="0"/>
              </a:spcBef>
              <a:spcAft>
                <a:spcPts val="0"/>
              </a:spcAft>
              <a:buNone/>
            </a:pPr>
            <a:endParaRPr/>
          </a:p>
        </p:txBody>
      </p:sp>
      <p:sp>
        <p:nvSpPr>
          <p:cNvPr id="379" name="Google Shape;379;p31"/>
          <p:cNvSpPr/>
          <p:nvPr/>
        </p:nvSpPr>
        <p:spPr>
          <a:xfrm>
            <a:off x="5370550" y="5628925"/>
            <a:ext cx="1391400" cy="417300"/>
          </a:xfrm>
          <a:prstGeom prst="rightArrow">
            <a:avLst>
              <a:gd fmla="val 50000" name="adj1"/>
              <a:gd fmla="val 50000" name="adj2"/>
            </a:avLst>
          </a:prstGeom>
          <a:solidFill>
            <a:srgbClr val="7F7E05"/>
          </a:solidFill>
          <a:ln>
            <a:noFill/>
          </a:ln>
        </p:spPr>
        <p:txBody>
          <a:bodyPr anchor="ctr" anchorCtr="0" bIns="91425" lIns="91425" rIns="91425" spcFirstLastPara="1" tIns="91425" wrap="square">
            <a:noAutofit/>
          </a:bodyPr>
          <a:lstStyle/>
          <a:p>
            <a:pPr algn="l" indent="0" lvl="0" marL="0" rtl="0">
              <a:spcBef>
                <a:spcPts val="0"/>
              </a:spcBef>
              <a:spcAft>
                <a:spcPts val="0"/>
              </a:spcAft>
              <a:buNone/>
            </a:pPr>
            <a:endParaRPr/>
          </a:p>
        </p:txBody>
      </p:sp>
      <p:sp>
        <p:nvSpPr>
          <p:cNvPr id="380" name="Google Shape;380;p31"/>
          <p:cNvSpPr/>
          <p:nvPr/>
        </p:nvSpPr>
        <p:spPr>
          <a:xfrm>
            <a:off x="2382025" y="1691625"/>
            <a:ext cx="1391400" cy="417300"/>
          </a:xfrm>
          <a:prstGeom prst="rightArrow">
            <a:avLst>
              <a:gd fmla="val 50000" name="adj1"/>
              <a:gd fmla="val 50000" name="adj2"/>
            </a:avLst>
          </a:prstGeom>
          <a:solidFill>
            <a:srgbClr val="000000"/>
          </a:solidFill>
          <a:ln>
            <a:noFill/>
          </a:ln>
        </p:spPr>
        <p:txBody>
          <a:bodyPr anchor="ctr" anchorCtr="0" bIns="91425" lIns="91425" rIns="91425" spcFirstLastPara="1" tIns="91425" wrap="square">
            <a:noAutofit/>
          </a:bodyPr>
          <a:lstStyle/>
          <a:p>
            <a:pPr algn="l" indent="0" lvl="0" marL="0" rtl="0">
              <a:spcBef>
                <a:spcPts val="0"/>
              </a:spcBef>
              <a:spcAft>
                <a:spcPts val="0"/>
              </a:spcAft>
              <a:buNone/>
            </a:pPr>
            <a:endParaRPr/>
          </a:p>
        </p:txBody>
      </p:sp>
      <p:sp>
        <p:nvSpPr>
          <p:cNvPr id="381" name="Google Shape;381;p31"/>
          <p:cNvSpPr/>
          <p:nvPr/>
        </p:nvSpPr>
        <p:spPr>
          <a:xfrm>
            <a:off x="5370550" y="1691625"/>
            <a:ext cx="1391400" cy="417300"/>
          </a:xfrm>
          <a:prstGeom prst="rightArrow">
            <a:avLst>
              <a:gd fmla="val 50000" name="adj1"/>
              <a:gd fmla="val 50000" name="adj2"/>
            </a:avLst>
          </a:prstGeom>
          <a:solidFill>
            <a:srgbClr val="000000"/>
          </a:solidFill>
          <a:ln>
            <a:noFill/>
          </a:ln>
        </p:spPr>
        <p:txBody>
          <a:bodyPr anchor="ctr" anchorCtr="0" bIns="91425" lIns="91425" rIns="91425" spcFirstLastPara="1" tIns="91425" wrap="square">
            <a:noAutofit/>
          </a:bodyPr>
          <a:lstStyle/>
          <a:p>
            <a:pPr algn="l" indent="0" lvl="0" marL="0" rtl="0">
              <a:spcBef>
                <a:spcPts val="0"/>
              </a:spcBef>
              <a:spcAft>
                <a:spcPts val="0"/>
              </a:spcAft>
              <a:buNone/>
            </a:pPr>
            <a:endParaRPr/>
          </a:p>
        </p:txBody>
      </p:sp>
      <p:sp>
        <p:nvSpPr>
          <p:cNvPr id="382" name="Google Shape;382;p31"/>
          <p:cNvSpPr/>
          <p:nvPr/>
        </p:nvSpPr>
        <p:spPr>
          <a:xfrm>
            <a:off x="2382038" y="3660288"/>
            <a:ext cx="1391400" cy="417300"/>
          </a:xfrm>
          <a:prstGeom prst="rightArrow">
            <a:avLst>
              <a:gd fmla="val 50000" name="adj1"/>
              <a:gd fmla="val 50000" name="adj2"/>
            </a:avLst>
          </a:prstGeom>
          <a:solidFill>
            <a:srgbClr val="002B00"/>
          </a:solidFill>
          <a:ln>
            <a:noFill/>
          </a:ln>
        </p:spPr>
        <p:txBody>
          <a:bodyPr anchor="ctr" anchorCtr="0" bIns="91425" lIns="91425" rIns="91425" spcFirstLastPara="1" tIns="91425" wrap="square">
            <a:noAutofit/>
          </a:bodyPr>
          <a:lstStyle/>
          <a:p>
            <a:pPr algn="l" indent="0" lvl="0" marL="0" rtl="0">
              <a:spcBef>
                <a:spcPts val="0"/>
              </a:spcBef>
              <a:spcAft>
                <a:spcPts val="0"/>
              </a:spcAft>
              <a:buNone/>
            </a:pPr>
            <a:endParaRPr/>
          </a:p>
        </p:txBody>
      </p:sp>
      <p:sp>
        <p:nvSpPr>
          <p:cNvPr id="383" name="Google Shape;383;p31"/>
          <p:cNvSpPr/>
          <p:nvPr/>
        </p:nvSpPr>
        <p:spPr>
          <a:xfrm>
            <a:off x="5370563" y="3660288"/>
            <a:ext cx="1391400" cy="417300"/>
          </a:xfrm>
          <a:prstGeom prst="rightArrow">
            <a:avLst>
              <a:gd fmla="val 50000" name="adj1"/>
              <a:gd fmla="val 50000" name="adj2"/>
            </a:avLst>
          </a:prstGeom>
          <a:solidFill>
            <a:srgbClr val="002B00"/>
          </a:solidFill>
          <a:ln>
            <a:noFill/>
          </a:ln>
        </p:spPr>
        <p:txBody>
          <a:bodyPr anchor="ctr" anchorCtr="0" bIns="91425" lIns="91425" rIns="91425" spcFirstLastPara="1" tIns="91425" wrap="square">
            <a:noAutofit/>
          </a:bodyPr>
          <a:lstStyle/>
          <a:p>
            <a:pPr algn="l" indent="0" lvl="0" marL="0"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anchor="ctr" anchorCtr="0" bIns="91425" lIns="91425" rIns="91425" spcFirstLastPara="1" tIns="91425" wrap="square">
            <a:noAutofit/>
          </a:bodyPr>
          <a:lstStyle/>
          <a:p>
            <a:pPr algn="ctr" indent="0" lvl="0" marL="0"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cap="flat" cmpd="sng" w="9525">
            <a:solidFill>
              <a:srgbClr val="000000"/>
            </a:solidFill>
            <a:prstDash val="solid"/>
            <a:round/>
            <a:headEnd len="sm" type="none" w="sm"/>
            <a:tailEnd len="sm" type="none" w="sm"/>
          </a:ln>
        </p:spPr>
        <p:txBody>
          <a:bodyPr anchor="ctr" anchorCtr="0" bIns="91425" lIns="91425" rIns="91425" spcFirstLastPara="1" tIns="91425" wrap="square">
            <a:noAutofit/>
          </a:bodyPr>
          <a:lstStyle/>
          <a:p>
            <a:pPr algn="ctr" indent="0" lvl="0" marL="0"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fmla="val 50000" name="adj1"/>
              <a:gd fmla="val 50000" name="adj2"/>
            </a:avLst>
          </a:prstGeom>
          <a:solidFill>
            <a:srgbClr val="7F7E05"/>
          </a:solidFill>
          <a:ln>
            <a:noFill/>
          </a:ln>
        </p:spPr>
        <p:txBody>
          <a:bodyPr anchor="ctr" anchorCtr="0" bIns="91425" lIns="91425" rIns="91425" spcFirstLastPara="1" tIns="91425" wrap="square">
            <a:noAutofit/>
          </a:bodyPr>
          <a:lstStyle/>
          <a:p>
            <a:pPr algn="l" indent="0" lvl="0" marL="0" rtl="0">
              <a:spcBef>
                <a:spcPts val="0"/>
              </a:spcBef>
              <a:spcAft>
                <a:spcPts val="0"/>
              </a:spcAft>
              <a:buNone/>
            </a:pPr>
            <a:endParaRPr/>
          </a:p>
        </p:txBody>
      </p:sp>
      <p:sp>
        <p:nvSpPr>
          <p:cNvPr id="391" name="Google Shape;391;p32"/>
          <p:cNvSpPr/>
          <p:nvPr/>
        </p:nvSpPr>
        <p:spPr>
          <a:xfrm>
            <a:off x="575263" y="1484815"/>
            <a:ext cx="1391400" cy="417300"/>
          </a:xfrm>
          <a:prstGeom prst="rightArrow">
            <a:avLst>
              <a:gd fmla="val 50000" name="adj1"/>
              <a:gd fmla="val 50000" name="adj2"/>
            </a:avLst>
          </a:prstGeom>
          <a:solidFill>
            <a:srgbClr val="000000"/>
          </a:solidFill>
          <a:ln>
            <a:noFill/>
          </a:ln>
        </p:spPr>
        <p:txBody>
          <a:bodyPr anchor="ctr" anchorCtr="0" bIns="91425" lIns="91425" rIns="91425" spcFirstLastPara="1" tIns="91425" wrap="square">
            <a:noAutofit/>
          </a:bodyPr>
          <a:lstStyle/>
          <a:p>
            <a:pPr algn="l" indent="0" lvl="0" marL="0" rtl="0">
              <a:spcBef>
                <a:spcPts val="0"/>
              </a:spcBef>
              <a:spcAft>
                <a:spcPts val="0"/>
              </a:spcAft>
              <a:buNone/>
            </a:pPr>
            <a:endParaRPr/>
          </a:p>
        </p:txBody>
      </p:sp>
      <p:sp>
        <p:nvSpPr>
          <p:cNvPr id="392" name="Google Shape;392;p32"/>
          <p:cNvSpPr/>
          <p:nvPr/>
        </p:nvSpPr>
        <p:spPr>
          <a:xfrm>
            <a:off x="575263" y="5879250"/>
            <a:ext cx="1391400" cy="417300"/>
          </a:xfrm>
          <a:prstGeom prst="rightArrow">
            <a:avLst>
              <a:gd fmla="val 50000" name="adj1"/>
              <a:gd fmla="val 50000" name="adj2"/>
            </a:avLst>
          </a:prstGeom>
          <a:solidFill>
            <a:srgbClr val="000000"/>
          </a:solidFill>
          <a:ln>
            <a:noFill/>
          </a:ln>
        </p:spPr>
        <p:txBody>
          <a:bodyPr anchor="ctr" anchorCtr="0" bIns="91425" lIns="91425" rIns="91425" spcFirstLastPara="1" tIns="91425" wrap="square">
            <a:noAutofit/>
          </a:bodyPr>
          <a:lstStyle/>
          <a:p>
            <a:pPr algn="l" indent="0" lvl="0" marL="0" rtl="0">
              <a:spcBef>
                <a:spcPts val="0"/>
              </a:spcBef>
              <a:spcAft>
                <a:spcPts val="0"/>
              </a:spcAft>
              <a:buNone/>
            </a:pPr>
            <a:endParaRPr/>
          </a:p>
        </p:txBody>
      </p:sp>
      <p:sp>
        <p:nvSpPr>
          <p:cNvPr id="393" name="Google Shape;393;p32"/>
          <p:cNvSpPr/>
          <p:nvPr/>
        </p:nvSpPr>
        <p:spPr>
          <a:xfrm>
            <a:off x="575250" y="2583438"/>
            <a:ext cx="1391400" cy="417300"/>
          </a:xfrm>
          <a:prstGeom prst="rightArrow">
            <a:avLst>
              <a:gd fmla="val 50000" name="adj1"/>
              <a:gd fmla="val 50000" name="adj2"/>
            </a:avLst>
          </a:prstGeom>
          <a:solidFill>
            <a:srgbClr val="002B00"/>
          </a:solidFill>
          <a:ln>
            <a:noFill/>
          </a:ln>
        </p:spPr>
        <p:txBody>
          <a:bodyPr anchor="ctr" anchorCtr="0" bIns="91425" lIns="91425" rIns="91425" spcFirstLastPara="1" tIns="91425" wrap="square">
            <a:noAutofit/>
          </a:bodyPr>
          <a:lstStyle/>
          <a:p>
            <a:pPr algn="l" indent="0" lvl="0" marL="0" rtl="0">
              <a:spcBef>
                <a:spcPts val="0"/>
              </a:spcBef>
              <a:spcAft>
                <a:spcPts val="0"/>
              </a:spcAft>
              <a:buNone/>
            </a:pPr>
            <a:endParaRPr/>
          </a:p>
        </p:txBody>
      </p:sp>
      <p:sp>
        <p:nvSpPr>
          <p:cNvPr id="394" name="Google Shape;394;p32"/>
          <p:cNvSpPr/>
          <p:nvPr/>
        </p:nvSpPr>
        <p:spPr>
          <a:xfrm>
            <a:off x="575250" y="4780638"/>
            <a:ext cx="1391400" cy="417300"/>
          </a:xfrm>
          <a:prstGeom prst="rightArrow">
            <a:avLst>
              <a:gd fmla="val 50000" name="adj1"/>
              <a:gd fmla="val 50000" name="adj2"/>
            </a:avLst>
          </a:prstGeom>
          <a:solidFill>
            <a:srgbClr val="002B00"/>
          </a:solidFill>
          <a:ln>
            <a:noFill/>
          </a:ln>
        </p:spPr>
        <p:txBody>
          <a:bodyPr anchor="ctr" anchorCtr="0" bIns="91425" lIns="91425" rIns="91425" spcFirstLastPara="1" tIns="91425" wrap="square">
            <a:noAutofit/>
          </a:bodyPr>
          <a:lstStyle/>
          <a:p>
            <a:pPr algn="l" indent="0" lvl="0" marL="0"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cap="flat" cmpd="sng" w="9525">
            <a:solidFill>
              <a:srgbClr val="000000"/>
            </a:solidFill>
            <a:prstDash val="solid"/>
            <a:round/>
            <a:headEnd len="sm" type="none" w="sm"/>
            <a:tailEnd len="sm" type="none" w="sm"/>
          </a:ln>
        </p:spPr>
        <p:txBody>
          <a:bodyPr anchor="ctr" anchorCtr="0" bIns="91425" lIns="91425" rIns="91425" spcFirstLastPara="1" tIns="91425" wrap="square">
            <a:noAutofit/>
          </a:bodyPr>
          <a:lstStyle/>
          <a:p>
            <a:pPr algn="ctr" indent="0" lvl="0" marL="0"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cap="flat" cmpd="sng" w="9525">
            <a:solidFill>
              <a:srgbClr val="000000"/>
            </a:solidFill>
            <a:prstDash val="solid"/>
            <a:round/>
            <a:headEnd len="sm" type="none" w="sm"/>
            <a:tailEnd len="sm" type="none" w="sm"/>
          </a:ln>
        </p:spPr>
        <p:txBody>
          <a:bodyPr anchor="ctr" anchorCtr="0" bIns="91425" lIns="91425" rIns="91425" spcFirstLastPara="1" tIns="91425" wrap="square">
            <a:noAutofit/>
          </a:bodyPr>
          <a:lstStyle/>
          <a:p>
            <a:pPr algn="ctr" indent="0" lvl="0" marL="0"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cap="flat" cmpd="sng" w="9525">
            <a:solidFill>
              <a:srgbClr val="000000"/>
            </a:solidFill>
            <a:prstDash val="solid"/>
            <a:round/>
            <a:headEnd len="sm" type="none" w="sm"/>
            <a:tailEnd len="sm" type="none" w="sm"/>
          </a:ln>
        </p:spPr>
        <p:txBody>
          <a:bodyPr anchor="ctr" anchorCtr="0" bIns="91425" lIns="91425" rIns="91425" spcFirstLastPara="1" tIns="91425" wrap="square">
            <a:noAutofit/>
          </a:bodyPr>
          <a:lstStyle/>
          <a:p>
            <a:pPr algn="ctr" indent="0" lvl="0" marL="0"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cap="flat" cmpd="sng" w="9525">
            <a:solidFill>
              <a:srgbClr val="000000"/>
            </a:solidFill>
            <a:prstDash val="solid"/>
            <a:round/>
            <a:headEnd len="sm" type="none" w="sm"/>
            <a:tailEnd len="sm" type="none" w="sm"/>
          </a:ln>
        </p:spPr>
        <p:txBody>
          <a:bodyPr anchor="ctr" anchorCtr="0" bIns="91425" lIns="91425" rIns="91425" spcFirstLastPara="1" tIns="91425" wrap="square">
            <a:noAutofit/>
          </a:bodyPr>
          <a:lstStyle/>
          <a:p>
            <a:pPr algn="ctr" indent="0" lvl="0" marL="0"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Proposed Schedule - Plan A</a:t>
            </a:r>
            <a:endParaRPr/>
          </a:p>
        </p:txBody>
      </p:sp>
      <p:sp>
        <p:nvSpPr>
          <p:cNvPr id="404" name="Google Shape;404;p33"/>
          <p:cNvSpPr txBox="1">
            <a:spLocks noGrp="1"/>
          </p:cNvSpPr>
          <p:nvPr>
            <p:ph type="ctrTitle"/>
          </p:nvPr>
        </p:nvSpPr>
        <p:spPr>
          <a:xfrm>
            <a:off x="693450" y="1174812"/>
            <a:ext cx="7757100" cy="639300"/>
          </a:xfrm>
          <a:prstGeom prst="rect">
            <a:avLst/>
          </a:prstGeom>
        </p:spPr>
        <p:txBody>
          <a:bodyPr anchor="ctr" anchorCtr="0" bIns="91425" lIns="91425" rIns="91425" spcFirstLastPara="1" tIns="91425" wrap="square">
            <a:noAutofit/>
          </a:bodyPr>
          <a:lstStyle/>
          <a:p>
            <a:pPr algn="ctr" indent="0" lvl="0" marL="0" rtl="0">
              <a:spcBef>
                <a:spcPts val="0"/>
              </a:spcBef>
              <a:spcAft>
                <a:spcPts val="0"/>
              </a:spcAft>
              <a:buNone/>
            </a:pPr>
            <a:r>
              <a:rPr lang="en" sz="2100"/>
              <a:t>Budget Breakout by Month (For Next 12 Months)</a:t>
            </a:r>
            <a:endParaRPr sz="2100"/>
          </a:p>
          <a:p>
            <a:pPr algn="ctr" indent="0" lvl="0" marL="0" rtl="0">
              <a:spcBef>
                <a:spcPts val="0"/>
              </a:spcBef>
              <a:spcAft>
                <a:spcPts val="0"/>
              </a:spcAft>
              <a:buNone/>
            </a:pPr>
            <a:r>
              <a:rPr lang="en" sz="2100"/>
              <a:t>Proposed Media Plan: station</a:t>
            </a:r>
            <a:endParaRPr sz="2100"/>
          </a:p>
        </p:txBody>
      </p:sp>
      <p:pic>
        <p:nvPicPr>
          <p:cNvPr id="405" name="Google Shape;405;p33"/>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algn="l" indent="0" lvl="0" marL="0" rtl="0">
                        <a:spcBef>
                          <a:spcPts val="0"/>
                        </a:spcBef>
                        <a:spcAft>
                          <a:spcPts val="0"/>
                        </a:spcAft>
                        <a:buNone/>
                      </a:pPr>
                      <a:endParaRPr/>
                    </a:p>
                  </a:txBody>
                  <a:tcPr anchor="b" marB="19050" marL="28575" marR="28575" marT="19050"/>
                </a:tc>
                <a:tc gridSpan="2">
                  <a:txBody>
                    <a:bodyPr/>
                    <a:lstStyle/>
                    <a:p>
                      <a:pPr algn="ctr" indent="0" lvl="0" marL="0" rtl="0">
                        <a:lnSpc>
                          <a:spcPct val="115000"/>
                        </a:lnSpc>
                        <a:spcBef>
                          <a:spcPts val="0"/>
                        </a:spcBef>
                        <a:spcAft>
                          <a:spcPts val="0"/>
                        </a:spcAft>
                        <a:buNone/>
                      </a:pPr>
                      <a:r>
                        <a:rPr b="1" lang="en" sz="1200">
                          <a:latin typeface="Verdana"/>
                          <a:ea typeface="Verdana"/>
                          <a:cs typeface="Verdana"/>
                          <a:sym typeface="Verdana"/>
                        </a:rPr>
                        <a:t>Branding Months</a:t>
                      </a:r>
                      <a:endParaRPr b="1" sz="1200">
                        <a:latin typeface="Verdana"/>
                        <a:ea typeface="Verdana"/>
                        <a:cs typeface="Verdana"/>
                        <a:sym typeface="Verdana"/>
                      </a:endParaRPr>
                    </a:p>
                  </a:txBody>
                  <a:tcPr anchor="ctr" marB="19050" marL="28575" marR="28575" marT="19050"/>
                </a:tc>
                <a:tc hMerge="1">
                  <a:txBody>
                    <a:bodyPr/>
                    <a:lstStyle/>
                    <a:p>
                      <a:endParaRPr lang="en-US"/>
                    </a:p>
                  </a:txBody>
                  <a:tcPr/>
                </a:tc>
                <a:tc>
                  <a:txBody>
                    <a:bodyPr/>
                    <a:lstStyle/>
                    <a:p>
                      <a:pPr algn="l" indent="0" lvl="0" marL="0" rtl="0">
                        <a:spcBef>
                          <a:spcPts val="0"/>
                        </a:spcBef>
                        <a:spcAft>
                          <a:spcPts val="0"/>
                        </a:spcAft>
                        <a:buNone/>
                      </a:pPr>
                      <a:endParaRPr/>
                    </a:p>
                  </a:txBody>
                  <a:tcPr anchor="b" marB="19050" marL="28575" marR="28575" marT="19050"/>
                </a:tc>
                <a:tc>
                  <a:txBody>
                    <a:bodyPr/>
                    <a:lstStyle/>
                    <a:p>
                      <a:pPr algn="l" indent="0" lvl="0" marL="0" rtl="0">
                        <a:spcBef>
                          <a:spcPts val="0"/>
                        </a:spcBef>
                        <a:spcAft>
                          <a:spcPts val="0"/>
                        </a:spcAft>
                        <a:buNone/>
                      </a:pPr>
                      <a:endParaRPr/>
                    </a:p>
                  </a:txBody>
                  <a:tcPr anchor="b" marB="19050" marL="28575" marR="28575" marT="19050"/>
                </a:tc>
                <a:extLst>
                  <a:ext uri="{0D108BD9-81ED-4DB2-BD59-A6C34878D82A}">
                    <a16:rowId xmlns:a16="http://schemas.microsoft.com/office/drawing/2014/main" val="10000"/>
                  </a:ext>
                </a:extLst>
              </a:tr>
              <a:tr h="228600">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Station</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Days</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DayPart</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Weekly Commercials</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ctr" indent="0" lvl="0" marL="0" rtl="0">
                        <a:lnSpc>
                          <a:spcPct val="115000"/>
                        </a:lnSpc>
                        <a:spcBef>
                          <a:spcPts val="0"/>
                        </a:spcBef>
                        <a:spcAft>
                          <a:spcPts val="0"/>
                        </a:spcAft>
                        <a:buNone/>
                      </a:pPr>
                      <a:r>
                        <a:rPr b="1" i="1" lang="en" sz="1200" u="sng">
                          <a:latin typeface="Verdana"/>
                          <a:ea typeface="Verdana"/>
                          <a:cs typeface="Verdana"/>
                          <a:sym typeface="Verdana"/>
                        </a:rPr>
                        <a:t>Branding Months</a:t>
                      </a:r>
                      <a:endParaRPr b="1" i="1" sz="1200" u="sng">
                        <a:latin typeface="Verdana"/>
                        <a:ea typeface="Verdana"/>
                        <a:cs typeface="Verdana"/>
                        <a:sym typeface="Verdana"/>
                      </a:endParaRPr>
                    </a:p>
                  </a:txBody>
                  <a:tcPr anchor="ctr" marB="19050" marL="28575" marR="28575" marT="19050"/>
                </a:tc>
                <a:extLst>
                  <a:ext uri="{0D108BD9-81ED-4DB2-BD59-A6C34878D82A}">
                    <a16:rowId xmlns:a16="http://schemas.microsoft.com/office/drawing/2014/main" val="10001"/>
                  </a:ext>
                </a:extLst>
              </a:tr>
              <a:tr h="2000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 of Weeks/Months</a:t>
                      </a:r>
                      <a:endParaRPr b="1" sz="1000">
                        <a:latin typeface="Verdana"/>
                        <a:ea typeface="Verdana"/>
                        <a:cs typeface="Verdana"/>
                        <a:sym typeface="Verdana"/>
                      </a:endParaRPr>
                    </a:p>
                  </a:txBody>
                  <a:tcPr anchor="ctr" marB="19050" marL="28575" marR="28575" marT="19050">
                    <a:solidFill>
                      <a:srgbClr val="C9DAF8"/>
                    </a:solidFill>
                  </a:tcPr>
                </a:tc>
                <a:extLst>
                  <a:ext uri="{0D108BD9-81ED-4DB2-BD59-A6C34878D82A}">
                    <a16:rowId xmlns:a16="http://schemas.microsoft.com/office/drawing/2014/main" val="10002"/>
                  </a:ext>
                </a:extLst>
              </a:tr>
              <a:tr h="2000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anchor="ctr" marB="19050" marL="28575" marR="28575" marT="19050"/>
                </a:tc>
                <a:extLst>
                  <a:ext uri="{0D108BD9-81ED-4DB2-BD59-A6C34878D82A}">
                    <a16:rowId xmlns:a16="http://schemas.microsoft.com/office/drawing/2014/main" val="10003"/>
                  </a:ext>
                </a:extLst>
              </a:tr>
              <a:tr h="2000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Base Investment</a:t>
                      </a:r>
                      <a:endParaRPr b="1" sz="1000">
                        <a:latin typeface="Verdana"/>
                        <a:ea typeface="Verdana"/>
                        <a:cs typeface="Verdana"/>
                        <a:sym typeface="Verdana"/>
                      </a:endParaRPr>
                    </a:p>
                  </a:txBody>
                  <a:tcPr anchor="ctr" marB="19050" marL="28575" marR="28575" marT="19050">
                    <a:solidFill>
                      <a:srgbClr val="C9DAF8"/>
                    </a:solidFill>
                  </a:tcPr>
                </a:tc>
                <a:extLst>
                  <a:ext uri="{0D108BD9-81ED-4DB2-BD59-A6C34878D82A}">
                    <a16:rowId xmlns:a16="http://schemas.microsoft.com/office/drawing/2014/main" val="10004"/>
                  </a:ext>
                </a:extLst>
              </a:tr>
              <a:tr h="2000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anchor="ctr" marB="19050" marL="28575" marR="28575" marT="19050"/>
                </a:tc>
                <a:extLst>
                  <a:ext uri="{0D108BD9-81ED-4DB2-BD59-A6C34878D82A}">
                    <a16:rowId xmlns:a16="http://schemas.microsoft.com/office/drawing/2014/main" val="10005"/>
                  </a:ext>
                </a:extLst>
              </a:tr>
              <a:tr h="251450">
                <a:tc>
                  <a:txBody>
                    <a:bodyPr/>
                    <a:lstStyle/>
                    <a:p>
                      <a:pPr algn="l" indent="0" lvl="0" marL="0" rtl="0">
                        <a:spcBef>
                          <a:spcPts val="0"/>
                        </a:spcBef>
                        <a:spcAft>
                          <a:spcPts val="0"/>
                        </a:spcAft>
                        <a:buNone/>
                      </a:pPr>
                      <a:endParaRPr/>
                    </a:p>
                  </a:txBody>
                  <a:tcPr anchor="b" marB="19050" marL="28575" marR="28575" marT="19050"/>
                </a:tc>
                <a:tc>
                  <a:txBody>
                    <a:bodyPr/>
                    <a:lstStyle/>
                    <a:p>
                      <a:pPr algn="l" indent="0" lvl="0" marL="0" rtl="0">
                        <a:spcBef>
                          <a:spcPts val="0"/>
                        </a:spcBef>
                        <a:spcAft>
                          <a:spcPts val="0"/>
                        </a:spcAft>
                        <a:buNone/>
                      </a:pPr>
                      <a:endParaRPr/>
                    </a:p>
                  </a:txBody>
                  <a:tcPr anchor="ctr" marB="19050" marL="28575" marR="28575" marT="19050"/>
                </a:tc>
                <a:tc>
                  <a:txBody>
                    <a:bodyPr/>
                    <a:lstStyle/>
                    <a:p>
                      <a:pPr algn="l" indent="0" lvl="0" marL="0" rtl="0">
                        <a:spcBef>
                          <a:spcPts val="0"/>
                        </a:spcBef>
                        <a:spcAft>
                          <a:spcPts val="0"/>
                        </a:spcAft>
                        <a:buNone/>
                      </a:pPr>
                      <a:endParaRPr/>
                    </a:p>
                  </a:txBody>
                  <a:tcPr anchor="ctr" marB="19050" marL="28575" marR="28575" marT="19050"/>
                </a:tc>
                <a:tc>
                  <a:txBody>
                    <a:bodyPr/>
                    <a:lstStyle/>
                    <a:p>
                      <a:pPr algn="l" indent="0" lvl="0" marL="0" rtl="0">
                        <a:spcBef>
                          <a:spcPts val="0"/>
                        </a:spcBef>
                        <a:spcAft>
                          <a:spcPts val="0"/>
                        </a:spcAft>
                        <a:buNone/>
                      </a:pPr>
                      <a:endParaRPr/>
                    </a:p>
                  </a:txBody>
                  <a:tcPr anchor="ctr" marB="19050" marL="28575" marR="28575" marT="19050"/>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Total # of Commercials</a:t>
                      </a:r>
                      <a:endParaRPr b="1" sz="1000">
                        <a:latin typeface="Verdana"/>
                        <a:ea typeface="Verdana"/>
                        <a:cs typeface="Verdana"/>
                        <a:sym typeface="Verdana"/>
                      </a:endParaRPr>
                    </a:p>
                  </a:txBody>
                  <a:tcPr anchor="ctr" marB="19050" marL="28575" marR="28575" marT="19050">
                    <a:solidFill>
                      <a:srgbClr val="C9DAF8"/>
                    </a:solidFill>
                  </a:tcPr>
                </a:tc>
                <a:extLst>
                  <a:ext uri="{0D108BD9-81ED-4DB2-BD59-A6C34878D82A}">
                    <a16:rowId xmlns:a16="http://schemas.microsoft.com/office/drawing/2014/main" val="10006"/>
                  </a:ext>
                </a:extLst>
              </a:tr>
              <a:tr h="251450">
                <a:tc>
                  <a:txBody>
                    <a:bodyPr/>
                    <a:lstStyle/>
                    <a:p>
                      <a:pPr algn="l" indent="0" lvl="0" marL="0" rtl="0">
                        <a:spcBef>
                          <a:spcPts val="0"/>
                        </a:spcBef>
                        <a:spcAft>
                          <a:spcPts val="0"/>
                        </a:spcAft>
                        <a:buNone/>
                      </a:pPr>
                      <a:endParaRPr/>
                    </a:p>
                  </a:txBody>
                  <a:tcPr anchor="ctr" marB="19050" marL="28575" marR="28575" marT="19050"/>
                </a:tc>
                <a:tc>
                  <a:txBody>
                    <a:bodyPr/>
                    <a:lstStyle/>
                    <a:p>
                      <a:pPr algn="l" indent="0" lvl="0" marL="0" rtl="0">
                        <a:spcBef>
                          <a:spcPts val="0"/>
                        </a:spcBef>
                        <a:spcAft>
                          <a:spcPts val="0"/>
                        </a:spcAft>
                        <a:buNone/>
                      </a:pPr>
                      <a:endParaRPr/>
                    </a:p>
                  </a:txBody>
                  <a:tcPr anchor="ctr" marB="19050" marL="28575" marR="28575" marT="19050"/>
                </a:tc>
                <a:tc>
                  <a:txBody>
                    <a:bodyPr/>
                    <a:lstStyle/>
                    <a:p>
                      <a:pPr algn="l" indent="0" lvl="0" marL="0" rtl="0">
                        <a:spcBef>
                          <a:spcPts val="0"/>
                        </a:spcBef>
                        <a:spcAft>
                          <a:spcPts val="0"/>
                        </a:spcAft>
                        <a:buNone/>
                      </a:pPr>
                      <a:endParaRPr/>
                    </a:p>
                  </a:txBody>
                  <a:tcPr anchor="ctr" marB="19050" marL="28575" marR="28575" marT="19050"/>
                </a:tc>
                <a:tc>
                  <a:txBody>
                    <a:bodyPr/>
                    <a:lstStyle/>
                    <a:p>
                      <a:pPr algn="l" indent="0" lvl="0" marL="0" rtl="0">
                        <a:spcBef>
                          <a:spcPts val="0"/>
                        </a:spcBef>
                        <a:spcAft>
                          <a:spcPts val="0"/>
                        </a:spcAft>
                        <a:buNone/>
                      </a:pPr>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anchor="ctr" marB="19050" marL="28575" marR="28575" marT="19050"/>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algn="l" indent="0" lvl="0" marL="0" rtl="0">
                        <a:spcBef>
                          <a:spcPts val="0"/>
                        </a:spcBef>
                        <a:spcAft>
                          <a:spcPts val="0"/>
                        </a:spcAft>
                        <a:buNone/>
                      </a:pPr>
                      <a:endParaRPr/>
                    </a:p>
                  </a:txBody>
                  <a:tcPr anchor="b" marB="19050" marL="28575" marR="28575" marT="19050"/>
                </a:tc>
                <a:tc gridSpan="2">
                  <a:txBody>
                    <a:bodyPr/>
                    <a:lstStyle/>
                    <a:p>
                      <a:pPr algn="ctr" indent="0" lvl="0" marL="0" rtl="0">
                        <a:lnSpc>
                          <a:spcPct val="115000"/>
                        </a:lnSpc>
                        <a:spcBef>
                          <a:spcPts val="0"/>
                        </a:spcBef>
                        <a:spcAft>
                          <a:spcPts val="0"/>
                        </a:spcAft>
                        <a:buNone/>
                      </a:pPr>
                      <a:r>
                        <a:rPr b="1" lang="en" sz="1200">
                          <a:latin typeface="Verdana"/>
                          <a:ea typeface="Verdana"/>
                          <a:cs typeface="Verdana"/>
                          <a:sym typeface="Verdana"/>
                        </a:rPr>
                        <a:t>Spike Months</a:t>
                      </a:r>
                      <a:endParaRPr b="1" sz="1200">
                        <a:latin typeface="Verdana"/>
                        <a:ea typeface="Verdana"/>
                        <a:cs typeface="Verdana"/>
                        <a:sym typeface="Verdana"/>
                      </a:endParaRPr>
                    </a:p>
                  </a:txBody>
                  <a:tcPr anchor="ctr" marB="19050" marL="28575" marR="28575" marT="19050"/>
                </a:tc>
                <a:tc hMerge="1">
                  <a:txBody>
                    <a:bodyPr/>
                    <a:lstStyle/>
                    <a:p>
                      <a:endParaRPr lang="en-US"/>
                    </a:p>
                  </a:txBody>
                  <a:tcPr/>
                </a:tc>
                <a:tc>
                  <a:txBody>
                    <a:bodyPr/>
                    <a:lstStyle/>
                    <a:p>
                      <a:pPr algn="l" indent="0" lvl="0" marL="0" rtl="0">
                        <a:spcBef>
                          <a:spcPts val="0"/>
                        </a:spcBef>
                        <a:spcAft>
                          <a:spcPts val="0"/>
                        </a:spcAft>
                        <a:buNone/>
                      </a:pPr>
                      <a:endParaRPr/>
                    </a:p>
                  </a:txBody>
                  <a:tcPr anchor="b" marB="19050" marL="28575" marR="28575" marT="19050"/>
                </a:tc>
                <a:tc>
                  <a:txBody>
                    <a:bodyPr/>
                    <a:lstStyle/>
                    <a:p>
                      <a:pPr algn="l" indent="0" lvl="0" marL="0" rtl="0">
                        <a:spcBef>
                          <a:spcPts val="0"/>
                        </a:spcBef>
                        <a:spcAft>
                          <a:spcPts val="0"/>
                        </a:spcAft>
                        <a:buNone/>
                      </a:pPr>
                      <a:endParaRPr/>
                    </a:p>
                  </a:txBody>
                  <a:tcPr anchor="b" marB="19050" marL="28575" marR="28575" marT="19050"/>
                </a:tc>
                <a:extLst>
                  <a:ext uri="{0D108BD9-81ED-4DB2-BD59-A6C34878D82A}">
                    <a16:rowId xmlns:a16="http://schemas.microsoft.com/office/drawing/2014/main" val="10000"/>
                  </a:ext>
                </a:extLst>
              </a:tr>
              <a:tr h="228600">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Station</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Days</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DayPart</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Weekly Commercials</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ctr" indent="0" lvl="0" marL="0" rtl="0">
                        <a:lnSpc>
                          <a:spcPct val="115000"/>
                        </a:lnSpc>
                        <a:spcBef>
                          <a:spcPts val="0"/>
                        </a:spcBef>
                        <a:spcAft>
                          <a:spcPts val="0"/>
                        </a:spcAft>
                        <a:buNone/>
                      </a:pPr>
                      <a:r>
                        <a:rPr b="1" i="1" lang="en" sz="1200" u="sng">
                          <a:latin typeface="Verdana"/>
                          <a:ea typeface="Verdana"/>
                          <a:cs typeface="Verdana"/>
                          <a:sym typeface="Verdana"/>
                        </a:rPr>
                        <a:t>Spike Months</a:t>
                      </a:r>
                      <a:endParaRPr b="1" i="1" sz="1200" u="sng">
                        <a:latin typeface="Verdana"/>
                        <a:ea typeface="Verdana"/>
                        <a:cs typeface="Verdana"/>
                        <a:sym typeface="Verdana"/>
                      </a:endParaRPr>
                    </a:p>
                  </a:txBody>
                  <a:tcPr marB="19050" marL="28575" marR="28575" marT="19050"/>
                </a:tc>
                <a:extLst>
                  <a:ext uri="{0D108BD9-81ED-4DB2-BD59-A6C34878D82A}">
                    <a16:rowId xmlns:a16="http://schemas.microsoft.com/office/drawing/2014/main" val="10001"/>
                  </a:ext>
                </a:extLst>
              </a:tr>
              <a:tr h="2000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#Week/Months:</a:t>
                      </a:r>
                      <a:endParaRPr b="1" sz="1000">
                        <a:latin typeface="Verdana"/>
                        <a:ea typeface="Verdana"/>
                        <a:cs typeface="Verdana"/>
                        <a:sym typeface="Verdana"/>
                      </a:endParaRPr>
                    </a:p>
                  </a:txBody>
                  <a:tcPr anchor="ctr" marB="19050" marL="28575" marR="28575" marT="19050">
                    <a:solidFill>
                      <a:srgbClr val="C9DAF8"/>
                    </a:solidFill>
                  </a:tcPr>
                </a:tc>
                <a:extLst>
                  <a:ext uri="{0D108BD9-81ED-4DB2-BD59-A6C34878D82A}">
                    <a16:rowId xmlns:a16="http://schemas.microsoft.com/office/drawing/2014/main" val="10002"/>
                  </a:ext>
                </a:extLst>
              </a:tr>
              <a:tr h="2000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anchor="ctr" marB="19050" marL="28575" marR="28575" marT="19050"/>
                </a:tc>
                <a:extLst>
                  <a:ext uri="{0D108BD9-81ED-4DB2-BD59-A6C34878D82A}">
                    <a16:rowId xmlns:a16="http://schemas.microsoft.com/office/drawing/2014/main" val="10003"/>
                  </a:ext>
                </a:extLst>
              </a:tr>
              <a:tr h="2000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Continuity Investment:</a:t>
                      </a:r>
                      <a:endParaRPr b="1" sz="1000">
                        <a:latin typeface="Verdana"/>
                        <a:ea typeface="Verdana"/>
                        <a:cs typeface="Verdana"/>
                        <a:sym typeface="Verdana"/>
                      </a:endParaRPr>
                    </a:p>
                  </a:txBody>
                  <a:tcPr anchor="ctr" marB="19050" marL="28575" marR="28575" marT="19050">
                    <a:solidFill>
                      <a:srgbClr val="C9DAF8"/>
                    </a:solidFill>
                  </a:tcPr>
                </a:tc>
                <a:extLst>
                  <a:ext uri="{0D108BD9-81ED-4DB2-BD59-A6C34878D82A}">
                    <a16:rowId xmlns:a16="http://schemas.microsoft.com/office/drawing/2014/main" val="10004"/>
                  </a:ext>
                </a:extLst>
              </a:tr>
              <a:tr h="2000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anchor="ctr" marB="19050" marL="28575" marR="28575" marT="19050"/>
                </a:tc>
                <a:extLst>
                  <a:ext uri="{0D108BD9-81ED-4DB2-BD59-A6C34878D82A}">
                    <a16:rowId xmlns:a16="http://schemas.microsoft.com/office/drawing/2014/main" val="10005"/>
                  </a:ext>
                </a:extLst>
              </a:tr>
              <a:tr h="251450">
                <a:tc>
                  <a:txBody>
                    <a:bodyPr/>
                    <a:lstStyle/>
                    <a:p>
                      <a:pPr algn="l" indent="0" lvl="0" marL="0" rtl="0">
                        <a:spcBef>
                          <a:spcPts val="0"/>
                        </a:spcBef>
                        <a:spcAft>
                          <a:spcPts val="0"/>
                        </a:spcAft>
                        <a:buNone/>
                      </a:pPr>
                      <a:endParaRPr/>
                    </a:p>
                  </a:txBody>
                  <a:tcPr anchor="ctr" marB="19050" marL="28575" marR="28575" marT="19050"/>
                </a:tc>
                <a:tc>
                  <a:txBody>
                    <a:bodyPr/>
                    <a:lstStyle/>
                    <a:p>
                      <a:pPr algn="l" indent="0" lvl="0" marL="0" rtl="0">
                        <a:spcBef>
                          <a:spcPts val="0"/>
                        </a:spcBef>
                        <a:spcAft>
                          <a:spcPts val="0"/>
                        </a:spcAft>
                        <a:buNone/>
                      </a:pPr>
                      <a:endParaRPr/>
                    </a:p>
                  </a:txBody>
                  <a:tcPr anchor="ctr" marB="19050" marL="28575" marR="28575" marT="19050"/>
                </a:tc>
                <a:tc>
                  <a:txBody>
                    <a:bodyPr/>
                    <a:lstStyle/>
                    <a:p>
                      <a:pPr algn="l" indent="0" lvl="0" marL="0" rtl="0">
                        <a:spcBef>
                          <a:spcPts val="0"/>
                        </a:spcBef>
                        <a:spcAft>
                          <a:spcPts val="0"/>
                        </a:spcAft>
                        <a:buNone/>
                      </a:pPr>
                      <a:endParaRPr/>
                    </a:p>
                  </a:txBody>
                  <a:tcPr anchor="ctr" marB="19050" marL="28575" marR="28575" marT="19050"/>
                </a:tc>
                <a:tc>
                  <a:txBody>
                    <a:bodyPr/>
                    <a:lstStyle/>
                    <a:p>
                      <a:pPr algn="l" indent="0" lvl="0" marL="0" rtl="0">
                        <a:spcBef>
                          <a:spcPts val="0"/>
                        </a:spcBef>
                        <a:spcAft>
                          <a:spcPts val="0"/>
                        </a:spcAft>
                        <a:buNone/>
                      </a:pPr>
                      <a:endParaRPr/>
                    </a:p>
                  </a:txBody>
                  <a:tcPr anchor="ctr" marB="19050" marL="28575" marR="28575" marT="19050"/>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Total # of Commercials</a:t>
                      </a:r>
                      <a:endParaRPr b="1" sz="1000">
                        <a:latin typeface="Verdana"/>
                        <a:ea typeface="Verdana"/>
                        <a:cs typeface="Verdana"/>
                        <a:sym typeface="Verdana"/>
                      </a:endParaRPr>
                    </a:p>
                  </a:txBody>
                  <a:tcPr anchor="ctr" marB="19050" marL="28575" marR="28575" marT="19050">
                    <a:solidFill>
                      <a:srgbClr val="C9DAF8"/>
                    </a:solidFill>
                  </a:tcPr>
                </a:tc>
                <a:extLst>
                  <a:ext uri="{0D108BD9-81ED-4DB2-BD59-A6C34878D82A}">
                    <a16:rowId xmlns:a16="http://schemas.microsoft.com/office/drawing/2014/main" val="10006"/>
                  </a:ext>
                </a:extLst>
              </a:tr>
              <a:tr h="251450">
                <a:tc>
                  <a:txBody>
                    <a:bodyPr/>
                    <a:lstStyle/>
                    <a:p>
                      <a:pPr algn="l" indent="0" lvl="0" marL="0" rtl="0">
                        <a:spcBef>
                          <a:spcPts val="0"/>
                        </a:spcBef>
                        <a:spcAft>
                          <a:spcPts val="0"/>
                        </a:spcAft>
                        <a:buNone/>
                      </a:pPr>
                      <a:endParaRPr/>
                    </a:p>
                  </a:txBody>
                  <a:tcPr anchor="b"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anchor="ctr" marB="19050" marL="28575" marR="28575" marT="19050"/>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algn="l" indent="0" lvl="0" marL="0" rtl="0">
                        <a:spcBef>
                          <a:spcPts val="0"/>
                        </a:spcBef>
                        <a:spcAft>
                          <a:spcPts val="0"/>
                        </a:spcAft>
                        <a:buNone/>
                      </a:pPr>
                      <a:endParaRPr/>
                    </a:p>
                  </a:txBody>
                  <a:tcPr anchor="ctr" marB="19050" marL="28575" marR="28575" marT="19050"/>
                </a:tc>
                <a:tc gridSpan="2">
                  <a:txBody>
                    <a:bodyPr/>
                    <a:lstStyle/>
                    <a:p>
                      <a:pPr algn="ctr" indent="0" lvl="0" marL="0" rtl="0">
                        <a:lnSpc>
                          <a:spcPct val="115000"/>
                        </a:lnSpc>
                        <a:spcBef>
                          <a:spcPts val="0"/>
                        </a:spcBef>
                        <a:spcAft>
                          <a:spcPts val="0"/>
                        </a:spcAft>
                        <a:buNone/>
                      </a:pPr>
                      <a:r>
                        <a:rPr b="1" lang="en" sz="1200">
                          <a:latin typeface="Verdana"/>
                          <a:ea typeface="Verdana"/>
                          <a:cs typeface="Verdana"/>
                          <a:sym typeface="Verdana"/>
                        </a:rPr>
                        <a:t>Slow Months</a:t>
                      </a:r>
                      <a:endParaRPr b="1" sz="1200">
                        <a:latin typeface="Verdana"/>
                        <a:ea typeface="Verdana"/>
                        <a:cs typeface="Verdana"/>
                        <a:sym typeface="Verdana"/>
                      </a:endParaRPr>
                    </a:p>
                  </a:txBody>
                  <a:tcPr anchor="ctr" marB="19050" marL="28575" marR="28575" marT="19050"/>
                </a:tc>
                <a:tc hMerge="1">
                  <a:txBody>
                    <a:bodyPr/>
                    <a:lstStyle/>
                    <a:p>
                      <a:endParaRPr lang="en-US"/>
                    </a:p>
                  </a:txBody>
                  <a:tcPr/>
                </a:tc>
                <a:tc>
                  <a:txBody>
                    <a:bodyPr/>
                    <a:lstStyle/>
                    <a:p>
                      <a:pPr algn="l" indent="0" lvl="0" marL="0" rtl="0">
                        <a:spcBef>
                          <a:spcPts val="0"/>
                        </a:spcBef>
                        <a:spcAft>
                          <a:spcPts val="0"/>
                        </a:spcAft>
                        <a:buNone/>
                      </a:pPr>
                      <a:endParaRPr/>
                    </a:p>
                  </a:txBody>
                  <a:tcPr anchor="ctr" marB="19050" marL="28575" marR="28575" marT="19050"/>
                </a:tc>
                <a:tc>
                  <a:txBody>
                    <a:bodyPr/>
                    <a:lstStyle/>
                    <a:p>
                      <a:pPr algn="l" indent="0" lvl="0" marL="0" rtl="0">
                        <a:spcBef>
                          <a:spcPts val="0"/>
                        </a:spcBef>
                        <a:spcAft>
                          <a:spcPts val="0"/>
                        </a:spcAft>
                        <a:buNone/>
                      </a:pPr>
                      <a:endParaRPr/>
                    </a:p>
                  </a:txBody>
                  <a:tcPr anchor="b" marB="19050" marL="28575" marR="28575" marT="19050"/>
                </a:tc>
                <a:extLst>
                  <a:ext uri="{0D108BD9-81ED-4DB2-BD59-A6C34878D82A}">
                    <a16:rowId xmlns:a16="http://schemas.microsoft.com/office/drawing/2014/main" val="10000"/>
                  </a:ext>
                </a:extLst>
              </a:tr>
              <a:tr h="228600">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Station</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Days</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DayPart</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Weekly Commercials</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ctr" indent="0" lvl="0" marL="0" rtl="0">
                        <a:lnSpc>
                          <a:spcPct val="115000"/>
                        </a:lnSpc>
                        <a:spcBef>
                          <a:spcPts val="0"/>
                        </a:spcBef>
                        <a:spcAft>
                          <a:spcPts val="0"/>
                        </a:spcAft>
                        <a:buNone/>
                      </a:pPr>
                      <a:r>
                        <a:rPr b="1" i="1" lang="en" sz="1200" u="sng">
                          <a:latin typeface="Verdana"/>
                          <a:ea typeface="Verdana"/>
                          <a:cs typeface="Verdana"/>
                          <a:sym typeface="Verdana"/>
                        </a:rPr>
                        <a:t>Slow Months</a:t>
                      </a:r>
                      <a:endParaRPr b="1" i="1" sz="1200" u="sng">
                        <a:latin typeface="Verdana"/>
                        <a:ea typeface="Verdana"/>
                        <a:cs typeface="Verdana"/>
                        <a:sym typeface="Verdana"/>
                      </a:endParaRPr>
                    </a:p>
                  </a:txBody>
                  <a:tcPr anchor="ctr" marB="19050" marL="28575" marR="28575" marT="19050"/>
                </a:tc>
                <a:extLst>
                  <a:ext uri="{0D108BD9-81ED-4DB2-BD59-A6C34878D82A}">
                    <a16:rowId xmlns:a16="http://schemas.microsoft.com/office/drawing/2014/main" val="10001"/>
                  </a:ext>
                </a:extLst>
              </a:tr>
              <a:tr h="200025">
                <a:tc>
                  <a:txBody>
                    <a:bodyPr/>
                    <a:lstStyle/>
                    <a:p>
                      <a:pPr algn="l" indent="0" lvl="0" marL="0" rtl="0">
                        <a:lnSpc>
                          <a:spcPct val="115000"/>
                        </a:lnSpc>
                        <a:spcBef>
                          <a:spcPts val="0"/>
                        </a:spcBef>
                        <a:spcAft>
                          <a:spcPts val="0"/>
                        </a:spcAft>
                        <a:buNone/>
                      </a:pPr>
                      <a:r>
                        <a:rPr lang="en" sz="1000"/>
                        <a:t>WAAA</a:t>
                      </a:r>
                      <a:endParaRPr sz="1000"/>
                    </a:p>
                  </a:txBody>
                  <a:tcPr anchor="ctr" marB="19050" marL="28575" marR="28575" marT="19050"/>
                </a:tc>
                <a:tc>
                  <a:txBody>
                    <a:bodyPr/>
                    <a:lstStyle/>
                    <a:p>
                      <a:pPr algn="l" indent="0" lvl="0" marL="0" rtl="0">
                        <a:lnSpc>
                          <a:spcPct val="115000"/>
                        </a:lnSpc>
                        <a:spcBef>
                          <a:spcPts val="0"/>
                        </a:spcBef>
                        <a:spcAft>
                          <a:spcPts val="0"/>
                        </a:spcAft>
                        <a:buNone/>
                      </a:pPr>
                      <a:r>
                        <a:rPr lang="en" sz="1000"/>
                        <a:t>M-F</a:t>
                      </a:r>
                      <a:endParaRPr sz="1000"/>
                    </a:p>
                  </a:txBody>
                  <a:tcPr anchor="ctr" marB="19050" marL="28575" marR="28575" marT="19050"/>
                </a:tc>
                <a:tc>
                  <a:txBody>
                    <a:bodyPr/>
                    <a:lstStyle/>
                    <a:p>
                      <a:pPr algn="l" indent="0" lvl="0" marL="0" rtl="0">
                        <a:lnSpc>
                          <a:spcPct val="115000"/>
                        </a:lnSpc>
                        <a:spcBef>
                          <a:spcPts val="0"/>
                        </a:spcBef>
                        <a:spcAft>
                          <a:spcPts val="0"/>
                        </a:spcAft>
                        <a:buNone/>
                      </a:pPr>
                      <a:r>
                        <a:rPr lang="en" sz="1000"/>
                        <a:t>6:00am - 7:00pm</a:t>
                      </a:r>
                      <a:endParaRPr sz="1000"/>
                    </a:p>
                  </a:txBody>
                  <a:tcPr anchor="ctr" marB="19050" marL="28575" marR="28575" marT="19050"/>
                </a:tc>
                <a:tc>
                  <a:txBody>
                    <a:bodyPr/>
                    <a:lstStyle/>
                    <a:p>
                      <a:pPr algn="ctr" indent="0" lvl="0" marL="0" rtl="0">
                        <a:lnSpc>
                          <a:spcPct val="115000"/>
                        </a:lnSpc>
                        <a:spcBef>
                          <a:spcPts val="0"/>
                        </a:spcBef>
                        <a:spcAft>
                          <a:spcPts val="0"/>
                        </a:spcAft>
                        <a:buNone/>
                      </a:pPr>
                      <a:r>
                        <a:rPr lang="en" sz="1000"/>
                        <a:t>15</a:t>
                      </a:r>
                      <a:endParaRPr sz="1000"/>
                    </a:p>
                  </a:txBody>
                  <a:tcPr anchor="ctr" marB="19050" marL="28575" marR="28575" marT="19050"/>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#Week/Months:</a:t>
                      </a:r>
                      <a:endParaRPr b="1" sz="1000">
                        <a:latin typeface="Verdana"/>
                        <a:ea typeface="Verdana"/>
                        <a:cs typeface="Verdana"/>
                        <a:sym typeface="Verdana"/>
                      </a:endParaRPr>
                    </a:p>
                  </a:txBody>
                  <a:tcPr anchor="ctr" marB="19050" marL="28575" marR="28575" marT="19050">
                    <a:solidFill>
                      <a:srgbClr val="C9DAF8"/>
                    </a:solidFill>
                  </a:tcPr>
                </a:tc>
                <a:extLst>
                  <a:ext uri="{0D108BD9-81ED-4DB2-BD59-A6C34878D82A}">
                    <a16:rowId xmlns:a16="http://schemas.microsoft.com/office/drawing/2014/main" val="10002"/>
                  </a:ext>
                </a:extLst>
              </a:tr>
              <a:tr h="190500">
                <a:tc>
                  <a:txBody>
                    <a:bodyPr/>
                    <a:lstStyle/>
                    <a:p>
                      <a:pPr algn="l" indent="0" lvl="0" marL="0" rtl="0">
                        <a:lnSpc>
                          <a:spcPct val="115000"/>
                        </a:lnSpc>
                        <a:spcBef>
                          <a:spcPts val="0"/>
                        </a:spcBef>
                        <a:spcAft>
                          <a:spcPts val="0"/>
                        </a:spcAft>
                        <a:buNone/>
                      </a:pPr>
                      <a:r>
                        <a:rPr lang="en" sz="1000"/>
                        <a:t>WAAA</a:t>
                      </a:r>
                      <a:endParaRPr sz="1000"/>
                    </a:p>
                  </a:txBody>
                  <a:tcPr anchor="ctr" marB="19050" marL="28575" marR="28575" marT="19050"/>
                </a:tc>
                <a:tc>
                  <a:txBody>
                    <a:bodyPr/>
                    <a:lstStyle/>
                    <a:p>
                      <a:pPr algn="l" indent="0" lvl="0" marL="0" rtl="0">
                        <a:lnSpc>
                          <a:spcPct val="115000"/>
                        </a:lnSpc>
                        <a:spcBef>
                          <a:spcPts val="0"/>
                        </a:spcBef>
                        <a:spcAft>
                          <a:spcPts val="0"/>
                        </a:spcAft>
                        <a:buNone/>
                      </a:pPr>
                      <a:r>
                        <a:rPr lang="en" sz="1000"/>
                        <a:t>M-F</a:t>
                      </a:r>
                      <a:endParaRPr sz="1000"/>
                    </a:p>
                  </a:txBody>
                  <a:tcPr anchor="ctr" marB="19050" marL="28575" marR="28575" marT="19050"/>
                </a:tc>
                <a:tc>
                  <a:txBody>
                    <a:bodyPr/>
                    <a:lstStyle/>
                    <a:p>
                      <a:pPr algn="l" indent="0" lvl="0" marL="0" rtl="0">
                        <a:lnSpc>
                          <a:spcPct val="115000"/>
                        </a:lnSpc>
                        <a:spcBef>
                          <a:spcPts val="0"/>
                        </a:spcBef>
                        <a:spcAft>
                          <a:spcPts val="0"/>
                        </a:spcAft>
                        <a:buNone/>
                      </a:pPr>
                      <a:r>
                        <a:rPr lang="en" sz="1000"/>
                        <a:t>7:00pm - 12mid</a:t>
                      </a:r>
                      <a:endParaRPr sz="1000"/>
                    </a:p>
                  </a:txBody>
                  <a:tcPr anchor="ctr" marB="19050" marL="28575" marR="28575" marT="19050"/>
                </a:tc>
                <a:tc>
                  <a:txBody>
                    <a:bodyPr/>
                    <a:lstStyle/>
                    <a:p>
                      <a:pPr algn="ctr" indent="0" lvl="0" marL="0" rtl="0">
                        <a:lnSpc>
                          <a:spcPct val="115000"/>
                        </a:lnSpc>
                        <a:spcBef>
                          <a:spcPts val="0"/>
                        </a:spcBef>
                        <a:spcAft>
                          <a:spcPts val="0"/>
                        </a:spcAft>
                        <a:buNone/>
                      </a:pPr>
                      <a:r>
                        <a:rPr lang="en" sz="1000"/>
                        <a:t>5</a:t>
                      </a:r>
                      <a:endParaRPr sz="1000"/>
                    </a:p>
                  </a:txBody>
                  <a:tcPr anchor="ctr" marB="19050" marL="28575" marR="28575" marT="19050"/>
                </a:tc>
                <a:tc>
                  <a:txBody>
                    <a:bodyPr/>
                    <a:lstStyle/>
                    <a:p>
                      <a:pPr algn="ctr" indent="0" lvl="0" marL="0" rtl="0">
                        <a:lnSpc>
                          <a:spcPct val="115000"/>
                        </a:lnSpc>
                        <a:spcBef>
                          <a:spcPts val="0"/>
                        </a:spcBef>
                        <a:spcAft>
                          <a:spcPts val="0"/>
                        </a:spcAft>
                        <a:buNone/>
                      </a:pPr>
                      <a:r>
                        <a:rPr lang="en" sz="1000"/>
                        <a:t>3</a:t>
                      </a:r>
                      <a:endParaRPr sz="1000"/>
                    </a:p>
                  </a:txBody>
                  <a:tcPr anchor="ctr" marB="19050" marL="28575" marR="28575" marT="19050"/>
                </a:tc>
                <a:extLst>
                  <a:ext uri="{0D108BD9-81ED-4DB2-BD59-A6C34878D82A}">
                    <a16:rowId xmlns:a16="http://schemas.microsoft.com/office/drawing/2014/main" val="10003"/>
                  </a:ext>
                </a:extLst>
              </a:tr>
              <a:tr h="200025">
                <a:tc>
                  <a:txBody>
                    <a:bodyPr/>
                    <a:lstStyle/>
                    <a:p>
                      <a:pPr algn="l" indent="0" lvl="0" marL="0" rtl="0">
                        <a:lnSpc>
                          <a:spcPct val="115000"/>
                        </a:lnSpc>
                        <a:spcBef>
                          <a:spcPts val="0"/>
                        </a:spcBef>
                        <a:spcAft>
                          <a:spcPts val="0"/>
                        </a:spcAft>
                        <a:buNone/>
                      </a:pPr>
                      <a:r>
                        <a:rPr lang="en" sz="1000"/>
                        <a:t>WBBB</a:t>
                      </a:r>
                      <a:endParaRPr sz="1000"/>
                    </a:p>
                  </a:txBody>
                  <a:tcPr anchor="ctr" marB="19050" marL="28575" marR="28575" marT="19050"/>
                </a:tc>
                <a:tc>
                  <a:txBody>
                    <a:bodyPr/>
                    <a:lstStyle/>
                    <a:p>
                      <a:pPr algn="l" indent="0" lvl="0" marL="0" rtl="0">
                        <a:lnSpc>
                          <a:spcPct val="115000"/>
                        </a:lnSpc>
                        <a:spcBef>
                          <a:spcPts val="0"/>
                        </a:spcBef>
                        <a:spcAft>
                          <a:spcPts val="0"/>
                        </a:spcAft>
                        <a:buNone/>
                      </a:pPr>
                      <a:r>
                        <a:rPr lang="en" sz="1000"/>
                        <a:t>M-F</a:t>
                      </a:r>
                      <a:endParaRPr sz="1000"/>
                    </a:p>
                  </a:txBody>
                  <a:tcPr anchor="ctr" marB="19050" marL="28575" marR="28575" marT="19050"/>
                </a:tc>
                <a:tc>
                  <a:txBody>
                    <a:bodyPr/>
                    <a:lstStyle/>
                    <a:p>
                      <a:pPr algn="l" indent="0" lvl="0" marL="0" rtl="0">
                        <a:lnSpc>
                          <a:spcPct val="115000"/>
                        </a:lnSpc>
                        <a:spcBef>
                          <a:spcPts val="0"/>
                        </a:spcBef>
                        <a:spcAft>
                          <a:spcPts val="0"/>
                        </a:spcAft>
                        <a:buNone/>
                      </a:pPr>
                      <a:r>
                        <a:rPr lang="en" sz="1000"/>
                        <a:t>6:00am - 7:00pm</a:t>
                      </a:r>
                      <a:endParaRPr sz="1000"/>
                    </a:p>
                  </a:txBody>
                  <a:tcPr anchor="ctr" marB="19050" marL="28575" marR="28575" marT="19050"/>
                </a:tc>
                <a:tc>
                  <a:txBody>
                    <a:bodyPr/>
                    <a:lstStyle/>
                    <a:p>
                      <a:pPr algn="ctr" indent="0" lvl="0" marL="0" rtl="0">
                        <a:lnSpc>
                          <a:spcPct val="115000"/>
                        </a:lnSpc>
                        <a:spcBef>
                          <a:spcPts val="0"/>
                        </a:spcBef>
                        <a:spcAft>
                          <a:spcPts val="0"/>
                        </a:spcAft>
                        <a:buNone/>
                      </a:pPr>
                      <a:r>
                        <a:rPr lang="en" sz="1000"/>
                        <a:t>15</a:t>
                      </a:r>
                      <a:endParaRPr sz="1000"/>
                    </a:p>
                  </a:txBody>
                  <a:tcPr anchor="ctr" marB="19050" marL="28575" marR="28575" marT="19050"/>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Continuity Investment:</a:t>
                      </a:r>
                      <a:endParaRPr b="1" sz="1000">
                        <a:latin typeface="Verdana"/>
                        <a:ea typeface="Verdana"/>
                        <a:cs typeface="Verdana"/>
                        <a:sym typeface="Verdana"/>
                      </a:endParaRPr>
                    </a:p>
                  </a:txBody>
                  <a:tcPr anchor="ctr" marB="19050" marL="28575" marR="28575" marT="19050">
                    <a:solidFill>
                      <a:srgbClr val="C9DAF8"/>
                    </a:solidFill>
                  </a:tcPr>
                </a:tc>
                <a:extLst>
                  <a:ext uri="{0D108BD9-81ED-4DB2-BD59-A6C34878D82A}">
                    <a16:rowId xmlns:a16="http://schemas.microsoft.com/office/drawing/2014/main" val="10004"/>
                  </a:ext>
                </a:extLst>
              </a:tr>
              <a:tr h="200025">
                <a:tc>
                  <a:txBody>
                    <a:bodyPr/>
                    <a:lstStyle/>
                    <a:p>
                      <a:pPr algn="l" indent="0" lvl="0" marL="0" rtl="0">
                        <a:lnSpc>
                          <a:spcPct val="115000"/>
                        </a:lnSpc>
                        <a:spcBef>
                          <a:spcPts val="0"/>
                        </a:spcBef>
                        <a:spcAft>
                          <a:spcPts val="0"/>
                        </a:spcAft>
                        <a:buNone/>
                      </a:pPr>
                      <a:r>
                        <a:rPr lang="en" sz="1000"/>
                        <a:t>WBBB</a:t>
                      </a:r>
                      <a:endParaRPr sz="1000"/>
                    </a:p>
                  </a:txBody>
                  <a:tcPr anchor="ctr" marB="19050" marL="28575" marR="28575" marT="19050"/>
                </a:tc>
                <a:tc>
                  <a:txBody>
                    <a:bodyPr/>
                    <a:lstStyle/>
                    <a:p>
                      <a:pPr algn="l" indent="0" lvl="0" marL="0" rtl="0">
                        <a:lnSpc>
                          <a:spcPct val="115000"/>
                        </a:lnSpc>
                        <a:spcBef>
                          <a:spcPts val="0"/>
                        </a:spcBef>
                        <a:spcAft>
                          <a:spcPts val="0"/>
                        </a:spcAft>
                        <a:buNone/>
                      </a:pPr>
                      <a:r>
                        <a:rPr lang="en" sz="1000"/>
                        <a:t>M-F</a:t>
                      </a:r>
                      <a:endParaRPr sz="1000"/>
                    </a:p>
                  </a:txBody>
                  <a:tcPr anchor="ctr" marB="19050" marL="28575" marR="28575" marT="19050"/>
                </a:tc>
                <a:tc>
                  <a:txBody>
                    <a:bodyPr/>
                    <a:lstStyle/>
                    <a:p>
                      <a:pPr algn="l" indent="0" lvl="0" marL="0" rtl="0">
                        <a:lnSpc>
                          <a:spcPct val="115000"/>
                        </a:lnSpc>
                        <a:spcBef>
                          <a:spcPts val="0"/>
                        </a:spcBef>
                        <a:spcAft>
                          <a:spcPts val="0"/>
                        </a:spcAft>
                        <a:buNone/>
                      </a:pPr>
                      <a:r>
                        <a:rPr lang="en" sz="1000"/>
                        <a:t>7:00pm - 12mid</a:t>
                      </a:r>
                      <a:endParaRPr sz="1000"/>
                    </a:p>
                  </a:txBody>
                  <a:tcPr anchor="ctr" marB="19050" marL="28575" marR="28575" marT="19050"/>
                </a:tc>
                <a:tc>
                  <a:txBody>
                    <a:bodyPr/>
                    <a:lstStyle/>
                    <a:p>
                      <a:pPr algn="ctr" indent="0" lvl="0" marL="0" rtl="0">
                        <a:lnSpc>
                          <a:spcPct val="115000"/>
                        </a:lnSpc>
                        <a:spcBef>
                          <a:spcPts val="0"/>
                        </a:spcBef>
                        <a:spcAft>
                          <a:spcPts val="0"/>
                        </a:spcAft>
                        <a:buNone/>
                      </a:pPr>
                      <a:r>
                        <a:rPr lang="en" sz="1000"/>
                        <a:t>5</a:t>
                      </a:r>
                      <a:endParaRPr sz="1000"/>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anchor="ctr" marB="19050" marL="28575" marR="28575" marT="19050"/>
                </a:tc>
                <a:extLst>
                  <a:ext uri="{0D108BD9-81ED-4DB2-BD59-A6C34878D82A}">
                    <a16:rowId xmlns:a16="http://schemas.microsoft.com/office/drawing/2014/main" val="10005"/>
                  </a:ext>
                </a:extLst>
              </a:tr>
              <a:tr h="251450">
                <a:tc>
                  <a:txBody>
                    <a:bodyPr/>
                    <a:lstStyle/>
                    <a:p>
                      <a:pPr algn="l" indent="0" lvl="0" marL="0" rtl="0">
                        <a:spcBef>
                          <a:spcPts val="0"/>
                        </a:spcBef>
                        <a:spcAft>
                          <a:spcPts val="0"/>
                        </a:spcAft>
                        <a:buNone/>
                      </a:pPr>
                      <a:endParaRPr/>
                    </a:p>
                  </a:txBody>
                  <a:tcPr anchor="b"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Total # of Commercials</a:t>
                      </a:r>
                      <a:endParaRPr b="1" sz="1000">
                        <a:latin typeface="Verdana"/>
                        <a:ea typeface="Verdana"/>
                        <a:cs typeface="Verdana"/>
                        <a:sym typeface="Verdana"/>
                      </a:endParaRPr>
                    </a:p>
                  </a:txBody>
                  <a:tcPr anchor="ctr" marB="19050" marL="28575" marR="28575" marT="19050">
                    <a:solidFill>
                      <a:srgbClr val="C9DAF8"/>
                    </a:solidFill>
                  </a:tcPr>
                </a:tc>
                <a:extLst>
                  <a:ext uri="{0D108BD9-81ED-4DB2-BD59-A6C34878D82A}">
                    <a16:rowId xmlns:a16="http://schemas.microsoft.com/office/drawing/2014/main" val="10006"/>
                  </a:ext>
                </a:extLst>
              </a:tr>
              <a:tr h="251450">
                <a:tc>
                  <a:txBody>
                    <a:bodyPr/>
                    <a:lstStyle/>
                    <a:p>
                      <a:pPr algn="l" indent="0" lvl="0" marL="0" rtl="0">
                        <a:spcBef>
                          <a:spcPts val="0"/>
                        </a:spcBef>
                        <a:spcAft>
                          <a:spcPts val="0"/>
                        </a:spcAft>
                        <a:buNone/>
                      </a:pPr>
                      <a:endParaRPr/>
                    </a:p>
                  </a:txBody>
                  <a:tcPr anchor="b"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ctr" indent="0" lvl="0" marL="0" rtl="0">
                        <a:lnSpc>
                          <a:spcPct val="115000"/>
                        </a:lnSpc>
                        <a:spcBef>
                          <a:spcPts val="0"/>
                        </a:spcBef>
                        <a:spcAft>
                          <a:spcPts val="0"/>
                        </a:spcAft>
                        <a:buNone/>
                      </a:pPr>
                      <a:r>
                        <a:rPr lang="en" sz="1000"/>
                        <a:t>120</a:t>
                      </a:r>
                      <a:endParaRPr sz="1000"/>
                    </a:p>
                  </a:txBody>
                  <a:tcPr anchor="ctr" marB="19050" marL="28575" marR="28575" marT="19050"/>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b="1" lang="en" sz="2400">
                <a:solidFill>
                  <a:schemeClr val="dk1"/>
                </a:solidFill>
                <a:latin typeface="Verdana"/>
                <a:ea typeface="Verdana"/>
                <a:cs typeface="Verdana"/>
                <a:sym typeface="Verdana"/>
              </a:rPr>
              <a:t>clientBusinessName</a:t>
            </a:r>
            <a:endParaRPr b="1" sz="2400">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b="1" lang="en" sz="2000">
                <a:solidFill>
                  <a:schemeClr val="dk1"/>
                </a:solidFill>
                <a:latin typeface="Verdana"/>
                <a:ea typeface="Verdana"/>
                <a:cs typeface="Verdana"/>
                <a:sym typeface="Verdana"/>
              </a:rPr>
              <a:t>Brand Equity Schedule </a:t>
            </a:r>
            <a:endParaRPr b="1" sz="2000">
              <a:solidFill>
                <a:schemeClr val="dk1"/>
              </a:solidFill>
              <a:latin typeface="Verdana"/>
              <a:ea typeface="Verdana"/>
              <a:cs typeface="Verdana"/>
              <a:sym typeface="Verdana"/>
            </a:endParaRPr>
          </a:p>
          <a:p>
            <a:pPr algn="ctr" indent="0" lvl="0" marL="0" rtl="0">
              <a:spcBef>
                <a:spcPts val="0"/>
              </a:spcBef>
              <a:spcAft>
                <a:spcPts val="0"/>
              </a:spcAft>
              <a:buNone/>
            </a:pPr>
            <a:r>
              <a:rPr b="1" lang="en" sz="2000">
                <a:solidFill>
                  <a:schemeClr val="dk1"/>
                </a:solidFill>
                <a:latin typeface="Verdana"/>
                <a:ea typeface="Verdana"/>
                <a:cs typeface="Verdana"/>
                <a:sym typeface="Verdana"/>
              </a:rPr>
              <a:t>Monthly Station Summary</a:t>
            </a:r>
            <a:endParaRPr b="1" sz="2000">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anchor="t" anchorCtr="0" bIns="91425" lIns="91425" rIns="91425" spcFirstLastPara="1" tIns="91425" wrap="square">
            <a:noAutofit/>
          </a:bodyPr>
          <a:lstStyle/>
          <a:p>
            <a:pPr algn="l" indent="0" lvl="0" marL="0" rtl="0">
              <a:lnSpc>
                <a:spcPct val="200000"/>
              </a:lnSpc>
              <a:spcBef>
                <a:spcPts val="0"/>
              </a:spcBef>
              <a:spcAft>
                <a:spcPts val="0"/>
              </a:spcAft>
              <a:buNone/>
            </a:pPr>
            <a:r>
              <a:rPr b="1" lang="en">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planACity</a:t>
            </a:r>
            <a:endParaRPr>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b="1" lang="en">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planAReach</a:t>
            </a:r>
            <a:endParaRPr>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b="1" lang="en">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planAFrequency</a:t>
            </a:r>
            <a:endParaRPr>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b="1" lang="en">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planADigitalImpressionsMonthly</a:t>
            </a:r>
            <a:endParaRPr>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b="1" lang="en">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planAMonthly</a:t>
            </a:r>
            <a:endParaRPr>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b="1" lang="en">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planADaily</a:t>
            </a:r>
            <a:endParaRPr>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Break Even Analysis - Plan A</a:t>
            </a:r>
            <a:endParaRPr/>
          </a:p>
        </p:txBody>
      </p:sp>
      <p:sp>
        <p:nvSpPr>
          <p:cNvPr id="427" name="Google Shape;427;p36"/>
          <p:cNvSpPr txBox="1">
            <a:spLocks noGrp="1"/>
          </p:cNvSpPr>
          <p:nvPr>
            <p:ph idx="2" type="body"/>
          </p:nvPr>
        </p:nvSpPr>
        <p:spPr>
          <a:xfrm>
            <a:off x="347472" y="1563624"/>
            <a:ext cx="7205400" cy="4181400"/>
          </a:xfrm>
          <a:prstGeom prst="rect">
            <a:avLst/>
          </a:prstGeom>
        </p:spPr>
        <p:txBody>
          <a:bodyPr anchor="t" anchorCtr="0" bIns="91425" lIns="91425" rIns="91425" spcFirstLastPara="1" tIns="91425" wrap="square">
            <a:noAutofit/>
          </a:bodyPr>
          <a:lstStyle/>
          <a:p>
            <a:pPr algn="r" indent="-311150" lvl="0" marL="457200" rtl="0">
              <a:lnSpc>
                <a:spcPct val="200000"/>
              </a:lnSpc>
              <a:spcBef>
                <a:spcPts val="0"/>
              </a:spcBef>
              <a:spcAft>
                <a:spcPts val="0"/>
              </a:spcAft>
              <a:buClr>
                <a:schemeClr val="dk1"/>
              </a:buClr>
              <a:buSzPts val="1300"/>
              <a:buFont typeface="Verdana"/>
              <a:buAutoNum type="alphaUcPeriod"/>
            </a:pPr>
            <a:r>
              <a:rPr b="1" lang="en" sz="1300">
                <a:solidFill>
                  <a:schemeClr val="dk1"/>
                </a:solidFill>
                <a:latin typeface="Verdana"/>
                <a:ea typeface="Verdana"/>
                <a:cs typeface="Verdana"/>
                <a:sym typeface="Verdana"/>
              </a:rPr>
              <a:t>Average sale (ticket, transaction, invoice) =</a:t>
            </a:r>
            <a:endParaRPr b="1" sz="1300">
              <a:solidFill>
                <a:schemeClr val="dk1"/>
              </a:solidFill>
              <a:latin typeface="Verdana"/>
              <a:ea typeface="Verdana"/>
              <a:cs typeface="Verdana"/>
              <a:sym typeface="Verdana"/>
            </a:endParaRPr>
          </a:p>
          <a:p>
            <a:pPr algn="r" indent="-311150" lvl="0" marL="457200" rtl="0">
              <a:lnSpc>
                <a:spcPct val="200000"/>
              </a:lnSpc>
              <a:spcBef>
                <a:spcPts val="0"/>
              </a:spcBef>
              <a:spcAft>
                <a:spcPts val="0"/>
              </a:spcAft>
              <a:buClr>
                <a:schemeClr val="dk1"/>
              </a:buClr>
              <a:buSzPts val="1300"/>
              <a:buFont typeface="Verdana"/>
              <a:buAutoNum type="alphaUcPeriod"/>
            </a:pPr>
            <a:r>
              <a:rPr b="1" lang="en" sz="1300">
                <a:solidFill>
                  <a:schemeClr val="dk1"/>
                </a:solidFill>
                <a:latin typeface="Verdana"/>
                <a:ea typeface="Verdana"/>
                <a:cs typeface="Verdana"/>
                <a:sym typeface="Verdana"/>
              </a:rPr>
              <a:t>Gross profit margin on average sale (sale less closing costs) =</a:t>
            </a:r>
            <a:endParaRPr b="1" sz="1300">
              <a:solidFill>
                <a:schemeClr val="dk1"/>
              </a:solidFill>
              <a:latin typeface="Verdana"/>
              <a:ea typeface="Verdana"/>
              <a:cs typeface="Verdana"/>
              <a:sym typeface="Verdana"/>
            </a:endParaRPr>
          </a:p>
          <a:p>
            <a:pPr algn="r" indent="-311150" lvl="0" marL="457200" rtl="0">
              <a:lnSpc>
                <a:spcPct val="200000"/>
              </a:lnSpc>
              <a:spcBef>
                <a:spcPts val="0"/>
              </a:spcBef>
              <a:spcAft>
                <a:spcPts val="0"/>
              </a:spcAft>
              <a:buClr>
                <a:schemeClr val="dk1"/>
              </a:buClr>
              <a:buSzPts val="1300"/>
              <a:buFont typeface="Verdana"/>
              <a:buAutoNum type="alphaUcPeriod"/>
            </a:pPr>
            <a:r>
              <a:rPr b="1" lang="en" sz="1300">
                <a:solidFill>
                  <a:schemeClr val="dk1"/>
                </a:solidFill>
                <a:latin typeface="Verdana"/>
                <a:ea typeface="Verdana"/>
                <a:cs typeface="Verdana"/>
                <a:sym typeface="Verdana"/>
              </a:rPr>
              <a:t>Closing or conversion rate =</a:t>
            </a:r>
            <a:endParaRPr b="1" sz="1300">
              <a:solidFill>
                <a:schemeClr val="dk1"/>
              </a:solidFill>
              <a:latin typeface="Verdana"/>
              <a:ea typeface="Verdana"/>
              <a:cs typeface="Verdana"/>
              <a:sym typeface="Verdana"/>
            </a:endParaRPr>
          </a:p>
          <a:p>
            <a:pPr algn="r" indent="-311150" lvl="0" marL="457200" rtl="0">
              <a:lnSpc>
                <a:spcPct val="200000"/>
              </a:lnSpc>
              <a:spcBef>
                <a:spcPts val="0"/>
              </a:spcBef>
              <a:spcAft>
                <a:spcPts val="0"/>
              </a:spcAft>
              <a:buClr>
                <a:schemeClr val="dk1"/>
              </a:buClr>
              <a:buSzPts val="1300"/>
              <a:buFont typeface="Verdana"/>
              <a:buAutoNum type="alphaUcPeriod"/>
            </a:pPr>
            <a:r>
              <a:rPr b="1" lang="en" sz="1300">
                <a:solidFill>
                  <a:schemeClr val="dk1"/>
                </a:solidFill>
                <a:latin typeface="Verdana"/>
                <a:ea typeface="Verdana"/>
                <a:cs typeface="Verdana"/>
                <a:sym typeface="Verdana"/>
              </a:rPr>
              <a:t>Projected prospect value (=A*B*C)=</a:t>
            </a:r>
            <a:endParaRPr b="1" sz="1300">
              <a:solidFill>
                <a:schemeClr val="dk1"/>
              </a:solidFill>
              <a:latin typeface="Verdana"/>
              <a:ea typeface="Verdana"/>
              <a:cs typeface="Verdana"/>
              <a:sym typeface="Verdana"/>
            </a:endParaRPr>
          </a:p>
          <a:p>
            <a:pPr algn="r" indent="-311150" lvl="0" marL="457200" rtl="0">
              <a:lnSpc>
                <a:spcPct val="200000"/>
              </a:lnSpc>
              <a:spcBef>
                <a:spcPts val="0"/>
              </a:spcBef>
              <a:spcAft>
                <a:spcPts val="0"/>
              </a:spcAft>
              <a:buClr>
                <a:schemeClr val="dk1"/>
              </a:buClr>
              <a:buSzPts val="1300"/>
              <a:buFont typeface="Verdana"/>
              <a:buAutoNum type="alphaUcPeriod"/>
            </a:pPr>
            <a:r>
              <a:rPr b="1" lang="en" sz="1300">
                <a:solidFill>
                  <a:schemeClr val="dk1"/>
                </a:solidFill>
                <a:latin typeface="Verdana"/>
                <a:ea typeface="Verdana"/>
                <a:cs typeface="Verdana"/>
                <a:sym typeface="Verdana"/>
              </a:rPr>
              <a:t>Client base monthly advertising investment =</a:t>
            </a:r>
            <a:endParaRPr b="1" sz="1300">
              <a:solidFill>
                <a:schemeClr val="dk1"/>
              </a:solidFill>
              <a:latin typeface="Verdana"/>
              <a:ea typeface="Verdana"/>
              <a:cs typeface="Verdana"/>
              <a:sym typeface="Verdana"/>
            </a:endParaRPr>
          </a:p>
          <a:p>
            <a:pPr algn="r" indent="-311150" lvl="0" marL="457200" rtl="0">
              <a:lnSpc>
                <a:spcPct val="200000"/>
              </a:lnSpc>
              <a:spcBef>
                <a:spcPts val="0"/>
              </a:spcBef>
              <a:spcAft>
                <a:spcPts val="0"/>
              </a:spcAft>
              <a:buClr>
                <a:schemeClr val="dk1"/>
              </a:buClr>
              <a:buSzPts val="1300"/>
              <a:buFont typeface="Verdana"/>
              <a:buAutoNum type="alphaUcPeriod"/>
            </a:pPr>
            <a:r>
              <a:rPr b="1" lang="en" sz="1300">
                <a:solidFill>
                  <a:schemeClr val="dk1"/>
                </a:solidFill>
                <a:latin typeface="Verdana"/>
                <a:ea typeface="Verdana"/>
                <a:cs typeface="Verdana"/>
                <a:sym typeface="Verdana"/>
              </a:rPr>
              <a:t>Monthly prospects needed to pay for advertising  investment (=E/D)=</a:t>
            </a:r>
            <a:endParaRPr b="1" sz="1300">
              <a:solidFill>
                <a:schemeClr val="dk1"/>
              </a:solidFill>
              <a:latin typeface="Verdana"/>
              <a:ea typeface="Verdana"/>
              <a:cs typeface="Verdana"/>
              <a:sym typeface="Verdana"/>
            </a:endParaRPr>
          </a:p>
          <a:p>
            <a:pPr algn="r" indent="-311150" lvl="0" marL="457200" rtl="0">
              <a:lnSpc>
                <a:spcPct val="200000"/>
              </a:lnSpc>
              <a:spcBef>
                <a:spcPts val="0"/>
              </a:spcBef>
              <a:spcAft>
                <a:spcPts val="0"/>
              </a:spcAft>
              <a:buClr>
                <a:schemeClr val="dk1"/>
              </a:buClr>
              <a:buSzPts val="1300"/>
              <a:buFont typeface="Verdana"/>
              <a:buAutoNum type="alphaUcPeriod"/>
            </a:pPr>
            <a:r>
              <a:rPr b="1" lang="en" sz="1300">
                <a:solidFill>
                  <a:schemeClr val="dk1"/>
                </a:solidFill>
                <a:latin typeface="Verdana"/>
                <a:ea typeface="Verdana"/>
                <a:cs typeface="Verdana"/>
                <a:sym typeface="Verdana"/>
              </a:rPr>
              <a:t>Monthly # of sales from prospects needed to break even (=F*C) =</a:t>
            </a:r>
            <a:endParaRPr b="1" sz="1300">
              <a:solidFill>
                <a:schemeClr val="dk1"/>
              </a:solidFill>
              <a:latin typeface="Verdana"/>
              <a:ea typeface="Verdana"/>
              <a:cs typeface="Verdana"/>
              <a:sym typeface="Verdana"/>
            </a:endParaRPr>
          </a:p>
          <a:p>
            <a:pPr algn="r" indent="-311150" lvl="0" marL="457200" rtl="0">
              <a:lnSpc>
                <a:spcPct val="200000"/>
              </a:lnSpc>
              <a:spcBef>
                <a:spcPts val="0"/>
              </a:spcBef>
              <a:spcAft>
                <a:spcPts val="0"/>
              </a:spcAft>
              <a:buClr>
                <a:schemeClr val="dk1"/>
              </a:buClr>
              <a:buSzPts val="1300"/>
              <a:buFont typeface="Verdana"/>
              <a:buAutoNum type="alphaUcPeriod"/>
            </a:pPr>
            <a:r>
              <a:rPr b="1" lang="en" sz="1300">
                <a:solidFill>
                  <a:schemeClr val="dk1"/>
                </a:solidFill>
                <a:latin typeface="Verdana"/>
                <a:ea typeface="Verdana"/>
                <a:cs typeface="Verdana"/>
                <a:sym typeface="Verdana"/>
              </a:rPr>
              <a:t>Gross sales per month needed to break even (=G*A)=</a:t>
            </a:r>
            <a:endParaRPr b="1" sz="1300">
              <a:solidFill>
                <a:schemeClr val="dk1"/>
              </a:solidFill>
              <a:latin typeface="Verdana"/>
              <a:ea typeface="Verdana"/>
              <a:cs typeface="Verdana"/>
              <a:sym typeface="Verdana"/>
            </a:endParaRPr>
          </a:p>
          <a:p>
            <a:pPr algn="r" indent="-311150" lvl="0" marL="457200" rtl="0">
              <a:lnSpc>
                <a:spcPct val="200000"/>
              </a:lnSpc>
              <a:spcBef>
                <a:spcPts val="0"/>
              </a:spcBef>
              <a:spcAft>
                <a:spcPts val="0"/>
              </a:spcAft>
              <a:buClr>
                <a:schemeClr val="dk1"/>
              </a:buClr>
              <a:buSzPts val="1300"/>
              <a:buFont typeface="Verdana"/>
              <a:buAutoNum type="alphaUcPeriod"/>
            </a:pPr>
            <a:r>
              <a:rPr b="1" lang="en" sz="1300">
                <a:solidFill>
                  <a:schemeClr val="dk1"/>
                </a:solidFill>
                <a:latin typeface="Verdana"/>
                <a:ea typeface="Verdana"/>
                <a:cs typeface="Verdana"/>
                <a:sym typeface="Verdana"/>
              </a:rPr>
              <a:t>Number of months to run </a:t>
            </a:r>
            <a:r>
              <a:rPr b="1" lang="en" sz="1300">
                <a:solidFill>
                  <a:schemeClr val="dk1"/>
                </a:solidFill>
              </a:rPr>
              <a:t>in </a:t>
            </a:r>
            <a:r>
              <a:rPr b="1" lang="en" sz="1300">
                <a:solidFill>
                  <a:schemeClr val="dk1"/>
                </a:solidFill>
                <a:latin typeface="Verdana"/>
                <a:ea typeface="Verdana"/>
                <a:cs typeface="Verdana"/>
                <a:sym typeface="Verdana"/>
              </a:rPr>
              <a:t>proposed marketing plan =</a:t>
            </a:r>
            <a:endParaRPr b="1" sz="1300">
              <a:solidFill>
                <a:schemeClr val="dk1"/>
              </a:solidFill>
              <a:latin typeface="Verdana"/>
              <a:ea typeface="Verdana"/>
              <a:cs typeface="Verdana"/>
              <a:sym typeface="Verdana"/>
            </a:endParaRPr>
          </a:p>
          <a:p>
            <a:pPr algn="r" indent="-311150" lvl="0" marL="457200" rtl="0">
              <a:lnSpc>
                <a:spcPct val="200000"/>
              </a:lnSpc>
              <a:spcBef>
                <a:spcPts val="0"/>
              </a:spcBef>
              <a:spcAft>
                <a:spcPts val="0"/>
              </a:spcAft>
              <a:buClr>
                <a:schemeClr val="dk1"/>
              </a:buClr>
              <a:buSzPts val="1300"/>
              <a:buFont typeface="Verdana"/>
              <a:buAutoNum type="alphaUcPeriod"/>
            </a:pPr>
            <a:r>
              <a:rPr b="1" lang="en" sz="1300">
                <a:solidFill>
                  <a:schemeClr val="dk1"/>
                </a:solidFill>
                <a:latin typeface="Verdana"/>
                <a:ea typeface="Verdana"/>
                <a:cs typeface="Verdana"/>
                <a:sym typeface="Verdana"/>
              </a:rPr>
              <a:t>Additional gross sales per year needed to break even (=H*I)= </a:t>
            </a:r>
            <a:endParaRPr b="1" sz="1300">
              <a:solidFill>
                <a:schemeClr val="dk1"/>
              </a:solidFill>
              <a:latin typeface="Verdana"/>
              <a:ea typeface="Verdana"/>
              <a:cs typeface="Verdana"/>
              <a:sym typeface="Verdana"/>
            </a:endParaRPr>
          </a:p>
        </p:txBody>
      </p:sp>
      <p:sp>
        <p:nvSpPr>
          <p:cNvPr id="428" name="Google Shape;428;p36"/>
          <p:cNvSpPr txBox="1">
            <a:spLocks noGrp="1"/>
          </p:cNvSpPr>
          <p:nvPr>
            <p:ph idx="2" type="body"/>
          </p:nvPr>
        </p:nvSpPr>
        <p:spPr>
          <a:xfrm>
            <a:off x="7554250" y="1566890"/>
            <a:ext cx="1241400" cy="4181400"/>
          </a:xfrm>
          <a:prstGeom prst="rect">
            <a:avLst/>
          </a:prstGeom>
        </p:spPr>
        <p:txBody>
          <a:bodyPr anchor="t" anchorCtr="0" bIns="91425" lIns="91425" rIns="91425" spcFirstLastPara="1" tIns="91425" wrap="square">
            <a:noAutofit/>
          </a:bodyPr>
          <a:lstStyle/>
          <a:p>
            <a:pPr algn="l" indent="0" lvl="0" marL="0" rtl="0">
              <a:lnSpc>
                <a:spcPct val="200000"/>
              </a:lnSpc>
              <a:spcBef>
                <a:spcPts val="0"/>
              </a:spcBef>
              <a:spcAft>
                <a:spcPts val="0"/>
              </a:spcAft>
              <a:buNone/>
            </a:pPr>
            <a:r>
              <a:rPr lang="en" sz="1300" u="sng">
                <a:solidFill>
                  <a:srgbClr val="000000"/>
                </a:solidFill>
                <a:latin typeface="Verdana"/>
                <a:ea typeface="Verdana"/>
                <a:cs typeface="Verdana"/>
                <a:sym typeface="Verdana"/>
              </a:rPr>
              <a:t>planAAverageSale</a:t>
            </a:r>
            <a:endParaRPr sz="1300" u="sng">
              <a:solidFill>
                <a:srgbClr val="000000"/>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planAGrossMargin</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planAClosingPct</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planAProspectValue</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planAProspectsNeeded</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planAProspectSalesNeeded</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planAGrossProfitOnSales</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planAMonths</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planAAdditionalGrossSales</a:t>
            </a:r>
            <a:endParaRPr sz="1300" u="sng">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Lifetime Value Analysis - Plan A</a:t>
            </a:r>
            <a:endParaRPr/>
          </a:p>
        </p:txBody>
      </p:sp>
      <p:sp>
        <p:nvSpPr>
          <p:cNvPr id="434" name="Google Shape;434;p37"/>
          <p:cNvSpPr txBox="1">
            <a:spLocks noGrp="1"/>
          </p:cNvSpPr>
          <p:nvPr>
            <p:ph idx="2" type="body"/>
          </p:nvPr>
        </p:nvSpPr>
        <p:spPr>
          <a:xfrm>
            <a:off x="347472" y="1773936"/>
            <a:ext cx="7205400" cy="3767400"/>
          </a:xfrm>
          <a:prstGeom prst="rect">
            <a:avLst/>
          </a:prstGeom>
        </p:spPr>
        <p:txBody>
          <a:bodyPr anchor="t" anchorCtr="0" bIns="91425" lIns="91425" rIns="91425" spcFirstLastPara="1" tIns="91425" wrap="square">
            <a:noAutofit/>
          </a:bodyPr>
          <a:lstStyle/>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Average sale (ticket, transaction, invoice)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Times gross profit margin on average sale (sale less variable costs)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Equals gross profit per average sale (A*B)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Times the average repeat sales per year (per customer/client)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Equals the average customer/client value per year (C*D)=</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Times the average number of years of patronage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Equals the lifetime value of one customer/client (E*F)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So if your base monthly advertising investment averages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Then monthly customers/clients needed to break even (H/G)=</a:t>
            </a:r>
            <a:endParaRPr b="1" sz="1300">
              <a:solidFill>
                <a:srgbClr val="000000"/>
              </a:solidFill>
              <a:latin typeface="Verdana"/>
              <a:ea typeface="Verdana"/>
              <a:cs typeface="Verdana"/>
              <a:sym typeface="Verdana"/>
            </a:endParaRPr>
          </a:p>
        </p:txBody>
      </p:sp>
      <p:sp>
        <p:nvSpPr>
          <p:cNvPr id="435" name="Google Shape;435;p37"/>
          <p:cNvSpPr txBox="1">
            <a:spLocks noGrp="1"/>
          </p:cNvSpPr>
          <p:nvPr>
            <p:ph idx="2" type="body"/>
          </p:nvPr>
        </p:nvSpPr>
        <p:spPr>
          <a:xfrm>
            <a:off x="7552950" y="1774200"/>
            <a:ext cx="1253100" cy="3380700"/>
          </a:xfrm>
          <a:prstGeom prst="rect">
            <a:avLst/>
          </a:prstGeom>
        </p:spPr>
        <p:txBody>
          <a:bodyPr anchor="t" anchorCtr="0" bIns="91425" lIns="91425" rIns="91425" spcFirstLastPara="1" tIns="91425" wrap="square">
            <a:noAutofit/>
          </a:bodyPr>
          <a:lstStyle/>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a_averageSale</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a_grossProfitMargin</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a_grossProfitPerSale</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a_averageRepeatSales</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a_averageCustomerValue</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a_yearsOfPatronage</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a_lifetimeValuePerCustomer</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a_prospectsNeededToBreakEven</a:t>
            </a:r>
            <a:endParaRPr sz="1300">
              <a:solidFill>
                <a:srgbClr val="000000"/>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Digital ROI Calculator - Plan A</a:t>
            </a:r>
            <a:endParaRPr/>
          </a:p>
        </p:txBody>
      </p:sp>
      <p:sp>
        <p:nvSpPr>
          <p:cNvPr id="441" name="Google Shape;441;p38"/>
          <p:cNvSpPr txBox="1">
            <a:spLocks noGrp="1"/>
          </p:cNvSpPr>
          <p:nvPr>
            <p:ph idx="2" type="body"/>
          </p:nvPr>
        </p:nvSpPr>
        <p:spPr>
          <a:xfrm>
            <a:off x="768096" y="1453896"/>
            <a:ext cx="6355200" cy="5193900"/>
          </a:xfrm>
          <a:prstGeom prst="rect">
            <a:avLst/>
          </a:prstGeom>
        </p:spPr>
        <p:txBody>
          <a:bodyPr anchor="t" anchorCtr="0" bIns="91425" lIns="91425" rIns="91425" spcFirstLastPara="1" tIns="91425" wrap="square">
            <a:noAutofit/>
          </a:bodyPr>
          <a:lstStyle/>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Monthly Digital Investment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Cost Per Thousand (CPM)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Monthly Impressions (=A/B*1,000)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Click Through Rate (.01%, .1%, etc)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Monthly # clicks (=C*D)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Cost per Click (=A/E)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Sales Conversion Percentage (2%, 10%, etc)=</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Monthly Number of Conversions (E*G)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Cost Per Conversion (A/H)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Projected Gross Profit Per Conversion ($100, $1,000, etc.)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Monthly Gross </a:t>
            </a:r>
            <a:r>
              <a:rPr b="1" lang="en" sz="1300">
                <a:solidFill>
                  <a:srgbClr val="000000"/>
                </a:solidFill>
              </a:rPr>
              <a:t>P</a:t>
            </a:r>
            <a:r>
              <a:rPr b="1" lang="en" sz="1300">
                <a:solidFill>
                  <a:srgbClr val="000000"/>
                </a:solidFill>
                <a:latin typeface="Verdana"/>
                <a:ea typeface="Verdana"/>
                <a:cs typeface="Verdana"/>
                <a:sym typeface="Verdana"/>
              </a:rPr>
              <a:t>rofit Generated from all Conversions (H*J)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$Monthly Return on Investment (K-A)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 Monthly Return on Investment (L/A) = </a:t>
            </a:r>
            <a:endParaRPr b="1" sz="1300">
              <a:solidFill>
                <a:srgbClr val="000000"/>
              </a:solidFill>
              <a:latin typeface="Verdana"/>
              <a:ea typeface="Verdana"/>
              <a:cs typeface="Verdana"/>
              <a:sym typeface="Verdana"/>
            </a:endParaRPr>
          </a:p>
        </p:txBody>
      </p:sp>
      <p:sp>
        <p:nvSpPr>
          <p:cNvPr id="442" name="Google Shape;442;p38"/>
          <p:cNvSpPr txBox="1">
            <a:spLocks noGrp="1"/>
          </p:cNvSpPr>
          <p:nvPr>
            <p:ph idx="2" type="body"/>
          </p:nvPr>
        </p:nvSpPr>
        <p:spPr>
          <a:xfrm>
            <a:off x="7127862" y="1453115"/>
            <a:ext cx="1243500" cy="5192700"/>
          </a:xfrm>
          <a:prstGeom prst="rect">
            <a:avLst/>
          </a:prstGeom>
        </p:spPr>
        <p:txBody>
          <a:bodyPr anchor="t" anchorCtr="0" bIns="91425" lIns="91425" rIns="91425" spcFirstLastPara="1" tIns="91425" wrap="square">
            <a:noAutofit/>
          </a:bodyPr>
          <a:lstStyle/>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planAMonthlyDigitalInvestment</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planACostPerThousand</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planAClosingPctNumber</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planAClickThroughRate</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planAMonthlyClicks</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planACostPerClicks</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planASalesConversionPercentage</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planAMonthlyConversions</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planACostPerConversion</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planAProjectedGrossProfit</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planAMonthlyGrossProfit</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planAMonthlyROID</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planAMonthlyROIP</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anchor="ctr" anchorCtr="0" bIns="91425" lIns="91425" rIns="91425" spcFirstLastPara="1" tIns="91425" wrap="square">
            <a:noAutofit/>
          </a:bodyPr>
          <a:lstStyle/>
          <a:p>
            <a:pPr algn="ctr" indent="0" lvl="0" marL="0"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anchor="ctr" anchorCtr="0" bIns="91425" lIns="91425" rIns="91425" spcFirstLastPara="1" tIns="91425" wrap="square">
            <a:noAutofit/>
          </a:bodyPr>
          <a:lstStyle/>
          <a:p>
            <a:pPr algn="ctr" indent="0" lvl="0" marL="0" rtl="0">
              <a:spcBef>
                <a:spcPts val="0"/>
              </a:spcBef>
              <a:spcAft>
                <a:spcPts val="0"/>
              </a:spcAft>
              <a:buNone/>
            </a:pPr>
            <a:r>
              <a:rPr lang="en" sz="2100"/>
              <a:t>Budget Breakout by Month (For Next 12 Months)</a:t>
            </a:r>
            <a:endParaRPr sz="2100"/>
          </a:p>
          <a:p>
            <a:pPr algn="ctr" indent="0" lvl="0" marL="0" rtl="0">
              <a:spcBef>
                <a:spcPts val="0"/>
              </a:spcBef>
              <a:spcAft>
                <a:spcPts val="0"/>
              </a:spcAft>
              <a:buNone/>
            </a:pPr>
            <a:r>
              <a:rPr lang="en" sz="2100"/>
              <a:t>Proposed Media Plan: station</a:t>
            </a:r>
            <a:endParaRPr sz="2100"/>
          </a:p>
        </p:txBody>
      </p:sp>
      <p:pic>
        <p:nvPicPr>
          <p:cNvPr id="449" name="Google Shape;449;p39"/>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Station</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Days</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DayPart</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Weekly Commercials</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l" indent="0" lvl="0" marL="0" rtl="0">
                        <a:spcBef>
                          <a:spcPts val="0"/>
                        </a:spcBef>
                        <a:spcAft>
                          <a:spcPts val="0"/>
                        </a:spcAft>
                        <a:buNone/>
                      </a:pPr>
                      <a:endParaRPr/>
                    </a:p>
                  </a:txBody>
                  <a:tcPr anchor="b" marB="19050" marL="28575" marR="28575" marT="19050"/>
                </a:tc>
                <a:tc>
                  <a:txBody>
                    <a:bodyPr/>
                    <a:lstStyle/>
                    <a:p>
                      <a:pPr algn="ctr" indent="0" lvl="0" marL="0" rtl="0">
                        <a:lnSpc>
                          <a:spcPct val="115000"/>
                        </a:lnSpc>
                        <a:spcBef>
                          <a:spcPts val="0"/>
                        </a:spcBef>
                        <a:spcAft>
                          <a:spcPts val="0"/>
                        </a:spcAft>
                        <a:buNone/>
                      </a:pPr>
                      <a:r>
                        <a:rPr b="1" i="1" lang="en" sz="1200" u="sng">
                          <a:latin typeface="Verdana"/>
                          <a:ea typeface="Verdana"/>
                          <a:cs typeface="Verdana"/>
                          <a:sym typeface="Verdana"/>
                        </a:rPr>
                        <a:t>Branding Months</a:t>
                      </a:r>
                      <a:endParaRPr b="1" i="1" sz="1200" u="sng">
                        <a:latin typeface="Verdana"/>
                        <a:ea typeface="Verdana"/>
                        <a:cs typeface="Verdana"/>
                        <a:sym typeface="Verdana"/>
                      </a:endParaRPr>
                    </a:p>
                  </a:txBody>
                  <a:tcPr anchor="b" marB="19050" marL="28575" marR="28575" marT="19050"/>
                </a:tc>
                <a:extLst>
                  <a:ext uri="{0D108BD9-81ED-4DB2-BD59-A6C34878D82A}">
                    <a16:rowId xmlns:a16="http://schemas.microsoft.com/office/drawing/2014/main" val="10000"/>
                  </a:ext>
                </a:extLst>
              </a:tr>
              <a:tr h="2521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anchor="ctr"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#Week/Months:</a:t>
                      </a:r>
                      <a:endParaRPr b="1" sz="1000">
                        <a:latin typeface="Verdana"/>
                        <a:ea typeface="Verdana"/>
                        <a:cs typeface="Verdana"/>
                        <a:sym typeface="Verdana"/>
                      </a:endParaRPr>
                    </a:p>
                  </a:txBody>
                  <a:tcPr anchor="ctr" marB="19050" marL="28575" marR="28575" marT="19050">
                    <a:solidFill>
                      <a:srgbClr val="C9DAF8"/>
                    </a:solidFill>
                  </a:tcPr>
                </a:tc>
                <a:extLst>
                  <a:ext uri="{0D108BD9-81ED-4DB2-BD59-A6C34878D82A}">
                    <a16:rowId xmlns:a16="http://schemas.microsoft.com/office/drawing/2014/main" val="10001"/>
                  </a:ext>
                </a:extLst>
              </a:tr>
              <a:tr h="2521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algn="ctr" indent="0" lvl="0" marL="0"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anchor="ctr"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anchor="ctr" marB="19050" marL="28575" marR="28575" marT="19050"/>
                </a:tc>
                <a:extLst>
                  <a:ext uri="{0D108BD9-81ED-4DB2-BD59-A6C34878D82A}">
                    <a16:rowId xmlns:a16="http://schemas.microsoft.com/office/drawing/2014/main" val="10002"/>
                  </a:ext>
                </a:extLst>
              </a:tr>
              <a:tr h="2521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anchor="ctr"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Base Investment:</a:t>
                      </a:r>
                      <a:endParaRPr b="1" sz="1000">
                        <a:latin typeface="Verdana"/>
                        <a:ea typeface="Verdana"/>
                        <a:cs typeface="Verdana"/>
                        <a:sym typeface="Verdana"/>
                      </a:endParaRPr>
                    </a:p>
                  </a:txBody>
                  <a:tcPr anchor="ctr" marB="19050" marL="28575" marR="28575" marT="19050">
                    <a:solidFill>
                      <a:srgbClr val="C9DAF8"/>
                    </a:solidFill>
                  </a:tcPr>
                </a:tc>
                <a:extLst>
                  <a:ext uri="{0D108BD9-81ED-4DB2-BD59-A6C34878D82A}">
                    <a16:rowId xmlns:a16="http://schemas.microsoft.com/office/drawing/2014/main" val="10003"/>
                  </a:ext>
                </a:extLst>
              </a:tr>
              <a:tr h="2521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anchor="ctr"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anchor="ctr" marB="19050" marL="28575" marR="28575" marT="19050"/>
                </a:tc>
                <a:extLst>
                  <a:ext uri="{0D108BD9-81ED-4DB2-BD59-A6C34878D82A}">
                    <a16:rowId xmlns:a16="http://schemas.microsoft.com/office/drawing/2014/main" val="10004"/>
                  </a:ext>
                </a:extLst>
              </a:tr>
              <a:tr h="2521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anchor="ctr"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Total # of Commercials</a:t>
                      </a:r>
                      <a:endParaRPr b="1" sz="1000">
                        <a:latin typeface="Verdana"/>
                        <a:ea typeface="Verdana"/>
                        <a:cs typeface="Verdana"/>
                        <a:sym typeface="Verdana"/>
                      </a:endParaRPr>
                    </a:p>
                  </a:txBody>
                  <a:tcPr anchor="ctr" marB="19050" marL="28575" marR="28575" marT="19050">
                    <a:solidFill>
                      <a:srgbClr val="C9DAF8"/>
                    </a:solidFill>
                  </a:tcPr>
                </a:tc>
                <a:extLst>
                  <a:ext uri="{0D108BD9-81ED-4DB2-BD59-A6C34878D82A}">
                    <a16:rowId xmlns:a16="http://schemas.microsoft.com/office/drawing/2014/main" val="10005"/>
                  </a:ext>
                </a:extLst>
              </a:tr>
              <a:tr h="2521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anchor="ctr" marB="19050" marL="28575" marR="28575" marT="19050">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anchor="ctr" marB="19050" marL="28575" marR="28575" marT="19050">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anchor="ctr" marB="19050" marL="28575" marR="28575" marT="19050">
                    <a:lnB cap="flat" cmpd="sng" w="9525">
                      <a:solidFill>
                        <a:srgbClr val="000000"/>
                      </a:solidFill>
                      <a:prstDash val="solid"/>
                      <a:round/>
                      <a:headEnd len="sm" type="none" w="sm"/>
                      <a:tailEnd len="sm" type="none" w="sm"/>
                    </a:lnB>
                  </a:tcPr>
                </a:tc>
                <a:tc>
                  <a:txBody>
                    <a:bodyPr/>
                    <a:lstStyle/>
                    <a:p>
                      <a:pPr algn="l" indent="0" lvl="0" marL="0" rtl="0">
                        <a:spcBef>
                          <a:spcPts val="0"/>
                        </a:spcBef>
                        <a:spcAft>
                          <a:spcPts val="0"/>
                        </a:spcAft>
                        <a:buNone/>
                      </a:pPr>
                      <a:endParaRPr/>
                    </a:p>
                  </a:txBody>
                  <a:tcPr anchor="b" marB="19050" marL="28575" marR="28575" marT="19050">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anchor="ctr" marB="19050" marL="28575" marR="28575" marT="19050">
                    <a:lnB cap="flat" cmpd="sng" w="9525">
                      <a:solidFill>
                        <a:srgbClr val="000000"/>
                      </a:solidFill>
                      <a:prstDash val="solid"/>
                      <a:round/>
                      <a:headEnd len="sm" type="none" w="sm"/>
                      <a:tailEnd len="sm" type="none" w="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Station</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Days</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DayPart</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Weekly Commercials</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l" indent="0" lvl="0" marL="0" rtl="0">
                        <a:spcBef>
                          <a:spcPts val="0"/>
                        </a:spcBef>
                        <a:spcAft>
                          <a:spcPts val="0"/>
                        </a:spcAft>
                        <a:buNone/>
                      </a:pPr>
                      <a:endParaRPr/>
                    </a:p>
                  </a:txBody>
                  <a:tcPr anchor="b" marB="19050" marL="28575" marR="28575" marT="19050"/>
                </a:tc>
                <a:tc>
                  <a:txBody>
                    <a:bodyPr/>
                    <a:lstStyle/>
                    <a:p>
                      <a:pPr algn="ctr" indent="0" lvl="0" marL="0" rtl="0">
                        <a:lnSpc>
                          <a:spcPct val="115000"/>
                        </a:lnSpc>
                        <a:spcBef>
                          <a:spcPts val="0"/>
                        </a:spcBef>
                        <a:spcAft>
                          <a:spcPts val="0"/>
                        </a:spcAft>
                        <a:buNone/>
                      </a:pPr>
                      <a:r>
                        <a:rPr b="1" i="1" lang="en" sz="1200" u="sng">
                          <a:latin typeface="Verdana"/>
                          <a:ea typeface="Verdana"/>
                          <a:cs typeface="Verdana"/>
                          <a:sym typeface="Verdana"/>
                        </a:rPr>
                        <a:t>Spike Months</a:t>
                      </a:r>
                      <a:endParaRPr b="1" i="1" sz="1200" u="sng">
                        <a:latin typeface="Verdana"/>
                        <a:ea typeface="Verdana"/>
                        <a:cs typeface="Verdana"/>
                        <a:sym typeface="Verdana"/>
                      </a:endParaRPr>
                    </a:p>
                  </a:txBody>
                  <a:tcPr anchor="ctr" marB="19050" marL="28575" marR="28575" marT="19050"/>
                </a:tc>
                <a:extLst>
                  <a:ext uri="{0D108BD9-81ED-4DB2-BD59-A6C34878D82A}">
                    <a16:rowId xmlns:a16="http://schemas.microsoft.com/office/drawing/2014/main" val="10000"/>
                  </a:ext>
                </a:extLst>
              </a:tr>
              <a:tr h="2521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anchor="ctr"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#Week/Months:</a:t>
                      </a:r>
                      <a:endParaRPr b="1" sz="1000">
                        <a:latin typeface="Verdana"/>
                        <a:ea typeface="Verdana"/>
                        <a:cs typeface="Verdana"/>
                        <a:sym typeface="Verdana"/>
                      </a:endParaRPr>
                    </a:p>
                  </a:txBody>
                  <a:tcPr anchor="ctr" marB="19050" marL="28575" marR="28575" marT="19050">
                    <a:solidFill>
                      <a:srgbClr val="C9DAF8"/>
                    </a:solidFill>
                  </a:tcPr>
                </a:tc>
                <a:extLst>
                  <a:ext uri="{0D108BD9-81ED-4DB2-BD59-A6C34878D82A}">
                    <a16:rowId xmlns:a16="http://schemas.microsoft.com/office/drawing/2014/main" val="10001"/>
                  </a:ext>
                </a:extLst>
              </a:tr>
              <a:tr h="2521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anchor="ctr"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anchor="ctr" marB="19050" marL="28575" marR="28575" marT="19050"/>
                </a:tc>
                <a:extLst>
                  <a:ext uri="{0D108BD9-81ED-4DB2-BD59-A6C34878D82A}">
                    <a16:rowId xmlns:a16="http://schemas.microsoft.com/office/drawing/2014/main" val="10002"/>
                  </a:ext>
                </a:extLst>
              </a:tr>
              <a:tr h="2521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anchor="ctr"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Continuity Investment:</a:t>
                      </a:r>
                      <a:endParaRPr b="1" sz="1000">
                        <a:latin typeface="Verdana"/>
                        <a:ea typeface="Verdana"/>
                        <a:cs typeface="Verdana"/>
                        <a:sym typeface="Verdana"/>
                      </a:endParaRPr>
                    </a:p>
                  </a:txBody>
                  <a:tcPr anchor="ctr" marB="19050" marL="28575" marR="28575" marT="19050">
                    <a:solidFill>
                      <a:srgbClr val="C9DAF8"/>
                    </a:solidFill>
                  </a:tcPr>
                </a:tc>
                <a:extLst>
                  <a:ext uri="{0D108BD9-81ED-4DB2-BD59-A6C34878D82A}">
                    <a16:rowId xmlns:a16="http://schemas.microsoft.com/office/drawing/2014/main" val="10003"/>
                  </a:ext>
                </a:extLst>
              </a:tr>
              <a:tr h="2521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anchor="ctr"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anchor="ctr" marB="19050" marL="28575" marR="28575" marT="19050"/>
                </a:tc>
                <a:extLst>
                  <a:ext uri="{0D108BD9-81ED-4DB2-BD59-A6C34878D82A}">
                    <a16:rowId xmlns:a16="http://schemas.microsoft.com/office/drawing/2014/main" val="10004"/>
                  </a:ext>
                </a:extLst>
              </a:tr>
              <a:tr h="2521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anchor="ctr"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Total # of Commercials</a:t>
                      </a:r>
                      <a:endParaRPr b="1" sz="1000">
                        <a:latin typeface="Verdana"/>
                        <a:ea typeface="Verdana"/>
                        <a:cs typeface="Verdana"/>
                        <a:sym typeface="Verdana"/>
                      </a:endParaRPr>
                    </a:p>
                  </a:txBody>
                  <a:tcPr anchor="ctr" marB="19050" marL="28575" marR="28575" marT="19050">
                    <a:solidFill>
                      <a:srgbClr val="C9DAF8"/>
                    </a:solidFill>
                  </a:tcPr>
                </a:tc>
                <a:extLst>
                  <a:ext uri="{0D108BD9-81ED-4DB2-BD59-A6C34878D82A}">
                    <a16:rowId xmlns:a16="http://schemas.microsoft.com/office/drawing/2014/main" val="10005"/>
                  </a:ext>
                </a:extLst>
              </a:tr>
              <a:tr h="2521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anchor="ctr" marB="19050" marL="28575" marR="28575" marT="19050">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anchor="ctr" marB="19050" marL="28575" marR="28575" marT="19050">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anchor="ctr" marB="19050" marL="28575" marR="28575" marT="19050">
                    <a:lnB cap="flat" cmpd="sng" w="9525">
                      <a:solidFill>
                        <a:srgbClr val="000000"/>
                      </a:solidFill>
                      <a:prstDash val="solid"/>
                      <a:round/>
                      <a:headEnd len="sm" type="none" w="sm"/>
                      <a:tailEnd len="sm" type="none" w="sm"/>
                    </a:lnB>
                  </a:tcPr>
                </a:tc>
                <a:tc>
                  <a:txBody>
                    <a:bodyPr/>
                    <a:lstStyle/>
                    <a:p>
                      <a:pPr algn="l" indent="0" lvl="0" marL="0" rtl="0">
                        <a:spcBef>
                          <a:spcPts val="0"/>
                        </a:spcBef>
                        <a:spcAft>
                          <a:spcPts val="0"/>
                        </a:spcAft>
                        <a:buNone/>
                      </a:pPr>
                      <a:endParaRPr/>
                    </a:p>
                  </a:txBody>
                  <a:tcPr anchor="b" marB="19050" marL="28575" marR="28575" marT="19050">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anchor="ctr" marB="19050" marL="28575" marR="28575" marT="19050">
                    <a:lnB cap="flat" cmpd="sng" w="9525">
                      <a:solidFill>
                        <a:srgbClr val="000000"/>
                      </a:solidFill>
                      <a:prstDash val="solid"/>
                      <a:round/>
                      <a:headEnd len="sm" type="none" w="sm"/>
                      <a:tailEnd len="sm" type="none" w="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Station</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Days</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DayPart</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Weekly Commercials</a:t>
                      </a:r>
                      <a:endParaRPr b="1" sz="1000">
                        <a:latin typeface="Verdana"/>
                        <a:ea typeface="Verdana"/>
                        <a:cs typeface="Verdana"/>
                        <a:sym typeface="Verdana"/>
                      </a:endParaRPr>
                    </a:p>
                  </a:txBody>
                  <a:tcPr anchor="ctr" marB="19050" marL="28575" marR="28575" marT="19050">
                    <a:solidFill>
                      <a:srgbClr val="C9DAF8"/>
                    </a:solidFill>
                  </a:tcPr>
                </a:tc>
                <a:tc>
                  <a:txBody>
                    <a:bodyPr/>
                    <a:lstStyle/>
                    <a:p>
                      <a:pPr algn="l" indent="0" lvl="0" marL="0" rtl="0">
                        <a:spcBef>
                          <a:spcPts val="0"/>
                        </a:spcBef>
                        <a:spcAft>
                          <a:spcPts val="0"/>
                        </a:spcAft>
                        <a:buNone/>
                      </a:pPr>
                      <a:endParaRPr/>
                    </a:p>
                  </a:txBody>
                  <a:tcPr anchor="b" marB="19050" marL="28575" marR="28575" marT="19050"/>
                </a:tc>
                <a:tc>
                  <a:txBody>
                    <a:bodyPr/>
                    <a:lstStyle/>
                    <a:p>
                      <a:pPr algn="ctr" indent="0" lvl="0" marL="0" rtl="0">
                        <a:lnSpc>
                          <a:spcPct val="115000"/>
                        </a:lnSpc>
                        <a:spcBef>
                          <a:spcPts val="0"/>
                        </a:spcBef>
                        <a:spcAft>
                          <a:spcPts val="0"/>
                        </a:spcAft>
                        <a:buNone/>
                      </a:pPr>
                      <a:r>
                        <a:rPr b="1" i="1" lang="en" sz="1200" u="sng">
                          <a:latin typeface="Verdana"/>
                          <a:ea typeface="Verdana"/>
                          <a:cs typeface="Verdana"/>
                          <a:sym typeface="Verdana"/>
                        </a:rPr>
                        <a:t>Slow Months</a:t>
                      </a:r>
                      <a:endParaRPr b="1" i="1" sz="1200" u="sng">
                        <a:latin typeface="Verdana"/>
                        <a:ea typeface="Verdana"/>
                        <a:cs typeface="Verdana"/>
                        <a:sym typeface="Verdana"/>
                      </a:endParaRPr>
                    </a:p>
                  </a:txBody>
                  <a:tcPr anchor="ctr" marB="19050" marL="28575" marR="28575" marT="19050"/>
                </a:tc>
                <a:extLst>
                  <a:ext uri="{0D108BD9-81ED-4DB2-BD59-A6C34878D82A}">
                    <a16:rowId xmlns:a16="http://schemas.microsoft.com/office/drawing/2014/main" val="10000"/>
                  </a:ext>
                </a:extLst>
              </a:tr>
              <a:tr h="251450">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anchor="ctr"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#Week/Months:</a:t>
                      </a:r>
                      <a:endParaRPr b="1" sz="1000">
                        <a:latin typeface="Verdana"/>
                        <a:ea typeface="Verdana"/>
                        <a:cs typeface="Verdana"/>
                        <a:sym typeface="Verdana"/>
                      </a:endParaRPr>
                    </a:p>
                  </a:txBody>
                  <a:tcPr anchor="ctr" marB="19050" marL="28575" marR="28575" marT="19050">
                    <a:solidFill>
                      <a:srgbClr val="C9DAF8"/>
                    </a:solidFill>
                  </a:tcPr>
                </a:tc>
                <a:extLst>
                  <a:ext uri="{0D108BD9-81ED-4DB2-BD59-A6C34878D82A}">
                    <a16:rowId xmlns:a16="http://schemas.microsoft.com/office/drawing/2014/main" val="10001"/>
                  </a:ext>
                </a:extLst>
              </a:tr>
              <a:tr h="251450">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anchor="ctr"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anchor="ctr" marB="19050" marL="28575" marR="28575" marT="19050"/>
                </a:tc>
                <a:extLst>
                  <a:ext uri="{0D108BD9-81ED-4DB2-BD59-A6C34878D82A}">
                    <a16:rowId xmlns:a16="http://schemas.microsoft.com/office/drawing/2014/main" val="10002"/>
                  </a:ext>
                </a:extLst>
              </a:tr>
              <a:tr h="3524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anchor="ctr"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Average Spike Investment:</a:t>
                      </a:r>
                      <a:endParaRPr b="1" sz="1000">
                        <a:latin typeface="Verdana"/>
                        <a:ea typeface="Verdana"/>
                        <a:cs typeface="Verdana"/>
                        <a:sym typeface="Verdana"/>
                      </a:endParaRPr>
                    </a:p>
                  </a:txBody>
                  <a:tcPr anchor="ctr" marB="19050" marL="28575" marR="28575" marT="19050">
                    <a:solidFill>
                      <a:srgbClr val="C9DAF8"/>
                    </a:solidFill>
                  </a:tcPr>
                </a:tc>
                <a:extLst>
                  <a:ext uri="{0D108BD9-81ED-4DB2-BD59-A6C34878D82A}">
                    <a16:rowId xmlns:a16="http://schemas.microsoft.com/office/drawing/2014/main" val="10003"/>
                  </a:ext>
                </a:extLst>
              </a:tr>
              <a:tr h="251450">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anchor="ctr"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anchor="ctr" marB="19050" marL="28575" marR="28575" marT="19050"/>
                </a:tc>
                <a:extLst>
                  <a:ext uri="{0D108BD9-81ED-4DB2-BD59-A6C34878D82A}">
                    <a16:rowId xmlns:a16="http://schemas.microsoft.com/office/drawing/2014/main" val="10004"/>
                  </a:ext>
                </a:extLst>
              </a:tr>
              <a:tr h="251450">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anchor="ctr"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Total # of Commercials</a:t>
                      </a:r>
                      <a:endParaRPr b="1" sz="1000">
                        <a:latin typeface="Verdana"/>
                        <a:ea typeface="Verdana"/>
                        <a:cs typeface="Verdana"/>
                        <a:sym typeface="Verdana"/>
                      </a:endParaRPr>
                    </a:p>
                  </a:txBody>
                  <a:tcPr anchor="ctr" marB="19050" marL="28575" marR="28575" marT="19050">
                    <a:solidFill>
                      <a:srgbClr val="C9DAF8"/>
                    </a:solidFill>
                  </a:tcPr>
                </a:tc>
                <a:extLst>
                  <a:ext uri="{0D108BD9-81ED-4DB2-BD59-A6C34878D82A}">
                    <a16:rowId xmlns:a16="http://schemas.microsoft.com/office/drawing/2014/main" val="10005"/>
                  </a:ext>
                </a:extLst>
              </a:tr>
              <a:tr h="251450">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anchor="ctr"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anchor="ctr" marB="19050" marL="28575" marR="28575" marT="19050"/>
                </a:tc>
                <a:tc>
                  <a:txBody>
                    <a:bodyPr/>
                    <a:lstStyle/>
                    <a:p>
                      <a:pPr algn="l" indent="0" lvl="0" marL="0" rtl="0">
                        <a:spcBef>
                          <a:spcPts val="0"/>
                        </a:spcBef>
                        <a:spcAft>
                          <a:spcPts val="0"/>
                        </a:spcAft>
                        <a:buNone/>
                      </a:pPr>
                      <a:endParaRPr/>
                    </a:p>
                  </a:txBody>
                  <a:tcPr anchor="b" marB="19050" marL="28575" marR="28575" marT="19050"/>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anchor="ctr" marB="19050" marL="28575" marR="28575" marT="19050"/>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Station</a:t>
                      </a:r>
                      <a:endParaRPr b="1"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C9DAF8"/>
                    </a:solidFill>
                  </a:tcPr>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Days</a:t>
                      </a:r>
                      <a:endParaRPr b="1"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C9DAF8"/>
                    </a:solidFill>
                  </a:tcPr>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DayPart</a:t>
                      </a:r>
                      <a:endParaRPr b="1"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C9DAF8"/>
                    </a:solidFill>
                  </a:tcPr>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Weekly Commercials</a:t>
                      </a:r>
                      <a:endParaRPr b="1"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C9DAF8"/>
                    </a:solidFill>
                  </a:tcPr>
                </a:tc>
                <a:tc>
                  <a:txBody>
                    <a:bodyPr/>
                    <a:lstStyle/>
                    <a:p>
                      <a:pPr algn="l" indent="0" lvl="0" marL="0" rtl="0">
                        <a:spcBef>
                          <a:spcPts val="0"/>
                        </a:spcBef>
                        <a:spcAft>
                          <a:spcPts val="0"/>
                        </a:spcAft>
                        <a:buNone/>
                      </a:pPr>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marR="0" rtl="0">
                        <a:lnSpc>
                          <a:spcPct val="115000"/>
                        </a:lnSpc>
                        <a:spcBef>
                          <a:spcPts val="0"/>
                        </a:spcBef>
                        <a:spcAft>
                          <a:spcPts val="0"/>
                        </a:spcAft>
                        <a:buNone/>
                      </a:pPr>
                      <a:r>
                        <a:rPr b="1" i="1" lang="en" sz="1200" u="sng">
                          <a:latin typeface="Verdana"/>
                          <a:ea typeface="Verdana"/>
                          <a:cs typeface="Verdana"/>
                          <a:sym typeface="Verdana"/>
                        </a:rPr>
                        <a:t>Branding Months</a:t>
                      </a:r>
                      <a:endParaRPr b="1" i="1" sz="1200" u="sng">
                        <a:latin typeface="Verdana"/>
                        <a:ea typeface="Verdana"/>
                        <a:cs typeface="Verdana"/>
                        <a:sym typeface="Verdana"/>
                      </a:endParaRPr>
                    </a:p>
                  </a:txBody>
                  <a:tcPr anchor="b" marB="19050" marL="91425" marR="91425" marT="19050">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l" indent="0" lvl="0" marL="0" rtl="0">
                        <a:spcBef>
                          <a:spcPts val="0"/>
                        </a:spcBef>
                        <a:spcAft>
                          <a:spcPts val="0"/>
                        </a:spcAft>
                        <a:buNone/>
                      </a:pPr>
                      <a:endParaRPr/>
                    </a:p>
                  </a:txBody>
                  <a:tcPr anchor="b" marB="19050" marL="28575" marR="28575" marT="19050">
                    <a:lnL cap="flat" cmpd="sng" w="9525">
                      <a:solidFill>
                        <a:srgbClr val="000000"/>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extLst>
                  <a:ext uri="{0D108BD9-81ED-4DB2-BD59-A6C34878D82A}">
                    <a16:rowId xmlns:a16="http://schemas.microsoft.com/office/drawing/2014/main" val="10000"/>
                  </a:ext>
                </a:extLst>
              </a:tr>
              <a:tr h="2000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l" indent="0" lvl="0" marL="0" rtl="0">
                        <a:spcBef>
                          <a:spcPts val="0"/>
                        </a:spcBef>
                        <a:spcAft>
                          <a:spcPts val="0"/>
                        </a:spcAft>
                        <a:buNone/>
                      </a:pPr>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marR="0" rtl="0">
                        <a:lnSpc>
                          <a:spcPct val="115000"/>
                        </a:lnSpc>
                        <a:spcBef>
                          <a:spcPts val="0"/>
                        </a:spcBef>
                        <a:spcAft>
                          <a:spcPts val="0"/>
                        </a:spcAft>
                        <a:buNone/>
                      </a:pPr>
                      <a:r>
                        <a:rPr b="1" lang="en" sz="1000">
                          <a:latin typeface="Verdana"/>
                          <a:ea typeface="Verdana"/>
                          <a:cs typeface="Verdana"/>
                          <a:sym typeface="Verdana"/>
                        </a:rPr>
                        <a:t>#Week/Months:</a:t>
                      </a:r>
                      <a:endParaRPr b="1" sz="1000">
                        <a:latin typeface="Verdana"/>
                        <a:ea typeface="Verdana"/>
                        <a:cs typeface="Verdana"/>
                        <a:sym typeface="Verdana"/>
                      </a:endParaRPr>
                    </a:p>
                  </a:txBody>
                  <a:tcPr anchor="ctr" marB="19050" marL="91425" marR="91425" marT="19050">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C9DAF8"/>
                    </a:solidFill>
                  </a:tcPr>
                </a:tc>
                <a:tc>
                  <a:txBody>
                    <a:bodyPr/>
                    <a:lstStyle/>
                    <a:p>
                      <a:pPr algn="l" indent="0" lvl="0" marL="0" rtl="0">
                        <a:spcBef>
                          <a:spcPts val="0"/>
                        </a:spcBef>
                        <a:spcAft>
                          <a:spcPts val="0"/>
                        </a:spcAft>
                        <a:buNone/>
                      </a:pPr>
                      <a:endParaRPr/>
                    </a:p>
                  </a:txBody>
                  <a:tcPr anchor="b" marB="19050" marL="28575" marR="28575" marT="19050">
                    <a:lnL cap="flat" cmpd="sng" w="9525">
                      <a:solidFill>
                        <a:srgbClr val="000000"/>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extLst>
                  <a:ext uri="{0D108BD9-81ED-4DB2-BD59-A6C34878D82A}">
                    <a16:rowId xmlns:a16="http://schemas.microsoft.com/office/drawing/2014/main" val="10001"/>
                  </a:ext>
                </a:extLst>
              </a:tr>
              <a:tr h="2000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l" indent="0" lvl="0" marL="0" rtl="0">
                        <a:spcBef>
                          <a:spcPts val="0"/>
                        </a:spcBef>
                        <a:spcAft>
                          <a:spcPts val="0"/>
                        </a:spcAft>
                        <a:buNone/>
                      </a:pPr>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l" indent="0" lvl="0" marL="0" rtl="0">
                        <a:spcBef>
                          <a:spcPts val="0"/>
                        </a:spcBef>
                        <a:spcAft>
                          <a:spcPts val="0"/>
                        </a:spcAft>
                        <a:buNone/>
                      </a:pPr>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extLst>
                  <a:ext uri="{0D108BD9-81ED-4DB2-BD59-A6C34878D82A}">
                    <a16:rowId xmlns:a16="http://schemas.microsoft.com/office/drawing/2014/main" val="10002"/>
                  </a:ext>
                </a:extLst>
              </a:tr>
              <a:tr h="2000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l" indent="0" lvl="0" marL="0" rtl="0">
                        <a:spcBef>
                          <a:spcPts val="0"/>
                        </a:spcBef>
                        <a:spcAft>
                          <a:spcPts val="0"/>
                        </a:spcAft>
                        <a:buNone/>
                      </a:pPr>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marR="0" rtl="0">
                        <a:lnSpc>
                          <a:spcPct val="115000"/>
                        </a:lnSpc>
                        <a:spcBef>
                          <a:spcPts val="0"/>
                        </a:spcBef>
                        <a:spcAft>
                          <a:spcPts val="0"/>
                        </a:spcAft>
                        <a:buNone/>
                      </a:pPr>
                      <a:r>
                        <a:rPr b="1" lang="en" sz="1000">
                          <a:latin typeface="Verdana"/>
                          <a:ea typeface="Verdana"/>
                          <a:cs typeface="Verdana"/>
                          <a:sym typeface="Verdana"/>
                        </a:rPr>
                        <a:t>Base Investment:</a:t>
                      </a:r>
                      <a:endParaRPr b="1" sz="1000">
                        <a:latin typeface="Verdana"/>
                        <a:ea typeface="Verdana"/>
                        <a:cs typeface="Verdana"/>
                        <a:sym typeface="Verdana"/>
                      </a:endParaRPr>
                    </a:p>
                  </a:txBody>
                  <a:tcPr anchor="ctr" marB="19050" marL="91425" marR="91425" marT="19050">
                    <a:lnL cap="flat" cmpd="sng" w="9525">
                      <a:solidFill>
                        <a:srgbClr val="000000"/>
                      </a:solidFill>
                      <a:prstDash val="solid"/>
                      <a:round/>
                      <a:headEnd len="sm" type="none" w="sm"/>
                      <a:tailEnd len="sm" type="none" w="sm"/>
                    </a:lnL>
                    <a:lnR cap="flat" cmpd="sng" w="9525">
                      <a:solidFill>
                        <a:srgbClr val="000000"/>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C9DAF8"/>
                    </a:solidFill>
                  </a:tcPr>
                </a:tc>
                <a:tc>
                  <a:txBody>
                    <a:bodyPr/>
                    <a:lstStyle/>
                    <a:p>
                      <a:pPr algn="l" indent="0" lvl="0" marL="0" rtl="0">
                        <a:spcBef>
                          <a:spcPts val="0"/>
                        </a:spcBef>
                        <a:spcAft>
                          <a:spcPts val="0"/>
                        </a:spcAft>
                        <a:buNone/>
                      </a:pPr>
                      <a:endParaRPr/>
                    </a:p>
                  </a:txBody>
                  <a:tcPr anchor="b" marB="19050" marL="28575" marR="28575" marT="19050">
                    <a:lnL cap="flat" cmpd="sng" w="9525">
                      <a:solidFill>
                        <a:srgbClr val="000000"/>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extLst>
                  <a:ext uri="{0D108BD9-81ED-4DB2-BD59-A6C34878D82A}">
                    <a16:rowId xmlns:a16="http://schemas.microsoft.com/office/drawing/2014/main" val="10003"/>
                  </a:ext>
                </a:extLst>
              </a:tr>
              <a:tr h="2000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l" indent="0" lvl="0" marL="0" rtl="0">
                        <a:spcBef>
                          <a:spcPts val="0"/>
                        </a:spcBef>
                        <a:spcAft>
                          <a:spcPts val="0"/>
                        </a:spcAft>
                        <a:buNone/>
                      </a:pPr>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l" indent="0" lvl="0" marL="0" rtl="0">
                        <a:spcBef>
                          <a:spcPts val="0"/>
                        </a:spcBef>
                        <a:spcAft>
                          <a:spcPts val="0"/>
                        </a:spcAft>
                        <a:buNone/>
                      </a:pPr>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extLst>
                  <a:ext uri="{0D108BD9-81ED-4DB2-BD59-A6C34878D82A}">
                    <a16:rowId xmlns:a16="http://schemas.microsoft.com/office/drawing/2014/main" val="10004"/>
                  </a:ext>
                </a:extLst>
              </a:tr>
              <a:tr h="5048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l" indent="0" lvl="0" marL="0" rtl="0">
                        <a:spcBef>
                          <a:spcPts val="0"/>
                        </a:spcBef>
                        <a:spcAft>
                          <a:spcPts val="0"/>
                        </a:spcAft>
                        <a:buNone/>
                      </a:pPr>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b="1" lang="en" sz="1000">
                          <a:latin typeface="Verdana"/>
                          <a:ea typeface="Verdana"/>
                          <a:cs typeface="Verdana"/>
                          <a:sym typeface="Verdana"/>
                        </a:rPr>
                        <a:t>Total # of Commercials</a:t>
                      </a:r>
                      <a:endParaRPr b="1"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C9DAF8"/>
                    </a:solidFill>
                  </a:tcPr>
                </a:tc>
                <a:tc>
                  <a:txBody>
                    <a:bodyPr/>
                    <a:lstStyle/>
                    <a:p>
                      <a:pPr algn="l" indent="0" lvl="0" marL="0" rtl="0">
                        <a:spcBef>
                          <a:spcPts val="0"/>
                        </a:spcBef>
                        <a:spcAft>
                          <a:spcPts val="0"/>
                        </a:spcAft>
                        <a:buNone/>
                      </a:pPr>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extLst>
                  <a:ext uri="{0D108BD9-81ED-4DB2-BD59-A6C34878D82A}">
                    <a16:rowId xmlns:a16="http://schemas.microsoft.com/office/drawing/2014/main" val="10005"/>
                  </a:ext>
                </a:extLst>
              </a:tr>
              <a:tr h="200025">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l" indent="0" lvl="0" marL="0" rtl="0">
                        <a:spcBef>
                          <a:spcPts val="0"/>
                        </a:spcBef>
                        <a:spcAft>
                          <a:spcPts val="0"/>
                        </a:spcAft>
                        <a:buNone/>
                      </a:pPr>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anchor="ctr"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000000"/>
                      </a:solidFill>
                      <a:prstDash val="solid"/>
                      <a:round/>
                      <a:headEnd len="sm" type="none" w="sm"/>
                      <a:tailEnd len="sm" type="none" w="sm"/>
                    </a:lnB>
                  </a:tcPr>
                </a:tc>
                <a:tc>
                  <a:txBody>
                    <a:bodyPr/>
                    <a:lstStyle/>
                    <a:p>
                      <a:pPr algn="l" indent="0" lvl="0" marL="0" rtl="0">
                        <a:spcBef>
                          <a:spcPts val="0"/>
                        </a:spcBef>
                        <a:spcAft>
                          <a:spcPts val="0"/>
                        </a:spcAft>
                        <a:buNone/>
                      </a:pPr>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b="1" lang="en" sz="2400">
                <a:solidFill>
                  <a:schemeClr val="dk1"/>
                </a:solidFill>
                <a:latin typeface="Verdana"/>
                <a:ea typeface="Verdana"/>
                <a:cs typeface="Verdana"/>
                <a:sym typeface="Verdana"/>
              </a:rPr>
              <a:t>clientBusinessName</a:t>
            </a:r>
            <a:endParaRPr b="1" sz="2400">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anchor="ctr" anchorCtr="0" bIns="91425" lIns="91425" rIns="91425" spcFirstLastPara="1" tIns="91425" wrap="square">
            <a:noAutofit/>
          </a:bodyPr>
          <a:lstStyle/>
          <a:p>
            <a:pPr algn="ctr" indent="0" lvl="0" marL="0" rtl="0">
              <a:spcBef>
                <a:spcPts val="0"/>
              </a:spcBef>
              <a:spcAft>
                <a:spcPts val="0"/>
              </a:spcAft>
              <a:buNone/>
            </a:pPr>
            <a:r>
              <a:rPr b="1" lang="en" sz="2000">
                <a:solidFill>
                  <a:schemeClr val="dk1"/>
                </a:solidFill>
                <a:latin typeface="Verdana"/>
                <a:ea typeface="Verdana"/>
                <a:cs typeface="Verdana"/>
                <a:sym typeface="Verdana"/>
              </a:rPr>
              <a:t>Brand Equity Schedule </a:t>
            </a:r>
            <a:endParaRPr b="1" sz="2000">
              <a:solidFill>
                <a:schemeClr val="dk1"/>
              </a:solidFill>
              <a:latin typeface="Verdana"/>
              <a:ea typeface="Verdana"/>
              <a:cs typeface="Verdana"/>
              <a:sym typeface="Verdana"/>
            </a:endParaRPr>
          </a:p>
          <a:p>
            <a:pPr algn="ctr" indent="0" lvl="0" marL="0" rtl="0">
              <a:spcBef>
                <a:spcPts val="0"/>
              </a:spcBef>
              <a:spcAft>
                <a:spcPts val="0"/>
              </a:spcAft>
              <a:buNone/>
            </a:pPr>
            <a:r>
              <a:rPr b="1" lang="en" sz="2000">
                <a:solidFill>
                  <a:schemeClr val="dk1"/>
                </a:solidFill>
                <a:latin typeface="Verdana"/>
                <a:ea typeface="Verdana"/>
                <a:cs typeface="Verdana"/>
                <a:sym typeface="Verdana"/>
              </a:rPr>
              <a:t>Monthly Station Summary</a:t>
            </a:r>
            <a:endParaRPr b="1" sz="2000">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anchor="t" anchorCtr="0" bIns="91425" lIns="91425" rIns="91425" spcFirstLastPara="1" tIns="91425" wrap="square">
            <a:noAutofit/>
          </a:bodyPr>
          <a:lstStyle/>
          <a:p>
            <a:pPr algn="l" indent="0" lvl="0" marL="0" rtl="0">
              <a:lnSpc>
                <a:spcPct val="200000"/>
              </a:lnSpc>
              <a:spcBef>
                <a:spcPts val="0"/>
              </a:spcBef>
              <a:spcAft>
                <a:spcPts val="0"/>
              </a:spcAft>
              <a:buNone/>
            </a:pPr>
            <a:r>
              <a:rPr b="1" lang="en">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b="1" lang="en">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b="1" lang="en">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b="1" lang="en">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b="1" lang="en">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b="1" lang="en">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Break Even Analysis - Plan B</a:t>
            </a:r>
            <a:endParaRPr/>
          </a:p>
        </p:txBody>
      </p:sp>
      <p:sp>
        <p:nvSpPr>
          <p:cNvPr id="477" name="Google Shape;477;p43"/>
          <p:cNvSpPr txBox="1">
            <a:spLocks noGrp="1"/>
          </p:cNvSpPr>
          <p:nvPr>
            <p:ph idx="2" type="body"/>
          </p:nvPr>
        </p:nvSpPr>
        <p:spPr>
          <a:xfrm>
            <a:off x="7552960" y="1563625"/>
            <a:ext cx="3399900" cy="4178700"/>
          </a:xfrm>
          <a:prstGeom prst="rect">
            <a:avLst/>
          </a:prstGeom>
        </p:spPr>
        <p:txBody>
          <a:bodyPr anchor="t" anchorCtr="0" bIns="91425" lIns="91425" rIns="91425" spcFirstLastPara="1" tIns="91425" wrap="square">
            <a:noAutofit/>
          </a:bodyPr>
          <a:lstStyle/>
          <a:p>
            <a:pPr algn="l" indent="0" lvl="0" marL="0"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anchor="t" anchorCtr="0" bIns="91425" lIns="91425" rIns="91425" spcFirstLastPara="1" tIns="91425" wrap="square">
            <a:noAutofit/>
          </a:bodyPr>
          <a:lstStyle/>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Average sale (ticket, transaction, invoice)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Gross profit margin on average sale (sale less closing costs)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Closing or conversion rate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Projected prospect value (=A*B*C)=</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Client base monthly advertising investment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Monthly prospects needed to pay for advertising  investment (=E/D)=</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Monthly # of sales from prospects needed to break even (=F*C)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Gross sales per month needed to break even (=G*A)=</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Number of months to run </a:t>
            </a:r>
            <a:r>
              <a:rPr b="1" lang="en" sz="1300">
                <a:latin typeface="Verdana"/>
                <a:ea typeface="Verdana"/>
                <a:cs typeface="Verdana"/>
                <a:sym typeface="Verdana"/>
              </a:rPr>
              <a:t>in </a:t>
            </a:r>
            <a:r>
              <a:rPr b="1" lang="en" sz="1300">
                <a:solidFill>
                  <a:srgbClr val="000000"/>
                </a:solidFill>
                <a:latin typeface="Verdana"/>
                <a:ea typeface="Verdana"/>
                <a:cs typeface="Verdana"/>
                <a:sym typeface="Verdana"/>
              </a:rPr>
              <a:t>proposed marketing plan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Additional gross sales per year needed to break even (=H*I)= </a:t>
            </a:r>
            <a:endParaRPr b="1" sz="1300">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Lifetime Value Analysis - Plan B</a:t>
            </a:r>
            <a:endParaRPr/>
          </a:p>
        </p:txBody>
      </p:sp>
      <p:sp>
        <p:nvSpPr>
          <p:cNvPr id="484" name="Google Shape;484;p44"/>
          <p:cNvSpPr txBox="1">
            <a:spLocks noGrp="1"/>
          </p:cNvSpPr>
          <p:nvPr>
            <p:ph idx="2" type="body"/>
          </p:nvPr>
        </p:nvSpPr>
        <p:spPr>
          <a:xfrm>
            <a:off x="7552950" y="1773925"/>
            <a:ext cx="3638400" cy="3766800"/>
          </a:xfrm>
          <a:prstGeom prst="rect">
            <a:avLst/>
          </a:prstGeom>
        </p:spPr>
        <p:txBody>
          <a:bodyPr anchor="t" anchorCtr="0" bIns="91425" lIns="91425" rIns="91425" spcFirstLastPara="1" tIns="91425" wrap="square">
            <a:noAutofit/>
          </a:bodyPr>
          <a:lstStyle/>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idx="2" type="body"/>
          </p:nvPr>
        </p:nvSpPr>
        <p:spPr>
          <a:xfrm>
            <a:off x="347550" y="1774199"/>
            <a:ext cx="7205400" cy="3766800"/>
          </a:xfrm>
          <a:prstGeom prst="rect">
            <a:avLst/>
          </a:prstGeom>
        </p:spPr>
        <p:txBody>
          <a:bodyPr anchor="t" anchorCtr="0" bIns="91425" lIns="91425" rIns="91425" spcFirstLastPara="1" tIns="91425" wrap="square">
            <a:noAutofit/>
          </a:bodyPr>
          <a:lstStyle/>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Average sale (ticket, transaction, invoice)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Times gross profit margin on average sale (sale less variable costs)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Equals gross profit per average sale (A*B)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Times the average repeat sales per year (per customer/client)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Equals the average customer/client value per year (C*D)=</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Times the average number of years of patronage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Equals the lifetime value of one customer/client (E*F)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So if your base monthly advertising investment averages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Then monthly customers/clients needed to break even (H/G)=</a:t>
            </a:r>
            <a:endParaRPr b="1" sz="1300">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Digital ROI Calculator - Plan B</a:t>
            </a:r>
            <a:endParaRPr/>
          </a:p>
        </p:txBody>
      </p:sp>
      <p:sp>
        <p:nvSpPr>
          <p:cNvPr id="491" name="Google Shape;491;p45"/>
          <p:cNvSpPr txBox="1">
            <a:spLocks noGrp="1"/>
          </p:cNvSpPr>
          <p:nvPr>
            <p:ph idx="2" type="body"/>
          </p:nvPr>
        </p:nvSpPr>
        <p:spPr>
          <a:xfrm>
            <a:off x="7132320" y="1453896"/>
            <a:ext cx="1243500" cy="5193900"/>
          </a:xfrm>
          <a:prstGeom prst="rect">
            <a:avLst/>
          </a:prstGeom>
        </p:spPr>
        <p:txBody>
          <a:bodyPr anchor="t" anchorCtr="0" bIns="91425" lIns="91425" rIns="91425" spcFirstLastPara="1" tIns="91425" wrap="square">
            <a:noAutofit/>
          </a:bodyPr>
          <a:lstStyle/>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algn="l" indent="0" lvl="0" marL="0"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idx="2" type="body"/>
          </p:nvPr>
        </p:nvSpPr>
        <p:spPr>
          <a:xfrm>
            <a:off x="772638" y="1453125"/>
            <a:ext cx="6355200" cy="5192700"/>
          </a:xfrm>
          <a:prstGeom prst="rect">
            <a:avLst/>
          </a:prstGeom>
        </p:spPr>
        <p:txBody>
          <a:bodyPr anchor="t" anchorCtr="0" bIns="91425" lIns="91425" rIns="91425" spcFirstLastPara="1" tIns="91425" wrap="square">
            <a:noAutofit/>
          </a:bodyPr>
          <a:lstStyle/>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Monthly Digital Investment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Cost Per Thousand (CPM)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Monthly Impressions (=A/B*1,000)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Click Through Rate (.01%, .1%, etc)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Monthly # clicks (=C*D)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Cost Per Click (=A/E)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Sales Conversion Percentage (2%, 10%, etc)=</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Monthly Number of Conversions (E*G)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Cost Per Conversion (A/H)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Projected Gross Profit Per Conversion ($100, $1,000, etc.)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Monthly Gross </a:t>
            </a:r>
            <a:r>
              <a:rPr b="1" lang="en" sz="1300">
                <a:solidFill>
                  <a:srgbClr val="000000"/>
                </a:solidFill>
              </a:rPr>
              <a:t>P</a:t>
            </a:r>
            <a:r>
              <a:rPr b="1" lang="en" sz="1300">
                <a:solidFill>
                  <a:srgbClr val="000000"/>
                </a:solidFill>
                <a:latin typeface="Verdana"/>
                <a:ea typeface="Verdana"/>
                <a:cs typeface="Verdana"/>
                <a:sym typeface="Verdana"/>
              </a:rPr>
              <a:t>rofit Generated from all Conversions (H*J)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$Monthly Return on Investment (K-A) =</a:t>
            </a:r>
            <a:endParaRPr b="1" sz="1300">
              <a:solidFill>
                <a:srgbClr val="000000"/>
              </a:solidFill>
              <a:latin typeface="Verdana"/>
              <a:ea typeface="Verdana"/>
              <a:cs typeface="Verdana"/>
              <a:sym typeface="Verdana"/>
            </a:endParaRPr>
          </a:p>
          <a:p>
            <a:pPr algn="r" indent="-311150" lvl="0" marL="457200" rtl="0">
              <a:lnSpc>
                <a:spcPct val="200000"/>
              </a:lnSpc>
              <a:spcBef>
                <a:spcPts val="0"/>
              </a:spcBef>
              <a:spcAft>
                <a:spcPts val="0"/>
              </a:spcAft>
              <a:buClr>
                <a:srgbClr val="000000"/>
              </a:buClr>
              <a:buSzPts val="1300"/>
              <a:buFont typeface="Verdana"/>
              <a:buAutoNum type="alphaUcPeriod"/>
            </a:pPr>
            <a:r>
              <a:rPr b="1" lang="en" sz="1300">
                <a:solidFill>
                  <a:srgbClr val="000000"/>
                </a:solidFill>
                <a:latin typeface="Verdana"/>
                <a:ea typeface="Verdana"/>
                <a:cs typeface="Verdana"/>
                <a:sym typeface="Verdana"/>
              </a:rPr>
              <a:t>% Monthly Return on Investment (L/A) = </a:t>
            </a:r>
            <a:endParaRPr b="1" sz="1300">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Plan A</a:t>
            </a:r>
            <a:endParaRPr/>
          </a:p>
        </p:txBody>
      </p:sp>
      <p:sp>
        <p:nvSpPr>
          <p:cNvPr id="498" name="Google Shape;498;p46"/>
          <p:cNvSpPr txBox="1">
            <a:spLocks noGrp="1"/>
          </p:cNvSpPr>
          <p:nvPr>
            <p:ph idx="1" type="body"/>
          </p:nvPr>
        </p:nvSpPr>
        <p:spPr>
          <a:xfrm>
            <a:off x="489950" y="1170432"/>
            <a:ext cx="8181900" cy="1623900"/>
          </a:xfrm>
          <a:prstGeom prst="rect">
            <a:avLst/>
          </a:prstGeom>
        </p:spPr>
        <p:txBody>
          <a:bodyPr anchor="t" anchorCtr="0" bIns="91425" lIns="91425" rIns="91425" spcFirstLastPara="1" tIns="91425" wrap="square">
            <a:noAutofit/>
          </a:bodyPr>
          <a:lstStyle/>
          <a:p>
            <a:pPr algn="l" indent="0" lvl="0" marL="0"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b="1" lang="en" sz="1150">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algn="l" indent="-301625" lvl="0" marL="457200"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algn="l" indent="-301625" lvl="0" marL="457200"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algn="l" indent="-301625" lvl="0" marL="457200"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algn="l" indent="0" lvl="0" marL="0"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499" name="Google Shape;499;p46"/>
          <p:cNvSpPr txBox="1">
            <a:spLocks noGrp="1"/>
          </p:cNvSpPr>
          <p:nvPr>
            <p:ph idx="1" type="body"/>
          </p:nvPr>
        </p:nvSpPr>
        <p:spPr>
          <a:xfrm>
            <a:off x="356838" y="4184975"/>
            <a:ext cx="8430300" cy="699300"/>
          </a:xfrm>
          <a:prstGeom prst="rect">
            <a:avLst/>
          </a:prstGeom>
        </p:spPr>
        <p:txBody>
          <a:bodyPr anchor="ctr" anchorCtr="0" bIns="91425" lIns="91425" rIns="91425" spcFirstLastPara="1" tIns="91425" wrap="square">
            <a:noAutofit/>
          </a:bodyPr>
          <a:lstStyle/>
          <a:p>
            <a:pPr algn="l" indent="0" lvl="0" marL="0" rtl="0">
              <a:spcBef>
                <a:spcPts val="0"/>
              </a:spcBef>
              <a:spcAft>
                <a:spcPts val="0"/>
              </a:spcAft>
              <a:buNone/>
            </a:pPr>
            <a:r>
              <a:rPr b="1" lang="en" sz="800">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b="1" sz="1050">
              <a:solidFill>
                <a:srgbClr val="000000"/>
              </a:solidFill>
              <a:latin typeface="Verdana"/>
              <a:ea typeface="Verdana"/>
              <a:cs typeface="Verdana"/>
              <a:sym typeface="Verdana"/>
            </a:endParaRPr>
          </a:p>
        </p:txBody>
      </p:sp>
      <p:sp>
        <p:nvSpPr>
          <p:cNvPr id="500" name="Google Shape;500;p46"/>
          <p:cNvSpPr txBox="1">
            <a:spLocks noGrp="1"/>
          </p:cNvSpPr>
          <p:nvPr>
            <p:ph idx="1" type="body"/>
          </p:nvPr>
        </p:nvSpPr>
        <p:spPr>
          <a:xfrm>
            <a:off x="356563" y="4799225"/>
            <a:ext cx="2337600" cy="366900"/>
          </a:xfrm>
          <a:prstGeom prst="rect">
            <a:avLst/>
          </a:prstGeom>
        </p:spPr>
        <p:txBody>
          <a:bodyPr anchor="t" anchorCtr="0" bIns="91425" lIns="91425" rIns="91425" spcFirstLastPara="1" tIns="91425" wrap="square">
            <a:noAutofit/>
          </a:bodyPr>
          <a:lstStyle/>
          <a:p>
            <a:pPr algn="l" indent="0" lvl="0" marL="0" rtl="0">
              <a:spcBef>
                <a:spcPts val="0"/>
              </a:spcBef>
              <a:spcAft>
                <a:spcPts val="1600"/>
              </a:spcAft>
              <a:buNone/>
            </a:pPr>
            <a:r>
              <a:rPr b="1" lang="en" sz="1400" u="sng">
                <a:solidFill>
                  <a:srgbClr val="000000"/>
                </a:solidFill>
                <a:latin typeface="Verdana"/>
                <a:ea typeface="Verdana"/>
                <a:cs typeface="Verdana"/>
                <a:sym typeface="Verdana"/>
              </a:rPr>
              <a:t>Analysis of Schedule:</a:t>
            </a:r>
            <a:endParaRPr b="1" sz="1400" u="sng">
              <a:solidFill>
                <a:srgbClr val="000000"/>
              </a:solidFill>
              <a:latin typeface="Verdana"/>
              <a:ea typeface="Verdana"/>
              <a:cs typeface="Verdana"/>
              <a:sym typeface="Verdana"/>
            </a:endParaRPr>
          </a:p>
        </p:txBody>
      </p:sp>
      <p:sp>
        <p:nvSpPr>
          <p:cNvPr id="501" name="Google Shape;501;p46"/>
          <p:cNvSpPr txBox="1">
            <a:spLocks noGrp="1"/>
          </p:cNvSpPr>
          <p:nvPr>
            <p:ph idx="1" type="body"/>
          </p:nvPr>
        </p:nvSpPr>
        <p:spPr>
          <a:xfrm>
            <a:off x="356563" y="5166125"/>
            <a:ext cx="4292400" cy="366900"/>
          </a:xfrm>
          <a:prstGeom prst="rect">
            <a:avLst/>
          </a:prstGeom>
        </p:spPr>
        <p:txBody>
          <a:bodyPr anchor="t" anchorCtr="0" bIns="91425" lIns="91425" rIns="91425" spcFirstLastPara="1" tIns="91425" wrap="square">
            <a:noAutofit/>
          </a:bodyPr>
          <a:lstStyle/>
          <a:p>
            <a:pPr algn="l" indent="0" lvl="0" marL="0" rtl="0">
              <a:spcBef>
                <a:spcPts val="0"/>
              </a:spcBef>
              <a:spcAft>
                <a:spcPts val="1600"/>
              </a:spcAft>
              <a:buNone/>
            </a:pPr>
            <a:r>
              <a:rPr b="1" lang="en" sz="1150">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idx="1" type="body"/>
          </p:nvPr>
        </p:nvSpPr>
        <p:spPr>
          <a:xfrm>
            <a:off x="356563" y="5533025"/>
            <a:ext cx="4292400" cy="366900"/>
          </a:xfrm>
          <a:prstGeom prst="rect">
            <a:avLst/>
          </a:prstGeom>
        </p:spPr>
        <p:txBody>
          <a:bodyPr anchor="t" anchorCtr="0" bIns="91425" lIns="91425" rIns="91425" spcFirstLastPara="1" tIns="91425" wrap="square">
            <a:noAutofit/>
          </a:bodyPr>
          <a:lstStyle/>
          <a:p>
            <a:pPr algn="l" indent="0" lvl="0" marL="0" rtl="0">
              <a:spcBef>
                <a:spcPts val="0"/>
              </a:spcBef>
              <a:spcAft>
                <a:spcPts val="1600"/>
              </a:spcAft>
              <a:buNone/>
            </a:pPr>
            <a:r>
              <a:rPr b="1" lang="en" sz="1150">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idx="1" type="body"/>
          </p:nvPr>
        </p:nvSpPr>
        <p:spPr>
          <a:xfrm>
            <a:off x="2416613" y="5914100"/>
            <a:ext cx="4292400" cy="366900"/>
          </a:xfrm>
          <a:prstGeom prst="rect">
            <a:avLst/>
          </a:prstGeom>
        </p:spPr>
        <p:txBody>
          <a:bodyPr anchor="t" anchorCtr="0" bIns="91425" lIns="91425" rIns="91425" spcFirstLastPara="1" tIns="91425" wrap="square">
            <a:noAutofit/>
          </a:bodyPr>
          <a:lstStyle/>
          <a:p>
            <a:pPr algn="ctr" indent="0" lvl="0" marL="0"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cap="flat" cmpd="sng" w="19050">
            <a:solidFill>
              <a:srgbClr val="000000"/>
            </a:solidFill>
            <a:prstDash val="solid"/>
            <a:round/>
            <a:headEnd len="med" type="none" w="med"/>
            <a:tailEnd len="med" type="none" w="med"/>
          </a:ln>
        </p:spPr>
      </p:cxnSp>
      <p:cxnSp>
        <p:nvCxnSpPr>
          <p:cNvPr id="505" name="Google Shape;505;p46"/>
          <p:cNvCxnSpPr/>
          <p:nvPr/>
        </p:nvCxnSpPr>
        <p:spPr>
          <a:xfrm>
            <a:off x="4972200" y="6613975"/>
            <a:ext cx="3657600" cy="0"/>
          </a:xfrm>
          <a:prstGeom prst="straightConnector1">
            <a:avLst/>
          </a:prstGeom>
          <a:noFill/>
          <a:ln cap="flat" cmpd="sng" w="19050">
            <a:solidFill>
              <a:srgbClr val="000000"/>
            </a:solidFill>
            <a:prstDash val="solid"/>
            <a:round/>
            <a:headEnd len="med" type="none" w="med"/>
            <a:tailEnd len="med" type="none" w="med"/>
          </a:ln>
        </p:spPr>
      </p:cxnSp>
      <p:sp>
        <p:nvSpPr>
          <p:cNvPr id="506" name="Google Shape;506;p46"/>
          <p:cNvSpPr txBox="1"/>
          <p:nvPr/>
        </p:nvSpPr>
        <p:spPr>
          <a:xfrm>
            <a:off x="495838" y="6544400"/>
            <a:ext cx="1232400" cy="361800"/>
          </a:xfrm>
          <a:prstGeom prst="rect">
            <a:avLst/>
          </a:prstGeom>
          <a:noFill/>
          <a:ln>
            <a:noFill/>
          </a:ln>
        </p:spPr>
        <p:txBody>
          <a:bodyPr anchor="t" anchorCtr="0" bIns="91425" lIns="91425" rIns="91425" spcFirstLastPara="1" tIns="91425" wrap="square">
            <a:spAutoFit/>
          </a:bodyPr>
          <a:lstStyle/>
          <a:p>
            <a:pPr algn="l" indent="0" lvl="0" marL="0"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anchor="t" anchorCtr="0" bIns="91425" lIns="91425" rIns="91425" spcFirstLastPara="1" tIns="91425" wrap="square">
            <a:spAutoFit/>
          </a:bodyPr>
          <a:lstStyle/>
          <a:p>
            <a:pPr algn="l" indent="0" lvl="0" marL="0"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anchor="t" anchorCtr="0" bIns="91425" lIns="91425" rIns="91425" spcFirstLastPara="1" tIns="91425" wrap="square">
            <a:spAutoFit/>
          </a:bodyPr>
          <a:lstStyle/>
          <a:p>
            <a:pPr algn="ctr" indent="0" lvl="0" marL="0"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anchor="t" anchorCtr="0" bIns="91425" lIns="91425" rIns="91425" spcFirstLastPara="1" tIns="91425" wrap="square">
            <a:spAutoFit/>
          </a:bodyPr>
          <a:lstStyle/>
          <a:p>
            <a:pPr algn="ctr" indent="0" lvl="0" marL="0"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graphicFrame>
        <p:nvGraphicFramePr>
          <p:cNvPr id="510" name="Google Shape;510;p46"/>
          <p:cNvGraphicFramePr/>
          <p:nvPr/>
        </p:nvGraphicFramePr>
        <p:xfrm>
          <a:off x="297400" y="2615775"/>
          <a:ext cx="8374450" cy="1493450"/>
        </p:xfrm>
        <a:graphic>
          <a:graphicData uri="http://schemas.openxmlformats.org/drawingml/2006/table">
            <a:tbl>
              <a:tblPr>
                <a:noFill/>
                <a:tableStyleId>{CFB75FC7-DD7D-40D8-B2B2-EE4B611A8D2E}</a:tableStyleId>
              </a:tblPr>
              <a:tblGrid>
                <a:gridCol w="598175">
                  <a:extLst>
                    <a:ext uri="{9D8B030D-6E8A-4147-A177-3AD203B41FA5}">
                      <a16:colId xmlns:a16="http://schemas.microsoft.com/office/drawing/2014/main" val="20000"/>
                    </a:ext>
                  </a:extLst>
                </a:gridCol>
                <a:gridCol w="598175">
                  <a:extLst>
                    <a:ext uri="{9D8B030D-6E8A-4147-A177-3AD203B41FA5}">
                      <a16:colId xmlns:a16="http://schemas.microsoft.com/office/drawing/2014/main" val="20001"/>
                    </a:ext>
                  </a:extLst>
                </a:gridCol>
                <a:gridCol w="598175">
                  <a:extLst>
                    <a:ext uri="{9D8B030D-6E8A-4147-A177-3AD203B41FA5}">
                      <a16:colId xmlns:a16="http://schemas.microsoft.com/office/drawing/2014/main" val="20002"/>
                    </a:ext>
                  </a:extLst>
                </a:gridCol>
                <a:gridCol w="598175">
                  <a:extLst>
                    <a:ext uri="{9D8B030D-6E8A-4147-A177-3AD203B41FA5}">
                      <a16:colId xmlns:a16="http://schemas.microsoft.com/office/drawing/2014/main" val="20003"/>
                    </a:ext>
                  </a:extLst>
                </a:gridCol>
                <a:gridCol w="598175">
                  <a:extLst>
                    <a:ext uri="{9D8B030D-6E8A-4147-A177-3AD203B41FA5}">
                      <a16:colId xmlns:a16="http://schemas.microsoft.com/office/drawing/2014/main" val="20004"/>
                    </a:ext>
                  </a:extLst>
                </a:gridCol>
                <a:gridCol w="598175">
                  <a:extLst>
                    <a:ext uri="{9D8B030D-6E8A-4147-A177-3AD203B41FA5}">
                      <a16:colId xmlns:a16="http://schemas.microsoft.com/office/drawing/2014/main" val="20005"/>
                    </a:ext>
                  </a:extLst>
                </a:gridCol>
                <a:gridCol w="598175">
                  <a:extLst>
                    <a:ext uri="{9D8B030D-6E8A-4147-A177-3AD203B41FA5}">
                      <a16:colId xmlns:a16="http://schemas.microsoft.com/office/drawing/2014/main" val="20006"/>
                    </a:ext>
                  </a:extLst>
                </a:gridCol>
                <a:gridCol w="598175">
                  <a:extLst>
                    <a:ext uri="{9D8B030D-6E8A-4147-A177-3AD203B41FA5}">
                      <a16:colId xmlns:a16="http://schemas.microsoft.com/office/drawing/2014/main" val="20007"/>
                    </a:ext>
                  </a:extLst>
                </a:gridCol>
                <a:gridCol w="598175">
                  <a:extLst>
                    <a:ext uri="{9D8B030D-6E8A-4147-A177-3AD203B41FA5}">
                      <a16:colId xmlns:a16="http://schemas.microsoft.com/office/drawing/2014/main" val="20008"/>
                    </a:ext>
                  </a:extLst>
                </a:gridCol>
                <a:gridCol w="598175">
                  <a:extLst>
                    <a:ext uri="{9D8B030D-6E8A-4147-A177-3AD203B41FA5}">
                      <a16:colId xmlns:a16="http://schemas.microsoft.com/office/drawing/2014/main" val="20009"/>
                    </a:ext>
                  </a:extLst>
                </a:gridCol>
                <a:gridCol w="598175">
                  <a:extLst>
                    <a:ext uri="{9D8B030D-6E8A-4147-A177-3AD203B41FA5}">
                      <a16:colId xmlns:a16="http://schemas.microsoft.com/office/drawing/2014/main" val="20010"/>
                    </a:ext>
                  </a:extLst>
                </a:gridCol>
                <a:gridCol w="598175">
                  <a:extLst>
                    <a:ext uri="{9D8B030D-6E8A-4147-A177-3AD203B41FA5}">
                      <a16:colId xmlns:a16="http://schemas.microsoft.com/office/drawing/2014/main" val="20011"/>
                    </a:ext>
                  </a:extLst>
                </a:gridCol>
                <a:gridCol w="598175">
                  <a:extLst>
                    <a:ext uri="{9D8B030D-6E8A-4147-A177-3AD203B41FA5}">
                      <a16:colId xmlns:a16="http://schemas.microsoft.com/office/drawing/2014/main" val="20012"/>
                    </a:ext>
                  </a:extLst>
                </a:gridCol>
                <a:gridCol w="598175">
                  <a:extLst>
                    <a:ext uri="{9D8B030D-6E8A-4147-A177-3AD203B41FA5}">
                      <a16:colId xmlns:a16="http://schemas.microsoft.com/office/drawing/2014/main" val="20013"/>
                    </a:ext>
                  </a:extLst>
                </a:gridCol>
              </a:tblGrid>
              <a:tr h="309400">
                <a:tc>
                  <a:txBody>
                    <a:bodyPr/>
                    <a:lstStyle/>
                    <a:p>
                      <a:pPr algn="ctr" indent="0" lvl="0" marL="0" rtl="0">
                        <a:lnSpc>
                          <a:spcPct val="115000"/>
                        </a:lnSpc>
                        <a:spcBef>
                          <a:spcPts val="0"/>
                        </a:spcBef>
                        <a:spcAft>
                          <a:spcPts val="0"/>
                        </a:spcAft>
                        <a:buNone/>
                      </a:pPr>
                      <a:r>
                        <a:rPr lang="en" sz="1000">
                          <a:solidFill>
                            <a:srgbClr val="FFFFFF"/>
                          </a:solidFill>
                        </a:rPr>
                        <a:t>Media</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Jan</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Feb</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Mar</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Apr</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May</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Jun</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Jul</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Aug</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Sep</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Oct</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Nov</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Dec</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Total</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extLst>
                  <a:ext uri="{0D108BD9-81ED-4DB2-BD59-A6C34878D82A}">
                    <a16:rowId xmlns:a16="http://schemas.microsoft.com/office/drawing/2014/main" val="10000"/>
                  </a:ext>
                </a:extLst>
              </a:tr>
              <a:tr h="210075">
                <a:tc>
                  <a:txBody>
                    <a:bodyPr/>
                    <a:lstStyle/>
                    <a:p>
                      <a:pPr algn="ctr" indent="0" lvl="0" marL="0" rtl="0">
                        <a:lnSpc>
                          <a:spcPct val="115000"/>
                        </a:lnSpc>
                        <a:spcBef>
                          <a:spcPts val="0"/>
                        </a:spcBef>
                        <a:spcAft>
                          <a:spcPts val="0"/>
                        </a:spcAft>
                        <a:buNone/>
                      </a:pPr>
                      <a:r>
                        <a:rPr lang="en" sz="1000"/>
                        <a:t>WWWW</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$3,000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$3,000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$4,500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$4,500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$4,500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$3,000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$3,000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$3,000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$3,000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$36,000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extLst>
                  <a:ext uri="{0D108BD9-81ED-4DB2-BD59-A6C34878D82A}">
                    <a16:rowId xmlns:a16="http://schemas.microsoft.com/office/drawing/2014/main" val="10001"/>
                  </a:ext>
                </a:extLst>
              </a:tr>
              <a:tr h="210075">
                <a:tc>
                  <a:txBody>
                    <a:bodyPr/>
                    <a:lstStyle/>
                    <a:p>
                      <a:pPr algn="ctr" indent="0" lvl="0" marL="0" rtl="0">
                        <a:lnSpc>
                          <a:spcPct val="115000"/>
                        </a:lnSpc>
                        <a:spcBef>
                          <a:spcPts val="0"/>
                        </a:spcBef>
                        <a:spcAft>
                          <a:spcPts val="0"/>
                        </a:spcAft>
                        <a:buNone/>
                      </a:pPr>
                      <a:r>
                        <a:rPr lang="en" sz="1000"/>
                        <a:t>Digital</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$12,000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extLst>
                  <a:ext uri="{0D108BD9-81ED-4DB2-BD59-A6C34878D82A}">
                    <a16:rowId xmlns:a16="http://schemas.microsoft.com/office/drawing/2014/main" val="10002"/>
                  </a:ext>
                </a:extLst>
              </a:tr>
              <a:tr h="381950">
                <a:tc>
                  <a:txBody>
                    <a:bodyPr/>
                    <a:lstStyle/>
                    <a:p>
                      <a:pPr algn="ctr" indent="0" lvl="0" marL="0"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$6,000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extLst>
                  <a:ext uri="{0D108BD9-81ED-4DB2-BD59-A6C34878D82A}">
                    <a16:rowId xmlns:a16="http://schemas.microsoft.com/office/drawing/2014/main" val="10003"/>
                  </a:ext>
                </a:extLst>
              </a:tr>
              <a:tr h="381950">
                <a:tc>
                  <a:txBody>
                    <a:bodyPr/>
                    <a:lstStyle/>
                    <a:p>
                      <a:pPr algn="ctr" indent="0" lvl="0" marL="0" rtl="0">
                        <a:lnSpc>
                          <a:spcPct val="115000"/>
                        </a:lnSpc>
                        <a:spcBef>
                          <a:spcPts val="0"/>
                        </a:spcBef>
                        <a:spcAft>
                          <a:spcPts val="0"/>
                        </a:spcAft>
                        <a:buNone/>
                      </a:pPr>
                      <a:r>
                        <a:rPr lang="en" sz="1000"/>
                        <a:t>Monthly Totals</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$3,000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$3,000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$3,000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$4,500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$4,500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$6,000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$6,000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$6,000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$4,500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$4,500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$4,500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$4,500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$54,000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Plan B</a:t>
            </a:r>
            <a:endParaRPr/>
          </a:p>
        </p:txBody>
      </p:sp>
      <p:sp>
        <p:nvSpPr>
          <p:cNvPr id="516" name="Google Shape;516;p47"/>
          <p:cNvSpPr txBox="1">
            <a:spLocks noGrp="1"/>
          </p:cNvSpPr>
          <p:nvPr>
            <p:ph idx="1" type="body"/>
          </p:nvPr>
        </p:nvSpPr>
        <p:spPr>
          <a:xfrm>
            <a:off x="356563" y="4799225"/>
            <a:ext cx="2337600" cy="366900"/>
          </a:xfrm>
          <a:prstGeom prst="rect">
            <a:avLst/>
          </a:prstGeom>
        </p:spPr>
        <p:txBody>
          <a:bodyPr anchor="t" anchorCtr="0" bIns="91425" lIns="91425" rIns="91425" spcFirstLastPara="1" tIns="91425" wrap="square">
            <a:noAutofit/>
          </a:bodyPr>
          <a:lstStyle/>
          <a:p>
            <a:pPr algn="l" indent="0" lvl="0" marL="0" rtl="0">
              <a:spcBef>
                <a:spcPts val="0"/>
              </a:spcBef>
              <a:spcAft>
                <a:spcPts val="1600"/>
              </a:spcAft>
              <a:buNone/>
            </a:pPr>
            <a:r>
              <a:rPr b="1" lang="en" sz="1400" u="sng">
                <a:solidFill>
                  <a:srgbClr val="000000"/>
                </a:solidFill>
                <a:latin typeface="Verdana"/>
                <a:ea typeface="Verdana"/>
                <a:cs typeface="Verdana"/>
                <a:sym typeface="Verdana"/>
              </a:rPr>
              <a:t>Analysis of Schedule:</a:t>
            </a:r>
            <a:endParaRPr b="1" sz="1400" u="sng">
              <a:solidFill>
                <a:srgbClr val="000000"/>
              </a:solidFill>
              <a:latin typeface="Verdana"/>
              <a:ea typeface="Verdana"/>
              <a:cs typeface="Verdana"/>
              <a:sym typeface="Verdana"/>
            </a:endParaRPr>
          </a:p>
        </p:txBody>
      </p:sp>
      <p:sp>
        <p:nvSpPr>
          <p:cNvPr id="517" name="Google Shape;517;p47"/>
          <p:cNvSpPr txBox="1">
            <a:spLocks noGrp="1"/>
          </p:cNvSpPr>
          <p:nvPr>
            <p:ph idx="1" type="body"/>
          </p:nvPr>
        </p:nvSpPr>
        <p:spPr>
          <a:xfrm>
            <a:off x="356563" y="5166125"/>
            <a:ext cx="4292400" cy="366900"/>
          </a:xfrm>
          <a:prstGeom prst="rect">
            <a:avLst/>
          </a:prstGeom>
        </p:spPr>
        <p:txBody>
          <a:bodyPr anchor="t" anchorCtr="0" bIns="91425" lIns="91425" rIns="91425" spcFirstLastPara="1" tIns="91425" wrap="square">
            <a:noAutofit/>
          </a:bodyPr>
          <a:lstStyle/>
          <a:p>
            <a:pPr algn="l" indent="0" lvl="0" marL="0" rtl="0">
              <a:spcBef>
                <a:spcPts val="0"/>
              </a:spcBef>
              <a:spcAft>
                <a:spcPts val="1600"/>
              </a:spcAft>
              <a:buNone/>
            </a:pPr>
            <a:r>
              <a:rPr b="1" lang="en" sz="1150">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idx="1" type="body"/>
          </p:nvPr>
        </p:nvSpPr>
        <p:spPr>
          <a:xfrm>
            <a:off x="356563" y="5533025"/>
            <a:ext cx="4292400" cy="366900"/>
          </a:xfrm>
          <a:prstGeom prst="rect">
            <a:avLst/>
          </a:prstGeom>
        </p:spPr>
        <p:txBody>
          <a:bodyPr anchor="t" anchorCtr="0" bIns="91425" lIns="91425" rIns="91425" spcFirstLastPara="1" tIns="91425" wrap="square">
            <a:noAutofit/>
          </a:bodyPr>
          <a:lstStyle/>
          <a:p>
            <a:pPr algn="l" indent="0" lvl="0" marL="0" rtl="0">
              <a:spcBef>
                <a:spcPts val="0"/>
              </a:spcBef>
              <a:spcAft>
                <a:spcPts val="1600"/>
              </a:spcAft>
              <a:buNone/>
            </a:pPr>
            <a:r>
              <a:rPr b="1" lang="en" sz="1150">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idx="1" type="body"/>
          </p:nvPr>
        </p:nvSpPr>
        <p:spPr>
          <a:xfrm>
            <a:off x="2416613" y="5914100"/>
            <a:ext cx="4292400" cy="366900"/>
          </a:xfrm>
          <a:prstGeom prst="rect">
            <a:avLst/>
          </a:prstGeom>
        </p:spPr>
        <p:txBody>
          <a:bodyPr anchor="t" anchorCtr="0" bIns="91425" lIns="91425" rIns="91425" spcFirstLastPara="1" tIns="91425" wrap="square">
            <a:noAutofit/>
          </a:bodyPr>
          <a:lstStyle/>
          <a:p>
            <a:pPr algn="ctr" indent="0" lvl="0" marL="0"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cap="flat" cmpd="sng" w="19050">
            <a:solidFill>
              <a:srgbClr val="000000"/>
            </a:solidFill>
            <a:prstDash val="solid"/>
            <a:round/>
            <a:headEnd len="med" type="none" w="med"/>
            <a:tailEnd len="med" type="none" w="med"/>
          </a:ln>
        </p:spPr>
      </p:cxnSp>
      <p:cxnSp>
        <p:nvCxnSpPr>
          <p:cNvPr id="521" name="Google Shape;521;p47"/>
          <p:cNvCxnSpPr/>
          <p:nvPr/>
        </p:nvCxnSpPr>
        <p:spPr>
          <a:xfrm>
            <a:off x="4972200" y="6613975"/>
            <a:ext cx="3657600" cy="0"/>
          </a:xfrm>
          <a:prstGeom prst="straightConnector1">
            <a:avLst/>
          </a:prstGeom>
          <a:noFill/>
          <a:ln cap="flat" cmpd="sng" w="19050">
            <a:solidFill>
              <a:srgbClr val="000000"/>
            </a:solidFill>
            <a:prstDash val="solid"/>
            <a:round/>
            <a:headEnd len="med" type="none" w="med"/>
            <a:tailEnd len="med" type="none" w="med"/>
          </a:ln>
        </p:spPr>
      </p:cxnSp>
      <p:sp>
        <p:nvSpPr>
          <p:cNvPr id="522" name="Google Shape;522;p47"/>
          <p:cNvSpPr txBox="1"/>
          <p:nvPr/>
        </p:nvSpPr>
        <p:spPr>
          <a:xfrm>
            <a:off x="495838" y="6544400"/>
            <a:ext cx="1232400" cy="361800"/>
          </a:xfrm>
          <a:prstGeom prst="rect">
            <a:avLst/>
          </a:prstGeom>
          <a:noFill/>
          <a:ln>
            <a:noFill/>
          </a:ln>
        </p:spPr>
        <p:txBody>
          <a:bodyPr anchor="t" anchorCtr="0" bIns="91425" lIns="91425" rIns="91425" spcFirstLastPara="1" tIns="91425" wrap="square">
            <a:spAutoFit/>
          </a:bodyPr>
          <a:lstStyle/>
          <a:p>
            <a:pPr algn="l" indent="0" lvl="0" marL="0"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anchor="t" anchorCtr="0" bIns="91425" lIns="91425" rIns="91425" spcFirstLastPara="1" tIns="91425" wrap="square">
            <a:spAutoFit/>
          </a:bodyPr>
          <a:lstStyle/>
          <a:p>
            <a:pPr algn="l" indent="0" lvl="0" marL="0"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anchor="t" anchorCtr="0" bIns="91425" lIns="91425" rIns="91425" spcFirstLastPara="1" tIns="91425" wrap="square">
            <a:spAutoFit/>
          </a:bodyPr>
          <a:lstStyle/>
          <a:p>
            <a:pPr algn="ctr" indent="0" lvl="0" marL="0"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anchor="t" anchorCtr="0" bIns="91425" lIns="91425" rIns="91425" spcFirstLastPara="1" tIns="91425" wrap="square">
            <a:spAutoFit/>
          </a:bodyPr>
          <a:lstStyle/>
          <a:p>
            <a:pPr algn="ctr" indent="0" lvl="0" marL="0"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idx="1" type="body"/>
          </p:nvPr>
        </p:nvSpPr>
        <p:spPr>
          <a:xfrm>
            <a:off x="489950" y="1170432"/>
            <a:ext cx="8181900" cy="1623900"/>
          </a:xfrm>
          <a:prstGeom prst="rect">
            <a:avLst/>
          </a:prstGeom>
        </p:spPr>
        <p:txBody>
          <a:bodyPr anchor="t" anchorCtr="0" bIns="91425" lIns="91425" rIns="91425" spcFirstLastPara="1" tIns="91425" wrap="square">
            <a:noAutofit/>
          </a:bodyPr>
          <a:lstStyle/>
          <a:p>
            <a:pPr algn="l" indent="0" lvl="0" marL="0"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b="1" lang="en" sz="1150">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algn="l" indent="-301625" lvl="0" marL="457200"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algn="l" indent="-301625" lvl="0" marL="457200"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algn="l" indent="-301625" lvl="0" marL="457200"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algn="l" indent="0" lvl="0" marL="0"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527" name="Google Shape;527;p47"/>
          <p:cNvSpPr txBox="1">
            <a:spLocks noGrp="1"/>
          </p:cNvSpPr>
          <p:nvPr>
            <p:ph idx="1" type="body"/>
          </p:nvPr>
        </p:nvSpPr>
        <p:spPr>
          <a:xfrm>
            <a:off x="356838" y="4184975"/>
            <a:ext cx="8430300" cy="699300"/>
          </a:xfrm>
          <a:prstGeom prst="rect">
            <a:avLst/>
          </a:prstGeom>
        </p:spPr>
        <p:txBody>
          <a:bodyPr anchor="ctr" anchorCtr="0" bIns="91425" lIns="91425" rIns="91425" spcFirstLastPara="1" tIns="91425" wrap="square">
            <a:noAutofit/>
          </a:bodyPr>
          <a:lstStyle/>
          <a:p>
            <a:pPr algn="l" indent="0" lvl="0" marL="0" rtl="0">
              <a:spcBef>
                <a:spcPts val="0"/>
              </a:spcBef>
              <a:spcAft>
                <a:spcPts val="0"/>
              </a:spcAft>
              <a:buNone/>
            </a:pPr>
            <a:r>
              <a:rPr b="1" lang="en" sz="800">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b="1" sz="1050">
              <a:solidFill>
                <a:srgbClr val="000000"/>
              </a:solidFill>
              <a:latin typeface="Verdana"/>
              <a:ea typeface="Verdana"/>
              <a:cs typeface="Verdana"/>
              <a:sym typeface="Verdana"/>
            </a:endParaRPr>
          </a:p>
        </p:txBody>
      </p:sp>
      <p:graphicFrame>
        <p:nvGraphicFramePr>
          <p:cNvPr id="528" name="Google Shape;528;p47"/>
          <p:cNvGraphicFramePr/>
          <p:nvPr/>
        </p:nvGraphicFramePr>
        <p:xfrm>
          <a:off x="356850" y="2530113"/>
          <a:ext cx="8272950" cy="1623900"/>
        </p:xfrm>
        <a:graphic>
          <a:graphicData uri="http://schemas.openxmlformats.org/drawingml/2006/table">
            <a:tbl>
              <a:tblPr>
                <a:noFill/>
                <a:tableStyleId>{CFB75FC7-DD7D-40D8-B2B2-EE4B611A8D2E}</a:tableStyleId>
              </a:tblPr>
              <a:tblGrid>
                <a:gridCol w="590925">
                  <a:extLst>
                    <a:ext uri="{9D8B030D-6E8A-4147-A177-3AD203B41FA5}">
                      <a16:colId xmlns:a16="http://schemas.microsoft.com/office/drawing/2014/main" val="20000"/>
                    </a:ext>
                  </a:extLst>
                </a:gridCol>
                <a:gridCol w="590925">
                  <a:extLst>
                    <a:ext uri="{9D8B030D-6E8A-4147-A177-3AD203B41FA5}">
                      <a16:colId xmlns:a16="http://schemas.microsoft.com/office/drawing/2014/main" val="20001"/>
                    </a:ext>
                  </a:extLst>
                </a:gridCol>
                <a:gridCol w="590925">
                  <a:extLst>
                    <a:ext uri="{9D8B030D-6E8A-4147-A177-3AD203B41FA5}">
                      <a16:colId xmlns:a16="http://schemas.microsoft.com/office/drawing/2014/main" val="20002"/>
                    </a:ext>
                  </a:extLst>
                </a:gridCol>
                <a:gridCol w="590925">
                  <a:extLst>
                    <a:ext uri="{9D8B030D-6E8A-4147-A177-3AD203B41FA5}">
                      <a16:colId xmlns:a16="http://schemas.microsoft.com/office/drawing/2014/main" val="20003"/>
                    </a:ext>
                  </a:extLst>
                </a:gridCol>
                <a:gridCol w="590925">
                  <a:extLst>
                    <a:ext uri="{9D8B030D-6E8A-4147-A177-3AD203B41FA5}">
                      <a16:colId xmlns:a16="http://schemas.microsoft.com/office/drawing/2014/main" val="20004"/>
                    </a:ext>
                  </a:extLst>
                </a:gridCol>
                <a:gridCol w="590925">
                  <a:extLst>
                    <a:ext uri="{9D8B030D-6E8A-4147-A177-3AD203B41FA5}">
                      <a16:colId xmlns:a16="http://schemas.microsoft.com/office/drawing/2014/main" val="20005"/>
                    </a:ext>
                  </a:extLst>
                </a:gridCol>
                <a:gridCol w="590925">
                  <a:extLst>
                    <a:ext uri="{9D8B030D-6E8A-4147-A177-3AD203B41FA5}">
                      <a16:colId xmlns:a16="http://schemas.microsoft.com/office/drawing/2014/main" val="20006"/>
                    </a:ext>
                  </a:extLst>
                </a:gridCol>
                <a:gridCol w="590925">
                  <a:extLst>
                    <a:ext uri="{9D8B030D-6E8A-4147-A177-3AD203B41FA5}">
                      <a16:colId xmlns:a16="http://schemas.microsoft.com/office/drawing/2014/main" val="20007"/>
                    </a:ext>
                  </a:extLst>
                </a:gridCol>
                <a:gridCol w="590925">
                  <a:extLst>
                    <a:ext uri="{9D8B030D-6E8A-4147-A177-3AD203B41FA5}">
                      <a16:colId xmlns:a16="http://schemas.microsoft.com/office/drawing/2014/main" val="20008"/>
                    </a:ext>
                  </a:extLst>
                </a:gridCol>
                <a:gridCol w="590925">
                  <a:extLst>
                    <a:ext uri="{9D8B030D-6E8A-4147-A177-3AD203B41FA5}">
                      <a16:colId xmlns:a16="http://schemas.microsoft.com/office/drawing/2014/main" val="20009"/>
                    </a:ext>
                  </a:extLst>
                </a:gridCol>
                <a:gridCol w="590925">
                  <a:extLst>
                    <a:ext uri="{9D8B030D-6E8A-4147-A177-3AD203B41FA5}">
                      <a16:colId xmlns:a16="http://schemas.microsoft.com/office/drawing/2014/main" val="20010"/>
                    </a:ext>
                  </a:extLst>
                </a:gridCol>
                <a:gridCol w="590925">
                  <a:extLst>
                    <a:ext uri="{9D8B030D-6E8A-4147-A177-3AD203B41FA5}">
                      <a16:colId xmlns:a16="http://schemas.microsoft.com/office/drawing/2014/main" val="20011"/>
                    </a:ext>
                  </a:extLst>
                </a:gridCol>
                <a:gridCol w="590925">
                  <a:extLst>
                    <a:ext uri="{9D8B030D-6E8A-4147-A177-3AD203B41FA5}">
                      <a16:colId xmlns:a16="http://schemas.microsoft.com/office/drawing/2014/main" val="20012"/>
                    </a:ext>
                  </a:extLst>
                </a:gridCol>
                <a:gridCol w="590925">
                  <a:extLst>
                    <a:ext uri="{9D8B030D-6E8A-4147-A177-3AD203B41FA5}">
                      <a16:colId xmlns:a16="http://schemas.microsoft.com/office/drawing/2014/main" val="20013"/>
                    </a:ext>
                  </a:extLst>
                </a:gridCol>
              </a:tblGrid>
              <a:tr h="212650">
                <a:tc>
                  <a:txBody>
                    <a:bodyPr/>
                    <a:lstStyle/>
                    <a:p>
                      <a:pPr algn="ctr" indent="0" lvl="0" marL="0" rtl="0">
                        <a:lnSpc>
                          <a:spcPct val="115000"/>
                        </a:lnSpc>
                        <a:spcBef>
                          <a:spcPts val="0"/>
                        </a:spcBef>
                        <a:spcAft>
                          <a:spcPts val="0"/>
                        </a:spcAft>
                        <a:buNone/>
                      </a:pPr>
                      <a:r>
                        <a:rPr lang="en" sz="1000">
                          <a:solidFill>
                            <a:srgbClr val="FFFFFF"/>
                          </a:solidFill>
                        </a:rPr>
                        <a:t>Media</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Jan</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Feb</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Mar</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Apr</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May</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Jun</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Jul</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Aug</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Sep</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Oct</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Nov</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Dec</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tc>
                  <a:txBody>
                    <a:bodyPr/>
                    <a:lstStyle/>
                    <a:p>
                      <a:pPr algn="ctr" indent="0" lvl="0" marL="0" rtl="0">
                        <a:lnSpc>
                          <a:spcPct val="115000"/>
                        </a:lnSpc>
                        <a:spcBef>
                          <a:spcPts val="0"/>
                        </a:spcBef>
                        <a:spcAft>
                          <a:spcPts val="0"/>
                        </a:spcAft>
                        <a:buNone/>
                      </a:pPr>
                      <a:r>
                        <a:rPr lang="en" sz="1000">
                          <a:solidFill>
                            <a:srgbClr val="FFFFFF"/>
                          </a:solidFill>
                        </a:rPr>
                        <a:t>Total</a:t>
                      </a:r>
                      <a:endParaRPr sz="1000">
                        <a:solidFill>
                          <a:srgbClr val="FFFFFF"/>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solidFill>
                      <a:srgbClr val="38761D"/>
                    </a:solidFill>
                  </a:tcPr>
                </a:tc>
                <a:extLst>
                  <a:ext uri="{0D108BD9-81ED-4DB2-BD59-A6C34878D82A}">
                    <a16:rowId xmlns:a16="http://schemas.microsoft.com/office/drawing/2014/main" val="10000"/>
                  </a:ext>
                </a:extLst>
              </a:tr>
              <a:tr h="212650">
                <a:tc>
                  <a:txBody>
                    <a:bodyPr/>
                    <a:lstStyle/>
                    <a:p>
                      <a:pPr algn="ctr" indent="0" lvl="0" marL="0" rtl="0">
                        <a:lnSpc>
                          <a:spcPct val="115000"/>
                        </a:lnSpc>
                        <a:spcBef>
                          <a:spcPts val="0"/>
                        </a:spcBef>
                        <a:spcAft>
                          <a:spcPts val="0"/>
                        </a:spcAft>
                        <a:buNone/>
                      </a:pPr>
                      <a:r>
                        <a:rPr lang="en" sz="1000"/>
                        <a:t>WWWW</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$3,000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$3,000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$4,500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$4,500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$4,500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$3,000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$3,000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$3,000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$3,000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$36,000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extLst>
                  <a:ext uri="{0D108BD9-81ED-4DB2-BD59-A6C34878D82A}">
                    <a16:rowId xmlns:a16="http://schemas.microsoft.com/office/drawing/2014/main" val="10001"/>
                  </a:ext>
                </a:extLst>
              </a:tr>
              <a:tr h="212650">
                <a:tc>
                  <a:txBody>
                    <a:bodyPr/>
                    <a:lstStyle/>
                    <a:p>
                      <a:pPr algn="ctr" indent="0" lvl="0" marL="0" rtl="0">
                        <a:lnSpc>
                          <a:spcPct val="115000"/>
                        </a:lnSpc>
                        <a:spcBef>
                          <a:spcPts val="0"/>
                        </a:spcBef>
                        <a:spcAft>
                          <a:spcPts val="0"/>
                        </a:spcAft>
                        <a:buNone/>
                      </a:pPr>
                      <a:r>
                        <a:rPr lang="en" sz="1000"/>
                        <a:t>Digital</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$12,000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extLst>
                  <a:ext uri="{0D108BD9-81ED-4DB2-BD59-A6C34878D82A}">
                    <a16:rowId xmlns:a16="http://schemas.microsoft.com/office/drawing/2014/main" val="10002"/>
                  </a:ext>
                </a:extLst>
              </a:tr>
              <a:tr h="386650">
                <a:tc>
                  <a:txBody>
                    <a:bodyPr/>
                    <a:lstStyle/>
                    <a:p>
                      <a:pPr algn="ctr" indent="0" lvl="0" marL="0"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$6,000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extLst>
                  <a:ext uri="{0D108BD9-81ED-4DB2-BD59-A6C34878D82A}">
                    <a16:rowId xmlns:a16="http://schemas.microsoft.com/office/drawing/2014/main" val="10003"/>
                  </a:ext>
                </a:extLst>
              </a:tr>
              <a:tr h="212650">
                <a:tc>
                  <a:txBody>
                    <a:bodyPr/>
                    <a:lstStyle/>
                    <a:p>
                      <a:pPr algn="ctr" indent="0" lvl="0" marL="0" rtl="0">
                        <a:lnSpc>
                          <a:spcPct val="115000"/>
                        </a:lnSpc>
                        <a:spcBef>
                          <a:spcPts val="0"/>
                        </a:spcBef>
                        <a:spcAft>
                          <a:spcPts val="0"/>
                        </a:spcAft>
                        <a:buNone/>
                      </a:pPr>
                      <a:r>
                        <a:rPr lang="en" sz="1000"/>
                        <a:t>WWWA</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$12,000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extLst>
                  <a:ext uri="{0D108BD9-81ED-4DB2-BD59-A6C34878D82A}">
                    <a16:rowId xmlns:a16="http://schemas.microsoft.com/office/drawing/2014/main" val="10004"/>
                  </a:ext>
                </a:extLst>
              </a:tr>
              <a:tr h="386650">
                <a:tc>
                  <a:txBody>
                    <a:bodyPr/>
                    <a:lstStyle/>
                    <a:p>
                      <a:pPr algn="ctr" indent="0" lvl="0" marL="0" rtl="0">
                        <a:lnSpc>
                          <a:spcPct val="115000"/>
                        </a:lnSpc>
                        <a:spcBef>
                          <a:spcPts val="0"/>
                        </a:spcBef>
                        <a:spcAft>
                          <a:spcPts val="0"/>
                        </a:spcAft>
                        <a:buNone/>
                      </a:pPr>
                      <a:r>
                        <a:rPr lang="en" sz="1000"/>
                        <a:t>Monthly Totals</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$3,500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$3,500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$3,500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$7,500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$7,500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$7,500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$5,500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tc>
                  <a:txBody>
                    <a:bodyPr/>
                    <a:lstStyle/>
                    <a:p>
                      <a:pPr algn="ctr" indent="0" lvl="0" marL="0" rtl="0">
                        <a:lnSpc>
                          <a:spcPct val="115000"/>
                        </a:lnSpc>
                        <a:spcBef>
                          <a:spcPts val="0"/>
                        </a:spcBef>
                        <a:spcAft>
                          <a:spcPts val="0"/>
                        </a:spcAft>
                        <a:buNone/>
                      </a:pPr>
                      <a:r>
                        <a:rPr lang="en" sz="1000"/>
                        <a:t>$66,000</a:t>
                      </a:r>
                      <a:endParaRPr sz="1000"/>
                    </a:p>
                  </a:txBody>
                  <a:tcPr anchor="b" marB="19050" marL="28575" marR="28575" marT="19050">
                    <a:lnL cap="flat" cmpd="sng" w="9525">
                      <a:solidFill>
                        <a:srgbClr val="CCCCCC"/>
                      </a:solidFill>
                      <a:prstDash val="solid"/>
                      <a:round/>
                      <a:headEnd len="sm" type="none" w="sm"/>
                      <a:tailEnd len="sm" type="none" w="sm"/>
                    </a:lnL>
                    <a:lnR cap="flat" cmpd="sng" w="9525">
                      <a:solidFill>
                        <a:srgbClr val="CCCCCC"/>
                      </a:solidFill>
                      <a:prstDash val="solid"/>
                      <a:round/>
                      <a:headEnd len="sm" type="none" w="sm"/>
                      <a:tailEnd len="sm" type="none" w="sm"/>
                    </a:lnR>
                    <a:lnT cap="flat" cmpd="sng" w="9525">
                      <a:solidFill>
                        <a:srgbClr val="CCCCCC"/>
                      </a:solidFill>
                      <a:prstDash val="solid"/>
                      <a:round/>
                      <a:headEnd len="sm" type="none" w="sm"/>
                      <a:tailEnd len="sm" type="none" w="sm"/>
                    </a:lnT>
                    <a:lnB cap="flat" cmpd="sng" w="9525">
                      <a:solidFill>
                        <a:srgbClr val="CCCCCC"/>
                      </a:solidFill>
                      <a:prstDash val="solid"/>
                      <a:round/>
                      <a:headEnd len="sm" type="none" w="sm"/>
                      <a:tailEnd len="sm" type="none" w="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Client Policy Agreement</a:t>
            </a:r>
            <a:endParaRPr/>
          </a:p>
        </p:txBody>
      </p:sp>
      <p:sp>
        <p:nvSpPr>
          <p:cNvPr id="534" name="Google Shape;534;p48"/>
          <p:cNvSpPr txBox="1">
            <a:spLocks noGrp="1"/>
          </p:cNvSpPr>
          <p:nvPr>
            <p:ph idx="1" type="body"/>
          </p:nvPr>
        </p:nvSpPr>
        <p:spPr>
          <a:xfrm>
            <a:off x="458400" y="1170425"/>
            <a:ext cx="8227200" cy="1124700"/>
          </a:xfrm>
          <a:prstGeom prst="rect">
            <a:avLst/>
          </a:prstGeom>
        </p:spPr>
        <p:txBody>
          <a:bodyPr anchor="t" anchorCtr="0" bIns="91425" lIns="91425" rIns="91425" spcFirstLastPara="1" tIns="91425" wrap="square">
            <a:noAutofit/>
          </a:bodyPr>
          <a:lstStyle/>
          <a:p>
            <a:pPr algn="ctr" indent="0" lvl="0" marL="0"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idx="2" type="body"/>
          </p:nvPr>
        </p:nvSpPr>
        <p:spPr>
          <a:xfrm>
            <a:off x="365700" y="2295125"/>
            <a:ext cx="8412600" cy="4205400"/>
          </a:xfrm>
          <a:prstGeom prst="rect">
            <a:avLst/>
          </a:prstGeom>
        </p:spPr>
        <p:txBody>
          <a:bodyPr anchor="t" anchorCtr="0" bIns="91425" lIns="91425" rIns="91425" spcFirstLastPara="1" tIns="91425" wrap="square">
            <a:noAutofit/>
          </a:bodyPr>
          <a:lstStyle/>
          <a:p>
            <a:pPr algn="l" indent="-301625" lvl="0" marL="457200"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algn="l" indent="-301625" lvl="0" marL="457200"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algn="l" indent="-301625" lvl="0" marL="457200"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algn="l" indent="-301625" lvl="0" marL="457200"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algn="l" indent="-301625" lvl="0" marL="457200"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algn="l" indent="-301625" lvl="0" marL="457200"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algn="l" indent="-301625" lvl="0" marL="457200"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algn="l" indent="-301625" lvl="0" marL="457200"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algn="l" indent="-301625" lvl="0" marL="457200"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algn="l" indent="-301625" lvl="0" marL="457200"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i="1" lang="en" sz="1150">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algn="l" indent="0" lvl="0" marL="0"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anchor="b" anchorCtr="0" bIns="91425" lIns="91425" rIns="91425" spcFirstLastPara="1" tIns="91425" wrap="square">
            <a:noAutofit/>
          </a:bodyPr>
          <a:lstStyle/>
          <a:p>
            <a:pPr algn="ctr" indent="0" lvl="0" marL="0" rtl="0">
              <a:spcBef>
                <a:spcPts val="0"/>
              </a:spcBef>
              <a:spcAft>
                <a:spcPts val="0"/>
              </a:spcAft>
              <a:buNone/>
            </a:pPr>
            <a:r>
              <a:rPr lang="en"/>
              <a:t>Sales Service Agreement</a:t>
            </a:r>
            <a:endParaRPr/>
          </a:p>
        </p:txBody>
      </p:sp>
      <p:sp>
        <p:nvSpPr>
          <p:cNvPr id="541" name="Google Shape;541;p49"/>
          <p:cNvSpPr txBox="1">
            <a:spLocks noGrp="1"/>
          </p:cNvSpPr>
          <p:nvPr>
            <p:ph idx="1" type="body"/>
          </p:nvPr>
        </p:nvSpPr>
        <p:spPr>
          <a:xfrm>
            <a:off x="458400" y="1170425"/>
            <a:ext cx="8227200" cy="787500"/>
          </a:xfrm>
          <a:prstGeom prst="rect">
            <a:avLst/>
          </a:prstGeom>
        </p:spPr>
        <p:txBody>
          <a:bodyPr anchor="t" anchorCtr="0" bIns="91425" lIns="91425" rIns="91425" spcFirstLastPara="1" tIns="91425" wrap="square">
            <a:noAutofit/>
          </a:bodyPr>
          <a:lstStyle/>
          <a:p>
            <a:pPr algn="ctr" indent="0" lvl="0" marL="0" rtl="0">
              <a:spcBef>
                <a:spcPts val="0"/>
              </a:spcBef>
              <a:spcAft>
                <a:spcPts val="1600"/>
              </a:spcAft>
              <a:buNone/>
            </a:pPr>
            <a:r>
              <a:rPr b="1" lang="en" sz="1150">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b="1" sz="1150">
              <a:solidFill>
                <a:srgbClr val="000000"/>
              </a:solidFill>
              <a:latin typeface="Verdana"/>
              <a:ea typeface="Verdana"/>
              <a:cs typeface="Verdana"/>
              <a:sym typeface="Verdana"/>
            </a:endParaRPr>
          </a:p>
        </p:txBody>
      </p:sp>
      <p:sp>
        <p:nvSpPr>
          <p:cNvPr id="542" name="Google Shape;542;p49"/>
          <p:cNvSpPr txBox="1">
            <a:spLocks noGrp="1"/>
          </p:cNvSpPr>
          <p:nvPr>
            <p:ph idx="2" type="body"/>
          </p:nvPr>
        </p:nvSpPr>
        <p:spPr>
          <a:xfrm>
            <a:off x="365750" y="2386584"/>
            <a:ext cx="5376600" cy="3621000"/>
          </a:xfrm>
          <a:prstGeom prst="rect">
            <a:avLst/>
          </a:prstGeom>
        </p:spPr>
        <p:txBody>
          <a:bodyPr anchor="t" anchorCtr="0" bIns="91425" lIns="91425" rIns="91425" spcFirstLastPara="1" tIns="91425" wrap="square">
            <a:noAutofit/>
          </a:bodyPr>
          <a:lstStyle/>
          <a:p>
            <a:pPr algn="l" indent="-301625" lvl="0" marL="457200"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algn="l" indent="-301625" lvl="0" marL="457200"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algn="l" indent="-301625" lvl="0" marL="457200"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algn="l" indent="-301625" lvl="0" marL="457200"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algn="l" indent="-301625" lvl="0" marL="457200"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algn="l" indent="-301625" lvl="0" marL="457200"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algn="l" indent="-301625" lvl="0" marL="457200"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algn="l" indent="-301625" lvl="0" marL="457200"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anchor="t" anchorCtr="0" bIns="91425" lIns="91425" rIns="91425" spcFirstLastPara="1" tIns="91425" wrap="square">
            <a:spAutoFit/>
          </a:bodyPr>
          <a:lstStyle/>
          <a:p>
            <a:pPr algn="l" indent="0" lvl="0" marL="0"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cap="flat" cmpd="sng" w="19050">
            <a:solidFill>
              <a:srgbClr val="000000"/>
            </a:solidFill>
            <a:prstDash val="solid"/>
            <a:round/>
            <a:headEnd len="med" type="none" w="med"/>
            <a:tailEnd len="med" type="none" w="med"/>
          </a:ln>
        </p:spPr>
      </p:cxnSp>
      <p:cxnSp>
        <p:nvCxnSpPr>
          <p:cNvPr id="545" name="Google Shape;545;p49"/>
          <p:cNvCxnSpPr/>
          <p:nvPr/>
        </p:nvCxnSpPr>
        <p:spPr>
          <a:xfrm>
            <a:off x="7850825" y="3020507"/>
            <a:ext cx="715500" cy="0"/>
          </a:xfrm>
          <a:prstGeom prst="straightConnector1">
            <a:avLst/>
          </a:prstGeom>
          <a:noFill/>
          <a:ln cap="flat" cmpd="sng" w="19050">
            <a:solidFill>
              <a:srgbClr val="000000"/>
            </a:solidFill>
            <a:prstDash val="solid"/>
            <a:round/>
            <a:headEnd len="med" type="none" w="med"/>
            <a:tailEnd len="med" type="none" w="med"/>
          </a:ln>
        </p:spPr>
      </p:cxnSp>
      <p:cxnSp>
        <p:nvCxnSpPr>
          <p:cNvPr id="546" name="Google Shape;546;p49"/>
          <p:cNvCxnSpPr/>
          <p:nvPr/>
        </p:nvCxnSpPr>
        <p:spPr>
          <a:xfrm>
            <a:off x="7850825" y="3483564"/>
            <a:ext cx="715500" cy="0"/>
          </a:xfrm>
          <a:prstGeom prst="straightConnector1">
            <a:avLst/>
          </a:prstGeom>
          <a:noFill/>
          <a:ln cap="flat" cmpd="sng" w="19050">
            <a:solidFill>
              <a:srgbClr val="000000"/>
            </a:solidFill>
            <a:prstDash val="solid"/>
            <a:round/>
            <a:headEnd len="med" type="none" w="med"/>
            <a:tailEnd len="med" type="none" w="med"/>
          </a:ln>
        </p:spPr>
      </p:cxnSp>
      <p:cxnSp>
        <p:nvCxnSpPr>
          <p:cNvPr id="547" name="Google Shape;547;p49"/>
          <p:cNvCxnSpPr/>
          <p:nvPr/>
        </p:nvCxnSpPr>
        <p:spPr>
          <a:xfrm>
            <a:off x="7850825" y="3946622"/>
            <a:ext cx="715500" cy="0"/>
          </a:xfrm>
          <a:prstGeom prst="straightConnector1">
            <a:avLst/>
          </a:prstGeom>
          <a:noFill/>
          <a:ln cap="flat" cmpd="sng" w="19050">
            <a:solidFill>
              <a:srgbClr val="000000"/>
            </a:solidFill>
            <a:prstDash val="solid"/>
            <a:round/>
            <a:headEnd len="med" type="none" w="med"/>
            <a:tailEnd len="med" type="none" w="med"/>
          </a:ln>
        </p:spPr>
      </p:cxnSp>
      <p:cxnSp>
        <p:nvCxnSpPr>
          <p:cNvPr id="548" name="Google Shape;548;p49"/>
          <p:cNvCxnSpPr/>
          <p:nvPr/>
        </p:nvCxnSpPr>
        <p:spPr>
          <a:xfrm>
            <a:off x="7850825" y="4409679"/>
            <a:ext cx="715500" cy="0"/>
          </a:xfrm>
          <a:prstGeom prst="straightConnector1">
            <a:avLst/>
          </a:prstGeom>
          <a:noFill/>
          <a:ln cap="flat" cmpd="sng" w="19050">
            <a:solidFill>
              <a:srgbClr val="000000"/>
            </a:solidFill>
            <a:prstDash val="solid"/>
            <a:round/>
            <a:headEnd len="med" type="none" w="med"/>
            <a:tailEnd len="med" type="none" w="med"/>
          </a:ln>
        </p:spPr>
      </p:cxnSp>
      <p:cxnSp>
        <p:nvCxnSpPr>
          <p:cNvPr id="549" name="Google Shape;549;p49"/>
          <p:cNvCxnSpPr/>
          <p:nvPr/>
        </p:nvCxnSpPr>
        <p:spPr>
          <a:xfrm>
            <a:off x="7850825" y="4872736"/>
            <a:ext cx="715500" cy="0"/>
          </a:xfrm>
          <a:prstGeom prst="straightConnector1">
            <a:avLst/>
          </a:prstGeom>
          <a:noFill/>
          <a:ln cap="flat" cmpd="sng" w="19050">
            <a:solidFill>
              <a:srgbClr val="000000"/>
            </a:solidFill>
            <a:prstDash val="solid"/>
            <a:round/>
            <a:headEnd len="med" type="none" w="med"/>
            <a:tailEnd len="med" type="none" w="med"/>
          </a:ln>
        </p:spPr>
      </p:cxnSp>
      <p:cxnSp>
        <p:nvCxnSpPr>
          <p:cNvPr id="550" name="Google Shape;550;p49"/>
          <p:cNvCxnSpPr/>
          <p:nvPr/>
        </p:nvCxnSpPr>
        <p:spPr>
          <a:xfrm>
            <a:off x="7850825" y="5335793"/>
            <a:ext cx="715500" cy="0"/>
          </a:xfrm>
          <a:prstGeom prst="straightConnector1">
            <a:avLst/>
          </a:prstGeom>
          <a:noFill/>
          <a:ln cap="flat" cmpd="sng" w="19050">
            <a:solidFill>
              <a:srgbClr val="000000"/>
            </a:solidFill>
            <a:prstDash val="solid"/>
            <a:round/>
            <a:headEnd len="med" type="none" w="med"/>
            <a:tailEnd len="med" type="none" w="med"/>
          </a:ln>
        </p:spPr>
      </p:cxnSp>
      <p:cxnSp>
        <p:nvCxnSpPr>
          <p:cNvPr id="551" name="Google Shape;551;p49"/>
          <p:cNvCxnSpPr/>
          <p:nvPr/>
        </p:nvCxnSpPr>
        <p:spPr>
          <a:xfrm>
            <a:off x="7850825" y="5837400"/>
            <a:ext cx="715500" cy="0"/>
          </a:xfrm>
          <a:prstGeom prst="straightConnector1">
            <a:avLst/>
          </a:prstGeom>
          <a:noFill/>
          <a:ln cap="flat" cmpd="sng" w="19050">
            <a:solidFill>
              <a:srgbClr val="000000"/>
            </a:solidFill>
            <a:prstDash val="solid"/>
            <a:round/>
            <a:headEnd len="med" type="none" w="med"/>
            <a:tailEnd len="med" type="none" w="med"/>
          </a:ln>
        </p:spPr>
      </p:cxnSp>
      <p:cxnSp>
        <p:nvCxnSpPr>
          <p:cNvPr id="552" name="Google Shape;552;p49"/>
          <p:cNvCxnSpPr/>
          <p:nvPr/>
        </p:nvCxnSpPr>
        <p:spPr>
          <a:xfrm>
            <a:off x="505000" y="6408575"/>
            <a:ext cx="3657600" cy="0"/>
          </a:xfrm>
          <a:prstGeom prst="straightConnector1">
            <a:avLst/>
          </a:prstGeom>
          <a:noFill/>
          <a:ln cap="flat" cmpd="sng" w="19050">
            <a:solidFill>
              <a:srgbClr val="000000"/>
            </a:solidFill>
            <a:prstDash val="solid"/>
            <a:round/>
            <a:headEnd len="med" type="none" w="med"/>
            <a:tailEnd len="med" type="none" w="med"/>
          </a:ln>
        </p:spPr>
      </p:cxnSp>
      <p:cxnSp>
        <p:nvCxnSpPr>
          <p:cNvPr id="553" name="Google Shape;553;p49"/>
          <p:cNvCxnSpPr/>
          <p:nvPr/>
        </p:nvCxnSpPr>
        <p:spPr>
          <a:xfrm>
            <a:off x="4981375" y="6408575"/>
            <a:ext cx="3657600" cy="0"/>
          </a:xfrm>
          <a:prstGeom prst="straightConnector1">
            <a:avLst/>
          </a:prstGeom>
          <a:noFill/>
          <a:ln cap="flat" cmpd="sng" w="19050">
            <a:solidFill>
              <a:srgbClr val="000000"/>
            </a:solidFill>
            <a:prstDash val="solid"/>
            <a:round/>
            <a:headEnd len="med" type="none" w="med"/>
            <a:tailEnd len="med" type="none" w="med"/>
          </a:ln>
        </p:spPr>
      </p:cxnSp>
      <p:sp>
        <p:nvSpPr>
          <p:cNvPr id="554" name="Google Shape;554;p49"/>
          <p:cNvSpPr txBox="1"/>
          <p:nvPr/>
        </p:nvSpPr>
        <p:spPr>
          <a:xfrm>
            <a:off x="505025" y="6339000"/>
            <a:ext cx="1800900" cy="538800"/>
          </a:xfrm>
          <a:prstGeom prst="rect">
            <a:avLst/>
          </a:prstGeom>
          <a:noFill/>
          <a:ln>
            <a:noFill/>
          </a:ln>
        </p:spPr>
        <p:txBody>
          <a:bodyPr anchor="t" anchorCtr="0" bIns="91425" lIns="91425" rIns="91425" spcFirstLastPara="1" tIns="91425" wrap="square">
            <a:spAutoFit/>
          </a:bodyPr>
          <a:lstStyle/>
          <a:p>
            <a:pPr algn="l" indent="0" lvl="0" marL="0"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anchor="t" anchorCtr="0" bIns="91425" lIns="91425" rIns="91425" spcFirstLastPara="1" tIns="91425" wrap="square">
            <a:spAutoFit/>
          </a:bodyPr>
          <a:lstStyle/>
          <a:p>
            <a:pPr algn="l" indent="0" lvl="0" marL="0"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anchor="t" anchorCtr="0" bIns="91425" lIns="91425" rIns="91425" spcFirstLastPara="1" tIns="91425" wrap="square">
            <a:spAutoFit/>
          </a:bodyPr>
          <a:lstStyle/>
          <a:p>
            <a:pPr algn="ctr" indent="0" lvl="0" marL="0"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anchor="t" anchorCtr="0" bIns="91425" lIns="91425" rIns="91425" spcFirstLastPara="1" tIns="91425" wrap="square">
            <a:spAutoFit/>
          </a:bodyPr>
          <a:lstStyle/>
          <a:p>
            <a:pPr algn="ctr" indent="0" lvl="0" marL="0"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101</TotalTime>
  <Words>29414</Words>
  <Application>Microsoft Macintosh PowerPoint</Application>
  <PresentationFormat>Custom</PresentationFormat>
  <Paragraphs>1995</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cp:lastModifiedBy>andrew hinton</cp:lastModifiedBy>
  <dcterms:modified xsi:type="dcterms:W3CDTF">2026-01-10T21:53:40Z</dcterms:modified>
  <cp:revision>5</cp:revision>
  <dc:title>PowerPoint Presentation</dc:title>
</cp:coreProperties>
</file>