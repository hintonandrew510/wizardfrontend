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5.xml" ContentType="application/vnd.openxmlformats-officedocument.presentationml.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4"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10"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3029"/>
    <p:restoredTop sz="94479"/>
  </p:normalViewPr>
  <p:slideViewPr>
    <p:cSldViewPr snapToGrid="0">
      <p:cViewPr varScale="1">
        <p:scale>
          <a:sx n="60" d="100"/>
          <a:sy n="60" d="100"/>
        </p:scale>
        <p:origin x="928" y="472"/>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3" Type="http://schemas.openxmlformats.org/officeDocument/2006/relationships/oleObject" Target="../embeddings/oleObject1.bin"/><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embeddings/oleObject2.bin"/><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1-18T18:44:18.318" idx="10">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40DA2237-D124-1A3B-080C-2D0DF8484314}"/>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4172D168-98AE-5BD6-3580-DD8EF7D056EE}"/>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113EC8D9-F898-AEAD-0070-41352C0FD3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997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2">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comments" Target="../comments/commen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dirty="0">
                <a:latin typeface="Verdana"/>
                <a:ea typeface="Verdana"/>
                <a:cs typeface="Verdana"/>
                <a:sym typeface="Verdana"/>
              </a:rPr>
              <a:t>The following proposal will be submitted to</a:t>
            </a:r>
            <a:endParaRPr sz="1550" b="1" dirty="0">
              <a:latin typeface="Verdana"/>
              <a:ea typeface="Verdana"/>
              <a:cs typeface="Verdana"/>
              <a:sym typeface="Verdana"/>
            </a:endParaRPr>
          </a:p>
          <a:p>
            <a:pPr marL="0" lvl="0" indent="0" algn="ctr" rtl="0">
              <a:spcBef>
                <a:spcPts val="0"/>
              </a:spcBef>
              <a:spcAft>
                <a:spcPts val="0"/>
              </a:spcAft>
              <a:buNone/>
            </a:pPr>
            <a:r>
              <a:rPr lang="en" sz="1550" b="1" dirty="0" err="1">
                <a:latin typeface="Verdana"/>
                <a:ea typeface="Verdana"/>
                <a:cs typeface="Verdana"/>
                <a:sym typeface="Verdana"/>
              </a:rPr>
              <a:t>clientBusinessName</a:t>
            </a:r>
            <a:endParaRPr sz="155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a:t>
            </a:r>
            <a:endParaRPr/>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3055491995"/>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8274864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2983055170"/>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751052941"/>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439513245"/>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389748"/>
            <a:ext cx="7466100" cy="5598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814608630"/>
              </p:ext>
            </p:extLst>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5B62369B-885B-8D26-0614-314EA8615D8D}"/>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41A61DC-E11A-06B6-4D6C-B01D002752C0}"/>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AFB28DC1-5A23-1D5F-E1AC-C7C2C3C7821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B05858EA-9A7B-B10B-6097-D8A1A094AE83}"/>
              </a:ext>
            </a:extLst>
          </p:cNvPr>
          <p:cNvSpPr txBox="1"/>
          <p:nvPr/>
        </p:nvSpPr>
        <p:spPr>
          <a:xfrm>
            <a:off x="398025" y="475488"/>
            <a:ext cx="8399400" cy="1097706"/>
          </a:xfrm>
          <a:prstGeom prst="rect">
            <a:avLst/>
          </a:prstGeom>
          <a:noFill/>
          <a:ln>
            <a:noFill/>
          </a:ln>
        </p:spPr>
        <p:txBody>
          <a:bodyPr spcFirstLastPara="1" wrap="square" lIns="91425" tIns="91425" rIns="91425" bIns="91425" anchor="t" anchorCtr="0">
            <a:spAutoFit/>
          </a:bodyPr>
          <a:lstStyle/>
          <a:p>
            <a:pPr lvl="0" algn="ctr">
              <a:lnSpc>
                <a:spcPct val="115000"/>
              </a:lnSpc>
              <a:spcBef>
                <a:spcPts val="800"/>
              </a:spcBef>
              <a:spcAft>
                <a:spcPts val="800"/>
              </a:spcAft>
              <a:buClr>
                <a:schemeClr val="dk1"/>
              </a:buClr>
              <a:buSzPts val="1100"/>
            </a:pPr>
            <a:r>
              <a:rPr lang="en-US" sz="4000" b="1" dirty="0">
                <a:solidFill>
                  <a:schemeClr val="dk1"/>
                </a:solidFill>
              </a:rPr>
              <a:t>Proposed Year’s Media Allocation</a:t>
            </a:r>
            <a:endParaRPr lang="en-US" sz="4000" dirty="0"/>
          </a:p>
        </p:txBody>
      </p:sp>
      <p:sp>
        <p:nvSpPr>
          <p:cNvPr id="324" name="Google Shape;324;p24">
            <a:extLst>
              <a:ext uri="{FF2B5EF4-FFF2-40B4-BE49-F238E27FC236}">
                <a16:creationId xmlns:a16="http://schemas.microsoft.com/office/drawing/2014/main" id="{893114EA-0A6D-762B-CA7B-4960ED015B02}"/>
              </a:ext>
            </a:extLst>
          </p:cNvPr>
          <p:cNvSpPr txBox="1"/>
          <p:nvPr/>
        </p:nvSpPr>
        <p:spPr>
          <a:xfrm>
            <a:off x="841248" y="6224954"/>
            <a:ext cx="7466100" cy="724594"/>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C0C6E880-8D71-1216-0399-53837D66C448}"/>
              </a:ext>
            </a:extLst>
          </p:cNvPr>
          <p:cNvGraphicFramePr/>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65247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Proposed Schedule - Plan A</a:t>
            </a:r>
            <a:endParaRPr dirty="0"/>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5" name="Picture 4" descr="A graph of different colored bars&#10;&#10;AI-generated content may be incorrect.">
            <a:extLst>
              <a:ext uri="{FF2B5EF4-FFF2-40B4-BE49-F238E27FC236}">
                <a16:creationId xmlns:a16="http://schemas.microsoft.com/office/drawing/2014/main" id="{FE8398A2-CB08-1186-728B-E69161544E32}"/>
              </a:ext>
            </a:extLst>
          </p:cNvPr>
          <p:cNvPicPr>
            <a:picLocks noChangeAspect="1"/>
          </p:cNvPicPr>
          <p:nvPr/>
        </p:nvPicPr>
        <p:blipFill>
          <a:blip r:embed="rId3"/>
          <a:stretch>
            <a:fillRect/>
          </a:stretch>
        </p:blipFill>
        <p:spPr>
          <a:xfrm>
            <a:off x="956929" y="2042336"/>
            <a:ext cx="6889899" cy="427428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planACity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planAReach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planAFrequency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planADigitalImpressionsMonthly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planAMonthly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planADaily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planAAverageSale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planAAdditionalGrossSales</a:t>
            </a:r>
            <a:endParaRPr sz="1300" u="sng">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380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a_prospectsNeededToBreakEven</a:t>
            </a:r>
            <a:endParaRPr sz="1300">
              <a:solidFill>
                <a:srgbClr val="000000"/>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49" name="Google Shape;449;p39"/>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B</a:t>
            </a:r>
            <a:endParaRPr/>
          </a:p>
        </p:txBody>
      </p:sp>
      <p:sp>
        <p:nvSpPr>
          <p:cNvPr id="491" name="Google Shape;491;p45"/>
          <p:cNvSpPr txBox="1">
            <a:spLocks noGrp="1"/>
          </p:cNvSpPr>
          <p:nvPr>
            <p:ph type="body" idx="2"/>
          </p:nvPr>
        </p:nvSpPr>
        <p:spPr>
          <a:xfrm>
            <a:off x="7132320" y="1453896"/>
            <a:ext cx="1243500" cy="51939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
        <p:nvSpPr>
          <p:cNvPr id="492" name="Google Shape;492;p45"/>
          <p:cNvSpPr txBox="1">
            <a:spLocks noGrp="1"/>
          </p:cNvSpPr>
          <p:nvPr>
            <p:ph type="body" idx="2"/>
          </p:nvPr>
        </p:nvSpPr>
        <p:spPr>
          <a:xfrm>
            <a:off x="772638" y="1453125"/>
            <a:ext cx="6355200" cy="51927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graphicFrame>
        <p:nvGraphicFramePr>
          <p:cNvPr id="510" name="Google Shape;510;p46"/>
          <p:cNvGraphicFramePr/>
          <p:nvPr/>
        </p:nvGraphicFramePr>
        <p:xfrm>
          <a:off x="297400" y="2615775"/>
          <a:ext cx="8374450" cy="1493450"/>
        </p:xfrm>
        <a:graphic>
          <a:graphicData uri="http://schemas.openxmlformats.org/drawingml/2006/table">
            <a:tbl>
              <a:tblPr>
                <a:noFill/>
                <a:tableStyleId>{CFB75FC7-DD7D-40D8-B2B2-EE4B611A8D2E}</a:tableStyleId>
              </a:tblPr>
              <a:tblGrid>
                <a:gridCol w="598175">
                  <a:extLst>
                    <a:ext uri="{9D8B030D-6E8A-4147-A177-3AD203B41FA5}">
                      <a16:colId xmlns:a16="http://schemas.microsoft.com/office/drawing/2014/main" val="20000"/>
                    </a:ext>
                  </a:extLst>
                </a:gridCol>
                <a:gridCol w="598175">
                  <a:extLst>
                    <a:ext uri="{9D8B030D-6E8A-4147-A177-3AD203B41FA5}">
                      <a16:colId xmlns:a16="http://schemas.microsoft.com/office/drawing/2014/main" val="20001"/>
                    </a:ext>
                  </a:extLst>
                </a:gridCol>
                <a:gridCol w="598175">
                  <a:extLst>
                    <a:ext uri="{9D8B030D-6E8A-4147-A177-3AD203B41FA5}">
                      <a16:colId xmlns:a16="http://schemas.microsoft.com/office/drawing/2014/main" val="20002"/>
                    </a:ext>
                  </a:extLst>
                </a:gridCol>
                <a:gridCol w="598175">
                  <a:extLst>
                    <a:ext uri="{9D8B030D-6E8A-4147-A177-3AD203B41FA5}">
                      <a16:colId xmlns:a16="http://schemas.microsoft.com/office/drawing/2014/main" val="20003"/>
                    </a:ext>
                  </a:extLst>
                </a:gridCol>
                <a:gridCol w="598175">
                  <a:extLst>
                    <a:ext uri="{9D8B030D-6E8A-4147-A177-3AD203B41FA5}">
                      <a16:colId xmlns:a16="http://schemas.microsoft.com/office/drawing/2014/main" val="20004"/>
                    </a:ext>
                  </a:extLst>
                </a:gridCol>
                <a:gridCol w="598175">
                  <a:extLst>
                    <a:ext uri="{9D8B030D-6E8A-4147-A177-3AD203B41FA5}">
                      <a16:colId xmlns:a16="http://schemas.microsoft.com/office/drawing/2014/main" val="20005"/>
                    </a:ext>
                  </a:extLst>
                </a:gridCol>
                <a:gridCol w="598175">
                  <a:extLst>
                    <a:ext uri="{9D8B030D-6E8A-4147-A177-3AD203B41FA5}">
                      <a16:colId xmlns:a16="http://schemas.microsoft.com/office/drawing/2014/main" val="20006"/>
                    </a:ext>
                  </a:extLst>
                </a:gridCol>
                <a:gridCol w="598175">
                  <a:extLst>
                    <a:ext uri="{9D8B030D-6E8A-4147-A177-3AD203B41FA5}">
                      <a16:colId xmlns:a16="http://schemas.microsoft.com/office/drawing/2014/main" val="20007"/>
                    </a:ext>
                  </a:extLst>
                </a:gridCol>
                <a:gridCol w="598175">
                  <a:extLst>
                    <a:ext uri="{9D8B030D-6E8A-4147-A177-3AD203B41FA5}">
                      <a16:colId xmlns:a16="http://schemas.microsoft.com/office/drawing/2014/main" val="20008"/>
                    </a:ext>
                  </a:extLst>
                </a:gridCol>
                <a:gridCol w="598175">
                  <a:extLst>
                    <a:ext uri="{9D8B030D-6E8A-4147-A177-3AD203B41FA5}">
                      <a16:colId xmlns:a16="http://schemas.microsoft.com/office/drawing/2014/main" val="20009"/>
                    </a:ext>
                  </a:extLst>
                </a:gridCol>
                <a:gridCol w="598175">
                  <a:extLst>
                    <a:ext uri="{9D8B030D-6E8A-4147-A177-3AD203B41FA5}">
                      <a16:colId xmlns:a16="http://schemas.microsoft.com/office/drawing/2014/main" val="20010"/>
                    </a:ext>
                  </a:extLst>
                </a:gridCol>
                <a:gridCol w="598175">
                  <a:extLst>
                    <a:ext uri="{9D8B030D-6E8A-4147-A177-3AD203B41FA5}">
                      <a16:colId xmlns:a16="http://schemas.microsoft.com/office/drawing/2014/main" val="20011"/>
                    </a:ext>
                  </a:extLst>
                </a:gridCol>
                <a:gridCol w="598175">
                  <a:extLst>
                    <a:ext uri="{9D8B030D-6E8A-4147-A177-3AD203B41FA5}">
                      <a16:colId xmlns:a16="http://schemas.microsoft.com/office/drawing/2014/main" val="20012"/>
                    </a:ext>
                  </a:extLst>
                </a:gridCol>
                <a:gridCol w="598175">
                  <a:extLst>
                    <a:ext uri="{9D8B030D-6E8A-4147-A177-3AD203B41FA5}">
                      <a16:colId xmlns:a16="http://schemas.microsoft.com/office/drawing/2014/main" val="20013"/>
                    </a:ext>
                  </a:extLst>
                </a:gridCol>
              </a:tblGrid>
              <a:tr h="30940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0075">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0075">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19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3819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$54,000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graphicFrame>
        <p:nvGraphicFramePr>
          <p:cNvPr id="528" name="Google Shape;528;p47"/>
          <p:cNvGraphicFramePr/>
          <p:nvPr/>
        </p:nvGraphicFramePr>
        <p:xfrm>
          <a:off x="356850" y="2530113"/>
          <a:ext cx="8272950" cy="1623900"/>
        </p:xfrm>
        <a:graphic>
          <a:graphicData uri="http://schemas.openxmlformats.org/drawingml/2006/table">
            <a:tbl>
              <a:tblPr>
                <a:noFill/>
                <a:tableStyleId>{CFB75FC7-DD7D-40D8-B2B2-EE4B611A8D2E}</a:tableStyleId>
              </a:tblPr>
              <a:tblGrid>
                <a:gridCol w="590925">
                  <a:extLst>
                    <a:ext uri="{9D8B030D-6E8A-4147-A177-3AD203B41FA5}">
                      <a16:colId xmlns:a16="http://schemas.microsoft.com/office/drawing/2014/main" val="20000"/>
                    </a:ext>
                  </a:extLst>
                </a:gridCol>
                <a:gridCol w="590925">
                  <a:extLst>
                    <a:ext uri="{9D8B030D-6E8A-4147-A177-3AD203B41FA5}">
                      <a16:colId xmlns:a16="http://schemas.microsoft.com/office/drawing/2014/main" val="20001"/>
                    </a:ext>
                  </a:extLst>
                </a:gridCol>
                <a:gridCol w="590925">
                  <a:extLst>
                    <a:ext uri="{9D8B030D-6E8A-4147-A177-3AD203B41FA5}">
                      <a16:colId xmlns:a16="http://schemas.microsoft.com/office/drawing/2014/main" val="20002"/>
                    </a:ext>
                  </a:extLst>
                </a:gridCol>
                <a:gridCol w="590925">
                  <a:extLst>
                    <a:ext uri="{9D8B030D-6E8A-4147-A177-3AD203B41FA5}">
                      <a16:colId xmlns:a16="http://schemas.microsoft.com/office/drawing/2014/main" val="20003"/>
                    </a:ext>
                  </a:extLst>
                </a:gridCol>
                <a:gridCol w="590925">
                  <a:extLst>
                    <a:ext uri="{9D8B030D-6E8A-4147-A177-3AD203B41FA5}">
                      <a16:colId xmlns:a16="http://schemas.microsoft.com/office/drawing/2014/main" val="20004"/>
                    </a:ext>
                  </a:extLst>
                </a:gridCol>
                <a:gridCol w="590925">
                  <a:extLst>
                    <a:ext uri="{9D8B030D-6E8A-4147-A177-3AD203B41FA5}">
                      <a16:colId xmlns:a16="http://schemas.microsoft.com/office/drawing/2014/main" val="20005"/>
                    </a:ext>
                  </a:extLst>
                </a:gridCol>
                <a:gridCol w="590925">
                  <a:extLst>
                    <a:ext uri="{9D8B030D-6E8A-4147-A177-3AD203B41FA5}">
                      <a16:colId xmlns:a16="http://schemas.microsoft.com/office/drawing/2014/main" val="20006"/>
                    </a:ext>
                  </a:extLst>
                </a:gridCol>
                <a:gridCol w="590925">
                  <a:extLst>
                    <a:ext uri="{9D8B030D-6E8A-4147-A177-3AD203B41FA5}">
                      <a16:colId xmlns:a16="http://schemas.microsoft.com/office/drawing/2014/main" val="20007"/>
                    </a:ext>
                  </a:extLst>
                </a:gridCol>
                <a:gridCol w="590925">
                  <a:extLst>
                    <a:ext uri="{9D8B030D-6E8A-4147-A177-3AD203B41FA5}">
                      <a16:colId xmlns:a16="http://schemas.microsoft.com/office/drawing/2014/main" val="20008"/>
                    </a:ext>
                  </a:extLst>
                </a:gridCol>
                <a:gridCol w="590925">
                  <a:extLst>
                    <a:ext uri="{9D8B030D-6E8A-4147-A177-3AD203B41FA5}">
                      <a16:colId xmlns:a16="http://schemas.microsoft.com/office/drawing/2014/main" val="20009"/>
                    </a:ext>
                  </a:extLst>
                </a:gridCol>
                <a:gridCol w="590925">
                  <a:extLst>
                    <a:ext uri="{9D8B030D-6E8A-4147-A177-3AD203B41FA5}">
                      <a16:colId xmlns:a16="http://schemas.microsoft.com/office/drawing/2014/main" val="20010"/>
                    </a:ext>
                  </a:extLst>
                </a:gridCol>
                <a:gridCol w="590925">
                  <a:extLst>
                    <a:ext uri="{9D8B030D-6E8A-4147-A177-3AD203B41FA5}">
                      <a16:colId xmlns:a16="http://schemas.microsoft.com/office/drawing/2014/main" val="20011"/>
                    </a:ext>
                  </a:extLst>
                </a:gridCol>
                <a:gridCol w="590925">
                  <a:extLst>
                    <a:ext uri="{9D8B030D-6E8A-4147-A177-3AD203B41FA5}">
                      <a16:colId xmlns:a16="http://schemas.microsoft.com/office/drawing/2014/main" val="20012"/>
                    </a:ext>
                  </a:extLst>
                </a:gridCol>
                <a:gridCol w="590925">
                  <a:extLst>
                    <a:ext uri="{9D8B030D-6E8A-4147-A177-3AD203B41FA5}">
                      <a16:colId xmlns:a16="http://schemas.microsoft.com/office/drawing/2014/main" val="20013"/>
                    </a:ext>
                  </a:extLst>
                </a:gridCol>
              </a:tblGrid>
              <a:tr h="21265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2650">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2650">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66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12650">
                <a:tc>
                  <a:txBody>
                    <a:bodyPr/>
                    <a:lstStyle/>
                    <a:p>
                      <a:pPr marL="0" lvl="0" indent="0" algn="ctr" rtl="0">
                        <a:lnSpc>
                          <a:spcPct val="115000"/>
                        </a:lnSpc>
                        <a:spcBef>
                          <a:spcPts val="0"/>
                        </a:spcBef>
                        <a:spcAft>
                          <a:spcPts val="0"/>
                        </a:spcAft>
                        <a:buNone/>
                      </a:pPr>
                      <a:r>
                        <a:rPr lang="en" sz="1000"/>
                        <a:t>WWWA</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3866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41617</TotalTime>
  <Words>28779</Words>
  <Application>Microsoft Macintosh PowerPoint</Application>
  <PresentationFormat>Custom</PresentationFormat>
  <Paragraphs>1969</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50</cp:revision>
  <dcterms:modified xsi:type="dcterms:W3CDTF">2026-04-26T21:47:19Z</dcterms:modified>
</cp:coreProperties>
</file>