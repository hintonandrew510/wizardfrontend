
<file path=[Content_Types].xml><?xml version="1.0" encoding="utf-8"?>
<Types xmlns="http://schemas.openxmlformats.org/package/2006/content-types">
  <Default Extension="bin" ContentType="application/vnd.openxmlformats-officedocument.oleObject"/>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comment1.xml" ContentType="application/vnd.openxmlformats-officedocument.presentationml.comments+xml"/>
  <Override PartName="/ppt/notesSlides/notesSlide2.xml" ContentType="application/vnd.openxmlformats-officedocument.presentationml.notesSlide+xml"/>
  <Override PartName="/ppt/comments/comment2.xml" ContentType="application/vnd.openxmlformats-officedocument.presentationml.comments+xml"/>
  <Override PartName="/ppt/notesSlides/notesSlide3.xml" ContentType="application/vnd.openxmlformats-officedocument.presentationml.notesSlide+xml"/>
  <Override PartName="/ppt/comments/comment3.xml" ContentType="application/vnd.openxmlformats-officedocument.presentationml.comment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omments/comment4.xml" ContentType="application/vnd.openxmlformats-officedocument.presentationml.comments+xml"/>
  <Override PartName="/ppt/notesSlides/notesSlide13.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omments/comment5.xml" ContentType="application/vnd.openxmlformats-officedocument.presentationml.comments+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59" r:id="rId1"/>
  </p:sldMasterIdLst>
  <p:notesMasterIdLst>
    <p:notesMasterId r:id="rId3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94"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sldSz cx="9144000" cy="73152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304">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ndrew Hinton" initials="" lastIdx="1" clrIdx="0"/>
  <p:cmAuthor id="1" name="andrew hinton" initials="ah" lastIdx="10" clrIdx="1">
    <p:extLst>
      <p:ext uri="{19B8F6BF-5375-455C-9EA6-DF929625EA0E}">
        <p15:presenceInfo xmlns:p15="http://schemas.microsoft.com/office/powerpoint/2012/main" userId="5f6230cd58c9e88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CFB75FC7-DD7D-40D8-B2B2-EE4B611A8D2E}">
  <a:tblStyle styleId="{CFB75FC7-DD7D-40D8-B2B2-EE4B611A8D2E}"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779AAC5F-F97D-4193-AF94-6FAFF6667CF6}" styleName="Table_1">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42992"/>
    <p:restoredTop sz="94479"/>
  </p:normalViewPr>
  <p:slideViewPr>
    <p:cSldViewPr snapToGrid="0">
      <p:cViewPr varScale="1">
        <p:scale>
          <a:sx n="73" d="100"/>
          <a:sy n="73" d="100"/>
        </p:scale>
        <p:origin x="568" y="184"/>
      </p:cViewPr>
      <p:guideLst>
        <p:guide orient="horz" pos="2304"/>
        <p:guide pos="288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commentAuthors" Target="commen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charts/_rels/chart1.xml.rels><?xml version="1.0" encoding="UTF-8" standalone="yes"?>
<Relationships xmlns="http://schemas.openxmlformats.org/package/2006/relationships"><Relationship Id="rId3" Type="http://schemas.openxmlformats.org/officeDocument/2006/relationships/oleObject" Target="../embeddings/oleObject1.bin"/><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embeddings/oleObject2.bin"/><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CF5E-E84D-A407-E3FC0624B1E3}"/>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CF5E-E84D-A407-E3FC0624B1E3}"/>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CF5E-E84D-A407-E3FC0624B1E3}"/>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CF5E-E84D-A407-E3FC0624B1E3}"/>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0-C88C-3346-B77A-70E10F5BF492}"/>
            </c:ext>
          </c:extLst>
        </c:ser>
        <c:dLbls>
          <c:showLegendKey val="0"/>
          <c:showVal val="0"/>
          <c:showCatName val="0"/>
          <c:showSerName val="0"/>
          <c:showPercent val="0"/>
          <c:showBubbleSize val="0"/>
          <c:showLeaderLines val="1"/>
        </c:dLbls>
      </c:pie3D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CF5E-E84D-A407-E3FC0624B1E3}"/>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CF5E-E84D-A407-E3FC0624B1E3}"/>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CF5E-E84D-A407-E3FC0624B1E3}"/>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CF5E-E84D-A407-E3FC0624B1E3}"/>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0-C88C-3346-B77A-70E10F5BF492}"/>
            </c:ext>
          </c:extLst>
        </c:ser>
        <c:dLbls>
          <c:showLegendKey val="0"/>
          <c:showVal val="0"/>
          <c:showCatName val="0"/>
          <c:showSerName val="0"/>
          <c:showPercent val="0"/>
          <c:showBubbleSize val="0"/>
          <c:showLeaderLines val="1"/>
        </c:dLbls>
      </c:pie3D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omments/comment1.xml><?xml version="1.0" encoding="utf-8"?>
<p:cmLst xmlns:a="http://schemas.openxmlformats.org/drawingml/2006/main" xmlns:r="http://schemas.openxmlformats.org/officeDocument/2006/relationships" xmlns:p="http://schemas.openxmlformats.org/presentationml/2006/main">
  <p:cm authorId="0" dt="2026-01-03T21:15:26.536" idx="1">
    <p:pos x="6000" y="0"/>
    <p:text>OnePresentedToSlide
</p:text>
  </p:cm>
  <p:cm authorId="1" dt="2026-01-03T21:58:52.260" idx="2">
    <p:pos x="10" y="10"/>
    <p:text/>
    <p:extLst>
      <p:ext uri="{C676402C-5697-4E1C-873F-D02D1690AC5C}">
        <p15:threadingInfo xmlns:p15="http://schemas.microsoft.com/office/powerpoint/2012/main" timeZoneBias="300"/>
      </p:ext>
    </p:extLst>
  </p:cm>
</p:cmLst>
</file>

<file path=ppt/comments/comment2.xml><?xml version="1.0" encoding="utf-8"?>
<p:cmLst xmlns:a="http://schemas.openxmlformats.org/drawingml/2006/main" xmlns:r="http://schemas.openxmlformats.org/officeDocument/2006/relationships" xmlns:p="http://schemas.openxmlformats.org/presentationml/2006/main">
  <p:cm authorId="1" dt="2026-02-15T18:48:51.755" idx="8">
    <p:pos x="6051" y="-111"/>
    <p:text>TeamCommitmentPage</p:text>
    <p:extLst>
      <p:ext uri="{C676402C-5697-4E1C-873F-D02D1690AC5C}">
        <p15:threadingInfo xmlns:p15="http://schemas.microsoft.com/office/powerpoint/2012/main" timeZoneBias="300"/>
      </p:ext>
    </p:extLst>
  </p:cm>
</p:cmLst>
</file>

<file path=ppt/comments/comment3.xml><?xml version="1.0" encoding="utf-8"?>
<p:cmLst xmlns:a="http://schemas.openxmlformats.org/drawingml/2006/main" xmlns:r="http://schemas.openxmlformats.org/officeDocument/2006/relationships" xmlns:p="http://schemas.openxmlformats.org/presentationml/2006/main">
  <p:cm authorId="1" dt="2026-02-15T18:48:03.821" idx="7">
    <p:pos x="6025" y="-298"/>
    <p:text>TeamCommitmentPagesss</p:text>
    <p:extLst>
      <p:ext uri="{C676402C-5697-4E1C-873F-D02D1690AC5C}">
        <p15:threadingInfo xmlns:p15="http://schemas.microsoft.com/office/powerpoint/2012/main" timeZoneBias="300"/>
      </p:ext>
    </p:extLst>
  </p:cm>
</p:cmLst>
</file>

<file path=ppt/comments/comment4.xml><?xml version="1.0" encoding="utf-8"?>
<p:cmLst xmlns:a="http://schemas.openxmlformats.org/drawingml/2006/main" xmlns:r="http://schemas.openxmlformats.org/officeDocument/2006/relationships" xmlns:p="http://schemas.openxmlformats.org/presentationml/2006/main">
  <p:cm authorId="1" dt="2026-01-18T18:44:18.318" idx="3">
    <p:pos x="10" y="10"/>
    <p:text/>
    <p:extLst>
      <p:ext uri="{C676402C-5697-4E1C-873F-D02D1690AC5C}">
        <p15:threadingInfo xmlns:p15="http://schemas.microsoft.com/office/powerpoint/2012/main" timeZoneBias="300"/>
      </p:ext>
    </p:extLst>
  </p:cm>
</p:cmLst>
</file>

<file path=ppt/comments/comment5.xml><?xml version="1.0" encoding="utf-8"?>
<p:cmLst xmlns:a="http://schemas.openxmlformats.org/drawingml/2006/main" xmlns:r="http://schemas.openxmlformats.org/officeDocument/2006/relationships" xmlns:p="http://schemas.openxmlformats.org/presentationml/2006/main">
  <p:cm authorId="1" dt="2026-01-18T18:44:18.318" idx="10">
    <p:pos x="10" y="10"/>
    <p:text/>
    <p:extLst>
      <p:ext uri="{C676402C-5697-4E1C-873F-D02D1690AC5C}">
        <p15:threadingInfo xmlns:p15="http://schemas.microsoft.com/office/powerpoint/2012/main" timeZoneBias="30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p:cNvGrpSpPr/>
        <p:nvPr/>
      </p:nvGrpSpPr>
      <p:grpSpPr>
        <a:xfrm>
          <a:off x="0" y="0"/>
          <a:ext cx="0" cy="0"/>
          <a:chOff x="0" y="0"/>
          <a:chExt cx="0" cy="0"/>
        </a:xfrm>
      </p:grpSpPr>
      <p:sp>
        <p:nvSpPr>
          <p:cNvPr id="64" name="Google Shape;64;gb1e46e2962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b1e46e2962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p: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 name="Google Shape;7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gaa4a52d53f_0_15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gaa4a52d53f_0_1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gbc1c0fe17c_0_8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bc1c0fe17c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gab9ca2f465_0_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 name="Google Shape;131;gab9ca2f465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aa4a52d53f_0_1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aa4a52d53f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gaa4a52d53f_0_10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7" name="Google Shape;177;gaa4a52d53f_0_1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aa4a52d53f_0_13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3" name="Google Shape;203;gaa4a52d53f_0_1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gaa4a52d53f_0_5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8" name="Google Shape;228;gaa4a52d53f_0_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aa4a52d53f_0_8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4" name="Google Shape;254;gaa4a52d53f_0_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ba229fc496_0_4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9" name="Google Shape;279;gba229fc496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p:cNvGrpSpPr/>
        <p:nvPr/>
      </p:nvGrpSpPr>
      <p:grpSpPr>
        <a:xfrm>
          <a:off x="0" y="0"/>
          <a:ext cx="0" cy="0"/>
          <a:chOff x="0" y="0"/>
          <a:chExt cx="0" cy="0"/>
        </a:xfrm>
      </p:grpSpPr>
      <p:sp>
        <p:nvSpPr>
          <p:cNvPr id="318" name="Google Shape;318;gb1f3d784ca_0_1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b1f3d784ca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a:extLst>
            <a:ext uri="{FF2B5EF4-FFF2-40B4-BE49-F238E27FC236}">
              <a16:creationId xmlns:a16="http://schemas.microsoft.com/office/drawing/2014/main" id="{40DA2237-D124-1A3B-080C-2D0DF8484314}"/>
            </a:ext>
          </a:extLst>
        </p:cNvPr>
        <p:cNvGrpSpPr/>
        <p:nvPr/>
      </p:nvGrpSpPr>
      <p:grpSpPr>
        <a:xfrm>
          <a:off x="0" y="0"/>
          <a:ext cx="0" cy="0"/>
          <a:chOff x="0" y="0"/>
          <a:chExt cx="0" cy="0"/>
        </a:xfrm>
      </p:grpSpPr>
      <p:sp>
        <p:nvSpPr>
          <p:cNvPr id="318" name="Google Shape;318;gb1f3d784ca_0_16:notes">
            <a:extLst>
              <a:ext uri="{FF2B5EF4-FFF2-40B4-BE49-F238E27FC236}">
                <a16:creationId xmlns:a16="http://schemas.microsoft.com/office/drawing/2014/main" id="{4172D168-98AE-5BD6-3580-DD8EF7D056EE}"/>
              </a:ext>
            </a:extLst>
          </p:cNvPr>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b1f3d784ca_0_16:notes">
            <a:extLst>
              <a:ext uri="{FF2B5EF4-FFF2-40B4-BE49-F238E27FC236}">
                <a16:creationId xmlns:a16="http://schemas.microsoft.com/office/drawing/2014/main" id="{113EC8D9-F898-AEAD-0070-41352C0FD37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8799760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4"/>
        <p:cNvGrpSpPr/>
        <p:nvPr/>
      </p:nvGrpSpPr>
      <p:grpSpPr>
        <a:xfrm>
          <a:off x="0" y="0"/>
          <a:ext cx="0" cy="0"/>
          <a:chOff x="0" y="0"/>
          <a:chExt cx="0" cy="0"/>
        </a:xfrm>
      </p:grpSpPr>
      <p:sp>
        <p:nvSpPr>
          <p:cNvPr id="335" name="Google Shape;335;gd43bcde7a4_0_17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6" name="Google Shape;336;gd43bcde7a4_0_1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gba5de39673_0_17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2" name="Google Shape;342;gba5de39673_0_1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6"/>
        <p:cNvGrpSpPr/>
        <p:nvPr/>
      </p:nvGrpSpPr>
      <p:grpSpPr>
        <a:xfrm>
          <a:off x="0" y="0"/>
          <a:ext cx="0" cy="0"/>
          <a:chOff x="0" y="0"/>
          <a:chExt cx="0" cy="0"/>
        </a:xfrm>
      </p:grpSpPr>
      <p:sp>
        <p:nvSpPr>
          <p:cNvPr id="347" name="Google Shape;347;gab9ca2f465_0_5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8" name="Google Shape;348;gab9ca2f465_0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gd43bcde7a4_0_3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4" name="Google Shape;354;gd43bcde7a4_0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gd6c288bb60_1_13: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0" name="Google Shape;360;gd6c288bb60_1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4"/>
        <p:cNvGrpSpPr/>
        <p:nvPr/>
      </p:nvGrpSpPr>
      <p:grpSpPr>
        <a:xfrm>
          <a:off x="0" y="0"/>
          <a:ext cx="0" cy="0"/>
          <a:chOff x="0" y="0"/>
          <a:chExt cx="0" cy="0"/>
        </a:xfrm>
      </p:grpSpPr>
      <p:sp>
        <p:nvSpPr>
          <p:cNvPr id="365" name="Google Shape;365;gab9ca2f465_0_6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6" name="Google Shape;366;gab9ca2f465_0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4"/>
        <p:cNvGrpSpPr/>
        <p:nvPr/>
      </p:nvGrpSpPr>
      <p:grpSpPr>
        <a:xfrm>
          <a:off x="0" y="0"/>
          <a:ext cx="0" cy="0"/>
          <a:chOff x="0" y="0"/>
          <a:chExt cx="0" cy="0"/>
        </a:xfrm>
      </p:grpSpPr>
      <p:sp>
        <p:nvSpPr>
          <p:cNvPr id="385" name="Google Shape;385;gab9ca2f465_0_8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6" name="Google Shape;386;gab9ca2f465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aa2a19e2f1_0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1" name="Google Shape;401;gaa2a19e2f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6"/>
        <p:cNvGrpSpPr/>
        <p:nvPr/>
      </p:nvGrpSpPr>
      <p:grpSpPr>
        <a:xfrm>
          <a:off x="0" y="0"/>
          <a:ext cx="0" cy="0"/>
          <a:chOff x="0" y="0"/>
          <a:chExt cx="0" cy="0"/>
        </a:xfrm>
      </p:grpSpPr>
      <p:sp>
        <p:nvSpPr>
          <p:cNvPr id="407" name="Google Shape;407;gd43bcde7a4_0_4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8" name="Google Shape;408;gd43bcde7a4_0_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4"/>
        <p:cNvGrpSpPr/>
        <p:nvPr/>
      </p:nvGrpSpPr>
      <p:grpSpPr>
        <a:xfrm>
          <a:off x="0" y="0"/>
          <a:ext cx="0" cy="0"/>
          <a:chOff x="0" y="0"/>
          <a:chExt cx="0" cy="0"/>
        </a:xfrm>
      </p:grpSpPr>
      <p:sp>
        <p:nvSpPr>
          <p:cNvPr id="415" name="Google Shape;415;gab9ca2f465_0_11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6" name="Google Shape;416;gab9ca2f465_0_1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2"/>
        <p:cNvGrpSpPr/>
        <p:nvPr/>
      </p:nvGrpSpPr>
      <p:grpSpPr>
        <a:xfrm>
          <a:off x="0" y="0"/>
          <a:ext cx="0" cy="0"/>
          <a:chOff x="0" y="0"/>
          <a:chExt cx="0" cy="0"/>
        </a:xfrm>
      </p:grpSpPr>
      <p:sp>
        <p:nvSpPr>
          <p:cNvPr id="423" name="Google Shape;423;gb66e45c5bc_0_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4" name="Google Shape;424;gb66e45c5bc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9"/>
        <p:cNvGrpSpPr/>
        <p:nvPr/>
      </p:nvGrpSpPr>
      <p:grpSpPr>
        <a:xfrm>
          <a:off x="0" y="0"/>
          <a:ext cx="0" cy="0"/>
          <a:chOff x="0" y="0"/>
          <a:chExt cx="0" cy="0"/>
        </a:xfrm>
      </p:grpSpPr>
      <p:sp>
        <p:nvSpPr>
          <p:cNvPr id="430" name="Google Shape;430;gba229fc496_0_13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1" name="Google Shape;431;gba229fc496_0_1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6"/>
        <p:cNvGrpSpPr/>
        <p:nvPr/>
      </p:nvGrpSpPr>
      <p:grpSpPr>
        <a:xfrm>
          <a:off x="0" y="0"/>
          <a:ext cx="0" cy="0"/>
          <a:chOff x="0" y="0"/>
          <a:chExt cx="0" cy="0"/>
        </a:xfrm>
      </p:grpSpPr>
      <p:sp>
        <p:nvSpPr>
          <p:cNvPr id="437" name="Google Shape;437;gbb579c7b11_0_2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8" name="Google Shape;438;gbb579c7b11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3"/>
        <p:cNvGrpSpPr/>
        <p:nvPr/>
      </p:nvGrpSpPr>
      <p:grpSpPr>
        <a:xfrm>
          <a:off x="0" y="0"/>
          <a:ext cx="0" cy="0"/>
          <a:chOff x="0" y="0"/>
          <a:chExt cx="0" cy="0"/>
        </a:xfrm>
      </p:grpSpPr>
      <p:sp>
        <p:nvSpPr>
          <p:cNvPr id="444" name="Google Shape;444;gaa2a19e2f1_0_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5" name="Google Shape;445;gaa2a19e2f1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0"/>
        <p:cNvGrpSpPr/>
        <p:nvPr/>
      </p:nvGrpSpPr>
      <p:grpSpPr>
        <a:xfrm>
          <a:off x="0" y="0"/>
          <a:ext cx="0" cy="0"/>
          <a:chOff x="0" y="0"/>
          <a:chExt cx="0" cy="0"/>
        </a:xfrm>
      </p:grpSpPr>
      <p:sp>
        <p:nvSpPr>
          <p:cNvPr id="451" name="Google Shape;451;gc4c5716b7b_0_13: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2" name="Google Shape;452;gc4c5716b7b_0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8"/>
        <p:cNvGrpSpPr/>
        <p:nvPr/>
      </p:nvGrpSpPr>
      <p:grpSpPr>
        <a:xfrm>
          <a:off x="0" y="0"/>
          <a:ext cx="0" cy="0"/>
          <a:chOff x="0" y="0"/>
          <a:chExt cx="0" cy="0"/>
        </a:xfrm>
      </p:grpSpPr>
      <p:sp>
        <p:nvSpPr>
          <p:cNvPr id="459" name="Google Shape;459;g26e7dea56c1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0" name="Google Shape;460;g26e7dea56c1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4"/>
        <p:cNvGrpSpPr/>
        <p:nvPr/>
      </p:nvGrpSpPr>
      <p:grpSpPr>
        <a:xfrm>
          <a:off x="0" y="0"/>
          <a:ext cx="0" cy="0"/>
          <a:chOff x="0" y="0"/>
          <a:chExt cx="0" cy="0"/>
        </a:xfrm>
      </p:grpSpPr>
      <p:sp>
        <p:nvSpPr>
          <p:cNvPr id="465" name="Google Shape;465;gbb579c7b11_0_4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6" name="Google Shape;466;gbb579c7b11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2"/>
        <p:cNvGrpSpPr/>
        <p:nvPr/>
      </p:nvGrpSpPr>
      <p:grpSpPr>
        <a:xfrm>
          <a:off x="0" y="0"/>
          <a:ext cx="0" cy="0"/>
          <a:chOff x="0" y="0"/>
          <a:chExt cx="0" cy="0"/>
        </a:xfrm>
      </p:grpSpPr>
      <p:sp>
        <p:nvSpPr>
          <p:cNvPr id="473" name="Google Shape;473;gbb579c7b11_0_5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4" name="Google Shape;474;gbb579c7b11_0_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gbb579c7b11_0_8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1" name="Google Shape;481;gbb579c7b11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6"/>
        <p:cNvGrpSpPr/>
        <p:nvPr/>
      </p:nvGrpSpPr>
      <p:grpSpPr>
        <a:xfrm>
          <a:off x="0" y="0"/>
          <a:ext cx="0" cy="0"/>
          <a:chOff x="0" y="0"/>
          <a:chExt cx="0" cy="0"/>
        </a:xfrm>
      </p:grpSpPr>
      <p:sp>
        <p:nvSpPr>
          <p:cNvPr id="487" name="Google Shape;487;gbb579c7b11_0_6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8" name="Google Shape;488;gbb579c7b11_0_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gba229fc496_0_14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 name="Google Shape;495;gba229fc496_0_1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1"/>
        <p:cNvGrpSpPr/>
        <p:nvPr/>
      </p:nvGrpSpPr>
      <p:grpSpPr>
        <a:xfrm>
          <a:off x="0" y="0"/>
          <a:ext cx="0" cy="0"/>
          <a:chOff x="0" y="0"/>
          <a:chExt cx="0" cy="0"/>
        </a:xfrm>
      </p:grpSpPr>
      <p:sp>
        <p:nvSpPr>
          <p:cNvPr id="512" name="Google Shape;512;gd43bcde7a4_0_14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3" name="Google Shape;513;gd43bcde7a4_0_1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9"/>
        <p:cNvGrpSpPr/>
        <p:nvPr/>
      </p:nvGrpSpPr>
      <p:grpSpPr>
        <a:xfrm>
          <a:off x="0" y="0"/>
          <a:ext cx="0" cy="0"/>
          <a:chOff x="0" y="0"/>
          <a:chExt cx="0" cy="0"/>
        </a:xfrm>
      </p:grpSpPr>
      <p:sp>
        <p:nvSpPr>
          <p:cNvPr id="530" name="Google Shape;530;gbc1c0fe17c_0_3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1" name="Google Shape;531;gbc1c0fe17c_0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6"/>
        <p:cNvGrpSpPr/>
        <p:nvPr/>
      </p:nvGrpSpPr>
      <p:grpSpPr>
        <a:xfrm>
          <a:off x="0" y="0"/>
          <a:ext cx="0" cy="0"/>
          <a:chOff x="0" y="0"/>
          <a:chExt cx="0" cy="0"/>
        </a:xfrm>
      </p:grpSpPr>
      <p:sp>
        <p:nvSpPr>
          <p:cNvPr id="537" name="Google Shape;537;gbc1c0fe17c_0_4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8" name="Google Shape;538;gbc1c0fe17c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General information page" type="title">
  <p:cSld name="TITLE">
    <p:spTree>
      <p:nvGrpSpPr>
        <p:cNvPr id="1" name="Shape 11"/>
        <p:cNvGrpSpPr/>
        <p:nvPr/>
      </p:nvGrpSpPr>
      <p:grpSpPr>
        <a:xfrm>
          <a:off x="0" y="0"/>
          <a:ext cx="0" cy="0"/>
          <a:chOff x="0" y="0"/>
          <a:chExt cx="0" cy="0"/>
        </a:xfrm>
      </p:grpSpPr>
      <p:sp>
        <p:nvSpPr>
          <p:cNvPr id="12" name="Google Shape;12;p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lvl1pPr lvl="0" algn="ctr">
              <a:spcBef>
                <a:spcPts val="0"/>
              </a:spcBef>
              <a:spcAft>
                <a:spcPts val="0"/>
              </a:spcAft>
              <a:buClr>
                <a:srgbClr val="000000"/>
              </a:buClr>
              <a:buSzPts val="4000"/>
              <a:buNone/>
              <a:defRPr sz="4000" b="1">
                <a:solidFill>
                  <a:srgbClr val="000000"/>
                </a:solidFill>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3" name="Google Shape;13;p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14" name="Google Shape;14;p2"/>
          <p:cNvSpPr txBox="1">
            <a:spLocks noGrp="1"/>
          </p:cNvSpPr>
          <p:nvPr>
            <p:ph type="body" idx="1"/>
          </p:nvPr>
        </p:nvSpPr>
        <p:spPr>
          <a:xfrm>
            <a:off x="365750" y="1170425"/>
            <a:ext cx="8408100" cy="1352100"/>
          </a:xfrm>
          <a:prstGeom prst="rect">
            <a:avLst/>
          </a:prstGeom>
        </p:spPr>
        <p:txBody>
          <a:bodyPr spcFirstLastPara="1" wrap="square" lIns="91425" tIns="91425" rIns="91425" bIns="91425" anchor="t" anchorCtr="0">
            <a:noAutofit/>
          </a:bodyPr>
          <a:lstStyle>
            <a:lvl1pPr marL="457200" lvl="0" indent="-301625">
              <a:spcBef>
                <a:spcPts val="0"/>
              </a:spcBef>
              <a:spcAft>
                <a:spcPts val="0"/>
              </a:spcAft>
              <a:buSzPts val="1150"/>
              <a:buFont typeface="Verdana"/>
              <a:buChar char="●"/>
              <a:defRPr sz="1150">
                <a:latin typeface="Verdana"/>
                <a:ea typeface="Verdana"/>
                <a:cs typeface="Verdana"/>
                <a:sym typeface="Verdana"/>
              </a:defRPr>
            </a:lvl1pPr>
            <a:lvl2pPr marL="914400" lvl="1" indent="-301625">
              <a:spcBef>
                <a:spcPts val="1600"/>
              </a:spcBef>
              <a:spcAft>
                <a:spcPts val="0"/>
              </a:spcAft>
              <a:buSzPts val="1150"/>
              <a:buFont typeface="Verdana"/>
              <a:buChar char="○"/>
              <a:defRPr sz="1150">
                <a:latin typeface="Verdana"/>
                <a:ea typeface="Verdana"/>
                <a:cs typeface="Verdana"/>
                <a:sym typeface="Verdana"/>
              </a:defRPr>
            </a:lvl2pPr>
            <a:lvl3pPr marL="1371600" lvl="2" indent="-301625">
              <a:spcBef>
                <a:spcPts val="1600"/>
              </a:spcBef>
              <a:spcAft>
                <a:spcPts val="0"/>
              </a:spcAft>
              <a:buSzPts val="1150"/>
              <a:buFont typeface="Verdana"/>
              <a:buChar char="■"/>
              <a:defRPr sz="1150">
                <a:latin typeface="Verdana"/>
                <a:ea typeface="Verdana"/>
                <a:cs typeface="Verdana"/>
                <a:sym typeface="Verdana"/>
              </a:defRPr>
            </a:lvl3pPr>
            <a:lvl4pPr marL="1828800" lvl="3" indent="-301625">
              <a:spcBef>
                <a:spcPts val="1600"/>
              </a:spcBef>
              <a:spcAft>
                <a:spcPts val="0"/>
              </a:spcAft>
              <a:buSzPts val="1150"/>
              <a:buFont typeface="Verdana"/>
              <a:buChar char="●"/>
              <a:defRPr sz="1150">
                <a:latin typeface="Verdana"/>
                <a:ea typeface="Verdana"/>
                <a:cs typeface="Verdana"/>
                <a:sym typeface="Verdana"/>
              </a:defRPr>
            </a:lvl4pPr>
            <a:lvl5pPr marL="2286000" lvl="4" indent="-301625">
              <a:spcBef>
                <a:spcPts val="1600"/>
              </a:spcBef>
              <a:spcAft>
                <a:spcPts val="0"/>
              </a:spcAft>
              <a:buSzPts val="1150"/>
              <a:buFont typeface="Verdana"/>
              <a:buChar char="○"/>
              <a:defRPr sz="1150">
                <a:latin typeface="Verdana"/>
                <a:ea typeface="Verdana"/>
                <a:cs typeface="Verdana"/>
                <a:sym typeface="Verdana"/>
              </a:defRPr>
            </a:lvl5pPr>
            <a:lvl6pPr marL="2743200" lvl="5" indent="-301625">
              <a:spcBef>
                <a:spcPts val="1600"/>
              </a:spcBef>
              <a:spcAft>
                <a:spcPts val="0"/>
              </a:spcAft>
              <a:buSzPts val="1150"/>
              <a:buFont typeface="Verdana"/>
              <a:buChar char="■"/>
              <a:defRPr sz="1150">
                <a:latin typeface="Verdana"/>
                <a:ea typeface="Verdana"/>
                <a:cs typeface="Verdana"/>
                <a:sym typeface="Verdana"/>
              </a:defRPr>
            </a:lvl6pPr>
            <a:lvl7pPr marL="3200400" lvl="6" indent="-301625">
              <a:spcBef>
                <a:spcPts val="1600"/>
              </a:spcBef>
              <a:spcAft>
                <a:spcPts val="0"/>
              </a:spcAft>
              <a:buSzPts val="1150"/>
              <a:buFont typeface="Verdana"/>
              <a:buChar char="●"/>
              <a:defRPr sz="1150">
                <a:latin typeface="Verdana"/>
                <a:ea typeface="Verdana"/>
                <a:cs typeface="Verdana"/>
                <a:sym typeface="Verdana"/>
              </a:defRPr>
            </a:lvl7pPr>
            <a:lvl8pPr marL="3657600" lvl="7" indent="-301625">
              <a:spcBef>
                <a:spcPts val="1600"/>
              </a:spcBef>
              <a:spcAft>
                <a:spcPts val="0"/>
              </a:spcAft>
              <a:buSzPts val="1150"/>
              <a:buFont typeface="Verdana"/>
              <a:buChar char="○"/>
              <a:defRPr sz="1150">
                <a:latin typeface="Verdana"/>
                <a:ea typeface="Verdana"/>
                <a:cs typeface="Verdana"/>
                <a:sym typeface="Verdana"/>
              </a:defRPr>
            </a:lvl8pPr>
            <a:lvl9pPr marL="4114800" lvl="8" indent="-301625">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5" name="Google Shape;15;p2"/>
          <p:cNvSpPr txBox="1">
            <a:spLocks noGrp="1"/>
          </p:cNvSpPr>
          <p:nvPr>
            <p:ph type="body" idx="2"/>
          </p:nvPr>
        </p:nvSpPr>
        <p:spPr>
          <a:xfrm>
            <a:off x="365750" y="32252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6" name="Google Shape;16;p2"/>
          <p:cNvSpPr txBox="1">
            <a:spLocks noGrp="1"/>
          </p:cNvSpPr>
          <p:nvPr>
            <p:ph type="body" idx="3"/>
          </p:nvPr>
        </p:nvSpPr>
        <p:spPr>
          <a:xfrm>
            <a:off x="367950" y="52800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Page" type="secHead">
  <p:cSld name="SECTION_HEADER">
    <p:spTree>
      <p:nvGrpSpPr>
        <p:cNvPr id="1" name="Shape 17"/>
        <p:cNvGrpSpPr/>
        <p:nvPr/>
      </p:nvGrpSpPr>
      <p:grpSpPr>
        <a:xfrm>
          <a:off x="0" y="0"/>
          <a:ext cx="0" cy="0"/>
          <a:chOff x="0" y="0"/>
          <a:chExt cx="0" cy="0"/>
        </a:xfrm>
      </p:grpSpPr>
      <p:sp>
        <p:nvSpPr>
          <p:cNvPr id="18" name="Google Shape;18;p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pic>
        <p:nvPicPr>
          <p:cNvPr id="19" name="Google Shape;19;p3"/>
          <p:cNvPicPr preferRelativeResize="0"/>
          <p:nvPr/>
        </p:nvPicPr>
        <p:blipFill>
          <a:blip r:embed="rId2">
            <a:alphaModFix/>
          </a:blip>
          <a:stretch>
            <a:fillRect/>
          </a:stretch>
        </p:blipFill>
        <p:spPr>
          <a:xfrm>
            <a:off x="0" y="0"/>
            <a:ext cx="9144000" cy="7315200"/>
          </a:xfrm>
          <a:prstGeom prst="rect">
            <a:avLst/>
          </a:prstGeom>
          <a:noFill/>
          <a:ln>
            <a:noFill/>
          </a:ln>
        </p:spPr>
      </p:pic>
      <p:sp>
        <p:nvSpPr>
          <p:cNvPr id="20" name="Google Shape;20;p3"/>
          <p:cNvSpPr txBox="1"/>
          <p:nvPr/>
        </p:nvSpPr>
        <p:spPr>
          <a:xfrm>
            <a:off x="1677300" y="641316"/>
            <a:ext cx="5789400" cy="1195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3700" b="1">
                <a:solidFill>
                  <a:srgbClr val="FFFFFF"/>
                </a:solidFill>
              </a:rPr>
              <a:t>Marketing Solutions</a:t>
            </a:r>
            <a:endParaRPr sz="3700" b="1">
              <a:solidFill>
                <a:srgbClr val="FFFFFF"/>
              </a:solidFill>
            </a:endParaRPr>
          </a:p>
        </p:txBody>
      </p:sp>
      <p:sp>
        <p:nvSpPr>
          <p:cNvPr id="21" name="Google Shape;21;p3"/>
          <p:cNvSpPr txBox="1"/>
          <p:nvPr/>
        </p:nvSpPr>
        <p:spPr>
          <a:xfrm>
            <a:off x="1677300" y="1586133"/>
            <a:ext cx="5789400" cy="702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b="1">
                <a:solidFill>
                  <a:srgbClr val="FFFFFF"/>
                </a:solidFill>
              </a:rPr>
              <a:t>Summary, Conclusions, and Recommendations</a:t>
            </a:r>
            <a:endParaRPr b="1">
              <a:solidFill>
                <a:srgbClr val="FFFFFF"/>
              </a:solidFill>
            </a:endParaRPr>
          </a:p>
        </p:txBody>
      </p:sp>
      <p:sp>
        <p:nvSpPr>
          <p:cNvPr id="22" name="Google Shape;22;p3"/>
          <p:cNvSpPr/>
          <p:nvPr/>
        </p:nvSpPr>
        <p:spPr>
          <a:xfrm>
            <a:off x="358500" y="2461653"/>
            <a:ext cx="8427000" cy="4541400"/>
          </a:xfrm>
          <a:prstGeom prst="rect">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endParaRPr sz="2800">
              <a:solidFill>
                <a:srgbClr val="4E5E53"/>
              </a:solidFill>
            </a:endParaRPr>
          </a:p>
        </p:txBody>
      </p:sp>
      <p:sp>
        <p:nvSpPr>
          <p:cNvPr id="23" name="Google Shape;23;p3"/>
          <p:cNvSpPr txBox="1"/>
          <p:nvPr/>
        </p:nvSpPr>
        <p:spPr>
          <a:xfrm>
            <a:off x="598500" y="6457251"/>
            <a:ext cx="7947000" cy="435000"/>
          </a:xfrm>
          <a:prstGeom prst="rect">
            <a:avLst/>
          </a:prstGeom>
          <a:noFill/>
          <a:ln>
            <a:noFill/>
          </a:ln>
        </p:spPr>
        <p:txBody>
          <a:bodyPr spcFirstLastPara="1" wrap="square" lIns="91425" tIns="91425" rIns="91425" bIns="91425" anchor="ctr" anchorCtr="0">
            <a:noAutofit/>
          </a:bodyPr>
          <a:lstStyle/>
          <a:p>
            <a:pPr marL="0" lvl="0" indent="0" algn="l" rtl="0">
              <a:lnSpc>
                <a:spcPct val="95000"/>
              </a:lnSpc>
              <a:spcBef>
                <a:spcPts val="0"/>
              </a:spcBef>
              <a:spcAft>
                <a:spcPts val="0"/>
              </a:spcAft>
              <a:buNone/>
            </a:pPr>
            <a:r>
              <a:rPr lang="en" sz="700"/>
              <a:t>Copyright © 1984-2021 Executive Decision Systems, Inc. and The Guld Resource Group, LLC.  The data, formulas, and other content in these materials are the property of Executive Decision Systems, Inc. and The Guld Resource Group, LLC and are protected by copyright and other intellectual property laws.  No part of these materials may be reproduced, distributed, or used in any way without a license agreement or other written consent of The Guld Resource Group, LLC permitting such use.  All rights reserved.  To report violations, please call (804) 356-7006.</a:t>
            </a:r>
            <a:endParaRPr sz="700"/>
          </a:p>
        </p:txBody>
      </p:sp>
      <p:sp>
        <p:nvSpPr>
          <p:cNvPr id="24" name="Google Shape;24;p3"/>
          <p:cNvSpPr txBox="1"/>
          <p:nvPr/>
        </p:nvSpPr>
        <p:spPr>
          <a:xfrm>
            <a:off x="598500" y="2952325"/>
            <a:ext cx="3000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To:</a:t>
            </a:r>
            <a:endParaRPr sz="2800" b="1"/>
          </a:p>
        </p:txBody>
      </p:sp>
      <p:sp>
        <p:nvSpPr>
          <p:cNvPr id="25" name="Google Shape;25;p3"/>
          <p:cNvSpPr txBox="1"/>
          <p:nvPr/>
        </p:nvSpPr>
        <p:spPr>
          <a:xfrm>
            <a:off x="676500" y="4782260"/>
            <a:ext cx="2844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By:</a:t>
            </a:r>
            <a:endParaRPr sz="2800" b="1"/>
          </a:p>
        </p:txBody>
      </p:sp>
      <p:sp>
        <p:nvSpPr>
          <p:cNvPr id="26" name="Google Shape;26;p3"/>
          <p:cNvSpPr txBox="1">
            <a:spLocks noGrp="1"/>
          </p:cNvSpPr>
          <p:nvPr>
            <p:ph type="subTitle" idx="1"/>
          </p:nvPr>
        </p:nvSpPr>
        <p:spPr>
          <a:xfrm>
            <a:off x="2634000" y="3533551"/>
            <a:ext cx="3876000" cy="559800"/>
          </a:xfrm>
          <a:prstGeom prst="rect">
            <a:avLst/>
          </a:prstGeom>
        </p:spPr>
        <p:txBody>
          <a:bodyPr spcFirstLastPara="1" wrap="square" lIns="91425" tIns="91425" rIns="91425" bIns="91425" anchor="t" anchorCtr="0">
            <a:noAutofit/>
          </a:bodyPr>
          <a:lstStyle>
            <a:lvl1pPr lvl="0" algn="ctr">
              <a:spcBef>
                <a:spcPts val="0"/>
              </a:spcBef>
              <a:spcAft>
                <a:spcPts val="0"/>
              </a:spcAft>
              <a:buClr>
                <a:srgbClr val="000000"/>
              </a:buClr>
              <a:buSzPts val="1800"/>
              <a:buNone/>
              <a:defRPr b="1">
                <a:solidFill>
                  <a:srgbClr val="000000"/>
                </a:solidFill>
              </a:defRPr>
            </a:lvl1pPr>
            <a:lvl2pPr lvl="1" algn="ctr">
              <a:spcBef>
                <a:spcPts val="1600"/>
              </a:spcBef>
              <a:spcAft>
                <a:spcPts val="0"/>
              </a:spcAft>
              <a:buClr>
                <a:srgbClr val="000000"/>
              </a:buClr>
              <a:buSzPts val="1800"/>
              <a:buNone/>
              <a:defRPr sz="1800" b="1">
                <a:solidFill>
                  <a:srgbClr val="000000"/>
                </a:solidFill>
              </a:defRPr>
            </a:lvl2pPr>
            <a:lvl3pPr lvl="2" algn="ctr">
              <a:spcBef>
                <a:spcPts val="1600"/>
              </a:spcBef>
              <a:spcAft>
                <a:spcPts val="0"/>
              </a:spcAft>
              <a:buClr>
                <a:srgbClr val="000000"/>
              </a:buClr>
              <a:buSzPts val="1800"/>
              <a:buNone/>
              <a:defRPr sz="1800" b="1">
                <a:solidFill>
                  <a:srgbClr val="000000"/>
                </a:solidFill>
              </a:defRPr>
            </a:lvl3pPr>
            <a:lvl4pPr lvl="3" algn="ctr">
              <a:spcBef>
                <a:spcPts val="1600"/>
              </a:spcBef>
              <a:spcAft>
                <a:spcPts val="0"/>
              </a:spcAft>
              <a:buClr>
                <a:srgbClr val="000000"/>
              </a:buClr>
              <a:buSzPts val="1800"/>
              <a:buNone/>
              <a:defRPr sz="1800" b="1">
                <a:solidFill>
                  <a:srgbClr val="000000"/>
                </a:solidFill>
              </a:defRPr>
            </a:lvl4pPr>
            <a:lvl5pPr lvl="4" algn="ctr">
              <a:spcBef>
                <a:spcPts val="1600"/>
              </a:spcBef>
              <a:spcAft>
                <a:spcPts val="0"/>
              </a:spcAft>
              <a:buClr>
                <a:srgbClr val="000000"/>
              </a:buClr>
              <a:buSzPts val="1800"/>
              <a:buNone/>
              <a:defRPr sz="1800" b="1">
                <a:solidFill>
                  <a:srgbClr val="000000"/>
                </a:solidFill>
              </a:defRPr>
            </a:lvl5pPr>
            <a:lvl6pPr lvl="5" algn="ctr">
              <a:spcBef>
                <a:spcPts val="1600"/>
              </a:spcBef>
              <a:spcAft>
                <a:spcPts val="0"/>
              </a:spcAft>
              <a:buClr>
                <a:srgbClr val="000000"/>
              </a:buClr>
              <a:buSzPts val="1800"/>
              <a:buNone/>
              <a:defRPr sz="1800" b="1">
                <a:solidFill>
                  <a:srgbClr val="000000"/>
                </a:solidFill>
              </a:defRPr>
            </a:lvl6pPr>
            <a:lvl7pPr lvl="6" algn="ctr">
              <a:spcBef>
                <a:spcPts val="1600"/>
              </a:spcBef>
              <a:spcAft>
                <a:spcPts val="0"/>
              </a:spcAft>
              <a:buClr>
                <a:srgbClr val="000000"/>
              </a:buClr>
              <a:buSzPts val="1800"/>
              <a:buNone/>
              <a:defRPr sz="1800" b="1">
                <a:solidFill>
                  <a:srgbClr val="000000"/>
                </a:solidFill>
              </a:defRPr>
            </a:lvl7pPr>
            <a:lvl8pPr lvl="7" algn="ctr">
              <a:spcBef>
                <a:spcPts val="1600"/>
              </a:spcBef>
              <a:spcAft>
                <a:spcPts val="0"/>
              </a:spcAft>
              <a:buClr>
                <a:srgbClr val="000000"/>
              </a:buClr>
              <a:buSzPts val="1800"/>
              <a:buNone/>
              <a:defRPr sz="1800" b="1">
                <a:solidFill>
                  <a:srgbClr val="000000"/>
                </a:solidFill>
              </a:defRPr>
            </a:lvl8pPr>
            <a:lvl9pPr lvl="8" algn="ctr">
              <a:spcBef>
                <a:spcPts val="1600"/>
              </a:spcBef>
              <a:spcAft>
                <a:spcPts val="1600"/>
              </a:spcAft>
              <a:buClr>
                <a:srgbClr val="000000"/>
              </a:buClr>
              <a:buSzPts val="1800"/>
              <a:buNone/>
              <a:defRPr sz="1800" b="1">
                <a:solidFill>
                  <a:srgbClr val="000000"/>
                </a:solidFill>
              </a:defRPr>
            </a:lvl9pPr>
          </a:lstStyle>
          <a:p>
            <a:endParaRPr/>
          </a:p>
        </p:txBody>
      </p:sp>
      <p:sp>
        <p:nvSpPr>
          <p:cNvPr id="27" name="Google Shape;27;p3"/>
          <p:cNvSpPr txBox="1">
            <a:spLocks noGrp="1"/>
          </p:cNvSpPr>
          <p:nvPr>
            <p:ph type="subTitle" idx="2"/>
          </p:nvPr>
        </p:nvSpPr>
        <p:spPr>
          <a:xfrm>
            <a:off x="2634000" y="3996734"/>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8" name="Google Shape;28;p3"/>
          <p:cNvSpPr txBox="1">
            <a:spLocks noGrp="1"/>
          </p:cNvSpPr>
          <p:nvPr>
            <p:ph type="subTitle" idx="3"/>
          </p:nvPr>
        </p:nvSpPr>
        <p:spPr>
          <a:xfrm>
            <a:off x="2634000" y="5284021"/>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9" name="Google Shape;29;p3"/>
          <p:cNvSpPr txBox="1">
            <a:spLocks noGrp="1"/>
          </p:cNvSpPr>
          <p:nvPr>
            <p:ph type="subTitle" idx="4"/>
          </p:nvPr>
        </p:nvSpPr>
        <p:spPr>
          <a:xfrm>
            <a:off x="2634000" y="5696446"/>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x">
  <p:cSld name="TITLE_AND_BODY">
    <p:spTree>
      <p:nvGrpSpPr>
        <p:cNvPr id="1" name="Shape 30"/>
        <p:cNvGrpSpPr/>
        <p:nvPr/>
      </p:nvGrpSpPr>
      <p:grpSpPr>
        <a:xfrm>
          <a:off x="0" y="0"/>
          <a:ext cx="0" cy="0"/>
          <a:chOff x="0" y="0"/>
          <a:chExt cx="0" cy="0"/>
        </a:xfrm>
      </p:grpSpPr>
      <p:sp>
        <p:nvSpPr>
          <p:cNvPr id="31" name="Google Shape;31;p4"/>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a:spcBef>
                <a:spcPts val="0"/>
              </a:spcBef>
              <a:spcAft>
                <a:spcPts val="0"/>
              </a:spcAft>
              <a:buSzPts val="4000"/>
              <a:buNone/>
              <a:defRPr sz="4000" b="1"/>
            </a:lvl1pPr>
            <a:lvl2pPr lvl="1" algn="ctr">
              <a:spcBef>
                <a:spcPts val="0"/>
              </a:spcBef>
              <a:spcAft>
                <a:spcPts val="0"/>
              </a:spcAft>
              <a:buSzPts val="2800"/>
              <a:buNone/>
              <a:defRPr/>
            </a:lvl2pPr>
            <a:lvl3pPr lvl="2" algn="ctr">
              <a:spcBef>
                <a:spcPts val="0"/>
              </a:spcBef>
              <a:spcAft>
                <a:spcPts val="0"/>
              </a:spcAft>
              <a:buSzPts val="2800"/>
              <a:buNone/>
              <a:defRPr/>
            </a:lvl3pPr>
            <a:lvl4pPr lvl="3" algn="ctr">
              <a:spcBef>
                <a:spcPts val="0"/>
              </a:spcBef>
              <a:spcAft>
                <a:spcPts val="0"/>
              </a:spcAft>
              <a:buSzPts val="2800"/>
              <a:buNone/>
              <a:defRPr/>
            </a:lvl4pPr>
            <a:lvl5pPr lvl="4" algn="ctr">
              <a:spcBef>
                <a:spcPts val="0"/>
              </a:spcBef>
              <a:spcAft>
                <a:spcPts val="0"/>
              </a:spcAft>
              <a:buSzPts val="2800"/>
              <a:buNone/>
              <a:defRPr/>
            </a:lvl5pPr>
            <a:lvl6pPr lvl="5" algn="ctr">
              <a:spcBef>
                <a:spcPts val="0"/>
              </a:spcBef>
              <a:spcAft>
                <a:spcPts val="0"/>
              </a:spcAft>
              <a:buSzPts val="2800"/>
              <a:buNone/>
              <a:defRPr/>
            </a:lvl6pPr>
            <a:lvl7pPr lvl="6" algn="ctr">
              <a:spcBef>
                <a:spcPts val="0"/>
              </a:spcBef>
              <a:spcAft>
                <a:spcPts val="0"/>
              </a:spcAft>
              <a:buSzPts val="2800"/>
              <a:buNone/>
              <a:defRPr/>
            </a:lvl7pPr>
            <a:lvl8pPr lvl="7" algn="ctr">
              <a:spcBef>
                <a:spcPts val="0"/>
              </a:spcBef>
              <a:spcAft>
                <a:spcPts val="0"/>
              </a:spcAft>
              <a:buSzPts val="2800"/>
              <a:buNone/>
              <a:defRPr/>
            </a:lvl8pPr>
            <a:lvl9pPr lvl="8" algn="ctr">
              <a:spcBef>
                <a:spcPts val="0"/>
              </a:spcBef>
              <a:spcAft>
                <a:spcPts val="0"/>
              </a:spcAft>
              <a:buSzPts val="2800"/>
              <a:buNone/>
              <a:defRPr/>
            </a:lvl9pPr>
          </a:lstStyle>
          <a:p>
            <a:endParaRPr/>
          </a:p>
        </p:txBody>
      </p:sp>
      <p:sp>
        <p:nvSpPr>
          <p:cNvPr id="32" name="Google Shape;32;p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3" name="Google Shape;33;p4"/>
          <p:cNvSpPr txBox="1">
            <a:spLocks noGrp="1"/>
          </p:cNvSpPr>
          <p:nvPr>
            <p:ph type="body" idx="1"/>
          </p:nvPr>
        </p:nvSpPr>
        <p:spPr>
          <a:xfrm>
            <a:off x="457200" y="1490773"/>
            <a:ext cx="3595500" cy="5141400"/>
          </a:xfrm>
          <a:prstGeom prst="rect">
            <a:avLst/>
          </a:prstGeom>
        </p:spPr>
        <p:txBody>
          <a:bodyPr spcFirstLastPara="1" wrap="square" lIns="91425" tIns="91425" rIns="91425" bIns="91425" anchor="t" anchorCtr="0">
            <a:noAutofit/>
          </a:bodyPr>
          <a:lstStyle>
            <a:lvl1pPr marL="457200" lvl="0" indent="-298450">
              <a:spcBef>
                <a:spcPts val="0"/>
              </a:spcBef>
              <a:spcAft>
                <a:spcPts val="0"/>
              </a:spcAft>
              <a:buSzPts val="1100"/>
              <a:buFont typeface="Verdana"/>
              <a:buChar char="●"/>
              <a:defRPr sz="1100">
                <a:latin typeface="Verdana"/>
                <a:ea typeface="Verdana"/>
                <a:cs typeface="Verdana"/>
                <a:sym typeface="Verdana"/>
              </a:defRPr>
            </a:lvl1pPr>
            <a:lvl2pPr marL="914400" lvl="1" indent="-298450">
              <a:spcBef>
                <a:spcPts val="1600"/>
              </a:spcBef>
              <a:spcAft>
                <a:spcPts val="0"/>
              </a:spcAft>
              <a:buSzPts val="1100"/>
              <a:buFont typeface="Verdana"/>
              <a:buChar char="○"/>
              <a:defRPr sz="1100">
                <a:latin typeface="Verdana"/>
                <a:ea typeface="Verdana"/>
                <a:cs typeface="Verdana"/>
                <a:sym typeface="Verdana"/>
              </a:defRPr>
            </a:lvl2pPr>
            <a:lvl3pPr marL="1371600" lvl="2" indent="-298450">
              <a:spcBef>
                <a:spcPts val="1600"/>
              </a:spcBef>
              <a:spcAft>
                <a:spcPts val="0"/>
              </a:spcAft>
              <a:buSzPts val="1100"/>
              <a:buFont typeface="Verdana"/>
              <a:buChar char="■"/>
              <a:defRPr sz="1100">
                <a:latin typeface="Verdana"/>
                <a:ea typeface="Verdana"/>
                <a:cs typeface="Verdana"/>
                <a:sym typeface="Verdana"/>
              </a:defRPr>
            </a:lvl3pPr>
            <a:lvl4pPr marL="1828800" lvl="3" indent="-298450">
              <a:spcBef>
                <a:spcPts val="1600"/>
              </a:spcBef>
              <a:spcAft>
                <a:spcPts val="0"/>
              </a:spcAft>
              <a:buSzPts val="1100"/>
              <a:buFont typeface="Verdana"/>
              <a:buChar char="●"/>
              <a:defRPr sz="1100">
                <a:latin typeface="Verdana"/>
                <a:ea typeface="Verdana"/>
                <a:cs typeface="Verdana"/>
                <a:sym typeface="Verdana"/>
              </a:defRPr>
            </a:lvl4pPr>
            <a:lvl5pPr marL="2286000" lvl="4" indent="-298450">
              <a:spcBef>
                <a:spcPts val="1600"/>
              </a:spcBef>
              <a:spcAft>
                <a:spcPts val="0"/>
              </a:spcAft>
              <a:buSzPts val="1100"/>
              <a:buFont typeface="Verdana"/>
              <a:buChar char="○"/>
              <a:defRPr sz="1100">
                <a:latin typeface="Verdana"/>
                <a:ea typeface="Verdana"/>
                <a:cs typeface="Verdana"/>
                <a:sym typeface="Verdana"/>
              </a:defRPr>
            </a:lvl5pPr>
            <a:lvl6pPr marL="2743200" lvl="5" indent="-298450">
              <a:spcBef>
                <a:spcPts val="1600"/>
              </a:spcBef>
              <a:spcAft>
                <a:spcPts val="0"/>
              </a:spcAft>
              <a:buSzPts val="1100"/>
              <a:buFont typeface="Verdana"/>
              <a:buChar char="■"/>
              <a:defRPr sz="1100">
                <a:latin typeface="Verdana"/>
                <a:ea typeface="Verdana"/>
                <a:cs typeface="Verdana"/>
                <a:sym typeface="Verdana"/>
              </a:defRPr>
            </a:lvl6pPr>
            <a:lvl7pPr marL="3200400" lvl="6" indent="-298450">
              <a:spcBef>
                <a:spcPts val="1600"/>
              </a:spcBef>
              <a:spcAft>
                <a:spcPts val="0"/>
              </a:spcAft>
              <a:buSzPts val="1100"/>
              <a:buFont typeface="Verdana"/>
              <a:buChar char="●"/>
              <a:defRPr sz="1100">
                <a:latin typeface="Verdana"/>
                <a:ea typeface="Verdana"/>
                <a:cs typeface="Verdana"/>
                <a:sym typeface="Verdana"/>
              </a:defRPr>
            </a:lvl7pPr>
            <a:lvl8pPr marL="3657600" lvl="7" indent="-298450">
              <a:spcBef>
                <a:spcPts val="1600"/>
              </a:spcBef>
              <a:spcAft>
                <a:spcPts val="0"/>
              </a:spcAft>
              <a:buSzPts val="1100"/>
              <a:buFont typeface="Verdana"/>
              <a:buChar char="○"/>
              <a:defRPr sz="1100">
                <a:latin typeface="Verdana"/>
                <a:ea typeface="Verdana"/>
                <a:cs typeface="Verdana"/>
                <a:sym typeface="Verdana"/>
              </a:defRPr>
            </a:lvl8pPr>
            <a:lvl9pPr marL="4114800" lvl="8" indent="-298450">
              <a:spcBef>
                <a:spcPts val="1600"/>
              </a:spcBef>
              <a:spcAft>
                <a:spcPts val="1600"/>
              </a:spcAft>
              <a:buSzPts val="1100"/>
              <a:buFont typeface="Verdana"/>
              <a:buChar char="■"/>
              <a:defRPr sz="1100">
                <a:latin typeface="Verdana"/>
                <a:ea typeface="Verdana"/>
                <a:cs typeface="Verdana"/>
                <a:sym typeface="Verdana"/>
              </a:defRPr>
            </a:lvl9pPr>
          </a:lstStyle>
          <a:p>
            <a:endParaRPr/>
          </a:p>
        </p:txBody>
      </p:sp>
      <p:sp>
        <p:nvSpPr>
          <p:cNvPr id="34" name="Google Shape;34;p4"/>
          <p:cNvSpPr txBox="1">
            <a:spLocks noGrp="1"/>
          </p:cNvSpPr>
          <p:nvPr>
            <p:ph type="body" idx="2"/>
          </p:nvPr>
        </p:nvSpPr>
        <p:spPr>
          <a:xfrm>
            <a:off x="5071325" y="1490773"/>
            <a:ext cx="3595500" cy="5141400"/>
          </a:xfrm>
          <a:prstGeom prst="rect">
            <a:avLst/>
          </a:prstGeom>
        </p:spPr>
        <p:txBody>
          <a:bodyPr spcFirstLastPara="1" wrap="square" lIns="91425" tIns="91425" rIns="91425" bIns="91425" anchor="t" anchorCtr="0">
            <a:noAutofit/>
          </a:bodyPr>
          <a:lstStyle>
            <a:lvl1pPr marL="457200" lvl="0" indent="-298450" rtl="0">
              <a:spcBef>
                <a:spcPts val="0"/>
              </a:spcBef>
              <a:spcAft>
                <a:spcPts val="0"/>
              </a:spcAft>
              <a:buSzPts val="1100"/>
              <a:buFont typeface="Verdana"/>
              <a:buChar char="●"/>
              <a:defRPr sz="1100">
                <a:latin typeface="Verdana"/>
                <a:ea typeface="Verdana"/>
                <a:cs typeface="Verdana"/>
                <a:sym typeface="Verdana"/>
              </a:defRPr>
            </a:lvl1pPr>
            <a:lvl2pPr marL="914400" lvl="1" indent="-298450" rtl="0">
              <a:spcBef>
                <a:spcPts val="1600"/>
              </a:spcBef>
              <a:spcAft>
                <a:spcPts val="0"/>
              </a:spcAft>
              <a:buSzPts val="1100"/>
              <a:buFont typeface="Verdana"/>
              <a:buChar char="○"/>
              <a:defRPr sz="1100">
                <a:latin typeface="Verdana"/>
                <a:ea typeface="Verdana"/>
                <a:cs typeface="Verdana"/>
                <a:sym typeface="Verdana"/>
              </a:defRPr>
            </a:lvl2pPr>
            <a:lvl3pPr marL="1371600" lvl="2" indent="-298450" rtl="0">
              <a:spcBef>
                <a:spcPts val="1600"/>
              </a:spcBef>
              <a:spcAft>
                <a:spcPts val="0"/>
              </a:spcAft>
              <a:buSzPts val="1100"/>
              <a:buFont typeface="Verdana"/>
              <a:buChar char="■"/>
              <a:defRPr sz="1100">
                <a:latin typeface="Verdana"/>
                <a:ea typeface="Verdana"/>
                <a:cs typeface="Verdana"/>
                <a:sym typeface="Verdana"/>
              </a:defRPr>
            </a:lvl3pPr>
            <a:lvl4pPr marL="1828800" lvl="3" indent="-298450" rtl="0">
              <a:spcBef>
                <a:spcPts val="1600"/>
              </a:spcBef>
              <a:spcAft>
                <a:spcPts val="0"/>
              </a:spcAft>
              <a:buSzPts val="1100"/>
              <a:buFont typeface="Verdana"/>
              <a:buChar char="●"/>
              <a:defRPr sz="1100">
                <a:latin typeface="Verdana"/>
                <a:ea typeface="Verdana"/>
                <a:cs typeface="Verdana"/>
                <a:sym typeface="Verdana"/>
              </a:defRPr>
            </a:lvl4pPr>
            <a:lvl5pPr marL="2286000" lvl="4" indent="-298450" rtl="0">
              <a:spcBef>
                <a:spcPts val="1600"/>
              </a:spcBef>
              <a:spcAft>
                <a:spcPts val="0"/>
              </a:spcAft>
              <a:buSzPts val="1100"/>
              <a:buFont typeface="Verdana"/>
              <a:buChar char="○"/>
              <a:defRPr sz="1100">
                <a:latin typeface="Verdana"/>
                <a:ea typeface="Verdana"/>
                <a:cs typeface="Verdana"/>
                <a:sym typeface="Verdana"/>
              </a:defRPr>
            </a:lvl5pPr>
            <a:lvl6pPr marL="2743200" lvl="5" indent="-298450" rtl="0">
              <a:spcBef>
                <a:spcPts val="1600"/>
              </a:spcBef>
              <a:spcAft>
                <a:spcPts val="0"/>
              </a:spcAft>
              <a:buSzPts val="1100"/>
              <a:buFont typeface="Verdana"/>
              <a:buChar char="■"/>
              <a:defRPr sz="1100">
                <a:latin typeface="Verdana"/>
                <a:ea typeface="Verdana"/>
                <a:cs typeface="Verdana"/>
                <a:sym typeface="Verdana"/>
              </a:defRPr>
            </a:lvl6pPr>
            <a:lvl7pPr marL="3200400" lvl="6" indent="-298450" rtl="0">
              <a:spcBef>
                <a:spcPts val="1600"/>
              </a:spcBef>
              <a:spcAft>
                <a:spcPts val="0"/>
              </a:spcAft>
              <a:buSzPts val="1100"/>
              <a:buFont typeface="Verdana"/>
              <a:buChar char="●"/>
              <a:defRPr sz="1100">
                <a:latin typeface="Verdana"/>
                <a:ea typeface="Verdana"/>
                <a:cs typeface="Verdana"/>
                <a:sym typeface="Verdana"/>
              </a:defRPr>
            </a:lvl7pPr>
            <a:lvl8pPr marL="3657600" lvl="7" indent="-298450" rtl="0">
              <a:spcBef>
                <a:spcPts val="1600"/>
              </a:spcBef>
              <a:spcAft>
                <a:spcPts val="0"/>
              </a:spcAft>
              <a:buSzPts val="1100"/>
              <a:buFont typeface="Verdana"/>
              <a:buChar char="○"/>
              <a:defRPr sz="1100">
                <a:latin typeface="Verdana"/>
                <a:ea typeface="Verdana"/>
                <a:cs typeface="Verdana"/>
                <a:sym typeface="Verdana"/>
              </a:defRPr>
            </a:lvl8pPr>
            <a:lvl9pPr marL="4114800" lvl="8" indent="-298450" rtl="0">
              <a:spcBef>
                <a:spcPts val="1600"/>
              </a:spcBef>
              <a:spcAft>
                <a:spcPts val="1600"/>
              </a:spcAft>
              <a:buSzPts val="1100"/>
              <a:buFont typeface="Verdana"/>
              <a:buChar char="■"/>
              <a:defRPr sz="1100">
                <a:latin typeface="Verdana"/>
                <a:ea typeface="Verdana"/>
                <a:cs typeface="Verdana"/>
                <a:sym typeface="Verdana"/>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body" type="twoColTx">
  <p:cSld name="TITLE_AND_TWO_COLUMNS">
    <p:spTree>
      <p:nvGrpSpPr>
        <p:cNvPr id="1" name="Shape 35"/>
        <p:cNvGrpSpPr/>
        <p:nvPr/>
      </p:nvGrpSpPr>
      <p:grpSpPr>
        <a:xfrm>
          <a:off x="0" y="0"/>
          <a:ext cx="0" cy="0"/>
          <a:chOff x="0" y="0"/>
          <a:chExt cx="0" cy="0"/>
        </a:xfrm>
      </p:grpSpPr>
      <p:sp>
        <p:nvSpPr>
          <p:cNvPr id="36" name="Google Shape;36;p5"/>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7" name="Google Shape;37;p5"/>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4000"/>
              <a:buNone/>
              <a:defRPr sz="4000" b="1"/>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38" name="Google Shape;38;p5"/>
          <p:cNvSpPr txBox="1">
            <a:spLocks noGrp="1"/>
          </p:cNvSpPr>
          <p:nvPr>
            <p:ph type="body" idx="1"/>
          </p:nvPr>
        </p:nvSpPr>
        <p:spPr>
          <a:xfrm>
            <a:off x="457200" y="1170425"/>
            <a:ext cx="8229600" cy="54618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9"/>
        <p:cNvGrpSpPr/>
        <p:nvPr/>
      </p:nvGrpSpPr>
      <p:grpSpPr>
        <a:xfrm>
          <a:off x="0" y="0"/>
          <a:ext cx="0" cy="0"/>
          <a:chOff x="0" y="0"/>
          <a:chExt cx="0" cy="0"/>
        </a:xfrm>
      </p:grpSpPr>
      <p:sp>
        <p:nvSpPr>
          <p:cNvPr id="40" name="Google Shape;40;p6"/>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1"/>
        <p:cNvGrpSpPr/>
        <p:nvPr/>
      </p:nvGrpSpPr>
      <p:grpSpPr>
        <a:xfrm>
          <a:off x="0" y="0"/>
          <a:ext cx="0" cy="0"/>
          <a:chOff x="0" y="0"/>
          <a:chExt cx="0" cy="0"/>
        </a:xfrm>
      </p:grpSpPr>
      <p:sp>
        <p:nvSpPr>
          <p:cNvPr id="42" name="Google Shape;42;p7"/>
          <p:cNvSpPr txBox="1">
            <a:spLocks noGrp="1"/>
          </p:cNvSpPr>
          <p:nvPr>
            <p:ph type="title"/>
          </p:nvPr>
        </p:nvSpPr>
        <p:spPr>
          <a:xfrm>
            <a:off x="311700" y="790187"/>
            <a:ext cx="2808000" cy="10749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43" name="Google Shape;43;p7"/>
          <p:cNvSpPr txBox="1">
            <a:spLocks noGrp="1"/>
          </p:cNvSpPr>
          <p:nvPr>
            <p:ph type="body" idx="1"/>
          </p:nvPr>
        </p:nvSpPr>
        <p:spPr>
          <a:xfrm>
            <a:off x="311700" y="1976320"/>
            <a:ext cx="2808000" cy="45219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44" name="Google Shape;44;p7"/>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8"/>
        <p:cNvGrpSpPr/>
        <p:nvPr/>
      </p:nvGrpSpPr>
      <p:grpSpPr>
        <a:xfrm>
          <a:off x="0" y="0"/>
          <a:ext cx="0" cy="0"/>
          <a:chOff x="0" y="0"/>
          <a:chExt cx="0" cy="0"/>
        </a:xfrm>
      </p:grpSpPr>
      <p:sp>
        <p:nvSpPr>
          <p:cNvPr id="49" name="Google Shape;49;p9"/>
          <p:cNvSpPr/>
          <p:nvPr/>
        </p:nvSpPr>
        <p:spPr>
          <a:xfrm>
            <a:off x="4572000" y="-178"/>
            <a:ext cx="4572000" cy="7315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9"/>
          <p:cNvSpPr txBox="1">
            <a:spLocks noGrp="1"/>
          </p:cNvSpPr>
          <p:nvPr>
            <p:ph type="title"/>
          </p:nvPr>
        </p:nvSpPr>
        <p:spPr>
          <a:xfrm>
            <a:off x="265500" y="1753849"/>
            <a:ext cx="4045200" cy="21081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51" name="Google Shape;51;p9"/>
          <p:cNvSpPr txBox="1">
            <a:spLocks noGrp="1"/>
          </p:cNvSpPr>
          <p:nvPr>
            <p:ph type="subTitle" idx="1"/>
          </p:nvPr>
        </p:nvSpPr>
        <p:spPr>
          <a:xfrm>
            <a:off x="265500" y="3986596"/>
            <a:ext cx="4045200" cy="17565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52" name="Google Shape;52;p9"/>
          <p:cNvSpPr txBox="1">
            <a:spLocks noGrp="1"/>
          </p:cNvSpPr>
          <p:nvPr>
            <p:ph type="body" idx="2"/>
          </p:nvPr>
        </p:nvSpPr>
        <p:spPr>
          <a:xfrm>
            <a:off x="4939500" y="1029796"/>
            <a:ext cx="3837000" cy="52554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53" name="Google Shape;53;p9"/>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4"/>
        <p:cNvGrpSpPr/>
        <p:nvPr/>
      </p:nvGrpSpPr>
      <p:grpSpPr>
        <a:xfrm>
          <a:off x="0" y="0"/>
          <a:ext cx="0" cy="0"/>
          <a:chOff x="0" y="0"/>
          <a:chExt cx="0" cy="0"/>
        </a:xfrm>
      </p:grpSpPr>
      <p:sp>
        <p:nvSpPr>
          <p:cNvPr id="55" name="Google Shape;55;p10"/>
          <p:cNvSpPr txBox="1">
            <a:spLocks noGrp="1"/>
          </p:cNvSpPr>
          <p:nvPr>
            <p:ph type="body" idx="1"/>
          </p:nvPr>
        </p:nvSpPr>
        <p:spPr>
          <a:xfrm>
            <a:off x="311700" y="6016818"/>
            <a:ext cx="5998800" cy="8607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56" name="Google Shape;56;p10"/>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7"/>
        <p:cNvGrpSpPr/>
        <p:nvPr/>
      </p:nvGrpSpPr>
      <p:grpSpPr>
        <a:xfrm>
          <a:off x="0" y="0"/>
          <a:ext cx="0" cy="0"/>
          <a:chOff x="0" y="0"/>
          <a:chExt cx="0" cy="0"/>
        </a:xfrm>
      </p:grpSpPr>
      <p:sp>
        <p:nvSpPr>
          <p:cNvPr id="58" name="Google Shape;58;p11"/>
          <p:cNvSpPr txBox="1">
            <a:spLocks noGrp="1"/>
          </p:cNvSpPr>
          <p:nvPr>
            <p:ph type="title" hasCustomPrompt="1"/>
          </p:nvPr>
        </p:nvSpPr>
        <p:spPr>
          <a:xfrm>
            <a:off x="311700" y="1573156"/>
            <a:ext cx="8520600" cy="27924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59" name="Google Shape;59;p11"/>
          <p:cNvSpPr txBox="1">
            <a:spLocks noGrp="1"/>
          </p:cNvSpPr>
          <p:nvPr>
            <p:ph type="body" idx="1"/>
          </p:nvPr>
        </p:nvSpPr>
        <p:spPr>
          <a:xfrm>
            <a:off x="311700" y="4483164"/>
            <a:ext cx="8520600" cy="18501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60" name="Google Shape;60;p11"/>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1"/>
        <p:cNvGrpSpPr/>
        <p:nvPr/>
      </p:nvGrpSpPr>
      <p:grpSpPr>
        <a:xfrm>
          <a:off x="0" y="0"/>
          <a:ext cx="0" cy="0"/>
          <a:chOff x="0" y="0"/>
          <a:chExt cx="0" cy="0"/>
        </a:xfrm>
      </p:grpSpPr>
      <p:sp>
        <p:nvSpPr>
          <p:cNvPr id="62" name="Google Shape;62;p1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02000" y="690382"/>
            <a:ext cx="8520600" cy="8145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639076"/>
            <a:ext cx="8520600" cy="48588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1600"/>
              </a:spcBef>
              <a:spcAft>
                <a:spcPts val="0"/>
              </a:spcAft>
              <a:buClr>
                <a:schemeClr val="dk2"/>
              </a:buClr>
              <a:buSzPts val="1400"/>
              <a:buChar char="○"/>
              <a:defRPr>
                <a:solidFill>
                  <a:schemeClr val="dk2"/>
                </a:solidFill>
              </a:defRPr>
            </a:lvl2pPr>
            <a:lvl3pPr marL="1371600" lvl="2" indent="-317500">
              <a:lnSpc>
                <a:spcPct val="115000"/>
              </a:lnSpc>
              <a:spcBef>
                <a:spcPts val="1600"/>
              </a:spcBef>
              <a:spcAft>
                <a:spcPts val="0"/>
              </a:spcAft>
              <a:buClr>
                <a:schemeClr val="dk2"/>
              </a:buClr>
              <a:buSzPts val="1400"/>
              <a:buChar char="■"/>
              <a:defRPr>
                <a:solidFill>
                  <a:schemeClr val="dk2"/>
                </a:solidFill>
              </a:defRPr>
            </a:lvl3pPr>
            <a:lvl4pPr marL="1828800" lvl="3" indent="-317500">
              <a:lnSpc>
                <a:spcPct val="115000"/>
              </a:lnSpc>
              <a:spcBef>
                <a:spcPts val="1600"/>
              </a:spcBef>
              <a:spcAft>
                <a:spcPts val="0"/>
              </a:spcAft>
              <a:buClr>
                <a:schemeClr val="dk2"/>
              </a:buClr>
              <a:buSzPts val="1400"/>
              <a:buChar char="●"/>
              <a:defRPr>
                <a:solidFill>
                  <a:schemeClr val="dk2"/>
                </a:solidFill>
              </a:defRPr>
            </a:lvl4pPr>
            <a:lvl5pPr marL="2286000" lvl="4" indent="-317500">
              <a:lnSpc>
                <a:spcPct val="115000"/>
              </a:lnSpc>
              <a:spcBef>
                <a:spcPts val="1600"/>
              </a:spcBef>
              <a:spcAft>
                <a:spcPts val="0"/>
              </a:spcAft>
              <a:buClr>
                <a:schemeClr val="dk2"/>
              </a:buClr>
              <a:buSzPts val="1400"/>
              <a:buChar char="○"/>
              <a:defRPr>
                <a:solidFill>
                  <a:schemeClr val="dk2"/>
                </a:solidFill>
              </a:defRPr>
            </a:lvl5pPr>
            <a:lvl6pPr marL="2743200" lvl="5" indent="-317500">
              <a:lnSpc>
                <a:spcPct val="115000"/>
              </a:lnSpc>
              <a:spcBef>
                <a:spcPts val="1600"/>
              </a:spcBef>
              <a:spcAft>
                <a:spcPts val="0"/>
              </a:spcAft>
              <a:buClr>
                <a:schemeClr val="dk2"/>
              </a:buClr>
              <a:buSzPts val="1400"/>
              <a:buChar char="■"/>
              <a:defRPr>
                <a:solidFill>
                  <a:schemeClr val="dk2"/>
                </a:solidFill>
              </a:defRPr>
            </a:lvl6pPr>
            <a:lvl7pPr marL="3200400" lvl="6" indent="-317500">
              <a:lnSpc>
                <a:spcPct val="115000"/>
              </a:lnSpc>
              <a:spcBef>
                <a:spcPts val="1600"/>
              </a:spcBef>
              <a:spcAft>
                <a:spcPts val="0"/>
              </a:spcAft>
              <a:buClr>
                <a:schemeClr val="dk2"/>
              </a:buClr>
              <a:buSzPts val="1400"/>
              <a:buChar char="●"/>
              <a:defRPr>
                <a:solidFill>
                  <a:schemeClr val="dk2"/>
                </a:solidFill>
              </a:defRPr>
            </a:lvl7pPr>
            <a:lvl8pPr marL="3657600" lvl="7" indent="-317500">
              <a:lnSpc>
                <a:spcPct val="115000"/>
              </a:lnSpc>
              <a:spcBef>
                <a:spcPts val="1600"/>
              </a:spcBef>
              <a:spcAft>
                <a:spcPts val="0"/>
              </a:spcAft>
              <a:buClr>
                <a:schemeClr val="dk2"/>
              </a:buClr>
              <a:buSzPts val="1400"/>
              <a:buChar char="○"/>
              <a:defRPr>
                <a:solidFill>
                  <a:schemeClr val="dk2"/>
                </a:solidFill>
              </a:defRPr>
            </a:lvl8pPr>
            <a:lvl9pPr marL="4114800" lvl="8" indent="-317500">
              <a:lnSpc>
                <a:spcPct val="115000"/>
              </a:lnSpc>
              <a:spcBef>
                <a:spcPts val="1600"/>
              </a:spcBef>
              <a:spcAft>
                <a:spcPts val="160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6632131"/>
            <a:ext cx="548700" cy="5598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9" name="Google Shape;9;p1"/>
          <p:cNvPicPr preferRelativeResize="0"/>
          <p:nvPr/>
        </p:nvPicPr>
        <p:blipFill rotWithShape="1">
          <a:blip r:embed="rId12">
            <a:alphaModFix/>
          </a:blip>
          <a:srcRect/>
          <a:stretch/>
        </p:blipFill>
        <p:spPr>
          <a:xfrm>
            <a:off x="0" y="0"/>
            <a:ext cx="9144000" cy="7315200"/>
          </a:xfrm>
          <a:prstGeom prst="rect">
            <a:avLst/>
          </a:prstGeom>
          <a:noFill/>
          <a:ln>
            <a:noFill/>
          </a:ln>
        </p:spPr>
      </p:pic>
      <p:sp>
        <p:nvSpPr>
          <p:cNvPr id="10" name="Google Shape;10;p1"/>
          <p:cNvSpPr txBox="1"/>
          <p:nvPr/>
        </p:nvSpPr>
        <p:spPr>
          <a:xfrm>
            <a:off x="311700" y="6987000"/>
            <a:ext cx="6362100" cy="328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dirty="0">
                <a:solidFill>
                  <a:schemeClr val="dk1"/>
                </a:solidFill>
                <a:latin typeface="Verdana"/>
                <a:ea typeface="Verdana"/>
                <a:cs typeface="Verdana"/>
                <a:sym typeface="Verdana"/>
              </a:rPr>
              <a:t>Copyright © 1984-2026  Executive Decision Systems, Inc. and The Guld Resource Group, LLC.</a:t>
            </a:r>
            <a:endParaRPr sz="700" b="1" dirty="0">
              <a:solidFill>
                <a:srgbClr val="FFFFFF"/>
              </a:solidFill>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5" r:id="rId7"/>
    <p:sldLayoutId id="2147483656" r:id="rId8"/>
    <p:sldLayoutId id="2147483657" r:id="rId9"/>
    <p:sldLayoutId id="2147483658" r:id="rId1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comments" Target="../comments/comment2.xml"/><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comments" Target="../comments/comment3.xm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comments" Target="../comments/comment4.xml"/></Relationships>
</file>

<file path=ppt/slides/_rels/slide13.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comments" Target="../comments/commen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hyperlink" Target="http://wwww.com" TargetMode="External"/><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hyperlink" Target="http://wwww.com" TargetMode="External"/><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6"/>
        <p:cNvGrpSpPr/>
        <p:nvPr/>
      </p:nvGrpSpPr>
      <p:grpSpPr>
        <a:xfrm>
          <a:off x="0" y="0"/>
          <a:ext cx="0" cy="0"/>
          <a:chOff x="0" y="0"/>
          <a:chExt cx="0" cy="0"/>
        </a:xfrm>
      </p:grpSpPr>
      <p:sp>
        <p:nvSpPr>
          <p:cNvPr id="67" name="Google Shape;67;p13"/>
          <p:cNvSpPr txBox="1">
            <a:spLocks noGrp="1"/>
          </p:cNvSpPr>
          <p:nvPr>
            <p:ph type="subTitle" idx="1"/>
          </p:nvPr>
        </p:nvSpPr>
        <p:spPr>
          <a:xfrm>
            <a:off x="1131085" y="3533551"/>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0">
                <a:latin typeface="Verdana"/>
                <a:ea typeface="Verdana"/>
                <a:cs typeface="Verdana"/>
                <a:sym typeface="Verdana"/>
              </a:rPr>
              <a:t>clientContactName</a:t>
            </a:r>
            <a:endParaRPr dirty="0">
              <a:solidFill>
                <a:schemeClr val="accent2"/>
              </a:solidFill>
              <a:latin typeface="Verdana"/>
              <a:ea typeface="Verdana"/>
              <a:cs typeface="Verdana"/>
              <a:sym typeface="Verdana"/>
            </a:endParaRPr>
          </a:p>
          <a:p>
            <a:pPr marL="0" lvl="0" indent="0" algn="l" rtl="0">
              <a:spcBef>
                <a:spcPts val="0"/>
              </a:spcBef>
              <a:spcAft>
                <a:spcPts val="1600"/>
              </a:spcAft>
              <a:buNone/>
            </a:pPr>
            <a:endParaRPr dirty="0">
              <a:latin typeface="Verdana"/>
              <a:ea typeface="Verdana"/>
              <a:cs typeface="Verdana"/>
              <a:sym typeface="Verdana"/>
            </a:endParaRPr>
          </a:p>
        </p:txBody>
      </p:sp>
      <p:sp>
        <p:nvSpPr>
          <p:cNvPr id="68" name="Google Shape;68;p13"/>
          <p:cNvSpPr txBox="1">
            <a:spLocks noGrp="1"/>
          </p:cNvSpPr>
          <p:nvPr>
            <p:ph type="subTitle" idx="2"/>
          </p:nvPr>
        </p:nvSpPr>
        <p:spPr>
          <a:xfrm>
            <a:off x="1131085" y="3996734"/>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0" dirty="0" err="1">
                <a:latin typeface="Verdana"/>
                <a:ea typeface="Verdana"/>
                <a:cs typeface="Verdana"/>
                <a:sym typeface="Verdana"/>
              </a:rPr>
              <a:t>clientBusinessName</a:t>
            </a:r>
            <a:endParaRPr dirty="0">
              <a:latin typeface="Verdana"/>
              <a:ea typeface="Verdana"/>
              <a:cs typeface="Verdana"/>
              <a:sym typeface="Verdana"/>
            </a:endParaRPr>
          </a:p>
        </p:txBody>
      </p:sp>
      <p:sp>
        <p:nvSpPr>
          <p:cNvPr id="69" name="Google Shape;69;p13"/>
          <p:cNvSpPr txBox="1">
            <a:spLocks noGrp="1"/>
          </p:cNvSpPr>
          <p:nvPr>
            <p:ph type="subTitle" idx="3"/>
          </p:nvPr>
        </p:nvSpPr>
        <p:spPr>
          <a:xfrm>
            <a:off x="1131075" y="5284026"/>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0" dirty="0" err="1">
                <a:latin typeface="Verdana"/>
                <a:ea typeface="Verdana"/>
                <a:cs typeface="Verdana"/>
                <a:sym typeface="Verdana"/>
              </a:rPr>
              <a:t>portfolioManagerName</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
        <p:nvSpPr>
          <p:cNvPr id="70" name="Google Shape;70;p1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a:t>
            </a:fld>
            <a:endParaRPr/>
          </a:p>
        </p:txBody>
      </p:sp>
      <p:sp>
        <p:nvSpPr>
          <p:cNvPr id="71" name="Google Shape;71;p13"/>
          <p:cNvSpPr txBox="1">
            <a:spLocks noGrp="1"/>
          </p:cNvSpPr>
          <p:nvPr>
            <p:ph type="subTitle" idx="3"/>
          </p:nvPr>
        </p:nvSpPr>
        <p:spPr>
          <a:xfrm>
            <a:off x="1131075" y="5724550"/>
            <a:ext cx="18903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0" dirty="0">
                <a:latin typeface="Verdana"/>
                <a:ea typeface="Verdana"/>
                <a:cs typeface="Verdana"/>
                <a:sym typeface="Verdana"/>
              </a:rPr>
              <a:t>station</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sp>
        <p:nvSpPr>
          <p:cNvPr id="76" name="Google Shape;76;p14"/>
          <p:cNvSpPr txBox="1">
            <a:spLocks noGrp="1"/>
          </p:cNvSpPr>
          <p:nvPr>
            <p:ph type="ctrTitle"/>
          </p:nvPr>
        </p:nvSpPr>
        <p:spPr>
          <a:xfrm>
            <a:off x="693450" y="471127"/>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Team Commitment</a:t>
            </a:r>
            <a:endParaRPr dirty="0"/>
          </a:p>
        </p:txBody>
      </p:sp>
      <p:sp>
        <p:nvSpPr>
          <p:cNvPr id="77" name="Google Shape;77;p14"/>
          <p:cNvSpPr txBox="1">
            <a:spLocks noGrp="1"/>
          </p:cNvSpPr>
          <p:nvPr>
            <p:ph type="body" idx="1"/>
          </p:nvPr>
        </p:nvSpPr>
        <p:spPr>
          <a:xfrm>
            <a:off x="458400" y="2172253"/>
            <a:ext cx="8227200" cy="917400"/>
          </a:xfrm>
          <a:prstGeom prst="rect">
            <a:avLst/>
          </a:prstGeom>
        </p:spPr>
        <p:txBody>
          <a:bodyPr spcFirstLastPara="1" wrap="square" lIns="91425" tIns="91425" rIns="91425" bIns="91425" anchor="t" anchorCtr="0">
            <a:noAutofit/>
          </a:bodyPr>
          <a:lstStyle/>
          <a:p>
            <a:pPr marL="0" lvl="0" indent="0" algn="l" rtl="0">
              <a:lnSpc>
                <a:spcPct val="95000"/>
              </a:lnSpc>
              <a:spcBef>
                <a:spcPts val="0"/>
              </a:spcBef>
              <a:spcAft>
                <a:spcPts val="0"/>
              </a:spcAft>
              <a:buClr>
                <a:schemeClr val="dk1"/>
              </a:buClr>
              <a:buSzPts val="1100"/>
              <a:buFont typeface="Arial"/>
              <a:buNone/>
            </a:pPr>
            <a:r>
              <a:rPr lang="en" sz="1150">
                <a:solidFill>
                  <a:srgbClr val="000000"/>
                </a:solidFill>
                <a:latin typeface="Verdana"/>
                <a:ea typeface="Verdana"/>
                <a:cs typeface="Verdana"/>
                <a:sym typeface="Verdana"/>
              </a:rPr>
              <a:t>The creation of this Summary of Conclusions and Recommendations is a team collaboration of media professionals with the goal of exceeding your expectations. Each of the below is committed to the highest standards of professionalism and are personally available should you have any questions or concerns throughout this campaign.</a:t>
            </a:r>
            <a:endParaRPr sz="1150">
              <a:solidFill>
                <a:srgbClr val="000000"/>
              </a:solidFill>
              <a:latin typeface="Verdana"/>
              <a:ea typeface="Verdana"/>
              <a:cs typeface="Verdana"/>
              <a:sym typeface="Verdana"/>
            </a:endParaRPr>
          </a:p>
          <a:p>
            <a:pPr marL="0" lvl="0" indent="0" algn="l" rtl="0">
              <a:spcBef>
                <a:spcPts val="0"/>
              </a:spcBef>
              <a:spcAft>
                <a:spcPts val="1600"/>
              </a:spcAft>
              <a:buNone/>
            </a:pPr>
            <a:endParaRPr sz="1150">
              <a:solidFill>
                <a:srgbClr val="000000"/>
              </a:solidFill>
              <a:latin typeface="Verdana"/>
              <a:ea typeface="Verdana"/>
              <a:cs typeface="Verdana"/>
              <a:sym typeface="Verdana"/>
            </a:endParaRPr>
          </a:p>
        </p:txBody>
      </p:sp>
      <p:sp>
        <p:nvSpPr>
          <p:cNvPr id="78" name="Google Shape;78;p14"/>
          <p:cNvSpPr txBox="1"/>
          <p:nvPr/>
        </p:nvSpPr>
        <p:spPr>
          <a:xfrm>
            <a:off x="954300" y="1321687"/>
            <a:ext cx="7235400" cy="699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550" b="1" dirty="0">
                <a:latin typeface="Verdana"/>
                <a:ea typeface="Verdana"/>
                <a:cs typeface="Verdana"/>
                <a:sym typeface="Verdana"/>
              </a:rPr>
              <a:t>The following proposal will be submitted to</a:t>
            </a:r>
            <a:endParaRPr sz="1550" b="1" dirty="0">
              <a:latin typeface="Verdana"/>
              <a:ea typeface="Verdana"/>
              <a:cs typeface="Verdana"/>
              <a:sym typeface="Verdana"/>
            </a:endParaRPr>
          </a:p>
          <a:p>
            <a:pPr marL="0" lvl="0" indent="0" algn="ctr" rtl="0">
              <a:spcBef>
                <a:spcPts val="0"/>
              </a:spcBef>
              <a:spcAft>
                <a:spcPts val="0"/>
              </a:spcAft>
              <a:buNone/>
            </a:pPr>
            <a:r>
              <a:rPr lang="en" sz="1550" b="1" dirty="0" err="1">
                <a:latin typeface="Verdana"/>
                <a:ea typeface="Verdana"/>
                <a:cs typeface="Verdana"/>
                <a:sym typeface="Verdana"/>
              </a:rPr>
              <a:t>clientBusinessName</a:t>
            </a:r>
            <a:endParaRPr sz="1550" b="1" dirty="0">
              <a:latin typeface="Verdana"/>
              <a:ea typeface="Verdana"/>
              <a:cs typeface="Verdana"/>
              <a:sym typeface="Verdana"/>
            </a:endParaRPr>
          </a:p>
        </p:txBody>
      </p:sp>
      <p:sp>
        <p:nvSpPr>
          <p:cNvPr id="79" name="Google Shape;79;p14"/>
          <p:cNvSpPr txBox="1">
            <a:spLocks noGrp="1"/>
          </p:cNvSpPr>
          <p:nvPr>
            <p:ph type="body" idx="2"/>
          </p:nvPr>
        </p:nvSpPr>
        <p:spPr>
          <a:xfrm>
            <a:off x="451762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None/>
            </a:pPr>
            <a:r>
              <a:rPr lang="en" sz="1250">
                <a:solidFill>
                  <a:srgbClr val="000000"/>
                </a:solidFill>
                <a:latin typeface="Verdana"/>
                <a:ea typeface="Verdana"/>
                <a:cs typeface="Verdana"/>
                <a:sym typeface="Verdana"/>
              </a:rPr>
              <a:t>topLevelTitle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250">
                <a:solidFill>
                  <a:srgbClr val="000000"/>
                </a:solidFill>
                <a:latin typeface="Verdana"/>
                <a:ea typeface="Verdana"/>
                <a:cs typeface="Verdana"/>
                <a:sym typeface="Verdana"/>
              </a:rPr>
              <a:t>secondLevelTitle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250">
                <a:solidFill>
                  <a:srgbClr val="000000"/>
                </a:solidFill>
                <a:latin typeface="Verdana"/>
                <a:ea typeface="Verdana"/>
                <a:cs typeface="Verdana"/>
                <a:sym typeface="Verdana"/>
              </a:rPr>
              <a:t>thirdLevelTitle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Clr>
                <a:schemeClr val="dk1"/>
              </a:buClr>
              <a:buSzPts val="1100"/>
              <a:buFont typeface="Arial"/>
              <a:buNone/>
            </a:pPr>
            <a:r>
              <a:rPr lang="en" sz="1250">
                <a:solidFill>
                  <a:srgbClr val="000000"/>
                </a:solidFill>
                <a:latin typeface="Verdana"/>
                <a:ea typeface="Verdana"/>
                <a:cs typeface="Verdana"/>
                <a:sym typeface="Verdana"/>
              </a:rPr>
              <a:t>fourthLevelTitle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1600"/>
              </a:spcAft>
              <a:buNone/>
            </a:pPr>
            <a:endParaRPr sz="1250">
              <a:solidFill>
                <a:srgbClr val="000000"/>
              </a:solidFill>
              <a:latin typeface="Verdana"/>
              <a:ea typeface="Verdana"/>
              <a:cs typeface="Verdana"/>
              <a:sym typeface="Verdana"/>
            </a:endParaRPr>
          </a:p>
        </p:txBody>
      </p:sp>
      <p:sp>
        <p:nvSpPr>
          <p:cNvPr id="80" name="Google Shape;80;p14"/>
          <p:cNvSpPr txBox="1">
            <a:spLocks noGrp="1"/>
          </p:cNvSpPr>
          <p:nvPr>
            <p:ph type="body" idx="2"/>
          </p:nvPr>
        </p:nvSpPr>
        <p:spPr>
          <a:xfrm>
            <a:off x="49377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Clr>
                <a:schemeClr val="dk1"/>
              </a:buClr>
              <a:buSzPts val="1100"/>
              <a:buFont typeface="Arial"/>
              <a:buNone/>
            </a:pPr>
            <a:r>
              <a:rPr lang="en" sz="1250">
                <a:solidFill>
                  <a:schemeClr val="dk1"/>
                </a:solidFill>
              </a:rPr>
              <a:t>topLevelName </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secondLevelName</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thirdLevelName</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fourthLevelName</a:t>
            </a:r>
            <a:endParaRPr sz="1250">
              <a:solidFill>
                <a:schemeClr val="dk1"/>
              </a:solidFill>
            </a:endParaRPr>
          </a:p>
          <a:p>
            <a:pPr marL="0" lvl="0" indent="0" algn="l" rtl="0">
              <a:spcBef>
                <a:spcPts val="1600"/>
              </a:spcBef>
              <a:spcAft>
                <a:spcPts val="0"/>
              </a:spcAft>
              <a:buClr>
                <a:schemeClr val="dk1"/>
              </a:buClr>
              <a:buSzPts val="1100"/>
              <a:buFont typeface="Arial"/>
              <a:buNone/>
            </a:pPr>
            <a:endParaRPr sz="1250">
              <a:solidFill>
                <a:schemeClr val="dk1"/>
              </a:solidFill>
            </a:endParaRPr>
          </a:p>
          <a:p>
            <a:pPr marL="0" lvl="0" indent="0" algn="ctr" rtl="0">
              <a:lnSpc>
                <a:spcPct val="200000"/>
              </a:lnSpc>
              <a:spcBef>
                <a:spcPts val="1200"/>
              </a:spcBef>
              <a:spcAft>
                <a:spcPts val="1600"/>
              </a:spcAft>
              <a:buNone/>
            </a:pPr>
            <a:endParaRPr sz="1250">
              <a:solidFill>
                <a:srgbClr val="000000"/>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4"/>
        <p:cNvGrpSpPr/>
        <p:nvPr/>
      </p:nvGrpSpPr>
      <p:grpSpPr>
        <a:xfrm>
          <a:off x="0" y="0"/>
          <a:ext cx="0" cy="0"/>
          <a:chOff x="0" y="0"/>
          <a:chExt cx="0" cy="0"/>
        </a:xfrm>
      </p:grpSpPr>
      <p:sp>
        <p:nvSpPr>
          <p:cNvPr id="85" name="Google Shape;85;p1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Marketplace Competition</a:t>
            </a:r>
            <a:endParaRPr/>
          </a:p>
        </p:txBody>
      </p:sp>
      <p:sp>
        <p:nvSpPr>
          <p:cNvPr id="86" name="Google Shape;86;p15"/>
          <p:cNvSpPr txBox="1"/>
          <p:nvPr/>
        </p:nvSpPr>
        <p:spPr>
          <a:xfrm>
            <a:off x="364750" y="1283286"/>
            <a:ext cx="348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1. How long have you been in business?</a:t>
            </a:r>
            <a:endParaRPr sz="1150" b="1">
              <a:latin typeface="Verdana"/>
              <a:ea typeface="Verdana"/>
              <a:cs typeface="Verdana"/>
              <a:sym typeface="Verdana"/>
            </a:endParaRPr>
          </a:p>
        </p:txBody>
      </p:sp>
      <p:sp>
        <p:nvSpPr>
          <p:cNvPr id="87" name="Google Shape;87;p15"/>
          <p:cNvSpPr txBox="1"/>
          <p:nvPr/>
        </p:nvSpPr>
        <p:spPr>
          <a:xfrm>
            <a:off x="4722188" y="1283286"/>
            <a:ext cx="20460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How many locations?</a:t>
            </a:r>
            <a:endParaRPr sz="1150" b="1">
              <a:latin typeface="Verdana"/>
              <a:ea typeface="Verdana"/>
              <a:cs typeface="Verdana"/>
              <a:sym typeface="Verdana"/>
            </a:endParaRPr>
          </a:p>
        </p:txBody>
      </p:sp>
      <p:sp>
        <p:nvSpPr>
          <p:cNvPr id="88" name="Google Shape;88;p15"/>
          <p:cNvSpPr txBox="1"/>
          <p:nvPr/>
        </p:nvSpPr>
        <p:spPr>
          <a:xfrm>
            <a:off x="7273050" y="1283286"/>
            <a:ext cx="102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Plans to expand?</a:t>
            </a:r>
            <a:endParaRPr sz="1150" b="1">
              <a:latin typeface="Verdana"/>
              <a:ea typeface="Verdana"/>
              <a:cs typeface="Verdana"/>
              <a:sym typeface="Verdana"/>
            </a:endParaRPr>
          </a:p>
        </p:txBody>
      </p:sp>
      <p:sp>
        <p:nvSpPr>
          <p:cNvPr id="89" name="Google Shape;89;p15"/>
          <p:cNvSpPr txBox="1"/>
          <p:nvPr/>
        </p:nvSpPr>
        <p:spPr>
          <a:xfrm>
            <a:off x="3755200" y="1285236"/>
            <a:ext cx="25224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00">
                <a:solidFill>
                  <a:schemeClr val="dk1"/>
                </a:solidFill>
                <a:latin typeface="Verdana"/>
                <a:ea typeface="Verdana"/>
                <a:cs typeface="Verdana"/>
                <a:sym typeface="Verdana"/>
              </a:rPr>
              <a:t>yearsInBusiness</a:t>
            </a:r>
            <a:r>
              <a:rPr lang="en" sz="1150">
                <a:latin typeface="Verdana"/>
                <a:ea typeface="Verdana"/>
                <a:cs typeface="Verdana"/>
                <a:sym typeface="Verdana"/>
              </a:rPr>
              <a:t> years </a:t>
            </a:r>
            <a:endParaRPr sz="1150">
              <a:latin typeface="Verdana"/>
              <a:ea typeface="Verdana"/>
              <a:cs typeface="Verdana"/>
              <a:sym typeface="Verdana"/>
            </a:endParaRPr>
          </a:p>
        </p:txBody>
      </p:sp>
      <p:sp>
        <p:nvSpPr>
          <p:cNvPr id="90" name="Google Shape;90;p15"/>
          <p:cNvSpPr/>
          <p:nvPr/>
        </p:nvSpPr>
        <p:spPr>
          <a:xfrm>
            <a:off x="571250" y="1875649"/>
            <a:ext cx="1301400" cy="4806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1st Tier</a:t>
            </a:r>
            <a:endParaRPr sz="1150" b="1">
              <a:latin typeface="Verdana"/>
              <a:ea typeface="Verdana"/>
              <a:cs typeface="Verdana"/>
              <a:sym typeface="Verdana"/>
            </a:endParaRPr>
          </a:p>
        </p:txBody>
      </p:sp>
      <p:sp>
        <p:nvSpPr>
          <p:cNvPr id="91" name="Google Shape;91;p15"/>
          <p:cNvSpPr/>
          <p:nvPr/>
        </p:nvSpPr>
        <p:spPr>
          <a:xfrm>
            <a:off x="57125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3rd Tier</a:t>
            </a:r>
            <a:endParaRPr sz="1150" b="1">
              <a:latin typeface="Verdana"/>
              <a:ea typeface="Verdana"/>
              <a:cs typeface="Verdana"/>
              <a:sym typeface="Verdana"/>
            </a:endParaRPr>
          </a:p>
        </p:txBody>
      </p:sp>
      <p:sp>
        <p:nvSpPr>
          <p:cNvPr id="92" name="Google Shape;92;p15"/>
          <p:cNvSpPr/>
          <p:nvPr/>
        </p:nvSpPr>
        <p:spPr>
          <a:xfrm>
            <a:off x="4719300" y="1901786"/>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dirty="0">
                <a:latin typeface="Verdana"/>
                <a:ea typeface="Verdana"/>
                <a:cs typeface="Verdana"/>
                <a:sym typeface="Verdana"/>
              </a:rPr>
              <a:t>2nd Tier</a:t>
            </a:r>
            <a:endParaRPr sz="1150" b="1" dirty="0">
              <a:latin typeface="Verdana"/>
              <a:ea typeface="Verdana"/>
              <a:cs typeface="Verdana"/>
              <a:sym typeface="Verdana"/>
            </a:endParaRPr>
          </a:p>
        </p:txBody>
      </p:sp>
      <p:sp>
        <p:nvSpPr>
          <p:cNvPr id="93" name="Google Shape;93;p15"/>
          <p:cNvSpPr/>
          <p:nvPr/>
        </p:nvSpPr>
        <p:spPr>
          <a:xfrm>
            <a:off x="471930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4th Tier</a:t>
            </a:r>
            <a:endParaRPr sz="1150" b="1">
              <a:latin typeface="Verdana"/>
              <a:ea typeface="Verdana"/>
              <a:cs typeface="Verdana"/>
              <a:sym typeface="Verdana"/>
            </a:endParaRPr>
          </a:p>
        </p:txBody>
      </p:sp>
      <p:sp>
        <p:nvSpPr>
          <p:cNvPr id="94" name="Google Shape;94;p15"/>
          <p:cNvSpPr txBox="1"/>
          <p:nvPr/>
        </p:nvSpPr>
        <p:spPr>
          <a:xfrm>
            <a:off x="1872950" y="2600865"/>
            <a:ext cx="2002500" cy="565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thirdTierBusiness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#3 in Market Revenue</a:t>
            </a:r>
            <a:endParaRPr sz="1150">
              <a:latin typeface="Verdana"/>
              <a:ea typeface="Verdana"/>
              <a:cs typeface="Verdana"/>
              <a:sym typeface="Verdana"/>
            </a:endParaRPr>
          </a:p>
        </p:txBody>
      </p:sp>
      <p:sp>
        <p:nvSpPr>
          <p:cNvPr id="95" name="Google Shape;95;p15"/>
          <p:cNvSpPr txBox="1"/>
          <p:nvPr/>
        </p:nvSpPr>
        <p:spPr>
          <a:xfrm>
            <a:off x="6020700" y="2598756"/>
            <a:ext cx="2001900" cy="567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a:latin typeface="Verdana"/>
                <a:ea typeface="Verdana"/>
                <a:cs typeface="Verdana"/>
                <a:sym typeface="Verdana"/>
              </a:rPr>
              <a:t>fourthTierBusiness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 #1 in Market Revenue</a:t>
            </a:r>
            <a:endParaRPr sz="1150">
              <a:latin typeface="Verdana"/>
              <a:ea typeface="Verdana"/>
              <a:cs typeface="Verdana"/>
              <a:sym typeface="Verdana"/>
            </a:endParaRPr>
          </a:p>
        </p:txBody>
      </p:sp>
      <p:sp>
        <p:nvSpPr>
          <p:cNvPr id="96" name="Google Shape;96;p15"/>
          <p:cNvSpPr txBox="1"/>
          <p:nvPr/>
        </p:nvSpPr>
        <p:spPr>
          <a:xfrm>
            <a:off x="594350" y="38953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A. What are their strengths?</a:t>
            </a:r>
            <a:endParaRPr sz="1150" b="1">
              <a:latin typeface="Verdana"/>
              <a:ea typeface="Verdana"/>
              <a:cs typeface="Verdana"/>
              <a:sym typeface="Verdana"/>
            </a:endParaRPr>
          </a:p>
        </p:txBody>
      </p:sp>
      <p:sp>
        <p:nvSpPr>
          <p:cNvPr id="97" name="Google Shape;97;p15"/>
          <p:cNvSpPr txBox="1"/>
          <p:nvPr/>
        </p:nvSpPr>
        <p:spPr>
          <a:xfrm>
            <a:off x="594350" y="48289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B. What are their weakness?</a:t>
            </a:r>
            <a:endParaRPr sz="1150" b="1">
              <a:latin typeface="Verdana"/>
              <a:ea typeface="Verdana"/>
              <a:cs typeface="Verdana"/>
              <a:sym typeface="Verdana"/>
            </a:endParaRPr>
          </a:p>
        </p:txBody>
      </p:sp>
      <p:sp>
        <p:nvSpPr>
          <p:cNvPr id="98" name="Google Shape;98;p15"/>
          <p:cNvSpPr txBox="1"/>
          <p:nvPr/>
        </p:nvSpPr>
        <p:spPr>
          <a:xfrm>
            <a:off x="823950" y="4176729"/>
            <a:ext cx="3480300" cy="650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competitionStrengthA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99" name="Google Shape;99;p15"/>
          <p:cNvSpPr txBox="1"/>
          <p:nvPr/>
        </p:nvSpPr>
        <p:spPr>
          <a:xfrm>
            <a:off x="4947904" y="4179724"/>
            <a:ext cx="3891900" cy="64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competitionStrengthB</a:t>
            </a:r>
            <a:endParaRPr sz="1150">
              <a:latin typeface="Verdana"/>
              <a:ea typeface="Verdana"/>
              <a:cs typeface="Verdana"/>
              <a:sym typeface="Verdana"/>
            </a:endParaRPr>
          </a:p>
        </p:txBody>
      </p:sp>
      <p:sp>
        <p:nvSpPr>
          <p:cNvPr id="100" name="Google Shape;100;p15"/>
          <p:cNvSpPr txBox="1"/>
          <p:nvPr/>
        </p:nvSpPr>
        <p:spPr>
          <a:xfrm>
            <a:off x="823950" y="5116979"/>
            <a:ext cx="3480300" cy="42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competitionWeaknessA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1" name="Google Shape;101;p15"/>
          <p:cNvSpPr txBox="1"/>
          <p:nvPr/>
        </p:nvSpPr>
        <p:spPr>
          <a:xfrm>
            <a:off x="4947904" y="5119742"/>
            <a:ext cx="4052100" cy="484500"/>
          </a:xfrm>
          <a:prstGeom prst="rect">
            <a:avLst/>
          </a:prstGeom>
          <a:noFill/>
          <a:ln>
            <a:noFill/>
          </a:ln>
        </p:spPr>
        <p:txBody>
          <a:bodyPr spcFirstLastPara="1" wrap="square" lIns="91425" tIns="91425" rIns="91425" bIns="91425" anchor="t" anchorCtr="0">
            <a:noAutofit/>
          </a:bodyPr>
          <a:lstStyle/>
          <a:p>
            <a:pPr marL="0" marR="114300" lvl="0" indent="0" algn="l" rtl="0">
              <a:lnSpc>
                <a:spcPct val="115000"/>
              </a:lnSpc>
              <a:spcBef>
                <a:spcPts val="0"/>
              </a:spcBef>
              <a:spcAft>
                <a:spcPts val="0"/>
              </a:spcAft>
              <a:buClr>
                <a:schemeClr val="dk1"/>
              </a:buClr>
              <a:buSzPts val="1100"/>
              <a:buFont typeface="Arial"/>
              <a:buNone/>
            </a:pPr>
            <a:r>
              <a:rPr lang="en" sz="1150" i="1">
                <a:latin typeface="Verdana"/>
                <a:ea typeface="Verdana"/>
                <a:cs typeface="Verdana"/>
                <a:sym typeface="Verdana"/>
              </a:rPr>
              <a:t>competitionWeaknessB</a:t>
            </a:r>
            <a:endParaRPr sz="1150">
              <a:latin typeface="Verdana"/>
              <a:ea typeface="Verdana"/>
              <a:cs typeface="Verdana"/>
              <a:sym typeface="Verdana"/>
            </a:endParaRPr>
          </a:p>
          <a:p>
            <a:pPr marL="152400" marR="152400" lvl="0" indent="0" algn="l" rtl="0">
              <a:lnSpc>
                <a:spcPct val="115000"/>
              </a:lnSpc>
              <a:spcBef>
                <a:spcPts val="0"/>
              </a:spcBef>
              <a:spcAft>
                <a:spcPts val="0"/>
              </a:spcAft>
              <a:buClr>
                <a:schemeClr val="dk1"/>
              </a:buClr>
              <a:buSzPts val="1100"/>
              <a:buFont typeface="Arial"/>
              <a:buNone/>
            </a:pPr>
            <a:endParaRPr sz="1150">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2" name="Google Shape;102;p15"/>
          <p:cNvSpPr txBox="1"/>
          <p:nvPr/>
        </p:nvSpPr>
        <p:spPr>
          <a:xfrm>
            <a:off x="66216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i="1">
                <a:solidFill>
                  <a:schemeClr val="dk1"/>
                </a:solidFill>
                <a:latin typeface="Verdana"/>
                <a:ea typeface="Verdana"/>
                <a:cs typeface="Verdana"/>
                <a:sym typeface="Verdana"/>
              </a:rPr>
              <a:t>numberOfLocations</a:t>
            </a:r>
            <a:endParaRPr sz="1150">
              <a:latin typeface="Verdana"/>
              <a:ea typeface="Verdana"/>
              <a:cs typeface="Verdana"/>
              <a:sym typeface="Verdana"/>
            </a:endParaRPr>
          </a:p>
        </p:txBody>
      </p:sp>
      <p:sp>
        <p:nvSpPr>
          <p:cNvPr id="103" name="Google Shape;103;p15"/>
          <p:cNvSpPr txBox="1"/>
          <p:nvPr/>
        </p:nvSpPr>
        <p:spPr>
          <a:xfrm>
            <a:off x="80968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i="1">
                <a:solidFill>
                  <a:schemeClr val="dk1"/>
                </a:solidFill>
                <a:latin typeface="Verdana"/>
                <a:ea typeface="Verdana"/>
                <a:cs typeface="Verdana"/>
                <a:sym typeface="Verdana"/>
              </a:rPr>
              <a:t>planToExpand</a:t>
            </a:r>
            <a:endParaRPr sz="1150">
              <a:latin typeface="Verdana"/>
              <a:ea typeface="Verdana"/>
              <a:cs typeface="Verdana"/>
              <a:sym typeface="Verdana"/>
            </a:endParaRPr>
          </a:p>
        </p:txBody>
      </p:sp>
      <p:sp>
        <p:nvSpPr>
          <p:cNvPr id="104" name="Google Shape;104;p15"/>
          <p:cNvSpPr txBox="1"/>
          <p:nvPr/>
        </p:nvSpPr>
        <p:spPr>
          <a:xfrm>
            <a:off x="6020695" y="1847088"/>
            <a:ext cx="2001900" cy="567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i="1">
                <a:solidFill>
                  <a:schemeClr val="dk1"/>
                </a:solidFill>
                <a:latin typeface="Verdana"/>
                <a:ea typeface="Verdana"/>
                <a:cs typeface="Verdana"/>
                <a:sym typeface="Verdana"/>
              </a:rPr>
              <a:t>secondTierBusiness</a:t>
            </a:r>
            <a:endParaRPr sz="1150" i="1">
              <a:solidFill>
                <a:schemeClr val="dk1"/>
              </a:solidFill>
              <a:latin typeface="Verdana"/>
              <a:ea typeface="Verdana"/>
              <a:cs typeface="Verdana"/>
              <a:sym typeface="Verdana"/>
            </a:endParaRPr>
          </a:p>
          <a:p>
            <a:pPr marL="0" lvl="0" indent="0" algn="l" rtl="0">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#2 in Market Revenue</a:t>
            </a:r>
            <a:endParaRPr sz="1150">
              <a:solidFill>
                <a:schemeClr val="dk1"/>
              </a:solidFill>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5" name="Google Shape;105;p15"/>
          <p:cNvSpPr txBox="1"/>
          <p:nvPr/>
        </p:nvSpPr>
        <p:spPr>
          <a:xfrm>
            <a:off x="1872950" y="1843250"/>
            <a:ext cx="2002500" cy="565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i="1">
                <a:solidFill>
                  <a:schemeClr val="dk1"/>
                </a:solidFill>
                <a:latin typeface="Verdana"/>
                <a:ea typeface="Verdana"/>
                <a:cs typeface="Verdana"/>
                <a:sym typeface="Verdana"/>
              </a:rPr>
              <a:t>firstTierBusiness</a:t>
            </a:r>
            <a:endParaRPr sz="1150" i="1">
              <a:solidFill>
                <a:schemeClr val="dk1"/>
              </a:solidFill>
              <a:latin typeface="Verdana"/>
              <a:ea typeface="Verdana"/>
              <a:cs typeface="Verdana"/>
              <a:sym typeface="Verdana"/>
            </a:endParaRPr>
          </a:p>
          <a:p>
            <a:pPr marL="0" lvl="0" indent="0" algn="l" rtl="0">
              <a:lnSpc>
                <a:spcPct val="115000"/>
              </a:lnSpc>
              <a:spcBef>
                <a:spcPts val="0"/>
              </a:spcBef>
              <a:spcAft>
                <a:spcPts val="0"/>
              </a:spcAft>
              <a:buNone/>
            </a:pPr>
            <a:r>
              <a:rPr lang="en" sz="1150">
                <a:solidFill>
                  <a:schemeClr val="dk1"/>
                </a:solidFill>
                <a:latin typeface="Verdana"/>
                <a:ea typeface="Verdana"/>
                <a:cs typeface="Verdana"/>
                <a:sym typeface="Verdana"/>
              </a:rPr>
              <a:t>#1 in Market Revenue</a:t>
            </a:r>
            <a:endParaRPr sz="1150" i="1">
              <a:solidFill>
                <a:schemeClr val="dk1"/>
              </a:solidFill>
              <a:latin typeface="Verdana"/>
              <a:ea typeface="Verdana"/>
              <a:cs typeface="Verdana"/>
              <a:sym typeface="Verdana"/>
            </a:endParaRPr>
          </a:p>
        </p:txBody>
      </p:sp>
      <p:sp>
        <p:nvSpPr>
          <p:cNvPr id="106" name="Google Shape;106;p15"/>
          <p:cNvSpPr txBox="1">
            <a:spLocks noGrp="1"/>
          </p:cNvSpPr>
          <p:nvPr>
            <p:ph type="body" idx="1"/>
          </p:nvPr>
        </p:nvSpPr>
        <p:spPr>
          <a:xfrm>
            <a:off x="365760" y="5860879"/>
            <a:ext cx="8227200" cy="429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a:solidFill>
                  <a:srgbClr val="000000"/>
                </a:solidFill>
              </a:rPr>
              <a:t>3. </a:t>
            </a:r>
            <a:r>
              <a:rPr lang="en" sz="1150" b="1">
                <a:solidFill>
                  <a:srgbClr val="000000"/>
                </a:solidFill>
                <a:latin typeface="Verdana"/>
                <a:ea typeface="Verdana"/>
                <a:cs typeface="Verdana"/>
                <a:sym typeface="Verdana"/>
              </a:rPr>
              <a:t>What are the biggest misconceptions consumers have about </a:t>
            </a:r>
            <a:r>
              <a:rPr lang="en" b="1">
                <a:solidFill>
                  <a:srgbClr val="000000"/>
                </a:solidFill>
              </a:rPr>
              <a:t>your </a:t>
            </a:r>
            <a:r>
              <a:rPr lang="en" sz="1150" b="1">
                <a:solidFill>
                  <a:srgbClr val="000000"/>
                </a:solidFill>
                <a:latin typeface="Verdana"/>
                <a:ea typeface="Verdana"/>
                <a:cs typeface="Verdana"/>
                <a:sym typeface="Verdana"/>
              </a:rPr>
              <a:t>business?</a:t>
            </a:r>
            <a:endParaRPr sz="1150" b="1">
              <a:solidFill>
                <a:srgbClr val="000000"/>
              </a:solidFill>
              <a:latin typeface="Verdana"/>
              <a:ea typeface="Verdana"/>
              <a:cs typeface="Verdana"/>
              <a:sym typeface="Verdana"/>
            </a:endParaRPr>
          </a:p>
        </p:txBody>
      </p:sp>
      <p:sp>
        <p:nvSpPr>
          <p:cNvPr id="107" name="Google Shape;107;p15"/>
          <p:cNvSpPr txBox="1"/>
          <p:nvPr/>
        </p:nvSpPr>
        <p:spPr>
          <a:xfrm>
            <a:off x="594360" y="6153000"/>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a:latin typeface="Verdana"/>
                <a:ea typeface="Verdana"/>
                <a:cs typeface="Verdana"/>
                <a:sym typeface="Verdana"/>
              </a:rPr>
              <a:t>misconceptions</a:t>
            </a:r>
            <a:endParaRPr sz="1100">
              <a:latin typeface="Verdana"/>
              <a:ea typeface="Verdana"/>
              <a:cs typeface="Verdana"/>
              <a:sym typeface="Verdana"/>
            </a:endParaRPr>
          </a:p>
        </p:txBody>
      </p:sp>
      <p:sp>
        <p:nvSpPr>
          <p:cNvPr id="108" name="Google Shape;108;p15"/>
          <p:cNvSpPr txBox="1"/>
          <p:nvPr/>
        </p:nvSpPr>
        <p:spPr>
          <a:xfrm>
            <a:off x="365760" y="3355848"/>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2. Who is the main competition?</a:t>
            </a:r>
            <a:endParaRPr sz="1150" b="1">
              <a:latin typeface="Verdana"/>
              <a:ea typeface="Verdana"/>
              <a:cs typeface="Verdana"/>
              <a:sym typeface="Verdana"/>
            </a:endParaRPr>
          </a:p>
        </p:txBody>
      </p:sp>
      <p:sp>
        <p:nvSpPr>
          <p:cNvPr id="109" name="Google Shape;109;p15"/>
          <p:cNvSpPr txBox="1"/>
          <p:nvPr/>
        </p:nvSpPr>
        <p:spPr>
          <a:xfrm>
            <a:off x="595360" y="3637231"/>
            <a:ext cx="34803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competitionA</a:t>
            </a:r>
            <a:endParaRPr sz="1150">
              <a:latin typeface="Verdana"/>
              <a:ea typeface="Verdana"/>
              <a:cs typeface="Verdana"/>
              <a:sym typeface="Verdana"/>
            </a:endParaRPr>
          </a:p>
        </p:txBody>
      </p:sp>
      <p:sp>
        <p:nvSpPr>
          <p:cNvPr id="110" name="Google Shape;110;p15"/>
          <p:cNvSpPr txBox="1"/>
          <p:nvPr/>
        </p:nvSpPr>
        <p:spPr>
          <a:xfrm>
            <a:off x="4719310" y="3640229"/>
            <a:ext cx="38919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competitionB</a:t>
            </a:r>
            <a:endParaRPr sz="1150">
              <a:latin typeface="Verdana"/>
              <a:ea typeface="Verdana"/>
              <a:cs typeface="Verdana"/>
              <a:sym typeface="Verdana"/>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sp>
        <p:nvSpPr>
          <p:cNvPr id="115" name="Google Shape;115;p1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Strategic Marketing I</a:t>
            </a:r>
            <a:endParaRPr/>
          </a:p>
        </p:txBody>
      </p:sp>
      <p:sp>
        <p:nvSpPr>
          <p:cNvPr id="116" name="Google Shape;116;p16"/>
          <p:cNvSpPr txBox="1">
            <a:spLocks noGrp="1"/>
          </p:cNvSpPr>
          <p:nvPr>
            <p:ph type="body" idx="1"/>
          </p:nvPr>
        </p:nvSpPr>
        <p:spPr>
          <a:xfrm>
            <a:off x="365750" y="1170424"/>
            <a:ext cx="8227200" cy="38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1">
                <a:solidFill>
                  <a:schemeClr val="dk1"/>
                </a:solidFill>
              </a:rPr>
              <a:t>4. If you had the power to improve three things in your marketing, what would they be in order?</a:t>
            </a:r>
            <a:endParaRPr b="1">
              <a:solidFill>
                <a:schemeClr val="dk1"/>
              </a:solidFill>
            </a:endParaRPr>
          </a:p>
          <a:p>
            <a:pPr marL="0" lvl="0" indent="0" algn="l" rtl="0">
              <a:spcBef>
                <a:spcPts val="1600"/>
              </a:spcBef>
              <a:spcAft>
                <a:spcPts val="0"/>
              </a:spcAft>
              <a:buNone/>
            </a:pPr>
            <a:endParaRPr b="1">
              <a:solidFill>
                <a:srgbClr val="000000"/>
              </a:solidFill>
            </a:endParaRPr>
          </a:p>
        </p:txBody>
      </p:sp>
      <p:sp>
        <p:nvSpPr>
          <p:cNvPr id="117" name="Google Shape;117;p16"/>
          <p:cNvSpPr txBox="1">
            <a:spLocks noGrp="1"/>
          </p:cNvSpPr>
          <p:nvPr>
            <p:ph type="body" idx="1"/>
          </p:nvPr>
        </p:nvSpPr>
        <p:spPr>
          <a:xfrm>
            <a:off x="3542250" y="2231136"/>
            <a:ext cx="2059500" cy="3852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400" b="1">
                <a:solidFill>
                  <a:srgbClr val="000000"/>
                </a:solidFill>
                <a:latin typeface="Verdana"/>
                <a:ea typeface="Verdana"/>
                <a:cs typeface="Verdana"/>
                <a:sym typeface="Verdana"/>
              </a:rPr>
              <a:t>Client Objectives</a:t>
            </a:r>
            <a:endParaRPr sz="1400" b="1">
              <a:solidFill>
                <a:srgbClr val="000000"/>
              </a:solidFill>
              <a:latin typeface="Verdana"/>
              <a:ea typeface="Verdana"/>
              <a:cs typeface="Verdana"/>
              <a:sym typeface="Verdana"/>
            </a:endParaRPr>
          </a:p>
        </p:txBody>
      </p:sp>
      <p:sp>
        <p:nvSpPr>
          <p:cNvPr id="118" name="Google Shape;118;p16"/>
          <p:cNvSpPr txBox="1">
            <a:spLocks noGrp="1"/>
          </p:cNvSpPr>
          <p:nvPr>
            <p:ph type="body" idx="1"/>
          </p:nvPr>
        </p:nvSpPr>
        <p:spPr>
          <a:xfrm>
            <a:off x="365750" y="2505456"/>
            <a:ext cx="2059500" cy="2994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PRODUCT/SERVICE</a:t>
            </a:r>
            <a:endParaRPr sz="1150" b="1">
              <a:solidFill>
                <a:srgbClr val="000000"/>
              </a:solidFill>
              <a:latin typeface="Verdana"/>
              <a:ea typeface="Verdana"/>
              <a:cs typeface="Verdana"/>
              <a:sym typeface="Verdana"/>
            </a:endParaRPr>
          </a:p>
        </p:txBody>
      </p:sp>
      <p:sp>
        <p:nvSpPr>
          <p:cNvPr id="119" name="Google Shape;119;p16"/>
          <p:cNvSpPr txBox="1">
            <a:spLocks noGrp="1"/>
          </p:cNvSpPr>
          <p:nvPr>
            <p:ph type="body" idx="1"/>
          </p:nvPr>
        </p:nvSpPr>
        <p:spPr>
          <a:xfrm>
            <a:off x="4871475" y="2505456"/>
            <a:ext cx="2059500" cy="3852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CONSUMER</a:t>
            </a:r>
            <a:endParaRPr sz="1150" b="1">
              <a:solidFill>
                <a:srgbClr val="000000"/>
              </a:solidFill>
              <a:latin typeface="Verdana"/>
              <a:ea typeface="Verdana"/>
              <a:cs typeface="Verdana"/>
              <a:sym typeface="Verdana"/>
            </a:endParaRPr>
          </a:p>
        </p:txBody>
      </p:sp>
      <p:sp>
        <p:nvSpPr>
          <p:cNvPr id="120" name="Google Shape;120;p16"/>
          <p:cNvSpPr txBox="1">
            <a:spLocks noGrp="1"/>
          </p:cNvSpPr>
          <p:nvPr>
            <p:ph type="body" idx="1"/>
          </p:nvPr>
        </p:nvSpPr>
        <p:spPr>
          <a:xfrm>
            <a:off x="365738"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PROMOTION</a:t>
            </a:r>
            <a:endParaRPr sz="1150" b="1">
              <a:solidFill>
                <a:srgbClr val="000000"/>
              </a:solidFill>
              <a:latin typeface="Verdana"/>
              <a:ea typeface="Verdana"/>
              <a:cs typeface="Verdana"/>
              <a:sym typeface="Verdana"/>
            </a:endParaRPr>
          </a:p>
        </p:txBody>
      </p:sp>
      <p:sp>
        <p:nvSpPr>
          <p:cNvPr id="121" name="Google Shape;121;p16"/>
          <p:cNvSpPr txBox="1">
            <a:spLocks noGrp="1"/>
          </p:cNvSpPr>
          <p:nvPr>
            <p:ph type="body" idx="1"/>
          </p:nvPr>
        </p:nvSpPr>
        <p:spPr>
          <a:xfrm>
            <a:off x="4871463"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BRAND</a:t>
            </a:r>
            <a:endParaRPr sz="1150" b="1">
              <a:solidFill>
                <a:srgbClr val="000000"/>
              </a:solidFill>
              <a:latin typeface="Verdana"/>
              <a:ea typeface="Verdana"/>
              <a:cs typeface="Verdana"/>
              <a:sym typeface="Verdana"/>
            </a:endParaRPr>
          </a:p>
        </p:txBody>
      </p:sp>
      <p:sp>
        <p:nvSpPr>
          <p:cNvPr id="122" name="Google Shape;122;p16"/>
          <p:cNvSpPr txBox="1">
            <a:spLocks noGrp="1"/>
          </p:cNvSpPr>
          <p:nvPr>
            <p:ph type="body" idx="1"/>
          </p:nvPr>
        </p:nvSpPr>
        <p:spPr>
          <a:xfrm>
            <a:off x="365760" y="5724144"/>
            <a:ext cx="8227200" cy="429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a:solidFill>
                  <a:srgbClr val="000000"/>
                </a:solidFill>
              </a:rPr>
              <a:t>5. What are your most distinctive selling advantages?</a:t>
            </a:r>
            <a:endParaRPr sz="1150" b="1">
              <a:solidFill>
                <a:srgbClr val="000000"/>
              </a:solidFill>
              <a:latin typeface="Verdana"/>
              <a:ea typeface="Verdana"/>
              <a:cs typeface="Verdana"/>
              <a:sym typeface="Verdana"/>
            </a:endParaRPr>
          </a:p>
        </p:txBody>
      </p:sp>
      <p:sp>
        <p:nvSpPr>
          <p:cNvPr id="123" name="Google Shape;123;p16"/>
          <p:cNvSpPr txBox="1"/>
          <p:nvPr/>
        </p:nvSpPr>
        <p:spPr>
          <a:xfrm>
            <a:off x="594360" y="5971032"/>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a:latin typeface="Verdana"/>
                <a:ea typeface="Verdana"/>
                <a:cs typeface="Verdana"/>
                <a:sym typeface="Verdana"/>
              </a:rPr>
              <a:t>sellingAdvantages</a:t>
            </a:r>
            <a:endParaRPr sz="1100">
              <a:latin typeface="Verdana"/>
              <a:ea typeface="Verdana"/>
              <a:cs typeface="Verdana"/>
              <a:sym typeface="Verdana"/>
            </a:endParaRPr>
          </a:p>
        </p:txBody>
      </p:sp>
      <p:graphicFrame>
        <p:nvGraphicFramePr>
          <p:cNvPr id="124" name="Google Shape;124;p16"/>
          <p:cNvGraphicFramePr/>
          <p:nvPr>
            <p:extLst>
              <p:ext uri="{D42A27DB-BD31-4B8C-83A1-F6EECF244321}">
                <p14:modId xmlns:p14="http://schemas.microsoft.com/office/powerpoint/2010/main" val="3055491995"/>
              </p:ext>
            </p:extLst>
          </p:nvPr>
        </p:nvGraphicFramePr>
        <p:xfrm>
          <a:off x="594360" y="2807208"/>
          <a:ext cx="3593600" cy="1181055"/>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36211">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Introduce:Product</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36211">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Feature:Product</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Call:Product</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Promote:Product</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Utilize:Product</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bl>
          </a:graphicData>
        </a:graphic>
      </p:graphicFrame>
      <p:graphicFrame>
        <p:nvGraphicFramePr>
          <p:cNvPr id="125" name="Google Shape;125;p16"/>
          <p:cNvGraphicFramePr/>
          <p:nvPr>
            <p:extLst>
              <p:ext uri="{D42A27DB-BD31-4B8C-83A1-F6EECF244321}">
                <p14:modId xmlns:p14="http://schemas.microsoft.com/office/powerpoint/2010/main" val="2827486415"/>
              </p:ext>
            </p:extLst>
          </p:nvPr>
        </p:nvGraphicFramePr>
        <p:xfrm>
          <a:off x="5084064" y="2807208"/>
          <a:ext cx="3593600" cy="1289250"/>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Retain:Consumer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57850">
                <a:tc>
                  <a:txBody>
                    <a:bodyPr/>
                    <a:lstStyle/>
                    <a:p>
                      <a:pPr marL="0" lvl="0" indent="0" algn="l" rtl="0">
                        <a:lnSpc>
                          <a:spcPct val="115000"/>
                        </a:lnSpc>
                        <a:spcBef>
                          <a:spcPts val="0"/>
                        </a:spcBef>
                        <a:spcAft>
                          <a:spcPts val="0"/>
                        </a:spcAft>
                        <a:buNone/>
                      </a:pPr>
                      <a:r>
                        <a:rPr lang="en-US" sz="1000" b="0" dirty="0" err="1">
                          <a:latin typeface="Verdana"/>
                          <a:ea typeface="Verdana"/>
                          <a:cs typeface="Verdana"/>
                          <a:sym typeface="Verdana"/>
                        </a:rPr>
                        <a:t>Increase:Consumer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Grow:Consumer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Expand:Consumer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Change:Consumer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bl>
          </a:graphicData>
        </a:graphic>
      </p:graphicFrame>
      <p:graphicFrame>
        <p:nvGraphicFramePr>
          <p:cNvPr id="126" name="Google Shape;126;p16"/>
          <p:cNvGraphicFramePr/>
          <p:nvPr>
            <p:extLst>
              <p:ext uri="{D42A27DB-BD31-4B8C-83A1-F6EECF244321}">
                <p14:modId xmlns:p14="http://schemas.microsoft.com/office/powerpoint/2010/main" val="2983055170"/>
              </p:ext>
            </p:extLst>
          </p:nvPr>
        </p:nvGraphicFramePr>
        <p:xfrm>
          <a:off x="611945" y="4508495"/>
          <a:ext cx="3593600" cy="1251468"/>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08578">
                <a:tc>
                  <a:txBody>
                    <a:bodyPr/>
                    <a:lstStyle/>
                    <a:p>
                      <a:pPr marL="0" lvl="0" indent="0" algn="l" rtl="0">
                        <a:lnSpc>
                          <a:spcPct val="115000"/>
                        </a:lnSpc>
                        <a:spcBef>
                          <a:spcPts val="0"/>
                        </a:spcBef>
                        <a:spcAft>
                          <a:spcPts val="0"/>
                        </a:spcAft>
                        <a:buNone/>
                      </a:pPr>
                      <a:r>
                        <a:rPr lang="en" sz="1000" b="1" dirty="0" err="1">
                          <a:solidFill>
                            <a:srgbClr val="222222"/>
                          </a:solidFill>
                          <a:latin typeface="Verdana"/>
                          <a:ea typeface="Verdana"/>
                          <a:cs typeface="Verdana"/>
                          <a:sym typeface="Verdana"/>
                        </a:rPr>
                        <a:t>Make:Promotion</a:t>
                      </a:r>
                      <a:endParaRPr sz="1000" b="1" dirty="0">
                        <a:solidFill>
                          <a:srgbClr val="222222"/>
                        </a:solidFill>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Develop:Promotion</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08578">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Establish:Promotion</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Develop:Promotion</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Initiate:Promotion</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Specially:Promotion</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5"/>
                  </a:ext>
                </a:extLst>
              </a:tr>
            </a:tbl>
          </a:graphicData>
        </a:graphic>
      </p:graphicFrame>
      <p:graphicFrame>
        <p:nvGraphicFramePr>
          <p:cNvPr id="127" name="Google Shape;127;p16"/>
          <p:cNvGraphicFramePr/>
          <p:nvPr>
            <p:extLst>
              <p:ext uri="{D42A27DB-BD31-4B8C-83A1-F6EECF244321}">
                <p14:modId xmlns:p14="http://schemas.microsoft.com/office/powerpoint/2010/main" val="751052941"/>
              </p:ext>
            </p:extLst>
          </p:nvPr>
        </p:nvGraphicFramePr>
        <p:xfrm>
          <a:off x="5084064" y="4549788"/>
          <a:ext cx="3593600" cy="1175004"/>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176894">
                <a:tc>
                  <a:txBody>
                    <a:bodyPr/>
                    <a:lstStyle/>
                    <a:p>
                      <a:pPr marL="0" lvl="0" indent="0" algn="l" rtl="0">
                        <a:lnSpc>
                          <a:spcPct val="115000"/>
                        </a:lnSpc>
                        <a:spcBef>
                          <a:spcPts val="0"/>
                        </a:spcBef>
                        <a:spcAft>
                          <a:spcPts val="0"/>
                        </a:spcAft>
                        <a:buNone/>
                      </a:pPr>
                      <a:r>
                        <a:rPr lang="en" sz="1000" b="1" dirty="0" err="1">
                          <a:solidFill>
                            <a:srgbClr val="222222"/>
                          </a:solidFill>
                          <a:latin typeface="Verdana"/>
                          <a:ea typeface="Verdana"/>
                          <a:cs typeface="Verdana"/>
                          <a:sym typeface="Verdana"/>
                        </a:rPr>
                        <a:t>Maintain:Brand</a:t>
                      </a:r>
                      <a:endParaRPr sz="1000" b="1" dirty="0">
                        <a:solidFill>
                          <a:srgbClr val="222222"/>
                        </a:solidFill>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0"/>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Elevate:Brand</a:t>
                      </a:r>
                      <a:endParaRPr sz="1000" b="1"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1"/>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Improve:Brand</a:t>
                      </a:r>
                      <a:endParaRPr sz="1000" b="1"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2"/>
                  </a:ext>
                </a:extLst>
              </a:tr>
              <a:tr h="176894">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Enhance:Brand</a:t>
                      </a:r>
                      <a:endParaRPr sz="1000"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3"/>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Increase:Brand</a:t>
                      </a:r>
                      <a:endParaRPr sz="1000" b="1"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4"/>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Tech:Brand</a:t>
                      </a:r>
                      <a:endParaRPr sz="1000" b="1"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5"/>
                  </a:ext>
                </a:extLst>
              </a:tr>
            </a:tbl>
          </a:graphicData>
        </a:graphic>
      </p:graphicFrame>
      <p:graphicFrame>
        <p:nvGraphicFramePr>
          <p:cNvPr id="128" name="Google Shape;128;p16"/>
          <p:cNvGraphicFramePr/>
          <p:nvPr>
            <p:extLst>
              <p:ext uri="{D42A27DB-BD31-4B8C-83A1-F6EECF244321}">
                <p14:modId xmlns:p14="http://schemas.microsoft.com/office/powerpoint/2010/main" val="3439513245"/>
              </p:ext>
            </p:extLst>
          </p:nvPr>
        </p:nvGraphicFramePr>
        <p:xfrm>
          <a:off x="594350" y="1573425"/>
          <a:ext cx="4124325" cy="634746"/>
        </p:xfrm>
        <a:graphic>
          <a:graphicData uri="http://schemas.openxmlformats.org/drawingml/2006/table">
            <a:tbl>
              <a:tblPr>
                <a:noFill/>
                <a:tableStyleId>{CFB75FC7-DD7D-40D8-B2B2-EE4B611A8D2E}</a:tableStyleId>
              </a:tblPr>
              <a:tblGrid>
                <a:gridCol w="4124325">
                  <a:extLst>
                    <a:ext uri="{9D8B030D-6E8A-4147-A177-3AD203B41FA5}">
                      <a16:colId xmlns:a16="http://schemas.microsoft.com/office/drawing/2014/main" val="20000"/>
                    </a:ext>
                  </a:extLst>
                </a:gridCol>
              </a:tblGrid>
              <a:tr h="209550">
                <a:tc>
                  <a:txBody>
                    <a:bodyPr/>
                    <a:lstStyle/>
                    <a:p>
                      <a:pPr marL="0" lvl="0" indent="0" algn="l" rtl="0">
                        <a:lnSpc>
                          <a:spcPct val="115000"/>
                        </a:lnSpc>
                        <a:spcBef>
                          <a:spcPts val="0"/>
                        </a:spcBef>
                        <a:spcAft>
                          <a:spcPts val="0"/>
                        </a:spcAft>
                        <a:buNone/>
                      </a:pPr>
                      <a:r>
                        <a:rPr lang="en" sz="1100" dirty="0">
                          <a:latin typeface="Verdana"/>
                          <a:ea typeface="Verdana"/>
                          <a:cs typeface="Verdana"/>
                          <a:sym typeface="Verdana"/>
                        </a:rPr>
                        <a:t>order1</a:t>
                      </a:r>
                      <a:endParaRPr sz="1100" dirty="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09550">
                <a:tc>
                  <a:txBody>
                    <a:bodyPr/>
                    <a:lstStyle/>
                    <a:p>
                      <a:pPr marL="0" lvl="0" indent="0" algn="l" rtl="0">
                        <a:lnSpc>
                          <a:spcPct val="115000"/>
                        </a:lnSpc>
                        <a:spcBef>
                          <a:spcPts val="0"/>
                        </a:spcBef>
                        <a:spcAft>
                          <a:spcPts val="0"/>
                        </a:spcAft>
                        <a:buNone/>
                      </a:pPr>
                      <a:r>
                        <a:rPr lang="en" sz="1100" dirty="0">
                          <a:latin typeface="Verdana"/>
                          <a:ea typeface="Verdana"/>
                          <a:cs typeface="Verdana"/>
                          <a:sym typeface="Verdana"/>
                        </a:rPr>
                        <a:t>order2</a:t>
                      </a:r>
                      <a:endParaRPr sz="1100" dirty="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9550">
                <a:tc>
                  <a:txBody>
                    <a:bodyPr/>
                    <a:lstStyle/>
                    <a:p>
                      <a:pPr marL="0" lvl="0" indent="0" algn="l" rtl="0">
                        <a:lnSpc>
                          <a:spcPct val="115000"/>
                        </a:lnSpc>
                        <a:spcBef>
                          <a:spcPts val="0"/>
                        </a:spcBef>
                        <a:spcAft>
                          <a:spcPts val="0"/>
                        </a:spcAft>
                        <a:buNone/>
                      </a:pPr>
                      <a:r>
                        <a:rPr lang="en" sz="1100">
                          <a:latin typeface="Verdana"/>
                          <a:ea typeface="Verdana"/>
                          <a:cs typeface="Verdana"/>
                          <a:sym typeface="Verdana"/>
                        </a:rPr>
                        <a:t>order3</a:t>
                      </a:r>
                      <a:endParaRPr sz="1100" dirty="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2"/>
        <p:cNvGrpSpPr/>
        <p:nvPr/>
      </p:nvGrpSpPr>
      <p:grpSpPr>
        <a:xfrm>
          <a:off x="0" y="0"/>
          <a:ext cx="0" cy="0"/>
          <a:chOff x="0" y="0"/>
          <a:chExt cx="0" cy="0"/>
        </a:xfrm>
      </p:grpSpPr>
      <p:sp>
        <p:nvSpPr>
          <p:cNvPr id="133" name="Google Shape;133;p1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Strategic Marketing II</a:t>
            </a:r>
            <a:endParaRPr/>
          </a:p>
        </p:txBody>
      </p:sp>
      <p:sp>
        <p:nvSpPr>
          <p:cNvPr id="134" name="Google Shape;134;p17"/>
          <p:cNvSpPr txBox="1"/>
          <p:nvPr/>
        </p:nvSpPr>
        <p:spPr>
          <a:xfrm>
            <a:off x="364750" y="1172575"/>
            <a:ext cx="88587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6. What image do you want your company's name to project to customers and potential consumers?</a:t>
            </a:r>
            <a:endParaRPr sz="1150" b="1">
              <a:latin typeface="Verdana"/>
              <a:ea typeface="Verdana"/>
              <a:cs typeface="Verdana"/>
              <a:sym typeface="Verdana"/>
            </a:endParaRPr>
          </a:p>
        </p:txBody>
      </p:sp>
      <p:sp>
        <p:nvSpPr>
          <p:cNvPr id="135" name="Google Shape;135;p17"/>
          <p:cNvSpPr txBox="1"/>
          <p:nvPr/>
        </p:nvSpPr>
        <p:spPr>
          <a:xfrm>
            <a:off x="577750" y="1462550"/>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latin typeface="Verdana"/>
                <a:ea typeface="Verdana"/>
                <a:cs typeface="Verdana"/>
                <a:sym typeface="Verdana"/>
              </a:rPr>
              <a:t>companyNameProjectImage</a:t>
            </a:r>
            <a:endParaRPr sz="1150">
              <a:latin typeface="Verdana"/>
              <a:ea typeface="Verdana"/>
              <a:cs typeface="Verdana"/>
              <a:sym typeface="Verdana"/>
            </a:endParaRPr>
          </a:p>
        </p:txBody>
      </p:sp>
      <p:sp>
        <p:nvSpPr>
          <p:cNvPr id="136" name="Google Shape;136;p17"/>
          <p:cNvSpPr txBox="1"/>
          <p:nvPr/>
        </p:nvSpPr>
        <p:spPr>
          <a:xfrm>
            <a:off x="577750" y="2185416"/>
            <a:ext cx="25443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Current Company Slogan</a:t>
            </a:r>
            <a:endParaRPr sz="1150" b="1">
              <a:latin typeface="Verdana"/>
              <a:ea typeface="Verdana"/>
              <a:cs typeface="Verdana"/>
              <a:sym typeface="Verdana"/>
            </a:endParaRPr>
          </a:p>
        </p:txBody>
      </p:sp>
      <p:sp>
        <p:nvSpPr>
          <p:cNvPr id="137" name="Google Shape;137;p17"/>
          <p:cNvSpPr txBox="1"/>
          <p:nvPr/>
        </p:nvSpPr>
        <p:spPr>
          <a:xfrm>
            <a:off x="2990088" y="2185416"/>
            <a:ext cx="4812900" cy="2583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currentCompanySlogan</a:t>
            </a:r>
            <a:endParaRPr sz="1150">
              <a:latin typeface="Verdana"/>
              <a:ea typeface="Verdana"/>
              <a:cs typeface="Verdana"/>
              <a:sym typeface="Verdana"/>
            </a:endParaRPr>
          </a:p>
        </p:txBody>
      </p:sp>
      <p:sp>
        <p:nvSpPr>
          <p:cNvPr id="138" name="Google Shape;138;p17"/>
          <p:cNvSpPr txBox="1"/>
          <p:nvPr/>
        </p:nvSpPr>
        <p:spPr>
          <a:xfrm>
            <a:off x="577750" y="2496312"/>
            <a:ext cx="45309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Does your current slogan project the same image?</a:t>
            </a:r>
            <a:endParaRPr sz="1150" b="1">
              <a:latin typeface="Verdana"/>
              <a:ea typeface="Verdana"/>
              <a:cs typeface="Verdana"/>
              <a:sym typeface="Verdana"/>
            </a:endParaRPr>
          </a:p>
        </p:txBody>
      </p:sp>
      <p:sp>
        <p:nvSpPr>
          <p:cNvPr id="139" name="Google Shape;139;p17"/>
          <p:cNvSpPr txBox="1"/>
          <p:nvPr/>
        </p:nvSpPr>
        <p:spPr>
          <a:xfrm>
            <a:off x="4959550" y="2496312"/>
            <a:ext cx="1575300" cy="2559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planToExpand </a:t>
            </a:r>
            <a:endParaRPr/>
          </a:p>
        </p:txBody>
      </p:sp>
      <p:sp>
        <p:nvSpPr>
          <p:cNvPr id="140" name="Google Shape;140;p17"/>
          <p:cNvSpPr txBox="1"/>
          <p:nvPr/>
        </p:nvSpPr>
        <p:spPr>
          <a:xfrm>
            <a:off x="694944" y="3867912"/>
            <a:ext cx="8229600" cy="731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compliments</a:t>
            </a:r>
            <a:endParaRPr sz="1150">
              <a:latin typeface="Verdana"/>
              <a:ea typeface="Verdana"/>
              <a:cs typeface="Verdana"/>
              <a:sym typeface="Verdana"/>
            </a:endParaRPr>
          </a:p>
        </p:txBody>
      </p:sp>
      <p:sp>
        <p:nvSpPr>
          <p:cNvPr id="141" name="Google Shape;141;p17"/>
          <p:cNvSpPr txBox="1"/>
          <p:nvPr/>
        </p:nvSpPr>
        <p:spPr>
          <a:xfrm>
            <a:off x="402325" y="5349250"/>
            <a:ext cx="3538800" cy="59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9. What are your digital marketing strategies? What are your goals and measures of success?</a:t>
            </a:r>
            <a:endParaRPr sz="1150" b="1">
              <a:latin typeface="Verdana"/>
              <a:ea typeface="Verdana"/>
              <a:cs typeface="Verdana"/>
              <a:sym typeface="Verdana"/>
            </a:endParaRPr>
          </a:p>
        </p:txBody>
      </p:sp>
      <p:sp>
        <p:nvSpPr>
          <p:cNvPr id="142" name="Google Shape;142;p17"/>
          <p:cNvSpPr txBox="1"/>
          <p:nvPr/>
        </p:nvSpPr>
        <p:spPr>
          <a:xfrm>
            <a:off x="4736600" y="5349247"/>
            <a:ext cx="4200000" cy="59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10. Do you have social media strategy (i.e. Facebook, Instagram, etc.)? If so, what are your goals and measures of success?</a:t>
            </a:r>
            <a:endParaRPr sz="1150" b="1">
              <a:latin typeface="Verdana"/>
              <a:ea typeface="Verdana"/>
              <a:cs typeface="Verdana"/>
              <a:sym typeface="Verdana"/>
            </a:endParaRPr>
          </a:p>
        </p:txBody>
      </p:sp>
      <p:sp>
        <p:nvSpPr>
          <p:cNvPr id="143" name="Google Shape;143;p17"/>
          <p:cNvSpPr txBox="1"/>
          <p:nvPr/>
        </p:nvSpPr>
        <p:spPr>
          <a:xfrm>
            <a:off x="402336"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marketingStrategy</a:t>
            </a:r>
            <a:endParaRPr sz="1150">
              <a:latin typeface="Verdana"/>
              <a:ea typeface="Verdana"/>
              <a:cs typeface="Verdana"/>
              <a:sym typeface="Verdana"/>
            </a:endParaRPr>
          </a:p>
        </p:txBody>
      </p:sp>
      <p:sp>
        <p:nvSpPr>
          <p:cNvPr id="144" name="Google Shape;144;p17"/>
          <p:cNvSpPr txBox="1"/>
          <p:nvPr/>
        </p:nvSpPr>
        <p:spPr>
          <a:xfrm>
            <a:off x="4736592"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socialStrategy</a:t>
            </a:r>
            <a:endParaRPr sz="1150">
              <a:latin typeface="Verdana"/>
              <a:ea typeface="Verdana"/>
              <a:cs typeface="Verdana"/>
              <a:sym typeface="Verdana"/>
            </a:endParaRPr>
          </a:p>
        </p:txBody>
      </p:sp>
      <p:graphicFrame>
        <p:nvGraphicFramePr>
          <p:cNvPr id="145" name="Google Shape;145;p17"/>
          <p:cNvGraphicFramePr/>
          <p:nvPr>
            <p:extLst>
              <p:ext uri="{D42A27DB-BD31-4B8C-83A1-F6EECF244321}">
                <p14:modId xmlns:p14="http://schemas.microsoft.com/office/powerpoint/2010/main" val="914132312"/>
              </p:ext>
            </p:extLst>
          </p:nvPr>
        </p:nvGraphicFramePr>
        <p:xfrm>
          <a:off x="365760" y="2813075"/>
          <a:ext cx="8384000" cy="844515"/>
        </p:xfrm>
        <a:graphic>
          <a:graphicData uri="http://schemas.openxmlformats.org/drawingml/2006/table">
            <a:tbl>
              <a:tblPr>
                <a:noFill/>
                <a:tableStyleId>{779AAC5F-F97D-4193-AF94-6FAFF6667CF6}</a:tableStyleId>
              </a:tblPr>
              <a:tblGrid>
                <a:gridCol w="1240025">
                  <a:extLst>
                    <a:ext uri="{9D8B030D-6E8A-4147-A177-3AD203B41FA5}">
                      <a16:colId xmlns:a16="http://schemas.microsoft.com/office/drawing/2014/main" val="20000"/>
                    </a:ext>
                  </a:extLst>
                </a:gridCol>
                <a:gridCol w="2635125">
                  <a:extLst>
                    <a:ext uri="{9D8B030D-6E8A-4147-A177-3AD203B41FA5}">
                      <a16:colId xmlns:a16="http://schemas.microsoft.com/office/drawing/2014/main" val="20001"/>
                    </a:ext>
                  </a:extLst>
                </a:gridCol>
                <a:gridCol w="2605250">
                  <a:extLst>
                    <a:ext uri="{9D8B030D-6E8A-4147-A177-3AD203B41FA5}">
                      <a16:colId xmlns:a16="http://schemas.microsoft.com/office/drawing/2014/main" val="20002"/>
                    </a:ext>
                  </a:extLst>
                </a:gridCol>
                <a:gridCol w="1903600">
                  <a:extLst>
                    <a:ext uri="{9D8B030D-6E8A-4147-A177-3AD203B41FA5}">
                      <a16:colId xmlns:a16="http://schemas.microsoft.com/office/drawing/2014/main" val="20003"/>
                    </a:ext>
                  </a:extLst>
                </a:gridCol>
              </a:tblGrid>
              <a:tr h="322500">
                <a:tc rowSpan="2">
                  <a:txBody>
                    <a:bodyPr/>
                    <a:lstStyle/>
                    <a:p>
                      <a:pPr marL="0" lvl="0" indent="0" algn="ctr" rtl="0">
                        <a:spcBef>
                          <a:spcPts val="0"/>
                        </a:spcBef>
                        <a:spcAft>
                          <a:spcPts val="0"/>
                        </a:spcAft>
                        <a:buNone/>
                      </a:pPr>
                      <a:r>
                        <a:rPr lang="en" sz="1100" b="1">
                          <a:latin typeface="Verdana"/>
                          <a:ea typeface="Verdana"/>
                          <a:cs typeface="Verdana"/>
                          <a:sym typeface="Verdana"/>
                        </a:rPr>
                        <a:t>7. What are your:</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Poorest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days</a:t>
                      </a:r>
                      <a:endParaRPr sz="1100" b="1">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0"/>
                  </a:ext>
                </a:extLst>
              </a:tr>
              <a:tr h="494025">
                <a:tc vMerge="1">
                  <a:txBody>
                    <a:bodyPr/>
                    <a:lstStyle/>
                    <a:p>
                      <a:endParaRPr lang="en-US"/>
                    </a:p>
                  </a:txBody>
                  <a:tcPr/>
                </a:tc>
                <a:tc>
                  <a:txBody>
                    <a:bodyPr/>
                    <a:lstStyle/>
                    <a:p>
                      <a:pPr marL="0" lvl="0" indent="0" algn="ctr" rtl="0">
                        <a:lnSpc>
                          <a:spcPct val="115000"/>
                        </a:lnSpc>
                        <a:spcBef>
                          <a:spcPts val="0"/>
                        </a:spcBef>
                        <a:spcAft>
                          <a:spcPts val="0"/>
                        </a:spcAft>
                        <a:buNone/>
                      </a:pPr>
                      <a:r>
                        <a:rPr lang="en" sz="1150" dirty="0" err="1">
                          <a:solidFill>
                            <a:schemeClr val="dk1"/>
                          </a:solidFill>
                          <a:latin typeface="Verdana"/>
                          <a:ea typeface="Verdana"/>
                          <a:cs typeface="Verdana"/>
                          <a:sym typeface="Verdana"/>
                        </a:rPr>
                        <a:t>poorestMonths</a:t>
                      </a:r>
                      <a:endParaRPr sz="1100" dirty="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dirty="0" err="1">
                          <a:latin typeface="Verdana"/>
                          <a:ea typeface="Verdana"/>
                          <a:cs typeface="Verdana"/>
                          <a:sym typeface="Verdana"/>
                        </a:rPr>
                        <a:t>bestMonths</a:t>
                      </a:r>
                      <a:endParaRPr sz="1100" dirty="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dirty="0" err="1">
                          <a:latin typeface="Verdana"/>
                          <a:ea typeface="Verdana"/>
                          <a:cs typeface="Verdana"/>
                          <a:sym typeface="Verdana"/>
                        </a:rPr>
                        <a:t>bestDays</a:t>
                      </a:r>
                      <a:endParaRPr sz="1100" dirty="0">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1"/>
                  </a:ext>
                </a:extLst>
              </a:tr>
            </a:tbl>
          </a:graphicData>
        </a:graphic>
      </p:graphicFrame>
      <p:sp>
        <p:nvSpPr>
          <p:cNvPr id="146" name="Google Shape;146;p17"/>
          <p:cNvSpPr txBox="1"/>
          <p:nvPr/>
        </p:nvSpPr>
        <p:spPr>
          <a:xfrm>
            <a:off x="398800" y="3582263"/>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8. a. What’s the most frequent compliment you get? </a:t>
            </a:r>
            <a:endParaRPr sz="1150" b="1">
              <a:latin typeface="Verdana"/>
              <a:ea typeface="Verdana"/>
              <a:cs typeface="Verdana"/>
              <a:sym typeface="Verdana"/>
            </a:endParaRPr>
          </a:p>
        </p:txBody>
      </p:sp>
      <p:sp>
        <p:nvSpPr>
          <p:cNvPr id="147" name="Google Shape;147;p17"/>
          <p:cNvSpPr txBox="1"/>
          <p:nvPr/>
        </p:nvSpPr>
        <p:spPr>
          <a:xfrm>
            <a:off x="398800" y="4462272"/>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    b. What’s the most frequent complaint you get? </a:t>
            </a:r>
            <a:endParaRPr sz="1150" b="1">
              <a:latin typeface="Verdana"/>
              <a:ea typeface="Verdana"/>
              <a:cs typeface="Verdana"/>
              <a:sym typeface="Verdana"/>
            </a:endParaRPr>
          </a:p>
        </p:txBody>
      </p:sp>
      <p:sp>
        <p:nvSpPr>
          <p:cNvPr id="148" name="Google Shape;148;p17"/>
          <p:cNvSpPr txBox="1"/>
          <p:nvPr/>
        </p:nvSpPr>
        <p:spPr>
          <a:xfrm>
            <a:off x="694944" y="4700016"/>
            <a:ext cx="8229600" cy="731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complaint</a:t>
            </a:r>
            <a:endParaRPr sz="1150">
              <a:latin typeface="Verdana"/>
              <a:ea typeface="Verdana"/>
              <a:cs typeface="Verdana"/>
              <a:sym typeface="Verdan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4" name="Google Shape;154;p1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Target Marketing</a:t>
            </a:r>
            <a:endParaRPr dirty="0"/>
          </a:p>
        </p:txBody>
      </p:sp>
      <p:sp>
        <p:nvSpPr>
          <p:cNvPr id="155" name="Google Shape;155;p18"/>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dirty="0">
                <a:solidFill>
                  <a:schemeClr val="dk1"/>
                </a:solidFill>
                <a:latin typeface="Verdana"/>
                <a:ea typeface="Verdana"/>
                <a:cs typeface="Verdana"/>
                <a:sym typeface="Verdana"/>
              </a:rPr>
              <a:t>A. What percentage of your "target" consumers are men?</a:t>
            </a:r>
            <a:endParaRPr b="1" dirty="0"/>
          </a:p>
        </p:txBody>
      </p:sp>
      <p:sp>
        <p:nvSpPr>
          <p:cNvPr id="156" name="Google Shape;156;p18"/>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dirty="0">
                <a:solidFill>
                  <a:schemeClr val="dk1"/>
                </a:solidFill>
                <a:latin typeface="Verdana"/>
                <a:ea typeface="Verdana"/>
                <a:cs typeface="Verdana"/>
                <a:sym typeface="Verdana"/>
              </a:rPr>
              <a:t>Women?</a:t>
            </a:r>
            <a:endParaRPr b="1" dirty="0"/>
          </a:p>
        </p:txBody>
      </p:sp>
      <p:sp>
        <p:nvSpPr>
          <p:cNvPr id="157" name="Google Shape;157;p18"/>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58" name="Google Shape;158;p18"/>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59" name="Google Shape;159;p18"/>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60" name="Google Shape;160;p18"/>
          <p:cNvGraphicFramePr/>
          <p:nvPr>
            <p:extLst>
              <p:ext uri="{D42A27DB-BD31-4B8C-83A1-F6EECF244321}">
                <p14:modId xmlns:p14="http://schemas.microsoft.com/office/powerpoint/2010/main" val="3470076820"/>
              </p:ext>
            </p:extLst>
          </p:nvPr>
        </p:nvGraphicFramePr>
        <p:xfrm>
          <a:off x="1201409" y="4562856"/>
          <a:ext cx="6741175" cy="2250875"/>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64600">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61" name="Google Shape;161;p18"/>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describeIdealTargetConsumer </a:t>
            </a:r>
            <a:endParaRPr/>
          </a:p>
        </p:txBody>
      </p:sp>
      <p:sp>
        <p:nvSpPr>
          <p:cNvPr id="162" name="Google Shape;162;p18"/>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163" name="Google Shape;163;p18"/>
          <p:cNvSpPr txBox="1"/>
          <p:nvPr/>
        </p:nvSpPr>
        <p:spPr>
          <a:xfrm>
            <a:off x="30973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164" name="Google Shape;164;p18"/>
          <p:cNvSpPr txBox="1"/>
          <p:nvPr/>
        </p:nvSpPr>
        <p:spPr>
          <a:xfrm>
            <a:off x="4828100" y="2058725"/>
            <a:ext cx="11536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165" name="Google Shape;165;p18"/>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166" name="Google Shape;166;p18"/>
          <p:cNvSpPr txBox="1"/>
          <p:nvPr/>
        </p:nvSpPr>
        <p:spPr>
          <a:xfrm>
            <a:off x="5271975" y="1206625"/>
            <a:ext cx="709725"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167" name="Google Shape;167;p18"/>
          <p:cNvSpPr txBox="1"/>
          <p:nvPr/>
        </p:nvSpPr>
        <p:spPr>
          <a:xfrm>
            <a:off x="6707074" y="1206625"/>
            <a:ext cx="803701"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a:t>
            </a:r>
            <a:endParaRPr dirty="0"/>
          </a:p>
        </p:txBody>
      </p:sp>
      <p:sp>
        <p:nvSpPr>
          <p:cNvPr id="171" name="Google Shape;171;p18"/>
          <p:cNvSpPr/>
          <p:nvPr/>
        </p:nvSpPr>
        <p:spPr>
          <a:xfrm rot="5400000">
            <a:off x="263317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18"/>
          <p:cNvSpPr/>
          <p:nvPr/>
        </p:nvSpPr>
        <p:spPr>
          <a:xfrm rot="-5400000" flipH="1">
            <a:off x="598690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18"/>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174" name="Google Shape;174;p18"/>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80" name="Google Shape;180;p1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181" name="Google Shape;181;p19"/>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182" name="Google Shape;182;p19"/>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183" name="Google Shape;183;p19"/>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84" name="Google Shape;184;p19"/>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85" name="Google Shape;185;p19"/>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86" name="Google Shape;186;p19"/>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87" name="Google Shape;187;p19"/>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188" name="Google Shape;188;p19"/>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189" name="Google Shape;189;p19"/>
          <p:cNvSpPr txBox="1"/>
          <p:nvPr/>
        </p:nvSpPr>
        <p:spPr>
          <a:xfrm>
            <a:off x="4828100" y="2058725"/>
            <a:ext cx="9788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190" name="Google Shape;190;p19"/>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191" name="Google Shape;191;p19"/>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192" name="Google Shape;192;p19"/>
          <p:cNvSpPr txBox="1"/>
          <p:nvPr/>
        </p:nvSpPr>
        <p:spPr>
          <a:xfrm>
            <a:off x="5284900" y="1206625"/>
            <a:ext cx="6968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193" name="Google Shape;193;p19"/>
          <p:cNvSpPr txBox="1"/>
          <p:nvPr/>
        </p:nvSpPr>
        <p:spPr>
          <a:xfrm>
            <a:off x="6707075" y="1206625"/>
            <a:ext cx="9519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a:t>
            </a:r>
            <a:endParaRPr dirty="0"/>
          </a:p>
        </p:txBody>
      </p:sp>
      <p:sp>
        <p:nvSpPr>
          <p:cNvPr id="197" name="Google Shape;197;p19"/>
          <p:cNvSpPr/>
          <p:nvPr/>
        </p:nvSpPr>
        <p:spPr>
          <a:xfrm rot="5400000">
            <a:off x="3767028"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19"/>
          <p:cNvSpPr/>
          <p:nvPr/>
        </p:nvSpPr>
        <p:spPr>
          <a:xfrm rot="-5400000" flipH="1">
            <a:off x="712076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19"/>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00" name="Google Shape;200;p19"/>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graphicFrame>
        <p:nvGraphicFramePr>
          <p:cNvPr id="205" name="Google Shape;205;p20"/>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ctr">
                    <a:lnL w="19050"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06" name="Google Shape;206;p2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07" name="Google Shape;207;p20"/>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08" name="Google Shape;208;p20"/>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09" name="Google Shape;209;p20"/>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10" name="Google Shape;210;p20"/>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11" name="Google Shape;211;p20"/>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12" name="Google Shape;212;p20"/>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 50K</a:t>
            </a:r>
            <a:endParaRPr sz="1150" dirty="0">
              <a:latin typeface="Verdana"/>
              <a:ea typeface="Verdana"/>
              <a:cs typeface="Verdana"/>
              <a:sym typeface="Verdana"/>
            </a:endParaRPr>
          </a:p>
        </p:txBody>
      </p:sp>
      <p:sp>
        <p:nvSpPr>
          <p:cNvPr id="213" name="Google Shape;213;p20"/>
          <p:cNvSpPr txBox="1"/>
          <p:nvPr/>
        </p:nvSpPr>
        <p:spPr>
          <a:xfrm>
            <a:off x="30973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214" name="Google Shape;214;p20"/>
          <p:cNvSpPr txBox="1"/>
          <p:nvPr/>
        </p:nvSpPr>
        <p:spPr>
          <a:xfrm>
            <a:off x="48281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215" name="Google Shape;215;p20"/>
          <p:cNvSpPr txBox="1"/>
          <p:nvPr/>
        </p:nvSpPr>
        <p:spPr>
          <a:xfrm>
            <a:off x="655887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1510Kplus</a:t>
            </a:r>
            <a:endParaRPr sz="1150" dirty="0">
              <a:latin typeface="Verdana"/>
              <a:ea typeface="Verdana"/>
              <a:cs typeface="Verdana"/>
              <a:sym typeface="Verdana"/>
            </a:endParaRPr>
          </a:p>
        </p:txBody>
      </p:sp>
      <p:sp>
        <p:nvSpPr>
          <p:cNvPr id="216" name="Google Shape;216;p20"/>
          <p:cNvSpPr txBox="1"/>
          <p:nvPr/>
        </p:nvSpPr>
        <p:spPr>
          <a:xfrm>
            <a:off x="453650" y="3120620"/>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17" name="Google Shape;217;p20"/>
          <p:cNvSpPr txBox="1"/>
          <p:nvPr/>
        </p:nvSpPr>
        <p:spPr>
          <a:xfrm>
            <a:off x="5284900" y="1206625"/>
            <a:ext cx="6968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218" name="Google Shape;218;p20"/>
          <p:cNvSpPr txBox="1"/>
          <p:nvPr/>
        </p:nvSpPr>
        <p:spPr>
          <a:xfrm>
            <a:off x="6707075" y="1206625"/>
            <a:ext cx="85025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pctomen</a:t>
            </a:r>
            <a:endParaRPr dirty="0"/>
          </a:p>
        </p:txBody>
      </p:sp>
      <p:sp>
        <p:nvSpPr>
          <p:cNvPr id="223" name="Google Shape;223;p20"/>
          <p:cNvSpPr/>
          <p:nvPr/>
        </p:nvSpPr>
        <p:spPr>
          <a:xfrm rot="5400000">
            <a:off x="487612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20"/>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25" name="Google Shape;225;p20"/>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sp>
        <p:nvSpPr>
          <p:cNvPr id="231" name="Google Shape;231;p2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32" name="Google Shape;232;p21"/>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33" name="Google Shape;233;p21"/>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34" name="Google Shape;234;p21"/>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35" name="Google Shape;235;p21"/>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36" name="Google Shape;236;p21"/>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237" name="Google Shape;237;p21"/>
          <p:cNvGraphicFramePr/>
          <p:nvPr>
            <p:extLst>
              <p:ext uri="{D42A27DB-BD31-4B8C-83A1-F6EECF244321}">
                <p14:modId xmlns:p14="http://schemas.microsoft.com/office/powerpoint/2010/main" val="2007854799"/>
              </p:ext>
            </p:extLst>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solidFill>
                            <a:schemeClr val="dk1"/>
                          </a:solidFill>
                          <a:latin typeface="Verdana"/>
                          <a:ea typeface="Verdana"/>
                          <a:cs typeface="Verdana"/>
                          <a:sym typeface="Verdana"/>
                        </a:rPr>
                        <a:t>Target</a:t>
                      </a:r>
                      <a:r>
                        <a:rPr lang="en"/>
                        <a:t> </a:t>
                      </a:r>
                      <a:r>
                        <a:rPr lang="en" sz="1900" b="1">
                          <a:solidFill>
                            <a:schemeClr val="dk1"/>
                          </a:solidFill>
                          <a:latin typeface="Verdana"/>
                          <a:ea typeface="Verdana"/>
                          <a:cs typeface="Verdana"/>
                          <a:sym typeface="Verdana"/>
                        </a:rPr>
                        <a:t>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38" name="Google Shape;238;p21"/>
          <p:cNvSpPr txBox="1"/>
          <p:nvPr/>
        </p:nvSpPr>
        <p:spPr>
          <a:xfrm>
            <a:off x="1366524" y="2058725"/>
            <a:ext cx="936335"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239" name="Google Shape;239;p21"/>
          <p:cNvSpPr txBox="1"/>
          <p:nvPr/>
        </p:nvSpPr>
        <p:spPr>
          <a:xfrm>
            <a:off x="3097299" y="2058725"/>
            <a:ext cx="998475"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240" name="Google Shape;240;p21"/>
          <p:cNvSpPr txBox="1"/>
          <p:nvPr/>
        </p:nvSpPr>
        <p:spPr>
          <a:xfrm>
            <a:off x="4828100" y="2058725"/>
            <a:ext cx="11028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241" name="Google Shape;241;p21"/>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242" name="Google Shape;242;p21"/>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43" name="Google Shape;243;p21"/>
          <p:cNvSpPr txBox="1"/>
          <p:nvPr/>
        </p:nvSpPr>
        <p:spPr>
          <a:xfrm>
            <a:off x="5284900" y="1206625"/>
            <a:ext cx="7603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244" name="Google Shape;244;p21"/>
          <p:cNvSpPr txBox="1"/>
          <p:nvPr/>
        </p:nvSpPr>
        <p:spPr>
          <a:xfrm>
            <a:off x="6707075" y="1206625"/>
            <a:ext cx="951900" cy="455776"/>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pctWomen</a:t>
            </a:r>
            <a:endParaRPr dirty="0"/>
          </a:p>
        </p:txBody>
      </p:sp>
      <p:sp>
        <p:nvSpPr>
          <p:cNvPr id="248" name="Google Shape;248;p21"/>
          <p:cNvSpPr/>
          <p:nvPr/>
        </p:nvSpPr>
        <p:spPr>
          <a:xfrm rot="5400000">
            <a:off x="1508460"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21"/>
          <p:cNvSpPr/>
          <p:nvPr/>
        </p:nvSpPr>
        <p:spPr>
          <a:xfrm rot="-5400000" flipH="1">
            <a:off x="4862194"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21"/>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51" name="Google Shape;251;p21"/>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2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57" name="Google Shape;257;p22"/>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58" name="Google Shape;258;p22"/>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59" name="Google Shape;259;p22"/>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60" name="Google Shape;260;p22"/>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61" name="Google Shape;261;p22"/>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62" name="Google Shape;262;p22"/>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263" name="Google Shape;263;p22"/>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264" name="Google Shape;264;p22"/>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265" name="Google Shape;265;p22"/>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266" name="Google Shape;266;p22"/>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67" name="Google Shape;267;p22"/>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268" name="Google Shape;268;p22"/>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273" name="Google Shape;273;p22"/>
          <p:cNvSpPr/>
          <p:nvPr/>
        </p:nvSpPr>
        <p:spPr>
          <a:xfrm rot="-5400000" flipH="1">
            <a:off x="372905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aphicFrame>
        <p:nvGraphicFramePr>
          <p:cNvPr id="274" name="Google Shape;274;p22"/>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gridSpan="2">
                  <a:txBody>
                    <a:bodyPr/>
                    <a:lstStyle/>
                    <a:p>
                      <a:pPr marL="0" lvl="0" indent="0" algn="ctr" rtl="0">
                        <a:spcBef>
                          <a:spcPts val="0"/>
                        </a:spcBef>
                        <a:spcAft>
                          <a:spcPts val="0"/>
                        </a:spcAft>
                        <a:buNone/>
                      </a:pPr>
                      <a:r>
                        <a:rPr lang="en" sz="1900" b="1" dirty="0"/>
                        <a:t>Target 85%</a:t>
                      </a:r>
                      <a:endParaRPr sz="1900" b="1" dirty="0"/>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l" rtl="0">
                        <a:spcBef>
                          <a:spcPts val="0"/>
                        </a:spcBef>
                        <a:spcAft>
                          <a:spcPts val="0"/>
                        </a:spcAft>
                        <a:buNone/>
                      </a:pPr>
                      <a:endParaRPr/>
                    </a:p>
                  </a:txBody>
                  <a:tcPr marL="91425" marR="91425" marT="91425" marB="91425" anchor="ctr">
                    <a:lnL w="1905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75" name="Google Shape;275;p22"/>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76" name="Google Shape;276;p22"/>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p23"/>
          <p:cNvSpPr txBox="1">
            <a:spLocks noGrp="1"/>
          </p:cNvSpPr>
          <p:nvPr>
            <p:ph type="ctrTitle"/>
          </p:nvPr>
        </p:nvSpPr>
        <p:spPr>
          <a:xfrm>
            <a:off x="693450" y="475488"/>
            <a:ext cx="7757100" cy="854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500"/>
              <a:t>Recommended Reallocation of </a:t>
            </a:r>
            <a:endParaRPr sz="2500"/>
          </a:p>
          <a:p>
            <a:pPr marL="0" lvl="0" indent="0" algn="ctr" rtl="0">
              <a:spcBef>
                <a:spcPts val="0"/>
              </a:spcBef>
              <a:spcAft>
                <a:spcPts val="0"/>
              </a:spcAft>
              <a:buNone/>
            </a:pPr>
            <a:r>
              <a:rPr lang="en" sz="2500"/>
              <a:t>Total Advertising Investment (TAI)</a:t>
            </a:r>
            <a:endParaRPr sz="2500"/>
          </a:p>
        </p:txBody>
      </p:sp>
      <p:sp>
        <p:nvSpPr>
          <p:cNvPr id="282" name="Google Shape;282;p23"/>
          <p:cNvSpPr txBox="1">
            <a:spLocks noGrp="1"/>
          </p:cNvSpPr>
          <p:nvPr>
            <p:ph type="body" idx="1"/>
          </p:nvPr>
        </p:nvSpPr>
        <p:spPr>
          <a:xfrm>
            <a:off x="515721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Proposed 12 Month Media Allocation</a:t>
            </a:r>
            <a:endParaRPr sz="1150" b="1">
              <a:solidFill>
                <a:srgbClr val="000000"/>
              </a:solidFill>
              <a:latin typeface="Verdana"/>
              <a:ea typeface="Verdana"/>
              <a:cs typeface="Verdana"/>
              <a:sym typeface="Verdana"/>
            </a:endParaRPr>
          </a:p>
        </p:txBody>
      </p:sp>
      <p:sp>
        <p:nvSpPr>
          <p:cNvPr id="283" name="Google Shape;283;p23"/>
          <p:cNvSpPr txBox="1"/>
          <p:nvPr/>
        </p:nvSpPr>
        <p:spPr>
          <a:xfrm>
            <a:off x="1143000" y="4122513"/>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284" name="Google Shape;284;p23"/>
          <p:cNvSpPr txBox="1"/>
          <p:nvPr/>
        </p:nvSpPr>
        <p:spPr>
          <a:xfrm>
            <a:off x="1140775" y="1641700"/>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lastYearLabel1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lastYearLabel2</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lastYearLabel3</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lastYearLabel5</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lastYearLabel9</a:t>
            </a:r>
            <a:endParaRPr sz="1150">
              <a:solidFill>
                <a:schemeClr val="dk1"/>
              </a:solidFill>
              <a:latin typeface="Verdana"/>
              <a:ea typeface="Verdana"/>
              <a:cs typeface="Verdana"/>
              <a:sym typeface="Verdana"/>
            </a:endParaRPr>
          </a:p>
        </p:txBody>
      </p:sp>
      <p:sp>
        <p:nvSpPr>
          <p:cNvPr id="285" name="Google Shape;285;p23"/>
          <p:cNvSpPr txBox="1">
            <a:spLocks noGrp="1"/>
          </p:cNvSpPr>
          <p:nvPr>
            <p:ph type="body" idx="1"/>
          </p:nvPr>
        </p:nvSpPr>
        <p:spPr>
          <a:xfrm>
            <a:off x="642300" y="49077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a:t>
            </a:r>
            <a:endParaRPr sz="1150" b="1">
              <a:solidFill>
                <a:srgbClr val="000000"/>
              </a:solidFill>
              <a:latin typeface="Verdana"/>
              <a:ea typeface="Verdana"/>
              <a:cs typeface="Verdana"/>
              <a:sym typeface="Verdana"/>
            </a:endParaRPr>
          </a:p>
        </p:txBody>
      </p:sp>
      <p:sp>
        <p:nvSpPr>
          <p:cNvPr id="286" name="Google Shape;286;p23"/>
          <p:cNvSpPr txBox="1">
            <a:spLocks noGrp="1"/>
          </p:cNvSpPr>
          <p:nvPr>
            <p:ph type="body" idx="1"/>
          </p:nvPr>
        </p:nvSpPr>
        <p:spPr>
          <a:xfrm>
            <a:off x="119088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dk1"/>
                </a:solidFill>
              </a:rPr>
              <a:t>totalMediaInvestmentInput</a:t>
            </a:r>
            <a:endParaRPr sz="1150">
              <a:solidFill>
                <a:srgbClr val="000000"/>
              </a:solidFill>
              <a:latin typeface="Verdana"/>
              <a:ea typeface="Verdana"/>
              <a:cs typeface="Verdana"/>
              <a:sym typeface="Verdana"/>
            </a:endParaRPr>
          </a:p>
        </p:txBody>
      </p:sp>
      <p:sp>
        <p:nvSpPr>
          <p:cNvPr id="287" name="Google Shape;287;p23"/>
          <p:cNvSpPr txBox="1">
            <a:spLocks noGrp="1"/>
          </p:cNvSpPr>
          <p:nvPr>
            <p:ph type="body" idx="1"/>
          </p:nvPr>
        </p:nvSpPr>
        <p:spPr>
          <a:xfrm>
            <a:off x="1143000" y="5196850"/>
            <a:ext cx="21027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Total Adv Investment Next 12 Months</a:t>
            </a:r>
            <a:endParaRPr sz="1150" b="1">
              <a:solidFill>
                <a:srgbClr val="000000"/>
              </a:solidFill>
              <a:latin typeface="Verdana"/>
              <a:ea typeface="Verdana"/>
              <a:cs typeface="Verdana"/>
              <a:sym typeface="Verdana"/>
            </a:endParaRPr>
          </a:p>
        </p:txBody>
      </p:sp>
      <p:sp>
        <p:nvSpPr>
          <p:cNvPr id="288" name="Google Shape;288;p23"/>
          <p:cNvSpPr txBox="1">
            <a:spLocks noGrp="1"/>
          </p:cNvSpPr>
          <p:nvPr>
            <p:ph type="body" idx="1"/>
          </p:nvPr>
        </p:nvSpPr>
        <p:spPr>
          <a:xfrm>
            <a:off x="642300" y="5963950"/>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a:t>
            </a:r>
            <a:endParaRPr sz="1150" b="1">
              <a:solidFill>
                <a:srgbClr val="000000"/>
              </a:solidFill>
              <a:latin typeface="Verdana"/>
              <a:ea typeface="Verdana"/>
              <a:cs typeface="Verdana"/>
              <a:sym typeface="Verdana"/>
            </a:endParaRPr>
          </a:p>
        </p:txBody>
      </p:sp>
      <p:sp>
        <p:nvSpPr>
          <p:cNvPr id="289" name="Google Shape;289;p23"/>
          <p:cNvSpPr txBox="1">
            <a:spLocks noGrp="1"/>
          </p:cNvSpPr>
          <p:nvPr>
            <p:ph type="body" idx="1"/>
          </p:nvPr>
        </p:nvSpPr>
        <p:spPr>
          <a:xfrm>
            <a:off x="1195800" y="6249220"/>
            <a:ext cx="19971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Stretch Goal Total Adv. Investment Next 12 Months</a:t>
            </a:r>
            <a:endParaRPr sz="1150" b="1">
              <a:solidFill>
                <a:srgbClr val="000000"/>
              </a:solidFill>
              <a:latin typeface="Verdana"/>
              <a:ea typeface="Verdana"/>
              <a:cs typeface="Verdana"/>
              <a:sym typeface="Verdana"/>
            </a:endParaRPr>
          </a:p>
        </p:txBody>
      </p:sp>
      <p:sp>
        <p:nvSpPr>
          <p:cNvPr id="290" name="Google Shape;290;p23"/>
          <p:cNvSpPr txBox="1">
            <a:spLocks noGrp="1"/>
          </p:cNvSpPr>
          <p:nvPr>
            <p:ph type="body" idx="1"/>
          </p:nvPr>
        </p:nvSpPr>
        <p:spPr>
          <a:xfrm>
            <a:off x="3541650" y="5196838"/>
            <a:ext cx="26946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Adv % of Gross Sales</a:t>
            </a:r>
            <a:endParaRPr sz="1150" b="1">
              <a:solidFill>
                <a:srgbClr val="000000"/>
              </a:solidFill>
              <a:latin typeface="Verdana"/>
              <a:ea typeface="Verdana"/>
              <a:cs typeface="Verdana"/>
              <a:sym typeface="Verdana"/>
            </a:endParaRPr>
          </a:p>
        </p:txBody>
      </p:sp>
      <p:sp>
        <p:nvSpPr>
          <p:cNvPr id="291" name="Google Shape;291;p23"/>
          <p:cNvSpPr txBox="1">
            <a:spLocks noGrp="1"/>
          </p:cNvSpPr>
          <p:nvPr>
            <p:ph type="body" idx="1"/>
          </p:nvPr>
        </p:nvSpPr>
        <p:spPr>
          <a:xfrm>
            <a:off x="3821700" y="6245352"/>
            <a:ext cx="21345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Adv % of Gross Sales</a:t>
            </a:r>
            <a:endParaRPr sz="1150" b="1">
              <a:solidFill>
                <a:srgbClr val="000000"/>
              </a:solidFill>
              <a:latin typeface="Verdana"/>
              <a:ea typeface="Verdana"/>
              <a:cs typeface="Verdana"/>
              <a:sym typeface="Verdana"/>
            </a:endParaRPr>
          </a:p>
        </p:txBody>
      </p:sp>
      <p:sp>
        <p:nvSpPr>
          <p:cNvPr id="292" name="Google Shape;292;p23"/>
          <p:cNvSpPr txBox="1">
            <a:spLocks noGrp="1"/>
          </p:cNvSpPr>
          <p:nvPr>
            <p:ph type="body" idx="1"/>
          </p:nvPr>
        </p:nvSpPr>
        <p:spPr>
          <a:xfrm>
            <a:off x="6716850" y="5196850"/>
            <a:ext cx="1733400" cy="654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Estimated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sp>
        <p:nvSpPr>
          <p:cNvPr id="293" name="Google Shape;293;p23"/>
          <p:cNvSpPr txBox="1">
            <a:spLocks noGrp="1"/>
          </p:cNvSpPr>
          <p:nvPr>
            <p:ph type="body" idx="1"/>
          </p:nvPr>
        </p:nvSpPr>
        <p:spPr>
          <a:xfrm>
            <a:off x="6828150" y="6249225"/>
            <a:ext cx="15108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Stretch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cxnSp>
        <p:nvCxnSpPr>
          <p:cNvPr id="294" name="Google Shape;294;p23"/>
          <p:cNvCxnSpPr/>
          <p:nvPr/>
        </p:nvCxnSpPr>
        <p:spPr>
          <a:xfrm>
            <a:off x="1172575" y="52444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5" name="Google Shape;295;p23"/>
          <p:cNvCxnSpPr/>
          <p:nvPr/>
        </p:nvCxnSpPr>
        <p:spPr>
          <a:xfrm>
            <a:off x="118665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6" name="Google Shape;296;p23"/>
          <p:cNvCxnSpPr/>
          <p:nvPr/>
        </p:nvCxnSpPr>
        <p:spPr>
          <a:xfrm>
            <a:off x="3881238" y="524604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7" name="Google Shape;297;p23"/>
          <p:cNvCxnSpPr/>
          <p:nvPr/>
        </p:nvCxnSpPr>
        <p:spPr>
          <a:xfrm>
            <a:off x="388214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8" name="Google Shape;298;p23"/>
          <p:cNvCxnSpPr/>
          <p:nvPr/>
        </p:nvCxnSpPr>
        <p:spPr>
          <a:xfrm>
            <a:off x="6716911" y="5244475"/>
            <a:ext cx="1732500" cy="0"/>
          </a:xfrm>
          <a:prstGeom prst="straightConnector1">
            <a:avLst/>
          </a:prstGeom>
          <a:noFill/>
          <a:ln w="9525" cap="flat" cmpd="sng">
            <a:solidFill>
              <a:srgbClr val="000000"/>
            </a:solidFill>
            <a:prstDash val="solid"/>
            <a:round/>
            <a:headEnd type="none" w="med" len="med"/>
            <a:tailEnd type="none" w="med" len="med"/>
          </a:ln>
        </p:spPr>
      </p:cxnSp>
      <p:cxnSp>
        <p:nvCxnSpPr>
          <p:cNvPr id="299" name="Google Shape;299;p23"/>
          <p:cNvCxnSpPr/>
          <p:nvPr/>
        </p:nvCxnSpPr>
        <p:spPr>
          <a:xfrm>
            <a:off x="6717687" y="6251500"/>
            <a:ext cx="1732500" cy="0"/>
          </a:xfrm>
          <a:prstGeom prst="straightConnector1">
            <a:avLst/>
          </a:prstGeom>
          <a:noFill/>
          <a:ln w="9525" cap="flat" cmpd="sng">
            <a:solidFill>
              <a:srgbClr val="000000"/>
            </a:solidFill>
            <a:prstDash val="solid"/>
            <a:round/>
            <a:headEnd type="none" w="med" len="med"/>
            <a:tailEnd type="none" w="med" len="med"/>
          </a:ln>
        </p:spPr>
      </p:cxnSp>
      <p:sp>
        <p:nvSpPr>
          <p:cNvPr id="300" name="Google Shape;300;p23"/>
          <p:cNvSpPr txBox="1">
            <a:spLocks noGrp="1"/>
          </p:cNvSpPr>
          <p:nvPr>
            <p:ph type="body" idx="1"/>
          </p:nvPr>
        </p:nvSpPr>
        <p:spPr>
          <a:xfrm>
            <a:off x="3385213"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1" name="Google Shape;301;p23"/>
          <p:cNvSpPr txBox="1">
            <a:spLocks noGrp="1"/>
          </p:cNvSpPr>
          <p:nvPr>
            <p:ph type="body" idx="1"/>
          </p:nvPr>
        </p:nvSpPr>
        <p:spPr>
          <a:xfrm>
            <a:off x="3388113"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2" name="Google Shape;302;p23"/>
          <p:cNvSpPr txBox="1">
            <a:spLocks noGrp="1"/>
          </p:cNvSpPr>
          <p:nvPr>
            <p:ph type="body" idx="1"/>
          </p:nvPr>
        </p:nvSpPr>
        <p:spPr>
          <a:xfrm>
            <a:off x="6212000"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3" name="Google Shape;303;p23"/>
          <p:cNvSpPr txBox="1">
            <a:spLocks noGrp="1"/>
          </p:cNvSpPr>
          <p:nvPr>
            <p:ph type="body" idx="1"/>
          </p:nvPr>
        </p:nvSpPr>
        <p:spPr>
          <a:xfrm>
            <a:off x="6214900"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4" name="Google Shape;304;p23"/>
          <p:cNvSpPr txBox="1"/>
          <p:nvPr/>
        </p:nvSpPr>
        <p:spPr>
          <a:xfrm>
            <a:off x="5156725" y="4123697"/>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305" name="Google Shape;305;p23"/>
          <p:cNvSpPr txBox="1"/>
          <p:nvPr/>
        </p:nvSpPr>
        <p:spPr>
          <a:xfrm>
            <a:off x="2769050" y="1642875"/>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lastYearValue1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latin typeface="Verdana"/>
                <a:ea typeface="Verdana"/>
                <a:cs typeface="Verdana"/>
                <a:sym typeface="Verdana"/>
              </a:rPr>
              <a:t>lastYearValue2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lastYearValue3</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lastYearValue5</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lastYearValue9</a:t>
            </a:r>
            <a:endParaRPr sz="1150" u="sng">
              <a:solidFill>
                <a:schemeClr val="dk1"/>
              </a:solidFill>
              <a:latin typeface="Verdana"/>
              <a:ea typeface="Verdana"/>
              <a:cs typeface="Verdana"/>
              <a:sym typeface="Verdana"/>
            </a:endParaRPr>
          </a:p>
        </p:txBody>
      </p:sp>
      <p:sp>
        <p:nvSpPr>
          <p:cNvPr id="306" name="Google Shape;306;p23"/>
          <p:cNvSpPr txBox="1"/>
          <p:nvPr/>
        </p:nvSpPr>
        <p:spPr>
          <a:xfrm>
            <a:off x="5157213" y="1642288"/>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proposedLabel1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proposedLabel2</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proposedLabel3</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proposedLabel5</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proposedLabel9</a:t>
            </a:r>
            <a:endParaRPr sz="1150">
              <a:solidFill>
                <a:schemeClr val="dk1"/>
              </a:solidFill>
              <a:latin typeface="Verdana"/>
              <a:ea typeface="Verdana"/>
              <a:cs typeface="Verdana"/>
              <a:sym typeface="Verdana"/>
            </a:endParaRPr>
          </a:p>
        </p:txBody>
      </p:sp>
      <p:sp>
        <p:nvSpPr>
          <p:cNvPr id="307" name="Google Shape;307;p23"/>
          <p:cNvSpPr txBox="1"/>
          <p:nvPr/>
        </p:nvSpPr>
        <p:spPr>
          <a:xfrm>
            <a:off x="6877426" y="1643475"/>
            <a:ext cx="18720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proposedValue1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proposedValue3</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proposedValue5</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proposedValue9</a:t>
            </a:r>
            <a:endParaRPr sz="1150" u="sng">
              <a:solidFill>
                <a:schemeClr val="dk1"/>
              </a:solidFill>
              <a:latin typeface="Verdana"/>
              <a:ea typeface="Verdana"/>
              <a:cs typeface="Verdana"/>
              <a:sym typeface="Verdana"/>
            </a:endParaRPr>
          </a:p>
        </p:txBody>
      </p:sp>
      <p:sp>
        <p:nvSpPr>
          <p:cNvPr id="308" name="Google Shape;308;p23"/>
          <p:cNvSpPr txBox="1"/>
          <p:nvPr/>
        </p:nvSpPr>
        <p:spPr>
          <a:xfrm>
            <a:off x="2771275" y="4218663"/>
            <a:ext cx="2273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a:t>
            </a:r>
            <a:endParaRPr sz="1150" u="sng">
              <a:latin typeface="Verdana"/>
              <a:ea typeface="Verdana"/>
              <a:cs typeface="Verdana"/>
              <a:sym typeface="Verdana"/>
            </a:endParaRPr>
          </a:p>
        </p:txBody>
      </p:sp>
      <p:sp>
        <p:nvSpPr>
          <p:cNvPr id="309" name="Google Shape;309;p23"/>
          <p:cNvSpPr txBox="1"/>
          <p:nvPr/>
        </p:nvSpPr>
        <p:spPr>
          <a:xfrm>
            <a:off x="6877425" y="4218432"/>
            <a:ext cx="2459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totalMediaInvestmentTwo</a:t>
            </a:r>
            <a:endParaRPr sz="1150" u="sng">
              <a:latin typeface="Verdana"/>
              <a:ea typeface="Verdana"/>
              <a:cs typeface="Verdana"/>
              <a:sym typeface="Verdana"/>
            </a:endParaRPr>
          </a:p>
        </p:txBody>
      </p:sp>
      <p:sp>
        <p:nvSpPr>
          <p:cNvPr id="310" name="Google Shape;310;p23"/>
          <p:cNvSpPr txBox="1">
            <a:spLocks noGrp="1"/>
          </p:cNvSpPr>
          <p:nvPr>
            <p:ph type="body" idx="1"/>
          </p:nvPr>
        </p:nvSpPr>
        <p:spPr>
          <a:xfrm>
            <a:off x="388123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rPr>
              <a:t>pctTAIGrossSalesLastYear</a:t>
            </a:r>
            <a:endParaRPr sz="1150">
              <a:solidFill>
                <a:srgbClr val="000000"/>
              </a:solidFill>
              <a:latin typeface="Verdana"/>
              <a:ea typeface="Verdana"/>
              <a:cs typeface="Verdana"/>
              <a:sym typeface="Verdana"/>
            </a:endParaRPr>
          </a:p>
        </p:txBody>
      </p:sp>
      <p:sp>
        <p:nvSpPr>
          <p:cNvPr id="311" name="Google Shape;311;p23"/>
          <p:cNvSpPr txBox="1">
            <a:spLocks noGrp="1"/>
          </p:cNvSpPr>
          <p:nvPr>
            <p:ph type="body" idx="1"/>
          </p:nvPr>
        </p:nvSpPr>
        <p:spPr>
          <a:xfrm>
            <a:off x="5975475" y="4910328"/>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rPr>
              <a:t>grossSalesLastyear</a:t>
            </a:r>
            <a:endParaRPr sz="1150">
              <a:solidFill>
                <a:srgbClr val="000000"/>
              </a:solidFill>
              <a:latin typeface="Verdana"/>
              <a:ea typeface="Verdana"/>
              <a:cs typeface="Verdana"/>
              <a:sym typeface="Verdana"/>
            </a:endParaRPr>
          </a:p>
        </p:txBody>
      </p:sp>
      <p:sp>
        <p:nvSpPr>
          <p:cNvPr id="312" name="Google Shape;312;p23"/>
          <p:cNvSpPr txBox="1">
            <a:spLocks noGrp="1"/>
          </p:cNvSpPr>
          <p:nvPr>
            <p:ph type="body" idx="1"/>
          </p:nvPr>
        </p:nvSpPr>
        <p:spPr>
          <a:xfrm>
            <a:off x="119578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taiNext12Months</a:t>
            </a:r>
            <a:endParaRPr sz="1150">
              <a:solidFill>
                <a:srgbClr val="000000"/>
              </a:solidFill>
              <a:latin typeface="Verdana"/>
              <a:ea typeface="Verdana"/>
              <a:cs typeface="Verdana"/>
              <a:sym typeface="Verdana"/>
            </a:endParaRPr>
          </a:p>
        </p:txBody>
      </p:sp>
      <p:sp>
        <p:nvSpPr>
          <p:cNvPr id="313" name="Google Shape;313;p23"/>
          <p:cNvSpPr txBox="1">
            <a:spLocks noGrp="1"/>
          </p:cNvSpPr>
          <p:nvPr>
            <p:ph type="body" idx="1"/>
          </p:nvPr>
        </p:nvSpPr>
        <p:spPr>
          <a:xfrm>
            <a:off x="388613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pctGrossSales</a:t>
            </a:r>
            <a:endParaRPr sz="1150">
              <a:solidFill>
                <a:srgbClr val="000000"/>
              </a:solidFill>
              <a:latin typeface="Verdana"/>
              <a:ea typeface="Verdana"/>
              <a:cs typeface="Verdana"/>
              <a:sym typeface="Verdana"/>
            </a:endParaRPr>
          </a:p>
        </p:txBody>
      </p:sp>
      <p:sp>
        <p:nvSpPr>
          <p:cNvPr id="314" name="Google Shape;314;p23"/>
          <p:cNvSpPr txBox="1">
            <a:spLocks noGrp="1"/>
          </p:cNvSpPr>
          <p:nvPr>
            <p:ph type="body" idx="1"/>
          </p:nvPr>
        </p:nvSpPr>
        <p:spPr>
          <a:xfrm>
            <a:off x="5975475" y="5908725"/>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estimatedGrossSalesNext12Months</a:t>
            </a:r>
            <a:endParaRPr sz="1150">
              <a:solidFill>
                <a:srgbClr val="000000"/>
              </a:solidFill>
              <a:latin typeface="Verdana"/>
              <a:ea typeface="Verdana"/>
              <a:cs typeface="Verdana"/>
              <a:sym typeface="Verdana"/>
            </a:endParaRPr>
          </a:p>
        </p:txBody>
      </p:sp>
      <p:sp>
        <p:nvSpPr>
          <p:cNvPr id="315" name="Google Shape;315;p23"/>
          <p:cNvSpPr txBox="1">
            <a:spLocks noGrp="1"/>
          </p:cNvSpPr>
          <p:nvPr>
            <p:ph type="body" idx="1"/>
          </p:nvPr>
        </p:nvSpPr>
        <p:spPr>
          <a:xfrm>
            <a:off x="640080" y="13530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a:t>
            </a:r>
            <a:endParaRPr sz="1150" b="1">
              <a:solidFill>
                <a:srgbClr val="000000"/>
              </a:solidFill>
              <a:latin typeface="Verdana"/>
              <a:ea typeface="Verdana"/>
              <a:cs typeface="Verdana"/>
              <a:sym typeface="Verdana"/>
            </a:endParaRPr>
          </a:p>
        </p:txBody>
      </p:sp>
      <p:sp>
        <p:nvSpPr>
          <p:cNvPr id="316" name="Google Shape;316;p23"/>
          <p:cNvSpPr txBox="1">
            <a:spLocks noGrp="1"/>
          </p:cNvSpPr>
          <p:nvPr>
            <p:ph type="body" idx="1"/>
          </p:nvPr>
        </p:nvSpPr>
        <p:spPr>
          <a:xfrm>
            <a:off x="114076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Previous Year’s Media Allocation</a:t>
            </a:r>
            <a:endParaRPr sz="1150" b="1">
              <a:solidFill>
                <a:srgbClr val="000000"/>
              </a:solidFill>
              <a:latin typeface="Verdana"/>
              <a:ea typeface="Verdana"/>
              <a:cs typeface="Verdana"/>
              <a:sym typeface="Verdan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20"/>
        <p:cNvGrpSpPr/>
        <p:nvPr/>
      </p:nvGrpSpPr>
      <p:grpSpPr>
        <a:xfrm>
          <a:off x="0" y="0"/>
          <a:ext cx="0" cy="0"/>
          <a:chOff x="0" y="0"/>
          <a:chExt cx="0" cy="0"/>
        </a:xfrm>
      </p:grpSpPr>
      <p:sp>
        <p:nvSpPr>
          <p:cNvPr id="321" name="Google Shape;321;p2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12</a:t>
            </a:fld>
            <a:endParaRPr/>
          </a:p>
        </p:txBody>
      </p:sp>
      <p:sp>
        <p:nvSpPr>
          <p:cNvPr id="322" name="Google Shape;322;p24"/>
          <p:cNvSpPr txBox="1"/>
          <p:nvPr/>
        </p:nvSpPr>
        <p:spPr>
          <a:xfrm>
            <a:off x="1561650" y="6546625"/>
            <a:ext cx="6020700" cy="365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350" b="1"/>
          </a:p>
        </p:txBody>
      </p:sp>
      <p:sp>
        <p:nvSpPr>
          <p:cNvPr id="323" name="Google Shape;323;p24"/>
          <p:cNvSpPr txBox="1"/>
          <p:nvPr/>
        </p:nvSpPr>
        <p:spPr>
          <a:xfrm>
            <a:off x="398025" y="475488"/>
            <a:ext cx="8399400" cy="800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800"/>
              </a:spcBef>
              <a:spcAft>
                <a:spcPts val="800"/>
              </a:spcAft>
              <a:buClr>
                <a:schemeClr val="dk1"/>
              </a:buClr>
              <a:buSzPts val="1100"/>
              <a:buFont typeface="Arial"/>
              <a:buNone/>
            </a:pPr>
            <a:r>
              <a:rPr lang="en" sz="4000" b="1">
                <a:solidFill>
                  <a:schemeClr val="dk1"/>
                </a:solidFill>
              </a:rPr>
              <a:t>Previous Year’s Media Allocation</a:t>
            </a:r>
            <a:endParaRPr/>
          </a:p>
        </p:txBody>
      </p:sp>
      <p:sp>
        <p:nvSpPr>
          <p:cNvPr id="324" name="Google Shape;324;p24"/>
          <p:cNvSpPr txBox="1"/>
          <p:nvPr/>
        </p:nvSpPr>
        <p:spPr>
          <a:xfrm>
            <a:off x="841248" y="6389748"/>
            <a:ext cx="7466100" cy="5598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550" b="1" dirty="0">
                <a:solidFill>
                  <a:schemeClr val="dk1"/>
                </a:solidFill>
                <a:latin typeface="Verdana"/>
                <a:ea typeface="Verdana"/>
                <a:cs typeface="Verdana"/>
                <a:sym typeface="Verdana"/>
              </a:rPr>
              <a:t>Total Advertising Investment (TAI): </a:t>
            </a:r>
            <a:r>
              <a:rPr lang="en" sz="1550" b="1" dirty="0" err="1">
                <a:solidFill>
                  <a:schemeClr val="dk1"/>
                </a:solidFill>
                <a:latin typeface="Verdana"/>
                <a:ea typeface="Verdana"/>
                <a:cs typeface="Verdana"/>
                <a:sym typeface="Verdana"/>
              </a:rPr>
              <a:t>totalAdvertisingInvestmentConfidentialClientEvaluationOnePage</a:t>
            </a:r>
            <a:endParaRPr sz="1550" b="1" dirty="0">
              <a:latin typeface="Verdana"/>
              <a:ea typeface="Verdana"/>
              <a:cs typeface="Verdana"/>
              <a:sym typeface="Verdana"/>
            </a:endParaRPr>
          </a:p>
        </p:txBody>
      </p:sp>
      <p:graphicFrame>
        <p:nvGraphicFramePr>
          <p:cNvPr id="2" name="Chart 1">
            <a:extLst>
              <a:ext uri="{FF2B5EF4-FFF2-40B4-BE49-F238E27FC236}">
                <a16:creationId xmlns:a16="http://schemas.microsoft.com/office/drawing/2014/main" id="{DB828F17-91B3-69FD-3162-FF31451B3449}"/>
              </a:ext>
            </a:extLst>
          </p:cNvPr>
          <p:cNvGraphicFramePr/>
          <p:nvPr>
            <p:extLst>
              <p:ext uri="{D42A27DB-BD31-4B8C-83A1-F6EECF244321}">
                <p14:modId xmlns:p14="http://schemas.microsoft.com/office/powerpoint/2010/main" val="814608630"/>
              </p:ext>
            </p:extLst>
          </p:nvPr>
        </p:nvGraphicFramePr>
        <p:xfrm>
          <a:off x="615462" y="1441938"/>
          <a:ext cx="7856996" cy="4783016"/>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20">
          <a:extLst>
            <a:ext uri="{FF2B5EF4-FFF2-40B4-BE49-F238E27FC236}">
              <a16:creationId xmlns:a16="http://schemas.microsoft.com/office/drawing/2014/main" id="{5B62369B-885B-8D26-0614-314EA8615D8D}"/>
            </a:ext>
          </a:extLst>
        </p:cNvPr>
        <p:cNvGrpSpPr/>
        <p:nvPr/>
      </p:nvGrpSpPr>
      <p:grpSpPr>
        <a:xfrm>
          <a:off x="0" y="0"/>
          <a:ext cx="0" cy="0"/>
          <a:chOff x="0" y="0"/>
          <a:chExt cx="0" cy="0"/>
        </a:xfrm>
      </p:grpSpPr>
      <p:sp>
        <p:nvSpPr>
          <p:cNvPr id="321" name="Google Shape;321;p24">
            <a:extLst>
              <a:ext uri="{FF2B5EF4-FFF2-40B4-BE49-F238E27FC236}">
                <a16:creationId xmlns:a16="http://schemas.microsoft.com/office/drawing/2014/main" id="{541A61DC-E11A-06B6-4D6C-B01D002752C0}"/>
              </a:ext>
            </a:extLst>
          </p:cNvPr>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13</a:t>
            </a:fld>
            <a:endParaRPr/>
          </a:p>
        </p:txBody>
      </p:sp>
      <p:sp>
        <p:nvSpPr>
          <p:cNvPr id="322" name="Google Shape;322;p24">
            <a:extLst>
              <a:ext uri="{FF2B5EF4-FFF2-40B4-BE49-F238E27FC236}">
                <a16:creationId xmlns:a16="http://schemas.microsoft.com/office/drawing/2014/main" id="{AFB28DC1-5A23-1D5F-E1AC-C7C2C3C78212}"/>
              </a:ext>
            </a:extLst>
          </p:cNvPr>
          <p:cNvSpPr txBox="1"/>
          <p:nvPr/>
        </p:nvSpPr>
        <p:spPr>
          <a:xfrm>
            <a:off x="1561650" y="6546625"/>
            <a:ext cx="6020700" cy="365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350" b="1"/>
          </a:p>
        </p:txBody>
      </p:sp>
      <p:sp>
        <p:nvSpPr>
          <p:cNvPr id="323" name="Google Shape;323;p24">
            <a:extLst>
              <a:ext uri="{FF2B5EF4-FFF2-40B4-BE49-F238E27FC236}">
                <a16:creationId xmlns:a16="http://schemas.microsoft.com/office/drawing/2014/main" id="{B05858EA-9A7B-B10B-6097-D8A1A094AE83}"/>
              </a:ext>
            </a:extLst>
          </p:cNvPr>
          <p:cNvSpPr txBox="1"/>
          <p:nvPr/>
        </p:nvSpPr>
        <p:spPr>
          <a:xfrm>
            <a:off x="398025" y="475488"/>
            <a:ext cx="8399400" cy="1097706"/>
          </a:xfrm>
          <a:prstGeom prst="rect">
            <a:avLst/>
          </a:prstGeom>
          <a:noFill/>
          <a:ln>
            <a:noFill/>
          </a:ln>
        </p:spPr>
        <p:txBody>
          <a:bodyPr spcFirstLastPara="1" wrap="square" lIns="91425" tIns="91425" rIns="91425" bIns="91425" anchor="t" anchorCtr="0">
            <a:spAutoFit/>
          </a:bodyPr>
          <a:lstStyle/>
          <a:p>
            <a:pPr lvl="0" algn="ctr">
              <a:lnSpc>
                <a:spcPct val="115000"/>
              </a:lnSpc>
              <a:spcBef>
                <a:spcPts val="800"/>
              </a:spcBef>
              <a:spcAft>
                <a:spcPts val="800"/>
              </a:spcAft>
              <a:buClr>
                <a:schemeClr val="dk1"/>
              </a:buClr>
              <a:buSzPts val="1100"/>
            </a:pPr>
            <a:r>
              <a:rPr lang="en-US" sz="4000" b="1" dirty="0">
                <a:solidFill>
                  <a:schemeClr val="dk1"/>
                </a:solidFill>
              </a:rPr>
              <a:t>Proposed Year’s Media Allocation</a:t>
            </a:r>
            <a:endParaRPr lang="en-US" sz="4000" dirty="0"/>
          </a:p>
        </p:txBody>
      </p:sp>
      <p:sp>
        <p:nvSpPr>
          <p:cNvPr id="324" name="Google Shape;324;p24">
            <a:extLst>
              <a:ext uri="{FF2B5EF4-FFF2-40B4-BE49-F238E27FC236}">
                <a16:creationId xmlns:a16="http://schemas.microsoft.com/office/drawing/2014/main" id="{893114EA-0A6D-762B-CA7B-4960ED015B02}"/>
              </a:ext>
            </a:extLst>
          </p:cNvPr>
          <p:cNvSpPr txBox="1"/>
          <p:nvPr/>
        </p:nvSpPr>
        <p:spPr>
          <a:xfrm>
            <a:off x="841248" y="6224954"/>
            <a:ext cx="7466100" cy="724594"/>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550" b="1" dirty="0">
                <a:solidFill>
                  <a:schemeClr val="dk1"/>
                </a:solidFill>
                <a:latin typeface="Verdana"/>
                <a:ea typeface="Verdana"/>
                <a:cs typeface="Verdana"/>
                <a:sym typeface="Verdana"/>
              </a:rPr>
              <a:t>Total Advertising Investment (TAI): </a:t>
            </a:r>
            <a:r>
              <a:rPr lang="en" sz="1550" b="1" dirty="0" err="1">
                <a:solidFill>
                  <a:schemeClr val="dk1"/>
                </a:solidFill>
                <a:latin typeface="Verdana"/>
                <a:ea typeface="Verdana"/>
                <a:cs typeface="Verdana"/>
                <a:sym typeface="Verdana"/>
              </a:rPr>
              <a:t>totalAdvertisingInvestmentConfidentialClientEvaluationOnePage</a:t>
            </a:r>
            <a:endParaRPr sz="1550" b="1" dirty="0">
              <a:latin typeface="Verdana"/>
              <a:ea typeface="Verdana"/>
              <a:cs typeface="Verdana"/>
              <a:sym typeface="Verdana"/>
            </a:endParaRPr>
          </a:p>
        </p:txBody>
      </p:sp>
      <p:graphicFrame>
        <p:nvGraphicFramePr>
          <p:cNvPr id="2" name="Chart 1">
            <a:extLst>
              <a:ext uri="{FF2B5EF4-FFF2-40B4-BE49-F238E27FC236}">
                <a16:creationId xmlns:a16="http://schemas.microsoft.com/office/drawing/2014/main" id="{C0C6E880-8D71-1216-0399-53837D66C448}"/>
              </a:ext>
            </a:extLst>
          </p:cNvPr>
          <p:cNvGraphicFramePr/>
          <p:nvPr/>
        </p:nvGraphicFramePr>
        <p:xfrm>
          <a:off x="615462" y="1441938"/>
          <a:ext cx="7856996" cy="4783016"/>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8652474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37"/>
        <p:cNvGrpSpPr/>
        <p:nvPr/>
      </p:nvGrpSpPr>
      <p:grpSpPr>
        <a:xfrm>
          <a:off x="0" y="0"/>
          <a:ext cx="0" cy="0"/>
          <a:chOff x="0" y="0"/>
          <a:chExt cx="0" cy="0"/>
        </a:xfrm>
      </p:grpSpPr>
      <p:sp>
        <p:nvSpPr>
          <p:cNvPr id="338" name="Google Shape;338;p2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Profile of Consumers</a:t>
            </a:r>
            <a:endParaRPr/>
          </a:p>
        </p:txBody>
      </p:sp>
      <p:sp>
        <p:nvSpPr>
          <p:cNvPr id="339" name="Google Shape;339;p26"/>
          <p:cNvSpPr txBox="1">
            <a:spLocks noGrp="1"/>
          </p:cNvSpPr>
          <p:nvPr>
            <p:ph type="body" idx="1"/>
          </p:nvPr>
        </p:nvSpPr>
        <p:spPr>
          <a:xfrm>
            <a:off x="457200" y="1174800"/>
            <a:ext cx="82296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Replace this text with station/consumer information and/or customized research.</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solidFill>
                <a:schemeClr val="dk1"/>
              </a:solidFill>
              <a:latin typeface="Verdana"/>
              <a:ea typeface="Verdana"/>
              <a:cs typeface="Verdana"/>
              <a:sym typeface="Verdana"/>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sp>
        <p:nvSpPr>
          <p:cNvPr id="344" name="Google Shape;344;p2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Marketing Strategies</a:t>
            </a:r>
            <a:endParaRPr/>
          </a:p>
        </p:txBody>
      </p:sp>
      <p:sp>
        <p:nvSpPr>
          <p:cNvPr id="345" name="Google Shape;345;p27"/>
          <p:cNvSpPr txBox="1">
            <a:spLocks noGrp="1"/>
          </p:cNvSpPr>
          <p:nvPr>
            <p:ph type="body" idx="1"/>
          </p:nvPr>
        </p:nvSpPr>
        <p:spPr>
          <a:xfrm>
            <a:off x="458400" y="1174799"/>
            <a:ext cx="82272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a:solidFill>
                  <a:srgbClr val="00274D"/>
                </a:solidFill>
              </a:rPr>
              <a:t>Replace this text with marketing stra</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latin typeface="Verdana"/>
              <a:ea typeface="Verdana"/>
              <a:cs typeface="Verdana"/>
              <a:sym typeface="Verdana"/>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49"/>
        <p:cNvGrpSpPr/>
        <p:nvPr/>
      </p:nvGrpSpPr>
      <p:grpSpPr>
        <a:xfrm>
          <a:off x="0" y="0"/>
          <a:ext cx="0" cy="0"/>
          <a:chOff x="0" y="0"/>
          <a:chExt cx="0" cy="0"/>
        </a:xfrm>
      </p:grpSpPr>
      <p:sp>
        <p:nvSpPr>
          <p:cNvPr id="350" name="Google Shape;350;p2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Creative Concepts I</a:t>
            </a:r>
            <a:endParaRPr/>
          </a:p>
        </p:txBody>
      </p:sp>
      <p:sp>
        <p:nvSpPr>
          <p:cNvPr id="351" name="Google Shape;351;p28"/>
          <p:cNvSpPr txBox="1">
            <a:spLocks noGrp="1"/>
          </p:cNvSpPr>
          <p:nvPr>
            <p:ph type="body" idx="2"/>
          </p:nvPr>
        </p:nvSpPr>
        <p:spPr>
          <a:xfrm>
            <a:off x="367950" y="1174800"/>
            <a:ext cx="8408100" cy="5443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150">
              <a:solidFill>
                <a:srgbClr val="000000"/>
              </a:solidFill>
              <a:latin typeface="Verdana"/>
              <a:ea typeface="Verdana"/>
              <a:cs typeface="Verdana"/>
              <a:sym typeface="Verdana"/>
            </a:endParaRPr>
          </a:p>
          <a:p>
            <a:pPr marL="0" lvl="0" indent="0" algn="l" rtl="0">
              <a:spcBef>
                <a:spcPts val="1600"/>
              </a:spcBef>
              <a:spcAft>
                <a:spcPts val="1200"/>
              </a:spcAft>
              <a:buNone/>
            </a:pPr>
            <a:endParaRPr sz="1150">
              <a:solidFill>
                <a:srgbClr val="000000"/>
              </a:solidFill>
              <a:latin typeface="Verdana"/>
              <a:ea typeface="Verdana"/>
              <a:cs typeface="Verdana"/>
              <a:sym typeface="Verdana"/>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55"/>
        <p:cNvGrpSpPr/>
        <p:nvPr/>
      </p:nvGrpSpPr>
      <p:grpSpPr>
        <a:xfrm>
          <a:off x="0" y="0"/>
          <a:ext cx="0" cy="0"/>
          <a:chOff x="0" y="0"/>
          <a:chExt cx="0" cy="0"/>
        </a:xfrm>
      </p:grpSpPr>
      <p:sp>
        <p:nvSpPr>
          <p:cNvPr id="356" name="Google Shape;356;p2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Creative Concepts II</a:t>
            </a:r>
            <a:endParaRPr/>
          </a:p>
        </p:txBody>
      </p:sp>
      <p:sp>
        <p:nvSpPr>
          <p:cNvPr id="357" name="Google Shape;357;p29"/>
          <p:cNvSpPr txBox="1">
            <a:spLocks noGrp="1"/>
          </p:cNvSpPr>
          <p:nvPr>
            <p:ph type="body" idx="2"/>
          </p:nvPr>
        </p:nvSpPr>
        <p:spPr>
          <a:xfrm>
            <a:off x="367950" y="1174800"/>
            <a:ext cx="8408100" cy="5530800"/>
          </a:xfrm>
          <a:prstGeom prst="rect">
            <a:avLst/>
          </a:prstGeom>
        </p:spPr>
        <p:txBody>
          <a:bodyPr spcFirstLastPara="1" wrap="square" lIns="91425" tIns="91425" rIns="91425" bIns="91425" anchor="t" anchorCtr="0">
            <a:noAutofit/>
          </a:bodyPr>
          <a:lstStyle/>
          <a:p>
            <a:pPr marL="0" lvl="0" indent="0" algn="l" rtl="0">
              <a:spcBef>
                <a:spcPts val="1200"/>
              </a:spcBef>
              <a:spcAft>
                <a:spcPts val="1200"/>
              </a:spcAft>
              <a:buNone/>
            </a:pPr>
            <a:endParaRPr sz="1150">
              <a:solidFill>
                <a:srgbClr val="000000"/>
              </a:solidFill>
              <a:latin typeface="Verdana"/>
              <a:ea typeface="Verdana"/>
              <a:cs typeface="Verdana"/>
              <a:sym typeface="Verdana"/>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61"/>
        <p:cNvGrpSpPr/>
        <p:nvPr/>
      </p:nvGrpSpPr>
      <p:grpSpPr>
        <a:xfrm>
          <a:off x="0" y="0"/>
          <a:ext cx="0" cy="0"/>
          <a:chOff x="0" y="0"/>
          <a:chExt cx="0" cy="0"/>
        </a:xfrm>
      </p:grpSpPr>
      <p:sp>
        <p:nvSpPr>
          <p:cNvPr id="362" name="Google Shape;362;p3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Marketing Strategies</a:t>
            </a:r>
            <a:endParaRPr/>
          </a:p>
        </p:txBody>
      </p:sp>
      <p:sp>
        <p:nvSpPr>
          <p:cNvPr id="363" name="Google Shape;363;p30"/>
          <p:cNvSpPr txBox="1">
            <a:spLocks noGrp="1"/>
          </p:cNvSpPr>
          <p:nvPr>
            <p:ph type="body" idx="1"/>
          </p:nvPr>
        </p:nvSpPr>
        <p:spPr>
          <a:xfrm>
            <a:off x="457200" y="1170400"/>
            <a:ext cx="8229600" cy="5709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Replace this text with station/consumer information and/or customized research.</a:t>
            </a:r>
            <a:endParaRPr sz="1150">
              <a:solidFill>
                <a:schemeClr val="dk1"/>
              </a:solidFill>
              <a:latin typeface="Verdana"/>
              <a:ea typeface="Verdana"/>
              <a:cs typeface="Verdana"/>
              <a:sym typeface="Verdana"/>
            </a:endParaRPr>
          </a:p>
          <a:p>
            <a:pPr marL="0" lvl="0" indent="0" algn="l" rtl="0">
              <a:spcBef>
                <a:spcPts val="1000"/>
              </a:spcBef>
              <a:spcAft>
                <a:spcPts val="1600"/>
              </a:spcAft>
              <a:buNone/>
            </a:pPr>
            <a:endParaRPr sz="1150">
              <a:latin typeface="Verdana"/>
              <a:ea typeface="Verdana"/>
              <a:cs typeface="Verdana"/>
              <a:sym typeface="Verdana"/>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67"/>
        <p:cNvGrpSpPr/>
        <p:nvPr/>
      </p:nvGrpSpPr>
      <p:grpSpPr>
        <a:xfrm>
          <a:off x="0" y="0"/>
          <a:ext cx="0" cy="0"/>
          <a:chOff x="0" y="0"/>
          <a:chExt cx="0" cy="0"/>
        </a:xfrm>
      </p:grpSpPr>
      <p:sp>
        <p:nvSpPr>
          <p:cNvPr id="368" name="Google Shape;368;p3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Long Range Strategic Plans</a:t>
            </a:r>
            <a:endParaRPr/>
          </a:p>
        </p:txBody>
      </p:sp>
      <p:sp>
        <p:nvSpPr>
          <p:cNvPr id="369" name="Google Shape;369;p31"/>
          <p:cNvSpPr txBox="1"/>
          <p:nvPr/>
        </p:nvSpPr>
        <p:spPr>
          <a:xfrm>
            <a:off x="4539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SATURATION</a:t>
            </a:r>
            <a:endParaRPr sz="1700">
              <a:latin typeface="Verdana"/>
              <a:ea typeface="Verdana"/>
              <a:cs typeface="Verdana"/>
              <a:sym typeface="Verdana"/>
            </a:endParaRPr>
          </a:p>
        </p:txBody>
      </p:sp>
      <p:sp>
        <p:nvSpPr>
          <p:cNvPr id="370" name="Google Shape;370;p31"/>
          <p:cNvSpPr txBox="1"/>
          <p:nvPr/>
        </p:nvSpPr>
        <p:spPr>
          <a:xfrm>
            <a:off x="35450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13 WEEKS</a:t>
            </a:r>
            <a:endParaRPr sz="1700">
              <a:latin typeface="Verdana"/>
              <a:ea typeface="Verdana"/>
              <a:cs typeface="Verdana"/>
              <a:sym typeface="Verdana"/>
            </a:endParaRPr>
          </a:p>
        </p:txBody>
      </p:sp>
      <p:sp>
        <p:nvSpPr>
          <p:cNvPr id="371" name="Google Shape;371;p31"/>
          <p:cNvSpPr txBox="1"/>
          <p:nvPr/>
        </p:nvSpPr>
        <p:spPr>
          <a:xfrm>
            <a:off x="6761963"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AWARENESS</a:t>
            </a:r>
            <a:endParaRPr sz="1700">
              <a:latin typeface="Verdana"/>
              <a:ea typeface="Verdana"/>
              <a:cs typeface="Verdana"/>
              <a:sym typeface="Verdana"/>
            </a:endParaRPr>
          </a:p>
        </p:txBody>
      </p:sp>
      <p:sp>
        <p:nvSpPr>
          <p:cNvPr id="372" name="Google Shape;372;p31"/>
          <p:cNvSpPr txBox="1"/>
          <p:nvPr/>
        </p:nvSpPr>
        <p:spPr>
          <a:xfrm>
            <a:off x="4539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PENETRATION</a:t>
            </a:r>
            <a:endParaRPr sz="1700">
              <a:latin typeface="Verdana"/>
              <a:ea typeface="Verdana"/>
              <a:cs typeface="Verdana"/>
              <a:sym typeface="Verdana"/>
            </a:endParaRPr>
          </a:p>
        </p:txBody>
      </p:sp>
      <p:sp>
        <p:nvSpPr>
          <p:cNvPr id="373" name="Google Shape;373;p31"/>
          <p:cNvSpPr txBox="1"/>
          <p:nvPr/>
        </p:nvSpPr>
        <p:spPr>
          <a:xfrm>
            <a:off x="35450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26 WEEKS</a:t>
            </a:r>
            <a:endParaRPr sz="1700">
              <a:latin typeface="Verdana"/>
              <a:ea typeface="Verdana"/>
              <a:cs typeface="Verdana"/>
              <a:sym typeface="Verdana"/>
            </a:endParaRPr>
          </a:p>
        </p:txBody>
      </p:sp>
      <p:sp>
        <p:nvSpPr>
          <p:cNvPr id="374" name="Google Shape;374;p31"/>
          <p:cNvSpPr txBox="1"/>
          <p:nvPr/>
        </p:nvSpPr>
        <p:spPr>
          <a:xfrm>
            <a:off x="6761950"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RECOGNITION</a:t>
            </a:r>
            <a:endParaRPr sz="1700">
              <a:latin typeface="Verdana"/>
              <a:ea typeface="Verdana"/>
              <a:cs typeface="Verdana"/>
              <a:sym typeface="Verdana"/>
            </a:endParaRPr>
          </a:p>
        </p:txBody>
      </p:sp>
      <p:sp>
        <p:nvSpPr>
          <p:cNvPr id="375" name="Google Shape;375;p31"/>
          <p:cNvSpPr txBox="1"/>
          <p:nvPr/>
        </p:nvSpPr>
        <p:spPr>
          <a:xfrm>
            <a:off x="4539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DOMINANCE</a:t>
            </a:r>
            <a:endParaRPr sz="1700">
              <a:latin typeface="Verdana"/>
              <a:ea typeface="Verdana"/>
              <a:cs typeface="Verdana"/>
              <a:sym typeface="Verdana"/>
            </a:endParaRPr>
          </a:p>
        </p:txBody>
      </p:sp>
      <p:sp>
        <p:nvSpPr>
          <p:cNvPr id="376" name="Google Shape;376;p31"/>
          <p:cNvSpPr txBox="1"/>
          <p:nvPr/>
        </p:nvSpPr>
        <p:spPr>
          <a:xfrm>
            <a:off x="35450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52 WEEKS</a:t>
            </a:r>
            <a:endParaRPr sz="1700">
              <a:latin typeface="Verdana"/>
              <a:ea typeface="Verdana"/>
              <a:cs typeface="Verdana"/>
              <a:sym typeface="Verdana"/>
            </a:endParaRPr>
          </a:p>
        </p:txBody>
      </p:sp>
      <p:sp>
        <p:nvSpPr>
          <p:cNvPr id="377" name="Google Shape;377;p31"/>
          <p:cNvSpPr txBox="1"/>
          <p:nvPr/>
        </p:nvSpPr>
        <p:spPr>
          <a:xfrm>
            <a:off x="6761963"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ACCEPTANCE</a:t>
            </a:r>
            <a:endParaRPr sz="1700">
              <a:latin typeface="Verdana"/>
              <a:ea typeface="Verdana"/>
              <a:cs typeface="Verdana"/>
              <a:sym typeface="Verdana"/>
            </a:endParaRPr>
          </a:p>
        </p:txBody>
      </p:sp>
      <p:sp>
        <p:nvSpPr>
          <p:cNvPr id="378" name="Google Shape;378;p31"/>
          <p:cNvSpPr/>
          <p:nvPr/>
        </p:nvSpPr>
        <p:spPr>
          <a:xfrm>
            <a:off x="2382025"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31"/>
          <p:cNvSpPr/>
          <p:nvPr/>
        </p:nvSpPr>
        <p:spPr>
          <a:xfrm>
            <a:off x="5370550"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31"/>
          <p:cNvSpPr/>
          <p:nvPr/>
        </p:nvSpPr>
        <p:spPr>
          <a:xfrm>
            <a:off x="2382025" y="169162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31"/>
          <p:cNvSpPr/>
          <p:nvPr/>
        </p:nvSpPr>
        <p:spPr>
          <a:xfrm>
            <a:off x="5370550" y="169162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 name="Google Shape;382;p31"/>
          <p:cNvSpPr/>
          <p:nvPr/>
        </p:nvSpPr>
        <p:spPr>
          <a:xfrm>
            <a:off x="2382038"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 name="Google Shape;383;p31"/>
          <p:cNvSpPr/>
          <p:nvPr/>
        </p:nvSpPr>
        <p:spPr>
          <a:xfrm>
            <a:off x="5370563"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87"/>
        <p:cNvGrpSpPr/>
        <p:nvPr/>
      </p:nvGrpSpPr>
      <p:grpSpPr>
        <a:xfrm>
          <a:off x="0" y="0"/>
          <a:ext cx="0" cy="0"/>
          <a:chOff x="0" y="0"/>
          <a:chExt cx="0" cy="0"/>
        </a:xfrm>
      </p:grpSpPr>
      <p:sp>
        <p:nvSpPr>
          <p:cNvPr id="388" name="Google Shape;388;p32"/>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700"/>
              <a:t>Advantages to Long-Range Strategic Planning</a:t>
            </a:r>
            <a:endParaRPr sz="2700"/>
          </a:p>
        </p:txBody>
      </p:sp>
      <p:sp>
        <p:nvSpPr>
          <p:cNvPr id="389" name="Google Shape;389;p32"/>
          <p:cNvSpPr txBox="1"/>
          <p:nvPr/>
        </p:nvSpPr>
        <p:spPr>
          <a:xfrm>
            <a:off x="2371040" y="12830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Long-term investments placed for a year usually achieve lower rates.</a:t>
            </a:r>
            <a:endParaRPr sz="1700">
              <a:latin typeface="Verdana"/>
              <a:ea typeface="Verdana"/>
              <a:cs typeface="Verdana"/>
              <a:sym typeface="Verdana"/>
            </a:endParaRPr>
          </a:p>
        </p:txBody>
      </p:sp>
      <p:sp>
        <p:nvSpPr>
          <p:cNvPr id="390" name="Google Shape;390;p32"/>
          <p:cNvSpPr/>
          <p:nvPr/>
        </p:nvSpPr>
        <p:spPr>
          <a:xfrm>
            <a:off x="575263" y="3682050"/>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32"/>
          <p:cNvSpPr/>
          <p:nvPr/>
        </p:nvSpPr>
        <p:spPr>
          <a:xfrm>
            <a:off x="575263" y="148481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32"/>
          <p:cNvSpPr/>
          <p:nvPr/>
        </p:nvSpPr>
        <p:spPr>
          <a:xfrm>
            <a:off x="575263" y="5879250"/>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 name="Google Shape;393;p32"/>
          <p:cNvSpPr/>
          <p:nvPr/>
        </p:nvSpPr>
        <p:spPr>
          <a:xfrm>
            <a:off x="575250" y="258343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 name="Google Shape;394;p32"/>
          <p:cNvSpPr/>
          <p:nvPr/>
        </p:nvSpPr>
        <p:spPr>
          <a:xfrm>
            <a:off x="575250" y="478063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395;p32"/>
          <p:cNvSpPr txBox="1"/>
          <p:nvPr/>
        </p:nvSpPr>
        <p:spPr>
          <a:xfrm>
            <a:off x="2371040" y="45252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advertising creates the image of credibility and stability.</a:t>
            </a:r>
            <a:endParaRPr sz="1700">
              <a:latin typeface="Verdana"/>
              <a:ea typeface="Verdana"/>
              <a:cs typeface="Verdana"/>
              <a:sym typeface="Verdana"/>
            </a:endParaRPr>
          </a:p>
        </p:txBody>
      </p:sp>
      <p:sp>
        <p:nvSpPr>
          <p:cNvPr id="396" name="Google Shape;396;p32"/>
          <p:cNvSpPr txBox="1"/>
          <p:nvPr/>
        </p:nvSpPr>
        <p:spPr>
          <a:xfrm>
            <a:off x="2371040" y="34467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continuity creates lasting impressions, not just short-term attention.</a:t>
            </a:r>
            <a:endParaRPr sz="1700">
              <a:latin typeface="Verdana"/>
              <a:ea typeface="Verdana"/>
              <a:cs typeface="Verdana"/>
              <a:sym typeface="Verdana"/>
            </a:endParaRPr>
          </a:p>
        </p:txBody>
      </p:sp>
      <p:sp>
        <p:nvSpPr>
          <p:cNvPr id="397" name="Google Shape;397;p32"/>
          <p:cNvSpPr txBox="1"/>
          <p:nvPr/>
        </p:nvSpPr>
        <p:spPr>
          <a:xfrm>
            <a:off x="2371040" y="56237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All successful businesses consider long-range strategic planning a smart business decision.</a:t>
            </a:r>
            <a:endParaRPr sz="1700">
              <a:latin typeface="Verdana"/>
              <a:ea typeface="Verdana"/>
              <a:cs typeface="Verdana"/>
              <a:sym typeface="Verdana"/>
            </a:endParaRPr>
          </a:p>
        </p:txBody>
      </p:sp>
      <p:sp>
        <p:nvSpPr>
          <p:cNvPr id="398" name="Google Shape;398;p32"/>
          <p:cNvSpPr txBox="1"/>
          <p:nvPr/>
        </p:nvSpPr>
        <p:spPr>
          <a:xfrm>
            <a:off x="2371040" y="2368250"/>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Advertising “Away from the Clutter” gains the competitive edge.</a:t>
            </a:r>
            <a:endParaRPr sz="1700">
              <a:latin typeface="Verdana"/>
              <a:ea typeface="Verdana"/>
              <a:cs typeface="Verdana"/>
              <a:sym typeface="Verdana"/>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3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sp>
        <p:nvSpPr>
          <p:cNvPr id="404" name="Google Shape;404;p33"/>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a:t>Budget Breakout by Month (For Next 12 Months)</a:t>
            </a:r>
            <a:endParaRPr sz="2100"/>
          </a:p>
          <a:p>
            <a:pPr marL="0" lvl="0" indent="0" algn="ctr" rtl="0">
              <a:spcBef>
                <a:spcPts val="0"/>
              </a:spcBef>
              <a:spcAft>
                <a:spcPts val="0"/>
              </a:spcAft>
              <a:buNone/>
            </a:pPr>
            <a:r>
              <a:rPr lang="en" sz="2100"/>
              <a:t>Proposed Media Plan: station</a:t>
            </a:r>
            <a:endParaRPr sz="2100"/>
          </a:p>
        </p:txBody>
      </p:sp>
      <p:pic>
        <p:nvPicPr>
          <p:cNvPr id="405" name="Google Shape;405;p33"/>
          <p:cNvPicPr preferRelativeResize="0"/>
          <p:nvPr/>
        </p:nvPicPr>
        <p:blipFill>
          <a:blip r:embed="rId3">
            <a:alphaModFix/>
          </a:blip>
          <a:stretch>
            <a:fillRect/>
          </a:stretch>
        </p:blipFill>
        <p:spPr>
          <a:xfrm>
            <a:off x="841248" y="2082272"/>
            <a:ext cx="7461504" cy="4613697"/>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09"/>
        <p:cNvGrpSpPr/>
        <p:nvPr/>
      </p:nvGrpSpPr>
      <p:grpSpPr>
        <a:xfrm>
          <a:off x="0" y="0"/>
          <a:ext cx="0" cy="0"/>
          <a:chOff x="0" y="0"/>
          <a:chExt cx="0" cy="0"/>
        </a:xfrm>
      </p:grpSpPr>
      <p:sp>
        <p:nvSpPr>
          <p:cNvPr id="410" name="Google Shape;410;p34"/>
          <p:cNvSpPr txBox="1">
            <a:spLocks noGrp="1"/>
          </p:cNvSpPr>
          <p:nvPr>
            <p:ph type="ctrTitle"/>
          </p:nvPr>
        </p:nvSpPr>
        <p:spPr>
          <a:xfrm>
            <a:off x="693450" y="478963"/>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graphicFrame>
        <p:nvGraphicFramePr>
          <p:cNvPr id="411" name="Google Shape;411;p34"/>
          <p:cNvGraphicFramePr/>
          <p:nvPr/>
        </p:nvGraphicFramePr>
        <p:xfrm>
          <a:off x="457200" y="1325880"/>
          <a:ext cx="8229600" cy="1783080"/>
        </p:xfrm>
        <a:graphic>
          <a:graphicData uri="http://schemas.openxmlformats.org/drawingml/2006/table">
            <a:tbl>
              <a:tblPr>
                <a:noFill/>
                <a:tableStyleId>{CFB75FC7-DD7D-40D8-B2B2-EE4B611A8D2E}</a:tableStyleId>
              </a:tblPr>
              <a:tblGrid>
                <a:gridCol w="1246175">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50">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Branding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 of Weeks/Months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2" name="Google Shape;412;p34"/>
          <p:cNvGraphicFramePr/>
          <p:nvPr/>
        </p:nvGraphicFramePr>
        <p:xfrm>
          <a:off x="457200" y="3200400"/>
          <a:ext cx="8229600" cy="1783080"/>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Spike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3" name="Google Shape;413;p34"/>
          <p:cNvGraphicFramePr/>
          <p:nvPr/>
        </p:nvGraphicFramePr>
        <p:xfrm>
          <a:off x="457200" y="5029200"/>
          <a:ext cx="8229600" cy="1781493"/>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dirty="0"/>
                    </a:p>
                  </a:txBody>
                  <a:tcPr marL="28575" marR="28575" marT="19050" marB="19050" anchor="ctr"/>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Slow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190500">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3</a:t>
                      </a:r>
                      <a:endParaRPr sz="1000"/>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dirty="0"/>
                        <a:t>120</a:t>
                      </a:r>
                      <a:endParaRPr sz="1000" dirty="0"/>
                    </a:p>
                  </a:txBody>
                  <a:tcPr marL="28575" marR="28575" marT="19050" marB="19050" anchor="ctr"/>
                </a:tc>
                <a:extLst>
                  <a:ext uri="{0D108BD9-81ED-4DB2-BD59-A6C34878D82A}">
                    <a16:rowId xmlns:a16="http://schemas.microsoft.com/office/drawing/2014/main" val="10007"/>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17"/>
        <p:cNvGrpSpPr/>
        <p:nvPr/>
      </p:nvGrpSpPr>
      <p:grpSpPr>
        <a:xfrm>
          <a:off x="0" y="0"/>
          <a:ext cx="0" cy="0"/>
          <a:chOff x="0" y="0"/>
          <a:chExt cx="0" cy="0"/>
        </a:xfrm>
      </p:grpSpPr>
      <p:sp>
        <p:nvSpPr>
          <p:cNvPr id="418" name="Google Shape;418;p3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sp>
        <p:nvSpPr>
          <p:cNvPr id="419" name="Google Shape;419;p35"/>
          <p:cNvSpPr txBox="1"/>
          <p:nvPr/>
        </p:nvSpPr>
        <p:spPr>
          <a:xfrm>
            <a:off x="1899150" y="1174800"/>
            <a:ext cx="53457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a:solidFill>
                  <a:schemeClr val="dk1"/>
                </a:solidFill>
                <a:latin typeface="Verdana"/>
                <a:ea typeface="Verdana"/>
                <a:cs typeface="Verdana"/>
                <a:sym typeface="Verdana"/>
              </a:rPr>
              <a:t>clientBusinessName</a:t>
            </a:r>
            <a:endParaRPr sz="2400" b="1">
              <a:latin typeface="Verdana"/>
              <a:ea typeface="Verdana"/>
              <a:cs typeface="Verdana"/>
              <a:sym typeface="Verdana"/>
            </a:endParaRPr>
          </a:p>
        </p:txBody>
      </p:sp>
      <p:sp>
        <p:nvSpPr>
          <p:cNvPr id="420" name="Google Shape;420;p35"/>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Verdana"/>
                <a:ea typeface="Verdana"/>
                <a:cs typeface="Verdana"/>
                <a:sym typeface="Verdana"/>
              </a:rPr>
              <a:t>Brand Equity Schedule </a:t>
            </a:r>
            <a:endParaRPr sz="2000" b="1">
              <a:solidFill>
                <a:schemeClr val="dk1"/>
              </a:solidFill>
              <a:latin typeface="Verdana"/>
              <a:ea typeface="Verdana"/>
              <a:cs typeface="Verdana"/>
              <a:sym typeface="Verdana"/>
            </a:endParaRPr>
          </a:p>
          <a:p>
            <a:pPr marL="0" lvl="0" indent="0" algn="ctr" rtl="0">
              <a:spcBef>
                <a:spcPts val="0"/>
              </a:spcBef>
              <a:spcAft>
                <a:spcPts val="0"/>
              </a:spcAft>
              <a:buNone/>
            </a:pPr>
            <a:r>
              <a:rPr lang="en" sz="2000" b="1">
                <a:solidFill>
                  <a:schemeClr val="dk1"/>
                </a:solidFill>
                <a:latin typeface="Verdana"/>
                <a:ea typeface="Verdana"/>
                <a:cs typeface="Verdana"/>
                <a:sym typeface="Verdana"/>
              </a:rPr>
              <a:t>Monthly Station Summary</a:t>
            </a:r>
            <a:endParaRPr sz="2000" b="1">
              <a:latin typeface="Verdana"/>
              <a:ea typeface="Verdana"/>
              <a:cs typeface="Verdana"/>
              <a:sym typeface="Verdana"/>
            </a:endParaRPr>
          </a:p>
        </p:txBody>
      </p:sp>
      <p:sp>
        <p:nvSpPr>
          <p:cNvPr id="421" name="Google Shape;421;p35"/>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Market: </a:t>
            </a:r>
            <a:r>
              <a:rPr lang="en">
                <a:solidFill>
                  <a:schemeClr val="dk1"/>
                </a:solidFill>
                <a:latin typeface="Verdana"/>
                <a:ea typeface="Verdana"/>
                <a:cs typeface="Verdana"/>
                <a:sym typeface="Verdana"/>
              </a:rPr>
              <a:t>planACity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Broadcast Monthly Reach: </a:t>
            </a:r>
            <a:r>
              <a:rPr lang="en">
                <a:solidFill>
                  <a:schemeClr val="dk1"/>
                </a:solidFill>
                <a:latin typeface="Verdana"/>
                <a:ea typeface="Verdana"/>
                <a:cs typeface="Verdana"/>
                <a:sym typeface="Verdana"/>
              </a:rPr>
              <a:t>planAReach</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Monthly Broadcast Frequency: </a:t>
            </a:r>
            <a:r>
              <a:rPr lang="en">
                <a:solidFill>
                  <a:schemeClr val="dk1"/>
                </a:solidFill>
                <a:latin typeface="Verdana"/>
                <a:ea typeface="Verdana"/>
                <a:cs typeface="Verdana"/>
                <a:sym typeface="Verdana"/>
              </a:rPr>
              <a:t>planAFrequency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Estimated Monthly Digital Gross Impressions: </a:t>
            </a:r>
            <a:r>
              <a:rPr lang="en">
                <a:solidFill>
                  <a:schemeClr val="dk1"/>
                </a:solidFill>
                <a:latin typeface="Verdana"/>
                <a:ea typeface="Verdana"/>
                <a:cs typeface="Verdana"/>
                <a:sym typeface="Verdana"/>
              </a:rPr>
              <a:t>planADigitalImpressionsMonthly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Monthly Advertising Investment: </a:t>
            </a:r>
            <a:r>
              <a:rPr lang="en">
                <a:solidFill>
                  <a:schemeClr val="dk1"/>
                </a:solidFill>
                <a:latin typeface="Verdana"/>
                <a:ea typeface="Verdana"/>
                <a:cs typeface="Verdana"/>
                <a:sym typeface="Verdana"/>
              </a:rPr>
              <a:t>planAMonthly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Daily Advertising Investment:</a:t>
            </a:r>
            <a:r>
              <a:rPr lang="en">
                <a:solidFill>
                  <a:schemeClr val="dk1"/>
                </a:solidFill>
                <a:latin typeface="Verdana"/>
                <a:ea typeface="Verdana"/>
                <a:cs typeface="Verdana"/>
                <a:sym typeface="Verdana"/>
              </a:rPr>
              <a:t> planADaily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425"/>
        <p:cNvGrpSpPr/>
        <p:nvPr/>
      </p:nvGrpSpPr>
      <p:grpSpPr>
        <a:xfrm>
          <a:off x="0" y="0"/>
          <a:ext cx="0" cy="0"/>
          <a:chOff x="0" y="0"/>
          <a:chExt cx="0" cy="0"/>
        </a:xfrm>
      </p:grpSpPr>
      <p:sp>
        <p:nvSpPr>
          <p:cNvPr id="426" name="Google Shape;426;p3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A</a:t>
            </a:r>
            <a:endParaRPr/>
          </a:p>
        </p:txBody>
      </p:sp>
      <p:sp>
        <p:nvSpPr>
          <p:cNvPr id="427" name="Google Shape;427;p36"/>
          <p:cNvSpPr txBox="1">
            <a:spLocks noGrp="1"/>
          </p:cNvSpPr>
          <p:nvPr>
            <p:ph type="body" idx="2"/>
          </p:nvPr>
        </p:nvSpPr>
        <p:spPr>
          <a:xfrm>
            <a:off x="347472" y="1563624"/>
            <a:ext cx="7205400" cy="4181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Average sale (ticket, transaction, invoice)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Gross profit margin on average sale (sale less closing costs)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Closing or conversion rate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Projected prospect value (=A*B*C)=</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Client base monthly advertising investment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Monthly prospects needed to pay for advertising  investment (=E/D)=</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Monthly # of sales from prospects needed to break even (=F*C)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Gross sales per month needed to break even (=G*A)=</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Number of months to run </a:t>
            </a:r>
            <a:r>
              <a:rPr lang="en" sz="1300" b="1">
                <a:solidFill>
                  <a:schemeClr val="dk1"/>
                </a:solidFill>
              </a:rPr>
              <a:t>in </a:t>
            </a:r>
            <a:r>
              <a:rPr lang="en" sz="1300" b="1">
                <a:solidFill>
                  <a:schemeClr val="dk1"/>
                </a:solidFill>
                <a:latin typeface="Verdana"/>
                <a:ea typeface="Verdana"/>
                <a:cs typeface="Verdana"/>
                <a:sym typeface="Verdana"/>
              </a:rPr>
              <a:t>proposed marketing plan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Additional gross sales per year needed to break even (=H*I)= </a:t>
            </a:r>
            <a:endParaRPr sz="1300" b="1">
              <a:solidFill>
                <a:schemeClr val="dk1"/>
              </a:solidFill>
              <a:latin typeface="Verdana"/>
              <a:ea typeface="Verdana"/>
              <a:cs typeface="Verdana"/>
              <a:sym typeface="Verdana"/>
            </a:endParaRPr>
          </a:p>
        </p:txBody>
      </p:sp>
      <p:sp>
        <p:nvSpPr>
          <p:cNvPr id="428" name="Google Shape;428;p36"/>
          <p:cNvSpPr txBox="1">
            <a:spLocks noGrp="1"/>
          </p:cNvSpPr>
          <p:nvPr>
            <p:ph type="body" idx="2"/>
          </p:nvPr>
        </p:nvSpPr>
        <p:spPr>
          <a:xfrm>
            <a:off x="7554250" y="1566890"/>
            <a:ext cx="1241400" cy="41814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a:solidFill>
                  <a:srgbClr val="000000"/>
                </a:solidFill>
                <a:latin typeface="Verdana"/>
                <a:ea typeface="Verdana"/>
                <a:cs typeface="Verdana"/>
                <a:sym typeface="Verdana"/>
              </a:rPr>
              <a:t>planAAverageSale</a:t>
            </a:r>
            <a:endParaRPr sz="1300" u="sng">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planAGrossMargin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planAClosingPct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planAProspectValue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planAProspectsNeeded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planAProspectSalesNeeded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planAGrossProfitOnSales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planAAdditionalGrossSales</a:t>
            </a:r>
            <a:endParaRPr sz="1300" u="sng">
              <a:solidFill>
                <a:schemeClr val="dk1"/>
              </a:solidFill>
              <a:latin typeface="Verdana"/>
              <a:ea typeface="Verdana"/>
              <a:cs typeface="Verdana"/>
              <a:sym typeface="Verdana"/>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sp>
        <p:nvSpPr>
          <p:cNvPr id="433" name="Google Shape;433;p37"/>
          <p:cNvSpPr txBox="1">
            <a:spLocks noGrp="1"/>
          </p:cNvSpPr>
          <p:nvPr>
            <p:ph type="ctrTitle"/>
          </p:nvPr>
        </p:nvSpPr>
        <p:spPr>
          <a:xfrm>
            <a:off x="520500" y="475500"/>
            <a:ext cx="81030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A</a:t>
            </a:r>
            <a:endParaRPr/>
          </a:p>
        </p:txBody>
      </p:sp>
      <p:sp>
        <p:nvSpPr>
          <p:cNvPr id="434" name="Google Shape;434;p37"/>
          <p:cNvSpPr txBox="1">
            <a:spLocks noGrp="1"/>
          </p:cNvSpPr>
          <p:nvPr>
            <p:ph type="body" idx="2"/>
          </p:nvPr>
        </p:nvSpPr>
        <p:spPr>
          <a:xfrm>
            <a:off x="347472" y="1773936"/>
            <a:ext cx="7205400" cy="3767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gross profit margin on average sale (sale less variable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gross profit per average sale (A*B)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repeat sales per year (per customer/client)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average customer/client value per year (C*D)=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number of years of patronage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lifetime value of one customer/client (E*F)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So if your base monthly advertising investment averages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Then monthly customers/clients needed to break even (H/G)=</a:t>
            </a:r>
            <a:endParaRPr sz="1300" b="1">
              <a:solidFill>
                <a:srgbClr val="000000"/>
              </a:solidFill>
              <a:latin typeface="Verdana"/>
              <a:ea typeface="Verdana"/>
              <a:cs typeface="Verdana"/>
              <a:sym typeface="Verdana"/>
            </a:endParaRPr>
          </a:p>
        </p:txBody>
      </p:sp>
      <p:sp>
        <p:nvSpPr>
          <p:cNvPr id="435" name="Google Shape;435;p37"/>
          <p:cNvSpPr txBox="1">
            <a:spLocks noGrp="1"/>
          </p:cNvSpPr>
          <p:nvPr>
            <p:ph type="body" idx="2"/>
          </p:nvPr>
        </p:nvSpPr>
        <p:spPr>
          <a:xfrm>
            <a:off x="7552950" y="1774200"/>
            <a:ext cx="1253100" cy="3380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a_averageSale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a_grossProfitMargin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a_grossProfitPerSale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a_averageRepeatSales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a_averageCustomerValue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a_yearsOfPatronage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a_lifetimeValuePerCustomer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a_prospectsNeededToBreakEven</a:t>
            </a:r>
            <a:endParaRPr sz="1300">
              <a:solidFill>
                <a:srgbClr val="000000"/>
              </a:solidFill>
              <a:latin typeface="Verdana"/>
              <a:ea typeface="Verdana"/>
              <a:cs typeface="Verdana"/>
              <a:sym typeface="Verdana"/>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439"/>
        <p:cNvGrpSpPr/>
        <p:nvPr/>
      </p:nvGrpSpPr>
      <p:grpSpPr>
        <a:xfrm>
          <a:off x="0" y="0"/>
          <a:ext cx="0" cy="0"/>
          <a:chOff x="0" y="0"/>
          <a:chExt cx="0" cy="0"/>
        </a:xfrm>
      </p:grpSpPr>
      <p:sp>
        <p:nvSpPr>
          <p:cNvPr id="440" name="Google Shape;440;p3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ROI Calculator - Plan A</a:t>
            </a:r>
            <a:endParaRPr/>
          </a:p>
        </p:txBody>
      </p:sp>
      <p:sp>
        <p:nvSpPr>
          <p:cNvPr id="441" name="Google Shape;441;p38"/>
          <p:cNvSpPr txBox="1">
            <a:spLocks noGrp="1"/>
          </p:cNvSpPr>
          <p:nvPr>
            <p:ph type="body" idx="2"/>
          </p:nvPr>
        </p:nvSpPr>
        <p:spPr>
          <a:xfrm>
            <a:off x="768096" y="1453896"/>
            <a:ext cx="6355200" cy="51939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Digital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Thousand (CPM)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Impressions (=A/B*1,000)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Click Through Rate (.01%, .1%,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clicks (=C*D)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Click (=A/E)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Sales Conversion Percentage (2%, 10%, etc)=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Number of Conversions (E*G)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Conversion (A/H)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Gross Profit Per Conversion ($100, $1,000,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Gross </a:t>
            </a:r>
            <a:r>
              <a:rPr lang="en" sz="1300" b="1">
                <a:solidFill>
                  <a:srgbClr val="000000"/>
                </a:solidFill>
              </a:rPr>
              <a:t>P</a:t>
            </a:r>
            <a:r>
              <a:rPr lang="en" sz="1300" b="1">
                <a:solidFill>
                  <a:srgbClr val="000000"/>
                </a:solidFill>
                <a:latin typeface="Verdana"/>
                <a:ea typeface="Verdana"/>
                <a:cs typeface="Verdana"/>
                <a:sym typeface="Verdana"/>
              </a:rPr>
              <a:t>rofit Generated from all Conversions (H*J)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Return on Investment (K-A)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 Monthly Return on Investment (L/A) = </a:t>
            </a:r>
            <a:endParaRPr sz="1300" b="1">
              <a:solidFill>
                <a:srgbClr val="000000"/>
              </a:solidFill>
              <a:latin typeface="Verdana"/>
              <a:ea typeface="Verdana"/>
              <a:cs typeface="Verdana"/>
              <a:sym typeface="Verdana"/>
            </a:endParaRPr>
          </a:p>
        </p:txBody>
      </p:sp>
      <p:sp>
        <p:nvSpPr>
          <p:cNvPr id="442" name="Google Shape;442;p38"/>
          <p:cNvSpPr txBox="1">
            <a:spLocks noGrp="1"/>
          </p:cNvSpPr>
          <p:nvPr>
            <p:ph type="body" idx="2"/>
          </p:nvPr>
        </p:nvSpPr>
        <p:spPr>
          <a:xfrm>
            <a:off x="7127862" y="1453115"/>
            <a:ext cx="1243500" cy="5192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planAMonthlyDigitalInvestment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planACostPerThousand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planAClosingPctNumber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planAClickThroughRate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planACostPerClicks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planASalesConversionPercentage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planAMonthlyConversions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planACostPerConversion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planAProjectedGrossProfit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planAMonthlyGrossProfit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planAMonthlyROID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planAMonthlyROIP</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a:solidFill>
                <a:srgbClr val="000000"/>
              </a:solidFill>
              <a:latin typeface="Verdana"/>
              <a:ea typeface="Verdana"/>
              <a:cs typeface="Verdana"/>
              <a:sym typeface="Verdana"/>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446"/>
        <p:cNvGrpSpPr/>
        <p:nvPr/>
      </p:nvGrpSpPr>
      <p:grpSpPr>
        <a:xfrm>
          <a:off x="0" y="0"/>
          <a:ext cx="0" cy="0"/>
          <a:chOff x="0" y="0"/>
          <a:chExt cx="0" cy="0"/>
        </a:xfrm>
      </p:grpSpPr>
      <p:sp>
        <p:nvSpPr>
          <p:cNvPr id="447" name="Google Shape;447;p39"/>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Proposed Schedule - Plan B</a:t>
            </a:r>
            <a:endParaRPr/>
          </a:p>
        </p:txBody>
      </p:sp>
      <p:sp>
        <p:nvSpPr>
          <p:cNvPr id="448" name="Google Shape;448;p39"/>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a:t>Budget Breakout by Month (For Next 12 Months)</a:t>
            </a:r>
            <a:endParaRPr sz="2100"/>
          </a:p>
          <a:p>
            <a:pPr marL="0" lvl="0" indent="0" algn="ctr" rtl="0">
              <a:spcBef>
                <a:spcPts val="0"/>
              </a:spcBef>
              <a:spcAft>
                <a:spcPts val="0"/>
              </a:spcAft>
              <a:buNone/>
            </a:pPr>
            <a:r>
              <a:rPr lang="en" sz="2100"/>
              <a:t>Proposed Media Plan: station</a:t>
            </a:r>
            <a:endParaRPr sz="2100"/>
          </a:p>
        </p:txBody>
      </p:sp>
      <p:pic>
        <p:nvPicPr>
          <p:cNvPr id="449" name="Google Shape;449;p39"/>
          <p:cNvPicPr preferRelativeResize="0"/>
          <p:nvPr/>
        </p:nvPicPr>
        <p:blipFill>
          <a:blip r:embed="rId3">
            <a:alphaModFix/>
          </a:blip>
          <a:stretch>
            <a:fillRect/>
          </a:stretch>
        </p:blipFill>
        <p:spPr>
          <a:xfrm>
            <a:off x="841248" y="2082272"/>
            <a:ext cx="7461504" cy="4613697"/>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53"/>
        <p:cNvGrpSpPr/>
        <p:nvPr/>
      </p:nvGrpSpPr>
      <p:grpSpPr>
        <a:xfrm>
          <a:off x="0" y="0"/>
          <a:ext cx="0" cy="0"/>
          <a:chOff x="0" y="0"/>
          <a:chExt cx="0" cy="0"/>
        </a:xfrm>
      </p:grpSpPr>
      <p:sp>
        <p:nvSpPr>
          <p:cNvPr id="454" name="Google Shape;454;p4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graphicFrame>
        <p:nvGraphicFramePr>
          <p:cNvPr id="455" name="Google Shape;455;p40"/>
          <p:cNvGraphicFramePr/>
          <p:nvPr/>
        </p:nvGraphicFramePr>
        <p:xfrm>
          <a:off x="457200" y="1174800"/>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7:00pmStation	Days	DayPart	Weekly Commercials		Branding 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6:00am - 7:00pm	15		#Week/Months: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7:00pm - 12mid	5		1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6:00am - 7:00pm	15		Base Investment: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7:00pm - 12mid	5		$1,500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6:00am - 7:00pm	15		Total # of Commercials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7:00pm - 12mid	5		60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6" name="Google Shape;456;p40"/>
          <p:cNvGraphicFramePr/>
          <p:nvPr/>
        </p:nvGraphicFramePr>
        <p:xfrm>
          <a:off x="457200" y="3015875"/>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120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7" name="Google Shape;457;p40"/>
          <p:cNvGraphicFramePr/>
          <p:nvPr/>
        </p:nvGraphicFramePr>
        <p:xfrm>
          <a:off x="457200" y="4856950"/>
          <a:ext cx="8229575" cy="186118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145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3524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Average Spike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6"/>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61"/>
        <p:cNvGrpSpPr/>
        <p:nvPr/>
      </p:nvGrpSpPr>
      <p:grpSpPr>
        <a:xfrm>
          <a:off x="0" y="0"/>
          <a:ext cx="0" cy="0"/>
          <a:chOff x="0" y="0"/>
          <a:chExt cx="0" cy="0"/>
        </a:xfrm>
      </p:grpSpPr>
      <p:sp>
        <p:nvSpPr>
          <p:cNvPr id="462" name="Google Shape;462;p4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BT</a:t>
            </a:r>
            <a:endParaRPr/>
          </a:p>
        </p:txBody>
      </p:sp>
      <p:graphicFrame>
        <p:nvGraphicFramePr>
          <p:cNvPr id="463" name="Google Shape;463;p41"/>
          <p:cNvGraphicFramePr/>
          <p:nvPr/>
        </p:nvGraphicFramePr>
        <p:xfrm>
          <a:off x="459300" y="1280625"/>
          <a:ext cx="8277250" cy="2866455"/>
        </p:xfrm>
        <a:graphic>
          <a:graphicData uri="http://schemas.openxmlformats.org/drawingml/2006/table">
            <a:tbl>
              <a:tblPr>
                <a:noFill/>
                <a:tableStyleId>{CFB75FC7-DD7D-40D8-B2B2-EE4B611A8D2E}</a:tableStyleId>
              </a:tblPr>
              <a:tblGrid>
                <a:gridCol w="900675">
                  <a:extLst>
                    <a:ext uri="{9D8B030D-6E8A-4147-A177-3AD203B41FA5}">
                      <a16:colId xmlns:a16="http://schemas.microsoft.com/office/drawing/2014/main" val="20000"/>
                    </a:ext>
                  </a:extLst>
                </a:gridCol>
                <a:gridCol w="900675">
                  <a:extLst>
                    <a:ext uri="{9D8B030D-6E8A-4147-A177-3AD203B41FA5}">
                      <a16:colId xmlns:a16="http://schemas.microsoft.com/office/drawing/2014/main" val="20001"/>
                    </a:ext>
                  </a:extLst>
                </a:gridCol>
                <a:gridCol w="1540175">
                  <a:extLst>
                    <a:ext uri="{9D8B030D-6E8A-4147-A177-3AD203B41FA5}">
                      <a16:colId xmlns:a16="http://schemas.microsoft.com/office/drawing/2014/main" val="20002"/>
                    </a:ext>
                  </a:extLst>
                </a:gridCol>
                <a:gridCol w="2215675">
                  <a:extLst>
                    <a:ext uri="{9D8B030D-6E8A-4147-A177-3AD203B41FA5}">
                      <a16:colId xmlns:a16="http://schemas.microsoft.com/office/drawing/2014/main" val="20003"/>
                    </a:ext>
                  </a:extLst>
                </a:gridCol>
                <a:gridCol w="918700">
                  <a:extLst>
                    <a:ext uri="{9D8B030D-6E8A-4147-A177-3AD203B41FA5}">
                      <a16:colId xmlns:a16="http://schemas.microsoft.com/office/drawing/2014/main" val="20004"/>
                    </a:ext>
                  </a:extLst>
                </a:gridCol>
                <a:gridCol w="900675">
                  <a:extLst>
                    <a:ext uri="{9D8B030D-6E8A-4147-A177-3AD203B41FA5}">
                      <a16:colId xmlns:a16="http://schemas.microsoft.com/office/drawing/2014/main" val="20005"/>
                    </a:ext>
                  </a:extLst>
                </a:gridCol>
                <a:gridCol w="900675">
                  <a:extLst>
                    <a:ext uri="{9D8B030D-6E8A-4147-A177-3AD203B41FA5}">
                      <a16:colId xmlns:a16="http://schemas.microsoft.com/office/drawing/2014/main" val="20006"/>
                    </a:ext>
                  </a:extLst>
                </a:gridCol>
              </a:tblGrid>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91425" marR="9142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0"/>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r h="5048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5"/>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67"/>
        <p:cNvGrpSpPr/>
        <p:nvPr/>
      </p:nvGrpSpPr>
      <p:grpSpPr>
        <a:xfrm>
          <a:off x="0" y="0"/>
          <a:ext cx="0" cy="0"/>
          <a:chOff x="0" y="0"/>
          <a:chExt cx="0" cy="0"/>
        </a:xfrm>
      </p:grpSpPr>
      <p:sp>
        <p:nvSpPr>
          <p:cNvPr id="468" name="Google Shape;468;p4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sp>
        <p:nvSpPr>
          <p:cNvPr id="469" name="Google Shape;469;p42"/>
          <p:cNvSpPr txBox="1"/>
          <p:nvPr/>
        </p:nvSpPr>
        <p:spPr>
          <a:xfrm>
            <a:off x="2257950" y="1174800"/>
            <a:ext cx="46281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a:solidFill>
                  <a:schemeClr val="dk1"/>
                </a:solidFill>
                <a:latin typeface="Verdana"/>
                <a:ea typeface="Verdana"/>
                <a:cs typeface="Verdana"/>
                <a:sym typeface="Verdana"/>
              </a:rPr>
              <a:t>clientBusinessName</a:t>
            </a:r>
            <a:endParaRPr sz="2400" b="1">
              <a:latin typeface="Verdana"/>
              <a:ea typeface="Verdana"/>
              <a:cs typeface="Verdana"/>
              <a:sym typeface="Verdana"/>
            </a:endParaRPr>
          </a:p>
        </p:txBody>
      </p:sp>
      <p:sp>
        <p:nvSpPr>
          <p:cNvPr id="470" name="Google Shape;470;p42"/>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Verdana"/>
                <a:ea typeface="Verdana"/>
                <a:cs typeface="Verdana"/>
                <a:sym typeface="Verdana"/>
              </a:rPr>
              <a:t>Brand Equity Schedule </a:t>
            </a:r>
            <a:endParaRPr sz="2000" b="1">
              <a:solidFill>
                <a:schemeClr val="dk1"/>
              </a:solidFill>
              <a:latin typeface="Verdana"/>
              <a:ea typeface="Verdana"/>
              <a:cs typeface="Verdana"/>
              <a:sym typeface="Verdana"/>
            </a:endParaRPr>
          </a:p>
          <a:p>
            <a:pPr marL="0" lvl="0" indent="0" algn="ctr" rtl="0">
              <a:spcBef>
                <a:spcPts val="0"/>
              </a:spcBef>
              <a:spcAft>
                <a:spcPts val="0"/>
              </a:spcAft>
              <a:buNone/>
            </a:pPr>
            <a:r>
              <a:rPr lang="en" sz="2000" b="1">
                <a:solidFill>
                  <a:schemeClr val="dk1"/>
                </a:solidFill>
                <a:latin typeface="Verdana"/>
                <a:ea typeface="Verdana"/>
                <a:cs typeface="Verdana"/>
                <a:sym typeface="Verdana"/>
              </a:rPr>
              <a:t>Monthly Station Summary</a:t>
            </a:r>
            <a:endParaRPr sz="2000" b="1">
              <a:latin typeface="Verdana"/>
              <a:ea typeface="Verdana"/>
              <a:cs typeface="Verdana"/>
              <a:sym typeface="Verdana"/>
            </a:endParaRPr>
          </a:p>
        </p:txBody>
      </p:sp>
      <p:sp>
        <p:nvSpPr>
          <p:cNvPr id="471" name="Google Shape;471;p42"/>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Market: </a:t>
            </a:r>
            <a:r>
              <a:rPr lang="en">
                <a:solidFill>
                  <a:schemeClr val="dk1"/>
                </a:solidFill>
                <a:latin typeface="Verdana"/>
                <a:ea typeface="Verdana"/>
                <a:cs typeface="Verdana"/>
                <a:sym typeface="Verdana"/>
              </a:rPr>
              <a:t>planBCity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Broadcast Monthly Reach: </a:t>
            </a:r>
            <a:r>
              <a:rPr lang="en">
                <a:solidFill>
                  <a:schemeClr val="dk1"/>
                </a:solidFill>
                <a:latin typeface="Verdana"/>
                <a:ea typeface="Verdana"/>
                <a:cs typeface="Verdana"/>
                <a:sym typeface="Verdana"/>
              </a:rPr>
              <a:t>planBReach</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Monthly Broadcast Frequency: </a:t>
            </a:r>
            <a:r>
              <a:rPr lang="en">
                <a:solidFill>
                  <a:schemeClr val="dk1"/>
                </a:solidFill>
                <a:latin typeface="Verdana"/>
                <a:ea typeface="Verdana"/>
                <a:cs typeface="Verdana"/>
                <a:sym typeface="Verdana"/>
              </a:rPr>
              <a:t>planBFrequency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Estimated Monthly Digital Gross Impressions: </a:t>
            </a:r>
            <a:r>
              <a:rPr lang="en">
                <a:solidFill>
                  <a:schemeClr val="dk1"/>
                </a:solidFill>
                <a:latin typeface="Verdana"/>
                <a:ea typeface="Verdana"/>
                <a:cs typeface="Verdana"/>
                <a:sym typeface="Verdana"/>
              </a:rPr>
              <a:t>planBDigitalImpressionsMonthly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Monthly Advertising Investment: </a:t>
            </a:r>
            <a:r>
              <a:rPr lang="en">
                <a:solidFill>
                  <a:schemeClr val="dk1"/>
                </a:solidFill>
                <a:latin typeface="Verdana"/>
                <a:ea typeface="Verdana"/>
                <a:cs typeface="Verdana"/>
                <a:sym typeface="Verdana"/>
              </a:rPr>
              <a:t>planBMonthly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Daily Advertising Investment:</a:t>
            </a:r>
            <a:r>
              <a:rPr lang="en">
                <a:solidFill>
                  <a:schemeClr val="dk1"/>
                </a:solidFill>
                <a:latin typeface="Verdana"/>
                <a:ea typeface="Verdana"/>
                <a:cs typeface="Verdana"/>
                <a:sym typeface="Verdana"/>
              </a:rPr>
              <a:t> planBDaily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75"/>
        <p:cNvGrpSpPr/>
        <p:nvPr/>
      </p:nvGrpSpPr>
      <p:grpSpPr>
        <a:xfrm>
          <a:off x="0" y="0"/>
          <a:ext cx="0" cy="0"/>
          <a:chOff x="0" y="0"/>
          <a:chExt cx="0" cy="0"/>
        </a:xfrm>
      </p:grpSpPr>
      <p:sp>
        <p:nvSpPr>
          <p:cNvPr id="476" name="Google Shape;476;p4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B</a:t>
            </a:r>
            <a:endParaRPr/>
          </a:p>
        </p:txBody>
      </p:sp>
      <p:sp>
        <p:nvSpPr>
          <p:cNvPr id="477" name="Google Shape;477;p43"/>
          <p:cNvSpPr txBox="1">
            <a:spLocks noGrp="1"/>
          </p:cNvSpPr>
          <p:nvPr>
            <p:ph type="body" idx="2"/>
          </p:nvPr>
        </p:nvSpPr>
        <p:spPr>
          <a:xfrm>
            <a:off x="7552960" y="1563625"/>
            <a:ext cx="3399900" cy="4178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a:solidFill>
                  <a:srgbClr val="000000"/>
                </a:solidFill>
                <a:latin typeface="Verdana"/>
                <a:ea typeface="Verdana"/>
                <a:cs typeface="Verdana"/>
                <a:sym typeface="Verdana"/>
              </a:rPr>
              <a:t>planBAverageSale</a:t>
            </a:r>
            <a:endParaRPr sz="1300" u="sng">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planBClosingPct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planBProspectSalesNeeded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planBGrossProfitOnSales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planBAdditionalGrossSales</a:t>
            </a:r>
            <a:endParaRPr sz="1300" u="sng">
              <a:solidFill>
                <a:schemeClr val="dk1"/>
              </a:solidFill>
              <a:latin typeface="Verdana"/>
              <a:ea typeface="Verdana"/>
              <a:cs typeface="Verdana"/>
              <a:sym typeface="Verdana"/>
            </a:endParaRPr>
          </a:p>
        </p:txBody>
      </p:sp>
      <p:sp>
        <p:nvSpPr>
          <p:cNvPr id="478" name="Google Shape;478;p43"/>
          <p:cNvSpPr txBox="1"/>
          <p:nvPr/>
        </p:nvSpPr>
        <p:spPr>
          <a:xfrm>
            <a:off x="347250" y="1566890"/>
            <a:ext cx="7206000" cy="4181400"/>
          </a:xfrm>
          <a:prstGeom prst="rect">
            <a:avLst/>
          </a:prstGeom>
          <a:noFill/>
          <a:ln>
            <a:noFill/>
          </a:ln>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profit margin on average sale (sale less closing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Closing or conversion rate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prospect value (=A*B*C)=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Client base monthly advertising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prospects needed to pay for advertising  investment (=E/D)=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of sales from prospects needed to break even (=F*C)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sales per month needed to break even (=G*A)=</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Number of months to run </a:t>
            </a:r>
            <a:r>
              <a:rPr lang="en" sz="1300" b="1">
                <a:latin typeface="Verdana"/>
                <a:ea typeface="Verdana"/>
                <a:cs typeface="Verdana"/>
                <a:sym typeface="Verdana"/>
              </a:rPr>
              <a:t>in </a:t>
            </a:r>
            <a:r>
              <a:rPr lang="en" sz="1300" b="1">
                <a:solidFill>
                  <a:srgbClr val="000000"/>
                </a:solidFill>
                <a:latin typeface="Verdana"/>
                <a:ea typeface="Verdana"/>
                <a:cs typeface="Verdana"/>
                <a:sym typeface="Verdana"/>
              </a:rPr>
              <a:t>proposed marketing plan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Additional gross sales per year needed to break even (=H*I)= </a:t>
            </a:r>
            <a:endParaRPr sz="1300" b="1">
              <a:solidFill>
                <a:srgbClr val="000000"/>
              </a:solidFill>
              <a:latin typeface="Verdana"/>
              <a:ea typeface="Verdana"/>
              <a:cs typeface="Verdana"/>
              <a:sym typeface="Verdana"/>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44"/>
          <p:cNvSpPr txBox="1">
            <a:spLocks noGrp="1"/>
          </p:cNvSpPr>
          <p:nvPr>
            <p:ph type="ctrTitle"/>
          </p:nvPr>
        </p:nvSpPr>
        <p:spPr>
          <a:xfrm>
            <a:off x="346800" y="475500"/>
            <a:ext cx="84504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B</a:t>
            </a:r>
            <a:endParaRPr/>
          </a:p>
        </p:txBody>
      </p:sp>
      <p:sp>
        <p:nvSpPr>
          <p:cNvPr id="484" name="Google Shape;484;p44"/>
          <p:cNvSpPr txBox="1">
            <a:spLocks noGrp="1"/>
          </p:cNvSpPr>
          <p:nvPr>
            <p:ph type="body" idx="2"/>
          </p:nvPr>
        </p:nvSpPr>
        <p:spPr>
          <a:xfrm>
            <a:off x="7552950" y="1773925"/>
            <a:ext cx="3638400" cy="37668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b_grossProfitMargin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b_grossProfitPerSale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b_averageRepeatSales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b_averageCustomerValue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b_yearsOfPatronage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b_lifetimeValuePerCustomer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b_prospectsNeededToBreakEven</a:t>
            </a:r>
            <a:endParaRPr sz="1300">
              <a:solidFill>
                <a:srgbClr val="000000"/>
              </a:solidFill>
              <a:latin typeface="Verdana"/>
              <a:ea typeface="Verdana"/>
              <a:cs typeface="Verdana"/>
              <a:sym typeface="Verdana"/>
            </a:endParaRPr>
          </a:p>
        </p:txBody>
      </p:sp>
      <p:sp>
        <p:nvSpPr>
          <p:cNvPr id="485" name="Google Shape;485;p44"/>
          <p:cNvSpPr txBox="1">
            <a:spLocks noGrp="1"/>
          </p:cNvSpPr>
          <p:nvPr>
            <p:ph type="body" idx="2"/>
          </p:nvPr>
        </p:nvSpPr>
        <p:spPr>
          <a:xfrm>
            <a:off x="347550" y="1774199"/>
            <a:ext cx="7205400" cy="37668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gross profit margin on average sale (sale less variable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gross profit per average sale (A*B)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repeat sales per year (per customer/client)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average customer/client value per year (C*D)=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number of years of patronage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lifetime value of one customer/client (E*F)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So if your base monthly advertising investment averages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Then monthly customers/clients needed to break even (H/G)=</a:t>
            </a:r>
            <a:endParaRPr sz="1300" b="1">
              <a:solidFill>
                <a:srgbClr val="000000"/>
              </a:solidFill>
              <a:latin typeface="Verdana"/>
              <a:ea typeface="Verdana"/>
              <a:cs typeface="Verdana"/>
              <a:sym typeface="Verdana"/>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89"/>
        <p:cNvGrpSpPr/>
        <p:nvPr/>
      </p:nvGrpSpPr>
      <p:grpSpPr>
        <a:xfrm>
          <a:off x="0" y="0"/>
          <a:ext cx="0" cy="0"/>
          <a:chOff x="0" y="0"/>
          <a:chExt cx="0" cy="0"/>
        </a:xfrm>
      </p:grpSpPr>
      <p:sp>
        <p:nvSpPr>
          <p:cNvPr id="490" name="Google Shape;490;p4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ROI Calculator - Plan B</a:t>
            </a:r>
            <a:endParaRPr/>
          </a:p>
        </p:txBody>
      </p:sp>
      <p:sp>
        <p:nvSpPr>
          <p:cNvPr id="491" name="Google Shape;491;p45"/>
          <p:cNvSpPr txBox="1">
            <a:spLocks noGrp="1"/>
          </p:cNvSpPr>
          <p:nvPr>
            <p:ph type="body" idx="2"/>
          </p:nvPr>
        </p:nvSpPr>
        <p:spPr>
          <a:xfrm>
            <a:off x="7132320" y="1453896"/>
            <a:ext cx="1243500" cy="51939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planBMonthlyDigitalInvestment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planBCostPerThousand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planBClosingPctNumber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planBClickThroughRate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planBCostPerClicks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planBSalesConversionPercentage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planBMonthlyConversions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planBCostPerConversion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planBProjectedGrossProfit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planBMonthlyROID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planBMonthlyROIP</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a:solidFill>
                <a:srgbClr val="000000"/>
              </a:solidFill>
              <a:latin typeface="Verdana"/>
              <a:ea typeface="Verdana"/>
              <a:cs typeface="Verdana"/>
              <a:sym typeface="Verdana"/>
            </a:endParaRPr>
          </a:p>
        </p:txBody>
      </p:sp>
      <p:sp>
        <p:nvSpPr>
          <p:cNvPr id="492" name="Google Shape;492;p45"/>
          <p:cNvSpPr txBox="1">
            <a:spLocks noGrp="1"/>
          </p:cNvSpPr>
          <p:nvPr>
            <p:ph type="body" idx="2"/>
          </p:nvPr>
        </p:nvSpPr>
        <p:spPr>
          <a:xfrm>
            <a:off x="772638" y="1453125"/>
            <a:ext cx="6355200" cy="51927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Digital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Thousand (CPM)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Impressions (=A/B*1,000)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Click Through Rate (.01%, .1%,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clicks (=C*D)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Click (=A/E)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Sales Conversion Percentage (2%, 10%, etc)=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Number of Conversions (E*G)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Conversion (A/H)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Gross Profit Per Conversion ($100, $1,000,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Gross </a:t>
            </a:r>
            <a:r>
              <a:rPr lang="en" sz="1300" b="1">
                <a:solidFill>
                  <a:srgbClr val="000000"/>
                </a:solidFill>
              </a:rPr>
              <a:t>P</a:t>
            </a:r>
            <a:r>
              <a:rPr lang="en" sz="1300" b="1">
                <a:solidFill>
                  <a:srgbClr val="000000"/>
                </a:solidFill>
                <a:latin typeface="Verdana"/>
                <a:ea typeface="Verdana"/>
                <a:cs typeface="Verdana"/>
                <a:sym typeface="Verdana"/>
              </a:rPr>
              <a:t>rofit Generated from all Conversions (H*J)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Return on Investment (K-A)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 Monthly Return on Investment (L/A) = </a:t>
            </a:r>
            <a:endParaRPr sz="1300" b="1">
              <a:solidFill>
                <a:srgbClr val="000000"/>
              </a:solidFill>
              <a:latin typeface="Verdana"/>
              <a:ea typeface="Verdana"/>
              <a:cs typeface="Verdana"/>
              <a:sym typeface="Verdana"/>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4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Plan A</a:t>
            </a:r>
            <a:endParaRPr/>
          </a:p>
        </p:txBody>
      </p:sp>
      <p:sp>
        <p:nvSpPr>
          <p:cNvPr id="498" name="Google Shape;498;p46"/>
          <p:cNvSpPr txBox="1">
            <a:spLocks noGrp="1"/>
          </p:cNvSpPr>
          <p:nvPr>
            <p:ph type="body" idx="1"/>
          </p:nvPr>
        </p:nvSpPr>
        <p:spPr>
          <a:xfrm>
            <a:off x="489950" y="1170432"/>
            <a:ext cx="8181900" cy="16239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For the benefit of the client, </a:t>
            </a:r>
            <a:r>
              <a:rPr lang="en" sz="1150" b="1">
                <a:solidFill>
                  <a:srgbClr val="000000"/>
                </a:solidFill>
                <a:latin typeface="Verdana"/>
                <a:ea typeface="Verdana"/>
                <a:cs typeface="Verdana"/>
                <a:sym typeface="Verdana"/>
              </a:rPr>
              <a:t>station </a:t>
            </a:r>
            <a:r>
              <a:rPr lang="en" sz="1150">
                <a:solidFill>
                  <a:srgbClr val="000000"/>
                </a:solidFill>
                <a:latin typeface="Verdana"/>
                <a:ea typeface="Verdana"/>
                <a:cs typeface="Verdana"/>
                <a:sym typeface="Verdana"/>
              </a:rPr>
              <a:t>agrees to develop a marketing strategy to help:</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Initiate Cause Marketing Program</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Tech Recruitment</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Expand Target Consumers (by age, sex, geography)</a:t>
            </a:r>
            <a:endParaRPr sz="115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In return for fulfilling stated goals </a:t>
            </a:r>
            <a:r>
              <a:rPr lang="en">
                <a:solidFill>
                  <a:srgbClr val="000000"/>
                </a:solidFill>
              </a:rPr>
              <a:t>clientBusinessName</a:t>
            </a:r>
            <a:r>
              <a:rPr lang="en" sz="1150">
                <a:solidFill>
                  <a:srgbClr val="000000"/>
                </a:solidFill>
                <a:latin typeface="Verdana"/>
                <a:ea typeface="Verdana"/>
                <a:cs typeface="Verdana"/>
                <a:sym typeface="Verdana"/>
              </a:rPr>
              <a:t> agrees to invest in the following long-term plan:</a:t>
            </a:r>
            <a:endParaRPr sz="1150">
              <a:solidFill>
                <a:srgbClr val="000000"/>
              </a:solidFill>
              <a:latin typeface="Verdana"/>
              <a:ea typeface="Verdana"/>
              <a:cs typeface="Verdana"/>
              <a:sym typeface="Verdana"/>
            </a:endParaRPr>
          </a:p>
        </p:txBody>
      </p:sp>
      <p:sp>
        <p:nvSpPr>
          <p:cNvPr id="499" name="Google Shape;499;p46"/>
          <p:cNvSpPr txBox="1">
            <a:spLocks noGrp="1"/>
          </p:cNvSpPr>
          <p:nvPr>
            <p:ph type="body" idx="1"/>
          </p:nvPr>
        </p:nvSpPr>
        <p:spPr>
          <a:xfrm>
            <a:off x="356838" y="4184975"/>
            <a:ext cx="8430300" cy="6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800" b="1">
                <a:solidFill>
                  <a:schemeClr val="dk1"/>
                </a:solidFill>
                <a:latin typeface="Verdana"/>
                <a:ea typeface="Verdana"/>
                <a:cs typeface="Verdana"/>
                <a:sym typeface="Verdana"/>
              </a:rPr>
              <a:t>Client may cancel after 13 weeks from schedule start date with two weeks’ notice and no short rate. This offer is good for 10 business days from the date of presentation. In accordance with Paragraphs 49 and 50 of United States Federal Communications Commission Report and Order No. FCC 07-217, this station will not discriminate in any contract for advertising on the basis of race or ethnicity, and all such contracts will be evaluated, accepted, negotiated and completed without regard to race or ethnicity</a:t>
            </a:r>
            <a:endParaRPr sz="1050" b="1">
              <a:solidFill>
                <a:srgbClr val="000000"/>
              </a:solidFill>
              <a:latin typeface="Verdana"/>
              <a:ea typeface="Verdana"/>
              <a:cs typeface="Verdana"/>
              <a:sym typeface="Verdana"/>
            </a:endParaRPr>
          </a:p>
        </p:txBody>
      </p:sp>
      <p:sp>
        <p:nvSpPr>
          <p:cNvPr id="500" name="Google Shape;500;p46"/>
          <p:cNvSpPr txBox="1">
            <a:spLocks noGrp="1"/>
          </p:cNvSpPr>
          <p:nvPr>
            <p:ph type="body" idx="1"/>
          </p:nvPr>
        </p:nvSpPr>
        <p:spPr>
          <a:xfrm>
            <a:off x="356563" y="4799225"/>
            <a:ext cx="23376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b="1" u="sng">
                <a:solidFill>
                  <a:srgbClr val="000000"/>
                </a:solidFill>
                <a:latin typeface="Verdana"/>
                <a:ea typeface="Verdana"/>
                <a:cs typeface="Verdana"/>
                <a:sym typeface="Verdana"/>
              </a:rPr>
              <a:t>Analysis of Schedule:</a:t>
            </a:r>
            <a:endParaRPr sz="1400" b="1" u="sng">
              <a:solidFill>
                <a:srgbClr val="000000"/>
              </a:solidFill>
              <a:latin typeface="Verdana"/>
              <a:ea typeface="Verdana"/>
              <a:cs typeface="Verdana"/>
              <a:sym typeface="Verdana"/>
            </a:endParaRPr>
          </a:p>
        </p:txBody>
      </p:sp>
      <p:sp>
        <p:nvSpPr>
          <p:cNvPr id="501" name="Google Shape;501;p46"/>
          <p:cNvSpPr txBox="1">
            <a:spLocks noGrp="1"/>
          </p:cNvSpPr>
          <p:nvPr>
            <p:ph type="body" idx="1"/>
          </p:nvPr>
        </p:nvSpPr>
        <p:spPr>
          <a:xfrm>
            <a:off x="356563" y="51661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Monthly Client Investment:</a:t>
            </a:r>
            <a:r>
              <a:rPr lang="en" sz="1150">
                <a:solidFill>
                  <a:srgbClr val="000000"/>
                </a:solidFill>
                <a:latin typeface="Verdana"/>
                <a:ea typeface="Verdana"/>
                <a:cs typeface="Verdana"/>
                <a:sym typeface="Verdana"/>
              </a:rPr>
              <a:t> $3</a:t>
            </a:r>
            <a:endParaRPr sz="1150">
              <a:solidFill>
                <a:srgbClr val="000000"/>
              </a:solidFill>
              <a:latin typeface="Verdana"/>
              <a:ea typeface="Verdana"/>
              <a:cs typeface="Verdana"/>
              <a:sym typeface="Verdana"/>
            </a:endParaRPr>
          </a:p>
        </p:txBody>
      </p:sp>
      <p:sp>
        <p:nvSpPr>
          <p:cNvPr id="502" name="Google Shape;502;p46"/>
          <p:cNvSpPr txBox="1">
            <a:spLocks noGrp="1"/>
          </p:cNvSpPr>
          <p:nvPr>
            <p:ph type="body" idx="1"/>
          </p:nvPr>
        </p:nvSpPr>
        <p:spPr>
          <a:xfrm>
            <a:off x="356563" y="55330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Daily Client Investment:</a:t>
            </a:r>
            <a:r>
              <a:rPr lang="en" sz="1150">
                <a:solidFill>
                  <a:srgbClr val="000000"/>
                </a:solidFill>
                <a:latin typeface="Verdana"/>
                <a:ea typeface="Verdana"/>
                <a:cs typeface="Verdana"/>
                <a:sym typeface="Verdana"/>
              </a:rPr>
              <a:t> $0</a:t>
            </a:r>
            <a:endParaRPr sz="1150">
              <a:solidFill>
                <a:srgbClr val="000000"/>
              </a:solidFill>
              <a:latin typeface="Verdana"/>
              <a:ea typeface="Verdana"/>
              <a:cs typeface="Verdana"/>
              <a:sym typeface="Verdana"/>
            </a:endParaRPr>
          </a:p>
        </p:txBody>
      </p:sp>
      <p:sp>
        <p:nvSpPr>
          <p:cNvPr id="503" name="Google Shape;503;p46"/>
          <p:cNvSpPr txBox="1">
            <a:spLocks noGrp="1"/>
          </p:cNvSpPr>
          <p:nvPr>
            <p:ph type="body" idx="1"/>
          </p:nvPr>
        </p:nvSpPr>
        <p:spPr>
          <a:xfrm>
            <a:off x="2416613" y="5914100"/>
            <a:ext cx="4292400" cy="366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a:solidFill>
                  <a:srgbClr val="000000"/>
                </a:solidFill>
                <a:latin typeface="Verdana"/>
                <a:ea typeface="Verdana"/>
                <a:cs typeface="Verdana"/>
                <a:sym typeface="Verdana"/>
              </a:rPr>
              <a:t>Thank you for you trust and confidence</a:t>
            </a:r>
            <a:endParaRPr sz="1150">
              <a:solidFill>
                <a:srgbClr val="000000"/>
              </a:solidFill>
              <a:latin typeface="Verdana"/>
              <a:ea typeface="Verdana"/>
              <a:cs typeface="Verdana"/>
              <a:sym typeface="Verdana"/>
            </a:endParaRPr>
          </a:p>
        </p:txBody>
      </p:sp>
      <p:cxnSp>
        <p:nvCxnSpPr>
          <p:cNvPr id="504" name="Google Shape;504;p46"/>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05" name="Google Shape;505;p46"/>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06" name="Google Shape;506;p46"/>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7" name="Google Shape;507;p46"/>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8" name="Google Shape;508;p46"/>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09" name="Google Shape;509;p46"/>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graphicFrame>
        <p:nvGraphicFramePr>
          <p:cNvPr id="510" name="Google Shape;510;p46"/>
          <p:cNvGraphicFramePr/>
          <p:nvPr/>
        </p:nvGraphicFramePr>
        <p:xfrm>
          <a:off x="297400" y="2615775"/>
          <a:ext cx="8374450" cy="1493450"/>
        </p:xfrm>
        <a:graphic>
          <a:graphicData uri="http://schemas.openxmlformats.org/drawingml/2006/table">
            <a:tbl>
              <a:tblPr>
                <a:noFill/>
                <a:tableStyleId>{CFB75FC7-DD7D-40D8-B2B2-EE4B611A8D2E}</a:tableStyleId>
              </a:tblPr>
              <a:tblGrid>
                <a:gridCol w="598175">
                  <a:extLst>
                    <a:ext uri="{9D8B030D-6E8A-4147-A177-3AD203B41FA5}">
                      <a16:colId xmlns:a16="http://schemas.microsoft.com/office/drawing/2014/main" val="20000"/>
                    </a:ext>
                  </a:extLst>
                </a:gridCol>
                <a:gridCol w="598175">
                  <a:extLst>
                    <a:ext uri="{9D8B030D-6E8A-4147-A177-3AD203B41FA5}">
                      <a16:colId xmlns:a16="http://schemas.microsoft.com/office/drawing/2014/main" val="20001"/>
                    </a:ext>
                  </a:extLst>
                </a:gridCol>
                <a:gridCol w="598175">
                  <a:extLst>
                    <a:ext uri="{9D8B030D-6E8A-4147-A177-3AD203B41FA5}">
                      <a16:colId xmlns:a16="http://schemas.microsoft.com/office/drawing/2014/main" val="20002"/>
                    </a:ext>
                  </a:extLst>
                </a:gridCol>
                <a:gridCol w="598175">
                  <a:extLst>
                    <a:ext uri="{9D8B030D-6E8A-4147-A177-3AD203B41FA5}">
                      <a16:colId xmlns:a16="http://schemas.microsoft.com/office/drawing/2014/main" val="20003"/>
                    </a:ext>
                  </a:extLst>
                </a:gridCol>
                <a:gridCol w="598175">
                  <a:extLst>
                    <a:ext uri="{9D8B030D-6E8A-4147-A177-3AD203B41FA5}">
                      <a16:colId xmlns:a16="http://schemas.microsoft.com/office/drawing/2014/main" val="20004"/>
                    </a:ext>
                  </a:extLst>
                </a:gridCol>
                <a:gridCol w="598175">
                  <a:extLst>
                    <a:ext uri="{9D8B030D-6E8A-4147-A177-3AD203B41FA5}">
                      <a16:colId xmlns:a16="http://schemas.microsoft.com/office/drawing/2014/main" val="20005"/>
                    </a:ext>
                  </a:extLst>
                </a:gridCol>
                <a:gridCol w="598175">
                  <a:extLst>
                    <a:ext uri="{9D8B030D-6E8A-4147-A177-3AD203B41FA5}">
                      <a16:colId xmlns:a16="http://schemas.microsoft.com/office/drawing/2014/main" val="20006"/>
                    </a:ext>
                  </a:extLst>
                </a:gridCol>
                <a:gridCol w="598175">
                  <a:extLst>
                    <a:ext uri="{9D8B030D-6E8A-4147-A177-3AD203B41FA5}">
                      <a16:colId xmlns:a16="http://schemas.microsoft.com/office/drawing/2014/main" val="20007"/>
                    </a:ext>
                  </a:extLst>
                </a:gridCol>
                <a:gridCol w="598175">
                  <a:extLst>
                    <a:ext uri="{9D8B030D-6E8A-4147-A177-3AD203B41FA5}">
                      <a16:colId xmlns:a16="http://schemas.microsoft.com/office/drawing/2014/main" val="20008"/>
                    </a:ext>
                  </a:extLst>
                </a:gridCol>
                <a:gridCol w="598175">
                  <a:extLst>
                    <a:ext uri="{9D8B030D-6E8A-4147-A177-3AD203B41FA5}">
                      <a16:colId xmlns:a16="http://schemas.microsoft.com/office/drawing/2014/main" val="20009"/>
                    </a:ext>
                  </a:extLst>
                </a:gridCol>
                <a:gridCol w="598175">
                  <a:extLst>
                    <a:ext uri="{9D8B030D-6E8A-4147-A177-3AD203B41FA5}">
                      <a16:colId xmlns:a16="http://schemas.microsoft.com/office/drawing/2014/main" val="20010"/>
                    </a:ext>
                  </a:extLst>
                </a:gridCol>
                <a:gridCol w="598175">
                  <a:extLst>
                    <a:ext uri="{9D8B030D-6E8A-4147-A177-3AD203B41FA5}">
                      <a16:colId xmlns:a16="http://schemas.microsoft.com/office/drawing/2014/main" val="20011"/>
                    </a:ext>
                  </a:extLst>
                </a:gridCol>
                <a:gridCol w="598175">
                  <a:extLst>
                    <a:ext uri="{9D8B030D-6E8A-4147-A177-3AD203B41FA5}">
                      <a16:colId xmlns:a16="http://schemas.microsoft.com/office/drawing/2014/main" val="20012"/>
                    </a:ext>
                  </a:extLst>
                </a:gridCol>
                <a:gridCol w="598175">
                  <a:extLst>
                    <a:ext uri="{9D8B030D-6E8A-4147-A177-3AD203B41FA5}">
                      <a16:colId xmlns:a16="http://schemas.microsoft.com/office/drawing/2014/main" val="20013"/>
                    </a:ext>
                  </a:extLst>
                </a:gridCol>
              </a:tblGrid>
              <a:tr h="309400">
                <a:tc>
                  <a:txBody>
                    <a:bodyPr/>
                    <a:lstStyle/>
                    <a:p>
                      <a:pPr marL="0" lvl="0" indent="0" algn="ctr" rtl="0">
                        <a:lnSpc>
                          <a:spcPct val="115000"/>
                        </a:lnSpc>
                        <a:spcBef>
                          <a:spcPts val="0"/>
                        </a:spcBef>
                        <a:spcAft>
                          <a:spcPts val="0"/>
                        </a:spcAft>
                        <a:buNone/>
                      </a:pPr>
                      <a:r>
                        <a:rPr lang="en" sz="1000">
                          <a:solidFill>
                            <a:srgbClr val="FFFFFF"/>
                          </a:solidFill>
                        </a:rPr>
                        <a:t>Media</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Jan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Feb</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Apr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May</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Aug</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Sep</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Oct</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Nov</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Dec</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Total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extLst>
                  <a:ext uri="{0D108BD9-81ED-4DB2-BD59-A6C34878D82A}">
                    <a16:rowId xmlns:a16="http://schemas.microsoft.com/office/drawing/2014/main" val="10000"/>
                  </a:ext>
                </a:extLst>
              </a:tr>
              <a:tr h="210075">
                <a:tc>
                  <a:txBody>
                    <a:bodyPr/>
                    <a:lstStyle/>
                    <a:p>
                      <a:pPr marL="0" lvl="0" indent="0" algn="ctr" rtl="0">
                        <a:lnSpc>
                          <a:spcPct val="115000"/>
                        </a:lnSpc>
                        <a:spcBef>
                          <a:spcPts val="0"/>
                        </a:spcBef>
                        <a:spcAft>
                          <a:spcPts val="0"/>
                        </a:spcAft>
                        <a:buNone/>
                      </a:pPr>
                      <a:r>
                        <a:rPr lang="en" sz="1000"/>
                        <a:t>WWWW</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10075">
                <a:tc>
                  <a:txBody>
                    <a:bodyPr/>
                    <a:lstStyle/>
                    <a:p>
                      <a:pPr marL="0" lvl="0" indent="0" algn="ctr" rtl="0">
                        <a:lnSpc>
                          <a:spcPct val="115000"/>
                        </a:lnSpc>
                        <a:spcBef>
                          <a:spcPts val="0"/>
                        </a:spcBef>
                        <a:spcAft>
                          <a:spcPts val="0"/>
                        </a:spcAft>
                        <a:buNone/>
                      </a:pPr>
                      <a:r>
                        <a:rPr lang="en" sz="1000"/>
                        <a:t>Digital</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$12,000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381950">
                <a:tc>
                  <a:txBody>
                    <a:bodyPr/>
                    <a:lstStyle/>
                    <a:p>
                      <a:pPr marL="0" lvl="0" indent="0" algn="ctr" rtl="0">
                        <a:lnSpc>
                          <a:spcPct val="115000"/>
                        </a:lnSpc>
                        <a:spcBef>
                          <a:spcPts val="0"/>
                        </a:spcBef>
                        <a:spcAft>
                          <a:spcPts val="0"/>
                        </a:spcAft>
                        <a:buNone/>
                      </a:pPr>
                      <a:r>
                        <a:rPr lang="en" sz="1000" u="sng">
                          <a:solidFill>
                            <a:schemeClr val="hlink"/>
                          </a:solidFill>
                          <a:hlinkClick r:id="rId3"/>
                        </a:rPr>
                        <a:t>wwww.com</a:t>
                      </a:r>
                      <a:endParaRPr sz="1000" u="sng">
                        <a:solidFill>
                          <a:schemeClr val="hlink"/>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381950">
                <a:tc>
                  <a:txBody>
                    <a:bodyPr/>
                    <a:lstStyle/>
                    <a:p>
                      <a:pPr marL="0" lvl="0" indent="0" algn="ctr" rtl="0">
                        <a:lnSpc>
                          <a:spcPct val="115000"/>
                        </a:lnSpc>
                        <a:spcBef>
                          <a:spcPts val="0"/>
                        </a:spcBef>
                        <a:spcAft>
                          <a:spcPts val="0"/>
                        </a:spcAft>
                        <a:buNone/>
                      </a:pPr>
                      <a:r>
                        <a:rPr lang="en" sz="1000"/>
                        <a:t>Monthly Totals</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$54,000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514"/>
        <p:cNvGrpSpPr/>
        <p:nvPr/>
      </p:nvGrpSpPr>
      <p:grpSpPr>
        <a:xfrm>
          <a:off x="0" y="0"/>
          <a:ext cx="0" cy="0"/>
          <a:chOff x="0" y="0"/>
          <a:chExt cx="0" cy="0"/>
        </a:xfrm>
      </p:grpSpPr>
      <p:sp>
        <p:nvSpPr>
          <p:cNvPr id="515" name="Google Shape;515;p4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Plan B</a:t>
            </a:r>
            <a:endParaRPr/>
          </a:p>
        </p:txBody>
      </p:sp>
      <p:sp>
        <p:nvSpPr>
          <p:cNvPr id="516" name="Google Shape;516;p47"/>
          <p:cNvSpPr txBox="1">
            <a:spLocks noGrp="1"/>
          </p:cNvSpPr>
          <p:nvPr>
            <p:ph type="body" idx="1"/>
          </p:nvPr>
        </p:nvSpPr>
        <p:spPr>
          <a:xfrm>
            <a:off x="356563" y="4799225"/>
            <a:ext cx="23376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b="1" u="sng">
                <a:solidFill>
                  <a:srgbClr val="000000"/>
                </a:solidFill>
                <a:latin typeface="Verdana"/>
                <a:ea typeface="Verdana"/>
                <a:cs typeface="Verdana"/>
                <a:sym typeface="Verdana"/>
              </a:rPr>
              <a:t>Analysis of Schedule:</a:t>
            </a:r>
            <a:endParaRPr sz="1400" b="1" u="sng">
              <a:solidFill>
                <a:srgbClr val="000000"/>
              </a:solidFill>
              <a:latin typeface="Verdana"/>
              <a:ea typeface="Verdana"/>
              <a:cs typeface="Verdana"/>
              <a:sym typeface="Verdana"/>
            </a:endParaRPr>
          </a:p>
        </p:txBody>
      </p:sp>
      <p:sp>
        <p:nvSpPr>
          <p:cNvPr id="517" name="Google Shape;517;p47"/>
          <p:cNvSpPr txBox="1">
            <a:spLocks noGrp="1"/>
          </p:cNvSpPr>
          <p:nvPr>
            <p:ph type="body" idx="1"/>
          </p:nvPr>
        </p:nvSpPr>
        <p:spPr>
          <a:xfrm>
            <a:off x="356563" y="51661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Monthly Client Investment:</a:t>
            </a:r>
            <a:r>
              <a:rPr lang="en" sz="1150">
                <a:solidFill>
                  <a:srgbClr val="000000"/>
                </a:solidFill>
                <a:latin typeface="Verdana"/>
                <a:ea typeface="Verdana"/>
                <a:cs typeface="Verdana"/>
                <a:sym typeface="Verdana"/>
              </a:rPr>
              <a:t> $3</a:t>
            </a:r>
            <a:endParaRPr sz="1150">
              <a:solidFill>
                <a:srgbClr val="000000"/>
              </a:solidFill>
              <a:latin typeface="Verdana"/>
              <a:ea typeface="Verdana"/>
              <a:cs typeface="Verdana"/>
              <a:sym typeface="Verdana"/>
            </a:endParaRPr>
          </a:p>
        </p:txBody>
      </p:sp>
      <p:sp>
        <p:nvSpPr>
          <p:cNvPr id="518" name="Google Shape;518;p47"/>
          <p:cNvSpPr txBox="1">
            <a:spLocks noGrp="1"/>
          </p:cNvSpPr>
          <p:nvPr>
            <p:ph type="body" idx="1"/>
          </p:nvPr>
        </p:nvSpPr>
        <p:spPr>
          <a:xfrm>
            <a:off x="356563" y="55330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Daily Client Investment:</a:t>
            </a:r>
            <a:r>
              <a:rPr lang="en" sz="1150">
                <a:solidFill>
                  <a:srgbClr val="000000"/>
                </a:solidFill>
                <a:latin typeface="Verdana"/>
                <a:ea typeface="Verdana"/>
                <a:cs typeface="Verdana"/>
                <a:sym typeface="Verdana"/>
              </a:rPr>
              <a:t> $0</a:t>
            </a:r>
            <a:endParaRPr sz="1150">
              <a:solidFill>
                <a:srgbClr val="000000"/>
              </a:solidFill>
              <a:latin typeface="Verdana"/>
              <a:ea typeface="Verdana"/>
              <a:cs typeface="Verdana"/>
              <a:sym typeface="Verdana"/>
            </a:endParaRPr>
          </a:p>
        </p:txBody>
      </p:sp>
      <p:sp>
        <p:nvSpPr>
          <p:cNvPr id="519" name="Google Shape;519;p47"/>
          <p:cNvSpPr txBox="1">
            <a:spLocks noGrp="1"/>
          </p:cNvSpPr>
          <p:nvPr>
            <p:ph type="body" idx="1"/>
          </p:nvPr>
        </p:nvSpPr>
        <p:spPr>
          <a:xfrm>
            <a:off x="2416613" y="5914100"/>
            <a:ext cx="4292400" cy="366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a:solidFill>
                  <a:srgbClr val="000000"/>
                </a:solidFill>
                <a:latin typeface="Verdana"/>
                <a:ea typeface="Verdana"/>
                <a:cs typeface="Verdana"/>
                <a:sym typeface="Verdana"/>
              </a:rPr>
              <a:t>Thank you for you trust and confidence</a:t>
            </a:r>
            <a:endParaRPr sz="1150">
              <a:solidFill>
                <a:srgbClr val="000000"/>
              </a:solidFill>
              <a:latin typeface="Verdana"/>
              <a:ea typeface="Verdana"/>
              <a:cs typeface="Verdana"/>
              <a:sym typeface="Verdana"/>
            </a:endParaRPr>
          </a:p>
        </p:txBody>
      </p:sp>
      <p:cxnSp>
        <p:nvCxnSpPr>
          <p:cNvPr id="520" name="Google Shape;520;p47"/>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21" name="Google Shape;521;p47"/>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22" name="Google Shape;522;p47"/>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23" name="Google Shape;523;p47"/>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24" name="Google Shape;524;p47"/>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25" name="Google Shape;525;p47"/>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26" name="Google Shape;526;p47"/>
          <p:cNvSpPr txBox="1">
            <a:spLocks noGrp="1"/>
          </p:cNvSpPr>
          <p:nvPr>
            <p:ph type="body" idx="1"/>
          </p:nvPr>
        </p:nvSpPr>
        <p:spPr>
          <a:xfrm>
            <a:off x="489950" y="1170432"/>
            <a:ext cx="8181900" cy="16239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For the benefit of the client, </a:t>
            </a:r>
            <a:r>
              <a:rPr lang="en" sz="1150" b="1">
                <a:solidFill>
                  <a:srgbClr val="000000"/>
                </a:solidFill>
                <a:latin typeface="Verdana"/>
                <a:ea typeface="Verdana"/>
                <a:cs typeface="Verdana"/>
                <a:sym typeface="Verdana"/>
              </a:rPr>
              <a:t>station </a:t>
            </a:r>
            <a:r>
              <a:rPr lang="en" sz="1150">
                <a:solidFill>
                  <a:srgbClr val="000000"/>
                </a:solidFill>
                <a:latin typeface="Verdana"/>
                <a:ea typeface="Verdana"/>
                <a:cs typeface="Verdana"/>
                <a:sym typeface="Verdana"/>
              </a:rPr>
              <a:t>agrees to develop a marketing strategy to help:</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Initiate Cause Marketing Program</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Tech Recruitment</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Expand Target Consumers (by age, sex, geography)</a:t>
            </a:r>
            <a:endParaRPr sz="115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In return for fulfilling stated goals </a:t>
            </a:r>
            <a:r>
              <a:rPr lang="en">
                <a:solidFill>
                  <a:srgbClr val="000000"/>
                </a:solidFill>
              </a:rPr>
              <a:t>clientBusinessName</a:t>
            </a:r>
            <a:r>
              <a:rPr lang="en" sz="1150">
                <a:solidFill>
                  <a:srgbClr val="000000"/>
                </a:solidFill>
                <a:latin typeface="Verdana"/>
                <a:ea typeface="Verdana"/>
                <a:cs typeface="Verdana"/>
                <a:sym typeface="Verdana"/>
              </a:rPr>
              <a:t> agrees to invest in the following long-term plan:</a:t>
            </a:r>
            <a:endParaRPr sz="1150">
              <a:solidFill>
                <a:srgbClr val="000000"/>
              </a:solidFill>
              <a:latin typeface="Verdana"/>
              <a:ea typeface="Verdana"/>
              <a:cs typeface="Verdana"/>
              <a:sym typeface="Verdana"/>
            </a:endParaRPr>
          </a:p>
        </p:txBody>
      </p:sp>
      <p:sp>
        <p:nvSpPr>
          <p:cNvPr id="527" name="Google Shape;527;p47"/>
          <p:cNvSpPr txBox="1">
            <a:spLocks noGrp="1"/>
          </p:cNvSpPr>
          <p:nvPr>
            <p:ph type="body" idx="1"/>
          </p:nvPr>
        </p:nvSpPr>
        <p:spPr>
          <a:xfrm>
            <a:off x="356838" y="4184975"/>
            <a:ext cx="8430300" cy="6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800" b="1">
                <a:solidFill>
                  <a:schemeClr val="dk1"/>
                </a:solidFill>
                <a:latin typeface="Verdana"/>
                <a:ea typeface="Verdana"/>
                <a:cs typeface="Verdana"/>
                <a:sym typeface="Verdana"/>
              </a:rPr>
              <a:t>Client may cancel after 13 weeks from schedule start date with two weeks’ notice and no short rate. This offer is good for 10 business days from the date of presentation. In accordance with Paragraphs 49 and 50 of United States Federal Communications Commission Report and Order No. FCC 07-217, this station will not discriminate in any contract for advertising on the basis of race or ethnicity, and all such contracts will be evaluated, accepted, negotiated and completed without regard to race or ethnicity</a:t>
            </a:r>
            <a:endParaRPr sz="1050" b="1">
              <a:solidFill>
                <a:srgbClr val="000000"/>
              </a:solidFill>
              <a:latin typeface="Verdana"/>
              <a:ea typeface="Verdana"/>
              <a:cs typeface="Verdana"/>
              <a:sym typeface="Verdana"/>
            </a:endParaRPr>
          </a:p>
        </p:txBody>
      </p:sp>
      <p:graphicFrame>
        <p:nvGraphicFramePr>
          <p:cNvPr id="528" name="Google Shape;528;p47"/>
          <p:cNvGraphicFramePr/>
          <p:nvPr/>
        </p:nvGraphicFramePr>
        <p:xfrm>
          <a:off x="356850" y="2530113"/>
          <a:ext cx="8272950" cy="1623900"/>
        </p:xfrm>
        <a:graphic>
          <a:graphicData uri="http://schemas.openxmlformats.org/drawingml/2006/table">
            <a:tbl>
              <a:tblPr>
                <a:noFill/>
                <a:tableStyleId>{CFB75FC7-DD7D-40D8-B2B2-EE4B611A8D2E}</a:tableStyleId>
              </a:tblPr>
              <a:tblGrid>
                <a:gridCol w="590925">
                  <a:extLst>
                    <a:ext uri="{9D8B030D-6E8A-4147-A177-3AD203B41FA5}">
                      <a16:colId xmlns:a16="http://schemas.microsoft.com/office/drawing/2014/main" val="20000"/>
                    </a:ext>
                  </a:extLst>
                </a:gridCol>
                <a:gridCol w="590925">
                  <a:extLst>
                    <a:ext uri="{9D8B030D-6E8A-4147-A177-3AD203B41FA5}">
                      <a16:colId xmlns:a16="http://schemas.microsoft.com/office/drawing/2014/main" val="20001"/>
                    </a:ext>
                  </a:extLst>
                </a:gridCol>
                <a:gridCol w="590925">
                  <a:extLst>
                    <a:ext uri="{9D8B030D-6E8A-4147-A177-3AD203B41FA5}">
                      <a16:colId xmlns:a16="http://schemas.microsoft.com/office/drawing/2014/main" val="20002"/>
                    </a:ext>
                  </a:extLst>
                </a:gridCol>
                <a:gridCol w="590925">
                  <a:extLst>
                    <a:ext uri="{9D8B030D-6E8A-4147-A177-3AD203B41FA5}">
                      <a16:colId xmlns:a16="http://schemas.microsoft.com/office/drawing/2014/main" val="20003"/>
                    </a:ext>
                  </a:extLst>
                </a:gridCol>
                <a:gridCol w="590925">
                  <a:extLst>
                    <a:ext uri="{9D8B030D-6E8A-4147-A177-3AD203B41FA5}">
                      <a16:colId xmlns:a16="http://schemas.microsoft.com/office/drawing/2014/main" val="20004"/>
                    </a:ext>
                  </a:extLst>
                </a:gridCol>
                <a:gridCol w="590925">
                  <a:extLst>
                    <a:ext uri="{9D8B030D-6E8A-4147-A177-3AD203B41FA5}">
                      <a16:colId xmlns:a16="http://schemas.microsoft.com/office/drawing/2014/main" val="20005"/>
                    </a:ext>
                  </a:extLst>
                </a:gridCol>
                <a:gridCol w="590925">
                  <a:extLst>
                    <a:ext uri="{9D8B030D-6E8A-4147-A177-3AD203B41FA5}">
                      <a16:colId xmlns:a16="http://schemas.microsoft.com/office/drawing/2014/main" val="20006"/>
                    </a:ext>
                  </a:extLst>
                </a:gridCol>
                <a:gridCol w="590925">
                  <a:extLst>
                    <a:ext uri="{9D8B030D-6E8A-4147-A177-3AD203B41FA5}">
                      <a16:colId xmlns:a16="http://schemas.microsoft.com/office/drawing/2014/main" val="20007"/>
                    </a:ext>
                  </a:extLst>
                </a:gridCol>
                <a:gridCol w="590925">
                  <a:extLst>
                    <a:ext uri="{9D8B030D-6E8A-4147-A177-3AD203B41FA5}">
                      <a16:colId xmlns:a16="http://schemas.microsoft.com/office/drawing/2014/main" val="20008"/>
                    </a:ext>
                  </a:extLst>
                </a:gridCol>
                <a:gridCol w="590925">
                  <a:extLst>
                    <a:ext uri="{9D8B030D-6E8A-4147-A177-3AD203B41FA5}">
                      <a16:colId xmlns:a16="http://schemas.microsoft.com/office/drawing/2014/main" val="20009"/>
                    </a:ext>
                  </a:extLst>
                </a:gridCol>
                <a:gridCol w="590925">
                  <a:extLst>
                    <a:ext uri="{9D8B030D-6E8A-4147-A177-3AD203B41FA5}">
                      <a16:colId xmlns:a16="http://schemas.microsoft.com/office/drawing/2014/main" val="20010"/>
                    </a:ext>
                  </a:extLst>
                </a:gridCol>
                <a:gridCol w="590925">
                  <a:extLst>
                    <a:ext uri="{9D8B030D-6E8A-4147-A177-3AD203B41FA5}">
                      <a16:colId xmlns:a16="http://schemas.microsoft.com/office/drawing/2014/main" val="20011"/>
                    </a:ext>
                  </a:extLst>
                </a:gridCol>
                <a:gridCol w="590925">
                  <a:extLst>
                    <a:ext uri="{9D8B030D-6E8A-4147-A177-3AD203B41FA5}">
                      <a16:colId xmlns:a16="http://schemas.microsoft.com/office/drawing/2014/main" val="20012"/>
                    </a:ext>
                  </a:extLst>
                </a:gridCol>
                <a:gridCol w="590925">
                  <a:extLst>
                    <a:ext uri="{9D8B030D-6E8A-4147-A177-3AD203B41FA5}">
                      <a16:colId xmlns:a16="http://schemas.microsoft.com/office/drawing/2014/main" val="20013"/>
                    </a:ext>
                  </a:extLst>
                </a:gridCol>
              </a:tblGrid>
              <a:tr h="212650">
                <a:tc>
                  <a:txBody>
                    <a:bodyPr/>
                    <a:lstStyle/>
                    <a:p>
                      <a:pPr marL="0" lvl="0" indent="0" algn="ctr" rtl="0">
                        <a:lnSpc>
                          <a:spcPct val="115000"/>
                        </a:lnSpc>
                        <a:spcBef>
                          <a:spcPts val="0"/>
                        </a:spcBef>
                        <a:spcAft>
                          <a:spcPts val="0"/>
                        </a:spcAft>
                        <a:buNone/>
                      </a:pPr>
                      <a:r>
                        <a:rPr lang="en" sz="1000">
                          <a:solidFill>
                            <a:srgbClr val="FFFFFF"/>
                          </a:solidFill>
                        </a:rPr>
                        <a:t>Media</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Jan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Feb</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Apr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May</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Aug</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Sep</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Oct</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Nov</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Dec</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Total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extLst>
                  <a:ext uri="{0D108BD9-81ED-4DB2-BD59-A6C34878D82A}">
                    <a16:rowId xmlns:a16="http://schemas.microsoft.com/office/drawing/2014/main" val="10000"/>
                  </a:ext>
                </a:extLst>
              </a:tr>
              <a:tr h="212650">
                <a:tc>
                  <a:txBody>
                    <a:bodyPr/>
                    <a:lstStyle/>
                    <a:p>
                      <a:pPr marL="0" lvl="0" indent="0" algn="ctr" rtl="0">
                        <a:lnSpc>
                          <a:spcPct val="115000"/>
                        </a:lnSpc>
                        <a:spcBef>
                          <a:spcPts val="0"/>
                        </a:spcBef>
                        <a:spcAft>
                          <a:spcPts val="0"/>
                        </a:spcAft>
                        <a:buNone/>
                      </a:pPr>
                      <a:r>
                        <a:rPr lang="en" sz="1000"/>
                        <a:t>WWWW</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12650">
                <a:tc>
                  <a:txBody>
                    <a:bodyPr/>
                    <a:lstStyle/>
                    <a:p>
                      <a:pPr marL="0" lvl="0" indent="0" algn="ctr" rtl="0">
                        <a:lnSpc>
                          <a:spcPct val="115000"/>
                        </a:lnSpc>
                        <a:spcBef>
                          <a:spcPts val="0"/>
                        </a:spcBef>
                        <a:spcAft>
                          <a:spcPts val="0"/>
                        </a:spcAft>
                        <a:buNone/>
                      </a:pPr>
                      <a:r>
                        <a:rPr lang="en" sz="1000"/>
                        <a:t>Digital</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$12,000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386650">
                <a:tc>
                  <a:txBody>
                    <a:bodyPr/>
                    <a:lstStyle/>
                    <a:p>
                      <a:pPr marL="0" lvl="0" indent="0" algn="ctr" rtl="0">
                        <a:lnSpc>
                          <a:spcPct val="115000"/>
                        </a:lnSpc>
                        <a:spcBef>
                          <a:spcPts val="0"/>
                        </a:spcBef>
                        <a:spcAft>
                          <a:spcPts val="0"/>
                        </a:spcAft>
                        <a:buNone/>
                      </a:pPr>
                      <a:r>
                        <a:rPr lang="en" sz="1000" u="sng">
                          <a:solidFill>
                            <a:schemeClr val="hlink"/>
                          </a:solidFill>
                          <a:hlinkClick r:id="rId3"/>
                        </a:rPr>
                        <a:t>wwww.com</a:t>
                      </a:r>
                      <a:endParaRPr sz="1000" u="sng">
                        <a:solidFill>
                          <a:schemeClr val="hlink"/>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212650">
                <a:tc>
                  <a:txBody>
                    <a:bodyPr/>
                    <a:lstStyle/>
                    <a:p>
                      <a:pPr marL="0" lvl="0" indent="0" algn="ctr" rtl="0">
                        <a:lnSpc>
                          <a:spcPct val="115000"/>
                        </a:lnSpc>
                        <a:spcBef>
                          <a:spcPts val="0"/>
                        </a:spcBef>
                        <a:spcAft>
                          <a:spcPts val="0"/>
                        </a:spcAft>
                        <a:buNone/>
                      </a:pPr>
                      <a:r>
                        <a:rPr lang="en" sz="1000"/>
                        <a:t>WWWA</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$12,000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r h="386650">
                <a:tc>
                  <a:txBody>
                    <a:bodyPr/>
                    <a:lstStyle/>
                    <a:p>
                      <a:pPr marL="0" lvl="0" indent="0" algn="ctr" rtl="0">
                        <a:lnSpc>
                          <a:spcPct val="115000"/>
                        </a:lnSpc>
                        <a:spcBef>
                          <a:spcPts val="0"/>
                        </a:spcBef>
                        <a:spcAft>
                          <a:spcPts val="0"/>
                        </a:spcAft>
                        <a:buNone/>
                      </a:pPr>
                      <a:r>
                        <a:rPr lang="en" sz="1000"/>
                        <a:t>Monthly Totals</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$7,500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$7,500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$7,500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532"/>
        <p:cNvGrpSpPr/>
        <p:nvPr/>
      </p:nvGrpSpPr>
      <p:grpSpPr>
        <a:xfrm>
          <a:off x="0" y="0"/>
          <a:ext cx="0" cy="0"/>
          <a:chOff x="0" y="0"/>
          <a:chExt cx="0" cy="0"/>
        </a:xfrm>
      </p:grpSpPr>
      <p:sp>
        <p:nvSpPr>
          <p:cNvPr id="533" name="Google Shape;533;p4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Client Policy Agreement</a:t>
            </a:r>
            <a:endParaRPr/>
          </a:p>
        </p:txBody>
      </p:sp>
      <p:sp>
        <p:nvSpPr>
          <p:cNvPr id="534" name="Google Shape;534;p48"/>
          <p:cNvSpPr txBox="1">
            <a:spLocks noGrp="1"/>
          </p:cNvSpPr>
          <p:nvPr>
            <p:ph type="body" idx="1"/>
          </p:nvPr>
        </p:nvSpPr>
        <p:spPr>
          <a:xfrm>
            <a:off x="458400" y="1170425"/>
            <a:ext cx="8227200" cy="11247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800">
                <a:solidFill>
                  <a:srgbClr val="000000"/>
                </a:solidFill>
                <a:latin typeface="Verdana"/>
                <a:ea typeface="Verdana"/>
                <a:cs typeface="Verdana"/>
                <a:sym typeface="Verdana"/>
              </a:rPr>
              <a:t>At station we have an agreement, which we will discuss with all our business partners and review throughout the year</a:t>
            </a:r>
            <a:endParaRPr sz="1800">
              <a:solidFill>
                <a:srgbClr val="000000"/>
              </a:solidFill>
              <a:latin typeface="Verdana"/>
              <a:ea typeface="Verdana"/>
              <a:cs typeface="Verdana"/>
              <a:sym typeface="Verdana"/>
            </a:endParaRPr>
          </a:p>
        </p:txBody>
      </p:sp>
      <p:sp>
        <p:nvSpPr>
          <p:cNvPr id="535" name="Google Shape;535;p48"/>
          <p:cNvSpPr txBox="1">
            <a:spLocks noGrp="1"/>
          </p:cNvSpPr>
          <p:nvPr>
            <p:ph type="body" idx="2"/>
          </p:nvPr>
        </p:nvSpPr>
        <p:spPr>
          <a:xfrm>
            <a:off x="365700" y="2295125"/>
            <a:ext cx="8412600" cy="4205400"/>
          </a:xfrm>
          <a:prstGeom prst="rect">
            <a:avLst/>
          </a:prstGeom>
        </p:spPr>
        <p:txBody>
          <a:bodyPr spcFirstLastPara="1" wrap="square" lIns="91425" tIns="91425" rIns="91425" bIns="91425" anchor="t" anchorCtr="0">
            <a:noAutofit/>
          </a:bodyPr>
          <a:lstStyle/>
          <a:p>
            <a:pPr marL="457200" lvl="0" indent="-301625" algn="l" rtl="0">
              <a:spcBef>
                <a:spcPts val="120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We will conduct a confidential needs analysis (Database) to gain a complete understanding of your business, your market and your stated objectives.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supplied with a customized Summary of Conclusions and Recommendations (SCR) that is tailored to help you achieve your business goals.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be sure that your Marketing Representative will be professional, objective and totally focused on your needs (vs. what’s only in the best interest of the station group).</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offered total production and digital services and once complete, we will provide all creative to you for your final approval before going on-air or on-line.</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The order will be placed as requested and you can expect a duplicate of your submitted broadcast schedules and net figures so that you know all times and costs.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contacted following the first week on air to ensure that everything is running as scheduled.</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provided with the latest qualitative research and will be continuously updated on relevant market information and changes.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expect an exceptional customer experience including follow-through on all promises made and prompt return phone calls.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While we will be in constant contact, you will be asked to formally evaluate our performance and your results every 3, 6, 9 and 12 months.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If any of the above conditions are not met, please contact </a:t>
            </a:r>
            <a:r>
              <a:rPr lang="en" sz="1150" i="1">
                <a:solidFill>
                  <a:schemeClr val="dk1"/>
                </a:solidFill>
              </a:rPr>
              <a:t>portfolioManagerName </a:t>
            </a:r>
            <a:r>
              <a:rPr lang="en" sz="1150">
                <a:solidFill>
                  <a:schemeClr val="dk1"/>
                </a:solidFill>
                <a:latin typeface="Verdana"/>
                <a:ea typeface="Verdana"/>
                <a:cs typeface="Verdana"/>
                <a:sym typeface="Verdana"/>
              </a:rPr>
              <a:t>at +1 (804) 356-7006</a:t>
            </a:r>
            <a:endParaRPr sz="1150">
              <a:solidFill>
                <a:schemeClr val="dk1"/>
              </a:solidFill>
              <a:latin typeface="Verdana"/>
              <a:ea typeface="Verdana"/>
              <a:cs typeface="Verdana"/>
              <a:sym typeface="Verdana"/>
            </a:endParaRPr>
          </a:p>
          <a:p>
            <a:pPr marL="0" lvl="0" indent="0" algn="l" rtl="0">
              <a:spcBef>
                <a:spcPts val="1200"/>
              </a:spcBef>
              <a:spcAft>
                <a:spcPts val="1600"/>
              </a:spcAft>
              <a:buNone/>
            </a:pPr>
            <a:endParaRPr>
              <a:latin typeface="Verdana"/>
              <a:ea typeface="Verdana"/>
              <a:cs typeface="Verdana"/>
              <a:sym typeface="Verdana"/>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539"/>
        <p:cNvGrpSpPr/>
        <p:nvPr/>
      </p:nvGrpSpPr>
      <p:grpSpPr>
        <a:xfrm>
          <a:off x="0" y="0"/>
          <a:ext cx="0" cy="0"/>
          <a:chOff x="0" y="0"/>
          <a:chExt cx="0" cy="0"/>
        </a:xfrm>
      </p:grpSpPr>
      <p:sp>
        <p:nvSpPr>
          <p:cNvPr id="540" name="Google Shape;540;p4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Sales Service Agreement</a:t>
            </a:r>
            <a:endParaRPr/>
          </a:p>
        </p:txBody>
      </p:sp>
      <p:sp>
        <p:nvSpPr>
          <p:cNvPr id="541" name="Google Shape;541;p49"/>
          <p:cNvSpPr txBox="1">
            <a:spLocks noGrp="1"/>
          </p:cNvSpPr>
          <p:nvPr>
            <p:ph type="body" idx="1"/>
          </p:nvPr>
        </p:nvSpPr>
        <p:spPr>
          <a:xfrm>
            <a:off x="458400" y="1170425"/>
            <a:ext cx="8227200" cy="787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b="1">
                <a:solidFill>
                  <a:srgbClr val="000000"/>
                </a:solidFill>
                <a:latin typeface="Verdana"/>
                <a:ea typeface="Verdana"/>
                <a:cs typeface="Verdana"/>
                <a:sym typeface="Verdana"/>
              </a:rPr>
              <a:t>This Sales Service Agreement is part of our Consumer Satisfaction Index (CSI) which is meant to build and serve long term alliances. Please help me know how well we are servicing you by grading each of the following segments 1 to 5 with 5 being the highest.</a:t>
            </a:r>
            <a:endParaRPr sz="1150" b="1">
              <a:solidFill>
                <a:srgbClr val="000000"/>
              </a:solidFill>
              <a:latin typeface="Verdana"/>
              <a:ea typeface="Verdana"/>
              <a:cs typeface="Verdana"/>
              <a:sym typeface="Verdana"/>
            </a:endParaRPr>
          </a:p>
        </p:txBody>
      </p:sp>
      <p:sp>
        <p:nvSpPr>
          <p:cNvPr id="542" name="Google Shape;542;p49"/>
          <p:cNvSpPr txBox="1">
            <a:spLocks noGrp="1"/>
          </p:cNvSpPr>
          <p:nvPr>
            <p:ph type="body" idx="2"/>
          </p:nvPr>
        </p:nvSpPr>
        <p:spPr>
          <a:xfrm>
            <a:off x="365750" y="2386584"/>
            <a:ext cx="5376600" cy="3621000"/>
          </a:xfrm>
          <a:prstGeom prst="rect">
            <a:avLst/>
          </a:prstGeom>
        </p:spPr>
        <p:txBody>
          <a:bodyPr spcFirstLastPara="1" wrap="square" lIns="91425" tIns="91425" rIns="91425" bIns="91425" anchor="t" anchorCtr="0">
            <a:noAutofit/>
          </a:bodyPr>
          <a:lstStyle/>
          <a:p>
            <a:pPr marL="457200" lvl="0" indent="-301625" algn="l" rtl="0">
              <a:lnSpc>
                <a:spcPct val="100000"/>
              </a:lnSpc>
              <a:spcBef>
                <a:spcPts val="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Marketing Representative has a full understanding of my business needs, goals and objectives.</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He/she has been in constant contact to make sure that the program is running as planned.</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Statement/Invoice questions have been handled in a timely fashion.</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Client calls have been returned within a reasonable time frame.</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Promises have been kept and commitments have been honored at all times.</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overall service experience rating I would give my Marketing Representative.</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marketing program has met my expectations given the time period it has been running.</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1000"/>
              </a:spcAft>
              <a:buClr>
                <a:schemeClr val="dk1"/>
              </a:buClr>
              <a:buSzPts val="1150"/>
              <a:buFont typeface="Verdana"/>
              <a:buChar char="●"/>
            </a:pPr>
            <a:r>
              <a:rPr lang="en" sz="1150">
                <a:solidFill>
                  <a:schemeClr val="dk1"/>
                </a:solidFill>
                <a:latin typeface="Verdana"/>
                <a:ea typeface="Verdana"/>
                <a:cs typeface="Verdana"/>
                <a:sym typeface="Verdana"/>
              </a:rPr>
              <a:t>How likely I would be to recommend someone else to this group.</a:t>
            </a:r>
            <a:endParaRPr sz="1150">
              <a:solidFill>
                <a:schemeClr val="dk1"/>
              </a:solidFill>
              <a:latin typeface="Verdana"/>
              <a:ea typeface="Verdana"/>
              <a:cs typeface="Verdana"/>
              <a:sym typeface="Verdana"/>
            </a:endParaRPr>
          </a:p>
        </p:txBody>
      </p:sp>
      <p:sp>
        <p:nvSpPr>
          <p:cNvPr id="543" name="Google Shape;543;p49"/>
          <p:cNvSpPr txBox="1"/>
          <p:nvPr/>
        </p:nvSpPr>
        <p:spPr>
          <a:xfrm>
            <a:off x="365750" y="1988075"/>
            <a:ext cx="31605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Verdana"/>
                <a:ea typeface="Verdana"/>
                <a:cs typeface="Verdana"/>
                <a:sym typeface="Verdana"/>
              </a:rPr>
              <a:t>CONTINUOUS BASIC SERVICE</a:t>
            </a:r>
            <a:endParaRPr>
              <a:latin typeface="Verdana"/>
              <a:ea typeface="Verdana"/>
              <a:cs typeface="Verdana"/>
              <a:sym typeface="Verdana"/>
            </a:endParaRPr>
          </a:p>
        </p:txBody>
      </p:sp>
      <p:cxnSp>
        <p:nvCxnSpPr>
          <p:cNvPr id="544" name="Google Shape;544;p49"/>
          <p:cNvCxnSpPr/>
          <p:nvPr/>
        </p:nvCxnSpPr>
        <p:spPr>
          <a:xfrm>
            <a:off x="7850825" y="255745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5" name="Google Shape;545;p49"/>
          <p:cNvCxnSpPr/>
          <p:nvPr/>
        </p:nvCxnSpPr>
        <p:spPr>
          <a:xfrm>
            <a:off x="7850825" y="3020507"/>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6" name="Google Shape;546;p49"/>
          <p:cNvCxnSpPr/>
          <p:nvPr/>
        </p:nvCxnSpPr>
        <p:spPr>
          <a:xfrm>
            <a:off x="7850825" y="3483564"/>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7" name="Google Shape;547;p49"/>
          <p:cNvCxnSpPr/>
          <p:nvPr/>
        </p:nvCxnSpPr>
        <p:spPr>
          <a:xfrm>
            <a:off x="7850825" y="3946622"/>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8" name="Google Shape;548;p49"/>
          <p:cNvCxnSpPr/>
          <p:nvPr/>
        </p:nvCxnSpPr>
        <p:spPr>
          <a:xfrm>
            <a:off x="7850825" y="4409679"/>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9" name="Google Shape;549;p49"/>
          <p:cNvCxnSpPr/>
          <p:nvPr/>
        </p:nvCxnSpPr>
        <p:spPr>
          <a:xfrm>
            <a:off x="7850825" y="4872736"/>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0" name="Google Shape;550;p49"/>
          <p:cNvCxnSpPr/>
          <p:nvPr/>
        </p:nvCxnSpPr>
        <p:spPr>
          <a:xfrm>
            <a:off x="7850825" y="5335793"/>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1" name="Google Shape;551;p49"/>
          <p:cNvCxnSpPr/>
          <p:nvPr/>
        </p:nvCxnSpPr>
        <p:spPr>
          <a:xfrm>
            <a:off x="7850825" y="583740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2" name="Google Shape;552;p49"/>
          <p:cNvCxnSpPr/>
          <p:nvPr/>
        </p:nvCxnSpPr>
        <p:spPr>
          <a:xfrm>
            <a:off x="505000" y="64085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53" name="Google Shape;553;p49"/>
          <p:cNvCxnSpPr/>
          <p:nvPr/>
        </p:nvCxnSpPr>
        <p:spPr>
          <a:xfrm>
            <a:off x="4981375" y="6408575"/>
            <a:ext cx="3657600" cy="0"/>
          </a:xfrm>
          <a:prstGeom prst="straightConnector1">
            <a:avLst/>
          </a:prstGeom>
          <a:noFill/>
          <a:ln w="19050" cap="flat" cmpd="sng">
            <a:solidFill>
              <a:srgbClr val="000000"/>
            </a:solidFill>
            <a:prstDash val="solid"/>
            <a:round/>
            <a:headEnd type="none" w="med" len="med"/>
            <a:tailEnd type="none" w="med" len="med"/>
          </a:ln>
        </p:spPr>
      </p:cxnSp>
      <p:sp>
        <p:nvSpPr>
          <p:cNvPr id="554" name="Google Shape;554;p49"/>
          <p:cNvSpPr txBox="1"/>
          <p:nvPr/>
        </p:nvSpPr>
        <p:spPr>
          <a:xfrm>
            <a:off x="505025" y="6339000"/>
            <a:ext cx="18009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Integrated Marketing Consultant</a:t>
            </a:r>
            <a:endParaRPr sz="1150">
              <a:latin typeface="Verdana"/>
              <a:ea typeface="Verdana"/>
              <a:cs typeface="Verdana"/>
              <a:sym typeface="Verdana"/>
            </a:endParaRPr>
          </a:p>
        </p:txBody>
      </p:sp>
      <p:sp>
        <p:nvSpPr>
          <p:cNvPr id="555" name="Google Shape;555;p49"/>
          <p:cNvSpPr txBox="1"/>
          <p:nvPr/>
        </p:nvSpPr>
        <p:spPr>
          <a:xfrm>
            <a:off x="4981400" y="6339000"/>
            <a:ext cx="14790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Client</a:t>
            </a:r>
            <a:endParaRPr sz="1150">
              <a:latin typeface="Verdana"/>
              <a:ea typeface="Verdana"/>
              <a:cs typeface="Verdana"/>
              <a:sym typeface="Verdana"/>
            </a:endParaRPr>
          </a:p>
        </p:txBody>
      </p:sp>
      <p:sp>
        <p:nvSpPr>
          <p:cNvPr id="556" name="Google Shape;556;p49"/>
          <p:cNvSpPr txBox="1"/>
          <p:nvPr/>
        </p:nvSpPr>
        <p:spPr>
          <a:xfrm>
            <a:off x="3591093"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57" name="Google Shape;557;p49"/>
          <p:cNvSpPr txBox="1"/>
          <p:nvPr/>
        </p:nvSpPr>
        <p:spPr>
          <a:xfrm>
            <a:off x="8067468"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41535</TotalTime>
  <Words>28779</Words>
  <Application>Microsoft Macintosh PowerPoint</Application>
  <PresentationFormat>Custom</PresentationFormat>
  <Paragraphs>1969</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Verdana</vt:lpstr>
      <vt:lpstr>Simple Light</vt:lpstr>
      <vt:lpstr>PowerPoint Presentation</vt:lpstr>
      <vt:lpstr>Team Commitment</vt:lpstr>
      <vt:lpstr>Marketplace Competition</vt:lpstr>
      <vt:lpstr>Strategic Marketing I</vt:lpstr>
      <vt:lpstr>Strategic Marketing II</vt:lpstr>
      <vt:lpstr>Target Marketing</vt:lpstr>
      <vt:lpstr>Target Marketing</vt:lpstr>
      <vt:lpstr>Target Marketing</vt:lpstr>
      <vt:lpstr>Target Marketing</vt:lpstr>
      <vt:lpstr>Target Marketing</vt:lpstr>
      <vt:lpstr>Recommended Reallocation of  Total Advertising Investment (TAI)</vt:lpstr>
      <vt:lpstr>PowerPoint Presentation</vt:lpstr>
      <vt:lpstr>PowerPoint Presentation</vt:lpstr>
      <vt:lpstr>Profile of Consumers</vt:lpstr>
      <vt:lpstr>Marketing Strategies</vt:lpstr>
      <vt:lpstr>Creative Concepts I</vt:lpstr>
      <vt:lpstr>Creative Concepts II</vt:lpstr>
      <vt:lpstr>Digital Marketing Strategies</vt:lpstr>
      <vt:lpstr>Long Range Strategic Plans</vt:lpstr>
      <vt:lpstr>Advantages to Long-Range Strategic Planning</vt:lpstr>
      <vt:lpstr>Proposed Schedule - Plan A</vt:lpstr>
      <vt:lpstr>Proposed Schedule - Plan A</vt:lpstr>
      <vt:lpstr>Proposed Schedule - Plan A</vt:lpstr>
      <vt:lpstr>Break Even Analysis - Plan A</vt:lpstr>
      <vt:lpstr>Lifetime Value Analysis - Plan A</vt:lpstr>
      <vt:lpstr>Digital ROI Calculator - Plan A</vt:lpstr>
      <vt:lpstr>Proposed Schedule - Plan B</vt:lpstr>
      <vt:lpstr>Proposed Schedule - Plan B</vt:lpstr>
      <vt:lpstr>Proposed Schedule - Plan BT</vt:lpstr>
      <vt:lpstr>Proposed Schedule - Plan B</vt:lpstr>
      <vt:lpstr>Break Even Analysis - Plan B</vt:lpstr>
      <vt:lpstr>Lifetime Value Analysis - Plan B</vt:lpstr>
      <vt:lpstr>Digital ROI Calculator - Plan B</vt:lpstr>
      <vt:lpstr>Plan A</vt:lpstr>
      <vt:lpstr>Plan B</vt:lpstr>
      <vt:lpstr>Client Policy Agreement</vt:lpstr>
      <vt:lpstr>Sales Service Agreement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andrew hinton</cp:lastModifiedBy>
  <cp:revision>49</cp:revision>
  <dcterms:modified xsi:type="dcterms:W3CDTF">2026-04-26T20:24:47Z</dcterms:modified>
</cp:coreProperties>
</file>