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 id="2147483672" r:id="rId3"/>
  </p:sldMasterIdLst>
  <p:notesMasterIdLst>
    <p:notesMasterId r:id="rId36"/>
  </p:notesMasterIdLst>
  <p:sldIdLst>
    <p:sldId id="270" r:id="rId4"/>
    <p:sldId id="299" r:id="rId5"/>
    <p:sldId id="300" r:id="rId6"/>
    <p:sldId id="267" r:id="rId7"/>
    <p:sldId id="268" r:id="rId8"/>
    <p:sldId id="312" r:id="rId9"/>
    <p:sldId id="271" r:id="rId10"/>
    <p:sldId id="313" r:id="rId11"/>
    <p:sldId id="314" r:id="rId12"/>
    <p:sldId id="274" r:id="rId13"/>
    <p:sldId id="275" r:id="rId14"/>
    <p:sldId id="355" r:id="rId15"/>
    <p:sldId id="356" r:id="rId16"/>
    <p:sldId id="278" r:id="rId17"/>
    <p:sldId id="264" r:id="rId18"/>
    <p:sldId id="297" r:id="rId19"/>
    <p:sldId id="330" r:id="rId20"/>
    <p:sldId id="354" r:id="rId21"/>
    <p:sldId id="303" r:id="rId22"/>
    <p:sldId id="281" r:id="rId23"/>
    <p:sldId id="282" r:id="rId24"/>
    <p:sldId id="288" r:id="rId25"/>
    <p:sldId id="331" r:id="rId26"/>
    <p:sldId id="335" r:id="rId27"/>
    <p:sldId id="304" r:id="rId28"/>
    <p:sldId id="286" r:id="rId29"/>
    <p:sldId id="287" r:id="rId30"/>
    <p:sldId id="289" r:id="rId31"/>
    <p:sldId id="328" r:id="rId32"/>
    <p:sldId id="329" r:id="rId33"/>
    <p:sldId id="291" r:id="rId34"/>
    <p:sldId id="292" r:id="rId35"/>
  </p:sldIdLst>
  <p:sldSz cx="9144000" cy="6858000" type="screen4x3"/>
  <p:notesSz cx="9144000" cy="6858000"/>
  <p:defaultTextStyle>
    <a:defPPr>
      <a:defRPr lang="en-US"/>
    </a:defPPr>
    <a:lvl1pPr algn="l" defTabSz="457200" rtl="0" eaLnBrk="0" fontAlgn="base" hangingPunct="0">
      <a:spcBef>
        <a:spcPct val="0"/>
      </a:spcBef>
      <a:spcAft>
        <a:spcPct val="0"/>
      </a:spcAft>
      <a:defRPr kern="1200">
        <a:solidFill>
          <a:schemeClr val="tx1"/>
        </a:solidFill>
        <a:latin typeface="Corbel" panose="020B0503020204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orbel" panose="020B0503020204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orbel" panose="020B0503020204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orbel" panose="020B0503020204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orbel" panose="020B0503020204020204" pitchFamily="34" charset="0"/>
        <a:ea typeface="+mn-ea"/>
        <a:cs typeface="+mn-cs"/>
      </a:defRPr>
    </a:lvl5pPr>
    <a:lvl6pPr marL="2286000" algn="l" defTabSz="914400" rtl="0" eaLnBrk="1" latinLnBrk="0" hangingPunct="1">
      <a:defRPr kern="1200">
        <a:solidFill>
          <a:schemeClr val="tx1"/>
        </a:solidFill>
        <a:latin typeface="Corbel" panose="020B0503020204020204" pitchFamily="34" charset="0"/>
        <a:ea typeface="+mn-ea"/>
        <a:cs typeface="+mn-cs"/>
      </a:defRPr>
    </a:lvl6pPr>
    <a:lvl7pPr marL="2743200" algn="l" defTabSz="914400" rtl="0" eaLnBrk="1" latinLnBrk="0" hangingPunct="1">
      <a:defRPr kern="1200">
        <a:solidFill>
          <a:schemeClr val="tx1"/>
        </a:solidFill>
        <a:latin typeface="Corbel" panose="020B0503020204020204" pitchFamily="34" charset="0"/>
        <a:ea typeface="+mn-ea"/>
        <a:cs typeface="+mn-cs"/>
      </a:defRPr>
    </a:lvl7pPr>
    <a:lvl8pPr marL="3200400" algn="l" defTabSz="914400" rtl="0" eaLnBrk="1" latinLnBrk="0" hangingPunct="1">
      <a:defRPr kern="1200">
        <a:solidFill>
          <a:schemeClr val="tx1"/>
        </a:solidFill>
        <a:latin typeface="Corbel" panose="020B0503020204020204" pitchFamily="34" charset="0"/>
        <a:ea typeface="+mn-ea"/>
        <a:cs typeface="+mn-cs"/>
      </a:defRPr>
    </a:lvl8pPr>
    <a:lvl9pPr marL="3657600" algn="l" defTabSz="914400" rtl="0" eaLnBrk="1" latinLnBrk="0" hangingPunct="1">
      <a:defRPr kern="1200">
        <a:solidFill>
          <a:schemeClr val="tx1"/>
        </a:solidFill>
        <a:latin typeface="Corbel" panose="020B0503020204020204"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294A"/>
    <a:srgbClr val="BD3221"/>
    <a:srgbClr val="38A259"/>
    <a:srgbClr val="121B2F"/>
    <a:srgbClr val="0D3A1F"/>
    <a:srgbClr val="5A131B"/>
    <a:srgbClr val="A5A172"/>
    <a:srgbClr val="7B83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05" autoAdjust="0"/>
    <p:restoredTop sz="99257" autoAdjust="0"/>
  </p:normalViewPr>
  <p:slideViewPr>
    <p:cSldViewPr>
      <p:cViewPr varScale="1">
        <p:scale>
          <a:sx n="63" d="100"/>
          <a:sy n="63" d="100"/>
        </p:scale>
        <p:origin x="1216"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A728FF-2972-A2B2-CEC6-D898E20DDBD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eaLnBrk="1" fontAlgn="auto" hangingPunct="1">
              <a:spcBef>
                <a:spcPts val="0"/>
              </a:spcBef>
              <a:spcAft>
                <a:spcPts val="0"/>
              </a:spcAft>
              <a:defRPr sz="1200">
                <a:latin typeface="Corbel"/>
              </a:defRPr>
            </a:lvl1pPr>
          </a:lstStyle>
          <a:p>
            <a:pPr>
              <a:defRPr/>
            </a:pPr>
            <a:endParaRPr lang="en-US"/>
          </a:p>
        </p:txBody>
      </p:sp>
      <p:sp>
        <p:nvSpPr>
          <p:cNvPr id="3" name="Date Placeholder 2">
            <a:extLst>
              <a:ext uri="{FF2B5EF4-FFF2-40B4-BE49-F238E27FC236}">
                <a16:creationId xmlns:a16="http://schemas.microsoft.com/office/drawing/2014/main" id="{B0DEA388-A1CB-1607-BAC5-64D79D1FD7B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eaLnBrk="1" fontAlgn="auto" hangingPunct="1">
              <a:spcBef>
                <a:spcPts val="0"/>
              </a:spcBef>
              <a:spcAft>
                <a:spcPts val="0"/>
              </a:spcAft>
              <a:defRPr sz="1200">
                <a:latin typeface="Corbel"/>
              </a:defRPr>
            </a:lvl1pPr>
          </a:lstStyle>
          <a:p>
            <a:pPr>
              <a:defRPr/>
            </a:pPr>
            <a:fld id="{3B990547-E3CC-4470-AD32-DBDDE715B8DD}" type="datetimeFigureOut">
              <a:rPr lang="en-US"/>
              <a:pPr>
                <a:defRPr/>
              </a:pPr>
              <a:t>11/5/2025</a:t>
            </a:fld>
            <a:endParaRPr lang="en-US" dirty="0"/>
          </a:p>
        </p:txBody>
      </p:sp>
      <p:sp>
        <p:nvSpPr>
          <p:cNvPr id="4" name="Slide Image Placeholder 3">
            <a:extLst>
              <a:ext uri="{FF2B5EF4-FFF2-40B4-BE49-F238E27FC236}">
                <a16:creationId xmlns:a16="http://schemas.microsoft.com/office/drawing/2014/main" id="{82C3D5E4-2C0F-5734-FC9F-ED37DB7FB479}"/>
              </a:ext>
            </a:extLst>
          </p:cNvPr>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110CE0DE-AB45-17F0-E1C4-7D3E2E4F3448}"/>
              </a:ext>
            </a:extLst>
          </p:cNvPr>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9E5585D8-C5D7-F22A-45F5-F16D0440CB8E}"/>
              </a:ext>
            </a:extLst>
          </p:cNvPr>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Corbel"/>
              </a:defRPr>
            </a:lvl1pPr>
          </a:lstStyle>
          <a:p>
            <a:pPr>
              <a:defRPr/>
            </a:pPr>
            <a:endParaRPr lang="en-US"/>
          </a:p>
        </p:txBody>
      </p:sp>
      <p:sp>
        <p:nvSpPr>
          <p:cNvPr id="7" name="Slide Number Placeholder 6">
            <a:extLst>
              <a:ext uri="{FF2B5EF4-FFF2-40B4-BE49-F238E27FC236}">
                <a16:creationId xmlns:a16="http://schemas.microsoft.com/office/drawing/2014/main" id="{1C8282C1-F31E-9B76-4E76-3E984D9F163D}"/>
              </a:ext>
            </a:extLst>
          </p:cNvPr>
          <p:cNvSpPr>
            <a:spLocks noGrp="1"/>
          </p:cNvSpPr>
          <p:nvPr>
            <p:ph type="sldNum" sz="quarter" idx="5"/>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E725E5B7-A0C1-4415-86E5-CC126DED1FF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Corbel"/>
        <a:ea typeface="+mn-ea"/>
        <a:cs typeface="+mn-cs"/>
      </a:defRPr>
    </a:lvl1pPr>
    <a:lvl2pPr marL="457200" algn="l" defTabSz="457200" rtl="0" eaLnBrk="0" fontAlgn="base" hangingPunct="0">
      <a:spcBef>
        <a:spcPct val="30000"/>
      </a:spcBef>
      <a:spcAft>
        <a:spcPct val="0"/>
      </a:spcAft>
      <a:defRPr sz="1200" kern="1200">
        <a:solidFill>
          <a:schemeClr val="tx1"/>
        </a:solidFill>
        <a:latin typeface="Corbel"/>
        <a:ea typeface="+mn-ea"/>
        <a:cs typeface="+mn-cs"/>
      </a:defRPr>
    </a:lvl2pPr>
    <a:lvl3pPr marL="914400" algn="l" defTabSz="457200" rtl="0" eaLnBrk="0" fontAlgn="base" hangingPunct="0">
      <a:spcBef>
        <a:spcPct val="30000"/>
      </a:spcBef>
      <a:spcAft>
        <a:spcPct val="0"/>
      </a:spcAft>
      <a:defRPr sz="1200" kern="1200">
        <a:solidFill>
          <a:schemeClr val="tx1"/>
        </a:solidFill>
        <a:latin typeface="Corbel"/>
        <a:ea typeface="+mn-ea"/>
        <a:cs typeface="+mn-cs"/>
      </a:defRPr>
    </a:lvl3pPr>
    <a:lvl4pPr marL="1371600" algn="l" defTabSz="457200" rtl="0" eaLnBrk="0" fontAlgn="base" hangingPunct="0">
      <a:spcBef>
        <a:spcPct val="30000"/>
      </a:spcBef>
      <a:spcAft>
        <a:spcPct val="0"/>
      </a:spcAft>
      <a:defRPr sz="1200" kern="1200">
        <a:solidFill>
          <a:schemeClr val="tx1"/>
        </a:solidFill>
        <a:latin typeface="Corbel"/>
        <a:ea typeface="+mn-ea"/>
        <a:cs typeface="+mn-cs"/>
      </a:defRPr>
    </a:lvl4pPr>
    <a:lvl5pPr marL="1828800" algn="l" defTabSz="457200" rtl="0" eaLnBrk="0" fontAlgn="base" hangingPunct="0">
      <a:spcBef>
        <a:spcPct val="30000"/>
      </a:spcBef>
      <a:spcAft>
        <a:spcPct val="0"/>
      </a:spcAft>
      <a:defRPr sz="1200" kern="1200">
        <a:solidFill>
          <a:schemeClr val="tx1"/>
        </a:solidFill>
        <a:latin typeface="Corbe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EF5CD0C4-7C8C-F938-CD36-1CD23A45C35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17ED15BA-58D1-B717-2585-1C7CBD84C01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Corbel" panose="020B0503020204020204" pitchFamily="34" charset="0"/>
              </a:rPr>
              <a:t>Insert the logo where it says logo, or delete the textbox all together.</a:t>
            </a:r>
          </a:p>
          <a:p>
            <a:pPr eaLnBrk="1" hangingPunct="1">
              <a:spcBef>
                <a:spcPct val="0"/>
              </a:spcBef>
            </a:pPr>
            <a:r>
              <a:rPr lang="en-US" altLang="en-US">
                <a:latin typeface="Corbel" panose="020B0503020204020204" pitchFamily="34" charset="0"/>
              </a:rPr>
              <a:t>To check Spelling – Open the “Review” tab at the top of the page and click “Spelling” to proceed.”</a:t>
            </a:r>
          </a:p>
          <a:p>
            <a:pPr eaLnBrk="1" hangingPunct="1">
              <a:spcBef>
                <a:spcPct val="0"/>
              </a:spcBef>
            </a:pPr>
            <a:r>
              <a:rPr lang="en-US" altLang="en-US" b="1">
                <a:latin typeface="Corbel" panose="020B0503020204020204" pitchFamily="34" charset="0"/>
              </a:rPr>
              <a:t>Additional PowerPoint helpful hints:</a:t>
            </a:r>
            <a:endParaRPr lang="en-US" altLang="en-US">
              <a:latin typeface="Corbel" panose="020B0503020204020204" pitchFamily="34" charset="0"/>
            </a:endParaRPr>
          </a:p>
          <a:p>
            <a:pPr eaLnBrk="1" hangingPunct="1">
              <a:spcBef>
                <a:spcPct val="0"/>
              </a:spcBef>
            </a:pPr>
            <a:r>
              <a:rPr lang="en-US" altLang="en-US">
                <a:latin typeface="Corbel" panose="020B0503020204020204" pitchFamily="34" charset="0"/>
              </a:rPr>
              <a:t>Control “C” – to copy</a:t>
            </a:r>
          </a:p>
          <a:p>
            <a:pPr eaLnBrk="1" hangingPunct="1">
              <a:spcBef>
                <a:spcPct val="0"/>
              </a:spcBef>
            </a:pPr>
            <a:r>
              <a:rPr lang="en-US" altLang="en-US">
                <a:latin typeface="Corbel" panose="020B0503020204020204" pitchFamily="34" charset="0"/>
              </a:rPr>
              <a:t>Control “X” – to cut</a:t>
            </a:r>
          </a:p>
          <a:p>
            <a:pPr eaLnBrk="1" hangingPunct="1">
              <a:spcBef>
                <a:spcPct val="0"/>
              </a:spcBef>
            </a:pPr>
            <a:r>
              <a:rPr lang="en-US" altLang="en-US">
                <a:latin typeface="Corbel" panose="020B0503020204020204" pitchFamily="34" charset="0"/>
              </a:rPr>
              <a:t>Control “V” – to paste</a:t>
            </a:r>
          </a:p>
          <a:p>
            <a:pPr eaLnBrk="1" hangingPunct="1">
              <a:spcBef>
                <a:spcPct val="0"/>
              </a:spcBef>
            </a:pPr>
            <a:r>
              <a:rPr lang="en-US" altLang="en-US">
                <a:latin typeface="Corbel" panose="020B0503020204020204" pitchFamily="34" charset="0"/>
              </a:rPr>
              <a:t>Control “Z” – to undo previous function</a:t>
            </a:r>
          </a:p>
          <a:p>
            <a:pPr eaLnBrk="1" hangingPunct="1">
              <a:spcBef>
                <a:spcPct val="0"/>
              </a:spcBef>
            </a:pPr>
            <a:r>
              <a:rPr lang="en-US" altLang="en-US">
                <a:latin typeface="Corbel" panose="020B0503020204020204" pitchFamily="34" charset="0"/>
              </a:rPr>
              <a:t>Control “Y” – to repeat previous function</a:t>
            </a:r>
          </a:p>
          <a:p>
            <a:pPr eaLnBrk="1" hangingPunct="1">
              <a:spcBef>
                <a:spcPct val="0"/>
              </a:spcBef>
            </a:pPr>
            <a:r>
              <a:rPr lang="en-US" altLang="en-US">
                <a:latin typeface="Corbel" panose="020B0503020204020204" pitchFamily="34" charset="0"/>
              </a:rPr>
              <a:t>To move text boxes, click once in the text area and a dotted rectangle should appear surrounding the text with small circles on each corner.  If you move your curser over one of these dotted lines a plus sign with arrows on each tip will appear.  You can then use the arrow keys to move up/down/side to side or you can “click and drag” to a desired location and then release.   </a:t>
            </a:r>
          </a:p>
          <a:p>
            <a:pPr eaLnBrk="1" hangingPunct="1">
              <a:spcBef>
                <a:spcPct val="0"/>
              </a:spcBef>
            </a:pPr>
            <a:endParaRPr lang="en-US" altLang="en-US">
              <a:latin typeface="Corbel" panose="020B0503020204020204" pitchFamily="34" charset="0"/>
            </a:endParaRPr>
          </a:p>
        </p:txBody>
      </p:sp>
      <p:sp>
        <p:nvSpPr>
          <p:cNvPr id="19460" name="Slide Number Placeholder 3">
            <a:extLst>
              <a:ext uri="{FF2B5EF4-FFF2-40B4-BE49-F238E27FC236}">
                <a16:creationId xmlns:a16="http://schemas.microsoft.com/office/drawing/2014/main" id="{C0FEB2DC-2450-CD56-9161-BF1985182F5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fld id="{C9210C2B-A1B4-4EC5-B5FB-D04BF7D1FA0A}"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012AB591-FDE1-C641-88F8-676E6DA1CC3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75C70276-F26C-BF50-514E-B8CAFAA5FDB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Corbel" panose="020B0503020204020204" pitchFamily="34" charset="0"/>
              </a:rPr>
              <a:t>To edit double click anywhere in the pie chart to </a:t>
            </a:r>
            <a:r>
              <a:rPr lang="ja-JP" altLang="en-US">
                <a:latin typeface="Corbel" panose="020B0503020204020204" pitchFamily="34" charset="0"/>
              </a:rPr>
              <a:t>“</a:t>
            </a:r>
            <a:r>
              <a:rPr lang="en-US" altLang="en-US">
                <a:latin typeface="Corbel" panose="020B0503020204020204" pitchFamily="34" charset="0"/>
              </a:rPr>
              <a:t>Convert.</a:t>
            </a:r>
            <a:r>
              <a:rPr lang="ja-JP" altLang="en-US">
                <a:latin typeface="Corbel" panose="020B0503020204020204" pitchFamily="34" charset="0"/>
              </a:rPr>
              <a:t>”</a:t>
            </a:r>
            <a:r>
              <a:rPr lang="en-US" altLang="en-US">
                <a:latin typeface="Corbel" panose="020B0503020204020204" pitchFamily="34" charset="0"/>
              </a:rPr>
              <a:t> (Note: older editions of PowerPoint will automatically convert to allow editing).  </a:t>
            </a:r>
          </a:p>
          <a:p>
            <a:pPr eaLnBrk="1" hangingPunct="1">
              <a:spcBef>
                <a:spcPct val="0"/>
              </a:spcBef>
              <a:buFontTx/>
              <a:buAutoNum type="arabicPeriod"/>
            </a:pPr>
            <a:endParaRPr lang="en-US" altLang="en-US" b="1">
              <a:latin typeface="Corbel" panose="020B0503020204020204" pitchFamily="34" charset="0"/>
            </a:endParaRPr>
          </a:p>
          <a:p>
            <a:pPr eaLnBrk="1" hangingPunct="1">
              <a:spcBef>
                <a:spcPct val="0"/>
              </a:spcBef>
              <a:buFontTx/>
              <a:buAutoNum type="arabicPeriod"/>
            </a:pPr>
            <a:r>
              <a:rPr lang="en-US" altLang="en-US" b="1">
                <a:latin typeface="Corbel" panose="020B0503020204020204" pitchFamily="34" charset="0"/>
              </a:rPr>
              <a:t>To edit data </a:t>
            </a:r>
            <a:r>
              <a:rPr lang="en-US" altLang="en-US">
                <a:latin typeface="Corbel" panose="020B0503020204020204" pitchFamily="34" charset="0"/>
              </a:rPr>
              <a:t>– At the bottom of the chart click </a:t>
            </a:r>
            <a:r>
              <a:rPr lang="ja-JP" altLang="en-US">
                <a:latin typeface="Corbel" panose="020B0503020204020204" pitchFamily="34" charset="0"/>
              </a:rPr>
              <a:t>“</a:t>
            </a:r>
            <a:r>
              <a:rPr lang="en-US" altLang="en-US">
                <a:latin typeface="Corbel" panose="020B0503020204020204" pitchFamily="34" charset="0"/>
              </a:rPr>
              <a:t>Sheet 1</a:t>
            </a:r>
            <a:r>
              <a:rPr lang="ja-JP" altLang="en-US">
                <a:latin typeface="Corbel" panose="020B0503020204020204" pitchFamily="34" charset="0"/>
              </a:rPr>
              <a:t>”</a:t>
            </a:r>
            <a:r>
              <a:rPr lang="en-US" altLang="en-US">
                <a:latin typeface="Corbel" panose="020B0503020204020204" pitchFamily="34" charset="0"/>
              </a:rPr>
              <a:t> and an Excel spreadsheet will appear allowing you to adjust any of the advertising amounts (monthly spending).  For any $0 amounts </a:t>
            </a:r>
            <a:r>
              <a:rPr lang="ja-JP" altLang="en-US">
                <a:latin typeface="Corbel" panose="020B0503020204020204" pitchFamily="34" charset="0"/>
              </a:rPr>
              <a:t>“</a:t>
            </a:r>
            <a:r>
              <a:rPr lang="en-US" altLang="en-US">
                <a:latin typeface="Corbel" panose="020B0503020204020204" pitchFamily="34" charset="0"/>
              </a:rPr>
              <a:t>left click</a:t>
            </a:r>
            <a:r>
              <a:rPr lang="ja-JP" altLang="en-US">
                <a:latin typeface="Corbel" panose="020B0503020204020204" pitchFamily="34" charset="0"/>
              </a:rPr>
              <a:t>”</a:t>
            </a:r>
            <a:r>
              <a:rPr lang="en-US" altLang="en-US">
                <a:latin typeface="Corbel" panose="020B0503020204020204" pitchFamily="34" charset="0"/>
              </a:rPr>
              <a:t> on the row number, then </a:t>
            </a:r>
            <a:r>
              <a:rPr lang="ja-JP" altLang="en-US">
                <a:latin typeface="Corbel" panose="020B0503020204020204" pitchFamily="34" charset="0"/>
              </a:rPr>
              <a:t>“</a:t>
            </a:r>
            <a:r>
              <a:rPr lang="en-US" altLang="en-US">
                <a:latin typeface="Corbel" panose="020B0503020204020204" pitchFamily="34" charset="0"/>
              </a:rPr>
              <a:t>right click</a:t>
            </a:r>
            <a:r>
              <a:rPr lang="ja-JP" altLang="en-US">
                <a:latin typeface="Corbel" panose="020B0503020204020204" pitchFamily="34" charset="0"/>
              </a:rPr>
              <a:t>”</a:t>
            </a:r>
            <a:r>
              <a:rPr lang="en-US" altLang="en-US">
                <a:latin typeface="Corbel" panose="020B0503020204020204" pitchFamily="34" charset="0"/>
              </a:rPr>
              <a:t> to select </a:t>
            </a:r>
            <a:r>
              <a:rPr lang="ja-JP" altLang="en-US">
                <a:latin typeface="Corbel" panose="020B0503020204020204" pitchFamily="34" charset="0"/>
              </a:rPr>
              <a:t>“</a:t>
            </a:r>
            <a:r>
              <a:rPr lang="en-US" altLang="en-US">
                <a:latin typeface="Corbel" panose="020B0503020204020204" pitchFamily="34" charset="0"/>
              </a:rPr>
              <a:t>delete.</a:t>
            </a:r>
            <a:r>
              <a:rPr lang="ja-JP" altLang="en-US">
                <a:latin typeface="Corbel" panose="020B0503020204020204" pitchFamily="34" charset="0"/>
              </a:rPr>
              <a:t>”</a:t>
            </a:r>
            <a:r>
              <a:rPr lang="en-US" altLang="en-US">
                <a:latin typeface="Corbel" panose="020B0503020204020204" pitchFamily="34" charset="0"/>
              </a:rPr>
              <a:t>  Once finished go back to the pie chart by clicking </a:t>
            </a:r>
            <a:r>
              <a:rPr lang="ja-JP" altLang="en-US">
                <a:latin typeface="Corbel" panose="020B0503020204020204" pitchFamily="34" charset="0"/>
              </a:rPr>
              <a:t>“</a:t>
            </a:r>
            <a:r>
              <a:rPr lang="en-US" altLang="en-US">
                <a:latin typeface="Corbel" panose="020B0503020204020204" pitchFamily="34" charset="0"/>
              </a:rPr>
              <a:t>Chart 1</a:t>
            </a:r>
            <a:r>
              <a:rPr lang="ja-JP" altLang="en-US">
                <a:latin typeface="Corbel" panose="020B0503020204020204" pitchFamily="34" charset="0"/>
              </a:rPr>
              <a:t>”</a:t>
            </a:r>
            <a:r>
              <a:rPr lang="en-US" altLang="en-US">
                <a:latin typeface="Corbel" panose="020B0503020204020204" pitchFamily="34" charset="0"/>
              </a:rPr>
              <a:t> (to the left of </a:t>
            </a:r>
            <a:r>
              <a:rPr lang="ja-JP" altLang="en-US">
                <a:latin typeface="Corbel" panose="020B0503020204020204" pitchFamily="34" charset="0"/>
              </a:rPr>
              <a:t>“</a:t>
            </a:r>
            <a:r>
              <a:rPr lang="en-US" altLang="en-US">
                <a:latin typeface="Corbel" panose="020B0503020204020204" pitchFamily="34" charset="0"/>
              </a:rPr>
              <a:t>Sheet 1</a:t>
            </a:r>
            <a:r>
              <a:rPr lang="ja-JP" altLang="en-US">
                <a:latin typeface="Corbel" panose="020B0503020204020204" pitchFamily="34" charset="0"/>
              </a:rPr>
              <a:t>”</a:t>
            </a:r>
            <a:r>
              <a:rPr lang="en-US" altLang="en-US">
                <a:latin typeface="Corbel" panose="020B0503020204020204" pitchFamily="34" charset="0"/>
              </a:rPr>
              <a:t>).  </a:t>
            </a:r>
          </a:p>
          <a:p>
            <a:pPr eaLnBrk="1" hangingPunct="1">
              <a:spcBef>
                <a:spcPct val="0"/>
              </a:spcBef>
              <a:buFontTx/>
              <a:buAutoNum type="arabicPeriod"/>
            </a:pPr>
            <a:endParaRPr lang="en-US" altLang="en-US">
              <a:latin typeface="Corbel" panose="020B0503020204020204" pitchFamily="34" charset="0"/>
            </a:endParaRPr>
          </a:p>
          <a:p>
            <a:pPr eaLnBrk="1" hangingPunct="1">
              <a:spcBef>
                <a:spcPct val="0"/>
              </a:spcBef>
            </a:pPr>
            <a:r>
              <a:rPr lang="en-US" altLang="en-US" b="1">
                <a:latin typeface="Corbel" panose="020B0503020204020204" pitchFamily="34" charset="0"/>
              </a:rPr>
              <a:t>2. To move or delete values (</a:t>
            </a:r>
            <a:r>
              <a:rPr lang="ja-JP" altLang="en-US" b="1">
                <a:latin typeface="Corbel" panose="020B0503020204020204" pitchFamily="34" charset="0"/>
              </a:rPr>
              <a:t>“</a:t>
            </a:r>
            <a:r>
              <a:rPr lang="en-US" altLang="en-US" b="1">
                <a:latin typeface="Corbel" panose="020B0503020204020204" pitchFamily="34" charset="0"/>
              </a:rPr>
              <a:t>%</a:t>
            </a:r>
            <a:r>
              <a:rPr lang="ja-JP" altLang="en-US" b="1">
                <a:latin typeface="Corbel" panose="020B0503020204020204" pitchFamily="34" charset="0"/>
              </a:rPr>
              <a:t>’</a:t>
            </a:r>
            <a:r>
              <a:rPr lang="en-US" altLang="en-US" b="1">
                <a:latin typeface="Corbel" panose="020B0503020204020204" pitchFamily="34" charset="0"/>
              </a:rPr>
              <a:t>s) – </a:t>
            </a:r>
            <a:r>
              <a:rPr lang="en-US" altLang="en-US">
                <a:latin typeface="Corbel" panose="020B0503020204020204" pitchFamily="34" charset="0"/>
              </a:rPr>
              <a:t>If you move your cursor over one of the values and </a:t>
            </a:r>
            <a:r>
              <a:rPr lang="ja-JP" altLang="en-US">
                <a:latin typeface="Corbel" panose="020B0503020204020204" pitchFamily="34" charset="0"/>
              </a:rPr>
              <a:t>“</a:t>
            </a:r>
            <a:r>
              <a:rPr lang="en-US" altLang="en-US">
                <a:latin typeface="Corbel" panose="020B0503020204020204" pitchFamily="34" charset="0"/>
              </a:rPr>
              <a:t>single click</a:t>
            </a:r>
            <a:r>
              <a:rPr lang="ja-JP" altLang="en-US">
                <a:latin typeface="Corbel" panose="020B0503020204020204" pitchFamily="34" charset="0"/>
              </a:rPr>
              <a:t>”</a:t>
            </a:r>
            <a:r>
              <a:rPr lang="en-US" altLang="en-US">
                <a:latin typeface="Corbel" panose="020B0503020204020204" pitchFamily="34" charset="0"/>
              </a:rPr>
              <a:t> all values will be selected (small boxes surrounding each %).  A </a:t>
            </a:r>
            <a:r>
              <a:rPr lang="ja-JP" altLang="en-US">
                <a:latin typeface="Corbel" panose="020B0503020204020204" pitchFamily="34" charset="0"/>
              </a:rPr>
              <a:t>“</a:t>
            </a:r>
            <a:r>
              <a:rPr lang="en-US" altLang="en-US">
                <a:latin typeface="Corbel" panose="020B0503020204020204" pitchFamily="34" charset="0"/>
              </a:rPr>
              <a:t>second click</a:t>
            </a:r>
            <a:r>
              <a:rPr lang="ja-JP" altLang="en-US">
                <a:latin typeface="Corbel" panose="020B0503020204020204" pitchFamily="34" charset="0"/>
              </a:rPr>
              <a:t>”</a:t>
            </a:r>
            <a:r>
              <a:rPr lang="en-US" altLang="en-US">
                <a:latin typeface="Corbel" panose="020B0503020204020204" pitchFamily="34" charset="0"/>
              </a:rPr>
              <a:t> on the desired cell will select only that one value.  At that point you can either </a:t>
            </a:r>
            <a:r>
              <a:rPr lang="ja-JP" altLang="en-US">
                <a:latin typeface="Corbel" panose="020B0503020204020204" pitchFamily="34" charset="0"/>
              </a:rPr>
              <a:t>“</a:t>
            </a:r>
            <a:r>
              <a:rPr lang="en-US" altLang="en-US">
                <a:latin typeface="Corbel" panose="020B0503020204020204" pitchFamily="34" charset="0"/>
              </a:rPr>
              <a:t>delete</a:t>
            </a:r>
            <a:r>
              <a:rPr lang="ja-JP" altLang="en-US">
                <a:latin typeface="Corbel" panose="020B0503020204020204" pitchFamily="34" charset="0"/>
              </a:rPr>
              <a:t>”</a:t>
            </a:r>
            <a:r>
              <a:rPr lang="en-US" altLang="en-US">
                <a:latin typeface="Corbel" panose="020B0503020204020204" pitchFamily="34" charset="0"/>
              </a:rPr>
              <a:t> or </a:t>
            </a:r>
            <a:r>
              <a:rPr lang="ja-JP" altLang="en-US">
                <a:latin typeface="Corbel" panose="020B0503020204020204" pitchFamily="34" charset="0"/>
              </a:rPr>
              <a:t>“</a:t>
            </a:r>
            <a:r>
              <a:rPr lang="en-US" altLang="en-US">
                <a:latin typeface="Corbel" panose="020B0503020204020204" pitchFamily="34" charset="0"/>
              </a:rPr>
              <a:t>click and drag</a:t>
            </a:r>
            <a:r>
              <a:rPr lang="ja-JP" altLang="en-US">
                <a:latin typeface="Corbel" panose="020B0503020204020204" pitchFamily="34" charset="0"/>
              </a:rPr>
              <a:t>”</a:t>
            </a:r>
            <a:r>
              <a:rPr lang="en-US" altLang="en-US">
                <a:latin typeface="Corbel" panose="020B0503020204020204" pitchFamily="34" charset="0"/>
              </a:rPr>
              <a:t> from the text box border (if a plus sign with arrows appears) to a desired location.  If you mistakenly click inside the cell (allowing you to change the actual values) click on the border to take you out of that function and start again.    </a:t>
            </a:r>
          </a:p>
          <a:p>
            <a:pPr eaLnBrk="1" hangingPunct="1">
              <a:spcBef>
                <a:spcPct val="0"/>
              </a:spcBef>
            </a:pPr>
            <a:endParaRPr lang="en-US" altLang="en-US">
              <a:latin typeface="Corbel" panose="020B0503020204020204" pitchFamily="34" charset="0"/>
            </a:endParaRPr>
          </a:p>
          <a:p>
            <a:pPr eaLnBrk="1" hangingPunct="1">
              <a:spcBef>
                <a:spcPct val="0"/>
              </a:spcBef>
            </a:pPr>
            <a:r>
              <a:rPr lang="en-US" altLang="en-US" b="1">
                <a:latin typeface="Corbel" panose="020B0503020204020204" pitchFamily="34" charset="0"/>
              </a:rPr>
              <a:t>3. To move the whole pie chart</a:t>
            </a:r>
            <a:r>
              <a:rPr lang="en-US" altLang="en-US">
                <a:latin typeface="Corbel" panose="020B0503020204020204" pitchFamily="34" charset="0"/>
              </a:rPr>
              <a:t> – Single click just outside the pie and a box should appear that surrounds the entire pie chart.  With your curser in the </a:t>
            </a:r>
            <a:r>
              <a:rPr lang="ja-JP" altLang="en-US">
                <a:latin typeface="Corbel" panose="020B0503020204020204" pitchFamily="34" charset="0"/>
              </a:rPr>
              <a:t>“</a:t>
            </a:r>
            <a:r>
              <a:rPr lang="en-US" altLang="en-US">
                <a:latin typeface="Corbel" panose="020B0503020204020204" pitchFamily="34" charset="0"/>
              </a:rPr>
              <a:t>white space</a:t>
            </a:r>
            <a:r>
              <a:rPr lang="ja-JP" altLang="en-US">
                <a:latin typeface="Corbel" panose="020B0503020204020204" pitchFamily="34" charset="0"/>
              </a:rPr>
              <a:t>”</a:t>
            </a:r>
            <a:r>
              <a:rPr lang="en-US" altLang="en-US">
                <a:latin typeface="Corbel" panose="020B0503020204020204" pitchFamily="34" charset="0"/>
              </a:rPr>
              <a:t> just outside the pie chart you should be able to </a:t>
            </a:r>
            <a:r>
              <a:rPr lang="ja-JP" altLang="en-US">
                <a:latin typeface="Corbel" panose="020B0503020204020204" pitchFamily="34" charset="0"/>
              </a:rPr>
              <a:t>“</a:t>
            </a:r>
            <a:r>
              <a:rPr lang="en-US" altLang="en-US">
                <a:latin typeface="Corbel" panose="020B0503020204020204" pitchFamily="34" charset="0"/>
              </a:rPr>
              <a:t>click and drag</a:t>
            </a:r>
            <a:r>
              <a:rPr lang="ja-JP" altLang="en-US">
                <a:latin typeface="Corbel" panose="020B0503020204020204" pitchFamily="34" charset="0"/>
              </a:rPr>
              <a:t>”</a:t>
            </a:r>
            <a:r>
              <a:rPr lang="en-US" altLang="en-US">
                <a:latin typeface="Corbel" panose="020B0503020204020204" pitchFamily="34" charset="0"/>
              </a:rPr>
              <a:t> the total pie chart up/down or to either side. </a:t>
            </a:r>
            <a:endParaRPr lang="en-US" altLang="en-US" sz="1600">
              <a:solidFill>
                <a:srgbClr val="000000"/>
              </a:solidFill>
              <a:latin typeface="Corbel" panose="020B0503020204020204" pitchFamily="34" charset="0"/>
            </a:endParaRPr>
          </a:p>
          <a:p>
            <a:pPr eaLnBrk="1" hangingPunct="1">
              <a:spcBef>
                <a:spcPct val="0"/>
              </a:spcBef>
            </a:pPr>
            <a:endParaRPr lang="en-US" altLang="en-US">
              <a:latin typeface="Corbel" panose="020B0503020204020204" pitchFamily="34" charset="0"/>
            </a:endParaRPr>
          </a:p>
        </p:txBody>
      </p:sp>
      <p:sp>
        <p:nvSpPr>
          <p:cNvPr id="27652" name="Slide Number Placeholder 3">
            <a:extLst>
              <a:ext uri="{FF2B5EF4-FFF2-40B4-BE49-F238E27FC236}">
                <a16:creationId xmlns:a16="http://schemas.microsoft.com/office/drawing/2014/main" id="{002DADB9-6361-6163-E8F7-652E810D0E1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fld id="{9845B7D6-F8F4-4354-9C76-F20956E5A0AA}" type="slidenum">
              <a:rPr lang="en-US" altLang="en-US"/>
              <a:pPr/>
              <a:t>8</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6CA93902-3D0F-A092-5C64-89999B03529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C5493577-C406-1D8C-C841-CED651F7638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Corbel" panose="020B0503020204020204" pitchFamily="34" charset="0"/>
              </a:rPr>
              <a:t>To edit double click anywhere in the pie chart to </a:t>
            </a:r>
            <a:r>
              <a:rPr lang="ja-JP" altLang="en-US">
                <a:latin typeface="Corbel" panose="020B0503020204020204" pitchFamily="34" charset="0"/>
              </a:rPr>
              <a:t>“</a:t>
            </a:r>
            <a:r>
              <a:rPr lang="en-US" altLang="en-US">
                <a:latin typeface="Corbel" panose="020B0503020204020204" pitchFamily="34" charset="0"/>
              </a:rPr>
              <a:t>Convert.</a:t>
            </a:r>
            <a:r>
              <a:rPr lang="ja-JP" altLang="en-US">
                <a:latin typeface="Corbel" panose="020B0503020204020204" pitchFamily="34" charset="0"/>
              </a:rPr>
              <a:t>”</a:t>
            </a:r>
            <a:r>
              <a:rPr lang="en-US" altLang="en-US">
                <a:latin typeface="Corbel" panose="020B0503020204020204" pitchFamily="34" charset="0"/>
              </a:rPr>
              <a:t> (Note: older editions of PowerPoint will automatically convert to allow editing).  </a:t>
            </a:r>
          </a:p>
          <a:p>
            <a:pPr eaLnBrk="1" hangingPunct="1">
              <a:spcBef>
                <a:spcPct val="0"/>
              </a:spcBef>
              <a:buFontTx/>
              <a:buAutoNum type="arabicPeriod"/>
            </a:pPr>
            <a:endParaRPr lang="en-US" altLang="en-US" b="1">
              <a:latin typeface="Corbel" panose="020B0503020204020204" pitchFamily="34" charset="0"/>
            </a:endParaRPr>
          </a:p>
          <a:p>
            <a:pPr eaLnBrk="1" hangingPunct="1">
              <a:spcBef>
                <a:spcPct val="0"/>
              </a:spcBef>
              <a:buFontTx/>
              <a:buAutoNum type="arabicPeriod"/>
            </a:pPr>
            <a:r>
              <a:rPr lang="en-US" altLang="en-US" b="1">
                <a:latin typeface="Corbel" panose="020B0503020204020204" pitchFamily="34" charset="0"/>
              </a:rPr>
              <a:t>To edit data </a:t>
            </a:r>
            <a:r>
              <a:rPr lang="en-US" altLang="en-US">
                <a:latin typeface="Corbel" panose="020B0503020204020204" pitchFamily="34" charset="0"/>
              </a:rPr>
              <a:t>– At the bottom of the chart click </a:t>
            </a:r>
            <a:r>
              <a:rPr lang="ja-JP" altLang="en-US">
                <a:latin typeface="Corbel" panose="020B0503020204020204" pitchFamily="34" charset="0"/>
              </a:rPr>
              <a:t>“</a:t>
            </a:r>
            <a:r>
              <a:rPr lang="en-US" altLang="en-US">
                <a:latin typeface="Corbel" panose="020B0503020204020204" pitchFamily="34" charset="0"/>
              </a:rPr>
              <a:t>Sheet 1</a:t>
            </a:r>
            <a:r>
              <a:rPr lang="ja-JP" altLang="en-US">
                <a:latin typeface="Corbel" panose="020B0503020204020204" pitchFamily="34" charset="0"/>
              </a:rPr>
              <a:t>”</a:t>
            </a:r>
            <a:r>
              <a:rPr lang="en-US" altLang="en-US">
                <a:latin typeface="Corbel" panose="020B0503020204020204" pitchFamily="34" charset="0"/>
              </a:rPr>
              <a:t> and an Excel spreadsheet will appear allowing you to adjust any of the advertising amounts (monthly spending).  For any $0 amounts </a:t>
            </a:r>
            <a:r>
              <a:rPr lang="ja-JP" altLang="en-US">
                <a:latin typeface="Corbel" panose="020B0503020204020204" pitchFamily="34" charset="0"/>
              </a:rPr>
              <a:t>“</a:t>
            </a:r>
            <a:r>
              <a:rPr lang="en-US" altLang="en-US">
                <a:latin typeface="Corbel" panose="020B0503020204020204" pitchFamily="34" charset="0"/>
              </a:rPr>
              <a:t>left click</a:t>
            </a:r>
            <a:r>
              <a:rPr lang="ja-JP" altLang="en-US">
                <a:latin typeface="Corbel" panose="020B0503020204020204" pitchFamily="34" charset="0"/>
              </a:rPr>
              <a:t>”</a:t>
            </a:r>
            <a:r>
              <a:rPr lang="en-US" altLang="en-US">
                <a:latin typeface="Corbel" panose="020B0503020204020204" pitchFamily="34" charset="0"/>
              </a:rPr>
              <a:t> on the row number, then </a:t>
            </a:r>
            <a:r>
              <a:rPr lang="ja-JP" altLang="en-US">
                <a:latin typeface="Corbel" panose="020B0503020204020204" pitchFamily="34" charset="0"/>
              </a:rPr>
              <a:t>“</a:t>
            </a:r>
            <a:r>
              <a:rPr lang="en-US" altLang="en-US">
                <a:latin typeface="Corbel" panose="020B0503020204020204" pitchFamily="34" charset="0"/>
              </a:rPr>
              <a:t>right click</a:t>
            </a:r>
            <a:r>
              <a:rPr lang="ja-JP" altLang="en-US">
                <a:latin typeface="Corbel" panose="020B0503020204020204" pitchFamily="34" charset="0"/>
              </a:rPr>
              <a:t>”</a:t>
            </a:r>
            <a:r>
              <a:rPr lang="en-US" altLang="en-US">
                <a:latin typeface="Corbel" panose="020B0503020204020204" pitchFamily="34" charset="0"/>
              </a:rPr>
              <a:t> to select </a:t>
            </a:r>
            <a:r>
              <a:rPr lang="ja-JP" altLang="en-US">
                <a:latin typeface="Corbel" panose="020B0503020204020204" pitchFamily="34" charset="0"/>
              </a:rPr>
              <a:t>“</a:t>
            </a:r>
            <a:r>
              <a:rPr lang="en-US" altLang="en-US">
                <a:latin typeface="Corbel" panose="020B0503020204020204" pitchFamily="34" charset="0"/>
              </a:rPr>
              <a:t>delete.</a:t>
            </a:r>
            <a:r>
              <a:rPr lang="ja-JP" altLang="en-US">
                <a:latin typeface="Corbel" panose="020B0503020204020204" pitchFamily="34" charset="0"/>
              </a:rPr>
              <a:t>”</a:t>
            </a:r>
            <a:r>
              <a:rPr lang="en-US" altLang="en-US">
                <a:latin typeface="Corbel" panose="020B0503020204020204" pitchFamily="34" charset="0"/>
              </a:rPr>
              <a:t>  Once finished go back to the pie chart by clicking </a:t>
            </a:r>
            <a:r>
              <a:rPr lang="ja-JP" altLang="en-US">
                <a:latin typeface="Corbel" panose="020B0503020204020204" pitchFamily="34" charset="0"/>
              </a:rPr>
              <a:t>“</a:t>
            </a:r>
            <a:r>
              <a:rPr lang="en-US" altLang="en-US">
                <a:latin typeface="Corbel" panose="020B0503020204020204" pitchFamily="34" charset="0"/>
              </a:rPr>
              <a:t>Chart 1</a:t>
            </a:r>
            <a:r>
              <a:rPr lang="ja-JP" altLang="en-US">
                <a:latin typeface="Corbel" panose="020B0503020204020204" pitchFamily="34" charset="0"/>
              </a:rPr>
              <a:t>”</a:t>
            </a:r>
            <a:r>
              <a:rPr lang="en-US" altLang="en-US">
                <a:latin typeface="Corbel" panose="020B0503020204020204" pitchFamily="34" charset="0"/>
              </a:rPr>
              <a:t> (to the left of </a:t>
            </a:r>
            <a:r>
              <a:rPr lang="ja-JP" altLang="en-US">
                <a:latin typeface="Corbel" panose="020B0503020204020204" pitchFamily="34" charset="0"/>
              </a:rPr>
              <a:t>“</a:t>
            </a:r>
            <a:r>
              <a:rPr lang="en-US" altLang="en-US">
                <a:latin typeface="Corbel" panose="020B0503020204020204" pitchFamily="34" charset="0"/>
              </a:rPr>
              <a:t>Sheet 1</a:t>
            </a:r>
            <a:r>
              <a:rPr lang="ja-JP" altLang="en-US">
                <a:latin typeface="Corbel" panose="020B0503020204020204" pitchFamily="34" charset="0"/>
              </a:rPr>
              <a:t>”</a:t>
            </a:r>
            <a:r>
              <a:rPr lang="en-US" altLang="en-US">
                <a:latin typeface="Corbel" panose="020B0503020204020204" pitchFamily="34" charset="0"/>
              </a:rPr>
              <a:t>).  </a:t>
            </a:r>
          </a:p>
          <a:p>
            <a:pPr eaLnBrk="1" hangingPunct="1">
              <a:spcBef>
                <a:spcPct val="0"/>
              </a:spcBef>
              <a:buFontTx/>
              <a:buAutoNum type="arabicPeriod"/>
            </a:pPr>
            <a:endParaRPr lang="en-US" altLang="en-US">
              <a:latin typeface="Corbel" panose="020B0503020204020204" pitchFamily="34" charset="0"/>
            </a:endParaRPr>
          </a:p>
          <a:p>
            <a:pPr eaLnBrk="1" hangingPunct="1">
              <a:spcBef>
                <a:spcPct val="0"/>
              </a:spcBef>
            </a:pPr>
            <a:r>
              <a:rPr lang="en-US" altLang="en-US" b="1">
                <a:latin typeface="Corbel" panose="020B0503020204020204" pitchFamily="34" charset="0"/>
              </a:rPr>
              <a:t>2. To move or delete values (</a:t>
            </a:r>
            <a:r>
              <a:rPr lang="ja-JP" altLang="en-US" b="1">
                <a:latin typeface="Corbel" panose="020B0503020204020204" pitchFamily="34" charset="0"/>
              </a:rPr>
              <a:t>“</a:t>
            </a:r>
            <a:r>
              <a:rPr lang="en-US" altLang="en-US" b="1">
                <a:latin typeface="Corbel" panose="020B0503020204020204" pitchFamily="34" charset="0"/>
              </a:rPr>
              <a:t>%</a:t>
            </a:r>
            <a:r>
              <a:rPr lang="ja-JP" altLang="en-US" b="1">
                <a:latin typeface="Corbel" panose="020B0503020204020204" pitchFamily="34" charset="0"/>
              </a:rPr>
              <a:t>’</a:t>
            </a:r>
            <a:r>
              <a:rPr lang="en-US" altLang="en-US" b="1">
                <a:latin typeface="Corbel" panose="020B0503020204020204" pitchFamily="34" charset="0"/>
              </a:rPr>
              <a:t>s) – </a:t>
            </a:r>
            <a:r>
              <a:rPr lang="en-US" altLang="en-US">
                <a:latin typeface="Corbel" panose="020B0503020204020204" pitchFamily="34" charset="0"/>
              </a:rPr>
              <a:t>If you move your cursor over one of the values and </a:t>
            </a:r>
            <a:r>
              <a:rPr lang="ja-JP" altLang="en-US">
                <a:latin typeface="Corbel" panose="020B0503020204020204" pitchFamily="34" charset="0"/>
              </a:rPr>
              <a:t>“</a:t>
            </a:r>
            <a:r>
              <a:rPr lang="en-US" altLang="en-US">
                <a:latin typeface="Corbel" panose="020B0503020204020204" pitchFamily="34" charset="0"/>
              </a:rPr>
              <a:t>single click</a:t>
            </a:r>
            <a:r>
              <a:rPr lang="ja-JP" altLang="en-US">
                <a:latin typeface="Corbel" panose="020B0503020204020204" pitchFamily="34" charset="0"/>
              </a:rPr>
              <a:t>”</a:t>
            </a:r>
            <a:r>
              <a:rPr lang="en-US" altLang="en-US">
                <a:latin typeface="Corbel" panose="020B0503020204020204" pitchFamily="34" charset="0"/>
              </a:rPr>
              <a:t> all values will be selected (small boxes surrounding each %).  A </a:t>
            </a:r>
            <a:r>
              <a:rPr lang="ja-JP" altLang="en-US">
                <a:latin typeface="Corbel" panose="020B0503020204020204" pitchFamily="34" charset="0"/>
              </a:rPr>
              <a:t>“</a:t>
            </a:r>
            <a:r>
              <a:rPr lang="en-US" altLang="en-US">
                <a:latin typeface="Corbel" panose="020B0503020204020204" pitchFamily="34" charset="0"/>
              </a:rPr>
              <a:t>second click</a:t>
            </a:r>
            <a:r>
              <a:rPr lang="ja-JP" altLang="en-US">
                <a:latin typeface="Corbel" panose="020B0503020204020204" pitchFamily="34" charset="0"/>
              </a:rPr>
              <a:t>”</a:t>
            </a:r>
            <a:r>
              <a:rPr lang="en-US" altLang="en-US">
                <a:latin typeface="Corbel" panose="020B0503020204020204" pitchFamily="34" charset="0"/>
              </a:rPr>
              <a:t> on the desired cell will select only that one value.  At that point you can either </a:t>
            </a:r>
            <a:r>
              <a:rPr lang="ja-JP" altLang="en-US">
                <a:latin typeface="Corbel" panose="020B0503020204020204" pitchFamily="34" charset="0"/>
              </a:rPr>
              <a:t>“</a:t>
            </a:r>
            <a:r>
              <a:rPr lang="en-US" altLang="en-US">
                <a:latin typeface="Corbel" panose="020B0503020204020204" pitchFamily="34" charset="0"/>
              </a:rPr>
              <a:t>delete</a:t>
            </a:r>
            <a:r>
              <a:rPr lang="ja-JP" altLang="en-US">
                <a:latin typeface="Corbel" panose="020B0503020204020204" pitchFamily="34" charset="0"/>
              </a:rPr>
              <a:t>”</a:t>
            </a:r>
            <a:r>
              <a:rPr lang="en-US" altLang="en-US">
                <a:latin typeface="Corbel" panose="020B0503020204020204" pitchFamily="34" charset="0"/>
              </a:rPr>
              <a:t> or </a:t>
            </a:r>
            <a:r>
              <a:rPr lang="ja-JP" altLang="en-US">
                <a:latin typeface="Corbel" panose="020B0503020204020204" pitchFamily="34" charset="0"/>
              </a:rPr>
              <a:t>“</a:t>
            </a:r>
            <a:r>
              <a:rPr lang="en-US" altLang="en-US">
                <a:latin typeface="Corbel" panose="020B0503020204020204" pitchFamily="34" charset="0"/>
              </a:rPr>
              <a:t>click and drag</a:t>
            </a:r>
            <a:r>
              <a:rPr lang="ja-JP" altLang="en-US">
                <a:latin typeface="Corbel" panose="020B0503020204020204" pitchFamily="34" charset="0"/>
              </a:rPr>
              <a:t>”</a:t>
            </a:r>
            <a:r>
              <a:rPr lang="en-US" altLang="en-US">
                <a:latin typeface="Corbel" panose="020B0503020204020204" pitchFamily="34" charset="0"/>
              </a:rPr>
              <a:t> from the text box border (if a plus sign with arrows appears) to a desired location.  If you mistakenly click inside the cell (allowing you to change the actual values) click on the border to take you out of that function and start again.    </a:t>
            </a:r>
          </a:p>
          <a:p>
            <a:pPr eaLnBrk="1" hangingPunct="1">
              <a:spcBef>
                <a:spcPct val="0"/>
              </a:spcBef>
            </a:pPr>
            <a:endParaRPr lang="en-US" altLang="en-US">
              <a:latin typeface="Corbel" panose="020B0503020204020204" pitchFamily="34" charset="0"/>
            </a:endParaRPr>
          </a:p>
          <a:p>
            <a:pPr eaLnBrk="1" hangingPunct="1">
              <a:spcBef>
                <a:spcPct val="0"/>
              </a:spcBef>
            </a:pPr>
            <a:r>
              <a:rPr lang="en-US" altLang="en-US" b="1">
                <a:latin typeface="Corbel" panose="020B0503020204020204" pitchFamily="34" charset="0"/>
              </a:rPr>
              <a:t>3. To move the whole pie chart</a:t>
            </a:r>
            <a:r>
              <a:rPr lang="en-US" altLang="en-US">
                <a:latin typeface="Corbel" panose="020B0503020204020204" pitchFamily="34" charset="0"/>
              </a:rPr>
              <a:t> – Single click just outside the pie and a box should appear that surrounds the entire pie chart.  With your curser in the </a:t>
            </a:r>
            <a:r>
              <a:rPr lang="ja-JP" altLang="en-US">
                <a:latin typeface="Corbel" panose="020B0503020204020204" pitchFamily="34" charset="0"/>
              </a:rPr>
              <a:t>“</a:t>
            </a:r>
            <a:r>
              <a:rPr lang="en-US" altLang="en-US">
                <a:latin typeface="Corbel" panose="020B0503020204020204" pitchFamily="34" charset="0"/>
              </a:rPr>
              <a:t>white space</a:t>
            </a:r>
            <a:r>
              <a:rPr lang="ja-JP" altLang="en-US">
                <a:latin typeface="Corbel" panose="020B0503020204020204" pitchFamily="34" charset="0"/>
              </a:rPr>
              <a:t>”</a:t>
            </a:r>
            <a:r>
              <a:rPr lang="en-US" altLang="en-US">
                <a:latin typeface="Corbel" panose="020B0503020204020204" pitchFamily="34" charset="0"/>
              </a:rPr>
              <a:t> just outside the pie chart you should be able to </a:t>
            </a:r>
            <a:r>
              <a:rPr lang="ja-JP" altLang="en-US">
                <a:latin typeface="Corbel" panose="020B0503020204020204" pitchFamily="34" charset="0"/>
              </a:rPr>
              <a:t>“</a:t>
            </a:r>
            <a:r>
              <a:rPr lang="en-US" altLang="en-US">
                <a:latin typeface="Corbel" panose="020B0503020204020204" pitchFamily="34" charset="0"/>
              </a:rPr>
              <a:t>click and drag</a:t>
            </a:r>
            <a:r>
              <a:rPr lang="ja-JP" altLang="en-US">
                <a:latin typeface="Corbel" panose="020B0503020204020204" pitchFamily="34" charset="0"/>
              </a:rPr>
              <a:t>”</a:t>
            </a:r>
            <a:r>
              <a:rPr lang="en-US" altLang="en-US">
                <a:latin typeface="Corbel" panose="020B0503020204020204" pitchFamily="34" charset="0"/>
              </a:rPr>
              <a:t> the total pie chart up/down or to either side. </a:t>
            </a:r>
            <a:endParaRPr lang="en-US" altLang="en-US" sz="1600">
              <a:solidFill>
                <a:srgbClr val="000000"/>
              </a:solidFill>
              <a:latin typeface="Corbel" panose="020B0503020204020204" pitchFamily="34" charset="0"/>
            </a:endParaRPr>
          </a:p>
          <a:p>
            <a:pPr eaLnBrk="1" hangingPunct="1">
              <a:spcBef>
                <a:spcPct val="0"/>
              </a:spcBef>
            </a:pPr>
            <a:endParaRPr lang="en-US" altLang="en-US">
              <a:latin typeface="Corbel" panose="020B0503020204020204" pitchFamily="34" charset="0"/>
            </a:endParaRPr>
          </a:p>
        </p:txBody>
      </p:sp>
      <p:sp>
        <p:nvSpPr>
          <p:cNvPr id="29700" name="Slide Number Placeholder 3">
            <a:extLst>
              <a:ext uri="{FF2B5EF4-FFF2-40B4-BE49-F238E27FC236}">
                <a16:creationId xmlns:a16="http://schemas.microsoft.com/office/drawing/2014/main" id="{7EE93DC0-DDE3-A297-0EC1-73148889B36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fld id="{93A701EB-93EE-4771-9B72-B58FD2070814}" type="slidenum">
              <a:rPr lang="en-US" altLang="en-US"/>
              <a:pPr/>
              <a:t>9</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951376BB-4FCF-CEDF-1F49-C7D8D57EFCA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a:extLst>
              <a:ext uri="{FF2B5EF4-FFF2-40B4-BE49-F238E27FC236}">
                <a16:creationId xmlns:a16="http://schemas.microsoft.com/office/drawing/2014/main" id="{305D67ED-815C-82FA-8F94-5F0FC075DB6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Corbel" panose="020B0503020204020204" pitchFamily="34" charset="0"/>
              </a:rPr>
              <a:t>You can type in the text boxes or if you already have station information PowerPoint slides created you can “Copy” and “Paste” those slides to this section.  If adding more than one page, please review and re-number the Table of Contents page.  </a:t>
            </a:r>
          </a:p>
          <a:p>
            <a:pPr eaLnBrk="1" hangingPunct="1">
              <a:spcBef>
                <a:spcPct val="0"/>
              </a:spcBef>
            </a:pPr>
            <a:endParaRPr lang="en-US" altLang="en-US">
              <a:latin typeface="Corbel" panose="020B0503020204020204" pitchFamily="34" charset="0"/>
            </a:endParaRPr>
          </a:p>
        </p:txBody>
      </p:sp>
      <p:sp>
        <p:nvSpPr>
          <p:cNvPr id="31748" name="Slide Number Placeholder 3">
            <a:extLst>
              <a:ext uri="{FF2B5EF4-FFF2-40B4-BE49-F238E27FC236}">
                <a16:creationId xmlns:a16="http://schemas.microsoft.com/office/drawing/2014/main" id="{1D9C2BC7-AB7E-6EA7-172B-A322C2491B6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fld id="{385E8D69-DE78-429E-BA14-E14F99139A7B}" type="slidenum">
              <a:rPr lang="en-US" altLang="en-US"/>
              <a:pPr/>
              <a:t>10</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2B0905AB-3E4A-A853-5DE9-173C68A1556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827F2FBA-AFEE-9D87-98B6-0C0B2DF2004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Corbel" panose="020B0503020204020204" pitchFamily="34" charset="0"/>
                <a:ea typeface="ＭＳ Ｐゴシック" panose="020B0600070205080204" pitchFamily="34" charset="-128"/>
              </a:rPr>
              <a:t>Double-click on the individual spreadsheets (Brand Equity, Spike and Slow Performing Months) to open in Microsoft Excel where you can enter your schedules. You can then “copy” and “paste” the full schedule to other spreadsheets on this page as a starting point (vs. retyping).   </a:t>
            </a:r>
          </a:p>
          <a:p>
            <a:endParaRPr lang="en-US" altLang="en-US">
              <a:latin typeface="Corbel" panose="020B0503020204020204" pitchFamily="34" charset="0"/>
            </a:endParaRPr>
          </a:p>
        </p:txBody>
      </p:sp>
      <p:sp>
        <p:nvSpPr>
          <p:cNvPr id="21508" name="Slide Number Placeholder 3">
            <a:extLst>
              <a:ext uri="{FF2B5EF4-FFF2-40B4-BE49-F238E27FC236}">
                <a16:creationId xmlns:a16="http://schemas.microsoft.com/office/drawing/2014/main" id="{3539182B-E099-1546-2D98-33BA5A50C26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fld id="{023D3BD6-E45E-4528-BA85-6E321C4BEC9C}" type="slidenum">
              <a:rPr lang="en-US" altLang="en-US" smtClean="0"/>
              <a:pPr/>
              <a:t>18</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E6A7A17A-C9BC-C2E4-1D24-0A29CB92039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id="{B7266B69-13A9-053B-7D9B-4A977CB853A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Corbel" panose="020B0503020204020204" pitchFamily="34" charset="0"/>
                <a:ea typeface="ＭＳ Ｐゴシック" panose="020B0600070205080204" pitchFamily="34" charset="-128"/>
              </a:rPr>
              <a:t>Double-click on the individual spreadsheets (Brand Equity, Spike and Slow Performing Months) to open in Microsoft Excel where you can enter your schedules. You can then “copy” and “paste” the full schedule to other spreadsheets on this page as a starting point (vs. retyping).   </a:t>
            </a:r>
          </a:p>
          <a:p>
            <a:endParaRPr lang="en-US" altLang="en-US">
              <a:latin typeface="Corbel" panose="020B0503020204020204" pitchFamily="34" charset="0"/>
            </a:endParaRPr>
          </a:p>
        </p:txBody>
      </p:sp>
      <p:sp>
        <p:nvSpPr>
          <p:cNvPr id="23556" name="Slide Number Placeholder 3">
            <a:extLst>
              <a:ext uri="{FF2B5EF4-FFF2-40B4-BE49-F238E27FC236}">
                <a16:creationId xmlns:a16="http://schemas.microsoft.com/office/drawing/2014/main" id="{1E7FC404-3AD3-C8DF-2E54-FED5CE56698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fld id="{322E8707-927D-496B-8096-1D33C4F9F1CE}" type="slidenum">
              <a:rPr lang="en-US" altLang="en-US" smtClean="0"/>
              <a:pPr/>
              <a:t>24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a:lstStyle>
            <a:lvl1pPr>
              <a:defRPr/>
            </a:lvl1pPr>
          </a:lstStyle>
          <a:p>
            <a:endParaRPr/>
          </a:p>
        </p:txBody>
      </p:sp>
    </p:spTree>
    <p:extLst>
      <p:ext uri="{BB962C8B-B14F-4D97-AF65-F5344CB8AC3E}">
        <p14:creationId xmlns:p14="http://schemas.microsoft.com/office/powerpoint/2010/main" val="125051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5000" b="0" i="0">
                <a:solidFill>
                  <a:schemeClr val="bg1"/>
                </a:solidFill>
                <a:latin typeface="Corbel"/>
                <a:cs typeface="Corbel"/>
              </a:defRPr>
            </a:lvl1pPr>
          </a:lstStyle>
          <a:p>
            <a:endParaRPr/>
          </a:p>
        </p:txBody>
      </p:sp>
      <p:sp>
        <p:nvSpPr>
          <p:cNvPr id="3" name="Holder 3"/>
          <p:cNvSpPr>
            <a:spLocks noGrp="1"/>
          </p:cNvSpPr>
          <p:nvPr>
            <p:ph type="body" idx="1"/>
          </p:nvPr>
        </p:nvSpPr>
        <p:spPr>
          <a:xfrm>
            <a:off x="457200" y="1722120"/>
            <a:ext cx="8229600" cy="4526280"/>
          </a:xfrm>
        </p:spPr>
        <p:txBody>
          <a:bodyPr/>
          <a:lstStyle>
            <a:lvl1pPr>
              <a:defRPr/>
            </a:lvl1pPr>
          </a:lstStyle>
          <a:p>
            <a:endParaRPr/>
          </a:p>
        </p:txBody>
      </p:sp>
    </p:spTree>
    <p:extLst>
      <p:ext uri="{BB962C8B-B14F-4D97-AF65-F5344CB8AC3E}">
        <p14:creationId xmlns:p14="http://schemas.microsoft.com/office/powerpoint/2010/main" val="2009333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5" name="TextBox 11">
            <a:extLst>
              <a:ext uri="{FF2B5EF4-FFF2-40B4-BE49-F238E27FC236}">
                <a16:creationId xmlns:a16="http://schemas.microsoft.com/office/drawing/2014/main" id="{3F026B94-0294-5D08-10A6-0D50D2AB3C48}"/>
              </a:ext>
            </a:extLst>
          </p:cNvPr>
          <p:cNvSpPr txBox="1">
            <a:spLocks noChangeArrowheads="1"/>
          </p:cNvSpPr>
          <p:nvPr userDrawn="1"/>
        </p:nvSpPr>
        <p:spPr bwMode="auto">
          <a:xfrm>
            <a:off x="2554288" y="6648450"/>
            <a:ext cx="185737" cy="369888"/>
          </a:xfrm>
          <a:prstGeom prst="rect">
            <a:avLst/>
          </a:prstGeom>
          <a:noFill/>
          <a:ln>
            <a:noFill/>
          </a:ln>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fontAlgn="base">
              <a:spcBef>
                <a:spcPct val="0"/>
              </a:spcBef>
              <a:spcAft>
                <a:spcPct val="0"/>
              </a:spcAft>
              <a:defRPr>
                <a:solidFill>
                  <a:schemeClr val="tx1"/>
                </a:solidFill>
                <a:latin typeface="Corbel" panose="020B0503020204020204" pitchFamily="34" charset="0"/>
              </a:defRPr>
            </a:lvl6pPr>
            <a:lvl7pPr marL="2971800" indent="-228600" defTabSz="457200" fontAlgn="base">
              <a:spcBef>
                <a:spcPct val="0"/>
              </a:spcBef>
              <a:spcAft>
                <a:spcPct val="0"/>
              </a:spcAft>
              <a:defRPr>
                <a:solidFill>
                  <a:schemeClr val="tx1"/>
                </a:solidFill>
                <a:latin typeface="Corbel" panose="020B0503020204020204" pitchFamily="34" charset="0"/>
              </a:defRPr>
            </a:lvl7pPr>
            <a:lvl8pPr marL="3429000" indent="-228600" defTabSz="457200" fontAlgn="base">
              <a:spcBef>
                <a:spcPct val="0"/>
              </a:spcBef>
              <a:spcAft>
                <a:spcPct val="0"/>
              </a:spcAft>
              <a:defRPr>
                <a:solidFill>
                  <a:schemeClr val="tx1"/>
                </a:solidFill>
                <a:latin typeface="Corbel" panose="020B0503020204020204" pitchFamily="34" charset="0"/>
              </a:defRPr>
            </a:lvl8pPr>
            <a:lvl9pPr marL="3886200" indent="-228600" defTabSz="457200" fontAlgn="base">
              <a:spcBef>
                <a:spcPct val="0"/>
              </a:spcBef>
              <a:spcAft>
                <a:spcPct val="0"/>
              </a:spcAft>
              <a:defRPr>
                <a:solidFill>
                  <a:schemeClr val="tx1"/>
                </a:solidFill>
                <a:latin typeface="Corbel" panose="020B0503020204020204" pitchFamily="34" charset="0"/>
              </a:defRPr>
            </a:lvl9pPr>
          </a:lstStyle>
          <a:p>
            <a:pPr eaLnBrk="1" hangingPunct="1">
              <a:defRPr/>
            </a:pPr>
            <a:endParaRPr lang="en-US" altLang="en-US"/>
          </a:p>
        </p:txBody>
      </p:sp>
      <p:sp>
        <p:nvSpPr>
          <p:cNvPr id="2" name="Holder 2"/>
          <p:cNvSpPr>
            <a:spLocks noGrp="1"/>
          </p:cNvSpPr>
          <p:nvPr>
            <p:ph type="title"/>
          </p:nvPr>
        </p:nvSpPr>
        <p:spPr/>
        <p:txBody>
          <a:bodyPr/>
          <a:lstStyle>
            <a:lvl1pPr>
              <a:defRPr sz="5000" b="0" i="0">
                <a:solidFill>
                  <a:schemeClr val="bg1"/>
                </a:solidFill>
                <a:latin typeface="Corbel"/>
                <a:cs typeface="Corbel"/>
              </a:defRPr>
            </a:lvl1pPr>
          </a:lstStyle>
          <a:p>
            <a:endParaRPr/>
          </a:p>
        </p:txBody>
      </p:sp>
      <p:sp>
        <p:nvSpPr>
          <p:cNvPr id="3" name="Holder 3"/>
          <p:cNvSpPr>
            <a:spLocks noGrp="1"/>
          </p:cNvSpPr>
          <p:nvPr>
            <p:ph sz="half" idx="2"/>
          </p:nvPr>
        </p:nvSpPr>
        <p:spPr>
          <a:xfrm>
            <a:off x="457200" y="1722120"/>
            <a:ext cx="3977640" cy="4526280"/>
          </a:xfrm>
          <a:prstGeom prst="rect">
            <a:avLst/>
          </a:prstGeom>
        </p:spPr>
        <p:txBody>
          <a:bodyPr/>
          <a:lstStyle>
            <a:lvl1pPr>
              <a:defRPr/>
            </a:lvl1pPr>
          </a:lstStyle>
          <a:p>
            <a:endParaRPr/>
          </a:p>
        </p:txBody>
      </p:sp>
      <p:sp>
        <p:nvSpPr>
          <p:cNvPr id="4" name="Holder 4"/>
          <p:cNvSpPr>
            <a:spLocks noGrp="1"/>
          </p:cNvSpPr>
          <p:nvPr>
            <p:ph sz="half" idx="3"/>
          </p:nvPr>
        </p:nvSpPr>
        <p:spPr>
          <a:xfrm>
            <a:off x="4709160" y="1722120"/>
            <a:ext cx="3977640" cy="4526280"/>
          </a:xfrm>
          <a:prstGeom prst="rect">
            <a:avLst/>
          </a:prstGeom>
        </p:spPr>
        <p:txBody>
          <a:bodyPr/>
          <a:lstStyle>
            <a:lvl1pPr>
              <a:defRPr/>
            </a:lvl1pPr>
          </a:lstStyle>
          <a:p>
            <a:endParaRPr/>
          </a:p>
        </p:txBody>
      </p:sp>
    </p:spTree>
    <p:extLst>
      <p:ext uri="{BB962C8B-B14F-4D97-AF65-F5344CB8AC3E}">
        <p14:creationId xmlns:p14="http://schemas.microsoft.com/office/powerpoint/2010/main" val="3601991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5000" b="0" i="0">
                <a:solidFill>
                  <a:schemeClr val="bg1"/>
                </a:solidFill>
                <a:latin typeface="Corbel"/>
                <a:cs typeface="Corbel"/>
              </a:defRPr>
            </a:lvl1pPr>
          </a:lstStyle>
          <a:p>
            <a:endParaRPr/>
          </a:p>
        </p:txBody>
      </p:sp>
    </p:spTree>
    <p:extLst>
      <p:ext uri="{BB962C8B-B14F-4D97-AF65-F5344CB8AC3E}">
        <p14:creationId xmlns:p14="http://schemas.microsoft.com/office/powerpoint/2010/main" val="743349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4599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a:lstStyle>
            <a:lvl1pPr>
              <a:defRPr/>
            </a:lvl1pPr>
          </a:lstStyle>
          <a:p>
            <a:endParaRPr/>
          </a:p>
        </p:txBody>
      </p:sp>
    </p:spTree>
    <p:extLst>
      <p:ext uri="{BB962C8B-B14F-4D97-AF65-F5344CB8AC3E}">
        <p14:creationId xmlns:p14="http://schemas.microsoft.com/office/powerpoint/2010/main" val="38049296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5000" b="0" i="0">
                <a:solidFill>
                  <a:schemeClr val="bg1"/>
                </a:solidFill>
                <a:latin typeface="Corbel"/>
                <a:cs typeface="Corbel"/>
              </a:defRPr>
            </a:lvl1pPr>
          </a:lstStyle>
          <a:p>
            <a:endParaRPr/>
          </a:p>
        </p:txBody>
      </p:sp>
      <p:sp>
        <p:nvSpPr>
          <p:cNvPr id="3" name="Holder 3"/>
          <p:cNvSpPr>
            <a:spLocks noGrp="1"/>
          </p:cNvSpPr>
          <p:nvPr>
            <p:ph type="body" idx="1"/>
          </p:nvPr>
        </p:nvSpPr>
        <p:spPr>
          <a:xfrm>
            <a:off x="457200" y="1722120"/>
            <a:ext cx="8229600" cy="4526280"/>
          </a:xfrm>
        </p:spPr>
        <p:txBody>
          <a:bodyPr/>
          <a:lstStyle>
            <a:lvl1pPr>
              <a:defRPr/>
            </a:lvl1pPr>
          </a:lstStyle>
          <a:p>
            <a:endParaRPr dirty="0"/>
          </a:p>
        </p:txBody>
      </p:sp>
    </p:spTree>
    <p:extLst>
      <p:ext uri="{BB962C8B-B14F-4D97-AF65-F5344CB8AC3E}">
        <p14:creationId xmlns:p14="http://schemas.microsoft.com/office/powerpoint/2010/main" val="3810401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5000" b="0" i="0">
                <a:solidFill>
                  <a:schemeClr val="bg1"/>
                </a:solidFill>
                <a:latin typeface="Corbel"/>
                <a:cs typeface="Corbel"/>
              </a:defRPr>
            </a:lvl1pPr>
          </a:lstStyle>
          <a:p>
            <a:endParaRPr/>
          </a:p>
        </p:txBody>
      </p:sp>
      <p:sp>
        <p:nvSpPr>
          <p:cNvPr id="3" name="Holder 3"/>
          <p:cNvSpPr>
            <a:spLocks noGrp="1"/>
          </p:cNvSpPr>
          <p:nvPr>
            <p:ph sz="half" idx="2"/>
          </p:nvPr>
        </p:nvSpPr>
        <p:spPr>
          <a:xfrm>
            <a:off x="457200" y="1722120"/>
            <a:ext cx="3977640" cy="4526280"/>
          </a:xfrm>
          <a:prstGeom prst="rect">
            <a:avLst/>
          </a:prstGeom>
        </p:spPr>
        <p:txBody>
          <a:bodyPr/>
          <a:lstStyle>
            <a:lvl1pPr>
              <a:defRPr/>
            </a:lvl1pPr>
          </a:lstStyle>
          <a:p>
            <a:endParaRPr/>
          </a:p>
        </p:txBody>
      </p:sp>
      <p:sp>
        <p:nvSpPr>
          <p:cNvPr id="4" name="Holder 4"/>
          <p:cNvSpPr>
            <a:spLocks noGrp="1"/>
          </p:cNvSpPr>
          <p:nvPr>
            <p:ph sz="half" idx="3"/>
          </p:nvPr>
        </p:nvSpPr>
        <p:spPr>
          <a:xfrm>
            <a:off x="4709160" y="1722120"/>
            <a:ext cx="3977640" cy="4526280"/>
          </a:xfrm>
          <a:prstGeom prst="rect">
            <a:avLst/>
          </a:prstGeom>
        </p:spPr>
        <p:txBody>
          <a:bodyPr/>
          <a:lstStyle>
            <a:lvl1pPr>
              <a:defRPr/>
            </a:lvl1pPr>
          </a:lstStyle>
          <a:p>
            <a:endParaRPr dirty="0"/>
          </a:p>
        </p:txBody>
      </p:sp>
    </p:spTree>
    <p:extLst>
      <p:ext uri="{BB962C8B-B14F-4D97-AF65-F5344CB8AC3E}">
        <p14:creationId xmlns:p14="http://schemas.microsoft.com/office/powerpoint/2010/main" val="931816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a:lstStyle>
            <a:lvl1pPr>
              <a:defRPr sz="5000" b="0" i="0">
                <a:solidFill>
                  <a:schemeClr val="bg1"/>
                </a:solidFill>
                <a:latin typeface="Corbel"/>
                <a:cs typeface="Corbel"/>
              </a:defRPr>
            </a:lvl1pPr>
          </a:lstStyle>
          <a:p>
            <a:endParaRPr/>
          </a:p>
        </p:txBody>
      </p:sp>
    </p:spTree>
    <p:extLst>
      <p:ext uri="{BB962C8B-B14F-4D97-AF65-F5344CB8AC3E}">
        <p14:creationId xmlns:p14="http://schemas.microsoft.com/office/powerpoint/2010/main" val="1314802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314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Holder 3"/>
          <p:cNvSpPr>
            <a:spLocks noGrp="1"/>
          </p:cNvSpPr>
          <p:nvPr>
            <p:ph type="subTitle" idx="4"/>
          </p:nvPr>
        </p:nvSpPr>
        <p:spPr>
          <a:xfrm>
            <a:off x="1371600" y="3840480"/>
            <a:ext cx="6400800" cy="1714500"/>
          </a:xfrm>
          <a:prstGeom prst="rect">
            <a:avLst/>
          </a:prstGeom>
        </p:spPr>
        <p:txBody>
          <a:bodyPr/>
          <a:lstStyle>
            <a:lvl1pPr>
              <a:defRPr/>
            </a:lvl1pPr>
          </a:lstStyle>
          <a:p>
            <a:endParaRPr/>
          </a:p>
        </p:txBody>
      </p:sp>
    </p:spTree>
    <p:extLst>
      <p:ext uri="{BB962C8B-B14F-4D97-AF65-F5344CB8AC3E}">
        <p14:creationId xmlns:p14="http://schemas.microsoft.com/office/powerpoint/2010/main" val="1478210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Holder 4"/>
          <p:cNvSpPr>
            <a:spLocks noGrp="1"/>
          </p:cNvSpPr>
          <p:nvPr>
            <p:ph sz="half" idx="3"/>
          </p:nvPr>
        </p:nvSpPr>
        <p:spPr>
          <a:xfrm>
            <a:off x="4709160" y="3200400"/>
            <a:ext cx="3749040" cy="2979420"/>
          </a:xfrm>
          <a:prstGeom prst="rect">
            <a:avLst/>
          </a:prstGeom>
        </p:spPr>
        <p:txBody>
          <a:bodyPr/>
          <a:lstStyle>
            <a:lvl1pPr>
              <a:defRPr/>
            </a:lvl1pPr>
          </a:lstStyle>
          <a:p>
            <a:endParaRPr dirty="0"/>
          </a:p>
        </p:txBody>
      </p:sp>
      <p:sp>
        <p:nvSpPr>
          <p:cNvPr id="8" name="Holder 4"/>
          <p:cNvSpPr>
            <a:spLocks noGrp="1"/>
          </p:cNvSpPr>
          <p:nvPr>
            <p:ph sz="half" idx="10"/>
          </p:nvPr>
        </p:nvSpPr>
        <p:spPr>
          <a:xfrm>
            <a:off x="685800" y="3200400"/>
            <a:ext cx="3749040" cy="2979420"/>
          </a:xfrm>
          <a:prstGeom prst="rect">
            <a:avLst/>
          </a:prstGeom>
        </p:spPr>
        <p:txBody>
          <a:bodyPr/>
          <a:lstStyle>
            <a:lvl1pPr>
              <a:defRPr/>
            </a:lvl1pPr>
          </a:lstStyle>
          <a:p>
            <a:endParaRPr dirty="0"/>
          </a:p>
        </p:txBody>
      </p:sp>
    </p:spTree>
    <p:extLst>
      <p:ext uri="{BB962C8B-B14F-4D97-AF65-F5344CB8AC3E}">
        <p14:creationId xmlns:p14="http://schemas.microsoft.com/office/powerpoint/2010/main" val="21989431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9932584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Holder 2">
            <a:extLst>
              <a:ext uri="{FF2B5EF4-FFF2-40B4-BE49-F238E27FC236}">
                <a16:creationId xmlns:a16="http://schemas.microsoft.com/office/drawing/2014/main" id="{6E62541A-7B0C-3462-92B8-C01EFC1E4B5A}"/>
              </a:ext>
            </a:extLst>
          </p:cNvPr>
          <p:cNvSpPr>
            <a:spLocks noGrp="1" noChangeArrowheads="1"/>
          </p:cNvSpPr>
          <p:nvPr>
            <p:ph type="title"/>
          </p:nvPr>
        </p:nvSpPr>
        <p:spPr bwMode="auto">
          <a:xfrm>
            <a:off x="1922463" y="771525"/>
            <a:ext cx="52990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1027" name="Holder 3">
            <a:extLst>
              <a:ext uri="{FF2B5EF4-FFF2-40B4-BE49-F238E27FC236}">
                <a16:creationId xmlns:a16="http://schemas.microsoft.com/office/drawing/2014/main" id="{0FA1D325-075C-AD21-4FF4-20B5E914A3A6}"/>
              </a:ext>
            </a:extLst>
          </p:cNvPr>
          <p:cNvSpPr>
            <a:spLocks noGrp="1" noChangeArrowheads="1"/>
          </p:cNvSpPr>
          <p:nvPr>
            <p:ph type="body" idx="1"/>
          </p:nvPr>
        </p:nvSpPr>
        <p:spPr bwMode="auto">
          <a:xfrm>
            <a:off x="457200" y="15779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a:extLst>
              <a:ext uri="{FF2B5EF4-FFF2-40B4-BE49-F238E27FC236}">
                <a16:creationId xmlns:a16="http://schemas.microsoft.com/office/drawing/2014/main" id="{6B9C6903-5814-74F3-9EF5-E48C9D7218E9}"/>
              </a:ext>
            </a:extLst>
          </p:cNvPr>
          <p:cNvSpPr>
            <a:spLocks noGrp="1"/>
          </p:cNvSpPr>
          <p:nvPr>
            <p:ph type="ftr" sz="quarter" idx="5"/>
          </p:nvPr>
        </p:nvSpPr>
        <p:spPr>
          <a:xfrm>
            <a:off x="3108325" y="6378575"/>
            <a:ext cx="2927350" cy="342900"/>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mn-lt"/>
              </a:defRPr>
            </a:lvl1pPr>
          </a:lstStyle>
          <a:p>
            <a:pPr>
              <a:defRPr/>
            </a:pPr>
            <a:endParaRPr/>
          </a:p>
        </p:txBody>
      </p:sp>
      <p:sp>
        <p:nvSpPr>
          <p:cNvPr id="5" name="Holder 5">
            <a:extLst>
              <a:ext uri="{FF2B5EF4-FFF2-40B4-BE49-F238E27FC236}">
                <a16:creationId xmlns:a16="http://schemas.microsoft.com/office/drawing/2014/main" id="{8956761D-4C40-218F-1F0B-2CA3015C33AB}"/>
              </a:ext>
            </a:extLst>
          </p:cNvPr>
          <p:cNvSpPr>
            <a:spLocks noGrp="1"/>
          </p:cNvSpPr>
          <p:nvPr>
            <p:ph type="dt" sz="half" idx="6"/>
          </p:nvPr>
        </p:nvSpPr>
        <p:spPr>
          <a:xfrm>
            <a:off x="457200" y="6378575"/>
            <a:ext cx="2103438" cy="342900"/>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mn-lt"/>
              </a:defRPr>
            </a:lvl1pPr>
          </a:lstStyle>
          <a:p>
            <a:pPr>
              <a:defRPr/>
            </a:pPr>
            <a:fld id="{731FCED2-5893-4AF1-BEA1-3B266C87EF2B}" type="datetimeFigureOut">
              <a:rPr lang="en-US"/>
              <a:pPr>
                <a:defRPr/>
              </a:pPr>
              <a:t>11/5/2025</a:t>
            </a:fld>
            <a:endParaRPr lang="en-US"/>
          </a:p>
        </p:txBody>
      </p:sp>
      <p:sp>
        <p:nvSpPr>
          <p:cNvPr id="6" name="Holder 6">
            <a:extLst>
              <a:ext uri="{FF2B5EF4-FFF2-40B4-BE49-F238E27FC236}">
                <a16:creationId xmlns:a16="http://schemas.microsoft.com/office/drawing/2014/main" id="{5A3F1C36-7C93-7A25-4EC5-F7B8E9BFB39C}"/>
              </a:ext>
            </a:extLst>
          </p:cNvPr>
          <p:cNvSpPr>
            <a:spLocks noGrp="1"/>
          </p:cNvSpPr>
          <p:nvPr>
            <p:ph type="sldNum" sz="quarter" idx="7"/>
          </p:nvPr>
        </p:nvSpPr>
        <p:spPr>
          <a:xfrm>
            <a:off x="6583363" y="6378575"/>
            <a:ext cx="2103437" cy="342900"/>
          </a:xfrm>
          <a:prstGeom prst="rect">
            <a:avLst/>
          </a:prstGeom>
        </p:spPr>
        <p:txBody>
          <a:bodyPr vert="horz" wrap="square" lIns="0" tIns="0" rIns="0" bIns="0" numCol="1" anchor="t" anchorCtr="0" compatLnSpc="1">
            <a:prstTxWarp prst="textNoShape">
              <a:avLst/>
            </a:prstTxWarp>
            <a:spAutoFit/>
          </a:bodyPr>
          <a:lstStyle>
            <a:lvl1pPr algn="r" eaLnBrk="1" hangingPunct="1">
              <a:defRPr smtClean="0">
                <a:solidFill>
                  <a:srgbClr val="898989"/>
                </a:solidFill>
              </a:defRPr>
            </a:lvl1pPr>
          </a:lstStyle>
          <a:p>
            <a:pPr>
              <a:defRPr/>
            </a:pPr>
            <a:fld id="{C4194612-5395-4D0F-9D61-57535AB2583D}" type="slidenum">
              <a:rPr lang="en-US" altLang="en-US"/>
              <a:pPr>
                <a:defRPr/>
              </a:pPr>
              <a:t>‹#›</a:t>
            </a:fld>
            <a:endParaRPr lang="en-US" altLang="en-US"/>
          </a:p>
        </p:txBody>
      </p:sp>
      <p:pic>
        <p:nvPicPr>
          <p:cNvPr id="1031" name="Picture 8" descr="Michael Guld PPT Design_Master.png">
            <a:extLst>
              <a:ext uri="{FF2B5EF4-FFF2-40B4-BE49-F238E27FC236}">
                <a16:creationId xmlns:a16="http://schemas.microsoft.com/office/drawing/2014/main" id="{04938EA9-3A6E-16DD-50DA-4E206C732578}"/>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5">
            <a:extLst>
              <a:ext uri="{FF2B5EF4-FFF2-40B4-BE49-F238E27FC236}">
                <a16:creationId xmlns:a16="http://schemas.microsoft.com/office/drawing/2014/main" id="{12A193F7-059C-8EF0-1314-6E21A5AD32D6}"/>
              </a:ext>
            </a:extLst>
          </p:cNvPr>
          <p:cNvSpPr>
            <a:spLocks noChangeArrowheads="1"/>
          </p:cNvSpPr>
          <p:nvPr userDrawn="1"/>
        </p:nvSpPr>
        <p:spPr bwMode="auto">
          <a:xfrm>
            <a:off x="28575" y="6553200"/>
            <a:ext cx="3019425" cy="328613"/>
          </a:xfrm>
          <a:prstGeom prst="rect">
            <a:avLst/>
          </a:prstGeom>
          <a:noFill/>
          <a:ln>
            <a:noFill/>
          </a:ln>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fontAlgn="base">
              <a:spcBef>
                <a:spcPct val="0"/>
              </a:spcBef>
              <a:spcAft>
                <a:spcPct val="0"/>
              </a:spcAft>
              <a:defRPr>
                <a:solidFill>
                  <a:schemeClr val="tx1"/>
                </a:solidFill>
                <a:latin typeface="Corbel" panose="020B0503020204020204" pitchFamily="34" charset="0"/>
              </a:defRPr>
            </a:lvl6pPr>
            <a:lvl7pPr marL="2971800" indent="-228600" defTabSz="457200" fontAlgn="base">
              <a:spcBef>
                <a:spcPct val="0"/>
              </a:spcBef>
              <a:spcAft>
                <a:spcPct val="0"/>
              </a:spcAft>
              <a:defRPr>
                <a:solidFill>
                  <a:schemeClr val="tx1"/>
                </a:solidFill>
                <a:latin typeface="Corbel" panose="020B0503020204020204" pitchFamily="34" charset="0"/>
              </a:defRPr>
            </a:lvl7pPr>
            <a:lvl8pPr marL="3429000" indent="-228600" defTabSz="457200" fontAlgn="base">
              <a:spcBef>
                <a:spcPct val="0"/>
              </a:spcBef>
              <a:spcAft>
                <a:spcPct val="0"/>
              </a:spcAft>
              <a:defRPr>
                <a:solidFill>
                  <a:schemeClr val="tx1"/>
                </a:solidFill>
                <a:latin typeface="Corbel" panose="020B0503020204020204" pitchFamily="34" charset="0"/>
              </a:defRPr>
            </a:lvl8pPr>
            <a:lvl9pPr marL="3886200" indent="-228600" defTabSz="457200" fontAlgn="base">
              <a:spcBef>
                <a:spcPct val="0"/>
              </a:spcBef>
              <a:spcAft>
                <a:spcPct val="0"/>
              </a:spcAft>
              <a:defRPr>
                <a:solidFill>
                  <a:schemeClr val="tx1"/>
                </a:solidFill>
                <a:latin typeface="Corbel" panose="020B0503020204020204" pitchFamily="34" charset="0"/>
              </a:defRPr>
            </a:lvl9pPr>
          </a:lstStyle>
          <a:p>
            <a:pPr eaLnBrk="1" hangingPunct="1">
              <a:defRPr/>
            </a:pPr>
            <a:r>
              <a:rPr lang="en-US" altLang="en-US" sz="800" b="1">
                <a:solidFill>
                  <a:schemeClr val="bg1"/>
                </a:solidFill>
              </a:rPr>
              <a:t>Copyright © 1984-2017  Executive Decision Systems, Inc. </a:t>
            </a:r>
          </a:p>
          <a:p>
            <a:pPr eaLnBrk="1" hangingPunct="1">
              <a:defRPr/>
            </a:pPr>
            <a:r>
              <a:rPr lang="en-US" altLang="en-US" sz="800" b="1">
                <a:solidFill>
                  <a:schemeClr val="bg1"/>
                </a:solidFill>
              </a:rPr>
              <a:t>and  The Guld Resource Group, LLC</a:t>
            </a:r>
            <a:r>
              <a:rPr lang="en-US" altLang="en-US" sz="800">
                <a:solidFill>
                  <a:schemeClr val="bg1"/>
                </a:solidFill>
              </a:rPr>
              <a:t> </a:t>
            </a:r>
            <a:endParaRPr lang="en-US" altLang="en-US" sz="100">
              <a:solidFill>
                <a:schemeClr val="bg1"/>
              </a:solidFill>
            </a:endParaRPr>
          </a:p>
        </p:txBody>
      </p:sp>
      <p:sp>
        <p:nvSpPr>
          <p:cNvPr id="11" name="Text Box 4">
            <a:extLst>
              <a:ext uri="{FF2B5EF4-FFF2-40B4-BE49-F238E27FC236}">
                <a16:creationId xmlns:a16="http://schemas.microsoft.com/office/drawing/2014/main" id="{052C4F7D-8DFD-C075-3315-86A3E6FD794D}"/>
              </a:ext>
            </a:extLst>
          </p:cNvPr>
          <p:cNvSpPr txBox="1">
            <a:spLocks noChangeArrowheads="1"/>
          </p:cNvSpPr>
          <p:nvPr userDrawn="1"/>
        </p:nvSpPr>
        <p:spPr bwMode="auto">
          <a:xfrm>
            <a:off x="7670800" y="6629400"/>
            <a:ext cx="1092200" cy="147638"/>
          </a:xfrm>
          <a:prstGeom prst="rect">
            <a:avLst/>
          </a:prstGeom>
          <a:noFill/>
          <a:ln>
            <a:noFill/>
          </a:ln>
        </p:spPr>
        <p:txBody>
          <a:bodyPr lIns="0" tIns="0" rIns="0" bIns="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fontAlgn="auto" hangingPunct="1">
              <a:lnSpc>
                <a:spcPct val="95000"/>
              </a:lnSpc>
              <a:spcBef>
                <a:spcPts val="0"/>
              </a:spcBef>
              <a:spcAft>
                <a:spcPts val="0"/>
              </a:spcAft>
              <a:defRPr/>
            </a:pPr>
            <a:r>
              <a:rPr lang="en-US" sz="1000" dirty="0">
                <a:solidFill>
                  <a:schemeClr val="bg1"/>
                </a:solidFill>
                <a:latin typeface="Corbel"/>
                <a:cs typeface="Corbel"/>
              </a:rPr>
              <a:t>-CONFIDENTIAL-</a:t>
            </a:r>
          </a:p>
        </p:txBody>
      </p:sp>
    </p:spTree>
  </p:cSld>
  <p:clrMap bg1="lt1" tx1="dk1" bg2="lt2" tx2="dk2" accent1="accent1" accent2="accent2" accent3="accent3" accent4="accent4" accent5="accent5" accent6="accent6" hlink="hlink" folHlink="folHlink"/>
  <p:sldLayoutIdLst>
    <p:sldLayoutId id="2147485827" r:id="rId1"/>
    <p:sldLayoutId id="2147485828" r:id="rId2"/>
    <p:sldLayoutId id="2147485829" r:id="rId3"/>
    <p:sldLayoutId id="2147485830" r:id="rId4"/>
    <p:sldLayoutId id="2147485831"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orbel" panose="020B0503020204020204" pitchFamily="34" charset="0"/>
        </a:defRPr>
      </a:lvl2pPr>
      <a:lvl3pPr algn="ctr" rtl="0" eaLnBrk="0" fontAlgn="base" hangingPunct="0">
        <a:spcBef>
          <a:spcPct val="0"/>
        </a:spcBef>
        <a:spcAft>
          <a:spcPct val="0"/>
        </a:spcAft>
        <a:defRPr>
          <a:solidFill>
            <a:schemeClr val="tx2"/>
          </a:solidFill>
          <a:latin typeface="Corbel" panose="020B0503020204020204" pitchFamily="34" charset="0"/>
        </a:defRPr>
      </a:lvl3pPr>
      <a:lvl4pPr algn="ctr" rtl="0" eaLnBrk="0" fontAlgn="base" hangingPunct="0">
        <a:spcBef>
          <a:spcPct val="0"/>
        </a:spcBef>
        <a:spcAft>
          <a:spcPct val="0"/>
        </a:spcAft>
        <a:defRPr>
          <a:solidFill>
            <a:schemeClr val="tx2"/>
          </a:solidFill>
          <a:latin typeface="Corbel" panose="020B0503020204020204" pitchFamily="34" charset="0"/>
        </a:defRPr>
      </a:lvl4pPr>
      <a:lvl5pPr algn="ctr" rtl="0" eaLnBrk="0" fontAlgn="base" hangingPunct="0">
        <a:spcBef>
          <a:spcPct val="0"/>
        </a:spcBef>
        <a:spcAft>
          <a:spcPct val="0"/>
        </a:spcAft>
        <a:defRPr>
          <a:solidFill>
            <a:schemeClr val="tx2"/>
          </a:solidFill>
          <a:latin typeface="Corbel" panose="020B0503020204020204" pitchFamily="34" charset="0"/>
        </a:defRPr>
      </a:lvl5pPr>
      <a:lvl6pPr marL="457200" algn="ctr" rtl="0" eaLnBrk="0" fontAlgn="base" hangingPunct="0">
        <a:spcBef>
          <a:spcPct val="0"/>
        </a:spcBef>
        <a:spcAft>
          <a:spcPct val="0"/>
        </a:spcAft>
        <a:defRPr>
          <a:solidFill>
            <a:schemeClr val="tx2"/>
          </a:solidFill>
          <a:latin typeface="Corbel" panose="020B0503020204020204" pitchFamily="34" charset="0"/>
        </a:defRPr>
      </a:lvl6pPr>
      <a:lvl7pPr marL="914400" algn="ctr" rtl="0" eaLnBrk="0" fontAlgn="base" hangingPunct="0">
        <a:spcBef>
          <a:spcPct val="0"/>
        </a:spcBef>
        <a:spcAft>
          <a:spcPct val="0"/>
        </a:spcAft>
        <a:defRPr>
          <a:solidFill>
            <a:schemeClr val="tx2"/>
          </a:solidFill>
          <a:latin typeface="Corbel" panose="020B0503020204020204" pitchFamily="34" charset="0"/>
        </a:defRPr>
      </a:lvl7pPr>
      <a:lvl8pPr marL="1371600" algn="ctr" rtl="0" eaLnBrk="0" fontAlgn="base" hangingPunct="0">
        <a:spcBef>
          <a:spcPct val="0"/>
        </a:spcBef>
        <a:spcAft>
          <a:spcPct val="0"/>
        </a:spcAft>
        <a:defRPr>
          <a:solidFill>
            <a:schemeClr val="tx2"/>
          </a:solidFill>
          <a:latin typeface="Corbel" panose="020B0503020204020204" pitchFamily="34" charset="0"/>
        </a:defRPr>
      </a:lvl8pPr>
      <a:lvl9pPr marL="1828800" algn="ctr" rtl="0" eaLnBrk="0" fontAlgn="base" hangingPunct="0">
        <a:spcBef>
          <a:spcPct val="0"/>
        </a:spcBef>
        <a:spcAft>
          <a:spcPct val="0"/>
        </a:spcAft>
        <a:defRPr>
          <a:solidFill>
            <a:schemeClr val="tx2"/>
          </a:solidFill>
          <a:latin typeface="Corbel" panose="020B0503020204020204" pitchFamily="34" charset="0"/>
        </a:defRPr>
      </a:lvl9pPr>
    </p:titleStyle>
    <p:bodyStyle>
      <a:lvl1pPr algn="l" rtl="0" eaLnBrk="0" fontAlgn="base" hangingPunct="0">
        <a:spcBef>
          <a:spcPct val="20000"/>
        </a:spcBef>
        <a:spcAft>
          <a:spcPct val="0"/>
        </a:spcAft>
        <a:defRPr>
          <a:solidFill>
            <a:schemeClr val="tx1"/>
          </a:solidFill>
          <a:latin typeface="+mn-lt"/>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Holder 2">
            <a:extLst>
              <a:ext uri="{FF2B5EF4-FFF2-40B4-BE49-F238E27FC236}">
                <a16:creationId xmlns:a16="http://schemas.microsoft.com/office/drawing/2014/main" id="{D5225201-9094-512A-1C79-8F1B5D9FC761}"/>
              </a:ext>
            </a:extLst>
          </p:cNvPr>
          <p:cNvSpPr>
            <a:spLocks noGrp="1" noChangeArrowheads="1"/>
          </p:cNvSpPr>
          <p:nvPr>
            <p:ph type="title"/>
          </p:nvPr>
        </p:nvSpPr>
        <p:spPr bwMode="auto">
          <a:xfrm>
            <a:off x="1922463" y="771525"/>
            <a:ext cx="52990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2051" name="Holder 3">
            <a:extLst>
              <a:ext uri="{FF2B5EF4-FFF2-40B4-BE49-F238E27FC236}">
                <a16:creationId xmlns:a16="http://schemas.microsoft.com/office/drawing/2014/main" id="{2CC47F3F-85A0-5051-FFF7-D84473BF9DAD}"/>
              </a:ext>
            </a:extLst>
          </p:cNvPr>
          <p:cNvSpPr>
            <a:spLocks noGrp="1" noChangeArrowheads="1"/>
          </p:cNvSpPr>
          <p:nvPr>
            <p:ph type="body" idx="1"/>
          </p:nvPr>
        </p:nvSpPr>
        <p:spPr bwMode="auto">
          <a:xfrm>
            <a:off x="457200" y="1577975"/>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a:extLst>
              <a:ext uri="{FF2B5EF4-FFF2-40B4-BE49-F238E27FC236}">
                <a16:creationId xmlns:a16="http://schemas.microsoft.com/office/drawing/2014/main" id="{DE4AC097-CDF9-29AE-4049-8814E08C870B}"/>
              </a:ext>
            </a:extLst>
          </p:cNvPr>
          <p:cNvSpPr>
            <a:spLocks noGrp="1"/>
          </p:cNvSpPr>
          <p:nvPr>
            <p:ph type="ftr" sz="quarter" idx="5"/>
          </p:nvPr>
        </p:nvSpPr>
        <p:spPr>
          <a:xfrm>
            <a:off x="3108325" y="6378575"/>
            <a:ext cx="2927350" cy="276225"/>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Corbel"/>
              </a:defRPr>
            </a:lvl1pPr>
          </a:lstStyle>
          <a:p>
            <a:pPr>
              <a:defRPr/>
            </a:pPr>
            <a:endParaRPr lang="en-US"/>
          </a:p>
        </p:txBody>
      </p:sp>
      <p:sp>
        <p:nvSpPr>
          <p:cNvPr id="5" name="Holder 5">
            <a:extLst>
              <a:ext uri="{FF2B5EF4-FFF2-40B4-BE49-F238E27FC236}">
                <a16:creationId xmlns:a16="http://schemas.microsoft.com/office/drawing/2014/main" id="{7AD8B294-51BA-33F2-BB3D-35552541CF6F}"/>
              </a:ext>
            </a:extLst>
          </p:cNvPr>
          <p:cNvSpPr>
            <a:spLocks noGrp="1"/>
          </p:cNvSpPr>
          <p:nvPr>
            <p:ph type="dt" sz="half" idx="6"/>
          </p:nvPr>
        </p:nvSpPr>
        <p:spPr>
          <a:xfrm>
            <a:off x="457200" y="6378575"/>
            <a:ext cx="2103438" cy="276225"/>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Corbel"/>
              </a:defRPr>
            </a:lvl1pPr>
          </a:lstStyle>
          <a:p>
            <a:pPr>
              <a:defRPr/>
            </a:pPr>
            <a:fld id="{AB402797-E8F4-499D-9FCB-A3FC5C7CE145}" type="datetimeFigureOut">
              <a:rPr lang="en-US"/>
              <a:pPr>
                <a:defRPr/>
              </a:pPr>
              <a:t>11/5/2025</a:t>
            </a:fld>
            <a:endParaRPr lang="en-US" dirty="0"/>
          </a:p>
        </p:txBody>
      </p:sp>
      <p:sp>
        <p:nvSpPr>
          <p:cNvPr id="6" name="Holder 6">
            <a:extLst>
              <a:ext uri="{FF2B5EF4-FFF2-40B4-BE49-F238E27FC236}">
                <a16:creationId xmlns:a16="http://schemas.microsoft.com/office/drawing/2014/main" id="{A94C39FF-A681-86A4-90FD-8483F820242C}"/>
              </a:ext>
            </a:extLst>
          </p:cNvPr>
          <p:cNvSpPr>
            <a:spLocks noGrp="1"/>
          </p:cNvSpPr>
          <p:nvPr>
            <p:ph type="sldNum" sz="quarter" idx="7"/>
          </p:nvPr>
        </p:nvSpPr>
        <p:spPr>
          <a:xfrm>
            <a:off x="6583363" y="6378575"/>
            <a:ext cx="2103437" cy="276225"/>
          </a:xfrm>
          <a:prstGeom prst="rect">
            <a:avLst/>
          </a:prstGeom>
        </p:spPr>
        <p:txBody>
          <a:bodyPr vert="horz" wrap="square" lIns="0" tIns="0" rIns="0" bIns="0" numCol="1" anchor="t" anchorCtr="0" compatLnSpc="1">
            <a:prstTxWarp prst="textNoShape">
              <a:avLst/>
            </a:prstTxWarp>
            <a:spAutoFit/>
          </a:bodyPr>
          <a:lstStyle>
            <a:lvl1pPr algn="r" eaLnBrk="1" hangingPunct="1">
              <a:defRPr smtClean="0">
                <a:solidFill>
                  <a:srgbClr val="898989"/>
                </a:solidFill>
              </a:defRPr>
            </a:lvl1pPr>
          </a:lstStyle>
          <a:p>
            <a:pPr>
              <a:defRPr/>
            </a:pPr>
            <a:fld id="{7162B3AF-7687-45EB-AC8B-1D85BB4EDBB3}" type="slidenum">
              <a:rPr lang="uk-UA" altLang="en-US"/>
              <a:pPr>
                <a:defRPr/>
              </a:pPr>
              <a:t>‹#›</a:t>
            </a:fld>
            <a:endParaRPr lang="uk-UA" altLang="en-US"/>
          </a:p>
        </p:txBody>
      </p:sp>
      <p:pic>
        <p:nvPicPr>
          <p:cNvPr id="2055" name="Picture 6" descr="Michael Guld PPT Design_Master_Title.png">
            <a:extLst>
              <a:ext uri="{FF2B5EF4-FFF2-40B4-BE49-F238E27FC236}">
                <a16:creationId xmlns:a16="http://schemas.microsoft.com/office/drawing/2014/main" id="{4894FD29-19D1-9C60-319B-7D8A27AA073E}"/>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832" r:id="rId1"/>
    <p:sldLayoutId id="2147485833" r:id="rId2"/>
    <p:sldLayoutId id="2147485834" r:id="rId3"/>
    <p:sldLayoutId id="2147485835" r:id="rId4"/>
    <p:sldLayoutId id="2147485836" r:id="rId5"/>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Corbel"/>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Holder 2">
            <a:extLst>
              <a:ext uri="{FF2B5EF4-FFF2-40B4-BE49-F238E27FC236}">
                <a16:creationId xmlns:a16="http://schemas.microsoft.com/office/drawing/2014/main" id="{F93E35CA-7DF4-B1C3-EB8E-FAEFCE7ED87B}"/>
              </a:ext>
            </a:extLst>
          </p:cNvPr>
          <p:cNvSpPr>
            <a:spLocks noGrp="1" noChangeArrowheads="1"/>
          </p:cNvSpPr>
          <p:nvPr>
            <p:ph type="title"/>
          </p:nvPr>
        </p:nvSpPr>
        <p:spPr bwMode="auto">
          <a:xfrm>
            <a:off x="1922463" y="771525"/>
            <a:ext cx="52990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3075" name="Holder 3">
            <a:extLst>
              <a:ext uri="{FF2B5EF4-FFF2-40B4-BE49-F238E27FC236}">
                <a16:creationId xmlns:a16="http://schemas.microsoft.com/office/drawing/2014/main" id="{ABAC8B04-AB79-4428-4164-27F94323AA54}"/>
              </a:ext>
            </a:extLst>
          </p:cNvPr>
          <p:cNvSpPr>
            <a:spLocks noGrp="1" noChangeArrowheads="1"/>
          </p:cNvSpPr>
          <p:nvPr>
            <p:ph type="body" idx="1"/>
          </p:nvPr>
        </p:nvSpPr>
        <p:spPr bwMode="auto">
          <a:xfrm>
            <a:off x="457200" y="1577975"/>
            <a:ext cx="82296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lvl="0"/>
            <a:endParaRPr lang="en-US" altLang="en-US"/>
          </a:p>
        </p:txBody>
      </p:sp>
      <p:sp>
        <p:nvSpPr>
          <p:cNvPr id="4" name="Holder 4">
            <a:extLst>
              <a:ext uri="{FF2B5EF4-FFF2-40B4-BE49-F238E27FC236}">
                <a16:creationId xmlns:a16="http://schemas.microsoft.com/office/drawing/2014/main" id="{23597672-EB0A-019D-CEBD-BE3231BFEB7B}"/>
              </a:ext>
            </a:extLst>
          </p:cNvPr>
          <p:cNvSpPr>
            <a:spLocks noGrp="1"/>
          </p:cNvSpPr>
          <p:nvPr>
            <p:ph type="ftr" sz="quarter" idx="5"/>
          </p:nvPr>
        </p:nvSpPr>
        <p:spPr>
          <a:xfrm>
            <a:off x="3108325" y="6378575"/>
            <a:ext cx="2927350" cy="276225"/>
          </a:xfrm>
          <a:prstGeom prst="rect">
            <a:avLst/>
          </a:prstGeom>
        </p:spPr>
        <p:txBody>
          <a:bodyPr wrap="square" lIns="0" tIns="0" rIns="0" bIns="0">
            <a:spAutoFit/>
          </a:bodyPr>
          <a:lstStyle>
            <a:lvl1pPr algn="ctr" eaLnBrk="1" fontAlgn="auto" hangingPunct="1">
              <a:spcBef>
                <a:spcPts val="0"/>
              </a:spcBef>
              <a:spcAft>
                <a:spcPts val="0"/>
              </a:spcAft>
              <a:defRPr>
                <a:solidFill>
                  <a:schemeClr val="tx1">
                    <a:tint val="75000"/>
                  </a:schemeClr>
                </a:solidFill>
                <a:latin typeface="Corbel"/>
              </a:defRPr>
            </a:lvl1pPr>
          </a:lstStyle>
          <a:p>
            <a:pPr>
              <a:defRPr/>
            </a:pPr>
            <a:endParaRPr lang="en-US"/>
          </a:p>
        </p:txBody>
      </p:sp>
      <p:sp>
        <p:nvSpPr>
          <p:cNvPr id="5" name="Holder 5">
            <a:extLst>
              <a:ext uri="{FF2B5EF4-FFF2-40B4-BE49-F238E27FC236}">
                <a16:creationId xmlns:a16="http://schemas.microsoft.com/office/drawing/2014/main" id="{350A3BC0-C718-E671-43C5-C6711C99455A}"/>
              </a:ext>
            </a:extLst>
          </p:cNvPr>
          <p:cNvSpPr>
            <a:spLocks noGrp="1"/>
          </p:cNvSpPr>
          <p:nvPr>
            <p:ph type="dt" sz="half" idx="6"/>
          </p:nvPr>
        </p:nvSpPr>
        <p:spPr>
          <a:xfrm>
            <a:off x="457200" y="6378575"/>
            <a:ext cx="2103438" cy="276225"/>
          </a:xfrm>
          <a:prstGeom prst="rect">
            <a:avLst/>
          </a:prstGeom>
        </p:spPr>
        <p:txBody>
          <a:bodyPr wrap="square" lIns="0" tIns="0" rIns="0" bIns="0">
            <a:spAutoFit/>
          </a:bodyPr>
          <a:lstStyle>
            <a:lvl1pPr algn="l" eaLnBrk="1" fontAlgn="auto" hangingPunct="1">
              <a:spcBef>
                <a:spcPts val="0"/>
              </a:spcBef>
              <a:spcAft>
                <a:spcPts val="0"/>
              </a:spcAft>
              <a:defRPr>
                <a:solidFill>
                  <a:schemeClr val="tx1">
                    <a:tint val="75000"/>
                  </a:schemeClr>
                </a:solidFill>
                <a:latin typeface="Corbel"/>
              </a:defRPr>
            </a:lvl1pPr>
          </a:lstStyle>
          <a:p>
            <a:pPr>
              <a:defRPr/>
            </a:pPr>
            <a:fld id="{03C9E0CC-824F-44AF-81D4-ADFD35237B11}" type="datetimeFigureOut">
              <a:rPr lang="en-US"/>
              <a:pPr>
                <a:defRPr/>
              </a:pPr>
              <a:t>11/5/2025</a:t>
            </a:fld>
            <a:endParaRPr lang="en-US" dirty="0"/>
          </a:p>
        </p:txBody>
      </p:sp>
      <p:sp>
        <p:nvSpPr>
          <p:cNvPr id="6" name="Holder 6">
            <a:extLst>
              <a:ext uri="{FF2B5EF4-FFF2-40B4-BE49-F238E27FC236}">
                <a16:creationId xmlns:a16="http://schemas.microsoft.com/office/drawing/2014/main" id="{02C2E326-A326-8EE0-DA3E-D5556ED27CC7}"/>
              </a:ext>
            </a:extLst>
          </p:cNvPr>
          <p:cNvSpPr>
            <a:spLocks noGrp="1"/>
          </p:cNvSpPr>
          <p:nvPr>
            <p:ph type="sldNum" sz="quarter" idx="7"/>
          </p:nvPr>
        </p:nvSpPr>
        <p:spPr>
          <a:xfrm>
            <a:off x="6583363" y="6378575"/>
            <a:ext cx="2103437" cy="276225"/>
          </a:xfrm>
          <a:prstGeom prst="rect">
            <a:avLst/>
          </a:prstGeom>
        </p:spPr>
        <p:txBody>
          <a:bodyPr vert="horz" wrap="square" lIns="0" tIns="0" rIns="0" bIns="0" numCol="1" anchor="t" anchorCtr="0" compatLnSpc="1">
            <a:prstTxWarp prst="textNoShape">
              <a:avLst/>
            </a:prstTxWarp>
            <a:spAutoFit/>
          </a:bodyPr>
          <a:lstStyle>
            <a:lvl1pPr algn="r" eaLnBrk="1" hangingPunct="1">
              <a:defRPr smtClean="0">
                <a:solidFill>
                  <a:srgbClr val="898989"/>
                </a:solidFill>
              </a:defRPr>
            </a:lvl1pPr>
          </a:lstStyle>
          <a:p>
            <a:pPr>
              <a:defRPr/>
            </a:pPr>
            <a:fld id="{DE4F13C6-493B-4599-8AA3-1A05893BE344}" type="slidenum">
              <a:rPr lang="uk-UA" altLang="en-US"/>
              <a:pPr>
                <a:defRPr/>
              </a:pPr>
              <a:t>‹#›</a:t>
            </a:fld>
            <a:endParaRPr lang="uk-UA" altLang="en-US"/>
          </a:p>
        </p:txBody>
      </p:sp>
      <p:pic>
        <p:nvPicPr>
          <p:cNvPr id="3079" name="Picture 7" descr="Michael Guld PPT Design_Master_Title2.png">
            <a:extLst>
              <a:ext uri="{FF2B5EF4-FFF2-40B4-BE49-F238E27FC236}">
                <a16:creationId xmlns:a16="http://schemas.microsoft.com/office/drawing/2014/main" id="{FF94489C-3486-4E62-0DDE-1C6717BA565B}"/>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a:extLst>
              <a:ext uri="{FF2B5EF4-FFF2-40B4-BE49-F238E27FC236}">
                <a16:creationId xmlns:a16="http://schemas.microsoft.com/office/drawing/2014/main" id="{75503396-7415-F6A1-BF79-5A5913146A45}"/>
              </a:ext>
            </a:extLst>
          </p:cNvPr>
          <p:cNvSpPr txBox="1">
            <a:spLocks noChangeArrowheads="1"/>
          </p:cNvSpPr>
          <p:nvPr userDrawn="1"/>
        </p:nvSpPr>
        <p:spPr bwMode="auto">
          <a:xfrm>
            <a:off x="457200" y="6096000"/>
            <a:ext cx="8229600" cy="307975"/>
          </a:xfrm>
          <a:prstGeom prst="rect">
            <a:avLst/>
          </a:prstGeom>
          <a:noFill/>
          <a:ln>
            <a:noFill/>
          </a:ln>
        </p:spPr>
        <p:txBody>
          <a:bodyPr lIns="0" tIns="0" rIns="0" bIns="0">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Aft>
                <a:spcPct val="0"/>
              </a:spcAft>
              <a:buFont typeface="Arial" charset="0"/>
              <a:buChar char="»"/>
              <a:defRPr sz="2000">
                <a:solidFill>
                  <a:schemeClr val="tx1"/>
                </a:solidFill>
                <a:latin typeface="Calibri" charset="0"/>
                <a:ea typeface="ＭＳ Ｐゴシック" charset="0"/>
              </a:defRPr>
            </a:lvl6pPr>
            <a:lvl7pPr eaLnBrk="0" fontAlgn="base" hangingPunct="0">
              <a:spcAft>
                <a:spcPct val="0"/>
              </a:spcAft>
              <a:buFont typeface="Arial" charset="0"/>
              <a:buChar char="»"/>
              <a:defRPr sz="2000">
                <a:solidFill>
                  <a:schemeClr val="tx1"/>
                </a:solidFill>
                <a:latin typeface="Calibri" charset="0"/>
                <a:ea typeface="ＭＳ Ｐゴシック" charset="0"/>
              </a:defRPr>
            </a:lvl7pPr>
            <a:lvl8pPr eaLnBrk="0" fontAlgn="base" hangingPunct="0">
              <a:spcAft>
                <a:spcPct val="0"/>
              </a:spcAft>
              <a:buFont typeface="Arial" charset="0"/>
              <a:buChar char="»"/>
              <a:defRPr sz="2000">
                <a:solidFill>
                  <a:schemeClr val="tx1"/>
                </a:solidFill>
                <a:latin typeface="Calibri" charset="0"/>
                <a:ea typeface="ＭＳ Ｐゴシック" charset="0"/>
              </a:defRPr>
            </a:lvl8pPr>
            <a:lvl9pPr eaLnBrk="0" fontAlgn="base" hangingPunct="0">
              <a:spcAft>
                <a:spcPct val="0"/>
              </a:spcAft>
              <a:buFont typeface="Arial" charset="0"/>
              <a:buChar char="»"/>
              <a:defRPr sz="2000">
                <a:solidFill>
                  <a:schemeClr val="tx1"/>
                </a:solidFill>
                <a:latin typeface="Calibri" charset="0"/>
                <a:ea typeface="ＭＳ Ｐゴシック" charset="0"/>
              </a:defRPr>
            </a:lvl9pPr>
          </a:lstStyle>
          <a:p>
            <a:pPr eaLnBrk="1" fontAlgn="auto" hangingPunct="1">
              <a:lnSpc>
                <a:spcPct val="95000"/>
              </a:lnSpc>
              <a:spcBef>
                <a:spcPts val="0"/>
              </a:spcBef>
              <a:spcAft>
                <a:spcPts val="0"/>
              </a:spcAft>
              <a:defRPr/>
            </a:pPr>
            <a:r>
              <a:rPr lang="en-US" sz="700" b="1" dirty="0">
                <a:solidFill>
                  <a:srgbClr val="7B8364"/>
                </a:solidFill>
                <a:latin typeface="Corbel"/>
                <a:ea typeface="Corbel"/>
              </a:rPr>
              <a:t>Copyright © 1984-2017 Executive Decision Systems, Inc. and The </a:t>
            </a:r>
            <a:r>
              <a:rPr lang="en-US" sz="700" b="1" dirty="0" err="1">
                <a:solidFill>
                  <a:srgbClr val="7B8364"/>
                </a:solidFill>
                <a:latin typeface="Corbel"/>
                <a:ea typeface="Corbel"/>
              </a:rPr>
              <a:t>Guld</a:t>
            </a:r>
            <a:r>
              <a:rPr lang="en-US" sz="700" b="1" dirty="0">
                <a:solidFill>
                  <a:srgbClr val="7B8364"/>
                </a:solidFill>
                <a:latin typeface="Corbel"/>
                <a:ea typeface="Corbel"/>
              </a:rPr>
              <a:t> Resource Group, LLC.  The data, formulas, and other content in these materials are the property of Executive Decision Systems, Inc. and The </a:t>
            </a:r>
            <a:r>
              <a:rPr lang="en-US" sz="700" b="1" dirty="0" err="1">
                <a:solidFill>
                  <a:srgbClr val="7B8364"/>
                </a:solidFill>
                <a:latin typeface="Corbel"/>
                <a:ea typeface="Corbel"/>
              </a:rPr>
              <a:t>Guld</a:t>
            </a:r>
            <a:r>
              <a:rPr lang="en-US" sz="700" b="1" dirty="0">
                <a:solidFill>
                  <a:srgbClr val="7B8364"/>
                </a:solidFill>
                <a:latin typeface="Corbel"/>
                <a:ea typeface="Corbel"/>
              </a:rPr>
              <a:t> Resource Group, LLC and are protected by copyright and other intellectual property laws.  No part of these materials may be reproduced, distributed, or used in any way without a license agreement or other written consent of The </a:t>
            </a:r>
            <a:r>
              <a:rPr lang="en-US" sz="700" b="1" dirty="0" err="1">
                <a:solidFill>
                  <a:srgbClr val="7B8364"/>
                </a:solidFill>
                <a:latin typeface="Corbel"/>
                <a:ea typeface="Corbel"/>
              </a:rPr>
              <a:t>Guld</a:t>
            </a:r>
            <a:r>
              <a:rPr lang="en-US" sz="700" b="1" dirty="0">
                <a:solidFill>
                  <a:srgbClr val="7B8364"/>
                </a:solidFill>
                <a:latin typeface="Corbel"/>
                <a:ea typeface="Corbel"/>
              </a:rPr>
              <a:t> Resource Group, LLC permitting such use.  All rights reserved.  To report violations, please call (804) 356-7006.</a:t>
            </a:r>
            <a:endParaRPr lang="en-US" sz="700" dirty="0">
              <a:solidFill>
                <a:srgbClr val="7B8364"/>
              </a:solidFill>
              <a:latin typeface="Corbel"/>
              <a:ea typeface="Corbel"/>
            </a:endParaRPr>
          </a:p>
        </p:txBody>
      </p:sp>
      <p:sp>
        <p:nvSpPr>
          <p:cNvPr id="10" name="Title 4">
            <a:extLst>
              <a:ext uri="{FF2B5EF4-FFF2-40B4-BE49-F238E27FC236}">
                <a16:creationId xmlns:a16="http://schemas.microsoft.com/office/drawing/2014/main" id="{C77DF0E8-074A-6CC2-F644-06548B67A7F4}"/>
              </a:ext>
            </a:extLst>
          </p:cNvPr>
          <p:cNvSpPr txBox="1">
            <a:spLocks/>
          </p:cNvSpPr>
          <p:nvPr userDrawn="1"/>
        </p:nvSpPr>
        <p:spPr bwMode="auto">
          <a:xfrm>
            <a:off x="1133475" y="3200400"/>
            <a:ext cx="3886200" cy="392113"/>
          </a:xfrm>
          <a:prstGeom prst="rect">
            <a:avLst/>
          </a:prstGeom>
          <a:noFill/>
          <a:ln>
            <a:noFill/>
          </a:ln>
        </p:spPr>
        <p:txBody>
          <a:bodyPr anchor="ct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Aft>
                <a:spcPct val="0"/>
              </a:spcAft>
              <a:buFont typeface="Arial" charset="0"/>
              <a:buChar char="»"/>
              <a:defRPr sz="2000">
                <a:solidFill>
                  <a:schemeClr val="tx1"/>
                </a:solidFill>
                <a:latin typeface="Calibri" charset="0"/>
                <a:ea typeface="ＭＳ Ｐゴシック" charset="0"/>
              </a:defRPr>
            </a:lvl6pPr>
            <a:lvl7pPr eaLnBrk="0" fontAlgn="base" hangingPunct="0">
              <a:spcAft>
                <a:spcPct val="0"/>
              </a:spcAft>
              <a:buFont typeface="Arial" charset="0"/>
              <a:buChar char="»"/>
              <a:defRPr sz="2000">
                <a:solidFill>
                  <a:schemeClr val="tx1"/>
                </a:solidFill>
                <a:latin typeface="Calibri" charset="0"/>
                <a:ea typeface="ＭＳ Ｐゴシック" charset="0"/>
              </a:defRPr>
            </a:lvl7pPr>
            <a:lvl8pPr eaLnBrk="0" fontAlgn="base" hangingPunct="0">
              <a:spcAft>
                <a:spcPct val="0"/>
              </a:spcAft>
              <a:buFont typeface="Arial" charset="0"/>
              <a:buChar char="»"/>
              <a:defRPr sz="2000">
                <a:solidFill>
                  <a:schemeClr val="tx1"/>
                </a:solidFill>
                <a:latin typeface="Calibri" charset="0"/>
                <a:ea typeface="ＭＳ Ｐゴシック" charset="0"/>
              </a:defRPr>
            </a:lvl8pPr>
            <a:lvl9pPr eaLnBrk="0" fontAlgn="base" hangingPunct="0">
              <a:spcAft>
                <a:spcPct val="0"/>
              </a:spcAft>
              <a:buFont typeface="Arial" charset="0"/>
              <a:buChar char="»"/>
              <a:defRPr sz="2000">
                <a:solidFill>
                  <a:schemeClr val="tx1"/>
                </a:solidFill>
                <a:latin typeface="Calibri" charset="0"/>
                <a:ea typeface="ＭＳ Ｐゴシック" charset="0"/>
              </a:defRPr>
            </a:lvl9pPr>
          </a:lstStyle>
          <a:p>
            <a:pPr eaLnBrk="1" fontAlgn="auto" hangingPunct="1">
              <a:spcBef>
                <a:spcPts val="0"/>
              </a:spcBef>
              <a:spcAft>
                <a:spcPts val="0"/>
              </a:spcAft>
              <a:defRPr/>
            </a:pPr>
            <a:r>
              <a:rPr lang="en-US" sz="2800" dirty="0">
                <a:solidFill>
                  <a:srgbClr val="4E5E53"/>
                </a:solidFill>
                <a:latin typeface="Corbel"/>
                <a:ea typeface="Corbel"/>
              </a:rPr>
              <a:t>Presented To:</a:t>
            </a:r>
          </a:p>
        </p:txBody>
      </p:sp>
      <p:sp>
        <p:nvSpPr>
          <p:cNvPr id="11" name="Title 4">
            <a:extLst>
              <a:ext uri="{FF2B5EF4-FFF2-40B4-BE49-F238E27FC236}">
                <a16:creationId xmlns:a16="http://schemas.microsoft.com/office/drawing/2014/main" id="{2A5F6015-DE88-8974-088D-677799E3521A}"/>
              </a:ext>
            </a:extLst>
          </p:cNvPr>
          <p:cNvSpPr txBox="1">
            <a:spLocks/>
          </p:cNvSpPr>
          <p:nvPr userDrawn="1"/>
        </p:nvSpPr>
        <p:spPr bwMode="auto">
          <a:xfrm>
            <a:off x="1133475" y="4800600"/>
            <a:ext cx="3886200" cy="392113"/>
          </a:xfrm>
          <a:prstGeom prst="rect">
            <a:avLst/>
          </a:prstGeom>
          <a:noFill/>
          <a:ln>
            <a:noFill/>
          </a:ln>
        </p:spPr>
        <p:txBody>
          <a:bodyPr anchor="ct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Aft>
                <a:spcPct val="0"/>
              </a:spcAft>
              <a:buFont typeface="Arial" charset="0"/>
              <a:buChar char="»"/>
              <a:defRPr sz="2000">
                <a:solidFill>
                  <a:schemeClr val="tx1"/>
                </a:solidFill>
                <a:latin typeface="Calibri" charset="0"/>
                <a:ea typeface="ＭＳ Ｐゴシック" charset="0"/>
              </a:defRPr>
            </a:lvl6pPr>
            <a:lvl7pPr eaLnBrk="0" fontAlgn="base" hangingPunct="0">
              <a:spcAft>
                <a:spcPct val="0"/>
              </a:spcAft>
              <a:buFont typeface="Arial" charset="0"/>
              <a:buChar char="»"/>
              <a:defRPr sz="2000">
                <a:solidFill>
                  <a:schemeClr val="tx1"/>
                </a:solidFill>
                <a:latin typeface="Calibri" charset="0"/>
                <a:ea typeface="ＭＳ Ｐゴシック" charset="0"/>
              </a:defRPr>
            </a:lvl7pPr>
            <a:lvl8pPr eaLnBrk="0" fontAlgn="base" hangingPunct="0">
              <a:spcAft>
                <a:spcPct val="0"/>
              </a:spcAft>
              <a:buFont typeface="Arial" charset="0"/>
              <a:buChar char="»"/>
              <a:defRPr sz="2000">
                <a:solidFill>
                  <a:schemeClr val="tx1"/>
                </a:solidFill>
                <a:latin typeface="Calibri" charset="0"/>
                <a:ea typeface="ＭＳ Ｐゴシック" charset="0"/>
              </a:defRPr>
            </a:lvl8pPr>
            <a:lvl9pPr eaLnBrk="0" fontAlgn="base" hangingPunct="0">
              <a:spcAft>
                <a:spcPct val="0"/>
              </a:spcAft>
              <a:buFont typeface="Arial" charset="0"/>
              <a:buChar char="»"/>
              <a:defRPr sz="2000">
                <a:solidFill>
                  <a:schemeClr val="tx1"/>
                </a:solidFill>
                <a:latin typeface="Calibri" charset="0"/>
                <a:ea typeface="ＭＳ Ｐゴシック" charset="0"/>
              </a:defRPr>
            </a:lvl9pPr>
          </a:lstStyle>
          <a:p>
            <a:pPr eaLnBrk="1" fontAlgn="auto" hangingPunct="1">
              <a:spcBef>
                <a:spcPts val="0"/>
              </a:spcBef>
              <a:spcAft>
                <a:spcPts val="0"/>
              </a:spcAft>
              <a:defRPr/>
            </a:pPr>
            <a:r>
              <a:rPr lang="en-US" sz="2800" dirty="0">
                <a:solidFill>
                  <a:srgbClr val="4E5E53"/>
                </a:solidFill>
                <a:latin typeface="Corbel"/>
                <a:ea typeface="Corbel"/>
              </a:rPr>
              <a:t>Presented By:</a:t>
            </a:r>
          </a:p>
        </p:txBody>
      </p:sp>
    </p:spTree>
  </p:cSld>
  <p:clrMap bg1="lt1" tx1="dk1" bg2="lt2" tx2="dk2" accent1="accent1" accent2="accent2" accent3="accent3" accent4="accent4" accent5="accent5" accent6="accent6" hlink="hlink" folHlink="folHlink"/>
  <p:sldLayoutIdLst>
    <p:sldLayoutId id="2147485837" r:id="rId1"/>
    <p:sldLayoutId id="2147485838" r:id="rId2"/>
    <p:sldLayoutId id="2147485839" r:id="rId3"/>
  </p:sldLayoutIdLst>
  <p:txStyles>
    <p:titleStyle>
      <a:lvl1pPr algn="ctr" rtl="0" eaLnBrk="0" fontAlgn="base" hangingPunct="0">
        <a:spcBef>
          <a:spcPct val="0"/>
        </a:spcBef>
        <a:spcAft>
          <a:spcPct val="0"/>
        </a:spcAft>
        <a:defRPr>
          <a:solidFill>
            <a:schemeClr val="tx2"/>
          </a:solidFill>
          <a:latin typeface="+mj-lt"/>
          <a:ea typeface="+mj-ea"/>
          <a:cs typeface="+mj-cs"/>
        </a:defRPr>
      </a:lvl1pPr>
      <a:lvl2pPr algn="ctr" rtl="0" eaLnBrk="0" fontAlgn="base" hangingPunct="0">
        <a:spcBef>
          <a:spcPct val="0"/>
        </a:spcBef>
        <a:spcAft>
          <a:spcPct val="0"/>
        </a:spcAft>
        <a:defRPr>
          <a:solidFill>
            <a:schemeClr val="tx2"/>
          </a:solidFill>
          <a:latin typeface="Calibri" panose="020F0502020204030204" pitchFamily="34" charset="0"/>
        </a:defRPr>
      </a:lvl2pPr>
      <a:lvl3pPr algn="ctr" rtl="0" eaLnBrk="0" fontAlgn="base" hangingPunct="0">
        <a:spcBef>
          <a:spcPct val="0"/>
        </a:spcBef>
        <a:spcAft>
          <a:spcPct val="0"/>
        </a:spcAft>
        <a:defRPr>
          <a:solidFill>
            <a:schemeClr val="tx2"/>
          </a:solidFill>
          <a:latin typeface="Calibri" panose="020F0502020204030204" pitchFamily="34" charset="0"/>
        </a:defRPr>
      </a:lvl3pPr>
      <a:lvl4pPr algn="ctr" rtl="0" eaLnBrk="0" fontAlgn="base" hangingPunct="0">
        <a:spcBef>
          <a:spcPct val="0"/>
        </a:spcBef>
        <a:spcAft>
          <a:spcPct val="0"/>
        </a:spcAft>
        <a:defRPr>
          <a:solidFill>
            <a:schemeClr val="tx2"/>
          </a:solidFill>
          <a:latin typeface="Calibri" panose="020F0502020204030204" pitchFamily="34" charset="0"/>
        </a:defRPr>
      </a:lvl4pPr>
      <a:lvl5pPr algn="ctr" rtl="0" eaLnBrk="0" fontAlgn="base" hangingPunct="0">
        <a:spcBef>
          <a:spcPct val="0"/>
        </a:spcBef>
        <a:spcAft>
          <a:spcPct val="0"/>
        </a:spcAft>
        <a:defRPr>
          <a:solidFill>
            <a:schemeClr val="tx2"/>
          </a:solidFill>
          <a:latin typeface="Calibri" panose="020F0502020204030204" pitchFamily="34" charset="0"/>
        </a:defRPr>
      </a:lvl5pPr>
      <a:lvl6pPr marL="457200" algn="ctr" rtl="0" eaLnBrk="0" fontAlgn="base" hangingPunct="0">
        <a:spcBef>
          <a:spcPct val="0"/>
        </a:spcBef>
        <a:spcAft>
          <a:spcPct val="0"/>
        </a:spcAft>
        <a:defRPr>
          <a:solidFill>
            <a:schemeClr val="tx2"/>
          </a:solidFill>
          <a:latin typeface="Calibri" panose="020F0502020204030204" pitchFamily="34" charset="0"/>
        </a:defRPr>
      </a:lvl6pPr>
      <a:lvl7pPr marL="914400" algn="ctr" rtl="0" eaLnBrk="0" fontAlgn="base" hangingPunct="0">
        <a:spcBef>
          <a:spcPct val="0"/>
        </a:spcBef>
        <a:spcAft>
          <a:spcPct val="0"/>
        </a:spcAft>
        <a:defRPr>
          <a:solidFill>
            <a:schemeClr val="tx2"/>
          </a:solidFill>
          <a:latin typeface="Calibri" panose="020F0502020204030204" pitchFamily="34" charset="0"/>
        </a:defRPr>
      </a:lvl7pPr>
      <a:lvl8pPr marL="1371600" algn="ctr" rtl="0" eaLnBrk="0" fontAlgn="base" hangingPunct="0">
        <a:spcBef>
          <a:spcPct val="0"/>
        </a:spcBef>
        <a:spcAft>
          <a:spcPct val="0"/>
        </a:spcAft>
        <a:defRPr>
          <a:solidFill>
            <a:schemeClr val="tx2"/>
          </a:solidFill>
          <a:latin typeface="Calibri" panose="020F0502020204030204" pitchFamily="34" charset="0"/>
        </a:defRPr>
      </a:lvl8pPr>
      <a:lvl9pPr marL="1828800" algn="ctr" rtl="0" eaLnBrk="0" fontAlgn="base" hangingPunct="0">
        <a:spcBef>
          <a:spcPct val="0"/>
        </a:spcBef>
        <a:spcAft>
          <a:spcPct val="0"/>
        </a:spcAft>
        <a:defRPr>
          <a:solidFill>
            <a:schemeClr val="tx2"/>
          </a:solidFill>
          <a:latin typeface="Calibri" panose="020F0502020204030204" pitchFamily="34" charset="0"/>
        </a:defRPr>
      </a:lvl9pPr>
    </p:titleStyle>
    <p:bodyStyle>
      <a:lvl1pPr algn="l" rtl="0" eaLnBrk="0" fontAlgn="base" hangingPunct="0">
        <a:spcBef>
          <a:spcPct val="20000"/>
        </a:spcBef>
        <a:spcAft>
          <a:spcPct val="0"/>
        </a:spcAft>
        <a:defRPr>
          <a:solidFill>
            <a:schemeClr val="tx1"/>
          </a:solidFill>
          <a:latin typeface="Corbel"/>
          <a:ea typeface="+mn-ea"/>
          <a:cs typeface="+mn-cs"/>
        </a:defRPr>
      </a:lvl1pPr>
      <a:lvl2pPr marL="457200" algn="l" rtl="0" eaLnBrk="0" fontAlgn="base" hangingPunct="0">
        <a:spcBef>
          <a:spcPct val="20000"/>
        </a:spcBef>
        <a:spcAft>
          <a:spcPct val="0"/>
        </a:spcAft>
        <a:defRPr>
          <a:solidFill>
            <a:schemeClr val="tx1"/>
          </a:solidFill>
          <a:latin typeface="+mn-lt"/>
          <a:ea typeface="+mn-ea"/>
          <a:cs typeface="+mn-cs"/>
        </a:defRPr>
      </a:lvl2pPr>
      <a:lvl3pPr marL="914400" algn="l" rtl="0" eaLnBrk="0" fontAlgn="base" hangingPunct="0">
        <a:spcBef>
          <a:spcPct val="20000"/>
        </a:spcBef>
        <a:spcAft>
          <a:spcPct val="0"/>
        </a:spcAft>
        <a:defRPr>
          <a:solidFill>
            <a:schemeClr val="tx1"/>
          </a:solidFill>
          <a:latin typeface="+mn-lt"/>
          <a:ea typeface="+mn-ea"/>
          <a:cs typeface="+mn-cs"/>
        </a:defRPr>
      </a:lvl3pPr>
      <a:lvl4pPr marL="1371600" algn="l" rtl="0" eaLnBrk="0" fontAlgn="base" hangingPunct="0">
        <a:spcBef>
          <a:spcPct val="20000"/>
        </a:spcBef>
        <a:spcAft>
          <a:spcPct val="0"/>
        </a:spcAft>
        <a:defRPr>
          <a:solidFill>
            <a:schemeClr val="tx1"/>
          </a:solidFill>
          <a:latin typeface="+mn-lt"/>
          <a:ea typeface="+mn-ea"/>
          <a:cs typeface="+mn-cs"/>
        </a:defRPr>
      </a:lvl4pPr>
      <a:lvl5pPr marL="1828800" algn="l" rtl="0" eaLnBrk="0" fontAlgn="base" hangingPunct="0">
        <a:spcBef>
          <a:spcPct val="20000"/>
        </a:spcBef>
        <a:spcAft>
          <a:spcPct val="0"/>
        </a:spcAft>
        <a:defRPr>
          <a:solidFill>
            <a:schemeClr val="tx1"/>
          </a:solidFill>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oleObject" Target="../embeddings/oleObject5.bin"/><Relationship Id="rId10" Type="http://schemas.openxmlformats.org/officeDocument/2006/relationships/image" Target="../media/image17.emf"/><Relationship Id="rId4" Type="http://schemas.openxmlformats.org/officeDocument/2006/relationships/image" Target="../media/image14.emf"/><Relationship Id="rId9"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oleObject" Target="../embeddings/oleObject4.bin"/><Relationship Id="rId7" Type="http://schemas.openxmlformats.org/officeDocument/2006/relationships/oleObject" Target="../embeddings/oleObject10.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oleObject" Target="../embeddings/oleObject9.bin"/><Relationship Id="rId10" Type="http://schemas.openxmlformats.org/officeDocument/2006/relationships/image" Target="../media/image21.emf"/><Relationship Id="rId4" Type="http://schemas.openxmlformats.org/officeDocument/2006/relationships/image" Target="../media/image14.emf"/><Relationship Id="rId9" Type="http://schemas.openxmlformats.org/officeDocument/2006/relationships/oleObject" Target="../embeddings/oleObject11.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2.bin"/><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3.bin"/><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4">
            <a:extLst>
              <a:ext uri="{FF2B5EF4-FFF2-40B4-BE49-F238E27FC236}">
                <a16:creationId xmlns:a16="http://schemas.microsoft.com/office/drawing/2014/main" id="{6FD2EDD4-0880-C445-8036-6113B3294426}"/>
              </a:ext>
            </a:extLst>
          </p:cNvPr>
          <p:cNvSpPr txBox="1">
            <a:spLocks noChangeArrowheads="1"/>
          </p:cNvSpPr>
          <p:nvPr/>
        </p:nvSpPr>
        <p:spPr bwMode="auto">
          <a:xfrm>
            <a:off x="1600200" y="3722688"/>
            <a:ext cx="3886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b="1">
              <a:solidFill>
                <a:srgbClr val="00274D"/>
              </a:solidFill>
              <a:ea typeface="Corbel" panose="020B0503020204020204" pitchFamily="34" charset="0"/>
              <a:cs typeface="Corbel" panose="020B0503020204020204" pitchFamily="34" charset="0"/>
            </a:endParaRPr>
          </a:p>
        </p:txBody>
      </p:sp>
      <p:sp>
        <p:nvSpPr>
          <p:cNvPr id="18435" name="Title 4">
            <a:extLst>
              <a:ext uri="{FF2B5EF4-FFF2-40B4-BE49-F238E27FC236}">
                <a16:creationId xmlns:a16="http://schemas.microsoft.com/office/drawing/2014/main" id="{F5B8873C-4AB5-CBB7-BFCF-973FB4B49AEB}"/>
              </a:ext>
            </a:extLst>
          </p:cNvPr>
          <p:cNvSpPr txBox="1">
            <a:spLocks noChangeArrowheads="1"/>
          </p:cNvSpPr>
          <p:nvPr/>
        </p:nvSpPr>
        <p:spPr bwMode="auto">
          <a:xfrm>
            <a:off x="1600200" y="5322888"/>
            <a:ext cx="3886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b="1">
              <a:solidFill>
                <a:srgbClr val="00274D"/>
              </a:solidFill>
              <a:ea typeface="Corbel" panose="020B0503020204020204" pitchFamily="34" charset="0"/>
              <a:cs typeface="Corbel" panose="020B0503020204020204" pitchFamily="34" charset="0"/>
            </a:endParaRPr>
          </a:p>
        </p:txBody>
      </p:sp>
      <p:sp>
        <p:nvSpPr>
          <p:cNvPr id="18436" name="Title 4">
            <a:extLst>
              <a:ext uri="{FF2B5EF4-FFF2-40B4-BE49-F238E27FC236}">
                <a16:creationId xmlns:a16="http://schemas.microsoft.com/office/drawing/2014/main" id="{184A402A-B308-A55E-F311-76BAEBD8D634}"/>
              </a:ext>
            </a:extLst>
          </p:cNvPr>
          <p:cNvSpPr txBox="1">
            <a:spLocks noChangeArrowheads="1"/>
          </p:cNvSpPr>
          <p:nvPr/>
        </p:nvSpPr>
        <p:spPr bwMode="auto">
          <a:xfrm>
            <a:off x="1600200" y="4114800"/>
            <a:ext cx="3886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b="1">
              <a:solidFill>
                <a:srgbClr val="00274D"/>
              </a:solidFill>
              <a:ea typeface="Corbel" panose="020B0503020204020204" pitchFamily="34" charset="0"/>
              <a:cs typeface="Corbel" panose="020B0503020204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a:extLst>
              <a:ext uri="{FF2B5EF4-FFF2-40B4-BE49-F238E27FC236}">
                <a16:creationId xmlns:a16="http://schemas.microsoft.com/office/drawing/2014/main" id="{BFF6500E-552C-A23B-3D99-21B56D424114}"/>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Team Commitment</a:t>
            </a:r>
          </a:p>
        </p:txBody>
      </p:sp>
      <p:sp>
        <p:nvSpPr>
          <p:cNvPr id="20483" name="Slide Number Placeholder 4">
            <a:extLst>
              <a:ext uri="{FF2B5EF4-FFF2-40B4-BE49-F238E27FC236}">
                <a16:creationId xmlns:a16="http://schemas.microsoft.com/office/drawing/2014/main" id="{C49E5272-2DD0-1A0B-F9B4-AF4C27BA4EEE}"/>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9E46F609-12BE-4EF8-9CC8-9B5F3EEE5A92}"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a:t>
            </a:fld>
            <a:endParaRPr lang="en-US" altLang="en-US" sz="1100">
              <a:solidFill>
                <a:schemeClr val="bg1"/>
              </a:solidFill>
              <a:ea typeface="Corbel" panose="020B0503020204020204" pitchFamily="34" charset="0"/>
              <a:cs typeface="Corbel" panose="020B0503020204020204" pitchFamily="34" charset="0"/>
            </a:endParaRPr>
          </a:p>
        </p:txBody>
      </p:sp>
      <p:sp>
        <p:nvSpPr>
          <p:cNvPr id="20484" name="Text Box 13">
            <a:extLst>
              <a:ext uri="{FF2B5EF4-FFF2-40B4-BE49-F238E27FC236}">
                <a16:creationId xmlns:a16="http://schemas.microsoft.com/office/drawing/2014/main" id="{060C0995-9E10-00FC-81CF-BC17F401F6E4}"/>
              </a:ext>
            </a:extLst>
          </p:cNvPr>
          <p:cNvSpPr txBox="1">
            <a:spLocks noChangeArrowheads="1"/>
          </p:cNvSpPr>
          <p:nvPr/>
        </p:nvSpPr>
        <p:spPr bwMode="auto">
          <a:xfrm>
            <a:off x="565150" y="1312863"/>
            <a:ext cx="40354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a:solidFill>
                  <a:srgbClr val="00274D"/>
                </a:solidFill>
                <a:ea typeface="Corbel" panose="020B0503020204020204" pitchFamily="34" charset="0"/>
                <a:cs typeface="Corbel" panose="020B0503020204020204" pitchFamily="34" charset="0"/>
              </a:rPr>
              <a:t>The following proposal will be submitted to</a:t>
            </a:r>
          </a:p>
        </p:txBody>
      </p:sp>
      <p:sp>
        <p:nvSpPr>
          <p:cNvPr id="20485" name="TextBox 13">
            <a:extLst>
              <a:ext uri="{FF2B5EF4-FFF2-40B4-BE49-F238E27FC236}">
                <a16:creationId xmlns:a16="http://schemas.microsoft.com/office/drawing/2014/main" id="{2BC3FCE4-5ED0-5185-031C-697B6D123DC2}"/>
              </a:ext>
            </a:extLst>
          </p:cNvPr>
          <p:cNvSpPr txBox="1">
            <a:spLocks noChangeArrowheads="1"/>
          </p:cNvSpPr>
          <p:nvPr/>
        </p:nvSpPr>
        <p:spPr bwMode="auto">
          <a:xfrm>
            <a:off x="4094163" y="1239838"/>
            <a:ext cx="16668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b="1">
              <a:solidFill>
                <a:srgbClr val="00274D"/>
              </a:solidFill>
              <a:ea typeface="Corbel" panose="020B0503020204020204" pitchFamily="34" charset="0"/>
              <a:cs typeface="Corbel" panose="020B0503020204020204" pitchFamily="34" charset="0"/>
            </a:endParaRPr>
          </a:p>
        </p:txBody>
      </p:sp>
      <p:sp>
        <p:nvSpPr>
          <p:cNvPr id="20486" name="Text Box 4">
            <a:extLst>
              <a:ext uri="{FF2B5EF4-FFF2-40B4-BE49-F238E27FC236}">
                <a16:creationId xmlns:a16="http://schemas.microsoft.com/office/drawing/2014/main" id="{692646CF-2CAA-D8FB-7045-43495F8A4E02}"/>
              </a:ext>
            </a:extLst>
          </p:cNvPr>
          <p:cNvSpPr txBox="1">
            <a:spLocks noChangeArrowheads="1"/>
          </p:cNvSpPr>
          <p:nvPr/>
        </p:nvSpPr>
        <p:spPr bwMode="auto">
          <a:xfrm>
            <a:off x="565150" y="1719263"/>
            <a:ext cx="8013700" cy="820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a:solidFill>
                  <a:srgbClr val="00274D"/>
                </a:solidFill>
                <a:ea typeface="Corbel" panose="020B0503020204020204" pitchFamily="34" charset="0"/>
                <a:cs typeface="Corbel" panose="020B0503020204020204" pitchFamily="34" charset="0"/>
              </a:rPr>
              <a:t>Your department will be involved in providing these services. Please read our proposal, recommend and bring to our attention any ways in which you feel we can more adequately satisfy our client’s needs. When you are prepared to commit to our clients the necessary effort to make them “more than satisfied,” with the results of our plan, please sign the following certification on behalf of you and your team.</a:t>
            </a:r>
          </a:p>
        </p:txBody>
      </p:sp>
      <p:sp>
        <p:nvSpPr>
          <p:cNvPr id="20487" name="Text Box 6">
            <a:extLst>
              <a:ext uri="{FF2B5EF4-FFF2-40B4-BE49-F238E27FC236}">
                <a16:creationId xmlns:a16="http://schemas.microsoft.com/office/drawing/2014/main" id="{2C7B55E5-47F2-C855-8C9D-C0781D98C74A}"/>
              </a:ext>
            </a:extLst>
          </p:cNvPr>
          <p:cNvSpPr txBox="1">
            <a:spLocks noChangeArrowheads="1"/>
          </p:cNvSpPr>
          <p:nvPr/>
        </p:nvSpPr>
        <p:spPr bwMode="auto">
          <a:xfrm>
            <a:off x="7659688" y="3322638"/>
            <a:ext cx="477837"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a:solidFill>
                  <a:srgbClr val="000000"/>
                </a:solidFill>
                <a:latin typeface="Arial" panose="020B0604020202020204" pitchFamily="34" charset="0"/>
                <a:cs typeface="Arial" panose="020B0604020202020204" pitchFamily="34" charset="0"/>
              </a:rPr>
              <a:t>Date</a:t>
            </a:r>
          </a:p>
        </p:txBody>
      </p:sp>
      <p:sp>
        <p:nvSpPr>
          <p:cNvPr id="20488" name="Text Box 8">
            <a:extLst>
              <a:ext uri="{FF2B5EF4-FFF2-40B4-BE49-F238E27FC236}">
                <a16:creationId xmlns:a16="http://schemas.microsoft.com/office/drawing/2014/main" id="{14A8DEBE-90B3-27C6-042E-780179F603C7}"/>
              </a:ext>
            </a:extLst>
          </p:cNvPr>
          <p:cNvSpPr txBox="1">
            <a:spLocks noChangeArrowheads="1"/>
          </p:cNvSpPr>
          <p:nvPr/>
        </p:nvSpPr>
        <p:spPr bwMode="auto">
          <a:xfrm>
            <a:off x="7659688" y="6070600"/>
            <a:ext cx="477837"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a:solidFill>
                  <a:srgbClr val="000000"/>
                </a:solidFill>
                <a:latin typeface="Arial" panose="020B0604020202020204" pitchFamily="34" charset="0"/>
                <a:cs typeface="Arial" panose="020B0604020202020204" pitchFamily="34" charset="0"/>
              </a:rPr>
              <a:t>Date</a:t>
            </a:r>
          </a:p>
        </p:txBody>
      </p:sp>
      <p:sp>
        <p:nvSpPr>
          <p:cNvPr id="20489" name="Text Box 10">
            <a:extLst>
              <a:ext uri="{FF2B5EF4-FFF2-40B4-BE49-F238E27FC236}">
                <a16:creationId xmlns:a16="http://schemas.microsoft.com/office/drawing/2014/main" id="{B13989F0-5D67-7C81-3592-DCF8A5A65508}"/>
              </a:ext>
            </a:extLst>
          </p:cNvPr>
          <p:cNvSpPr txBox="1">
            <a:spLocks noChangeArrowheads="1"/>
          </p:cNvSpPr>
          <p:nvPr/>
        </p:nvSpPr>
        <p:spPr bwMode="auto">
          <a:xfrm>
            <a:off x="7659688" y="5146675"/>
            <a:ext cx="477837"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a:solidFill>
                  <a:srgbClr val="000000"/>
                </a:solidFill>
                <a:latin typeface="Arial" panose="020B0604020202020204" pitchFamily="34" charset="0"/>
                <a:cs typeface="Arial" panose="020B0604020202020204" pitchFamily="34" charset="0"/>
              </a:rPr>
              <a:t>Date</a:t>
            </a:r>
          </a:p>
        </p:txBody>
      </p:sp>
      <p:sp>
        <p:nvSpPr>
          <p:cNvPr id="20490" name="Text Box 12">
            <a:extLst>
              <a:ext uri="{FF2B5EF4-FFF2-40B4-BE49-F238E27FC236}">
                <a16:creationId xmlns:a16="http://schemas.microsoft.com/office/drawing/2014/main" id="{1DB4114A-474F-1865-DDED-EE151029CB80}"/>
              </a:ext>
            </a:extLst>
          </p:cNvPr>
          <p:cNvSpPr txBox="1">
            <a:spLocks noChangeArrowheads="1"/>
          </p:cNvSpPr>
          <p:nvPr/>
        </p:nvSpPr>
        <p:spPr bwMode="auto">
          <a:xfrm>
            <a:off x="7659688" y="4233863"/>
            <a:ext cx="477837"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a:solidFill>
                  <a:srgbClr val="000000"/>
                </a:solidFill>
                <a:latin typeface="Arial" panose="020B0604020202020204" pitchFamily="34" charset="0"/>
                <a:cs typeface="Arial" panose="020B0604020202020204" pitchFamily="34" charset="0"/>
              </a:rPr>
              <a:t>Date</a:t>
            </a:r>
          </a:p>
        </p:txBody>
      </p:sp>
      <p:sp>
        <p:nvSpPr>
          <p:cNvPr id="20491" name="Text Box 8">
            <a:extLst>
              <a:ext uri="{FF2B5EF4-FFF2-40B4-BE49-F238E27FC236}">
                <a16:creationId xmlns:a16="http://schemas.microsoft.com/office/drawing/2014/main" id="{50F09922-7D26-FAD8-8A24-3AAF3CD5AE43}"/>
              </a:ext>
            </a:extLst>
          </p:cNvPr>
          <p:cNvSpPr txBox="1">
            <a:spLocks noChangeArrowheads="1"/>
          </p:cNvSpPr>
          <p:nvPr/>
        </p:nvSpPr>
        <p:spPr bwMode="auto">
          <a:xfrm>
            <a:off x="588963" y="4191000"/>
            <a:ext cx="32908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400">
              <a:latin typeface="Arial" panose="020B0604020202020204" pitchFamily="34" charset="0"/>
              <a:cs typeface="Arial" panose="020B0604020202020204" pitchFamily="34" charset="0"/>
            </a:endParaRPr>
          </a:p>
        </p:txBody>
      </p:sp>
      <p:sp>
        <p:nvSpPr>
          <p:cNvPr id="20492" name="Text Box 8">
            <a:extLst>
              <a:ext uri="{FF2B5EF4-FFF2-40B4-BE49-F238E27FC236}">
                <a16:creationId xmlns:a16="http://schemas.microsoft.com/office/drawing/2014/main" id="{12F146D5-2572-CF3A-C3FD-EA3807A2F774}"/>
              </a:ext>
            </a:extLst>
          </p:cNvPr>
          <p:cNvSpPr txBox="1">
            <a:spLocks noChangeArrowheads="1"/>
          </p:cNvSpPr>
          <p:nvPr/>
        </p:nvSpPr>
        <p:spPr bwMode="auto">
          <a:xfrm>
            <a:off x="3897313" y="4191000"/>
            <a:ext cx="3635375"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400">
              <a:latin typeface="Arial" panose="020B0604020202020204" pitchFamily="34" charset="0"/>
              <a:cs typeface="Arial" panose="020B0604020202020204" pitchFamily="34" charset="0"/>
            </a:endParaRPr>
          </a:p>
        </p:txBody>
      </p:sp>
      <p:sp>
        <p:nvSpPr>
          <p:cNvPr id="20493" name="Text Box 8">
            <a:extLst>
              <a:ext uri="{FF2B5EF4-FFF2-40B4-BE49-F238E27FC236}">
                <a16:creationId xmlns:a16="http://schemas.microsoft.com/office/drawing/2014/main" id="{1F01D8A1-1224-D1F8-834B-F337F855A034}"/>
              </a:ext>
            </a:extLst>
          </p:cNvPr>
          <p:cNvSpPr txBox="1">
            <a:spLocks noChangeArrowheads="1"/>
          </p:cNvSpPr>
          <p:nvPr/>
        </p:nvSpPr>
        <p:spPr bwMode="auto">
          <a:xfrm>
            <a:off x="588963" y="5105400"/>
            <a:ext cx="32908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400">
              <a:latin typeface="Arial" panose="020B0604020202020204" pitchFamily="34" charset="0"/>
              <a:cs typeface="Arial" panose="020B0604020202020204" pitchFamily="34" charset="0"/>
            </a:endParaRPr>
          </a:p>
        </p:txBody>
      </p:sp>
      <p:sp>
        <p:nvSpPr>
          <p:cNvPr id="20494" name="Text Box 8">
            <a:extLst>
              <a:ext uri="{FF2B5EF4-FFF2-40B4-BE49-F238E27FC236}">
                <a16:creationId xmlns:a16="http://schemas.microsoft.com/office/drawing/2014/main" id="{860C834B-D008-71EF-2F83-FF54FAFA93FE}"/>
              </a:ext>
            </a:extLst>
          </p:cNvPr>
          <p:cNvSpPr txBox="1">
            <a:spLocks noChangeArrowheads="1"/>
          </p:cNvSpPr>
          <p:nvPr/>
        </p:nvSpPr>
        <p:spPr bwMode="auto">
          <a:xfrm>
            <a:off x="3886200" y="5105400"/>
            <a:ext cx="3635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400">
              <a:latin typeface="Arial" panose="020B0604020202020204" pitchFamily="34" charset="0"/>
              <a:cs typeface="Arial" panose="020B0604020202020204" pitchFamily="34" charset="0"/>
            </a:endParaRPr>
          </a:p>
        </p:txBody>
      </p:sp>
      <p:sp>
        <p:nvSpPr>
          <p:cNvPr id="20495" name="Text Box 8">
            <a:extLst>
              <a:ext uri="{FF2B5EF4-FFF2-40B4-BE49-F238E27FC236}">
                <a16:creationId xmlns:a16="http://schemas.microsoft.com/office/drawing/2014/main" id="{D45D6DA5-F6C4-5A1C-2D4A-3F897E2BA024}"/>
              </a:ext>
            </a:extLst>
          </p:cNvPr>
          <p:cNvSpPr txBox="1">
            <a:spLocks noChangeArrowheads="1"/>
          </p:cNvSpPr>
          <p:nvPr/>
        </p:nvSpPr>
        <p:spPr bwMode="auto">
          <a:xfrm>
            <a:off x="593725" y="6019800"/>
            <a:ext cx="3292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400">
              <a:latin typeface="Arial" panose="020B0604020202020204" pitchFamily="34" charset="0"/>
              <a:cs typeface="Arial" panose="020B0604020202020204" pitchFamily="34" charset="0"/>
            </a:endParaRPr>
          </a:p>
        </p:txBody>
      </p:sp>
      <p:sp>
        <p:nvSpPr>
          <p:cNvPr id="20496" name="Text Box 8">
            <a:extLst>
              <a:ext uri="{FF2B5EF4-FFF2-40B4-BE49-F238E27FC236}">
                <a16:creationId xmlns:a16="http://schemas.microsoft.com/office/drawing/2014/main" id="{0D6C8DAA-97BD-7C7E-1FDE-4CC72BE9F7BB}"/>
              </a:ext>
            </a:extLst>
          </p:cNvPr>
          <p:cNvSpPr txBox="1">
            <a:spLocks noChangeArrowheads="1"/>
          </p:cNvSpPr>
          <p:nvPr/>
        </p:nvSpPr>
        <p:spPr bwMode="auto">
          <a:xfrm>
            <a:off x="3897313" y="6019800"/>
            <a:ext cx="3635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400">
              <a:latin typeface="Arial" panose="020B0604020202020204" pitchFamily="34" charset="0"/>
              <a:cs typeface="Arial" panose="020B0604020202020204" pitchFamily="34" charset="0"/>
            </a:endParaRPr>
          </a:p>
        </p:txBody>
      </p:sp>
      <p:sp>
        <p:nvSpPr>
          <p:cNvPr id="20497" name="Text Box 8">
            <a:extLst>
              <a:ext uri="{FF2B5EF4-FFF2-40B4-BE49-F238E27FC236}">
                <a16:creationId xmlns:a16="http://schemas.microsoft.com/office/drawing/2014/main" id="{9C133AE4-7A46-79B0-4CCE-58746DA69838}"/>
              </a:ext>
            </a:extLst>
          </p:cNvPr>
          <p:cNvSpPr txBox="1">
            <a:spLocks noChangeArrowheads="1"/>
          </p:cNvSpPr>
          <p:nvPr/>
        </p:nvSpPr>
        <p:spPr bwMode="auto">
          <a:xfrm>
            <a:off x="588963" y="3276600"/>
            <a:ext cx="32908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400">
              <a:latin typeface="Arial" panose="020B0604020202020204" pitchFamily="34" charset="0"/>
              <a:cs typeface="Arial" panose="020B0604020202020204" pitchFamily="34" charset="0"/>
            </a:endParaRPr>
          </a:p>
        </p:txBody>
      </p:sp>
      <p:sp>
        <p:nvSpPr>
          <p:cNvPr id="20498" name="Text Box 8">
            <a:extLst>
              <a:ext uri="{FF2B5EF4-FFF2-40B4-BE49-F238E27FC236}">
                <a16:creationId xmlns:a16="http://schemas.microsoft.com/office/drawing/2014/main" id="{0CF6821C-00E0-77BD-219D-BB37F0EA98C6}"/>
              </a:ext>
            </a:extLst>
          </p:cNvPr>
          <p:cNvSpPr txBox="1">
            <a:spLocks noChangeArrowheads="1"/>
          </p:cNvSpPr>
          <p:nvPr/>
        </p:nvSpPr>
        <p:spPr bwMode="auto">
          <a:xfrm>
            <a:off x="3886200" y="3276600"/>
            <a:ext cx="3635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400">
              <a:latin typeface="Arial" panose="020B0604020202020204" pitchFamily="34" charset="0"/>
              <a:cs typeface="Arial" panose="020B0604020202020204" pitchFamily="34" charset="0"/>
            </a:endParaRPr>
          </a:p>
        </p:txBody>
      </p:sp>
      <p:pic>
        <p:nvPicPr>
          <p:cNvPr id="20499" name="Picture 5">
            <a:extLst>
              <a:ext uri="{FF2B5EF4-FFF2-40B4-BE49-F238E27FC236}">
                <a16:creationId xmlns:a16="http://schemas.microsoft.com/office/drawing/2014/main" id="{64B9FE8D-B7FA-3403-9D32-6B24E31B29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330575"/>
            <a:ext cx="76200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0" name="Picture 5">
            <a:extLst>
              <a:ext uri="{FF2B5EF4-FFF2-40B4-BE49-F238E27FC236}">
                <a16:creationId xmlns:a16="http://schemas.microsoft.com/office/drawing/2014/main" id="{3827F8AE-4C1A-632C-68A9-2075B6A145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244975"/>
            <a:ext cx="76200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1" name="Picture 5">
            <a:extLst>
              <a:ext uri="{FF2B5EF4-FFF2-40B4-BE49-F238E27FC236}">
                <a16:creationId xmlns:a16="http://schemas.microsoft.com/office/drawing/2014/main" id="{1FAF1656-0485-A005-077D-97691E65C7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5159375"/>
            <a:ext cx="76200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2" name="Picture 5">
            <a:extLst>
              <a:ext uri="{FF2B5EF4-FFF2-40B4-BE49-F238E27FC236}">
                <a16:creationId xmlns:a16="http://schemas.microsoft.com/office/drawing/2014/main" id="{72EC959C-EA66-164E-BEE0-DDDBFAF65C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073775"/>
            <a:ext cx="76200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ounded Rectangle 35">
            <a:extLst>
              <a:ext uri="{FF2B5EF4-FFF2-40B4-BE49-F238E27FC236}">
                <a16:creationId xmlns:a16="http://schemas.microsoft.com/office/drawing/2014/main" id="{49BE5104-BCE5-536E-6D33-17310499F9F6}"/>
              </a:ext>
            </a:extLst>
          </p:cNvPr>
          <p:cNvSpPr/>
          <p:nvPr/>
        </p:nvSpPr>
        <p:spPr bwMode="auto">
          <a:xfrm>
            <a:off x="938213" y="1981200"/>
            <a:ext cx="1066800" cy="287338"/>
          </a:xfrm>
          <a:prstGeom prst="roundRect">
            <a:avLst/>
          </a:prstGeom>
          <a:solidFill>
            <a:schemeClr val="bg1"/>
          </a:solidFill>
          <a:ln w="25400" cap="flat" cmpd="sng" algn="ctr">
            <a:solidFill>
              <a:srgbClr val="00274D"/>
            </a:solidFill>
            <a:prstDash val="solid"/>
          </a:ln>
          <a:effectLst/>
        </p:spPr>
        <p:txBody>
          <a:bodyPr anchor="ctr"/>
          <a:lstStyle/>
          <a:p>
            <a:pPr algn="ctr" defTabSz="914400" eaLnBrk="1" fontAlgn="auto" hangingPunct="1">
              <a:spcBef>
                <a:spcPts val="0"/>
              </a:spcBef>
              <a:spcAft>
                <a:spcPts val="0"/>
              </a:spcAft>
              <a:defRPr/>
            </a:pPr>
            <a:endParaRPr lang="en-US" b="1" kern="0" dirty="0">
              <a:solidFill>
                <a:srgbClr val="00274D"/>
              </a:solidFill>
              <a:latin typeface="Corbel"/>
            </a:endParaRPr>
          </a:p>
        </p:txBody>
      </p:sp>
      <p:sp>
        <p:nvSpPr>
          <p:cNvPr id="37" name="Text Box 7">
            <a:extLst>
              <a:ext uri="{FF2B5EF4-FFF2-40B4-BE49-F238E27FC236}">
                <a16:creationId xmlns:a16="http://schemas.microsoft.com/office/drawing/2014/main" id="{C2ECAFF3-8B7F-CF2A-C482-198F616772EC}"/>
              </a:ext>
            </a:extLst>
          </p:cNvPr>
          <p:cNvSpPr txBox="1">
            <a:spLocks noChangeArrowheads="1"/>
          </p:cNvSpPr>
          <p:nvPr/>
        </p:nvSpPr>
        <p:spPr bwMode="auto">
          <a:xfrm>
            <a:off x="976313" y="2036763"/>
            <a:ext cx="989012" cy="177800"/>
          </a:xfrm>
          <a:prstGeom prst="rect">
            <a:avLst/>
          </a:prstGeom>
          <a:solidFill>
            <a:schemeClr val="bg1"/>
          </a:solidFill>
          <a:ln>
            <a:noFill/>
          </a:ln>
        </p:spPr>
        <p:txBody>
          <a:bodyPr lIns="0" tIns="0" rIns="0" bIns="0">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Aft>
                <a:spcPct val="0"/>
              </a:spcAft>
              <a:buFont typeface="Arial" charset="0"/>
              <a:buChar char="»"/>
              <a:defRPr sz="2000">
                <a:solidFill>
                  <a:schemeClr val="tx1"/>
                </a:solidFill>
                <a:latin typeface="Calibri" charset="0"/>
                <a:ea typeface="ＭＳ Ｐゴシック" charset="0"/>
              </a:defRPr>
            </a:lvl6pPr>
            <a:lvl7pPr eaLnBrk="0" fontAlgn="base" hangingPunct="0">
              <a:spcAft>
                <a:spcPct val="0"/>
              </a:spcAft>
              <a:buFont typeface="Arial" charset="0"/>
              <a:buChar char="»"/>
              <a:defRPr sz="2000">
                <a:solidFill>
                  <a:schemeClr val="tx1"/>
                </a:solidFill>
                <a:latin typeface="Calibri" charset="0"/>
                <a:ea typeface="ＭＳ Ｐゴシック" charset="0"/>
              </a:defRPr>
            </a:lvl7pPr>
            <a:lvl8pPr eaLnBrk="0" fontAlgn="base" hangingPunct="0">
              <a:spcAft>
                <a:spcPct val="0"/>
              </a:spcAft>
              <a:buFont typeface="Arial" charset="0"/>
              <a:buChar char="»"/>
              <a:defRPr sz="2000">
                <a:solidFill>
                  <a:schemeClr val="tx1"/>
                </a:solidFill>
                <a:latin typeface="Calibri" charset="0"/>
                <a:ea typeface="ＭＳ Ｐゴシック" charset="0"/>
              </a:defRPr>
            </a:lvl8pPr>
            <a:lvl9pPr eaLnBrk="0" fontAlgn="base" hangingPunct="0">
              <a:spcAft>
                <a:spcPct val="0"/>
              </a:spcAft>
              <a:buFont typeface="Arial" charset="0"/>
              <a:buChar char="»"/>
              <a:defRPr sz="2000">
                <a:solidFill>
                  <a:schemeClr val="tx1"/>
                </a:solidFill>
                <a:latin typeface="Calibri" charset="0"/>
                <a:ea typeface="ＭＳ Ｐゴシック" charset="0"/>
              </a:defRPr>
            </a:lvl9pPr>
          </a:lstStyle>
          <a:p>
            <a:pPr algn="ctr" defTabSz="914400" eaLnBrk="1" fontAlgn="auto" hangingPunct="1">
              <a:lnSpc>
                <a:spcPct val="95000"/>
              </a:lnSpc>
              <a:spcBef>
                <a:spcPts val="0"/>
              </a:spcBef>
              <a:spcAft>
                <a:spcPts val="0"/>
              </a:spcAft>
              <a:defRPr/>
            </a:pPr>
            <a:r>
              <a:rPr lang="en-US" sz="1200" b="1" kern="0" dirty="0">
                <a:solidFill>
                  <a:srgbClr val="00274D"/>
                </a:solidFill>
                <a:latin typeface="Corbel"/>
                <a:ea typeface="Corbel"/>
              </a:rPr>
              <a:t>1</a:t>
            </a:r>
            <a:r>
              <a:rPr lang="en-US" sz="1200" b="1" kern="0" baseline="30000" dirty="0">
                <a:solidFill>
                  <a:srgbClr val="00274D"/>
                </a:solidFill>
                <a:latin typeface="Corbel"/>
                <a:ea typeface="Corbel"/>
              </a:rPr>
              <a:t>st</a:t>
            </a:r>
            <a:r>
              <a:rPr lang="en-US" sz="1200" b="1" kern="0" dirty="0">
                <a:solidFill>
                  <a:srgbClr val="00274D"/>
                </a:solidFill>
                <a:latin typeface="Corbel"/>
                <a:ea typeface="Corbel"/>
              </a:rPr>
              <a:t> Tier</a:t>
            </a:r>
          </a:p>
        </p:txBody>
      </p:sp>
      <p:sp>
        <p:nvSpPr>
          <p:cNvPr id="21508" name="Text Box 8">
            <a:extLst>
              <a:ext uri="{FF2B5EF4-FFF2-40B4-BE49-F238E27FC236}">
                <a16:creationId xmlns:a16="http://schemas.microsoft.com/office/drawing/2014/main" id="{F634079A-71D5-71DE-BF37-DC9BB5439CB1}"/>
              </a:ext>
            </a:extLst>
          </p:cNvPr>
          <p:cNvSpPr txBox="1">
            <a:spLocks noChangeArrowheads="1"/>
          </p:cNvSpPr>
          <p:nvPr/>
        </p:nvSpPr>
        <p:spPr bwMode="auto">
          <a:xfrm>
            <a:off x="2117725" y="2028825"/>
            <a:ext cx="2330450"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endParaRPr lang="en-US" altLang="en-US" sz="1300" u="sng">
              <a:solidFill>
                <a:srgbClr val="00274D"/>
              </a:solidFill>
              <a:ea typeface="Corbel" panose="020B0503020204020204" pitchFamily="34" charset="0"/>
              <a:cs typeface="Corbel" panose="020B0503020204020204" pitchFamily="34" charset="0"/>
            </a:endParaRPr>
          </a:p>
        </p:txBody>
      </p:sp>
      <p:sp>
        <p:nvSpPr>
          <p:cNvPr id="21509" name="Text Box 9">
            <a:extLst>
              <a:ext uri="{FF2B5EF4-FFF2-40B4-BE49-F238E27FC236}">
                <a16:creationId xmlns:a16="http://schemas.microsoft.com/office/drawing/2014/main" id="{59D0559D-0999-DD4E-4B57-459631BC681C}"/>
              </a:ext>
            </a:extLst>
          </p:cNvPr>
          <p:cNvSpPr txBox="1">
            <a:spLocks noChangeArrowheads="1"/>
          </p:cNvSpPr>
          <p:nvPr/>
        </p:nvSpPr>
        <p:spPr bwMode="auto">
          <a:xfrm>
            <a:off x="2208213" y="2319338"/>
            <a:ext cx="2281237"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100">
                <a:solidFill>
                  <a:srgbClr val="00274D"/>
                </a:solidFill>
                <a:ea typeface="Corbel" panose="020B0503020204020204" pitchFamily="34" charset="0"/>
                <a:cs typeface="Corbel" panose="020B0503020204020204" pitchFamily="34" charset="0"/>
              </a:rPr>
              <a:t>#1 in Market Revenue</a:t>
            </a:r>
            <a:endParaRPr lang="en-US" altLang="en-US" sz="1100" i="1">
              <a:solidFill>
                <a:srgbClr val="00274D"/>
              </a:solidFill>
              <a:ea typeface="Corbel" panose="020B0503020204020204" pitchFamily="34" charset="0"/>
              <a:cs typeface="Corbel" panose="020B0503020204020204" pitchFamily="34" charset="0"/>
            </a:endParaRPr>
          </a:p>
        </p:txBody>
      </p:sp>
      <p:sp>
        <p:nvSpPr>
          <p:cNvPr id="41" name="Rounded Rectangle 40">
            <a:extLst>
              <a:ext uri="{FF2B5EF4-FFF2-40B4-BE49-F238E27FC236}">
                <a16:creationId xmlns:a16="http://schemas.microsoft.com/office/drawing/2014/main" id="{043D5A4F-B345-F036-5810-9300E0329FD8}"/>
              </a:ext>
            </a:extLst>
          </p:cNvPr>
          <p:cNvSpPr/>
          <p:nvPr/>
        </p:nvSpPr>
        <p:spPr bwMode="auto">
          <a:xfrm>
            <a:off x="4710113" y="1981200"/>
            <a:ext cx="1066800" cy="287338"/>
          </a:xfrm>
          <a:prstGeom prst="roundRect">
            <a:avLst/>
          </a:prstGeom>
          <a:solidFill>
            <a:srgbClr val="FFFFFF"/>
          </a:solidFill>
          <a:ln w="25400" cap="flat" cmpd="sng" algn="ctr">
            <a:solidFill>
              <a:srgbClr val="00274D"/>
            </a:solidFill>
            <a:prstDash val="solid"/>
          </a:ln>
          <a:effectLst/>
        </p:spPr>
        <p:txBody>
          <a:bodyPr anchor="ctr"/>
          <a:lstStyle/>
          <a:p>
            <a:pPr algn="ctr" defTabSz="914400" eaLnBrk="1" fontAlgn="auto" hangingPunct="1">
              <a:spcBef>
                <a:spcPts val="0"/>
              </a:spcBef>
              <a:spcAft>
                <a:spcPts val="0"/>
              </a:spcAft>
              <a:defRPr/>
            </a:pPr>
            <a:endParaRPr lang="en-US" b="1" kern="0" dirty="0">
              <a:solidFill>
                <a:srgbClr val="00274D"/>
              </a:solidFill>
              <a:latin typeface="Corbel"/>
            </a:endParaRPr>
          </a:p>
        </p:txBody>
      </p:sp>
      <p:sp>
        <p:nvSpPr>
          <p:cNvPr id="42" name="Text Box 11">
            <a:extLst>
              <a:ext uri="{FF2B5EF4-FFF2-40B4-BE49-F238E27FC236}">
                <a16:creationId xmlns:a16="http://schemas.microsoft.com/office/drawing/2014/main" id="{1910E23C-00DA-3BEE-6DCE-C081228C9C27}"/>
              </a:ext>
            </a:extLst>
          </p:cNvPr>
          <p:cNvSpPr txBox="1">
            <a:spLocks noChangeArrowheads="1"/>
          </p:cNvSpPr>
          <p:nvPr/>
        </p:nvSpPr>
        <p:spPr bwMode="auto">
          <a:xfrm>
            <a:off x="4751388" y="2036763"/>
            <a:ext cx="982662" cy="177800"/>
          </a:xfrm>
          <a:prstGeom prst="rect">
            <a:avLst/>
          </a:prstGeom>
          <a:solidFill>
            <a:srgbClr val="FFFFFF"/>
          </a:solidFill>
          <a:ln>
            <a:noFill/>
          </a:ln>
        </p:spPr>
        <p:txBody>
          <a:bodyPr lIns="0" tIns="0" rIns="0" bIns="0">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Aft>
                <a:spcPct val="0"/>
              </a:spcAft>
              <a:buFont typeface="Arial" charset="0"/>
              <a:buChar char="»"/>
              <a:defRPr sz="2000">
                <a:solidFill>
                  <a:schemeClr val="tx1"/>
                </a:solidFill>
                <a:latin typeface="Calibri" charset="0"/>
                <a:ea typeface="ＭＳ Ｐゴシック" charset="0"/>
              </a:defRPr>
            </a:lvl6pPr>
            <a:lvl7pPr eaLnBrk="0" fontAlgn="base" hangingPunct="0">
              <a:spcAft>
                <a:spcPct val="0"/>
              </a:spcAft>
              <a:buFont typeface="Arial" charset="0"/>
              <a:buChar char="»"/>
              <a:defRPr sz="2000">
                <a:solidFill>
                  <a:schemeClr val="tx1"/>
                </a:solidFill>
                <a:latin typeface="Calibri" charset="0"/>
                <a:ea typeface="ＭＳ Ｐゴシック" charset="0"/>
              </a:defRPr>
            </a:lvl7pPr>
            <a:lvl8pPr eaLnBrk="0" fontAlgn="base" hangingPunct="0">
              <a:spcAft>
                <a:spcPct val="0"/>
              </a:spcAft>
              <a:buFont typeface="Arial" charset="0"/>
              <a:buChar char="»"/>
              <a:defRPr sz="2000">
                <a:solidFill>
                  <a:schemeClr val="tx1"/>
                </a:solidFill>
                <a:latin typeface="Calibri" charset="0"/>
                <a:ea typeface="ＭＳ Ｐゴシック" charset="0"/>
              </a:defRPr>
            </a:lvl8pPr>
            <a:lvl9pPr eaLnBrk="0" fontAlgn="base" hangingPunct="0">
              <a:spcAft>
                <a:spcPct val="0"/>
              </a:spcAft>
              <a:buFont typeface="Arial" charset="0"/>
              <a:buChar char="»"/>
              <a:defRPr sz="2000">
                <a:solidFill>
                  <a:schemeClr val="tx1"/>
                </a:solidFill>
                <a:latin typeface="Calibri" charset="0"/>
                <a:ea typeface="ＭＳ Ｐゴシック" charset="0"/>
              </a:defRPr>
            </a:lvl9pPr>
          </a:lstStyle>
          <a:p>
            <a:pPr algn="ctr" defTabSz="914400" eaLnBrk="1" fontAlgn="auto" hangingPunct="1">
              <a:lnSpc>
                <a:spcPct val="95000"/>
              </a:lnSpc>
              <a:spcBef>
                <a:spcPts val="0"/>
              </a:spcBef>
              <a:spcAft>
                <a:spcPts val="0"/>
              </a:spcAft>
              <a:defRPr/>
            </a:pPr>
            <a:r>
              <a:rPr lang="en-US" sz="1200" b="1" kern="0" dirty="0">
                <a:solidFill>
                  <a:srgbClr val="00274D"/>
                </a:solidFill>
                <a:latin typeface="Corbel"/>
                <a:ea typeface="Corbel"/>
              </a:rPr>
              <a:t>2</a:t>
            </a:r>
            <a:r>
              <a:rPr lang="en-US" sz="1200" b="1" kern="0" baseline="30000" dirty="0">
                <a:solidFill>
                  <a:srgbClr val="00274D"/>
                </a:solidFill>
                <a:latin typeface="Corbel"/>
                <a:ea typeface="Corbel"/>
              </a:rPr>
              <a:t>nd</a:t>
            </a:r>
            <a:r>
              <a:rPr lang="en-US" sz="1200" b="1" kern="0" dirty="0">
                <a:solidFill>
                  <a:srgbClr val="00274D"/>
                </a:solidFill>
                <a:latin typeface="Corbel"/>
                <a:ea typeface="Corbel"/>
              </a:rPr>
              <a:t> Tier</a:t>
            </a:r>
          </a:p>
        </p:txBody>
      </p:sp>
      <p:sp>
        <p:nvSpPr>
          <p:cNvPr id="21512" name="Text Box 13">
            <a:extLst>
              <a:ext uri="{FF2B5EF4-FFF2-40B4-BE49-F238E27FC236}">
                <a16:creationId xmlns:a16="http://schemas.microsoft.com/office/drawing/2014/main" id="{5BC85D04-3850-6B9B-67FB-6E7DD731E006}"/>
              </a:ext>
            </a:extLst>
          </p:cNvPr>
          <p:cNvSpPr txBox="1">
            <a:spLocks noChangeArrowheads="1"/>
          </p:cNvSpPr>
          <p:nvPr/>
        </p:nvSpPr>
        <p:spPr bwMode="auto">
          <a:xfrm>
            <a:off x="5948363" y="2319338"/>
            <a:ext cx="20542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100">
                <a:solidFill>
                  <a:srgbClr val="00274D"/>
                </a:solidFill>
                <a:ea typeface="Corbel" panose="020B0503020204020204" pitchFamily="34" charset="0"/>
                <a:cs typeface="Corbel" panose="020B0503020204020204" pitchFamily="34" charset="0"/>
              </a:rPr>
              <a:t>#2 in Market Revenue</a:t>
            </a:r>
            <a:endParaRPr lang="en-US" altLang="en-US" sz="1100" i="1">
              <a:solidFill>
                <a:srgbClr val="00274D"/>
              </a:solidFill>
              <a:ea typeface="Corbel" panose="020B0503020204020204" pitchFamily="34" charset="0"/>
              <a:cs typeface="Corbel" panose="020B0503020204020204" pitchFamily="34" charset="0"/>
            </a:endParaRPr>
          </a:p>
        </p:txBody>
      </p:sp>
      <p:sp>
        <p:nvSpPr>
          <p:cNvPr id="45" name="Rounded Rectangle 44">
            <a:extLst>
              <a:ext uri="{FF2B5EF4-FFF2-40B4-BE49-F238E27FC236}">
                <a16:creationId xmlns:a16="http://schemas.microsoft.com/office/drawing/2014/main" id="{5B9644C8-6415-F732-BECF-8C16C9EE07F2}"/>
              </a:ext>
            </a:extLst>
          </p:cNvPr>
          <p:cNvSpPr/>
          <p:nvPr/>
        </p:nvSpPr>
        <p:spPr bwMode="auto">
          <a:xfrm>
            <a:off x="938213" y="2682875"/>
            <a:ext cx="1066800" cy="288925"/>
          </a:xfrm>
          <a:prstGeom prst="roundRect">
            <a:avLst/>
          </a:prstGeom>
          <a:solidFill>
            <a:srgbClr val="FFFFFF"/>
          </a:solidFill>
          <a:ln w="25400" cap="flat" cmpd="sng" algn="ctr">
            <a:solidFill>
              <a:srgbClr val="00274D"/>
            </a:solidFill>
            <a:prstDash val="solid"/>
          </a:ln>
          <a:effectLst/>
        </p:spPr>
        <p:txBody>
          <a:bodyPr anchor="ctr"/>
          <a:lstStyle/>
          <a:p>
            <a:pPr algn="ctr" defTabSz="914400" eaLnBrk="1" fontAlgn="auto" hangingPunct="1">
              <a:spcBef>
                <a:spcPts val="0"/>
              </a:spcBef>
              <a:spcAft>
                <a:spcPts val="0"/>
              </a:spcAft>
              <a:defRPr/>
            </a:pPr>
            <a:endParaRPr lang="en-US" b="1" kern="0" dirty="0">
              <a:solidFill>
                <a:srgbClr val="00274D"/>
              </a:solidFill>
              <a:latin typeface="Corbel"/>
            </a:endParaRPr>
          </a:p>
        </p:txBody>
      </p:sp>
      <p:sp>
        <p:nvSpPr>
          <p:cNvPr id="46" name="Text Box 15">
            <a:extLst>
              <a:ext uri="{FF2B5EF4-FFF2-40B4-BE49-F238E27FC236}">
                <a16:creationId xmlns:a16="http://schemas.microsoft.com/office/drawing/2014/main" id="{982EB1D3-83FE-FFB3-5C02-EDFB4D6DF9AE}"/>
              </a:ext>
            </a:extLst>
          </p:cNvPr>
          <p:cNvSpPr txBox="1">
            <a:spLocks noChangeArrowheads="1"/>
          </p:cNvSpPr>
          <p:nvPr/>
        </p:nvSpPr>
        <p:spPr bwMode="auto">
          <a:xfrm>
            <a:off x="982663" y="2740025"/>
            <a:ext cx="976312" cy="174625"/>
          </a:xfrm>
          <a:prstGeom prst="rect">
            <a:avLst/>
          </a:prstGeom>
          <a:solidFill>
            <a:srgbClr val="FFFFFF"/>
          </a:solidFill>
          <a:ln>
            <a:noFill/>
          </a:ln>
        </p:spPr>
        <p:txBody>
          <a:bodyPr lIns="0" tIns="0" rIns="0" bIns="0">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Aft>
                <a:spcPct val="0"/>
              </a:spcAft>
              <a:buFont typeface="Arial" charset="0"/>
              <a:buChar char="»"/>
              <a:defRPr sz="2000">
                <a:solidFill>
                  <a:schemeClr val="tx1"/>
                </a:solidFill>
                <a:latin typeface="Calibri" charset="0"/>
                <a:ea typeface="ＭＳ Ｐゴシック" charset="0"/>
              </a:defRPr>
            </a:lvl6pPr>
            <a:lvl7pPr eaLnBrk="0" fontAlgn="base" hangingPunct="0">
              <a:spcAft>
                <a:spcPct val="0"/>
              </a:spcAft>
              <a:buFont typeface="Arial" charset="0"/>
              <a:buChar char="»"/>
              <a:defRPr sz="2000">
                <a:solidFill>
                  <a:schemeClr val="tx1"/>
                </a:solidFill>
                <a:latin typeface="Calibri" charset="0"/>
                <a:ea typeface="ＭＳ Ｐゴシック" charset="0"/>
              </a:defRPr>
            </a:lvl7pPr>
            <a:lvl8pPr eaLnBrk="0" fontAlgn="base" hangingPunct="0">
              <a:spcAft>
                <a:spcPct val="0"/>
              </a:spcAft>
              <a:buFont typeface="Arial" charset="0"/>
              <a:buChar char="»"/>
              <a:defRPr sz="2000">
                <a:solidFill>
                  <a:schemeClr val="tx1"/>
                </a:solidFill>
                <a:latin typeface="Calibri" charset="0"/>
                <a:ea typeface="ＭＳ Ｐゴシック" charset="0"/>
              </a:defRPr>
            </a:lvl8pPr>
            <a:lvl9pPr eaLnBrk="0" fontAlgn="base" hangingPunct="0">
              <a:spcAft>
                <a:spcPct val="0"/>
              </a:spcAft>
              <a:buFont typeface="Arial" charset="0"/>
              <a:buChar char="»"/>
              <a:defRPr sz="2000">
                <a:solidFill>
                  <a:schemeClr val="tx1"/>
                </a:solidFill>
                <a:latin typeface="Calibri" charset="0"/>
                <a:ea typeface="ＭＳ Ｐゴシック" charset="0"/>
              </a:defRPr>
            </a:lvl9pPr>
          </a:lstStyle>
          <a:p>
            <a:pPr algn="ctr" defTabSz="914400" eaLnBrk="1" fontAlgn="auto" hangingPunct="1">
              <a:lnSpc>
                <a:spcPct val="95000"/>
              </a:lnSpc>
              <a:spcBef>
                <a:spcPts val="0"/>
              </a:spcBef>
              <a:spcAft>
                <a:spcPts val="0"/>
              </a:spcAft>
              <a:defRPr/>
            </a:pPr>
            <a:r>
              <a:rPr lang="en-US" sz="1200" b="1" kern="0" dirty="0">
                <a:solidFill>
                  <a:srgbClr val="00274D"/>
                </a:solidFill>
                <a:latin typeface="Corbel"/>
                <a:ea typeface="Corbel"/>
              </a:rPr>
              <a:t>3</a:t>
            </a:r>
            <a:r>
              <a:rPr lang="en-US" sz="1200" b="1" kern="0" baseline="30000" dirty="0">
                <a:solidFill>
                  <a:srgbClr val="00274D"/>
                </a:solidFill>
                <a:latin typeface="Corbel"/>
                <a:ea typeface="Corbel"/>
              </a:rPr>
              <a:t>rd</a:t>
            </a:r>
            <a:r>
              <a:rPr lang="en-US" sz="1200" b="1" kern="0" dirty="0">
                <a:solidFill>
                  <a:srgbClr val="00274D"/>
                </a:solidFill>
                <a:latin typeface="Corbel"/>
                <a:ea typeface="Corbel"/>
              </a:rPr>
              <a:t>  Tier</a:t>
            </a:r>
          </a:p>
        </p:txBody>
      </p:sp>
      <p:sp>
        <p:nvSpPr>
          <p:cNvPr id="21515" name="Text Box 17">
            <a:extLst>
              <a:ext uri="{FF2B5EF4-FFF2-40B4-BE49-F238E27FC236}">
                <a16:creationId xmlns:a16="http://schemas.microsoft.com/office/drawing/2014/main" id="{783051B1-1F50-116F-3036-B1AD1A44BA47}"/>
              </a:ext>
            </a:extLst>
          </p:cNvPr>
          <p:cNvSpPr txBox="1">
            <a:spLocks noChangeArrowheads="1"/>
          </p:cNvSpPr>
          <p:nvPr/>
        </p:nvSpPr>
        <p:spPr bwMode="auto">
          <a:xfrm>
            <a:off x="2200275" y="3005138"/>
            <a:ext cx="2509838"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100">
                <a:solidFill>
                  <a:srgbClr val="00274D"/>
                </a:solidFill>
                <a:ea typeface="Corbel" panose="020B0503020204020204" pitchFamily="34" charset="0"/>
                <a:cs typeface="Corbel" panose="020B0503020204020204" pitchFamily="34" charset="0"/>
              </a:rPr>
              <a:t>#3 in Market Revenue</a:t>
            </a:r>
            <a:endParaRPr lang="en-US" altLang="en-US" sz="1100" i="1">
              <a:solidFill>
                <a:srgbClr val="00274D"/>
              </a:solidFill>
              <a:ea typeface="Corbel" panose="020B0503020204020204" pitchFamily="34" charset="0"/>
              <a:cs typeface="Corbel" panose="020B0503020204020204" pitchFamily="34" charset="0"/>
            </a:endParaRPr>
          </a:p>
        </p:txBody>
      </p:sp>
      <p:sp>
        <p:nvSpPr>
          <p:cNvPr id="49" name="Rounded Rectangle 48">
            <a:extLst>
              <a:ext uri="{FF2B5EF4-FFF2-40B4-BE49-F238E27FC236}">
                <a16:creationId xmlns:a16="http://schemas.microsoft.com/office/drawing/2014/main" id="{B4A8E019-08FC-7C53-B876-F7016C93FFF8}"/>
              </a:ext>
            </a:extLst>
          </p:cNvPr>
          <p:cNvSpPr/>
          <p:nvPr/>
        </p:nvSpPr>
        <p:spPr bwMode="auto">
          <a:xfrm>
            <a:off x="4710113" y="2682875"/>
            <a:ext cx="1066800" cy="288925"/>
          </a:xfrm>
          <a:prstGeom prst="roundRect">
            <a:avLst/>
          </a:prstGeom>
          <a:solidFill>
            <a:srgbClr val="FFFFFF"/>
          </a:solidFill>
          <a:ln w="25400" cap="flat" cmpd="sng" algn="ctr">
            <a:solidFill>
              <a:srgbClr val="00274D"/>
            </a:solidFill>
            <a:prstDash val="solid"/>
          </a:ln>
          <a:effectLst/>
        </p:spPr>
        <p:txBody>
          <a:bodyPr anchor="ctr"/>
          <a:lstStyle/>
          <a:p>
            <a:pPr algn="ctr" defTabSz="914400" eaLnBrk="1" fontAlgn="auto" hangingPunct="1">
              <a:spcBef>
                <a:spcPts val="0"/>
              </a:spcBef>
              <a:spcAft>
                <a:spcPts val="0"/>
              </a:spcAft>
              <a:defRPr/>
            </a:pPr>
            <a:endParaRPr lang="en-US" b="1" kern="0" dirty="0">
              <a:solidFill>
                <a:srgbClr val="00274D"/>
              </a:solidFill>
              <a:latin typeface="Corbel"/>
            </a:endParaRPr>
          </a:p>
        </p:txBody>
      </p:sp>
      <p:sp>
        <p:nvSpPr>
          <p:cNvPr id="50" name="Text Box 19">
            <a:extLst>
              <a:ext uri="{FF2B5EF4-FFF2-40B4-BE49-F238E27FC236}">
                <a16:creationId xmlns:a16="http://schemas.microsoft.com/office/drawing/2014/main" id="{CCD11C65-6B35-8DDD-D9F4-6C7541A6A75C}"/>
              </a:ext>
            </a:extLst>
          </p:cNvPr>
          <p:cNvSpPr txBox="1">
            <a:spLocks noChangeArrowheads="1"/>
          </p:cNvSpPr>
          <p:nvPr/>
        </p:nvSpPr>
        <p:spPr bwMode="auto">
          <a:xfrm>
            <a:off x="4748213" y="2740025"/>
            <a:ext cx="989012" cy="174625"/>
          </a:xfrm>
          <a:prstGeom prst="rect">
            <a:avLst/>
          </a:prstGeom>
          <a:solidFill>
            <a:srgbClr val="FFFFFF"/>
          </a:solidFill>
          <a:ln>
            <a:noFill/>
          </a:ln>
        </p:spPr>
        <p:txBody>
          <a:bodyPr lIns="0" tIns="0" rIns="0" bIns="0">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Aft>
                <a:spcPct val="0"/>
              </a:spcAft>
              <a:buFont typeface="Arial" charset="0"/>
              <a:buChar char="»"/>
              <a:defRPr sz="2000">
                <a:solidFill>
                  <a:schemeClr val="tx1"/>
                </a:solidFill>
                <a:latin typeface="Calibri" charset="0"/>
                <a:ea typeface="ＭＳ Ｐゴシック" charset="0"/>
              </a:defRPr>
            </a:lvl6pPr>
            <a:lvl7pPr eaLnBrk="0" fontAlgn="base" hangingPunct="0">
              <a:spcAft>
                <a:spcPct val="0"/>
              </a:spcAft>
              <a:buFont typeface="Arial" charset="0"/>
              <a:buChar char="»"/>
              <a:defRPr sz="2000">
                <a:solidFill>
                  <a:schemeClr val="tx1"/>
                </a:solidFill>
                <a:latin typeface="Calibri" charset="0"/>
                <a:ea typeface="ＭＳ Ｐゴシック" charset="0"/>
              </a:defRPr>
            </a:lvl7pPr>
            <a:lvl8pPr eaLnBrk="0" fontAlgn="base" hangingPunct="0">
              <a:spcAft>
                <a:spcPct val="0"/>
              </a:spcAft>
              <a:buFont typeface="Arial" charset="0"/>
              <a:buChar char="»"/>
              <a:defRPr sz="2000">
                <a:solidFill>
                  <a:schemeClr val="tx1"/>
                </a:solidFill>
                <a:latin typeface="Calibri" charset="0"/>
                <a:ea typeface="ＭＳ Ｐゴシック" charset="0"/>
              </a:defRPr>
            </a:lvl8pPr>
            <a:lvl9pPr eaLnBrk="0" fontAlgn="base" hangingPunct="0">
              <a:spcAft>
                <a:spcPct val="0"/>
              </a:spcAft>
              <a:buFont typeface="Arial" charset="0"/>
              <a:buChar char="»"/>
              <a:defRPr sz="2000">
                <a:solidFill>
                  <a:schemeClr val="tx1"/>
                </a:solidFill>
                <a:latin typeface="Calibri" charset="0"/>
                <a:ea typeface="ＭＳ Ｐゴシック" charset="0"/>
              </a:defRPr>
            </a:lvl9pPr>
          </a:lstStyle>
          <a:p>
            <a:pPr algn="ctr" defTabSz="914400" eaLnBrk="1" fontAlgn="auto" hangingPunct="1">
              <a:lnSpc>
                <a:spcPct val="95000"/>
              </a:lnSpc>
              <a:spcBef>
                <a:spcPts val="0"/>
              </a:spcBef>
              <a:spcAft>
                <a:spcPts val="0"/>
              </a:spcAft>
              <a:defRPr/>
            </a:pPr>
            <a:r>
              <a:rPr lang="en-US" sz="1200" b="1" kern="0" dirty="0">
                <a:solidFill>
                  <a:srgbClr val="00274D"/>
                </a:solidFill>
                <a:latin typeface="Corbel"/>
                <a:ea typeface="Corbel"/>
              </a:rPr>
              <a:t>4</a:t>
            </a:r>
            <a:r>
              <a:rPr lang="en-US" sz="1200" b="1" kern="0" baseline="30000" dirty="0">
                <a:solidFill>
                  <a:srgbClr val="00274D"/>
                </a:solidFill>
                <a:latin typeface="Corbel"/>
                <a:ea typeface="Corbel"/>
              </a:rPr>
              <a:t>th</a:t>
            </a:r>
            <a:r>
              <a:rPr lang="en-US" sz="1200" b="1" kern="0" dirty="0">
                <a:solidFill>
                  <a:srgbClr val="00274D"/>
                </a:solidFill>
                <a:latin typeface="Corbel"/>
                <a:ea typeface="Corbel"/>
              </a:rPr>
              <a:t> Tier</a:t>
            </a:r>
          </a:p>
        </p:txBody>
      </p:sp>
      <p:sp>
        <p:nvSpPr>
          <p:cNvPr id="21518" name="Text Box 21">
            <a:extLst>
              <a:ext uri="{FF2B5EF4-FFF2-40B4-BE49-F238E27FC236}">
                <a16:creationId xmlns:a16="http://schemas.microsoft.com/office/drawing/2014/main" id="{1CF4C930-D371-54D1-CD3E-2A6B3DDC0813}"/>
              </a:ext>
            </a:extLst>
          </p:cNvPr>
          <p:cNvSpPr txBox="1">
            <a:spLocks noChangeArrowheads="1"/>
          </p:cNvSpPr>
          <p:nvPr/>
        </p:nvSpPr>
        <p:spPr bwMode="auto">
          <a:xfrm>
            <a:off x="5975350" y="3005138"/>
            <a:ext cx="1554163"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100">
                <a:solidFill>
                  <a:srgbClr val="00274D"/>
                </a:solidFill>
                <a:ea typeface="Corbel" panose="020B0503020204020204" pitchFamily="34" charset="0"/>
                <a:cs typeface="Corbel" panose="020B0503020204020204" pitchFamily="34" charset="0"/>
              </a:rPr>
              <a:t>#4 in Market Revenue</a:t>
            </a:r>
            <a:endParaRPr lang="en-US" altLang="en-US" sz="1100" i="1">
              <a:solidFill>
                <a:srgbClr val="00274D"/>
              </a:solidFill>
              <a:ea typeface="Corbel" panose="020B0503020204020204" pitchFamily="34" charset="0"/>
              <a:cs typeface="Corbel" panose="020B0503020204020204" pitchFamily="34" charset="0"/>
            </a:endParaRPr>
          </a:p>
        </p:txBody>
      </p:sp>
      <p:sp>
        <p:nvSpPr>
          <p:cNvPr id="21519" name="Text Box 8">
            <a:extLst>
              <a:ext uri="{FF2B5EF4-FFF2-40B4-BE49-F238E27FC236}">
                <a16:creationId xmlns:a16="http://schemas.microsoft.com/office/drawing/2014/main" id="{CFC223F1-0958-E6B6-23C9-BA2C0798F453}"/>
              </a:ext>
            </a:extLst>
          </p:cNvPr>
          <p:cNvSpPr txBox="1">
            <a:spLocks noChangeArrowheads="1"/>
          </p:cNvSpPr>
          <p:nvPr/>
        </p:nvSpPr>
        <p:spPr bwMode="auto">
          <a:xfrm>
            <a:off x="5875338" y="2038350"/>
            <a:ext cx="23320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endParaRPr lang="en-US" altLang="en-US" sz="1300" u="sng">
              <a:solidFill>
                <a:srgbClr val="00274D"/>
              </a:solidFill>
              <a:ea typeface="Corbel" panose="020B0503020204020204" pitchFamily="34" charset="0"/>
              <a:cs typeface="Corbel" panose="020B0503020204020204" pitchFamily="34" charset="0"/>
            </a:endParaRPr>
          </a:p>
        </p:txBody>
      </p:sp>
      <p:sp>
        <p:nvSpPr>
          <p:cNvPr id="21520" name="Text Box 8">
            <a:extLst>
              <a:ext uri="{FF2B5EF4-FFF2-40B4-BE49-F238E27FC236}">
                <a16:creationId xmlns:a16="http://schemas.microsoft.com/office/drawing/2014/main" id="{11FC77BE-56AB-B4FE-5BE6-727516ABFA6C}"/>
              </a:ext>
            </a:extLst>
          </p:cNvPr>
          <p:cNvSpPr txBox="1">
            <a:spLocks noChangeArrowheads="1"/>
          </p:cNvSpPr>
          <p:nvPr/>
        </p:nvSpPr>
        <p:spPr bwMode="auto">
          <a:xfrm>
            <a:off x="2103438" y="2724150"/>
            <a:ext cx="23320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endParaRPr lang="en-US" altLang="en-US" sz="1300" u="sng">
              <a:solidFill>
                <a:srgbClr val="00274D"/>
              </a:solidFill>
              <a:ea typeface="Corbel" panose="020B0503020204020204" pitchFamily="34" charset="0"/>
              <a:cs typeface="Corbel" panose="020B0503020204020204" pitchFamily="34" charset="0"/>
            </a:endParaRPr>
          </a:p>
        </p:txBody>
      </p:sp>
      <p:sp>
        <p:nvSpPr>
          <p:cNvPr id="21521" name="Text Box 8">
            <a:extLst>
              <a:ext uri="{FF2B5EF4-FFF2-40B4-BE49-F238E27FC236}">
                <a16:creationId xmlns:a16="http://schemas.microsoft.com/office/drawing/2014/main" id="{2AF7B2E9-9C31-8859-8851-B0ACCFB0140F}"/>
              </a:ext>
            </a:extLst>
          </p:cNvPr>
          <p:cNvSpPr txBox="1">
            <a:spLocks noChangeArrowheads="1"/>
          </p:cNvSpPr>
          <p:nvPr/>
        </p:nvSpPr>
        <p:spPr bwMode="auto">
          <a:xfrm>
            <a:off x="5875338" y="2724150"/>
            <a:ext cx="2506662"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endParaRPr lang="en-US" altLang="en-US" sz="1300" u="sng">
              <a:solidFill>
                <a:srgbClr val="00274D"/>
              </a:solidFill>
              <a:ea typeface="Corbel" panose="020B0503020204020204" pitchFamily="34" charset="0"/>
              <a:cs typeface="Corbel" panose="020B0503020204020204" pitchFamily="34" charset="0"/>
            </a:endParaRPr>
          </a:p>
        </p:txBody>
      </p:sp>
      <p:sp>
        <p:nvSpPr>
          <p:cNvPr id="21522" name="Text Box 5">
            <a:extLst>
              <a:ext uri="{FF2B5EF4-FFF2-40B4-BE49-F238E27FC236}">
                <a16:creationId xmlns:a16="http://schemas.microsoft.com/office/drawing/2014/main" id="{7FA00212-AF75-264B-192C-4CE83C941962}"/>
              </a:ext>
            </a:extLst>
          </p:cNvPr>
          <p:cNvSpPr txBox="1">
            <a:spLocks noChangeArrowheads="1"/>
          </p:cNvSpPr>
          <p:nvPr/>
        </p:nvSpPr>
        <p:spPr bwMode="auto">
          <a:xfrm>
            <a:off x="609600" y="1370013"/>
            <a:ext cx="2778125"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1. How long have you been in business? </a:t>
            </a:r>
          </a:p>
        </p:txBody>
      </p:sp>
      <p:sp>
        <p:nvSpPr>
          <p:cNvPr id="21523" name="Text Box 6">
            <a:extLst>
              <a:ext uri="{FF2B5EF4-FFF2-40B4-BE49-F238E27FC236}">
                <a16:creationId xmlns:a16="http://schemas.microsoft.com/office/drawing/2014/main" id="{EDCE3DBD-1529-7D72-4535-FC18492FC068}"/>
              </a:ext>
            </a:extLst>
          </p:cNvPr>
          <p:cNvSpPr txBox="1">
            <a:spLocks noChangeArrowheads="1"/>
          </p:cNvSpPr>
          <p:nvPr/>
        </p:nvSpPr>
        <p:spPr bwMode="auto">
          <a:xfrm>
            <a:off x="4378325" y="1385888"/>
            <a:ext cx="1439863"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How many locations? </a:t>
            </a:r>
          </a:p>
        </p:txBody>
      </p:sp>
      <p:sp>
        <p:nvSpPr>
          <p:cNvPr id="21524" name="TextBox 18">
            <a:extLst>
              <a:ext uri="{FF2B5EF4-FFF2-40B4-BE49-F238E27FC236}">
                <a16:creationId xmlns:a16="http://schemas.microsoft.com/office/drawing/2014/main" id="{DEA00D7C-409F-05A3-FFC4-F8D945453606}"/>
              </a:ext>
            </a:extLst>
          </p:cNvPr>
          <p:cNvSpPr txBox="1">
            <a:spLocks noChangeArrowheads="1"/>
          </p:cNvSpPr>
          <p:nvPr/>
        </p:nvSpPr>
        <p:spPr bwMode="auto">
          <a:xfrm>
            <a:off x="3303588" y="1322388"/>
            <a:ext cx="92233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  Years</a:t>
            </a:r>
          </a:p>
        </p:txBody>
      </p:sp>
      <p:sp>
        <p:nvSpPr>
          <p:cNvPr id="21525" name="TextBox 19">
            <a:extLst>
              <a:ext uri="{FF2B5EF4-FFF2-40B4-BE49-F238E27FC236}">
                <a16:creationId xmlns:a16="http://schemas.microsoft.com/office/drawing/2014/main" id="{54F735F2-CF56-EBE3-B95F-3F7B47AD6B26}"/>
              </a:ext>
            </a:extLst>
          </p:cNvPr>
          <p:cNvSpPr txBox="1">
            <a:spLocks noChangeArrowheads="1"/>
          </p:cNvSpPr>
          <p:nvPr/>
        </p:nvSpPr>
        <p:spPr bwMode="auto">
          <a:xfrm>
            <a:off x="5818188" y="1331913"/>
            <a:ext cx="61753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1526" name="Text Box 6">
            <a:extLst>
              <a:ext uri="{FF2B5EF4-FFF2-40B4-BE49-F238E27FC236}">
                <a16:creationId xmlns:a16="http://schemas.microsoft.com/office/drawing/2014/main" id="{972E674A-FAC5-F06B-D74B-3A0CA09D15A8}"/>
              </a:ext>
            </a:extLst>
          </p:cNvPr>
          <p:cNvSpPr txBox="1">
            <a:spLocks noChangeArrowheads="1"/>
          </p:cNvSpPr>
          <p:nvPr/>
        </p:nvSpPr>
        <p:spPr bwMode="auto">
          <a:xfrm>
            <a:off x="6359525" y="1385888"/>
            <a:ext cx="1439863"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Plans to Expand? </a:t>
            </a:r>
          </a:p>
        </p:txBody>
      </p:sp>
      <p:sp>
        <p:nvSpPr>
          <p:cNvPr id="21527" name="TextBox 19">
            <a:extLst>
              <a:ext uri="{FF2B5EF4-FFF2-40B4-BE49-F238E27FC236}">
                <a16:creationId xmlns:a16="http://schemas.microsoft.com/office/drawing/2014/main" id="{58CF616C-1B3A-9B7F-542B-0466B9624DF2}"/>
              </a:ext>
            </a:extLst>
          </p:cNvPr>
          <p:cNvSpPr txBox="1">
            <a:spLocks noChangeArrowheads="1"/>
          </p:cNvSpPr>
          <p:nvPr/>
        </p:nvSpPr>
        <p:spPr bwMode="auto">
          <a:xfrm>
            <a:off x="7593013" y="1331913"/>
            <a:ext cx="823912"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No</a:t>
            </a:r>
          </a:p>
        </p:txBody>
      </p:sp>
      <p:sp>
        <p:nvSpPr>
          <p:cNvPr id="21528" name="Rectangle 1">
            <a:extLst>
              <a:ext uri="{FF2B5EF4-FFF2-40B4-BE49-F238E27FC236}">
                <a16:creationId xmlns:a16="http://schemas.microsoft.com/office/drawing/2014/main" id="{B79E723A-E7B7-C104-0267-9D5A9F462B19}"/>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Marketplace Competition</a:t>
            </a:r>
          </a:p>
        </p:txBody>
      </p:sp>
      <p:sp>
        <p:nvSpPr>
          <p:cNvPr id="21529" name="Slide Number Placeholder 4">
            <a:extLst>
              <a:ext uri="{FF2B5EF4-FFF2-40B4-BE49-F238E27FC236}">
                <a16:creationId xmlns:a16="http://schemas.microsoft.com/office/drawing/2014/main" id="{78A3FD7D-4016-36F6-81C9-3763406F7264}"/>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86159234-EC57-47F8-9DA6-F13D1C6B913E}"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3</a:t>
            </a:fld>
            <a:endParaRPr lang="en-US" altLang="en-US" sz="1100">
              <a:solidFill>
                <a:schemeClr val="bg1"/>
              </a:solidFill>
              <a:ea typeface="Corbel" panose="020B0503020204020204" pitchFamily="34" charset="0"/>
              <a:cs typeface="Corbel" panose="020B0503020204020204" pitchFamily="34" charset="0"/>
            </a:endParaRPr>
          </a:p>
        </p:txBody>
      </p:sp>
      <p:sp>
        <p:nvSpPr>
          <p:cNvPr id="21530" name="Text Box 10">
            <a:extLst>
              <a:ext uri="{FF2B5EF4-FFF2-40B4-BE49-F238E27FC236}">
                <a16:creationId xmlns:a16="http://schemas.microsoft.com/office/drawing/2014/main" id="{EDE5D5A1-F6C3-9598-C617-58A57BCC8353}"/>
              </a:ext>
            </a:extLst>
          </p:cNvPr>
          <p:cNvSpPr txBox="1">
            <a:spLocks noChangeArrowheads="1"/>
          </p:cNvSpPr>
          <p:nvPr/>
        </p:nvSpPr>
        <p:spPr bwMode="auto">
          <a:xfrm>
            <a:off x="623888" y="3494088"/>
            <a:ext cx="2738437"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2. Who is your main competition?</a:t>
            </a:r>
          </a:p>
        </p:txBody>
      </p:sp>
      <p:sp>
        <p:nvSpPr>
          <p:cNvPr id="21531" name="TextBox 23">
            <a:extLst>
              <a:ext uri="{FF2B5EF4-FFF2-40B4-BE49-F238E27FC236}">
                <a16:creationId xmlns:a16="http://schemas.microsoft.com/office/drawing/2014/main" id="{B8D244FC-64FD-9D23-5D55-CAE872ED0AD1}"/>
              </a:ext>
            </a:extLst>
          </p:cNvPr>
          <p:cNvSpPr txBox="1">
            <a:spLocks noChangeArrowheads="1"/>
          </p:cNvSpPr>
          <p:nvPr/>
        </p:nvSpPr>
        <p:spPr bwMode="auto">
          <a:xfrm>
            <a:off x="1268413" y="3810000"/>
            <a:ext cx="356076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1532" name="TextBox 24">
            <a:extLst>
              <a:ext uri="{FF2B5EF4-FFF2-40B4-BE49-F238E27FC236}">
                <a16:creationId xmlns:a16="http://schemas.microsoft.com/office/drawing/2014/main" id="{B38799E1-77FC-7663-FAE2-9BD6428C8484}"/>
              </a:ext>
            </a:extLst>
          </p:cNvPr>
          <p:cNvSpPr txBox="1">
            <a:spLocks noChangeArrowheads="1"/>
          </p:cNvSpPr>
          <p:nvPr/>
        </p:nvSpPr>
        <p:spPr bwMode="auto">
          <a:xfrm>
            <a:off x="5100638" y="3810000"/>
            <a:ext cx="342106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1533" name="Text Box 13">
            <a:extLst>
              <a:ext uri="{FF2B5EF4-FFF2-40B4-BE49-F238E27FC236}">
                <a16:creationId xmlns:a16="http://schemas.microsoft.com/office/drawing/2014/main" id="{F1089691-3414-B092-3765-19E49077612E}"/>
              </a:ext>
            </a:extLst>
          </p:cNvPr>
          <p:cNvSpPr txBox="1">
            <a:spLocks noChangeArrowheads="1"/>
          </p:cNvSpPr>
          <p:nvPr/>
        </p:nvSpPr>
        <p:spPr bwMode="auto">
          <a:xfrm>
            <a:off x="852488" y="4330700"/>
            <a:ext cx="2452687"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A. What are their strengths? </a:t>
            </a:r>
          </a:p>
        </p:txBody>
      </p:sp>
      <p:sp>
        <p:nvSpPr>
          <p:cNvPr id="21534" name="Text Box 16">
            <a:extLst>
              <a:ext uri="{FF2B5EF4-FFF2-40B4-BE49-F238E27FC236}">
                <a16:creationId xmlns:a16="http://schemas.microsoft.com/office/drawing/2014/main" id="{9EEFAE36-62C4-8B60-97EB-215D2F117A50}"/>
              </a:ext>
            </a:extLst>
          </p:cNvPr>
          <p:cNvSpPr txBox="1">
            <a:spLocks noChangeArrowheads="1"/>
          </p:cNvSpPr>
          <p:nvPr/>
        </p:nvSpPr>
        <p:spPr bwMode="auto">
          <a:xfrm>
            <a:off x="852488" y="5330825"/>
            <a:ext cx="2647950"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B. What are their weaknesses? </a:t>
            </a:r>
          </a:p>
        </p:txBody>
      </p:sp>
      <p:sp>
        <p:nvSpPr>
          <p:cNvPr id="21535" name="TextBox 25">
            <a:extLst>
              <a:ext uri="{FF2B5EF4-FFF2-40B4-BE49-F238E27FC236}">
                <a16:creationId xmlns:a16="http://schemas.microsoft.com/office/drawing/2014/main" id="{35C0F8D8-5D12-861E-5815-7BA7D5DA3D03}"/>
              </a:ext>
            </a:extLst>
          </p:cNvPr>
          <p:cNvSpPr txBox="1">
            <a:spLocks noChangeArrowheads="1"/>
          </p:cNvSpPr>
          <p:nvPr/>
        </p:nvSpPr>
        <p:spPr bwMode="auto">
          <a:xfrm>
            <a:off x="1276350" y="4572000"/>
            <a:ext cx="355282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1536" name="TextBox 26">
            <a:extLst>
              <a:ext uri="{FF2B5EF4-FFF2-40B4-BE49-F238E27FC236}">
                <a16:creationId xmlns:a16="http://schemas.microsoft.com/office/drawing/2014/main" id="{F8F9A71B-4009-DD6F-11D3-7699BC8C791B}"/>
              </a:ext>
            </a:extLst>
          </p:cNvPr>
          <p:cNvSpPr txBox="1">
            <a:spLocks noChangeArrowheads="1"/>
          </p:cNvSpPr>
          <p:nvPr/>
        </p:nvSpPr>
        <p:spPr bwMode="auto">
          <a:xfrm>
            <a:off x="5078413" y="4572000"/>
            <a:ext cx="34290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1537" name="TextBox 28">
            <a:extLst>
              <a:ext uri="{FF2B5EF4-FFF2-40B4-BE49-F238E27FC236}">
                <a16:creationId xmlns:a16="http://schemas.microsoft.com/office/drawing/2014/main" id="{90C14CCC-C38C-D4D7-2D8A-E8435C0C4B6C}"/>
              </a:ext>
            </a:extLst>
          </p:cNvPr>
          <p:cNvSpPr txBox="1">
            <a:spLocks noChangeArrowheads="1"/>
          </p:cNvSpPr>
          <p:nvPr/>
        </p:nvSpPr>
        <p:spPr bwMode="auto">
          <a:xfrm>
            <a:off x="1208088" y="5572125"/>
            <a:ext cx="355282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1538" name="TextBox 29">
            <a:extLst>
              <a:ext uri="{FF2B5EF4-FFF2-40B4-BE49-F238E27FC236}">
                <a16:creationId xmlns:a16="http://schemas.microsoft.com/office/drawing/2014/main" id="{42430BC8-7FBD-29A2-71F8-414DEB0E3AAC}"/>
              </a:ext>
            </a:extLst>
          </p:cNvPr>
          <p:cNvSpPr txBox="1">
            <a:spLocks noChangeArrowheads="1"/>
          </p:cNvSpPr>
          <p:nvPr/>
        </p:nvSpPr>
        <p:spPr bwMode="auto">
          <a:xfrm>
            <a:off x="5078413" y="5572125"/>
            <a:ext cx="34290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7">
            <a:extLst>
              <a:ext uri="{FF2B5EF4-FFF2-40B4-BE49-F238E27FC236}">
                <a16:creationId xmlns:a16="http://schemas.microsoft.com/office/drawing/2014/main" id="{C02B792B-97DA-9AF0-9083-C1D16C38F059}"/>
              </a:ext>
            </a:extLst>
          </p:cNvPr>
          <p:cNvSpPr txBox="1">
            <a:spLocks noChangeArrowheads="1"/>
          </p:cNvSpPr>
          <p:nvPr/>
        </p:nvSpPr>
        <p:spPr bwMode="auto">
          <a:xfrm>
            <a:off x="609600" y="4495800"/>
            <a:ext cx="6786563"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3. What  are the biggest misconceptions consumers have about your business? </a:t>
            </a:r>
          </a:p>
        </p:txBody>
      </p:sp>
      <p:sp>
        <p:nvSpPr>
          <p:cNvPr id="22531" name="Text Box 8">
            <a:extLst>
              <a:ext uri="{FF2B5EF4-FFF2-40B4-BE49-F238E27FC236}">
                <a16:creationId xmlns:a16="http://schemas.microsoft.com/office/drawing/2014/main" id="{AD1DC3AE-158B-B5BB-CC8E-39285E451C8B}"/>
              </a:ext>
            </a:extLst>
          </p:cNvPr>
          <p:cNvSpPr txBox="1">
            <a:spLocks noChangeArrowheads="1"/>
          </p:cNvSpPr>
          <p:nvPr/>
        </p:nvSpPr>
        <p:spPr bwMode="auto">
          <a:xfrm>
            <a:off x="615950" y="5486400"/>
            <a:ext cx="4464050"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4. What are your most distinctive selling advantages? </a:t>
            </a:r>
          </a:p>
        </p:txBody>
      </p:sp>
      <p:sp>
        <p:nvSpPr>
          <p:cNvPr id="22532" name="TextBox 20">
            <a:extLst>
              <a:ext uri="{FF2B5EF4-FFF2-40B4-BE49-F238E27FC236}">
                <a16:creationId xmlns:a16="http://schemas.microsoft.com/office/drawing/2014/main" id="{770448A0-2720-8878-ED7C-8BE885AAF4FE}"/>
              </a:ext>
            </a:extLst>
          </p:cNvPr>
          <p:cNvSpPr txBox="1">
            <a:spLocks noChangeArrowheads="1"/>
          </p:cNvSpPr>
          <p:nvPr/>
        </p:nvSpPr>
        <p:spPr bwMode="auto">
          <a:xfrm>
            <a:off x="809625" y="4624388"/>
            <a:ext cx="7681913"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2533" name="TextBox 21">
            <a:extLst>
              <a:ext uri="{FF2B5EF4-FFF2-40B4-BE49-F238E27FC236}">
                <a16:creationId xmlns:a16="http://schemas.microsoft.com/office/drawing/2014/main" id="{2DE6F8FE-0188-1791-3EF2-8B30565B8355}"/>
              </a:ext>
            </a:extLst>
          </p:cNvPr>
          <p:cNvSpPr txBox="1">
            <a:spLocks noChangeArrowheads="1"/>
          </p:cNvSpPr>
          <p:nvPr/>
        </p:nvSpPr>
        <p:spPr bwMode="auto">
          <a:xfrm>
            <a:off x="814388" y="5699125"/>
            <a:ext cx="77089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2534" name="Text Box 22">
            <a:extLst>
              <a:ext uri="{FF2B5EF4-FFF2-40B4-BE49-F238E27FC236}">
                <a16:creationId xmlns:a16="http://schemas.microsoft.com/office/drawing/2014/main" id="{B495E70E-7D12-4FCB-BBA8-95BE180253C4}"/>
              </a:ext>
            </a:extLst>
          </p:cNvPr>
          <p:cNvSpPr txBox="1">
            <a:spLocks noChangeArrowheads="1"/>
          </p:cNvSpPr>
          <p:nvPr/>
        </p:nvSpPr>
        <p:spPr bwMode="auto">
          <a:xfrm>
            <a:off x="630238" y="642938"/>
            <a:ext cx="7818437" cy="19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300" b="1" i="1">
                <a:solidFill>
                  <a:srgbClr val="00274D"/>
                </a:solidFill>
                <a:ea typeface="Corbel" panose="020B0503020204020204" pitchFamily="34" charset="0"/>
                <a:cs typeface="Corbel" panose="020B0503020204020204" pitchFamily="34" charset="0"/>
              </a:rPr>
              <a:t>If you had the power to improve three things in your marketing, what would they be in order of their priority?</a:t>
            </a:r>
          </a:p>
        </p:txBody>
      </p:sp>
      <p:sp>
        <p:nvSpPr>
          <p:cNvPr id="22535" name="Text Box 23">
            <a:extLst>
              <a:ext uri="{FF2B5EF4-FFF2-40B4-BE49-F238E27FC236}">
                <a16:creationId xmlns:a16="http://schemas.microsoft.com/office/drawing/2014/main" id="{C2C5756A-01BC-B903-54AF-C52EB3A29C1F}"/>
              </a:ext>
            </a:extLst>
          </p:cNvPr>
          <p:cNvSpPr txBox="1">
            <a:spLocks noChangeArrowheads="1"/>
          </p:cNvSpPr>
          <p:nvPr/>
        </p:nvSpPr>
        <p:spPr bwMode="auto">
          <a:xfrm>
            <a:off x="609600" y="1093788"/>
            <a:ext cx="3016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b="1">
                <a:solidFill>
                  <a:srgbClr val="00274D"/>
                </a:solidFill>
                <a:ea typeface="Corbel" panose="020B0503020204020204" pitchFamily="34" charset="0"/>
                <a:cs typeface="Corbel" panose="020B0503020204020204" pitchFamily="34" charset="0"/>
              </a:rPr>
              <a:t>1.</a:t>
            </a:r>
          </a:p>
        </p:txBody>
      </p:sp>
      <p:sp>
        <p:nvSpPr>
          <p:cNvPr id="22536" name="Text Box 24">
            <a:extLst>
              <a:ext uri="{FF2B5EF4-FFF2-40B4-BE49-F238E27FC236}">
                <a16:creationId xmlns:a16="http://schemas.microsoft.com/office/drawing/2014/main" id="{9F9E13B1-BA97-32D6-B69B-64E2783047B5}"/>
              </a:ext>
            </a:extLst>
          </p:cNvPr>
          <p:cNvSpPr txBox="1">
            <a:spLocks noChangeArrowheads="1"/>
          </p:cNvSpPr>
          <p:nvPr/>
        </p:nvSpPr>
        <p:spPr bwMode="auto">
          <a:xfrm>
            <a:off x="3352800" y="1093788"/>
            <a:ext cx="3016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b="1">
                <a:solidFill>
                  <a:srgbClr val="00274D"/>
                </a:solidFill>
                <a:ea typeface="Corbel" panose="020B0503020204020204" pitchFamily="34" charset="0"/>
                <a:cs typeface="Corbel" panose="020B0503020204020204" pitchFamily="34" charset="0"/>
              </a:rPr>
              <a:t>2.</a:t>
            </a:r>
          </a:p>
        </p:txBody>
      </p:sp>
      <p:sp>
        <p:nvSpPr>
          <p:cNvPr id="22537" name="Text Box 25">
            <a:extLst>
              <a:ext uri="{FF2B5EF4-FFF2-40B4-BE49-F238E27FC236}">
                <a16:creationId xmlns:a16="http://schemas.microsoft.com/office/drawing/2014/main" id="{39955A7B-AD16-0AAF-92D0-C03862187729}"/>
              </a:ext>
            </a:extLst>
          </p:cNvPr>
          <p:cNvSpPr txBox="1">
            <a:spLocks noChangeArrowheads="1"/>
          </p:cNvSpPr>
          <p:nvPr/>
        </p:nvSpPr>
        <p:spPr bwMode="auto">
          <a:xfrm>
            <a:off x="5980113" y="1093788"/>
            <a:ext cx="300037"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b="1">
                <a:solidFill>
                  <a:srgbClr val="00274D"/>
                </a:solidFill>
                <a:ea typeface="Corbel" panose="020B0503020204020204" pitchFamily="34" charset="0"/>
                <a:cs typeface="Corbel" panose="020B0503020204020204" pitchFamily="34" charset="0"/>
              </a:rPr>
              <a:t>3.</a:t>
            </a:r>
          </a:p>
        </p:txBody>
      </p:sp>
      <p:sp>
        <p:nvSpPr>
          <p:cNvPr id="22538" name="TextBox 51">
            <a:extLst>
              <a:ext uri="{FF2B5EF4-FFF2-40B4-BE49-F238E27FC236}">
                <a16:creationId xmlns:a16="http://schemas.microsoft.com/office/drawing/2014/main" id="{A0DC8672-B988-87D8-3774-A974CFC30E4E}"/>
              </a:ext>
            </a:extLst>
          </p:cNvPr>
          <p:cNvSpPr txBox="1">
            <a:spLocks noChangeArrowheads="1"/>
          </p:cNvSpPr>
          <p:nvPr/>
        </p:nvSpPr>
        <p:spPr bwMode="auto">
          <a:xfrm>
            <a:off x="836613" y="1069975"/>
            <a:ext cx="246856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_1</a:t>
            </a:r>
            <a:r>
              <a:rPr lang="en-US" altLang="en-US" sz="1200" baseline="30000">
                <a:solidFill>
                  <a:srgbClr val="00274D"/>
                </a:solidFill>
                <a:ea typeface="Corbel" panose="020B0503020204020204" pitchFamily="34" charset="0"/>
                <a:cs typeface="Corbel" panose="020B0503020204020204" pitchFamily="34" charset="0"/>
              </a:rPr>
              <a:t>st</a:t>
            </a:r>
            <a:r>
              <a:rPr lang="en-US" altLang="en-US" sz="1200">
                <a:solidFill>
                  <a:srgbClr val="00274D"/>
                </a:solidFill>
                <a:ea typeface="Corbel" panose="020B0503020204020204" pitchFamily="34" charset="0"/>
                <a:cs typeface="Corbel" panose="020B0503020204020204" pitchFamily="34" charset="0"/>
              </a:rPr>
              <a:t> objective, Marketing Objective</a:t>
            </a:r>
          </a:p>
        </p:txBody>
      </p:sp>
      <p:sp>
        <p:nvSpPr>
          <p:cNvPr id="22539" name="TextBox 52">
            <a:extLst>
              <a:ext uri="{FF2B5EF4-FFF2-40B4-BE49-F238E27FC236}">
                <a16:creationId xmlns:a16="http://schemas.microsoft.com/office/drawing/2014/main" id="{871EF415-4686-A198-B707-27D5E0FD8525}"/>
              </a:ext>
            </a:extLst>
          </p:cNvPr>
          <p:cNvSpPr txBox="1">
            <a:spLocks noChangeArrowheads="1"/>
          </p:cNvSpPr>
          <p:nvPr/>
        </p:nvSpPr>
        <p:spPr bwMode="auto">
          <a:xfrm>
            <a:off x="3511550" y="1069975"/>
            <a:ext cx="2468563"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_2</a:t>
            </a:r>
            <a:r>
              <a:rPr lang="en-US" altLang="en-US" sz="1200" baseline="30000">
                <a:solidFill>
                  <a:srgbClr val="00274D"/>
                </a:solidFill>
                <a:ea typeface="Corbel" panose="020B0503020204020204" pitchFamily="34" charset="0"/>
                <a:cs typeface="Corbel" panose="020B0503020204020204" pitchFamily="34" charset="0"/>
              </a:rPr>
              <a:t>nd</a:t>
            </a:r>
            <a:r>
              <a:rPr lang="en-US" altLang="en-US" sz="1200">
                <a:solidFill>
                  <a:srgbClr val="00274D"/>
                </a:solidFill>
                <a:ea typeface="Corbel" panose="020B0503020204020204" pitchFamily="34" charset="0"/>
                <a:cs typeface="Corbel" panose="020B0503020204020204" pitchFamily="34" charset="0"/>
              </a:rPr>
              <a:t> objective, Marketing Objective</a:t>
            </a:r>
          </a:p>
        </p:txBody>
      </p:sp>
      <p:sp>
        <p:nvSpPr>
          <p:cNvPr id="22540" name="TextBox 53">
            <a:extLst>
              <a:ext uri="{FF2B5EF4-FFF2-40B4-BE49-F238E27FC236}">
                <a16:creationId xmlns:a16="http://schemas.microsoft.com/office/drawing/2014/main" id="{94260F98-62F5-BDE8-37B0-1D8E09AA5D27}"/>
              </a:ext>
            </a:extLst>
          </p:cNvPr>
          <p:cNvSpPr txBox="1">
            <a:spLocks noChangeArrowheads="1"/>
          </p:cNvSpPr>
          <p:nvPr/>
        </p:nvSpPr>
        <p:spPr bwMode="auto">
          <a:xfrm>
            <a:off x="6186488" y="1069975"/>
            <a:ext cx="246856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_3</a:t>
            </a:r>
            <a:r>
              <a:rPr lang="en-US" altLang="en-US" sz="1200" baseline="30000">
                <a:solidFill>
                  <a:srgbClr val="00274D"/>
                </a:solidFill>
                <a:ea typeface="Corbel" panose="020B0503020204020204" pitchFamily="34" charset="0"/>
                <a:cs typeface="Corbel" panose="020B0503020204020204" pitchFamily="34" charset="0"/>
              </a:rPr>
              <a:t>rd</a:t>
            </a:r>
            <a:r>
              <a:rPr lang="en-US" altLang="en-US" sz="1200">
                <a:solidFill>
                  <a:srgbClr val="00274D"/>
                </a:solidFill>
                <a:ea typeface="Corbel" panose="020B0503020204020204" pitchFamily="34" charset="0"/>
                <a:cs typeface="Corbel" panose="020B0503020204020204" pitchFamily="34" charset="0"/>
              </a:rPr>
              <a:t> objective, Marketing Objective</a:t>
            </a:r>
          </a:p>
        </p:txBody>
      </p:sp>
      <p:sp>
        <p:nvSpPr>
          <p:cNvPr id="22541" name="Text Box 27">
            <a:extLst>
              <a:ext uri="{FF2B5EF4-FFF2-40B4-BE49-F238E27FC236}">
                <a16:creationId xmlns:a16="http://schemas.microsoft.com/office/drawing/2014/main" id="{FDECBC4B-E252-52D1-411A-BB025850D110}"/>
              </a:ext>
            </a:extLst>
          </p:cNvPr>
          <p:cNvSpPr txBox="1">
            <a:spLocks noChangeArrowheads="1"/>
          </p:cNvSpPr>
          <p:nvPr/>
        </p:nvSpPr>
        <p:spPr bwMode="auto">
          <a:xfrm>
            <a:off x="5237163" y="2132013"/>
            <a:ext cx="3287712"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000">
                <a:solidFill>
                  <a:srgbClr val="00274D"/>
                </a:solidFill>
                <a:ea typeface="Corbel" panose="020B0503020204020204" pitchFamily="34" charset="0"/>
                <a:cs typeface="Corbel" panose="020B0503020204020204" pitchFamily="34" charset="0"/>
              </a:rPr>
              <a:t>Grow New Traffic/Lead Calls </a:t>
            </a:r>
          </a:p>
        </p:txBody>
      </p:sp>
      <p:sp>
        <p:nvSpPr>
          <p:cNvPr id="22542" name="Text Box 28">
            <a:extLst>
              <a:ext uri="{FF2B5EF4-FFF2-40B4-BE49-F238E27FC236}">
                <a16:creationId xmlns:a16="http://schemas.microsoft.com/office/drawing/2014/main" id="{911F3986-3F99-50E6-2C9D-5D88F797C5F6}"/>
              </a:ext>
            </a:extLst>
          </p:cNvPr>
          <p:cNvSpPr txBox="1">
            <a:spLocks noChangeArrowheads="1"/>
          </p:cNvSpPr>
          <p:nvPr/>
        </p:nvSpPr>
        <p:spPr bwMode="auto">
          <a:xfrm>
            <a:off x="5235575" y="3613150"/>
            <a:ext cx="3417888"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000">
                <a:solidFill>
                  <a:srgbClr val="00274D"/>
                </a:solidFill>
                <a:ea typeface="Corbel" panose="020B0503020204020204" pitchFamily="34" charset="0"/>
                <a:cs typeface="Corbel" panose="020B0503020204020204" pitchFamily="34" charset="0"/>
              </a:rPr>
              <a:t>Improve Reputation and Listing Management</a:t>
            </a:r>
          </a:p>
        </p:txBody>
      </p:sp>
      <p:sp>
        <p:nvSpPr>
          <p:cNvPr id="22543" name="Text Box 29">
            <a:extLst>
              <a:ext uri="{FF2B5EF4-FFF2-40B4-BE49-F238E27FC236}">
                <a16:creationId xmlns:a16="http://schemas.microsoft.com/office/drawing/2014/main" id="{825EB452-7846-E830-AB51-40BCF1B75AF3}"/>
              </a:ext>
            </a:extLst>
          </p:cNvPr>
          <p:cNvSpPr txBox="1">
            <a:spLocks noChangeArrowheads="1"/>
          </p:cNvSpPr>
          <p:nvPr/>
        </p:nvSpPr>
        <p:spPr bwMode="auto">
          <a:xfrm>
            <a:off x="1536700" y="3589338"/>
            <a:ext cx="33512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Establish a Quarterly Spike/Seasonal Campaign</a:t>
            </a:r>
          </a:p>
        </p:txBody>
      </p:sp>
      <p:sp>
        <p:nvSpPr>
          <p:cNvPr id="22544" name="Text Box 30">
            <a:extLst>
              <a:ext uri="{FF2B5EF4-FFF2-40B4-BE49-F238E27FC236}">
                <a16:creationId xmlns:a16="http://schemas.microsoft.com/office/drawing/2014/main" id="{F26AE15C-71A5-629C-1003-0B20751D9BD5}"/>
              </a:ext>
            </a:extLst>
          </p:cNvPr>
          <p:cNvSpPr txBox="1">
            <a:spLocks noChangeArrowheads="1"/>
          </p:cNvSpPr>
          <p:nvPr/>
        </p:nvSpPr>
        <p:spPr bwMode="auto">
          <a:xfrm>
            <a:off x="5248275" y="2333625"/>
            <a:ext cx="36068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Expand Target Consumers (by age, sex, geography)</a:t>
            </a:r>
          </a:p>
        </p:txBody>
      </p:sp>
      <p:sp>
        <p:nvSpPr>
          <p:cNvPr id="22545" name="Text Box 31">
            <a:extLst>
              <a:ext uri="{FF2B5EF4-FFF2-40B4-BE49-F238E27FC236}">
                <a16:creationId xmlns:a16="http://schemas.microsoft.com/office/drawing/2014/main" id="{45ACBF49-7B54-6162-F2F0-2FE12E5550B6}"/>
              </a:ext>
            </a:extLst>
          </p:cNvPr>
          <p:cNvSpPr txBox="1">
            <a:spLocks noChangeArrowheads="1"/>
          </p:cNvSpPr>
          <p:nvPr/>
        </p:nvSpPr>
        <p:spPr bwMode="auto">
          <a:xfrm>
            <a:off x="5235575" y="4211638"/>
            <a:ext cx="341788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Other:</a:t>
            </a:r>
          </a:p>
        </p:txBody>
      </p:sp>
      <p:sp>
        <p:nvSpPr>
          <p:cNvPr id="22546" name="Text Box 32">
            <a:extLst>
              <a:ext uri="{FF2B5EF4-FFF2-40B4-BE49-F238E27FC236}">
                <a16:creationId xmlns:a16="http://schemas.microsoft.com/office/drawing/2014/main" id="{2843F00A-994E-EB97-2EBF-A9114D98016A}"/>
              </a:ext>
            </a:extLst>
          </p:cNvPr>
          <p:cNvSpPr txBox="1">
            <a:spLocks noChangeArrowheads="1"/>
          </p:cNvSpPr>
          <p:nvPr/>
        </p:nvSpPr>
        <p:spPr bwMode="auto">
          <a:xfrm>
            <a:off x="1539875" y="2541588"/>
            <a:ext cx="306228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Utilize Co-op/Vendor Dollars	</a:t>
            </a:r>
          </a:p>
        </p:txBody>
      </p:sp>
      <p:sp>
        <p:nvSpPr>
          <p:cNvPr id="22547" name="Text Box 33">
            <a:extLst>
              <a:ext uri="{FF2B5EF4-FFF2-40B4-BE49-F238E27FC236}">
                <a16:creationId xmlns:a16="http://schemas.microsoft.com/office/drawing/2014/main" id="{53E8FE5D-CA3C-D38E-04AD-0DFCD063FE8E}"/>
              </a:ext>
            </a:extLst>
          </p:cNvPr>
          <p:cNvSpPr txBox="1">
            <a:spLocks noChangeArrowheads="1"/>
          </p:cNvSpPr>
          <p:nvPr/>
        </p:nvSpPr>
        <p:spPr bwMode="auto">
          <a:xfrm>
            <a:off x="5237163" y="1736725"/>
            <a:ext cx="328612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Retain/Recapture Consumers </a:t>
            </a:r>
          </a:p>
        </p:txBody>
      </p:sp>
      <p:sp>
        <p:nvSpPr>
          <p:cNvPr id="22548" name="Text Box 35">
            <a:extLst>
              <a:ext uri="{FF2B5EF4-FFF2-40B4-BE49-F238E27FC236}">
                <a16:creationId xmlns:a16="http://schemas.microsoft.com/office/drawing/2014/main" id="{8CA223B7-B7E6-2BF2-27FD-13BB0A5E5773}"/>
              </a:ext>
            </a:extLst>
          </p:cNvPr>
          <p:cNvSpPr txBox="1">
            <a:spLocks noChangeArrowheads="1"/>
          </p:cNvSpPr>
          <p:nvPr/>
        </p:nvSpPr>
        <p:spPr bwMode="auto">
          <a:xfrm>
            <a:off x="5237163" y="2530475"/>
            <a:ext cx="32877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Change Consumer Attitudes</a:t>
            </a:r>
          </a:p>
        </p:txBody>
      </p:sp>
      <p:sp>
        <p:nvSpPr>
          <p:cNvPr id="22549" name="Text Box 36">
            <a:extLst>
              <a:ext uri="{FF2B5EF4-FFF2-40B4-BE49-F238E27FC236}">
                <a16:creationId xmlns:a16="http://schemas.microsoft.com/office/drawing/2014/main" id="{FA03D633-AC91-730A-EC2C-2BA77EF45AE0}"/>
              </a:ext>
            </a:extLst>
          </p:cNvPr>
          <p:cNvSpPr txBox="1">
            <a:spLocks noChangeArrowheads="1"/>
          </p:cNvSpPr>
          <p:nvPr/>
        </p:nvSpPr>
        <p:spPr bwMode="auto">
          <a:xfrm>
            <a:off x="5237163" y="3171825"/>
            <a:ext cx="341788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Maintain Market Dominance</a:t>
            </a:r>
          </a:p>
        </p:txBody>
      </p:sp>
      <p:sp>
        <p:nvSpPr>
          <p:cNvPr id="22550" name="Text Box 37">
            <a:extLst>
              <a:ext uri="{FF2B5EF4-FFF2-40B4-BE49-F238E27FC236}">
                <a16:creationId xmlns:a16="http://schemas.microsoft.com/office/drawing/2014/main" id="{6F4AD379-7A40-95A4-92AD-5D28F74EB808}"/>
              </a:ext>
            </a:extLst>
          </p:cNvPr>
          <p:cNvSpPr txBox="1">
            <a:spLocks noChangeArrowheads="1"/>
          </p:cNvSpPr>
          <p:nvPr/>
        </p:nvSpPr>
        <p:spPr bwMode="auto">
          <a:xfrm>
            <a:off x="1544638" y="3806825"/>
            <a:ext cx="3351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Develop Database Marketing (Email &amp; Text)</a:t>
            </a:r>
          </a:p>
        </p:txBody>
      </p:sp>
      <p:sp>
        <p:nvSpPr>
          <p:cNvPr id="22551" name="Text Box 38">
            <a:extLst>
              <a:ext uri="{FF2B5EF4-FFF2-40B4-BE49-F238E27FC236}">
                <a16:creationId xmlns:a16="http://schemas.microsoft.com/office/drawing/2014/main" id="{B152F22A-540C-D364-4377-28D2FD912A1D}"/>
              </a:ext>
            </a:extLst>
          </p:cNvPr>
          <p:cNvSpPr txBox="1">
            <a:spLocks noChangeArrowheads="1"/>
          </p:cNvSpPr>
          <p:nvPr/>
        </p:nvSpPr>
        <p:spPr bwMode="auto">
          <a:xfrm>
            <a:off x="5245100" y="3829050"/>
            <a:ext cx="3417888"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000">
                <a:solidFill>
                  <a:srgbClr val="00274D"/>
                </a:solidFill>
                <a:ea typeface="Corbel" panose="020B0503020204020204" pitchFamily="34" charset="0"/>
                <a:cs typeface="Corbel" panose="020B0503020204020204" pitchFamily="34" charset="0"/>
              </a:rPr>
              <a:t>Enhance Website (Mobile, Responsive, SEO, SEM)</a:t>
            </a:r>
          </a:p>
        </p:txBody>
      </p:sp>
      <p:sp>
        <p:nvSpPr>
          <p:cNvPr id="22552" name="Text Box 40">
            <a:extLst>
              <a:ext uri="{FF2B5EF4-FFF2-40B4-BE49-F238E27FC236}">
                <a16:creationId xmlns:a16="http://schemas.microsoft.com/office/drawing/2014/main" id="{6523D8A8-A799-E8A9-E74F-2CB35C162FA4}"/>
              </a:ext>
            </a:extLst>
          </p:cNvPr>
          <p:cNvSpPr txBox="1">
            <a:spLocks noChangeArrowheads="1"/>
          </p:cNvSpPr>
          <p:nvPr/>
        </p:nvSpPr>
        <p:spPr bwMode="auto">
          <a:xfrm>
            <a:off x="1531938" y="3171825"/>
            <a:ext cx="3351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Make Promotional Events Stronger</a:t>
            </a:r>
          </a:p>
        </p:txBody>
      </p:sp>
      <p:sp>
        <p:nvSpPr>
          <p:cNvPr id="22553" name="Text Box 41">
            <a:extLst>
              <a:ext uri="{FF2B5EF4-FFF2-40B4-BE49-F238E27FC236}">
                <a16:creationId xmlns:a16="http://schemas.microsoft.com/office/drawing/2014/main" id="{2482BB7D-EF96-86F5-C77A-7FE719F342C5}"/>
              </a:ext>
            </a:extLst>
          </p:cNvPr>
          <p:cNvSpPr txBox="1">
            <a:spLocks noChangeArrowheads="1"/>
          </p:cNvSpPr>
          <p:nvPr/>
        </p:nvSpPr>
        <p:spPr bwMode="auto">
          <a:xfrm>
            <a:off x="5248275" y="4021138"/>
            <a:ext cx="3419475"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000">
                <a:solidFill>
                  <a:srgbClr val="00274D"/>
                </a:solidFill>
                <a:ea typeface="Corbel" panose="020B0503020204020204" pitchFamily="34" charset="0"/>
                <a:cs typeface="Corbel" panose="020B0503020204020204" pitchFamily="34" charset="0"/>
              </a:rPr>
              <a:t>Increase Market Share</a:t>
            </a:r>
          </a:p>
        </p:txBody>
      </p:sp>
      <p:sp>
        <p:nvSpPr>
          <p:cNvPr id="22554" name="Text Box 42">
            <a:extLst>
              <a:ext uri="{FF2B5EF4-FFF2-40B4-BE49-F238E27FC236}">
                <a16:creationId xmlns:a16="http://schemas.microsoft.com/office/drawing/2014/main" id="{037522A3-3A34-9C59-22DD-8E630EFD8D73}"/>
              </a:ext>
            </a:extLst>
          </p:cNvPr>
          <p:cNvSpPr txBox="1">
            <a:spLocks noChangeArrowheads="1"/>
          </p:cNvSpPr>
          <p:nvPr/>
        </p:nvSpPr>
        <p:spPr bwMode="auto">
          <a:xfrm>
            <a:off x="1544638" y="2368550"/>
            <a:ext cx="30607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Promote Off-price Items/Services</a:t>
            </a:r>
          </a:p>
        </p:txBody>
      </p:sp>
      <p:sp>
        <p:nvSpPr>
          <p:cNvPr id="22555" name="Text Box 43">
            <a:extLst>
              <a:ext uri="{FF2B5EF4-FFF2-40B4-BE49-F238E27FC236}">
                <a16:creationId xmlns:a16="http://schemas.microsoft.com/office/drawing/2014/main" id="{6F1E9D14-B503-8CA9-D047-504580FD6240}"/>
              </a:ext>
            </a:extLst>
          </p:cNvPr>
          <p:cNvSpPr txBox="1">
            <a:spLocks noChangeArrowheads="1"/>
          </p:cNvSpPr>
          <p:nvPr/>
        </p:nvSpPr>
        <p:spPr bwMode="auto">
          <a:xfrm>
            <a:off x="1539875" y="3371850"/>
            <a:ext cx="3349625"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000">
                <a:solidFill>
                  <a:srgbClr val="00274D"/>
                </a:solidFill>
                <a:ea typeface="Corbel" panose="020B0503020204020204" pitchFamily="34" charset="0"/>
                <a:cs typeface="Corbel" panose="020B0503020204020204" pitchFamily="34" charset="0"/>
              </a:rPr>
              <a:t>Develop Digital/Mobile/Social Strategies</a:t>
            </a:r>
          </a:p>
        </p:txBody>
      </p:sp>
      <p:sp>
        <p:nvSpPr>
          <p:cNvPr id="22556" name="Text Box 45">
            <a:extLst>
              <a:ext uri="{FF2B5EF4-FFF2-40B4-BE49-F238E27FC236}">
                <a16:creationId xmlns:a16="http://schemas.microsoft.com/office/drawing/2014/main" id="{0E3C8469-1FEB-252C-B559-73393AD05694}"/>
              </a:ext>
            </a:extLst>
          </p:cNvPr>
          <p:cNvSpPr txBox="1">
            <a:spLocks noChangeArrowheads="1"/>
          </p:cNvSpPr>
          <p:nvPr/>
        </p:nvSpPr>
        <p:spPr bwMode="auto">
          <a:xfrm>
            <a:off x="1530350" y="1974850"/>
            <a:ext cx="30607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Feature Specific Products/Services</a:t>
            </a:r>
          </a:p>
        </p:txBody>
      </p:sp>
      <p:sp>
        <p:nvSpPr>
          <p:cNvPr id="22557" name="Text Box 47">
            <a:extLst>
              <a:ext uri="{FF2B5EF4-FFF2-40B4-BE49-F238E27FC236}">
                <a16:creationId xmlns:a16="http://schemas.microsoft.com/office/drawing/2014/main" id="{14768FFD-D43F-7303-3DF6-376600507AB0}"/>
              </a:ext>
            </a:extLst>
          </p:cNvPr>
          <p:cNvSpPr txBox="1">
            <a:spLocks noChangeArrowheads="1"/>
          </p:cNvSpPr>
          <p:nvPr/>
        </p:nvSpPr>
        <p:spPr bwMode="auto">
          <a:xfrm>
            <a:off x="1544638" y="4211638"/>
            <a:ext cx="33528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Develop Specially Staged Events</a:t>
            </a:r>
          </a:p>
        </p:txBody>
      </p:sp>
      <p:sp>
        <p:nvSpPr>
          <p:cNvPr id="22558" name="Text Box 48">
            <a:extLst>
              <a:ext uri="{FF2B5EF4-FFF2-40B4-BE49-F238E27FC236}">
                <a16:creationId xmlns:a16="http://schemas.microsoft.com/office/drawing/2014/main" id="{E93A7972-AC07-B0EF-DEEC-16F318962CF9}"/>
              </a:ext>
            </a:extLst>
          </p:cNvPr>
          <p:cNvSpPr txBox="1">
            <a:spLocks noChangeArrowheads="1"/>
          </p:cNvSpPr>
          <p:nvPr/>
        </p:nvSpPr>
        <p:spPr bwMode="auto">
          <a:xfrm>
            <a:off x="1530350" y="1776413"/>
            <a:ext cx="3059113"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Introduce New Department/Products/Services</a:t>
            </a:r>
          </a:p>
        </p:txBody>
      </p:sp>
      <p:sp>
        <p:nvSpPr>
          <p:cNvPr id="22559" name="TextBox 50">
            <a:extLst>
              <a:ext uri="{FF2B5EF4-FFF2-40B4-BE49-F238E27FC236}">
                <a16:creationId xmlns:a16="http://schemas.microsoft.com/office/drawing/2014/main" id="{84F09E72-049F-6755-2364-0EE732D72736}"/>
              </a:ext>
            </a:extLst>
          </p:cNvPr>
          <p:cNvSpPr txBox="1">
            <a:spLocks noChangeArrowheads="1"/>
          </p:cNvSpPr>
          <p:nvPr/>
        </p:nvSpPr>
        <p:spPr bwMode="auto">
          <a:xfrm>
            <a:off x="5145088" y="3338513"/>
            <a:ext cx="2533650"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000">
                <a:solidFill>
                  <a:srgbClr val="00274D"/>
                </a:solidFill>
                <a:ea typeface="Corbel" panose="020B0503020204020204" pitchFamily="34" charset="0"/>
                <a:cs typeface="Corbel" panose="020B0503020204020204" pitchFamily="34" charset="0"/>
              </a:rPr>
              <a:t>Elevate Business Brand/Image</a:t>
            </a:r>
          </a:p>
        </p:txBody>
      </p:sp>
      <p:sp>
        <p:nvSpPr>
          <p:cNvPr id="22560" name="Rectangle 75">
            <a:extLst>
              <a:ext uri="{FF2B5EF4-FFF2-40B4-BE49-F238E27FC236}">
                <a16:creationId xmlns:a16="http://schemas.microsoft.com/office/drawing/2014/main" id="{7170CDCA-31B3-AD9E-83BC-20DACB17EC9A}"/>
              </a:ext>
            </a:extLst>
          </p:cNvPr>
          <p:cNvSpPr>
            <a:spLocks noChangeArrowheads="1"/>
          </p:cNvSpPr>
          <p:nvPr/>
        </p:nvSpPr>
        <p:spPr bwMode="auto">
          <a:xfrm>
            <a:off x="1690688" y="1465263"/>
            <a:ext cx="130810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300" b="1" u="sng">
                <a:solidFill>
                  <a:srgbClr val="00274D"/>
                </a:solidFill>
              </a:rPr>
              <a:t>Product/Service</a:t>
            </a:r>
            <a:r>
              <a:rPr lang="en-US" altLang="en-US" sz="1100" b="1">
                <a:solidFill>
                  <a:srgbClr val="00274D"/>
                </a:solidFill>
              </a:rPr>
              <a:t> </a:t>
            </a:r>
            <a:endParaRPr lang="en-US" altLang="en-US" sz="1100">
              <a:solidFill>
                <a:srgbClr val="00274D"/>
              </a:solidFill>
            </a:endParaRPr>
          </a:p>
        </p:txBody>
      </p:sp>
      <p:sp>
        <p:nvSpPr>
          <p:cNvPr id="22561" name="Rectangle 76">
            <a:extLst>
              <a:ext uri="{FF2B5EF4-FFF2-40B4-BE49-F238E27FC236}">
                <a16:creationId xmlns:a16="http://schemas.microsoft.com/office/drawing/2014/main" id="{1BFA4F98-6A62-6BC8-2DEF-BD78CAD80338}"/>
              </a:ext>
            </a:extLst>
          </p:cNvPr>
          <p:cNvSpPr>
            <a:spLocks noChangeArrowheads="1"/>
          </p:cNvSpPr>
          <p:nvPr/>
        </p:nvSpPr>
        <p:spPr bwMode="auto">
          <a:xfrm>
            <a:off x="1452563" y="2125663"/>
            <a:ext cx="3536950"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000">
                <a:solidFill>
                  <a:srgbClr val="00274D"/>
                </a:solidFill>
              </a:rPr>
              <a:t>Call Attention To Brands/Private Labels Carried</a:t>
            </a:r>
          </a:p>
        </p:txBody>
      </p:sp>
      <p:sp>
        <p:nvSpPr>
          <p:cNvPr id="22562" name="Rectangle 77">
            <a:extLst>
              <a:ext uri="{FF2B5EF4-FFF2-40B4-BE49-F238E27FC236}">
                <a16:creationId xmlns:a16="http://schemas.microsoft.com/office/drawing/2014/main" id="{C31E70E2-5205-6F49-44D1-9C05D449B203}"/>
              </a:ext>
            </a:extLst>
          </p:cNvPr>
          <p:cNvSpPr>
            <a:spLocks noChangeArrowheads="1"/>
          </p:cNvSpPr>
          <p:nvPr/>
        </p:nvSpPr>
        <p:spPr bwMode="auto">
          <a:xfrm>
            <a:off x="1862138" y="2763838"/>
            <a:ext cx="94138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300" b="1" u="sng">
                <a:solidFill>
                  <a:srgbClr val="00274D"/>
                </a:solidFill>
              </a:rPr>
              <a:t>Promotion</a:t>
            </a:r>
            <a:r>
              <a:rPr lang="en-US" altLang="en-US" b="1">
                <a:solidFill>
                  <a:srgbClr val="00274D"/>
                </a:solidFill>
              </a:rPr>
              <a:t> </a:t>
            </a:r>
            <a:endParaRPr lang="en-US" altLang="en-US">
              <a:solidFill>
                <a:srgbClr val="00274D"/>
              </a:solidFill>
            </a:endParaRPr>
          </a:p>
        </p:txBody>
      </p:sp>
      <p:sp>
        <p:nvSpPr>
          <p:cNvPr id="22563" name="Text Box 35">
            <a:extLst>
              <a:ext uri="{FF2B5EF4-FFF2-40B4-BE49-F238E27FC236}">
                <a16:creationId xmlns:a16="http://schemas.microsoft.com/office/drawing/2014/main" id="{18B7536A-A6AA-FD49-25BB-8415075A5578}"/>
              </a:ext>
            </a:extLst>
          </p:cNvPr>
          <p:cNvSpPr txBox="1">
            <a:spLocks noChangeArrowheads="1"/>
          </p:cNvSpPr>
          <p:nvPr/>
        </p:nvSpPr>
        <p:spPr bwMode="auto">
          <a:xfrm>
            <a:off x="1547813" y="4011613"/>
            <a:ext cx="33528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Initiate Cause Marketing Programs</a:t>
            </a:r>
          </a:p>
        </p:txBody>
      </p:sp>
      <p:sp>
        <p:nvSpPr>
          <p:cNvPr id="22564" name="Rectangle 79">
            <a:extLst>
              <a:ext uri="{FF2B5EF4-FFF2-40B4-BE49-F238E27FC236}">
                <a16:creationId xmlns:a16="http://schemas.microsoft.com/office/drawing/2014/main" id="{26B11298-6F2F-98A1-B7A7-A5A2DAF4061C}"/>
              </a:ext>
            </a:extLst>
          </p:cNvPr>
          <p:cNvSpPr>
            <a:spLocks noChangeArrowheads="1"/>
          </p:cNvSpPr>
          <p:nvPr/>
        </p:nvSpPr>
        <p:spPr bwMode="auto">
          <a:xfrm>
            <a:off x="5446713" y="1447800"/>
            <a:ext cx="909637"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300" b="1" u="sng">
                <a:solidFill>
                  <a:srgbClr val="00274D"/>
                </a:solidFill>
              </a:rPr>
              <a:t>Consumer</a:t>
            </a:r>
            <a:r>
              <a:rPr lang="en-US" altLang="en-US" sz="1100" b="1">
                <a:solidFill>
                  <a:srgbClr val="00274D"/>
                </a:solidFill>
              </a:rPr>
              <a:t> </a:t>
            </a:r>
            <a:endParaRPr lang="en-US" altLang="en-US" sz="1100">
              <a:solidFill>
                <a:srgbClr val="00274D"/>
              </a:solidFill>
            </a:endParaRPr>
          </a:p>
        </p:txBody>
      </p:sp>
      <p:sp>
        <p:nvSpPr>
          <p:cNvPr id="22565" name="Text Box 33">
            <a:extLst>
              <a:ext uri="{FF2B5EF4-FFF2-40B4-BE49-F238E27FC236}">
                <a16:creationId xmlns:a16="http://schemas.microsoft.com/office/drawing/2014/main" id="{E6769CAA-1BC8-95EA-24B6-E00784347DAB}"/>
              </a:ext>
            </a:extLst>
          </p:cNvPr>
          <p:cNvSpPr txBox="1">
            <a:spLocks noChangeArrowheads="1"/>
          </p:cNvSpPr>
          <p:nvPr/>
        </p:nvSpPr>
        <p:spPr bwMode="auto">
          <a:xfrm>
            <a:off x="5237163" y="1935163"/>
            <a:ext cx="328612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a:solidFill>
                  <a:srgbClr val="00274D"/>
                </a:solidFill>
                <a:ea typeface="Corbel" panose="020B0503020204020204" pitchFamily="34" charset="0"/>
                <a:cs typeface="Corbel" panose="020B0503020204020204" pitchFamily="34" charset="0"/>
              </a:rPr>
              <a:t>Increase Frequency of Customer Visits</a:t>
            </a:r>
          </a:p>
        </p:txBody>
      </p:sp>
      <p:sp>
        <p:nvSpPr>
          <p:cNvPr id="22566" name="Rectangle 81">
            <a:extLst>
              <a:ext uri="{FF2B5EF4-FFF2-40B4-BE49-F238E27FC236}">
                <a16:creationId xmlns:a16="http://schemas.microsoft.com/office/drawing/2014/main" id="{A5A5A702-9F11-CFE8-39CF-DCD0FEC84173}"/>
              </a:ext>
            </a:extLst>
          </p:cNvPr>
          <p:cNvSpPr>
            <a:spLocks noChangeArrowheads="1"/>
          </p:cNvSpPr>
          <p:nvPr/>
        </p:nvSpPr>
        <p:spPr bwMode="auto">
          <a:xfrm>
            <a:off x="5659438" y="2841625"/>
            <a:ext cx="601662"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300" b="1" u="sng">
                <a:solidFill>
                  <a:srgbClr val="00274D"/>
                </a:solidFill>
              </a:rPr>
              <a:t>Brand</a:t>
            </a:r>
            <a:r>
              <a:rPr lang="en-US" altLang="en-US" sz="1100" b="1">
                <a:solidFill>
                  <a:srgbClr val="00274D"/>
                </a:solidFill>
              </a:rPr>
              <a:t> </a:t>
            </a:r>
            <a:endParaRPr lang="en-US" altLang="en-US" sz="1100">
              <a:solidFill>
                <a:srgbClr val="00274D"/>
              </a:solidFill>
            </a:endParaRPr>
          </a:p>
        </p:txBody>
      </p:sp>
      <p:sp>
        <p:nvSpPr>
          <p:cNvPr id="22567" name="Slide Number Placeholder 4">
            <a:extLst>
              <a:ext uri="{FF2B5EF4-FFF2-40B4-BE49-F238E27FC236}">
                <a16:creationId xmlns:a16="http://schemas.microsoft.com/office/drawing/2014/main" id="{0C11399D-B1AF-795F-1570-990B333CF9D0}"/>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277F18CF-1C55-4B7E-997C-02E086A8B1E7}"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4</a:t>
            </a:fld>
            <a:endParaRPr lang="en-US" altLang="en-US" sz="1100">
              <a:solidFill>
                <a:schemeClr val="bg1"/>
              </a:solidFill>
              <a:ea typeface="Corbel" panose="020B0503020204020204" pitchFamily="34" charset="0"/>
              <a:cs typeface="Corbel" panose="020B0503020204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11">
            <a:extLst>
              <a:ext uri="{FF2B5EF4-FFF2-40B4-BE49-F238E27FC236}">
                <a16:creationId xmlns:a16="http://schemas.microsoft.com/office/drawing/2014/main" id="{1774690D-A6B8-10B5-36F9-833ADB76624E}"/>
              </a:ext>
            </a:extLst>
          </p:cNvPr>
          <p:cNvSpPr txBox="1">
            <a:spLocks noChangeArrowheads="1"/>
          </p:cNvSpPr>
          <p:nvPr/>
        </p:nvSpPr>
        <p:spPr bwMode="auto">
          <a:xfrm>
            <a:off x="695325" y="2992438"/>
            <a:ext cx="3413125"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6.    a. What are your poorest performing months? </a:t>
            </a:r>
          </a:p>
        </p:txBody>
      </p:sp>
      <p:sp>
        <p:nvSpPr>
          <p:cNvPr id="23555" name="Text Box 14">
            <a:extLst>
              <a:ext uri="{FF2B5EF4-FFF2-40B4-BE49-F238E27FC236}">
                <a16:creationId xmlns:a16="http://schemas.microsoft.com/office/drawing/2014/main" id="{7B9F90A9-0D2A-52EB-43CD-F4EA01C918F7}"/>
              </a:ext>
            </a:extLst>
          </p:cNvPr>
          <p:cNvSpPr txBox="1">
            <a:spLocks noChangeArrowheads="1"/>
          </p:cNvSpPr>
          <p:nvPr/>
        </p:nvSpPr>
        <p:spPr bwMode="auto">
          <a:xfrm>
            <a:off x="930275" y="3586163"/>
            <a:ext cx="2770188"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b. What are your best performing months?</a:t>
            </a:r>
          </a:p>
        </p:txBody>
      </p:sp>
      <p:sp>
        <p:nvSpPr>
          <p:cNvPr id="23556" name="Text Box 15">
            <a:extLst>
              <a:ext uri="{FF2B5EF4-FFF2-40B4-BE49-F238E27FC236}">
                <a16:creationId xmlns:a16="http://schemas.microsoft.com/office/drawing/2014/main" id="{C713B95A-2484-604B-F4F1-76FEC2C7BBB2}"/>
              </a:ext>
            </a:extLst>
          </p:cNvPr>
          <p:cNvSpPr txBox="1">
            <a:spLocks noChangeArrowheads="1"/>
          </p:cNvSpPr>
          <p:nvPr/>
        </p:nvSpPr>
        <p:spPr bwMode="auto">
          <a:xfrm>
            <a:off x="4446588" y="2976563"/>
            <a:ext cx="3773487"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7. a. What is the most frequent compliment that you get?</a:t>
            </a:r>
          </a:p>
        </p:txBody>
      </p:sp>
      <p:sp>
        <p:nvSpPr>
          <p:cNvPr id="23557" name="TextBox 20">
            <a:extLst>
              <a:ext uri="{FF2B5EF4-FFF2-40B4-BE49-F238E27FC236}">
                <a16:creationId xmlns:a16="http://schemas.microsoft.com/office/drawing/2014/main" id="{0AF1AC6F-A1A4-A38A-B1E7-095C8D446AA4}"/>
              </a:ext>
            </a:extLst>
          </p:cNvPr>
          <p:cNvSpPr txBox="1">
            <a:spLocks noChangeArrowheads="1"/>
          </p:cNvSpPr>
          <p:nvPr/>
        </p:nvSpPr>
        <p:spPr bwMode="auto">
          <a:xfrm>
            <a:off x="1128713" y="3113088"/>
            <a:ext cx="29860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3558" name="TextBox 22">
            <a:extLst>
              <a:ext uri="{FF2B5EF4-FFF2-40B4-BE49-F238E27FC236}">
                <a16:creationId xmlns:a16="http://schemas.microsoft.com/office/drawing/2014/main" id="{9DCADB7E-A926-85B3-AA2E-755503503B42}"/>
              </a:ext>
            </a:extLst>
          </p:cNvPr>
          <p:cNvSpPr txBox="1">
            <a:spLocks noChangeArrowheads="1"/>
          </p:cNvSpPr>
          <p:nvPr/>
        </p:nvSpPr>
        <p:spPr bwMode="auto">
          <a:xfrm>
            <a:off x="1090613" y="3741738"/>
            <a:ext cx="279558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3559" name="Text Box 15">
            <a:extLst>
              <a:ext uri="{FF2B5EF4-FFF2-40B4-BE49-F238E27FC236}">
                <a16:creationId xmlns:a16="http://schemas.microsoft.com/office/drawing/2014/main" id="{2C8C2083-E25B-72EE-BB90-36F0ABF2D914}"/>
              </a:ext>
            </a:extLst>
          </p:cNvPr>
          <p:cNvSpPr txBox="1">
            <a:spLocks noChangeArrowheads="1"/>
          </p:cNvSpPr>
          <p:nvPr/>
        </p:nvSpPr>
        <p:spPr bwMode="auto">
          <a:xfrm>
            <a:off x="4562475" y="3811588"/>
            <a:ext cx="3711575"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 b. What is the most frequent complaint that you get?</a:t>
            </a:r>
          </a:p>
        </p:txBody>
      </p:sp>
      <p:sp>
        <p:nvSpPr>
          <p:cNvPr id="23560" name="TextBox 25">
            <a:extLst>
              <a:ext uri="{FF2B5EF4-FFF2-40B4-BE49-F238E27FC236}">
                <a16:creationId xmlns:a16="http://schemas.microsoft.com/office/drawing/2014/main" id="{88725850-FE6E-81F3-D15E-D58F6937EE6F}"/>
              </a:ext>
            </a:extLst>
          </p:cNvPr>
          <p:cNvSpPr txBox="1">
            <a:spLocks noChangeArrowheads="1"/>
          </p:cNvSpPr>
          <p:nvPr/>
        </p:nvSpPr>
        <p:spPr bwMode="auto">
          <a:xfrm>
            <a:off x="4759325" y="3128963"/>
            <a:ext cx="362267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3561" name="TextBox 26">
            <a:extLst>
              <a:ext uri="{FF2B5EF4-FFF2-40B4-BE49-F238E27FC236}">
                <a16:creationId xmlns:a16="http://schemas.microsoft.com/office/drawing/2014/main" id="{3469AA6E-FD22-06E3-EB6F-2181F4A636A3}"/>
              </a:ext>
            </a:extLst>
          </p:cNvPr>
          <p:cNvSpPr txBox="1">
            <a:spLocks noChangeArrowheads="1"/>
          </p:cNvSpPr>
          <p:nvPr/>
        </p:nvSpPr>
        <p:spPr bwMode="auto">
          <a:xfrm>
            <a:off x="4748213" y="3963988"/>
            <a:ext cx="355758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3562" name="Text Box 14">
            <a:extLst>
              <a:ext uri="{FF2B5EF4-FFF2-40B4-BE49-F238E27FC236}">
                <a16:creationId xmlns:a16="http://schemas.microsoft.com/office/drawing/2014/main" id="{737F6596-90AF-8670-6ACA-25CF8B137830}"/>
              </a:ext>
            </a:extLst>
          </p:cNvPr>
          <p:cNvSpPr txBox="1">
            <a:spLocks noChangeArrowheads="1"/>
          </p:cNvSpPr>
          <p:nvPr/>
        </p:nvSpPr>
        <p:spPr bwMode="auto">
          <a:xfrm>
            <a:off x="930275" y="4141788"/>
            <a:ext cx="2770188"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c.  What are your best performing days?</a:t>
            </a:r>
          </a:p>
        </p:txBody>
      </p:sp>
      <p:sp>
        <p:nvSpPr>
          <p:cNvPr id="23563" name="TextBox 22">
            <a:extLst>
              <a:ext uri="{FF2B5EF4-FFF2-40B4-BE49-F238E27FC236}">
                <a16:creationId xmlns:a16="http://schemas.microsoft.com/office/drawing/2014/main" id="{43D5C648-45E9-E41A-3BCD-A2CFADEAC1E9}"/>
              </a:ext>
            </a:extLst>
          </p:cNvPr>
          <p:cNvSpPr txBox="1">
            <a:spLocks noChangeArrowheads="1"/>
          </p:cNvSpPr>
          <p:nvPr/>
        </p:nvSpPr>
        <p:spPr bwMode="auto">
          <a:xfrm>
            <a:off x="1130300" y="4268788"/>
            <a:ext cx="27559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3564" name="Text Box 19">
            <a:extLst>
              <a:ext uri="{FF2B5EF4-FFF2-40B4-BE49-F238E27FC236}">
                <a16:creationId xmlns:a16="http://schemas.microsoft.com/office/drawing/2014/main" id="{E45BD2D2-21FF-957D-4288-0C708F6612D4}"/>
              </a:ext>
            </a:extLst>
          </p:cNvPr>
          <p:cNvSpPr txBox="1">
            <a:spLocks noChangeArrowheads="1"/>
          </p:cNvSpPr>
          <p:nvPr/>
        </p:nvSpPr>
        <p:spPr bwMode="auto">
          <a:xfrm>
            <a:off x="695325" y="931863"/>
            <a:ext cx="6557963"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5. What image do you want your company’s name to project to your consumers? </a:t>
            </a:r>
          </a:p>
        </p:txBody>
      </p:sp>
      <p:sp>
        <p:nvSpPr>
          <p:cNvPr id="23565" name="Text Box 20">
            <a:extLst>
              <a:ext uri="{FF2B5EF4-FFF2-40B4-BE49-F238E27FC236}">
                <a16:creationId xmlns:a16="http://schemas.microsoft.com/office/drawing/2014/main" id="{3A60840F-5CA0-CEA5-0976-A7DCE9B06989}"/>
              </a:ext>
            </a:extLst>
          </p:cNvPr>
          <p:cNvSpPr txBox="1">
            <a:spLocks noChangeArrowheads="1"/>
          </p:cNvSpPr>
          <p:nvPr/>
        </p:nvSpPr>
        <p:spPr bwMode="auto">
          <a:xfrm>
            <a:off x="1116013" y="2405063"/>
            <a:ext cx="3783012"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Does your current slogan project the same image? </a:t>
            </a:r>
          </a:p>
        </p:txBody>
      </p:sp>
      <p:sp>
        <p:nvSpPr>
          <p:cNvPr id="23566" name="TextBox 27">
            <a:extLst>
              <a:ext uri="{FF2B5EF4-FFF2-40B4-BE49-F238E27FC236}">
                <a16:creationId xmlns:a16="http://schemas.microsoft.com/office/drawing/2014/main" id="{89093560-3D42-408E-F2FD-8F78A3D0D7C4}"/>
              </a:ext>
            </a:extLst>
          </p:cNvPr>
          <p:cNvSpPr txBox="1">
            <a:spLocks noChangeArrowheads="1"/>
          </p:cNvSpPr>
          <p:nvPr/>
        </p:nvSpPr>
        <p:spPr bwMode="auto">
          <a:xfrm>
            <a:off x="1147763" y="1090613"/>
            <a:ext cx="705167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3567" name="TextBox 30">
            <a:extLst>
              <a:ext uri="{FF2B5EF4-FFF2-40B4-BE49-F238E27FC236}">
                <a16:creationId xmlns:a16="http://schemas.microsoft.com/office/drawing/2014/main" id="{CACA7F8D-B89E-6C2E-1729-754437D3860D}"/>
              </a:ext>
            </a:extLst>
          </p:cNvPr>
          <p:cNvSpPr txBox="1">
            <a:spLocks noChangeArrowheads="1"/>
          </p:cNvSpPr>
          <p:nvPr/>
        </p:nvSpPr>
        <p:spPr bwMode="auto">
          <a:xfrm>
            <a:off x="4449763" y="2351088"/>
            <a:ext cx="362108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No</a:t>
            </a:r>
          </a:p>
        </p:txBody>
      </p:sp>
      <p:sp>
        <p:nvSpPr>
          <p:cNvPr id="23568" name="Text Box 20">
            <a:extLst>
              <a:ext uri="{FF2B5EF4-FFF2-40B4-BE49-F238E27FC236}">
                <a16:creationId xmlns:a16="http://schemas.microsoft.com/office/drawing/2014/main" id="{95DA9E61-1A6F-548E-C629-F8DF962EA5C3}"/>
              </a:ext>
            </a:extLst>
          </p:cNvPr>
          <p:cNvSpPr txBox="1">
            <a:spLocks noChangeArrowheads="1"/>
          </p:cNvSpPr>
          <p:nvPr/>
        </p:nvSpPr>
        <p:spPr bwMode="auto">
          <a:xfrm>
            <a:off x="1130300" y="1979613"/>
            <a:ext cx="3783013" cy="17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i="1">
                <a:solidFill>
                  <a:srgbClr val="00274D"/>
                </a:solidFill>
                <a:ea typeface="Corbel" panose="020B0503020204020204" pitchFamily="34" charset="0"/>
                <a:cs typeface="Corbel" panose="020B0503020204020204" pitchFamily="34" charset="0"/>
              </a:rPr>
              <a:t>Current company slogan</a:t>
            </a:r>
          </a:p>
        </p:txBody>
      </p:sp>
      <p:sp>
        <p:nvSpPr>
          <p:cNvPr id="23569" name="TextBox 30">
            <a:extLst>
              <a:ext uri="{FF2B5EF4-FFF2-40B4-BE49-F238E27FC236}">
                <a16:creationId xmlns:a16="http://schemas.microsoft.com/office/drawing/2014/main" id="{E2E4A933-CCE0-0E86-763F-2E2D02C9A95C}"/>
              </a:ext>
            </a:extLst>
          </p:cNvPr>
          <p:cNvSpPr txBox="1">
            <a:spLocks noChangeArrowheads="1"/>
          </p:cNvSpPr>
          <p:nvPr/>
        </p:nvSpPr>
        <p:spPr bwMode="auto">
          <a:xfrm>
            <a:off x="1358900" y="2133600"/>
            <a:ext cx="64897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3570" name="Text Box 15">
            <a:extLst>
              <a:ext uri="{FF2B5EF4-FFF2-40B4-BE49-F238E27FC236}">
                <a16:creationId xmlns:a16="http://schemas.microsoft.com/office/drawing/2014/main" id="{05FD4EB4-6FFE-83DB-09C7-D3EEB8A13B3F}"/>
              </a:ext>
            </a:extLst>
          </p:cNvPr>
          <p:cNvSpPr txBox="1">
            <a:spLocks noChangeArrowheads="1"/>
          </p:cNvSpPr>
          <p:nvPr/>
        </p:nvSpPr>
        <p:spPr bwMode="auto">
          <a:xfrm>
            <a:off x="685800" y="4878388"/>
            <a:ext cx="3300413"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b="1" i="1">
                <a:solidFill>
                  <a:srgbClr val="00274D"/>
                </a:solidFill>
                <a:ea typeface="Corbel" panose="020B0503020204020204" pitchFamily="34" charset="0"/>
                <a:cs typeface="Corbel" panose="020B0503020204020204" pitchFamily="34" charset="0"/>
              </a:rPr>
              <a:t>8. </a:t>
            </a:r>
            <a:r>
              <a:rPr lang="en-US" altLang="en-US" sz="1200" b="1">
                <a:solidFill>
                  <a:srgbClr val="00274D"/>
                </a:solidFill>
                <a:ea typeface="Corbel" panose="020B0503020204020204" pitchFamily="34" charset="0"/>
                <a:cs typeface="Corbel" panose="020B0503020204020204" pitchFamily="34" charset="0"/>
              </a:rPr>
              <a:t>What digital marketing strategies are you currently utilizing? What are your goals and how do you measure the effectiveness</a:t>
            </a:r>
            <a:r>
              <a:rPr lang="en-US" altLang="en-US" sz="1200">
                <a:solidFill>
                  <a:srgbClr val="00274D"/>
                </a:solidFill>
                <a:ea typeface="Corbel" panose="020B0503020204020204" pitchFamily="34" charset="0"/>
                <a:cs typeface="Corbel" panose="020B0503020204020204" pitchFamily="34" charset="0"/>
              </a:rPr>
              <a:t>? </a:t>
            </a:r>
          </a:p>
        </p:txBody>
      </p:sp>
      <p:sp>
        <p:nvSpPr>
          <p:cNvPr id="23571" name="Text Box 15">
            <a:extLst>
              <a:ext uri="{FF2B5EF4-FFF2-40B4-BE49-F238E27FC236}">
                <a16:creationId xmlns:a16="http://schemas.microsoft.com/office/drawing/2014/main" id="{40C359AC-A099-D921-F63F-FAF191C2F9D0}"/>
              </a:ext>
            </a:extLst>
          </p:cNvPr>
          <p:cNvSpPr txBox="1">
            <a:spLocks noChangeArrowheads="1"/>
          </p:cNvSpPr>
          <p:nvPr/>
        </p:nvSpPr>
        <p:spPr bwMode="auto">
          <a:xfrm>
            <a:off x="4449763" y="4878388"/>
            <a:ext cx="389731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b="1" i="1">
                <a:solidFill>
                  <a:srgbClr val="00274D"/>
                </a:solidFill>
                <a:ea typeface="Corbel" panose="020B0503020204020204" pitchFamily="34" charset="0"/>
                <a:cs typeface="Corbel" panose="020B0503020204020204" pitchFamily="34" charset="0"/>
              </a:rPr>
              <a:t>9. </a:t>
            </a:r>
            <a:r>
              <a:rPr lang="en-US" altLang="en-US" sz="1200" b="1">
                <a:solidFill>
                  <a:srgbClr val="00274D"/>
                </a:solidFill>
                <a:ea typeface="Corbel" panose="020B0503020204020204" pitchFamily="34" charset="0"/>
                <a:cs typeface="Corbel" panose="020B0503020204020204" pitchFamily="34" charset="0"/>
              </a:rPr>
              <a:t>Do you have a social media strategy (i.e. Facebook, Google+, Twitter, Instagram, etc.)?  If so, what are your goals and how do you measure the effectiveness?</a:t>
            </a:r>
          </a:p>
        </p:txBody>
      </p:sp>
      <p:sp>
        <p:nvSpPr>
          <p:cNvPr id="23572" name="TextBox 20">
            <a:extLst>
              <a:ext uri="{FF2B5EF4-FFF2-40B4-BE49-F238E27FC236}">
                <a16:creationId xmlns:a16="http://schemas.microsoft.com/office/drawing/2014/main" id="{433772D6-7B22-4674-2D4B-73B5CBE4BD8F}"/>
              </a:ext>
            </a:extLst>
          </p:cNvPr>
          <p:cNvSpPr txBox="1">
            <a:spLocks noChangeArrowheads="1"/>
          </p:cNvSpPr>
          <p:nvPr/>
        </p:nvSpPr>
        <p:spPr bwMode="auto">
          <a:xfrm>
            <a:off x="685800" y="5446713"/>
            <a:ext cx="342900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3573" name="TextBox 20">
            <a:extLst>
              <a:ext uri="{FF2B5EF4-FFF2-40B4-BE49-F238E27FC236}">
                <a16:creationId xmlns:a16="http://schemas.microsoft.com/office/drawing/2014/main" id="{55328184-D97D-974B-C04E-CC4F47AE6CF8}"/>
              </a:ext>
            </a:extLst>
          </p:cNvPr>
          <p:cNvSpPr txBox="1">
            <a:spLocks noChangeArrowheads="1"/>
          </p:cNvSpPr>
          <p:nvPr/>
        </p:nvSpPr>
        <p:spPr bwMode="auto">
          <a:xfrm>
            <a:off x="4572000" y="5446713"/>
            <a:ext cx="396240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3574" name="Slide Number Placeholder 4">
            <a:extLst>
              <a:ext uri="{FF2B5EF4-FFF2-40B4-BE49-F238E27FC236}">
                <a16:creationId xmlns:a16="http://schemas.microsoft.com/office/drawing/2014/main" id="{246A3B04-2722-DC03-160B-CEB63D11E650}"/>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99DDB428-2969-406E-8848-60587FBC2FC9}"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5</a:t>
            </a:fld>
            <a:endParaRPr lang="en-US" altLang="en-US" sz="1100">
              <a:solidFill>
                <a:schemeClr val="bg1"/>
              </a:solidFill>
              <a:ea typeface="Corbel" panose="020B0503020204020204" pitchFamily="34" charset="0"/>
              <a:cs typeface="Corbel" panose="020B0503020204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26DCE34D-B1A9-F3F2-55D9-46514E47A7CC}"/>
              </a:ext>
            </a:extLst>
          </p:cNvPr>
          <p:cNvSpPr>
            <a:spLocks noChangeArrowheads="1"/>
          </p:cNvSpPr>
          <p:nvPr/>
        </p:nvSpPr>
        <p:spPr bwMode="auto">
          <a:xfrm>
            <a:off x="838200" y="1970088"/>
            <a:ext cx="342900" cy="273050"/>
          </a:xfrm>
          <a:prstGeom prst="rect">
            <a:avLst/>
          </a:prstGeom>
          <a:solidFill>
            <a:srgbClr val="4E5E53"/>
          </a:solidFill>
          <a:ln w="9525">
            <a:noFill/>
            <a:miter lim="800000"/>
            <a:headEnd/>
            <a:tailEnd/>
          </a:ln>
          <a:effectLst>
            <a:outerShdw blurRad="40000" dist="23000" dir="5400000" rotWithShape="0">
              <a:srgbClr val="000000">
                <a:alpha val="34999"/>
              </a:srgbClr>
            </a:outerShdw>
          </a:effectLst>
        </p:spPr>
        <p:txBody>
          <a:bodyPr lIns="82296" tIns="41148" rIns="82296" bIns="41148" anchor="ctr"/>
          <a:lstStyle/>
          <a:p>
            <a:pPr algn="ctr" eaLnBrk="1" hangingPunct="1">
              <a:defRPr/>
            </a:pPr>
            <a:endParaRPr lang="en-US" sz="800" b="1" dirty="0">
              <a:solidFill>
                <a:srgbClr val="FFC000"/>
              </a:solidFill>
              <a:latin typeface="+mn-lt"/>
            </a:endParaRPr>
          </a:p>
        </p:txBody>
      </p:sp>
      <p:sp>
        <p:nvSpPr>
          <p:cNvPr id="41" name="Rectangle 40">
            <a:extLst>
              <a:ext uri="{FF2B5EF4-FFF2-40B4-BE49-F238E27FC236}">
                <a16:creationId xmlns:a16="http://schemas.microsoft.com/office/drawing/2014/main" id="{C5DBC5F1-FAE2-0ED6-B736-F28223A95553}"/>
              </a:ext>
            </a:extLst>
          </p:cNvPr>
          <p:cNvSpPr>
            <a:spLocks noChangeArrowheads="1"/>
          </p:cNvSpPr>
          <p:nvPr/>
        </p:nvSpPr>
        <p:spPr bwMode="auto">
          <a:xfrm>
            <a:off x="2971800" y="1970088"/>
            <a:ext cx="342900" cy="273050"/>
          </a:xfrm>
          <a:prstGeom prst="rect">
            <a:avLst/>
          </a:prstGeom>
          <a:solidFill>
            <a:srgbClr val="4E5E53"/>
          </a:solidFill>
          <a:ln w="9525">
            <a:noFill/>
            <a:miter lim="800000"/>
            <a:headEnd/>
            <a:tailEnd/>
          </a:ln>
          <a:effectLst>
            <a:outerShdw blurRad="40000" dist="23000" dir="5400000" rotWithShape="0">
              <a:srgbClr val="000000">
                <a:alpha val="34999"/>
              </a:srgbClr>
            </a:outerShdw>
          </a:effectLst>
        </p:spPr>
        <p:txBody>
          <a:bodyPr lIns="82296" tIns="41148" rIns="82296" bIns="41148" anchor="ctr"/>
          <a:lstStyle/>
          <a:p>
            <a:pPr algn="ctr" eaLnBrk="1" hangingPunct="1">
              <a:defRPr/>
            </a:pPr>
            <a:endParaRPr lang="en-US" sz="800" b="1" dirty="0">
              <a:solidFill>
                <a:srgbClr val="FFC000"/>
              </a:solidFill>
              <a:latin typeface="+mn-lt"/>
            </a:endParaRPr>
          </a:p>
        </p:txBody>
      </p:sp>
      <p:sp>
        <p:nvSpPr>
          <p:cNvPr id="42" name="Rectangle 41">
            <a:extLst>
              <a:ext uri="{FF2B5EF4-FFF2-40B4-BE49-F238E27FC236}">
                <a16:creationId xmlns:a16="http://schemas.microsoft.com/office/drawing/2014/main" id="{FEA8CB4D-F7D1-A210-CE3E-30571902F74F}"/>
              </a:ext>
            </a:extLst>
          </p:cNvPr>
          <p:cNvSpPr>
            <a:spLocks noChangeArrowheads="1"/>
          </p:cNvSpPr>
          <p:nvPr/>
        </p:nvSpPr>
        <p:spPr bwMode="auto">
          <a:xfrm>
            <a:off x="4800600" y="1970088"/>
            <a:ext cx="342900" cy="273050"/>
          </a:xfrm>
          <a:prstGeom prst="rect">
            <a:avLst/>
          </a:prstGeom>
          <a:solidFill>
            <a:srgbClr val="4E5E53"/>
          </a:solidFill>
          <a:ln w="9525">
            <a:noFill/>
            <a:miter lim="800000"/>
            <a:headEnd/>
            <a:tailEnd/>
          </a:ln>
          <a:effectLst>
            <a:outerShdw blurRad="40000" dist="23000" dir="5400000" rotWithShape="0">
              <a:srgbClr val="000000">
                <a:alpha val="34999"/>
              </a:srgbClr>
            </a:outerShdw>
          </a:effectLst>
        </p:spPr>
        <p:txBody>
          <a:bodyPr lIns="82296" tIns="41148" rIns="82296" bIns="41148" anchor="ctr"/>
          <a:lstStyle/>
          <a:p>
            <a:pPr algn="ctr" eaLnBrk="1" hangingPunct="1">
              <a:defRPr/>
            </a:pPr>
            <a:endParaRPr lang="en-US" sz="800" b="1" dirty="0">
              <a:solidFill>
                <a:srgbClr val="FFC000"/>
              </a:solidFill>
              <a:latin typeface="+mn-lt"/>
            </a:endParaRPr>
          </a:p>
        </p:txBody>
      </p:sp>
      <p:sp>
        <p:nvSpPr>
          <p:cNvPr id="43" name="Rectangle 42">
            <a:extLst>
              <a:ext uri="{FF2B5EF4-FFF2-40B4-BE49-F238E27FC236}">
                <a16:creationId xmlns:a16="http://schemas.microsoft.com/office/drawing/2014/main" id="{D13972D3-A108-F389-ECC7-4C4B2C5E881B}"/>
              </a:ext>
            </a:extLst>
          </p:cNvPr>
          <p:cNvSpPr>
            <a:spLocks noChangeArrowheads="1"/>
          </p:cNvSpPr>
          <p:nvPr/>
        </p:nvSpPr>
        <p:spPr bwMode="auto">
          <a:xfrm>
            <a:off x="6858000" y="1970088"/>
            <a:ext cx="342900" cy="273050"/>
          </a:xfrm>
          <a:prstGeom prst="rect">
            <a:avLst/>
          </a:prstGeom>
          <a:solidFill>
            <a:srgbClr val="4E5E53"/>
          </a:solidFill>
          <a:ln w="9525">
            <a:noFill/>
            <a:miter lim="800000"/>
            <a:headEnd/>
            <a:tailEnd/>
          </a:ln>
          <a:effectLst>
            <a:outerShdw blurRad="40000" dist="23000" dir="5400000" rotWithShape="0">
              <a:srgbClr val="000000">
                <a:alpha val="34999"/>
              </a:srgbClr>
            </a:outerShdw>
          </a:effectLst>
        </p:spPr>
        <p:txBody>
          <a:bodyPr lIns="82296" tIns="41148" rIns="82296" bIns="41148" anchor="ctr"/>
          <a:lstStyle/>
          <a:p>
            <a:pPr algn="ctr" eaLnBrk="1" hangingPunct="1">
              <a:defRPr/>
            </a:pPr>
            <a:endParaRPr lang="en-US" sz="800" b="1" dirty="0">
              <a:solidFill>
                <a:srgbClr val="FFC000"/>
              </a:solidFill>
              <a:latin typeface="+mn-lt"/>
            </a:endParaRPr>
          </a:p>
        </p:txBody>
      </p:sp>
      <p:sp>
        <p:nvSpPr>
          <p:cNvPr id="24582" name="Text Box 6">
            <a:extLst>
              <a:ext uri="{FF2B5EF4-FFF2-40B4-BE49-F238E27FC236}">
                <a16:creationId xmlns:a16="http://schemas.microsoft.com/office/drawing/2014/main" id="{8A5EE543-467A-A2E8-7B35-F5F59C50A179}"/>
              </a:ext>
            </a:extLst>
          </p:cNvPr>
          <p:cNvSpPr txBox="1">
            <a:spLocks noChangeArrowheads="1"/>
          </p:cNvSpPr>
          <p:nvPr/>
        </p:nvSpPr>
        <p:spPr bwMode="auto">
          <a:xfrm>
            <a:off x="525463" y="762000"/>
            <a:ext cx="7983537"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b="1" i="1">
                <a:solidFill>
                  <a:srgbClr val="00274D"/>
                </a:solidFill>
                <a:ea typeface="Corbel" panose="020B0503020204020204" pitchFamily="34" charset="0"/>
                <a:cs typeface="Corbel" panose="020B0503020204020204" pitchFamily="34" charset="0"/>
              </a:rPr>
              <a:t>II. Determining a business’ needed investment in target.</a:t>
            </a:r>
            <a:r>
              <a:rPr lang="en-US" altLang="en-US" sz="1400">
                <a:solidFill>
                  <a:srgbClr val="00274D"/>
                </a:solidFill>
                <a:ea typeface="Corbel" panose="020B0503020204020204" pitchFamily="34" charset="0"/>
                <a:cs typeface="Corbel" panose="020B0503020204020204" pitchFamily="34" charset="0"/>
              </a:rPr>
              <a:t> </a:t>
            </a:r>
          </a:p>
        </p:txBody>
      </p:sp>
      <p:sp>
        <p:nvSpPr>
          <p:cNvPr id="24583" name="Text Box 8">
            <a:extLst>
              <a:ext uri="{FF2B5EF4-FFF2-40B4-BE49-F238E27FC236}">
                <a16:creationId xmlns:a16="http://schemas.microsoft.com/office/drawing/2014/main" id="{8366CADE-3955-DA04-D0F4-FDFAC146F7A5}"/>
              </a:ext>
            </a:extLst>
          </p:cNvPr>
          <p:cNvSpPr txBox="1">
            <a:spLocks noChangeArrowheads="1"/>
          </p:cNvSpPr>
          <p:nvPr/>
        </p:nvSpPr>
        <p:spPr bwMode="auto">
          <a:xfrm>
            <a:off x="725488" y="1282700"/>
            <a:ext cx="3970337"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a:solidFill>
                  <a:srgbClr val="00274D"/>
                </a:solidFill>
                <a:ea typeface="Corbel" panose="020B0503020204020204" pitchFamily="34" charset="0"/>
                <a:cs typeface="Corbel" panose="020B0503020204020204" pitchFamily="34" charset="0"/>
              </a:rPr>
              <a:t>A. What percentage of your “target” consumers are Men? </a:t>
            </a:r>
          </a:p>
        </p:txBody>
      </p:sp>
      <p:sp>
        <p:nvSpPr>
          <p:cNvPr id="24584" name="Text Box 9">
            <a:extLst>
              <a:ext uri="{FF2B5EF4-FFF2-40B4-BE49-F238E27FC236}">
                <a16:creationId xmlns:a16="http://schemas.microsoft.com/office/drawing/2014/main" id="{DFA5C89B-147A-383E-46C6-571C55CBDDCD}"/>
              </a:ext>
            </a:extLst>
          </p:cNvPr>
          <p:cNvSpPr txBox="1">
            <a:spLocks noChangeArrowheads="1"/>
          </p:cNvSpPr>
          <p:nvPr/>
        </p:nvSpPr>
        <p:spPr bwMode="auto">
          <a:xfrm>
            <a:off x="5437188" y="1295400"/>
            <a:ext cx="712787"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a:solidFill>
                  <a:srgbClr val="00274D"/>
                </a:solidFill>
                <a:ea typeface="Corbel" panose="020B0503020204020204" pitchFamily="34" charset="0"/>
                <a:cs typeface="Corbel" panose="020B0503020204020204" pitchFamily="34" charset="0"/>
              </a:rPr>
              <a:t>Women?</a:t>
            </a:r>
          </a:p>
        </p:txBody>
      </p:sp>
      <p:sp>
        <p:nvSpPr>
          <p:cNvPr id="24585" name="Text Box 10">
            <a:extLst>
              <a:ext uri="{FF2B5EF4-FFF2-40B4-BE49-F238E27FC236}">
                <a16:creationId xmlns:a16="http://schemas.microsoft.com/office/drawing/2014/main" id="{EBD786B8-714F-867D-9E39-8C0D0317EBF6}"/>
              </a:ext>
            </a:extLst>
          </p:cNvPr>
          <p:cNvSpPr txBox="1">
            <a:spLocks noChangeArrowheads="1"/>
          </p:cNvSpPr>
          <p:nvPr/>
        </p:nvSpPr>
        <p:spPr bwMode="auto">
          <a:xfrm>
            <a:off x="725488" y="1635125"/>
            <a:ext cx="5181600"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a:solidFill>
                  <a:srgbClr val="00274D"/>
                </a:solidFill>
                <a:ea typeface="Corbel" panose="020B0503020204020204" pitchFamily="34" charset="0"/>
                <a:cs typeface="Corbel" panose="020B0503020204020204" pitchFamily="34" charset="0"/>
              </a:rPr>
              <a:t>B. What is the perceived income of your “target” consumer’s household? </a:t>
            </a:r>
          </a:p>
        </p:txBody>
      </p:sp>
      <p:sp>
        <p:nvSpPr>
          <p:cNvPr id="24586" name="Text Box 13">
            <a:extLst>
              <a:ext uri="{FF2B5EF4-FFF2-40B4-BE49-F238E27FC236}">
                <a16:creationId xmlns:a16="http://schemas.microsoft.com/office/drawing/2014/main" id="{94ECC710-5772-48FC-22C7-2C9F41C4D9A7}"/>
              </a:ext>
            </a:extLst>
          </p:cNvPr>
          <p:cNvSpPr txBox="1">
            <a:spLocks noChangeArrowheads="1"/>
          </p:cNvSpPr>
          <p:nvPr/>
        </p:nvSpPr>
        <p:spPr bwMode="auto">
          <a:xfrm>
            <a:off x="525463" y="3595688"/>
            <a:ext cx="157797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400" b="1" i="1">
                <a:solidFill>
                  <a:srgbClr val="00274D"/>
                </a:solidFill>
                <a:ea typeface="Corbel" panose="020B0503020204020204" pitchFamily="34" charset="0"/>
                <a:cs typeface="Corbel" panose="020B0503020204020204" pitchFamily="34" charset="0"/>
              </a:rPr>
              <a:t>III. Lenograph</a:t>
            </a:r>
          </a:p>
        </p:txBody>
      </p:sp>
      <p:sp>
        <p:nvSpPr>
          <p:cNvPr id="24587" name="Text Box 16">
            <a:extLst>
              <a:ext uri="{FF2B5EF4-FFF2-40B4-BE49-F238E27FC236}">
                <a16:creationId xmlns:a16="http://schemas.microsoft.com/office/drawing/2014/main" id="{4EF43454-7F02-848B-E29A-4021B289232A}"/>
              </a:ext>
            </a:extLst>
          </p:cNvPr>
          <p:cNvSpPr txBox="1">
            <a:spLocks noChangeArrowheads="1"/>
          </p:cNvSpPr>
          <p:nvPr/>
        </p:nvSpPr>
        <p:spPr bwMode="auto">
          <a:xfrm>
            <a:off x="388938" y="5411788"/>
            <a:ext cx="1220787"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lnSpc>
                <a:spcPct val="95000"/>
              </a:lnSpc>
            </a:pPr>
            <a:r>
              <a:rPr lang="en-US" altLang="en-US" sz="1400" b="1">
                <a:solidFill>
                  <a:srgbClr val="00274D"/>
                </a:solidFill>
                <a:ea typeface="Corbel" panose="020B0503020204020204" pitchFamily="34" charset="0"/>
                <a:cs typeface="Corbel" panose="020B0503020204020204" pitchFamily="34" charset="0"/>
              </a:rPr>
              <a:t>HAVE</a:t>
            </a:r>
          </a:p>
        </p:txBody>
      </p:sp>
      <p:sp>
        <p:nvSpPr>
          <p:cNvPr id="24588" name="Text Box 17">
            <a:extLst>
              <a:ext uri="{FF2B5EF4-FFF2-40B4-BE49-F238E27FC236}">
                <a16:creationId xmlns:a16="http://schemas.microsoft.com/office/drawing/2014/main" id="{1E473015-D60C-4C51-03D2-AD862594C285}"/>
              </a:ext>
            </a:extLst>
          </p:cNvPr>
          <p:cNvSpPr txBox="1">
            <a:spLocks noChangeArrowheads="1"/>
          </p:cNvSpPr>
          <p:nvPr/>
        </p:nvSpPr>
        <p:spPr bwMode="auto">
          <a:xfrm>
            <a:off x="388938" y="5891213"/>
            <a:ext cx="1233487"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lnSpc>
                <a:spcPct val="95000"/>
              </a:lnSpc>
            </a:pPr>
            <a:r>
              <a:rPr lang="en-US" altLang="en-US" sz="1400" b="1">
                <a:solidFill>
                  <a:srgbClr val="00274D"/>
                </a:solidFill>
                <a:ea typeface="Corbel" panose="020B0503020204020204" pitchFamily="34" charset="0"/>
                <a:cs typeface="Corbel" panose="020B0503020204020204" pitchFamily="34" charset="0"/>
              </a:rPr>
              <a:t>WANT</a:t>
            </a:r>
          </a:p>
        </p:txBody>
      </p:sp>
      <p:sp>
        <p:nvSpPr>
          <p:cNvPr id="24589" name="TextBox 26">
            <a:extLst>
              <a:ext uri="{FF2B5EF4-FFF2-40B4-BE49-F238E27FC236}">
                <a16:creationId xmlns:a16="http://schemas.microsoft.com/office/drawing/2014/main" id="{D22ACD9A-DA18-91F7-90F6-87C5A4CA6EF8}"/>
              </a:ext>
            </a:extLst>
          </p:cNvPr>
          <p:cNvSpPr txBox="1">
            <a:spLocks noChangeArrowheads="1"/>
          </p:cNvSpPr>
          <p:nvPr/>
        </p:nvSpPr>
        <p:spPr bwMode="auto">
          <a:xfrm>
            <a:off x="4586288" y="1228725"/>
            <a:ext cx="6127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4590" name="TextBox 27">
            <a:extLst>
              <a:ext uri="{FF2B5EF4-FFF2-40B4-BE49-F238E27FC236}">
                <a16:creationId xmlns:a16="http://schemas.microsoft.com/office/drawing/2014/main" id="{85D31D87-7EE4-15FC-9C08-1B98456257E0}"/>
              </a:ext>
            </a:extLst>
          </p:cNvPr>
          <p:cNvSpPr txBox="1">
            <a:spLocks noChangeArrowheads="1"/>
          </p:cNvSpPr>
          <p:nvPr/>
        </p:nvSpPr>
        <p:spPr bwMode="auto">
          <a:xfrm>
            <a:off x="6269038" y="1255713"/>
            <a:ext cx="741362"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100</a:t>
            </a:r>
          </a:p>
        </p:txBody>
      </p:sp>
      <p:graphicFrame>
        <p:nvGraphicFramePr>
          <p:cNvPr id="22" name="Table 21">
            <a:extLst>
              <a:ext uri="{FF2B5EF4-FFF2-40B4-BE49-F238E27FC236}">
                <a16:creationId xmlns:a16="http://schemas.microsoft.com/office/drawing/2014/main" id="{B019E4A5-3D89-16CD-8C17-F49E190F408D}"/>
              </a:ext>
            </a:extLst>
          </p:cNvPr>
          <p:cNvGraphicFramePr>
            <a:graphicFrameLocks noGrp="1"/>
          </p:cNvGraphicFramePr>
          <p:nvPr/>
        </p:nvGraphicFramePr>
        <p:xfrm>
          <a:off x="1692275" y="4829175"/>
          <a:ext cx="6858000" cy="1343026"/>
        </p:xfrm>
        <a:graphic>
          <a:graphicData uri="http://schemas.openxmlformats.org/drawingml/2006/table">
            <a:tbl>
              <a:tblPr>
                <a:tableStyleId>{5940675A-B579-460E-94D1-54222C63F5DA}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443060">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2100" u="none" strike="noStrike" cap="none" normalizeH="0" baseline="0" dirty="0">
                          <a:ln>
                            <a:noFill/>
                          </a:ln>
                          <a:solidFill>
                            <a:srgbClr val="00274D"/>
                          </a:solidFill>
                          <a:effectLst/>
                        </a:rPr>
                        <a:t>12-18</a:t>
                      </a:r>
                      <a:endParaRPr kumimoji="0" lang="en-US" sz="2100" b="1" i="0" u="none" strike="noStrike" cap="none" normalizeH="0" baseline="0" dirty="0">
                        <a:ln>
                          <a:noFill/>
                        </a:ln>
                        <a:solidFill>
                          <a:srgbClr val="00274D"/>
                        </a:solidFill>
                        <a:effectLst/>
                        <a:latin typeface="Corbel"/>
                        <a:ea typeface="Corbel"/>
                      </a:endParaRPr>
                    </a:p>
                  </a:txBody>
                  <a:tcPr marL="74814" marR="74814" marT="37408" marB="37408"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2100" u="none" strike="noStrike" cap="none" normalizeH="0" baseline="0" dirty="0">
                          <a:ln>
                            <a:noFill/>
                          </a:ln>
                          <a:solidFill>
                            <a:srgbClr val="00274D"/>
                          </a:solidFill>
                          <a:effectLst/>
                        </a:rPr>
                        <a:t>19-25</a:t>
                      </a:r>
                      <a:endParaRPr kumimoji="0" lang="en-US" sz="2100" b="1" i="0" u="none" strike="noStrike" cap="none" normalizeH="0" baseline="0" dirty="0">
                        <a:ln>
                          <a:noFill/>
                        </a:ln>
                        <a:solidFill>
                          <a:srgbClr val="00274D"/>
                        </a:solidFill>
                        <a:effectLst/>
                        <a:latin typeface="Corbel"/>
                        <a:ea typeface="Corbel"/>
                      </a:endParaRPr>
                    </a:p>
                  </a:txBody>
                  <a:tcPr marL="74814" marR="74814" marT="37408" marB="37408"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2100" u="none" strike="noStrike" cap="none" normalizeH="0" baseline="0" dirty="0">
                          <a:ln>
                            <a:noFill/>
                          </a:ln>
                          <a:solidFill>
                            <a:srgbClr val="00274D"/>
                          </a:solidFill>
                          <a:effectLst/>
                        </a:rPr>
                        <a:t>26-35</a:t>
                      </a:r>
                      <a:endParaRPr kumimoji="0" lang="en-US" sz="2100" b="1" i="0" u="none" strike="noStrike" cap="none" normalizeH="0" baseline="0" dirty="0">
                        <a:ln>
                          <a:noFill/>
                        </a:ln>
                        <a:solidFill>
                          <a:srgbClr val="00274D"/>
                        </a:solidFill>
                        <a:effectLst/>
                        <a:latin typeface="Corbel"/>
                        <a:ea typeface="Corbel"/>
                      </a:endParaRPr>
                    </a:p>
                  </a:txBody>
                  <a:tcPr marL="74814" marR="74814" marT="37408" marB="37408"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2100" u="none" strike="noStrike" cap="none" normalizeH="0" baseline="0" dirty="0">
                          <a:ln>
                            <a:noFill/>
                          </a:ln>
                          <a:solidFill>
                            <a:srgbClr val="00274D"/>
                          </a:solidFill>
                          <a:effectLst/>
                        </a:rPr>
                        <a:t>36-45</a:t>
                      </a:r>
                      <a:endParaRPr kumimoji="0" lang="en-US" sz="2100" b="1" i="0" u="none" strike="noStrike" cap="none" normalizeH="0" baseline="0" dirty="0">
                        <a:ln>
                          <a:noFill/>
                        </a:ln>
                        <a:solidFill>
                          <a:srgbClr val="00274D"/>
                        </a:solidFill>
                        <a:effectLst/>
                        <a:latin typeface="Corbel"/>
                        <a:ea typeface="Corbel"/>
                      </a:endParaRPr>
                    </a:p>
                  </a:txBody>
                  <a:tcPr marL="74814" marR="74814" marT="37408" marB="37408"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2100" u="none" strike="noStrike" cap="none" normalizeH="0" baseline="0" dirty="0">
                          <a:ln>
                            <a:noFill/>
                          </a:ln>
                          <a:solidFill>
                            <a:srgbClr val="00274D"/>
                          </a:solidFill>
                          <a:effectLst/>
                        </a:rPr>
                        <a:t>46-55</a:t>
                      </a:r>
                      <a:endParaRPr kumimoji="0" lang="en-US" sz="2100" b="1" i="0" u="none" strike="noStrike" cap="none" normalizeH="0" baseline="0" dirty="0">
                        <a:ln>
                          <a:noFill/>
                        </a:ln>
                        <a:solidFill>
                          <a:srgbClr val="00274D"/>
                        </a:solidFill>
                        <a:effectLst/>
                        <a:latin typeface="Corbel"/>
                        <a:ea typeface="Corbel"/>
                      </a:endParaRPr>
                    </a:p>
                  </a:txBody>
                  <a:tcPr marL="74814" marR="74814" marT="37408" marB="37408" horzOverflow="overflow"/>
                </a:tc>
                <a:tc>
                  <a:txBody>
                    <a:bodyPr/>
                    <a:lstStyle/>
                    <a:p>
                      <a:pPr marL="0" marR="0" lvl="0" indent="0" algn="ctr" defTabSz="457200" rtl="0" eaLnBrk="1" fontAlgn="base" latinLnBrk="0" hangingPunct="1">
                        <a:lnSpc>
                          <a:spcPct val="100000"/>
                        </a:lnSpc>
                        <a:spcBef>
                          <a:spcPct val="0"/>
                        </a:spcBef>
                        <a:spcAft>
                          <a:spcPct val="0"/>
                        </a:spcAft>
                        <a:buClrTx/>
                        <a:buSzTx/>
                        <a:buFontTx/>
                        <a:buNone/>
                        <a:tabLst/>
                      </a:pPr>
                      <a:r>
                        <a:rPr kumimoji="0" lang="en-US" sz="2100" u="none" strike="noStrike" cap="none" normalizeH="0" baseline="0" dirty="0">
                          <a:ln>
                            <a:noFill/>
                          </a:ln>
                          <a:solidFill>
                            <a:srgbClr val="00274D"/>
                          </a:solidFill>
                          <a:effectLst/>
                        </a:rPr>
                        <a:t>56+</a:t>
                      </a:r>
                      <a:endParaRPr kumimoji="0" lang="en-US" sz="2100" b="1" i="0" u="none" strike="noStrike" cap="none" normalizeH="0" baseline="0" dirty="0">
                        <a:ln>
                          <a:noFill/>
                        </a:ln>
                        <a:solidFill>
                          <a:srgbClr val="00274D"/>
                        </a:solidFill>
                        <a:effectLst/>
                        <a:latin typeface="Corbel"/>
                        <a:ea typeface="Corbel"/>
                      </a:endParaRPr>
                    </a:p>
                  </a:txBody>
                  <a:tcPr marL="74814" marR="74814" marT="37408" marB="37408" horzOverflow="overflow"/>
                </a:tc>
                <a:extLst>
                  <a:ext uri="{0D108BD9-81ED-4DB2-BD59-A6C34878D82A}">
                    <a16:rowId xmlns:a16="http://schemas.microsoft.com/office/drawing/2014/main" val="10000"/>
                  </a:ext>
                </a:extLst>
              </a:tr>
              <a:tr h="449983">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extLst>
                  <a:ext uri="{0D108BD9-81ED-4DB2-BD59-A6C34878D82A}">
                    <a16:rowId xmlns:a16="http://schemas.microsoft.com/office/drawing/2014/main" val="10001"/>
                  </a:ext>
                </a:extLst>
              </a:tr>
              <a:tr h="449983">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a:ln>
                          <a:noFill/>
                        </a:ln>
                        <a:solidFill>
                          <a:srgbClr val="FFFFFF"/>
                        </a:solidFill>
                        <a:effectLst/>
                        <a:latin typeface="Corbel"/>
                        <a:ea typeface="Corbel"/>
                      </a:endParaRPr>
                    </a:p>
                  </a:txBody>
                  <a:tcPr marL="74814" marR="74814" marT="37408" marB="37408" horzOverflow="overflow"/>
                </a:tc>
                <a:extLst>
                  <a:ext uri="{0D108BD9-81ED-4DB2-BD59-A6C34878D82A}">
                    <a16:rowId xmlns:a16="http://schemas.microsoft.com/office/drawing/2014/main" val="10002"/>
                  </a:ext>
                </a:extLst>
              </a:tr>
            </a:tbl>
          </a:graphicData>
        </a:graphic>
      </p:graphicFrame>
      <p:sp>
        <p:nvSpPr>
          <p:cNvPr id="24621" name="TextBox 36">
            <a:extLst>
              <a:ext uri="{FF2B5EF4-FFF2-40B4-BE49-F238E27FC236}">
                <a16:creationId xmlns:a16="http://schemas.microsoft.com/office/drawing/2014/main" id="{59FFDE91-D5E3-2358-696B-D24DF03E7D38}"/>
              </a:ext>
            </a:extLst>
          </p:cNvPr>
          <p:cNvSpPr txBox="1">
            <a:spLocks noChangeArrowheads="1"/>
          </p:cNvSpPr>
          <p:nvPr/>
        </p:nvSpPr>
        <p:spPr bwMode="auto">
          <a:xfrm>
            <a:off x="1624013" y="5316538"/>
            <a:ext cx="11334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22" name="TextBox 37">
            <a:extLst>
              <a:ext uri="{FF2B5EF4-FFF2-40B4-BE49-F238E27FC236}">
                <a16:creationId xmlns:a16="http://schemas.microsoft.com/office/drawing/2014/main" id="{A2339591-818A-104B-948B-25F64186F7FE}"/>
              </a:ext>
            </a:extLst>
          </p:cNvPr>
          <p:cNvSpPr txBox="1">
            <a:spLocks noChangeArrowheads="1"/>
          </p:cNvSpPr>
          <p:nvPr/>
        </p:nvSpPr>
        <p:spPr bwMode="auto">
          <a:xfrm>
            <a:off x="2859088" y="5316538"/>
            <a:ext cx="11334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23" name="TextBox 38">
            <a:extLst>
              <a:ext uri="{FF2B5EF4-FFF2-40B4-BE49-F238E27FC236}">
                <a16:creationId xmlns:a16="http://schemas.microsoft.com/office/drawing/2014/main" id="{F2A035B3-3EB6-A182-0BBC-FE31E261A7CE}"/>
              </a:ext>
            </a:extLst>
          </p:cNvPr>
          <p:cNvSpPr txBox="1">
            <a:spLocks noChangeArrowheads="1"/>
          </p:cNvSpPr>
          <p:nvPr/>
        </p:nvSpPr>
        <p:spPr bwMode="auto">
          <a:xfrm>
            <a:off x="4024313" y="5316538"/>
            <a:ext cx="11334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24" name="TextBox 39">
            <a:extLst>
              <a:ext uri="{FF2B5EF4-FFF2-40B4-BE49-F238E27FC236}">
                <a16:creationId xmlns:a16="http://schemas.microsoft.com/office/drawing/2014/main" id="{6B7F43BA-156E-728B-D180-7EFC7155592C}"/>
              </a:ext>
            </a:extLst>
          </p:cNvPr>
          <p:cNvSpPr txBox="1">
            <a:spLocks noChangeArrowheads="1"/>
          </p:cNvSpPr>
          <p:nvPr/>
        </p:nvSpPr>
        <p:spPr bwMode="auto">
          <a:xfrm>
            <a:off x="5122863" y="5316538"/>
            <a:ext cx="1131887"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25" name="TextBox 40">
            <a:extLst>
              <a:ext uri="{FF2B5EF4-FFF2-40B4-BE49-F238E27FC236}">
                <a16:creationId xmlns:a16="http://schemas.microsoft.com/office/drawing/2014/main" id="{80AAEB85-3A8C-B4D5-EAB3-9DACDE3A64C6}"/>
              </a:ext>
            </a:extLst>
          </p:cNvPr>
          <p:cNvSpPr txBox="1">
            <a:spLocks noChangeArrowheads="1"/>
          </p:cNvSpPr>
          <p:nvPr/>
        </p:nvSpPr>
        <p:spPr bwMode="auto">
          <a:xfrm>
            <a:off x="6288088" y="5316538"/>
            <a:ext cx="11334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26" name="TextBox 41">
            <a:extLst>
              <a:ext uri="{FF2B5EF4-FFF2-40B4-BE49-F238E27FC236}">
                <a16:creationId xmlns:a16="http://schemas.microsoft.com/office/drawing/2014/main" id="{F2535593-6F98-FA5E-5856-58F6DE8947E6}"/>
              </a:ext>
            </a:extLst>
          </p:cNvPr>
          <p:cNvSpPr txBox="1">
            <a:spLocks noChangeArrowheads="1"/>
          </p:cNvSpPr>
          <p:nvPr/>
        </p:nvSpPr>
        <p:spPr bwMode="auto">
          <a:xfrm>
            <a:off x="7451725" y="5316538"/>
            <a:ext cx="989013"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27" name="TextBox 42">
            <a:extLst>
              <a:ext uri="{FF2B5EF4-FFF2-40B4-BE49-F238E27FC236}">
                <a16:creationId xmlns:a16="http://schemas.microsoft.com/office/drawing/2014/main" id="{D69BB5AB-AEC1-E698-6629-BFFACE7FDA87}"/>
              </a:ext>
            </a:extLst>
          </p:cNvPr>
          <p:cNvSpPr txBox="1">
            <a:spLocks noChangeArrowheads="1"/>
          </p:cNvSpPr>
          <p:nvPr/>
        </p:nvSpPr>
        <p:spPr bwMode="auto">
          <a:xfrm>
            <a:off x="1622425" y="5794375"/>
            <a:ext cx="11271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28" name="TextBox 43">
            <a:extLst>
              <a:ext uri="{FF2B5EF4-FFF2-40B4-BE49-F238E27FC236}">
                <a16:creationId xmlns:a16="http://schemas.microsoft.com/office/drawing/2014/main" id="{D69C1197-DE58-6F89-B703-001AC8C009A9}"/>
              </a:ext>
            </a:extLst>
          </p:cNvPr>
          <p:cNvSpPr txBox="1">
            <a:spLocks noChangeArrowheads="1"/>
          </p:cNvSpPr>
          <p:nvPr/>
        </p:nvSpPr>
        <p:spPr bwMode="auto">
          <a:xfrm>
            <a:off x="2857500" y="5794375"/>
            <a:ext cx="112553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29" name="TextBox 44">
            <a:extLst>
              <a:ext uri="{FF2B5EF4-FFF2-40B4-BE49-F238E27FC236}">
                <a16:creationId xmlns:a16="http://schemas.microsoft.com/office/drawing/2014/main" id="{86E034A8-F046-D4D3-7077-97EAC8F5F9BD}"/>
              </a:ext>
            </a:extLst>
          </p:cNvPr>
          <p:cNvSpPr txBox="1">
            <a:spLocks noChangeArrowheads="1"/>
          </p:cNvSpPr>
          <p:nvPr/>
        </p:nvSpPr>
        <p:spPr bwMode="auto">
          <a:xfrm>
            <a:off x="4022725" y="5794375"/>
            <a:ext cx="11271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30" name="TextBox 45">
            <a:extLst>
              <a:ext uri="{FF2B5EF4-FFF2-40B4-BE49-F238E27FC236}">
                <a16:creationId xmlns:a16="http://schemas.microsoft.com/office/drawing/2014/main" id="{2E071BD0-B584-D012-17E3-36ED7392902E}"/>
              </a:ext>
            </a:extLst>
          </p:cNvPr>
          <p:cNvSpPr txBox="1">
            <a:spLocks noChangeArrowheads="1"/>
          </p:cNvSpPr>
          <p:nvPr/>
        </p:nvSpPr>
        <p:spPr bwMode="auto">
          <a:xfrm>
            <a:off x="5121275" y="5794375"/>
            <a:ext cx="112553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31" name="TextBox 46">
            <a:extLst>
              <a:ext uri="{FF2B5EF4-FFF2-40B4-BE49-F238E27FC236}">
                <a16:creationId xmlns:a16="http://schemas.microsoft.com/office/drawing/2014/main" id="{F24A1EAA-E306-5589-8FA8-D77030707F97}"/>
              </a:ext>
            </a:extLst>
          </p:cNvPr>
          <p:cNvSpPr txBox="1">
            <a:spLocks noChangeArrowheads="1"/>
          </p:cNvSpPr>
          <p:nvPr/>
        </p:nvSpPr>
        <p:spPr bwMode="auto">
          <a:xfrm>
            <a:off x="6286500" y="5794375"/>
            <a:ext cx="112553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32" name="TextBox 47">
            <a:extLst>
              <a:ext uri="{FF2B5EF4-FFF2-40B4-BE49-F238E27FC236}">
                <a16:creationId xmlns:a16="http://schemas.microsoft.com/office/drawing/2014/main" id="{5DCE95CE-D1A6-B0CC-3CAE-774061D09B58}"/>
              </a:ext>
            </a:extLst>
          </p:cNvPr>
          <p:cNvSpPr txBox="1">
            <a:spLocks noChangeArrowheads="1"/>
          </p:cNvSpPr>
          <p:nvPr/>
        </p:nvSpPr>
        <p:spPr bwMode="auto">
          <a:xfrm>
            <a:off x="7491413" y="5794375"/>
            <a:ext cx="9810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300">
                <a:solidFill>
                  <a:srgbClr val="00274D"/>
                </a:solidFill>
                <a:ea typeface="Corbel" panose="020B0503020204020204" pitchFamily="34" charset="0"/>
                <a:cs typeface="Corbel" panose="020B0503020204020204" pitchFamily="34" charset="0"/>
              </a:rPr>
              <a:t>0</a:t>
            </a:r>
          </a:p>
        </p:txBody>
      </p:sp>
      <p:sp>
        <p:nvSpPr>
          <p:cNvPr id="24633" name="TextBox 48">
            <a:extLst>
              <a:ext uri="{FF2B5EF4-FFF2-40B4-BE49-F238E27FC236}">
                <a16:creationId xmlns:a16="http://schemas.microsoft.com/office/drawing/2014/main" id="{6301C767-1268-6D09-50B4-BB4820FDAC15}"/>
              </a:ext>
            </a:extLst>
          </p:cNvPr>
          <p:cNvSpPr txBox="1">
            <a:spLocks noChangeArrowheads="1"/>
          </p:cNvSpPr>
          <p:nvPr/>
        </p:nvSpPr>
        <p:spPr bwMode="auto">
          <a:xfrm>
            <a:off x="1663700" y="3581400"/>
            <a:ext cx="6151563"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100">
                <a:solidFill>
                  <a:srgbClr val="00274D"/>
                </a:solidFill>
                <a:ea typeface="Corbel" panose="020B0503020204020204" pitchFamily="34" charset="0"/>
                <a:cs typeface="Corbel" panose="020B0503020204020204" pitchFamily="34" charset="0"/>
              </a:rPr>
              <a:t>A Lenograph is a picture of consumption by target values expressed by ratings 1-10, ten being highest.</a:t>
            </a:r>
          </a:p>
          <a:p>
            <a:pPr eaLnBrk="1" hangingPunct="1"/>
            <a:endParaRPr lang="en-US" altLang="en-US" sz="1300">
              <a:solidFill>
                <a:srgbClr val="00274D"/>
              </a:solidFill>
              <a:ea typeface="Corbel" panose="020B0503020204020204" pitchFamily="34" charset="0"/>
              <a:cs typeface="Corbel" panose="020B0503020204020204" pitchFamily="34" charset="0"/>
            </a:endParaRPr>
          </a:p>
        </p:txBody>
      </p:sp>
      <p:sp>
        <p:nvSpPr>
          <p:cNvPr id="24634" name="Rectangle 1">
            <a:extLst>
              <a:ext uri="{FF2B5EF4-FFF2-40B4-BE49-F238E27FC236}">
                <a16:creationId xmlns:a16="http://schemas.microsoft.com/office/drawing/2014/main" id="{34F9393F-2526-1F6C-E66D-A44840D3962C}"/>
              </a:ext>
            </a:extLst>
          </p:cNvPr>
          <p:cNvSpPr>
            <a:spLocks noChangeArrowheads="1"/>
          </p:cNvSpPr>
          <p:nvPr/>
        </p:nvSpPr>
        <p:spPr bwMode="auto">
          <a:xfrm>
            <a:off x="627063" y="2411413"/>
            <a:ext cx="686435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a:solidFill>
                  <a:srgbClr val="00274D"/>
                </a:solidFill>
              </a:rPr>
              <a:t>C. How else would you describe your ideal “target” consumer  (i.e. geo-targeting, home value, behavior,    lifestyle, interests, family structure, etc)?</a:t>
            </a:r>
          </a:p>
        </p:txBody>
      </p:sp>
      <p:sp>
        <p:nvSpPr>
          <p:cNvPr id="24635" name="TextBox 27">
            <a:extLst>
              <a:ext uri="{FF2B5EF4-FFF2-40B4-BE49-F238E27FC236}">
                <a16:creationId xmlns:a16="http://schemas.microsoft.com/office/drawing/2014/main" id="{E624F40E-5068-E9B5-1AF1-7ABA8D07C1E3}"/>
              </a:ext>
            </a:extLst>
          </p:cNvPr>
          <p:cNvSpPr txBox="1">
            <a:spLocks noChangeArrowheads="1"/>
          </p:cNvSpPr>
          <p:nvPr/>
        </p:nvSpPr>
        <p:spPr bwMode="auto">
          <a:xfrm>
            <a:off x="911225" y="2865438"/>
            <a:ext cx="68516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4636" name="Slide Number Placeholder 4">
            <a:extLst>
              <a:ext uri="{FF2B5EF4-FFF2-40B4-BE49-F238E27FC236}">
                <a16:creationId xmlns:a16="http://schemas.microsoft.com/office/drawing/2014/main" id="{DFA7E6F8-E31D-4987-7725-D3B90C6F80CB}"/>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AEAE468C-AF34-43E9-9CA3-339D9106A4BD}"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6</a:t>
            </a:fld>
            <a:endParaRPr lang="en-US" altLang="en-US" sz="1100">
              <a:solidFill>
                <a:schemeClr val="bg1"/>
              </a:solidFill>
              <a:ea typeface="Corbel" panose="020B0503020204020204" pitchFamily="34" charset="0"/>
              <a:cs typeface="Corbel" panose="020B0503020204020204" pitchFamily="34" charset="0"/>
            </a:endParaRPr>
          </a:p>
        </p:txBody>
      </p:sp>
      <p:sp>
        <p:nvSpPr>
          <p:cNvPr id="24637" name="Text Box 12">
            <a:extLst>
              <a:ext uri="{FF2B5EF4-FFF2-40B4-BE49-F238E27FC236}">
                <a16:creationId xmlns:a16="http://schemas.microsoft.com/office/drawing/2014/main" id="{57951CAD-6FF7-F4B8-68F7-B54194E4701A}"/>
              </a:ext>
            </a:extLst>
          </p:cNvPr>
          <p:cNvSpPr txBox="1">
            <a:spLocks noChangeArrowheads="1"/>
          </p:cNvSpPr>
          <p:nvPr/>
        </p:nvSpPr>
        <p:spPr bwMode="auto">
          <a:xfrm>
            <a:off x="914400" y="2030413"/>
            <a:ext cx="7842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endParaRPr lang="en-US" altLang="en-US" sz="1200" b="1">
              <a:solidFill>
                <a:srgbClr val="FFC000"/>
              </a:solidFill>
              <a:ea typeface="Corbel" panose="020B0503020204020204" pitchFamily="34" charset="0"/>
              <a:cs typeface="Corbel" panose="020B0503020204020204" pitchFamily="34" charset="0"/>
            </a:endParaRPr>
          </a:p>
        </p:txBody>
      </p:sp>
      <p:sp>
        <p:nvSpPr>
          <p:cNvPr id="24638" name="Text Box 11">
            <a:extLst>
              <a:ext uri="{FF2B5EF4-FFF2-40B4-BE49-F238E27FC236}">
                <a16:creationId xmlns:a16="http://schemas.microsoft.com/office/drawing/2014/main" id="{BF796A99-EBEC-B0CB-07A9-10ADE82151D0}"/>
              </a:ext>
            </a:extLst>
          </p:cNvPr>
          <p:cNvSpPr txBox="1">
            <a:spLocks noChangeArrowheads="1"/>
          </p:cNvSpPr>
          <p:nvPr/>
        </p:nvSpPr>
        <p:spPr bwMode="auto">
          <a:xfrm>
            <a:off x="3048000" y="2030413"/>
            <a:ext cx="639763"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endParaRPr lang="en-US" altLang="en-US" sz="1200" b="1">
              <a:solidFill>
                <a:srgbClr val="FFC000"/>
              </a:solidFill>
              <a:ea typeface="Corbel" panose="020B0503020204020204" pitchFamily="34" charset="0"/>
              <a:cs typeface="Corbel" panose="020B0503020204020204" pitchFamily="34" charset="0"/>
            </a:endParaRPr>
          </a:p>
        </p:txBody>
      </p:sp>
      <p:sp>
        <p:nvSpPr>
          <p:cNvPr id="24639" name="Text Box 12">
            <a:extLst>
              <a:ext uri="{FF2B5EF4-FFF2-40B4-BE49-F238E27FC236}">
                <a16:creationId xmlns:a16="http://schemas.microsoft.com/office/drawing/2014/main" id="{FD072464-5F85-C94A-8C75-3BF001078ABF}"/>
              </a:ext>
            </a:extLst>
          </p:cNvPr>
          <p:cNvSpPr txBox="1">
            <a:spLocks noChangeArrowheads="1"/>
          </p:cNvSpPr>
          <p:nvPr/>
        </p:nvSpPr>
        <p:spPr bwMode="auto">
          <a:xfrm>
            <a:off x="4887913" y="2030413"/>
            <a:ext cx="82708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endParaRPr lang="en-US" altLang="en-US" sz="1200" b="1">
              <a:solidFill>
                <a:srgbClr val="FFC000"/>
              </a:solidFill>
              <a:ea typeface="Corbel" panose="020B0503020204020204" pitchFamily="34" charset="0"/>
              <a:cs typeface="Corbel" panose="020B0503020204020204" pitchFamily="34" charset="0"/>
            </a:endParaRPr>
          </a:p>
        </p:txBody>
      </p:sp>
      <p:sp>
        <p:nvSpPr>
          <p:cNvPr id="24640" name="Text Box 11">
            <a:extLst>
              <a:ext uri="{FF2B5EF4-FFF2-40B4-BE49-F238E27FC236}">
                <a16:creationId xmlns:a16="http://schemas.microsoft.com/office/drawing/2014/main" id="{7D7EC3F4-7750-1CC3-4D5C-DF336CDB2DFE}"/>
              </a:ext>
            </a:extLst>
          </p:cNvPr>
          <p:cNvSpPr txBox="1">
            <a:spLocks noChangeArrowheads="1"/>
          </p:cNvSpPr>
          <p:nvPr/>
        </p:nvSpPr>
        <p:spPr bwMode="auto">
          <a:xfrm>
            <a:off x="6934200" y="2030413"/>
            <a:ext cx="792163"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endParaRPr lang="en-US" altLang="en-US" sz="1200" b="1">
              <a:solidFill>
                <a:srgbClr val="FFC000"/>
              </a:solidFill>
              <a:ea typeface="Corbel" panose="020B0503020204020204" pitchFamily="34" charset="0"/>
              <a:cs typeface="Corbel" panose="020B0503020204020204" pitchFamily="34" charset="0"/>
            </a:endParaRPr>
          </a:p>
        </p:txBody>
      </p:sp>
      <p:grpSp>
        <p:nvGrpSpPr>
          <p:cNvPr id="24641" name="Group 35">
            <a:extLst>
              <a:ext uri="{FF2B5EF4-FFF2-40B4-BE49-F238E27FC236}">
                <a16:creationId xmlns:a16="http://schemas.microsoft.com/office/drawing/2014/main" id="{55187006-A739-9B75-D03E-B60AFBE789B4}"/>
              </a:ext>
            </a:extLst>
          </p:cNvPr>
          <p:cNvGrpSpPr>
            <a:grpSpLocks/>
          </p:cNvGrpSpPr>
          <p:nvPr/>
        </p:nvGrpSpPr>
        <p:grpSpPr bwMode="auto">
          <a:xfrm>
            <a:off x="1939925" y="4243388"/>
            <a:ext cx="4157663" cy="1928812"/>
            <a:chOff x="3016227" y="2868242"/>
            <a:chExt cx="2278627" cy="1600200"/>
          </a:xfrm>
        </p:grpSpPr>
        <p:pic>
          <p:nvPicPr>
            <p:cNvPr id="24646" name="Picture 19">
              <a:extLst>
                <a:ext uri="{FF2B5EF4-FFF2-40B4-BE49-F238E27FC236}">
                  <a16:creationId xmlns:a16="http://schemas.microsoft.com/office/drawing/2014/main" id="{66FB1868-0DE7-36CA-496A-D73B33FA77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227" y="2868242"/>
              <a:ext cx="1752601"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47" name="Text Box 20">
              <a:extLst>
                <a:ext uri="{FF2B5EF4-FFF2-40B4-BE49-F238E27FC236}">
                  <a16:creationId xmlns:a16="http://schemas.microsoft.com/office/drawing/2014/main" id="{A461C798-3E4B-6552-3745-DA800AA3BC2D}"/>
                </a:ext>
              </a:extLst>
            </p:cNvPr>
            <p:cNvSpPr txBox="1">
              <a:spLocks noChangeArrowheads="1"/>
            </p:cNvSpPr>
            <p:nvPr/>
          </p:nvSpPr>
          <p:spPr bwMode="auto">
            <a:xfrm>
              <a:off x="3479799" y="2971800"/>
              <a:ext cx="1295401" cy="19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eaLnBrk="1" hangingPunct="1">
                <a:lnSpc>
                  <a:spcPct val="95000"/>
                </a:lnSpc>
                <a:spcBef>
                  <a:spcPct val="0"/>
                </a:spcBef>
              </a:pPr>
              <a:r>
                <a:rPr lang="en-US" altLang="en-US" sz="1600" b="1">
                  <a:solidFill>
                    <a:srgbClr val="000000"/>
                  </a:solidFill>
                  <a:latin typeface="Arial" panose="020B0604020202020204" pitchFamily="34" charset="0"/>
                  <a:cs typeface="Arial" panose="020B0604020202020204" pitchFamily="34" charset="0"/>
                </a:rPr>
                <a:t>TARGET 85% </a:t>
              </a:r>
            </a:p>
          </p:txBody>
        </p:sp>
        <p:pic>
          <p:nvPicPr>
            <p:cNvPr id="24648" name="Picture 21">
              <a:extLst>
                <a:ext uri="{FF2B5EF4-FFF2-40B4-BE49-F238E27FC236}">
                  <a16:creationId xmlns:a16="http://schemas.microsoft.com/office/drawing/2014/main" id="{E650681D-8F06-6A17-ACF9-DA6CF1120D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9054" y="3023881"/>
              <a:ext cx="6858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4642" name="TextBox 1">
            <a:extLst>
              <a:ext uri="{FF2B5EF4-FFF2-40B4-BE49-F238E27FC236}">
                <a16:creationId xmlns:a16="http://schemas.microsoft.com/office/drawing/2014/main" id="{2F047E55-0277-04C9-35EF-5A2F4F016B3C}"/>
              </a:ext>
            </a:extLst>
          </p:cNvPr>
          <p:cNvSpPr txBox="1">
            <a:spLocks noChangeArrowheads="1"/>
          </p:cNvSpPr>
          <p:nvPr/>
        </p:nvSpPr>
        <p:spPr bwMode="auto">
          <a:xfrm>
            <a:off x="1219200" y="1990725"/>
            <a:ext cx="9556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r>
              <a:rPr lang="en-US" altLang="en-US" sz="1200" b="1"/>
              <a:t>Under $50K</a:t>
            </a:r>
          </a:p>
        </p:txBody>
      </p:sp>
      <p:sp>
        <p:nvSpPr>
          <p:cNvPr id="24643" name="TextBox 1">
            <a:extLst>
              <a:ext uri="{FF2B5EF4-FFF2-40B4-BE49-F238E27FC236}">
                <a16:creationId xmlns:a16="http://schemas.microsoft.com/office/drawing/2014/main" id="{2F5F1210-BB38-5740-FDB3-095660841ADE}"/>
              </a:ext>
            </a:extLst>
          </p:cNvPr>
          <p:cNvSpPr txBox="1">
            <a:spLocks noChangeArrowheads="1"/>
          </p:cNvSpPr>
          <p:nvPr/>
        </p:nvSpPr>
        <p:spPr bwMode="auto">
          <a:xfrm>
            <a:off x="3354388" y="1990725"/>
            <a:ext cx="106521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r>
              <a:rPr lang="en-US" altLang="en-US" sz="1200" b="1"/>
              <a:t>$50K-$99K</a:t>
            </a:r>
          </a:p>
        </p:txBody>
      </p:sp>
      <p:sp>
        <p:nvSpPr>
          <p:cNvPr id="24644" name="TextBox 2">
            <a:extLst>
              <a:ext uri="{FF2B5EF4-FFF2-40B4-BE49-F238E27FC236}">
                <a16:creationId xmlns:a16="http://schemas.microsoft.com/office/drawing/2014/main" id="{F51F6FB0-9939-E135-9CD5-7CBB437772D0}"/>
              </a:ext>
            </a:extLst>
          </p:cNvPr>
          <p:cNvSpPr txBox="1">
            <a:spLocks noChangeArrowheads="1"/>
          </p:cNvSpPr>
          <p:nvPr/>
        </p:nvSpPr>
        <p:spPr bwMode="auto">
          <a:xfrm>
            <a:off x="5181600" y="1990725"/>
            <a:ext cx="10699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r>
              <a:rPr lang="en-US" altLang="en-US" sz="1200" b="1"/>
              <a:t>$100K-$149K</a:t>
            </a:r>
          </a:p>
        </p:txBody>
      </p:sp>
      <p:sp>
        <p:nvSpPr>
          <p:cNvPr id="24645" name="TextBox 3">
            <a:extLst>
              <a:ext uri="{FF2B5EF4-FFF2-40B4-BE49-F238E27FC236}">
                <a16:creationId xmlns:a16="http://schemas.microsoft.com/office/drawing/2014/main" id="{ACCCB8D2-84D2-1A57-356B-9CCED406106F}"/>
              </a:ext>
            </a:extLst>
          </p:cNvPr>
          <p:cNvSpPr txBox="1">
            <a:spLocks noChangeArrowheads="1"/>
          </p:cNvSpPr>
          <p:nvPr/>
        </p:nvSpPr>
        <p:spPr bwMode="auto">
          <a:xfrm>
            <a:off x="7216775" y="1990725"/>
            <a:ext cx="903288"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r>
              <a:rPr lang="en-US" altLang="en-US" sz="1200" b="1"/>
              <a:t>$150K Plus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4">
            <a:extLst>
              <a:ext uri="{FF2B5EF4-FFF2-40B4-BE49-F238E27FC236}">
                <a16:creationId xmlns:a16="http://schemas.microsoft.com/office/drawing/2014/main" id="{A036BE14-93DB-3314-7B3D-F09C32E1A265}"/>
              </a:ext>
            </a:extLst>
          </p:cNvPr>
          <p:cNvSpPr txBox="1">
            <a:spLocks noChangeArrowheads="1"/>
          </p:cNvSpPr>
          <p:nvPr/>
        </p:nvSpPr>
        <p:spPr bwMode="auto">
          <a:xfrm>
            <a:off x="422275" y="533400"/>
            <a:ext cx="82645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lnSpc>
                <a:spcPct val="95000"/>
              </a:lnSpc>
            </a:pPr>
            <a:r>
              <a:rPr lang="en-US" altLang="en-US" sz="1400" b="1" i="1">
                <a:solidFill>
                  <a:srgbClr val="00274D"/>
                </a:solidFill>
                <a:ea typeface="Corbel" panose="020B0503020204020204" pitchFamily="34" charset="0"/>
                <a:cs typeface="Corbel" panose="020B0503020204020204" pitchFamily="34" charset="0"/>
              </a:rPr>
              <a:t>I. Determination of </a:t>
            </a:r>
            <a:r>
              <a:rPr lang="en-US" altLang="en-US" sz="1400" b="1" i="1">
                <a:solidFill>
                  <a:srgbClr val="7B8364"/>
                </a:solidFill>
                <a:ea typeface="Corbel" panose="020B0503020204020204" pitchFamily="34" charset="0"/>
                <a:cs typeface="Corbel" panose="020B0503020204020204" pitchFamily="34" charset="0"/>
              </a:rPr>
              <a:t>T</a:t>
            </a:r>
            <a:r>
              <a:rPr lang="en-US" altLang="en-US" sz="1400" b="1" i="1">
                <a:solidFill>
                  <a:srgbClr val="00274D"/>
                </a:solidFill>
                <a:ea typeface="Corbel" panose="020B0503020204020204" pitchFamily="34" charset="0"/>
                <a:cs typeface="Corbel" panose="020B0503020204020204" pitchFamily="34" charset="0"/>
              </a:rPr>
              <a:t>otal </a:t>
            </a:r>
            <a:r>
              <a:rPr lang="en-US" altLang="en-US" sz="1400" b="1" i="1">
                <a:solidFill>
                  <a:srgbClr val="7B8364"/>
                </a:solidFill>
                <a:ea typeface="Corbel" panose="020B0503020204020204" pitchFamily="34" charset="0"/>
                <a:cs typeface="Corbel" panose="020B0503020204020204" pitchFamily="34" charset="0"/>
              </a:rPr>
              <a:t>A</a:t>
            </a:r>
            <a:r>
              <a:rPr lang="en-US" altLang="en-US" sz="1400" b="1" i="1">
                <a:solidFill>
                  <a:srgbClr val="00274D"/>
                </a:solidFill>
                <a:ea typeface="Corbel" panose="020B0503020204020204" pitchFamily="34" charset="0"/>
                <a:cs typeface="Corbel" panose="020B0503020204020204" pitchFamily="34" charset="0"/>
              </a:rPr>
              <a:t>dvertising </a:t>
            </a:r>
            <a:r>
              <a:rPr lang="en-US" altLang="en-US" sz="1400" b="1" i="1">
                <a:solidFill>
                  <a:srgbClr val="7B8364"/>
                </a:solidFill>
                <a:ea typeface="Corbel" panose="020B0503020204020204" pitchFamily="34" charset="0"/>
                <a:cs typeface="Corbel" panose="020B0503020204020204" pitchFamily="34" charset="0"/>
              </a:rPr>
              <a:t>I</a:t>
            </a:r>
            <a:r>
              <a:rPr lang="en-US" altLang="en-US" sz="1400" b="1" i="1">
                <a:solidFill>
                  <a:srgbClr val="00274D"/>
                </a:solidFill>
                <a:ea typeface="Corbel" panose="020B0503020204020204" pitchFamily="34" charset="0"/>
                <a:cs typeface="Corbel" panose="020B0503020204020204" pitchFamily="34" charset="0"/>
              </a:rPr>
              <a:t>nvestment (</a:t>
            </a:r>
            <a:r>
              <a:rPr lang="en-US" altLang="en-US" sz="1400" b="1" i="1">
                <a:solidFill>
                  <a:srgbClr val="7B8364"/>
                </a:solidFill>
                <a:ea typeface="Corbel" panose="020B0503020204020204" pitchFamily="34" charset="0"/>
                <a:cs typeface="Corbel" panose="020B0503020204020204" pitchFamily="34" charset="0"/>
              </a:rPr>
              <a:t>TAI</a:t>
            </a:r>
            <a:r>
              <a:rPr lang="en-US" altLang="en-US" sz="1400" b="1" i="1">
                <a:solidFill>
                  <a:srgbClr val="00274D"/>
                </a:solidFill>
                <a:ea typeface="Corbel" panose="020B0503020204020204" pitchFamily="34" charset="0"/>
                <a:cs typeface="Corbel" panose="020B0503020204020204" pitchFamily="34" charset="0"/>
              </a:rPr>
              <a:t>). This is what the client should put back in their business for reinvestment.</a:t>
            </a:r>
          </a:p>
        </p:txBody>
      </p:sp>
      <p:sp>
        <p:nvSpPr>
          <p:cNvPr id="25603" name="TextBox 46">
            <a:extLst>
              <a:ext uri="{FF2B5EF4-FFF2-40B4-BE49-F238E27FC236}">
                <a16:creationId xmlns:a16="http://schemas.microsoft.com/office/drawing/2014/main" id="{F00848C9-6882-120F-D70A-C0E70CB9EAA0}"/>
              </a:ext>
            </a:extLst>
          </p:cNvPr>
          <p:cNvSpPr txBox="1">
            <a:spLocks noChangeArrowheads="1"/>
          </p:cNvSpPr>
          <p:nvPr/>
        </p:nvSpPr>
        <p:spPr bwMode="auto">
          <a:xfrm>
            <a:off x="6183313" y="5529263"/>
            <a:ext cx="21272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25604" name="Picture 16">
            <a:extLst>
              <a:ext uri="{FF2B5EF4-FFF2-40B4-BE49-F238E27FC236}">
                <a16:creationId xmlns:a16="http://schemas.microsoft.com/office/drawing/2014/main" id="{1EBC9395-0935-F7A9-7787-E3AAF90FB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5795963"/>
            <a:ext cx="2133600" cy="2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Text Box 21">
            <a:extLst>
              <a:ext uri="{FF2B5EF4-FFF2-40B4-BE49-F238E27FC236}">
                <a16:creationId xmlns:a16="http://schemas.microsoft.com/office/drawing/2014/main" id="{9D31153E-82C4-795D-E8A4-D91ECA404850}"/>
              </a:ext>
            </a:extLst>
          </p:cNvPr>
          <p:cNvSpPr txBox="1">
            <a:spLocks noChangeArrowheads="1"/>
          </p:cNvSpPr>
          <p:nvPr/>
        </p:nvSpPr>
        <p:spPr bwMode="auto">
          <a:xfrm>
            <a:off x="6116638" y="5821363"/>
            <a:ext cx="2379662"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Stretch Gross Sales Goals </a:t>
            </a:r>
            <a:br>
              <a:rPr lang="en-US" altLang="en-US" sz="1200" b="1">
                <a:solidFill>
                  <a:srgbClr val="00274D"/>
                </a:solidFill>
                <a:ea typeface="Corbel" panose="020B0503020204020204" pitchFamily="34" charset="0"/>
                <a:cs typeface="Corbel" panose="020B0503020204020204" pitchFamily="34" charset="0"/>
              </a:rPr>
            </a:br>
            <a:r>
              <a:rPr lang="en-US" altLang="en-US" sz="1200" b="1">
                <a:solidFill>
                  <a:srgbClr val="00274D"/>
                </a:solidFill>
                <a:ea typeface="Corbel" panose="020B0503020204020204" pitchFamily="34" charset="0"/>
                <a:cs typeface="Corbel" panose="020B0503020204020204" pitchFamily="34" charset="0"/>
              </a:rPr>
              <a:t>Next 12 Months</a:t>
            </a:r>
          </a:p>
        </p:txBody>
      </p:sp>
      <p:sp>
        <p:nvSpPr>
          <p:cNvPr id="25606" name="Text Box 15">
            <a:extLst>
              <a:ext uri="{FF2B5EF4-FFF2-40B4-BE49-F238E27FC236}">
                <a16:creationId xmlns:a16="http://schemas.microsoft.com/office/drawing/2014/main" id="{ECA67459-8ACC-57B4-091F-EF21A63EAED1}"/>
              </a:ext>
            </a:extLst>
          </p:cNvPr>
          <p:cNvSpPr txBox="1">
            <a:spLocks noChangeArrowheads="1"/>
          </p:cNvSpPr>
          <p:nvPr/>
        </p:nvSpPr>
        <p:spPr bwMode="auto">
          <a:xfrm>
            <a:off x="650875" y="5575300"/>
            <a:ext cx="300038"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C.</a:t>
            </a:r>
          </a:p>
        </p:txBody>
      </p:sp>
      <p:sp>
        <p:nvSpPr>
          <p:cNvPr id="25607" name="Text Box 22">
            <a:extLst>
              <a:ext uri="{FF2B5EF4-FFF2-40B4-BE49-F238E27FC236}">
                <a16:creationId xmlns:a16="http://schemas.microsoft.com/office/drawing/2014/main" id="{CB307B93-65B3-8D28-FEAC-0B69117E2B86}"/>
              </a:ext>
            </a:extLst>
          </p:cNvPr>
          <p:cNvSpPr txBox="1">
            <a:spLocks noChangeArrowheads="1"/>
          </p:cNvSpPr>
          <p:nvPr/>
        </p:nvSpPr>
        <p:spPr bwMode="auto">
          <a:xfrm>
            <a:off x="3817938" y="5848350"/>
            <a:ext cx="1747837"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Adv % of Gross Sales</a:t>
            </a:r>
          </a:p>
        </p:txBody>
      </p:sp>
      <p:sp>
        <p:nvSpPr>
          <p:cNvPr id="25608" name="TextBox 47">
            <a:extLst>
              <a:ext uri="{FF2B5EF4-FFF2-40B4-BE49-F238E27FC236}">
                <a16:creationId xmlns:a16="http://schemas.microsoft.com/office/drawing/2014/main" id="{DC2054E0-476A-6A8D-40CF-E22F3DAA2D82}"/>
              </a:ext>
            </a:extLst>
          </p:cNvPr>
          <p:cNvSpPr txBox="1">
            <a:spLocks noChangeArrowheads="1"/>
          </p:cNvSpPr>
          <p:nvPr/>
        </p:nvSpPr>
        <p:spPr bwMode="auto">
          <a:xfrm>
            <a:off x="3490913" y="5553075"/>
            <a:ext cx="212566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200">
                <a:solidFill>
                  <a:srgbClr val="00274D"/>
                </a:solidFill>
                <a:ea typeface="Corbel" panose="020B0503020204020204" pitchFamily="34" charset="0"/>
                <a:cs typeface="Corbel" panose="020B0503020204020204" pitchFamily="34" charset="0"/>
              </a:rPr>
              <a:t>0.00%</a:t>
            </a:r>
          </a:p>
        </p:txBody>
      </p:sp>
      <p:pic>
        <p:nvPicPr>
          <p:cNvPr id="25609" name="Picture 17">
            <a:extLst>
              <a:ext uri="{FF2B5EF4-FFF2-40B4-BE49-F238E27FC236}">
                <a16:creationId xmlns:a16="http://schemas.microsoft.com/office/drawing/2014/main" id="{718F6633-C24F-C517-6809-D192B5BEF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9813" y="5795963"/>
            <a:ext cx="2136775" cy="2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0" name="Text Box 19">
            <a:extLst>
              <a:ext uri="{FF2B5EF4-FFF2-40B4-BE49-F238E27FC236}">
                <a16:creationId xmlns:a16="http://schemas.microsoft.com/office/drawing/2014/main" id="{695D8D46-4A70-62C2-AB4B-6A217044C7B9}"/>
              </a:ext>
            </a:extLst>
          </p:cNvPr>
          <p:cNvSpPr txBox="1">
            <a:spLocks noChangeArrowheads="1"/>
          </p:cNvSpPr>
          <p:nvPr/>
        </p:nvSpPr>
        <p:spPr bwMode="auto">
          <a:xfrm>
            <a:off x="3386138" y="5632450"/>
            <a:ext cx="2254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a:t>
            </a:r>
          </a:p>
        </p:txBody>
      </p:sp>
      <p:sp>
        <p:nvSpPr>
          <p:cNvPr id="25611" name="Text Box 23">
            <a:extLst>
              <a:ext uri="{FF2B5EF4-FFF2-40B4-BE49-F238E27FC236}">
                <a16:creationId xmlns:a16="http://schemas.microsoft.com/office/drawing/2014/main" id="{3946EAC0-FE54-42AE-813A-0A7C9DFF31EC}"/>
              </a:ext>
            </a:extLst>
          </p:cNvPr>
          <p:cNvSpPr txBox="1">
            <a:spLocks noChangeArrowheads="1"/>
          </p:cNvSpPr>
          <p:nvPr/>
        </p:nvSpPr>
        <p:spPr bwMode="auto">
          <a:xfrm>
            <a:off x="1373188" y="5821363"/>
            <a:ext cx="159702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Stretch Goal</a:t>
            </a:r>
          </a:p>
          <a:p>
            <a:pPr algn="ct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Total Adv Investment</a:t>
            </a:r>
          </a:p>
        </p:txBody>
      </p:sp>
      <p:sp>
        <p:nvSpPr>
          <p:cNvPr id="25612" name="TextBox 48">
            <a:extLst>
              <a:ext uri="{FF2B5EF4-FFF2-40B4-BE49-F238E27FC236}">
                <a16:creationId xmlns:a16="http://schemas.microsoft.com/office/drawing/2014/main" id="{C2BC69A4-7FED-941D-77D8-4E927A0FFBCB}"/>
              </a:ext>
            </a:extLst>
          </p:cNvPr>
          <p:cNvSpPr txBox="1">
            <a:spLocks noChangeArrowheads="1"/>
          </p:cNvSpPr>
          <p:nvPr/>
        </p:nvSpPr>
        <p:spPr bwMode="auto">
          <a:xfrm>
            <a:off x="1058863" y="5548313"/>
            <a:ext cx="2125662"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25613" name="Picture 18">
            <a:extLst>
              <a:ext uri="{FF2B5EF4-FFF2-40B4-BE49-F238E27FC236}">
                <a16:creationId xmlns:a16="http://schemas.microsoft.com/office/drawing/2014/main" id="{F707C869-541D-6DD9-2085-C4169F145C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0450" y="5795963"/>
            <a:ext cx="2135188" cy="2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4" name="Text Box 20">
            <a:extLst>
              <a:ext uri="{FF2B5EF4-FFF2-40B4-BE49-F238E27FC236}">
                <a16:creationId xmlns:a16="http://schemas.microsoft.com/office/drawing/2014/main" id="{29343800-0F0C-4C33-A814-E6B509D5186B}"/>
              </a:ext>
            </a:extLst>
          </p:cNvPr>
          <p:cNvSpPr txBox="1">
            <a:spLocks noChangeArrowheads="1"/>
          </p:cNvSpPr>
          <p:nvPr/>
        </p:nvSpPr>
        <p:spPr bwMode="auto">
          <a:xfrm>
            <a:off x="5924550" y="5632450"/>
            <a:ext cx="2254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a:t>
            </a:r>
          </a:p>
        </p:txBody>
      </p:sp>
      <p:sp>
        <p:nvSpPr>
          <p:cNvPr id="25615" name="Text Box 12">
            <a:extLst>
              <a:ext uri="{FF2B5EF4-FFF2-40B4-BE49-F238E27FC236}">
                <a16:creationId xmlns:a16="http://schemas.microsoft.com/office/drawing/2014/main" id="{4E98A5D8-5E0E-FB8A-FACB-32347B53DC0F}"/>
              </a:ext>
            </a:extLst>
          </p:cNvPr>
          <p:cNvSpPr txBox="1">
            <a:spLocks noChangeArrowheads="1"/>
          </p:cNvSpPr>
          <p:nvPr/>
        </p:nvSpPr>
        <p:spPr bwMode="auto">
          <a:xfrm>
            <a:off x="1006475" y="5094288"/>
            <a:ext cx="213518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Total Adv Investment</a:t>
            </a:r>
          </a:p>
          <a:p>
            <a:pPr algn="ct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Next 12 Months</a:t>
            </a:r>
          </a:p>
        </p:txBody>
      </p:sp>
      <p:sp>
        <p:nvSpPr>
          <p:cNvPr id="25616" name="TextBox 43">
            <a:extLst>
              <a:ext uri="{FF2B5EF4-FFF2-40B4-BE49-F238E27FC236}">
                <a16:creationId xmlns:a16="http://schemas.microsoft.com/office/drawing/2014/main" id="{B029D141-F5B3-1007-704F-B2F907631DB6}"/>
              </a:ext>
            </a:extLst>
          </p:cNvPr>
          <p:cNvSpPr txBox="1">
            <a:spLocks noChangeArrowheads="1"/>
          </p:cNvSpPr>
          <p:nvPr/>
        </p:nvSpPr>
        <p:spPr bwMode="auto">
          <a:xfrm>
            <a:off x="1074738" y="4799013"/>
            <a:ext cx="2125662"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25617" name="Picture 7">
            <a:extLst>
              <a:ext uri="{FF2B5EF4-FFF2-40B4-BE49-F238E27FC236}">
                <a16:creationId xmlns:a16="http://schemas.microsoft.com/office/drawing/2014/main" id="{FB799EFE-795C-D212-310E-05B73C154D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475" y="5041900"/>
            <a:ext cx="2135188"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8" name="Text Box 13">
            <a:extLst>
              <a:ext uri="{FF2B5EF4-FFF2-40B4-BE49-F238E27FC236}">
                <a16:creationId xmlns:a16="http://schemas.microsoft.com/office/drawing/2014/main" id="{CB17AF86-1B82-CE45-BF72-C82AA6A1762D}"/>
              </a:ext>
            </a:extLst>
          </p:cNvPr>
          <p:cNvSpPr txBox="1">
            <a:spLocks noChangeArrowheads="1"/>
          </p:cNvSpPr>
          <p:nvPr/>
        </p:nvSpPr>
        <p:spPr bwMode="auto">
          <a:xfrm>
            <a:off x="3817938" y="5094288"/>
            <a:ext cx="1747837"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Adv % of Gross Sales</a:t>
            </a:r>
          </a:p>
        </p:txBody>
      </p:sp>
      <p:sp>
        <p:nvSpPr>
          <p:cNvPr id="25619" name="TextBox 44">
            <a:extLst>
              <a:ext uri="{FF2B5EF4-FFF2-40B4-BE49-F238E27FC236}">
                <a16:creationId xmlns:a16="http://schemas.microsoft.com/office/drawing/2014/main" id="{FCA6D68E-33D4-C673-B4C6-AA587EC60738}"/>
              </a:ext>
            </a:extLst>
          </p:cNvPr>
          <p:cNvSpPr txBox="1">
            <a:spLocks noChangeArrowheads="1"/>
          </p:cNvSpPr>
          <p:nvPr/>
        </p:nvSpPr>
        <p:spPr bwMode="auto">
          <a:xfrm>
            <a:off x="3679825" y="4799013"/>
            <a:ext cx="21272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200">
                <a:solidFill>
                  <a:srgbClr val="00274D"/>
                </a:solidFill>
                <a:ea typeface="Corbel" panose="020B0503020204020204" pitchFamily="34" charset="0"/>
                <a:cs typeface="Corbel" panose="020B0503020204020204" pitchFamily="34" charset="0"/>
              </a:rPr>
              <a:t>0.00%</a:t>
            </a:r>
          </a:p>
        </p:txBody>
      </p:sp>
      <p:pic>
        <p:nvPicPr>
          <p:cNvPr id="25620" name="Picture 8">
            <a:extLst>
              <a:ext uri="{FF2B5EF4-FFF2-40B4-BE49-F238E27FC236}">
                <a16:creationId xmlns:a16="http://schemas.microsoft.com/office/drawing/2014/main" id="{6FD940B8-71CF-FF2B-C14B-606DBA5AF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9825" y="5041900"/>
            <a:ext cx="2136775"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1" name="Text Box 14">
            <a:extLst>
              <a:ext uri="{FF2B5EF4-FFF2-40B4-BE49-F238E27FC236}">
                <a16:creationId xmlns:a16="http://schemas.microsoft.com/office/drawing/2014/main" id="{ECAF14BC-0210-2C6C-980A-4F1D1C6CEE2E}"/>
              </a:ext>
            </a:extLst>
          </p:cNvPr>
          <p:cNvSpPr txBox="1">
            <a:spLocks noChangeArrowheads="1"/>
          </p:cNvSpPr>
          <p:nvPr/>
        </p:nvSpPr>
        <p:spPr bwMode="auto">
          <a:xfrm>
            <a:off x="6045200" y="5094288"/>
            <a:ext cx="2663825"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Estimated Gross Sales next 12 mos.</a:t>
            </a:r>
          </a:p>
        </p:txBody>
      </p:sp>
      <p:sp>
        <p:nvSpPr>
          <p:cNvPr id="25622" name="TextBox 45">
            <a:extLst>
              <a:ext uri="{FF2B5EF4-FFF2-40B4-BE49-F238E27FC236}">
                <a16:creationId xmlns:a16="http://schemas.microsoft.com/office/drawing/2014/main" id="{641731E2-7375-5C81-32DB-5540B4F1DDD3}"/>
              </a:ext>
            </a:extLst>
          </p:cNvPr>
          <p:cNvSpPr txBox="1">
            <a:spLocks noChangeArrowheads="1"/>
          </p:cNvSpPr>
          <p:nvPr/>
        </p:nvSpPr>
        <p:spPr bwMode="auto">
          <a:xfrm>
            <a:off x="6011863" y="4799013"/>
            <a:ext cx="2468562"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25623" name="Picture 9">
            <a:extLst>
              <a:ext uri="{FF2B5EF4-FFF2-40B4-BE49-F238E27FC236}">
                <a16:creationId xmlns:a16="http://schemas.microsoft.com/office/drawing/2014/main" id="{21BF2EBE-3534-91C8-0B0E-8168F5F61A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325" y="5041900"/>
            <a:ext cx="2135188"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4" name="Text Box 10">
            <a:extLst>
              <a:ext uri="{FF2B5EF4-FFF2-40B4-BE49-F238E27FC236}">
                <a16:creationId xmlns:a16="http://schemas.microsoft.com/office/drawing/2014/main" id="{44C98FC1-F0E5-1D91-E4E2-D1134D63C0BE}"/>
              </a:ext>
            </a:extLst>
          </p:cNvPr>
          <p:cNvSpPr txBox="1">
            <a:spLocks noChangeArrowheads="1"/>
          </p:cNvSpPr>
          <p:nvPr/>
        </p:nvSpPr>
        <p:spPr bwMode="auto">
          <a:xfrm>
            <a:off x="3406775" y="4876800"/>
            <a:ext cx="2254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a:t>
            </a:r>
          </a:p>
        </p:txBody>
      </p:sp>
      <p:sp>
        <p:nvSpPr>
          <p:cNvPr id="25625" name="Text Box 11">
            <a:extLst>
              <a:ext uri="{FF2B5EF4-FFF2-40B4-BE49-F238E27FC236}">
                <a16:creationId xmlns:a16="http://schemas.microsoft.com/office/drawing/2014/main" id="{BA2ABAE1-2458-599C-93BB-A9C47D2EFA0F}"/>
              </a:ext>
            </a:extLst>
          </p:cNvPr>
          <p:cNvSpPr txBox="1">
            <a:spLocks noChangeArrowheads="1"/>
          </p:cNvSpPr>
          <p:nvPr/>
        </p:nvSpPr>
        <p:spPr bwMode="auto">
          <a:xfrm>
            <a:off x="5924550" y="4876800"/>
            <a:ext cx="2254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a:t>
            </a:r>
          </a:p>
        </p:txBody>
      </p:sp>
      <p:sp>
        <p:nvSpPr>
          <p:cNvPr id="25626" name="Text Box 6">
            <a:extLst>
              <a:ext uri="{FF2B5EF4-FFF2-40B4-BE49-F238E27FC236}">
                <a16:creationId xmlns:a16="http://schemas.microsoft.com/office/drawing/2014/main" id="{AC6B4353-F4D2-0957-79C4-B0BB81E5CEA9}"/>
              </a:ext>
            </a:extLst>
          </p:cNvPr>
          <p:cNvSpPr txBox="1">
            <a:spLocks noChangeArrowheads="1"/>
          </p:cNvSpPr>
          <p:nvPr/>
        </p:nvSpPr>
        <p:spPr bwMode="auto">
          <a:xfrm>
            <a:off x="636588" y="4821238"/>
            <a:ext cx="300037"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B.</a:t>
            </a:r>
          </a:p>
        </p:txBody>
      </p:sp>
      <p:sp>
        <p:nvSpPr>
          <p:cNvPr id="25627" name="Text Box 25">
            <a:extLst>
              <a:ext uri="{FF2B5EF4-FFF2-40B4-BE49-F238E27FC236}">
                <a16:creationId xmlns:a16="http://schemas.microsoft.com/office/drawing/2014/main" id="{0454795A-A979-6D7D-A7D0-0292278D48F4}"/>
              </a:ext>
            </a:extLst>
          </p:cNvPr>
          <p:cNvSpPr txBox="1">
            <a:spLocks noChangeArrowheads="1"/>
          </p:cNvSpPr>
          <p:nvPr/>
        </p:nvSpPr>
        <p:spPr bwMode="auto">
          <a:xfrm>
            <a:off x="1300163" y="1111250"/>
            <a:ext cx="2665412"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A. Previous Year’s Media Allocation</a:t>
            </a:r>
            <a:endParaRPr lang="en-US" altLang="en-US" sz="1200">
              <a:solidFill>
                <a:srgbClr val="00274D"/>
              </a:solidFill>
              <a:ea typeface="Corbel" panose="020B0503020204020204" pitchFamily="34" charset="0"/>
              <a:cs typeface="Corbel" panose="020B0503020204020204" pitchFamily="34" charset="0"/>
            </a:endParaRPr>
          </a:p>
        </p:txBody>
      </p:sp>
      <p:sp>
        <p:nvSpPr>
          <p:cNvPr id="25628" name="Text Box 26">
            <a:extLst>
              <a:ext uri="{FF2B5EF4-FFF2-40B4-BE49-F238E27FC236}">
                <a16:creationId xmlns:a16="http://schemas.microsoft.com/office/drawing/2014/main" id="{99D2CC90-2B1E-AEE0-0302-5F104E8766D2}"/>
              </a:ext>
            </a:extLst>
          </p:cNvPr>
          <p:cNvSpPr txBox="1">
            <a:spLocks noChangeArrowheads="1"/>
          </p:cNvSpPr>
          <p:nvPr/>
        </p:nvSpPr>
        <p:spPr bwMode="auto">
          <a:xfrm>
            <a:off x="477838" y="4319588"/>
            <a:ext cx="1676400"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lnSpc>
                <a:spcPct val="95000"/>
              </a:lnSpc>
              <a:spcAft>
                <a:spcPts val="1075"/>
              </a:spcAft>
            </a:pPr>
            <a:r>
              <a:rPr lang="en-US" altLang="en-US" sz="1200" b="1">
                <a:solidFill>
                  <a:srgbClr val="00274D"/>
                </a:solidFill>
                <a:ea typeface="Corbel" panose="020B0503020204020204" pitchFamily="34" charset="0"/>
                <a:cs typeface="Corbel" panose="020B0503020204020204" pitchFamily="34" charset="0"/>
              </a:rPr>
              <a:t>Total Adv. Investment</a:t>
            </a:r>
          </a:p>
        </p:txBody>
      </p:sp>
      <p:pic>
        <p:nvPicPr>
          <p:cNvPr id="25629" name="Picture 27">
            <a:extLst>
              <a:ext uri="{FF2B5EF4-FFF2-40B4-BE49-F238E27FC236}">
                <a16:creationId xmlns:a16="http://schemas.microsoft.com/office/drawing/2014/main" id="{219F8D0F-6512-2877-EAA4-495BB9E036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0275" y="1622425"/>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0" name="Picture 27">
            <a:extLst>
              <a:ext uri="{FF2B5EF4-FFF2-40B4-BE49-F238E27FC236}">
                <a16:creationId xmlns:a16="http://schemas.microsoft.com/office/drawing/2014/main" id="{E9FA0E09-0C67-484F-8E77-6C353FE15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1943100"/>
            <a:ext cx="18288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1" name="Picture 27">
            <a:extLst>
              <a:ext uri="{FF2B5EF4-FFF2-40B4-BE49-F238E27FC236}">
                <a16:creationId xmlns:a16="http://schemas.microsoft.com/office/drawing/2014/main" id="{72D03493-C087-A9CA-DA19-E85D5D5D61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2238375"/>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2" name="Picture 27">
            <a:extLst>
              <a:ext uri="{FF2B5EF4-FFF2-40B4-BE49-F238E27FC236}">
                <a16:creationId xmlns:a16="http://schemas.microsoft.com/office/drawing/2014/main" id="{E175C1C0-F1ED-8DA4-7165-D9C86C99D4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2581275"/>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3" name="Picture 27">
            <a:extLst>
              <a:ext uri="{FF2B5EF4-FFF2-40B4-BE49-F238E27FC236}">
                <a16:creationId xmlns:a16="http://schemas.microsoft.com/office/drawing/2014/main" id="{0D7671EE-24B8-CC66-9AF4-C512B2C508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2876550"/>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4" name="Picture 27">
            <a:extLst>
              <a:ext uri="{FF2B5EF4-FFF2-40B4-BE49-F238E27FC236}">
                <a16:creationId xmlns:a16="http://schemas.microsoft.com/office/drawing/2014/main" id="{72468920-1FF4-23FE-0845-2FF9A3C3A1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3195638"/>
            <a:ext cx="18288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5" name="Picture 27">
            <a:extLst>
              <a:ext uri="{FF2B5EF4-FFF2-40B4-BE49-F238E27FC236}">
                <a16:creationId xmlns:a16="http://schemas.microsoft.com/office/drawing/2014/main" id="{FF5B6504-E1CA-2FDA-0E94-E82378B98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3495675"/>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6" name="Picture 27">
            <a:extLst>
              <a:ext uri="{FF2B5EF4-FFF2-40B4-BE49-F238E27FC236}">
                <a16:creationId xmlns:a16="http://schemas.microsoft.com/office/drawing/2014/main" id="{BB377249-348E-552F-8747-439D5EB5B2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3790950"/>
            <a:ext cx="18288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7" name="Picture 27">
            <a:extLst>
              <a:ext uri="{FF2B5EF4-FFF2-40B4-BE49-F238E27FC236}">
                <a16:creationId xmlns:a16="http://schemas.microsoft.com/office/drawing/2014/main" id="{8F547C83-BC6A-6DB1-BB89-B4ED8C307B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0" y="4113213"/>
            <a:ext cx="1828800" cy="2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38" name="TextBox 34">
            <a:extLst>
              <a:ext uri="{FF2B5EF4-FFF2-40B4-BE49-F238E27FC236}">
                <a16:creationId xmlns:a16="http://schemas.microsoft.com/office/drawing/2014/main" id="{B79E1621-A55A-A6B6-0F10-E239BA7E2D1F}"/>
              </a:ext>
            </a:extLst>
          </p:cNvPr>
          <p:cNvSpPr txBox="1">
            <a:spLocks noChangeArrowheads="1"/>
          </p:cNvSpPr>
          <p:nvPr/>
        </p:nvSpPr>
        <p:spPr bwMode="auto">
          <a:xfrm>
            <a:off x="2178050" y="14160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39" name="TextBox 35">
            <a:extLst>
              <a:ext uri="{FF2B5EF4-FFF2-40B4-BE49-F238E27FC236}">
                <a16:creationId xmlns:a16="http://schemas.microsoft.com/office/drawing/2014/main" id="{5557E178-B222-0692-3316-B9B76CF858F0}"/>
              </a:ext>
            </a:extLst>
          </p:cNvPr>
          <p:cNvSpPr txBox="1">
            <a:spLocks noChangeArrowheads="1"/>
          </p:cNvSpPr>
          <p:nvPr/>
        </p:nvSpPr>
        <p:spPr bwMode="auto">
          <a:xfrm>
            <a:off x="2178050" y="170180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40" name="TextBox 36">
            <a:extLst>
              <a:ext uri="{FF2B5EF4-FFF2-40B4-BE49-F238E27FC236}">
                <a16:creationId xmlns:a16="http://schemas.microsoft.com/office/drawing/2014/main" id="{7D2FB8BF-A3B6-194F-DF60-BBF5A6A01CAC}"/>
              </a:ext>
            </a:extLst>
          </p:cNvPr>
          <p:cNvSpPr txBox="1">
            <a:spLocks noChangeArrowheads="1"/>
          </p:cNvSpPr>
          <p:nvPr/>
        </p:nvSpPr>
        <p:spPr bwMode="auto">
          <a:xfrm>
            <a:off x="2176463" y="32448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41" name="TextBox 37">
            <a:extLst>
              <a:ext uri="{FF2B5EF4-FFF2-40B4-BE49-F238E27FC236}">
                <a16:creationId xmlns:a16="http://schemas.microsoft.com/office/drawing/2014/main" id="{6CC450EB-AD3C-8490-9C0D-4C7F97F94FB9}"/>
              </a:ext>
            </a:extLst>
          </p:cNvPr>
          <p:cNvSpPr txBox="1">
            <a:spLocks noChangeArrowheads="1"/>
          </p:cNvSpPr>
          <p:nvPr/>
        </p:nvSpPr>
        <p:spPr bwMode="auto">
          <a:xfrm>
            <a:off x="2178050" y="2339975"/>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42" name="TextBox 38">
            <a:extLst>
              <a:ext uri="{FF2B5EF4-FFF2-40B4-BE49-F238E27FC236}">
                <a16:creationId xmlns:a16="http://schemas.microsoft.com/office/drawing/2014/main" id="{E386E917-EDBD-E86A-B010-804B1E8E0048}"/>
              </a:ext>
            </a:extLst>
          </p:cNvPr>
          <p:cNvSpPr txBox="1">
            <a:spLocks noChangeArrowheads="1"/>
          </p:cNvSpPr>
          <p:nvPr/>
        </p:nvSpPr>
        <p:spPr bwMode="auto">
          <a:xfrm>
            <a:off x="2178050" y="26352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43" name="TextBox 39">
            <a:extLst>
              <a:ext uri="{FF2B5EF4-FFF2-40B4-BE49-F238E27FC236}">
                <a16:creationId xmlns:a16="http://schemas.microsoft.com/office/drawing/2014/main" id="{5CD3C627-6A8C-D670-BDAF-BB269ED59C60}"/>
              </a:ext>
            </a:extLst>
          </p:cNvPr>
          <p:cNvSpPr txBox="1">
            <a:spLocks noChangeArrowheads="1"/>
          </p:cNvSpPr>
          <p:nvPr/>
        </p:nvSpPr>
        <p:spPr bwMode="auto">
          <a:xfrm>
            <a:off x="2179638" y="35496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44" name="TextBox 40">
            <a:extLst>
              <a:ext uri="{FF2B5EF4-FFF2-40B4-BE49-F238E27FC236}">
                <a16:creationId xmlns:a16="http://schemas.microsoft.com/office/drawing/2014/main" id="{E7686BEC-BA84-7177-D945-BBE27A274608}"/>
              </a:ext>
            </a:extLst>
          </p:cNvPr>
          <p:cNvSpPr txBox="1">
            <a:spLocks noChangeArrowheads="1"/>
          </p:cNvSpPr>
          <p:nvPr/>
        </p:nvSpPr>
        <p:spPr bwMode="auto">
          <a:xfrm>
            <a:off x="2178050" y="29019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45" name="TextBox 41">
            <a:extLst>
              <a:ext uri="{FF2B5EF4-FFF2-40B4-BE49-F238E27FC236}">
                <a16:creationId xmlns:a16="http://schemas.microsoft.com/office/drawing/2014/main" id="{E046103E-1D69-FF0C-5404-ED1120F7518E}"/>
              </a:ext>
            </a:extLst>
          </p:cNvPr>
          <p:cNvSpPr txBox="1">
            <a:spLocks noChangeArrowheads="1"/>
          </p:cNvSpPr>
          <p:nvPr/>
        </p:nvSpPr>
        <p:spPr bwMode="auto">
          <a:xfrm>
            <a:off x="2178050" y="1982788"/>
            <a:ext cx="3238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46" name="TextBox 41">
            <a:extLst>
              <a:ext uri="{FF2B5EF4-FFF2-40B4-BE49-F238E27FC236}">
                <a16:creationId xmlns:a16="http://schemas.microsoft.com/office/drawing/2014/main" id="{6F574EE4-20AA-9E02-B1B1-37FA8CB02502}"/>
              </a:ext>
            </a:extLst>
          </p:cNvPr>
          <p:cNvSpPr txBox="1">
            <a:spLocks noChangeArrowheads="1"/>
          </p:cNvSpPr>
          <p:nvPr/>
        </p:nvSpPr>
        <p:spPr bwMode="auto">
          <a:xfrm>
            <a:off x="2178050" y="3859213"/>
            <a:ext cx="3238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25647" name="Picture 34">
            <a:extLst>
              <a:ext uri="{FF2B5EF4-FFF2-40B4-BE49-F238E27FC236}">
                <a16:creationId xmlns:a16="http://schemas.microsoft.com/office/drawing/2014/main" id="{F49EF995-11D8-479E-AAE1-2300C70AB5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6313" y="4460875"/>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48" name="TextBox 42">
            <a:extLst>
              <a:ext uri="{FF2B5EF4-FFF2-40B4-BE49-F238E27FC236}">
                <a16:creationId xmlns:a16="http://schemas.microsoft.com/office/drawing/2014/main" id="{9F41E223-8837-0A90-899F-B5DDF6E0BDCA}"/>
              </a:ext>
            </a:extLst>
          </p:cNvPr>
          <p:cNvSpPr txBox="1">
            <a:spLocks noChangeArrowheads="1"/>
          </p:cNvSpPr>
          <p:nvPr/>
        </p:nvSpPr>
        <p:spPr bwMode="auto">
          <a:xfrm>
            <a:off x="2187575" y="4217988"/>
            <a:ext cx="3238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49" name="Text Box 25">
            <a:extLst>
              <a:ext uri="{FF2B5EF4-FFF2-40B4-BE49-F238E27FC236}">
                <a16:creationId xmlns:a16="http://schemas.microsoft.com/office/drawing/2014/main" id="{660B6683-03E6-E92B-4A4A-E22426A0A06F}"/>
              </a:ext>
            </a:extLst>
          </p:cNvPr>
          <p:cNvSpPr txBox="1">
            <a:spLocks noChangeArrowheads="1"/>
          </p:cNvSpPr>
          <p:nvPr/>
        </p:nvSpPr>
        <p:spPr bwMode="auto">
          <a:xfrm>
            <a:off x="5470525" y="1111250"/>
            <a:ext cx="2838450"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200" b="1">
                <a:solidFill>
                  <a:srgbClr val="00274D"/>
                </a:solidFill>
                <a:ea typeface="Corbel" panose="020B0503020204020204" pitchFamily="34" charset="0"/>
                <a:cs typeface="Corbel" panose="020B0503020204020204" pitchFamily="34" charset="0"/>
              </a:rPr>
              <a:t>Proposed 12 Month Media Allocation:</a:t>
            </a:r>
            <a:endParaRPr lang="en-US" altLang="en-US" sz="1200">
              <a:solidFill>
                <a:srgbClr val="00274D"/>
              </a:solidFill>
              <a:ea typeface="Corbel" panose="020B0503020204020204" pitchFamily="34" charset="0"/>
              <a:cs typeface="Corbel" panose="020B0503020204020204" pitchFamily="34" charset="0"/>
            </a:endParaRPr>
          </a:p>
        </p:txBody>
      </p:sp>
      <p:pic>
        <p:nvPicPr>
          <p:cNvPr id="25650" name="Picture 27">
            <a:extLst>
              <a:ext uri="{FF2B5EF4-FFF2-40B4-BE49-F238E27FC236}">
                <a16:creationId xmlns:a16="http://schemas.microsoft.com/office/drawing/2014/main" id="{F849B0D1-732B-4FE2-0EF0-DFF6CF5215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9875" y="1622425"/>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1" name="Picture 27">
            <a:extLst>
              <a:ext uri="{FF2B5EF4-FFF2-40B4-BE49-F238E27FC236}">
                <a16:creationId xmlns:a16="http://schemas.microsoft.com/office/drawing/2014/main" id="{59E3D2D6-DD8E-1FAC-4209-601BA04BA7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2100" y="1943100"/>
            <a:ext cx="18288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2" name="Picture 27">
            <a:extLst>
              <a:ext uri="{FF2B5EF4-FFF2-40B4-BE49-F238E27FC236}">
                <a16:creationId xmlns:a16="http://schemas.microsoft.com/office/drawing/2014/main" id="{1FBED230-7D7C-D2AD-9F84-E73434A49C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2100" y="2238375"/>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3" name="Picture 27">
            <a:extLst>
              <a:ext uri="{FF2B5EF4-FFF2-40B4-BE49-F238E27FC236}">
                <a16:creationId xmlns:a16="http://schemas.microsoft.com/office/drawing/2014/main" id="{AB7B9957-3977-026D-2B43-40A04B3E22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2100" y="2581275"/>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4" name="Picture 27">
            <a:extLst>
              <a:ext uri="{FF2B5EF4-FFF2-40B4-BE49-F238E27FC236}">
                <a16:creationId xmlns:a16="http://schemas.microsoft.com/office/drawing/2014/main" id="{98CD11D4-170F-B0CB-DCA5-3E7298F60F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2100" y="2876550"/>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5" name="Picture 27">
            <a:extLst>
              <a:ext uri="{FF2B5EF4-FFF2-40B4-BE49-F238E27FC236}">
                <a16:creationId xmlns:a16="http://schemas.microsoft.com/office/drawing/2014/main" id="{7BE6E3F7-02B4-E614-DECD-64CB3C904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2100" y="3195638"/>
            <a:ext cx="18288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6" name="Picture 27">
            <a:extLst>
              <a:ext uri="{FF2B5EF4-FFF2-40B4-BE49-F238E27FC236}">
                <a16:creationId xmlns:a16="http://schemas.microsoft.com/office/drawing/2014/main" id="{F206BDEF-0EC5-1B0B-BC44-9C8E7D1F06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2100" y="3495675"/>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7" name="Picture 27">
            <a:extLst>
              <a:ext uri="{FF2B5EF4-FFF2-40B4-BE49-F238E27FC236}">
                <a16:creationId xmlns:a16="http://schemas.microsoft.com/office/drawing/2014/main" id="{A07A925C-3334-429E-0FA6-BED6139B53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2100" y="3790950"/>
            <a:ext cx="18288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58" name="Picture 27">
            <a:extLst>
              <a:ext uri="{FF2B5EF4-FFF2-40B4-BE49-F238E27FC236}">
                <a16:creationId xmlns:a16="http://schemas.microsoft.com/office/drawing/2014/main" id="{B2108E33-FD36-F849-3113-2618BC2E58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2100" y="4113213"/>
            <a:ext cx="1828800" cy="2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59" name="TextBox 34">
            <a:extLst>
              <a:ext uri="{FF2B5EF4-FFF2-40B4-BE49-F238E27FC236}">
                <a16:creationId xmlns:a16="http://schemas.microsoft.com/office/drawing/2014/main" id="{057F8C86-5C7F-966B-7F4D-D90338EA2A06}"/>
              </a:ext>
            </a:extLst>
          </p:cNvPr>
          <p:cNvSpPr txBox="1">
            <a:spLocks noChangeArrowheads="1"/>
          </p:cNvSpPr>
          <p:nvPr/>
        </p:nvSpPr>
        <p:spPr bwMode="auto">
          <a:xfrm>
            <a:off x="6597650" y="14160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60" name="TextBox 35">
            <a:extLst>
              <a:ext uri="{FF2B5EF4-FFF2-40B4-BE49-F238E27FC236}">
                <a16:creationId xmlns:a16="http://schemas.microsoft.com/office/drawing/2014/main" id="{18B8CF43-F2C4-5D3E-900C-1337F7550717}"/>
              </a:ext>
            </a:extLst>
          </p:cNvPr>
          <p:cNvSpPr txBox="1">
            <a:spLocks noChangeArrowheads="1"/>
          </p:cNvSpPr>
          <p:nvPr/>
        </p:nvSpPr>
        <p:spPr bwMode="auto">
          <a:xfrm>
            <a:off x="6597650" y="170180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61" name="TextBox 36">
            <a:extLst>
              <a:ext uri="{FF2B5EF4-FFF2-40B4-BE49-F238E27FC236}">
                <a16:creationId xmlns:a16="http://schemas.microsoft.com/office/drawing/2014/main" id="{440740A2-03E5-EC04-2CCB-08ED393169F0}"/>
              </a:ext>
            </a:extLst>
          </p:cNvPr>
          <p:cNvSpPr txBox="1">
            <a:spLocks noChangeArrowheads="1"/>
          </p:cNvSpPr>
          <p:nvPr/>
        </p:nvSpPr>
        <p:spPr bwMode="auto">
          <a:xfrm>
            <a:off x="6597650" y="1997075"/>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62" name="TextBox 37">
            <a:extLst>
              <a:ext uri="{FF2B5EF4-FFF2-40B4-BE49-F238E27FC236}">
                <a16:creationId xmlns:a16="http://schemas.microsoft.com/office/drawing/2014/main" id="{8722057A-F0F9-A416-169D-085617AD8177}"/>
              </a:ext>
            </a:extLst>
          </p:cNvPr>
          <p:cNvSpPr txBox="1">
            <a:spLocks noChangeArrowheads="1"/>
          </p:cNvSpPr>
          <p:nvPr/>
        </p:nvSpPr>
        <p:spPr bwMode="auto">
          <a:xfrm>
            <a:off x="6597650" y="2339975"/>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63" name="TextBox 38">
            <a:extLst>
              <a:ext uri="{FF2B5EF4-FFF2-40B4-BE49-F238E27FC236}">
                <a16:creationId xmlns:a16="http://schemas.microsoft.com/office/drawing/2014/main" id="{B7C5F53C-5FCE-9D4A-443F-9F121AD1A237}"/>
              </a:ext>
            </a:extLst>
          </p:cNvPr>
          <p:cNvSpPr txBox="1">
            <a:spLocks noChangeArrowheads="1"/>
          </p:cNvSpPr>
          <p:nvPr/>
        </p:nvSpPr>
        <p:spPr bwMode="auto">
          <a:xfrm>
            <a:off x="6597650" y="26352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64" name="TextBox 39">
            <a:extLst>
              <a:ext uri="{FF2B5EF4-FFF2-40B4-BE49-F238E27FC236}">
                <a16:creationId xmlns:a16="http://schemas.microsoft.com/office/drawing/2014/main" id="{269D7D62-FC8A-A02C-B28E-A2787244AD70}"/>
              </a:ext>
            </a:extLst>
          </p:cNvPr>
          <p:cNvSpPr txBox="1">
            <a:spLocks noChangeArrowheads="1"/>
          </p:cNvSpPr>
          <p:nvPr/>
        </p:nvSpPr>
        <p:spPr bwMode="auto">
          <a:xfrm>
            <a:off x="6597650" y="2954338"/>
            <a:ext cx="3238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65" name="TextBox 40">
            <a:extLst>
              <a:ext uri="{FF2B5EF4-FFF2-40B4-BE49-F238E27FC236}">
                <a16:creationId xmlns:a16="http://schemas.microsoft.com/office/drawing/2014/main" id="{F14F152E-9AFF-7EC2-92CB-A3737E1A4D4E}"/>
              </a:ext>
            </a:extLst>
          </p:cNvPr>
          <p:cNvSpPr txBox="1">
            <a:spLocks noChangeArrowheads="1"/>
          </p:cNvSpPr>
          <p:nvPr/>
        </p:nvSpPr>
        <p:spPr bwMode="auto">
          <a:xfrm>
            <a:off x="6597650" y="3254375"/>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66" name="TextBox 41">
            <a:extLst>
              <a:ext uri="{FF2B5EF4-FFF2-40B4-BE49-F238E27FC236}">
                <a16:creationId xmlns:a16="http://schemas.microsoft.com/office/drawing/2014/main" id="{86B0F89A-F238-AC16-84E4-A0505205958B}"/>
              </a:ext>
            </a:extLst>
          </p:cNvPr>
          <p:cNvSpPr txBox="1">
            <a:spLocks noChangeArrowheads="1"/>
          </p:cNvSpPr>
          <p:nvPr/>
        </p:nvSpPr>
        <p:spPr bwMode="auto">
          <a:xfrm>
            <a:off x="6597650" y="355600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67" name="TextBox 41">
            <a:extLst>
              <a:ext uri="{FF2B5EF4-FFF2-40B4-BE49-F238E27FC236}">
                <a16:creationId xmlns:a16="http://schemas.microsoft.com/office/drawing/2014/main" id="{339A3720-9408-264A-4F31-793EDD8A80D9}"/>
              </a:ext>
            </a:extLst>
          </p:cNvPr>
          <p:cNvSpPr txBox="1">
            <a:spLocks noChangeArrowheads="1"/>
          </p:cNvSpPr>
          <p:nvPr/>
        </p:nvSpPr>
        <p:spPr bwMode="auto">
          <a:xfrm>
            <a:off x="6597650" y="3859213"/>
            <a:ext cx="3238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25668" name="Picture 34">
            <a:extLst>
              <a:ext uri="{FF2B5EF4-FFF2-40B4-BE49-F238E27FC236}">
                <a16:creationId xmlns:a16="http://schemas.microsoft.com/office/drawing/2014/main" id="{EBF34712-CC7F-9C08-0D76-7CE0C27233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5913" y="4460875"/>
            <a:ext cx="182880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69" name="TextBox 42">
            <a:extLst>
              <a:ext uri="{FF2B5EF4-FFF2-40B4-BE49-F238E27FC236}">
                <a16:creationId xmlns:a16="http://schemas.microsoft.com/office/drawing/2014/main" id="{F18F9E49-7472-65D1-C0EC-7F9ED20E1A3D}"/>
              </a:ext>
            </a:extLst>
          </p:cNvPr>
          <p:cNvSpPr txBox="1">
            <a:spLocks noChangeArrowheads="1"/>
          </p:cNvSpPr>
          <p:nvPr/>
        </p:nvSpPr>
        <p:spPr bwMode="auto">
          <a:xfrm>
            <a:off x="6607175" y="4217988"/>
            <a:ext cx="3238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25670" name="TextBox 34">
            <a:extLst>
              <a:ext uri="{FF2B5EF4-FFF2-40B4-BE49-F238E27FC236}">
                <a16:creationId xmlns:a16="http://schemas.microsoft.com/office/drawing/2014/main" id="{F522D609-F91E-2603-7104-C11F84325B61}"/>
              </a:ext>
            </a:extLst>
          </p:cNvPr>
          <p:cNvSpPr txBox="1">
            <a:spLocks noChangeArrowheads="1"/>
          </p:cNvSpPr>
          <p:nvPr/>
        </p:nvSpPr>
        <p:spPr bwMode="auto">
          <a:xfrm>
            <a:off x="4329113" y="1416050"/>
            <a:ext cx="222091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71" name="TextBox 35">
            <a:extLst>
              <a:ext uri="{FF2B5EF4-FFF2-40B4-BE49-F238E27FC236}">
                <a16:creationId xmlns:a16="http://schemas.microsoft.com/office/drawing/2014/main" id="{8E5E6845-5E00-7C8B-075C-8A3C71556E32}"/>
              </a:ext>
            </a:extLst>
          </p:cNvPr>
          <p:cNvSpPr txBox="1">
            <a:spLocks noChangeArrowheads="1"/>
          </p:cNvSpPr>
          <p:nvPr/>
        </p:nvSpPr>
        <p:spPr bwMode="auto">
          <a:xfrm>
            <a:off x="4324350" y="1701800"/>
            <a:ext cx="223202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72" name="TextBox 36">
            <a:extLst>
              <a:ext uri="{FF2B5EF4-FFF2-40B4-BE49-F238E27FC236}">
                <a16:creationId xmlns:a16="http://schemas.microsoft.com/office/drawing/2014/main" id="{659A3AEA-0B3C-7122-18B2-6004E2E401C6}"/>
              </a:ext>
            </a:extLst>
          </p:cNvPr>
          <p:cNvSpPr txBox="1">
            <a:spLocks noChangeArrowheads="1"/>
          </p:cNvSpPr>
          <p:nvPr/>
        </p:nvSpPr>
        <p:spPr bwMode="auto">
          <a:xfrm>
            <a:off x="4329113" y="1997075"/>
            <a:ext cx="222091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73" name="TextBox 37">
            <a:extLst>
              <a:ext uri="{FF2B5EF4-FFF2-40B4-BE49-F238E27FC236}">
                <a16:creationId xmlns:a16="http://schemas.microsoft.com/office/drawing/2014/main" id="{B92D8F16-9865-8975-92D2-ECCF373105CA}"/>
              </a:ext>
            </a:extLst>
          </p:cNvPr>
          <p:cNvSpPr txBox="1">
            <a:spLocks noChangeArrowheads="1"/>
          </p:cNvSpPr>
          <p:nvPr/>
        </p:nvSpPr>
        <p:spPr bwMode="auto">
          <a:xfrm>
            <a:off x="4329113" y="2339975"/>
            <a:ext cx="222091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74" name="TextBox 38">
            <a:extLst>
              <a:ext uri="{FF2B5EF4-FFF2-40B4-BE49-F238E27FC236}">
                <a16:creationId xmlns:a16="http://schemas.microsoft.com/office/drawing/2014/main" id="{7A4BD496-8D48-D29C-7D0D-233B9C391A08}"/>
              </a:ext>
            </a:extLst>
          </p:cNvPr>
          <p:cNvSpPr txBox="1">
            <a:spLocks noChangeArrowheads="1"/>
          </p:cNvSpPr>
          <p:nvPr/>
        </p:nvSpPr>
        <p:spPr bwMode="auto">
          <a:xfrm>
            <a:off x="4324350" y="2635250"/>
            <a:ext cx="223202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75" name="TextBox 39">
            <a:extLst>
              <a:ext uri="{FF2B5EF4-FFF2-40B4-BE49-F238E27FC236}">
                <a16:creationId xmlns:a16="http://schemas.microsoft.com/office/drawing/2014/main" id="{0D081D95-72F8-4B9E-00AA-16841160281E}"/>
              </a:ext>
            </a:extLst>
          </p:cNvPr>
          <p:cNvSpPr txBox="1">
            <a:spLocks noChangeArrowheads="1"/>
          </p:cNvSpPr>
          <p:nvPr/>
        </p:nvSpPr>
        <p:spPr bwMode="auto">
          <a:xfrm>
            <a:off x="4329113" y="2954338"/>
            <a:ext cx="2220912"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76" name="TextBox 40">
            <a:extLst>
              <a:ext uri="{FF2B5EF4-FFF2-40B4-BE49-F238E27FC236}">
                <a16:creationId xmlns:a16="http://schemas.microsoft.com/office/drawing/2014/main" id="{1B7B72F6-E768-22B4-5012-04A25B679F26}"/>
              </a:ext>
            </a:extLst>
          </p:cNvPr>
          <p:cNvSpPr txBox="1">
            <a:spLocks noChangeArrowheads="1"/>
          </p:cNvSpPr>
          <p:nvPr/>
        </p:nvSpPr>
        <p:spPr bwMode="auto">
          <a:xfrm>
            <a:off x="4310063" y="3281363"/>
            <a:ext cx="2220912"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77" name="TextBox 41">
            <a:extLst>
              <a:ext uri="{FF2B5EF4-FFF2-40B4-BE49-F238E27FC236}">
                <a16:creationId xmlns:a16="http://schemas.microsoft.com/office/drawing/2014/main" id="{1CF55934-79D8-DCD5-4879-B832BBB2981B}"/>
              </a:ext>
            </a:extLst>
          </p:cNvPr>
          <p:cNvSpPr txBox="1">
            <a:spLocks noChangeArrowheads="1"/>
          </p:cNvSpPr>
          <p:nvPr/>
        </p:nvSpPr>
        <p:spPr bwMode="auto">
          <a:xfrm>
            <a:off x="4329113" y="3556000"/>
            <a:ext cx="2220912"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78" name="TextBox 41">
            <a:extLst>
              <a:ext uri="{FF2B5EF4-FFF2-40B4-BE49-F238E27FC236}">
                <a16:creationId xmlns:a16="http://schemas.microsoft.com/office/drawing/2014/main" id="{663477AB-5FBA-5B0C-0259-BFEEFA3DD7C5}"/>
              </a:ext>
            </a:extLst>
          </p:cNvPr>
          <p:cNvSpPr txBox="1">
            <a:spLocks noChangeArrowheads="1"/>
          </p:cNvSpPr>
          <p:nvPr/>
        </p:nvSpPr>
        <p:spPr bwMode="auto">
          <a:xfrm>
            <a:off x="4329113" y="3859213"/>
            <a:ext cx="2220912"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79" name="TextBox 42">
            <a:extLst>
              <a:ext uri="{FF2B5EF4-FFF2-40B4-BE49-F238E27FC236}">
                <a16:creationId xmlns:a16="http://schemas.microsoft.com/office/drawing/2014/main" id="{0356631B-2C84-65DC-D867-986EE32A0570}"/>
              </a:ext>
            </a:extLst>
          </p:cNvPr>
          <p:cNvSpPr txBox="1">
            <a:spLocks noChangeArrowheads="1"/>
          </p:cNvSpPr>
          <p:nvPr/>
        </p:nvSpPr>
        <p:spPr bwMode="auto">
          <a:xfrm>
            <a:off x="4651375" y="4217988"/>
            <a:ext cx="1916113"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r>
              <a:rPr lang="en-US" altLang="en-US" sz="1200" b="1">
                <a:solidFill>
                  <a:srgbClr val="00274D"/>
                </a:solidFill>
                <a:ea typeface="Corbel" panose="020B0503020204020204" pitchFamily="34" charset="0"/>
                <a:cs typeface="Corbel" panose="020B0503020204020204" pitchFamily="34" charset="0"/>
              </a:rPr>
              <a:t>Total Adv. Investment</a:t>
            </a:r>
          </a:p>
        </p:txBody>
      </p:sp>
      <p:sp>
        <p:nvSpPr>
          <p:cNvPr id="25680" name="TextBox 34">
            <a:extLst>
              <a:ext uri="{FF2B5EF4-FFF2-40B4-BE49-F238E27FC236}">
                <a16:creationId xmlns:a16="http://schemas.microsoft.com/office/drawing/2014/main" id="{BFFC44C1-B030-B836-BC43-0D89EBD88940}"/>
              </a:ext>
            </a:extLst>
          </p:cNvPr>
          <p:cNvSpPr txBox="1">
            <a:spLocks noChangeArrowheads="1"/>
          </p:cNvSpPr>
          <p:nvPr/>
        </p:nvSpPr>
        <p:spPr bwMode="auto">
          <a:xfrm>
            <a:off x="231775" y="1416050"/>
            <a:ext cx="1974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81" name="TextBox 35">
            <a:extLst>
              <a:ext uri="{FF2B5EF4-FFF2-40B4-BE49-F238E27FC236}">
                <a16:creationId xmlns:a16="http://schemas.microsoft.com/office/drawing/2014/main" id="{B7690D1C-573F-B774-58D5-1D671A1F5AB8}"/>
              </a:ext>
            </a:extLst>
          </p:cNvPr>
          <p:cNvSpPr txBox="1">
            <a:spLocks noChangeArrowheads="1"/>
          </p:cNvSpPr>
          <p:nvPr/>
        </p:nvSpPr>
        <p:spPr bwMode="auto">
          <a:xfrm>
            <a:off x="228600" y="1701800"/>
            <a:ext cx="19843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82" name="TextBox 36">
            <a:extLst>
              <a:ext uri="{FF2B5EF4-FFF2-40B4-BE49-F238E27FC236}">
                <a16:creationId xmlns:a16="http://schemas.microsoft.com/office/drawing/2014/main" id="{1082C9DA-7DB8-EDB0-9FFD-2B7070CEC5AB}"/>
              </a:ext>
            </a:extLst>
          </p:cNvPr>
          <p:cNvSpPr txBox="1">
            <a:spLocks noChangeArrowheads="1"/>
          </p:cNvSpPr>
          <p:nvPr/>
        </p:nvSpPr>
        <p:spPr bwMode="auto">
          <a:xfrm>
            <a:off x="231775" y="1997075"/>
            <a:ext cx="1974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83" name="TextBox 37">
            <a:extLst>
              <a:ext uri="{FF2B5EF4-FFF2-40B4-BE49-F238E27FC236}">
                <a16:creationId xmlns:a16="http://schemas.microsoft.com/office/drawing/2014/main" id="{2E91C1BE-72CD-42F4-14D7-E071634143DA}"/>
              </a:ext>
            </a:extLst>
          </p:cNvPr>
          <p:cNvSpPr txBox="1">
            <a:spLocks noChangeArrowheads="1"/>
          </p:cNvSpPr>
          <p:nvPr/>
        </p:nvSpPr>
        <p:spPr bwMode="auto">
          <a:xfrm>
            <a:off x="231775" y="2339975"/>
            <a:ext cx="1974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84" name="TextBox 38">
            <a:extLst>
              <a:ext uri="{FF2B5EF4-FFF2-40B4-BE49-F238E27FC236}">
                <a16:creationId xmlns:a16="http://schemas.microsoft.com/office/drawing/2014/main" id="{5C2C1D83-BDED-08AE-11E8-B8DC24068A78}"/>
              </a:ext>
            </a:extLst>
          </p:cNvPr>
          <p:cNvSpPr txBox="1">
            <a:spLocks noChangeArrowheads="1"/>
          </p:cNvSpPr>
          <p:nvPr/>
        </p:nvSpPr>
        <p:spPr bwMode="auto">
          <a:xfrm>
            <a:off x="228600" y="2635250"/>
            <a:ext cx="19843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85" name="TextBox 39">
            <a:extLst>
              <a:ext uri="{FF2B5EF4-FFF2-40B4-BE49-F238E27FC236}">
                <a16:creationId xmlns:a16="http://schemas.microsoft.com/office/drawing/2014/main" id="{ECBD0AF6-1DB3-0CE7-B2B7-F251DCE06C92}"/>
              </a:ext>
            </a:extLst>
          </p:cNvPr>
          <p:cNvSpPr txBox="1">
            <a:spLocks noChangeArrowheads="1"/>
          </p:cNvSpPr>
          <p:nvPr/>
        </p:nvSpPr>
        <p:spPr bwMode="auto">
          <a:xfrm>
            <a:off x="231775" y="2954338"/>
            <a:ext cx="19748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86" name="TextBox 40">
            <a:extLst>
              <a:ext uri="{FF2B5EF4-FFF2-40B4-BE49-F238E27FC236}">
                <a16:creationId xmlns:a16="http://schemas.microsoft.com/office/drawing/2014/main" id="{3EF5CEEF-4E06-A0D6-6301-FC1E0CBC7EDD}"/>
              </a:ext>
            </a:extLst>
          </p:cNvPr>
          <p:cNvSpPr txBox="1">
            <a:spLocks noChangeArrowheads="1"/>
          </p:cNvSpPr>
          <p:nvPr/>
        </p:nvSpPr>
        <p:spPr bwMode="auto">
          <a:xfrm>
            <a:off x="231775" y="3254375"/>
            <a:ext cx="1974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87" name="TextBox 41">
            <a:extLst>
              <a:ext uri="{FF2B5EF4-FFF2-40B4-BE49-F238E27FC236}">
                <a16:creationId xmlns:a16="http://schemas.microsoft.com/office/drawing/2014/main" id="{7291D084-A989-4489-C5A9-8D6E3EA286C9}"/>
              </a:ext>
            </a:extLst>
          </p:cNvPr>
          <p:cNvSpPr txBox="1">
            <a:spLocks noChangeArrowheads="1"/>
          </p:cNvSpPr>
          <p:nvPr/>
        </p:nvSpPr>
        <p:spPr bwMode="auto">
          <a:xfrm>
            <a:off x="231775" y="3556000"/>
            <a:ext cx="1974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88" name="TextBox 41">
            <a:extLst>
              <a:ext uri="{FF2B5EF4-FFF2-40B4-BE49-F238E27FC236}">
                <a16:creationId xmlns:a16="http://schemas.microsoft.com/office/drawing/2014/main" id="{48EE2650-B4FA-E074-9BA8-D77718B73C8E}"/>
              </a:ext>
            </a:extLst>
          </p:cNvPr>
          <p:cNvSpPr txBox="1">
            <a:spLocks noChangeArrowheads="1"/>
          </p:cNvSpPr>
          <p:nvPr/>
        </p:nvSpPr>
        <p:spPr bwMode="auto">
          <a:xfrm>
            <a:off x="231775" y="3859213"/>
            <a:ext cx="19748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25689" name="Slide Number Placeholder 4">
            <a:extLst>
              <a:ext uri="{FF2B5EF4-FFF2-40B4-BE49-F238E27FC236}">
                <a16:creationId xmlns:a16="http://schemas.microsoft.com/office/drawing/2014/main" id="{3FE88614-FD39-93B5-27BD-E1D37F251032}"/>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676688C1-4820-4F3F-9F6D-510226622425}"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7</a:t>
            </a:fld>
            <a:endParaRPr lang="en-US" altLang="en-US" sz="1100">
              <a:solidFill>
                <a:schemeClr val="bg1"/>
              </a:solidFill>
              <a:ea typeface="Corbel" panose="020B0503020204020204" pitchFamily="34" charset="0"/>
              <a:cs typeface="Corbel" panose="020B0503020204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6">
            <a:extLst>
              <a:ext uri="{FF2B5EF4-FFF2-40B4-BE49-F238E27FC236}">
                <a16:creationId xmlns:a16="http://schemas.microsoft.com/office/drawing/2014/main" id="{02F5BCD8-FBEA-46A5-D120-6919F894AB59}"/>
              </a:ext>
            </a:extLst>
          </p:cNvPr>
          <p:cNvSpPr txBox="1">
            <a:spLocks noChangeArrowheads="1"/>
          </p:cNvSpPr>
          <p:nvPr/>
        </p:nvSpPr>
        <p:spPr bwMode="auto">
          <a:xfrm>
            <a:off x="990600" y="5964238"/>
            <a:ext cx="347186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Total Advertising Investment (TAI):</a:t>
            </a:r>
          </a:p>
        </p:txBody>
      </p:sp>
      <p:sp>
        <p:nvSpPr>
          <p:cNvPr id="26627" name="TextBox 7">
            <a:extLst>
              <a:ext uri="{FF2B5EF4-FFF2-40B4-BE49-F238E27FC236}">
                <a16:creationId xmlns:a16="http://schemas.microsoft.com/office/drawing/2014/main" id="{455CB345-4CA9-F1B4-C586-5238C80CBA31}"/>
              </a:ext>
            </a:extLst>
          </p:cNvPr>
          <p:cNvSpPr txBox="1">
            <a:spLocks noChangeArrowheads="1"/>
          </p:cNvSpPr>
          <p:nvPr/>
        </p:nvSpPr>
        <p:spPr bwMode="auto">
          <a:xfrm>
            <a:off x="5715000" y="5964238"/>
            <a:ext cx="28797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
        <p:nvSpPr>
          <p:cNvPr id="26628" name="Slide Number Placeholder 4">
            <a:extLst>
              <a:ext uri="{FF2B5EF4-FFF2-40B4-BE49-F238E27FC236}">
                <a16:creationId xmlns:a16="http://schemas.microsoft.com/office/drawing/2014/main" id="{8ABE26D8-4C70-5C61-6D57-3381712D6300}"/>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77D1744C-D288-4E72-8420-5C38EB768425}"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8</a:t>
            </a:fld>
            <a:endParaRPr lang="en-US" altLang="en-US" sz="1100">
              <a:solidFill>
                <a:schemeClr val="bg1"/>
              </a:solidFill>
              <a:ea typeface="Corbel" panose="020B0503020204020204" pitchFamily="34" charset="0"/>
              <a:cs typeface="Corbel" panose="020B0503020204020204" pitchFamily="34" charset="0"/>
            </a:endParaRPr>
          </a:p>
        </p:txBody>
      </p:sp>
      <p:sp>
        <p:nvSpPr>
          <p:cNvPr id="26629" name="Rectangle 1">
            <a:extLst>
              <a:ext uri="{FF2B5EF4-FFF2-40B4-BE49-F238E27FC236}">
                <a16:creationId xmlns:a16="http://schemas.microsoft.com/office/drawing/2014/main" id="{6944329B-1ABF-0084-EE55-8D354C572B4A}"/>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Previous Year’s Media Allocation</a:t>
            </a:r>
          </a:p>
        </p:txBody>
      </p:sp>
      <p:graphicFrame>
        <p:nvGraphicFramePr>
          <p:cNvPr id="26630" name="Chart 5">
            <a:extLst>
              <a:ext uri="{FF2B5EF4-FFF2-40B4-BE49-F238E27FC236}">
                <a16:creationId xmlns:a16="http://schemas.microsoft.com/office/drawing/2014/main" id="{7D9F4894-120F-6906-4696-6C4112A91601}"/>
              </a:ext>
            </a:extLst>
          </p:cNvPr>
          <p:cNvGraphicFramePr>
            <a:graphicFrameLocks/>
          </p:cNvGraphicFramePr>
          <p:nvPr/>
        </p:nvGraphicFramePr>
        <p:xfrm>
          <a:off x="-9525" y="1352550"/>
          <a:ext cx="8591550" cy="4665663"/>
        </p:xfrm>
        <a:graphic>
          <a:graphicData uri="http://schemas.openxmlformats.org/presentationml/2006/ole">
            <mc:AlternateContent xmlns:mc="http://schemas.openxmlformats.org/markup-compatibility/2006">
              <mc:Choice xmlns:v="urn:schemas-microsoft-com:vml" Requires="v">
                <p:oleObj name="Chart" r:id="rId3" imgW="7454952" imgH="4051208" progId="Excel.Chart.8">
                  <p:embed/>
                </p:oleObj>
              </mc:Choice>
              <mc:Fallback>
                <p:oleObj name="Chart" r:id="rId3" imgW="7454952" imgH="4051208" progId="Excel.Chart.8">
                  <p:embed/>
                  <p:pic>
                    <p:nvPicPr>
                      <p:cNvPr id="0" name="Char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 y="1352550"/>
                        <a:ext cx="8591550" cy="466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6">
            <a:extLst>
              <a:ext uri="{FF2B5EF4-FFF2-40B4-BE49-F238E27FC236}">
                <a16:creationId xmlns:a16="http://schemas.microsoft.com/office/drawing/2014/main" id="{CB9BBBCA-2B8F-845A-6D2D-F756B159D90D}"/>
              </a:ext>
            </a:extLst>
          </p:cNvPr>
          <p:cNvSpPr txBox="1">
            <a:spLocks noChangeArrowheads="1"/>
          </p:cNvSpPr>
          <p:nvPr/>
        </p:nvSpPr>
        <p:spPr bwMode="auto">
          <a:xfrm>
            <a:off x="990600" y="5964238"/>
            <a:ext cx="347186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Total Advertising Investment (TAI):</a:t>
            </a:r>
          </a:p>
        </p:txBody>
      </p:sp>
      <p:sp>
        <p:nvSpPr>
          <p:cNvPr id="28675" name="TextBox 7">
            <a:extLst>
              <a:ext uri="{FF2B5EF4-FFF2-40B4-BE49-F238E27FC236}">
                <a16:creationId xmlns:a16="http://schemas.microsoft.com/office/drawing/2014/main" id="{B04EEEE4-80AE-7335-9496-6073B0829D3F}"/>
              </a:ext>
            </a:extLst>
          </p:cNvPr>
          <p:cNvSpPr txBox="1">
            <a:spLocks noChangeArrowheads="1"/>
          </p:cNvSpPr>
          <p:nvPr/>
        </p:nvSpPr>
        <p:spPr bwMode="auto">
          <a:xfrm>
            <a:off x="5715000" y="5964238"/>
            <a:ext cx="28797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
        <p:nvSpPr>
          <p:cNvPr id="28676" name="Slide Number Placeholder 4">
            <a:extLst>
              <a:ext uri="{FF2B5EF4-FFF2-40B4-BE49-F238E27FC236}">
                <a16:creationId xmlns:a16="http://schemas.microsoft.com/office/drawing/2014/main" id="{71419689-58EB-BA4A-19B3-77230312A8E1}"/>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E14BDF03-0179-4EFB-9445-25F984C2C640}"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9</a:t>
            </a:fld>
            <a:endParaRPr lang="en-US" altLang="en-US" sz="1100">
              <a:solidFill>
                <a:schemeClr val="bg1"/>
              </a:solidFill>
              <a:ea typeface="Corbel" panose="020B0503020204020204" pitchFamily="34" charset="0"/>
              <a:cs typeface="Corbel" panose="020B0503020204020204" pitchFamily="34" charset="0"/>
            </a:endParaRPr>
          </a:p>
        </p:txBody>
      </p:sp>
      <p:sp>
        <p:nvSpPr>
          <p:cNvPr id="28677" name="Rectangle 1">
            <a:extLst>
              <a:ext uri="{FF2B5EF4-FFF2-40B4-BE49-F238E27FC236}">
                <a16:creationId xmlns:a16="http://schemas.microsoft.com/office/drawing/2014/main" id="{D2FB7492-5692-D499-BB0B-E3BD82E6FB4C}"/>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12294A"/>
                </a:solidFill>
                <a:ea typeface="Corbel" panose="020B0503020204020204" pitchFamily="34" charset="0"/>
                <a:cs typeface="Corbel" panose="020B0503020204020204" pitchFamily="34" charset="0"/>
              </a:rPr>
              <a:t>Proposed 12 Month Media Allocation</a:t>
            </a:r>
          </a:p>
        </p:txBody>
      </p:sp>
      <p:graphicFrame>
        <p:nvGraphicFramePr>
          <p:cNvPr id="28678" name="Chart 5">
            <a:extLst>
              <a:ext uri="{FF2B5EF4-FFF2-40B4-BE49-F238E27FC236}">
                <a16:creationId xmlns:a16="http://schemas.microsoft.com/office/drawing/2014/main" id="{D920DC9F-7307-5371-317F-BC270138E4FF}"/>
              </a:ext>
            </a:extLst>
          </p:cNvPr>
          <p:cNvGraphicFramePr>
            <a:graphicFrameLocks/>
          </p:cNvGraphicFramePr>
          <p:nvPr/>
        </p:nvGraphicFramePr>
        <p:xfrm>
          <a:off x="-9525" y="1352550"/>
          <a:ext cx="8591550" cy="4665663"/>
        </p:xfrm>
        <a:graphic>
          <a:graphicData uri="http://schemas.openxmlformats.org/presentationml/2006/ole">
            <mc:AlternateContent xmlns:mc="http://schemas.openxmlformats.org/markup-compatibility/2006">
              <mc:Choice xmlns:v="urn:schemas-microsoft-com:vml" Requires="v">
                <p:oleObj name="Chart" r:id="rId3" imgW="7454952" imgH="4051208" progId="Excel.Chart.8">
                  <p:embed/>
                </p:oleObj>
              </mc:Choice>
              <mc:Fallback>
                <p:oleObj name="Chart" r:id="rId3" imgW="7454952" imgH="4051208" progId="Excel.Chart.8">
                  <p:embed/>
                  <p:pic>
                    <p:nvPicPr>
                      <p:cNvPr id="0" name="Char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5" y="1352550"/>
                        <a:ext cx="8591550" cy="466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10">
            <a:extLst>
              <a:ext uri="{FF2B5EF4-FFF2-40B4-BE49-F238E27FC236}">
                <a16:creationId xmlns:a16="http://schemas.microsoft.com/office/drawing/2014/main" id="{C7A2C619-2643-4AE4-D439-E67B8D1B2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23" t="1784" r="923" b="1421"/>
          <a:stretch>
            <a:fillRect/>
          </a:stretch>
        </p:blipFill>
        <p:spPr bwMode="auto">
          <a:xfrm>
            <a:off x="608013" y="1676400"/>
            <a:ext cx="7927975" cy="4278313"/>
          </a:xfrm>
          <a:prstGeom prst="rect">
            <a:avLst/>
          </a:prstGeom>
          <a:noFill/>
          <a:ln w="9525">
            <a:solidFill>
              <a:srgbClr val="00274D"/>
            </a:solidFill>
            <a:miter lim="800000"/>
            <a:headEnd/>
            <a:tailEnd/>
          </a:ln>
          <a:extLst>
            <a:ext uri="{909E8E84-426E-40DD-AFC4-6F175D3DCCD1}">
              <a14:hiddenFill xmlns:a14="http://schemas.microsoft.com/office/drawing/2010/main">
                <a:solidFill>
                  <a:srgbClr val="FFFFFF"/>
                </a:solidFill>
              </a14:hiddenFill>
            </a:ext>
          </a:extLst>
        </p:spPr>
      </p:pic>
      <p:sp>
        <p:nvSpPr>
          <p:cNvPr id="30723" name="Text Box 13">
            <a:extLst>
              <a:ext uri="{FF2B5EF4-FFF2-40B4-BE49-F238E27FC236}">
                <a16:creationId xmlns:a16="http://schemas.microsoft.com/office/drawing/2014/main" id="{8B82D7ED-D338-D470-8392-61B98AA15ABA}"/>
              </a:ext>
            </a:extLst>
          </p:cNvPr>
          <p:cNvSpPr txBox="1">
            <a:spLocks noChangeArrowheads="1"/>
          </p:cNvSpPr>
          <p:nvPr/>
        </p:nvSpPr>
        <p:spPr bwMode="auto">
          <a:xfrm>
            <a:off x="750888" y="1757363"/>
            <a:ext cx="7642225" cy="4037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300">
                <a:solidFill>
                  <a:srgbClr val="00274D"/>
                </a:solidFill>
                <a:ea typeface="Corbel" panose="020B0503020204020204" pitchFamily="34" charset="0"/>
                <a:cs typeface="Corbel" panose="020B0503020204020204" pitchFamily="34" charset="0"/>
              </a:rPr>
              <a:t>Replace this text with station/consumer information and/or customized research.</a:t>
            </a: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p:txBody>
      </p:sp>
      <p:sp>
        <p:nvSpPr>
          <p:cNvPr id="30724" name="Rectangle 1">
            <a:extLst>
              <a:ext uri="{FF2B5EF4-FFF2-40B4-BE49-F238E27FC236}">
                <a16:creationId xmlns:a16="http://schemas.microsoft.com/office/drawing/2014/main" id="{AD2FB298-B4DE-2929-5F22-E3CACC6CBCE2}"/>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Profile of Consumers</a:t>
            </a:r>
          </a:p>
        </p:txBody>
      </p:sp>
      <p:sp>
        <p:nvSpPr>
          <p:cNvPr id="30725" name="Slide Number Placeholder 4">
            <a:extLst>
              <a:ext uri="{FF2B5EF4-FFF2-40B4-BE49-F238E27FC236}">
                <a16:creationId xmlns:a16="http://schemas.microsoft.com/office/drawing/2014/main" id="{46FA04EA-A82F-6B4A-0236-44B54A52FE80}"/>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AC7B9D18-EB69-4A51-82F0-E1CC13F351DD}"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10</a:t>
            </a:fld>
            <a:endParaRPr lang="en-US" altLang="en-US" sz="1100">
              <a:solidFill>
                <a:schemeClr val="bg1"/>
              </a:solidFill>
              <a:ea typeface="Corbel" panose="020B0503020204020204" pitchFamily="34" charset="0"/>
              <a:cs typeface="Corbel" panose="020B0503020204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10">
            <a:extLst>
              <a:ext uri="{FF2B5EF4-FFF2-40B4-BE49-F238E27FC236}">
                <a16:creationId xmlns:a16="http://schemas.microsoft.com/office/drawing/2014/main" id="{6E98E3A5-25B8-2F82-1139-36A0643AB1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23" t="1784" r="923" b="1421"/>
          <a:stretch>
            <a:fillRect/>
          </a:stretch>
        </p:blipFill>
        <p:spPr bwMode="auto">
          <a:xfrm>
            <a:off x="608013" y="1676400"/>
            <a:ext cx="7927975" cy="4278313"/>
          </a:xfrm>
          <a:prstGeom prst="rect">
            <a:avLst/>
          </a:prstGeom>
          <a:noFill/>
          <a:ln w="9525">
            <a:solidFill>
              <a:srgbClr val="00274D"/>
            </a:solidFill>
            <a:miter lim="800000"/>
            <a:headEnd/>
            <a:tailEnd/>
          </a:ln>
          <a:extLst>
            <a:ext uri="{909E8E84-426E-40DD-AFC4-6F175D3DCCD1}">
              <a14:hiddenFill xmlns:a14="http://schemas.microsoft.com/office/drawing/2010/main">
                <a:solidFill>
                  <a:srgbClr val="FFFFFF"/>
                </a:solidFill>
              </a14:hiddenFill>
            </a:ext>
          </a:extLst>
        </p:spPr>
      </p:pic>
      <p:sp>
        <p:nvSpPr>
          <p:cNvPr id="32771" name="Text Box 13">
            <a:extLst>
              <a:ext uri="{FF2B5EF4-FFF2-40B4-BE49-F238E27FC236}">
                <a16:creationId xmlns:a16="http://schemas.microsoft.com/office/drawing/2014/main" id="{4AD041F7-E3C1-3480-D652-81B43F4C74E1}"/>
              </a:ext>
            </a:extLst>
          </p:cNvPr>
          <p:cNvSpPr txBox="1">
            <a:spLocks noChangeArrowheads="1"/>
          </p:cNvSpPr>
          <p:nvPr/>
        </p:nvSpPr>
        <p:spPr bwMode="auto">
          <a:xfrm>
            <a:off x="750888" y="1757363"/>
            <a:ext cx="7642225"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300">
                <a:solidFill>
                  <a:srgbClr val="00274D"/>
                </a:solidFill>
                <a:ea typeface="Corbel" panose="020B0503020204020204" pitchFamily="34" charset="0"/>
                <a:cs typeface="Corbel" panose="020B0503020204020204" pitchFamily="34" charset="0"/>
              </a:rPr>
              <a:t>Replace this text with your creative strategies.</a:t>
            </a:r>
            <a:endParaRPr lang="en-US" altLang="en-US" sz="13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p:txBody>
      </p:sp>
      <p:sp>
        <p:nvSpPr>
          <p:cNvPr id="32772" name="Rectangle 1">
            <a:extLst>
              <a:ext uri="{FF2B5EF4-FFF2-40B4-BE49-F238E27FC236}">
                <a16:creationId xmlns:a16="http://schemas.microsoft.com/office/drawing/2014/main" id="{A5F17627-21AF-220C-8B99-2A95A4A6E382}"/>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Marketing Strategies</a:t>
            </a:r>
          </a:p>
        </p:txBody>
      </p:sp>
      <p:sp>
        <p:nvSpPr>
          <p:cNvPr id="32773" name="Slide Number Placeholder 4">
            <a:extLst>
              <a:ext uri="{FF2B5EF4-FFF2-40B4-BE49-F238E27FC236}">
                <a16:creationId xmlns:a16="http://schemas.microsoft.com/office/drawing/2014/main" id="{1791ED05-E7C5-C567-CFFE-0F6424BDB753}"/>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845EDD31-95FD-4CCA-9587-6A8F03E2E352}"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11</a:t>
            </a:fld>
            <a:endParaRPr lang="en-US" altLang="en-US" sz="1100">
              <a:solidFill>
                <a:schemeClr val="bg1"/>
              </a:solidFill>
              <a:ea typeface="Corbel" panose="020B0503020204020204" pitchFamily="34" charset="0"/>
              <a:cs typeface="Corbel" panose="020B0503020204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DB78A-01B6-A549-9826-C21A163E646E}"/>
            </a:ext>
          </a:extLst>
        </p:cNvPr>
        <p:cNvGrpSpPr/>
        <p:nvPr/>
      </p:nvGrpSpPr>
      <p:grpSpPr>
        <a:xfrm>
          <a:off x="0" y="0"/>
          <a:ext cx="0" cy="0"/>
          <a:chOff x="0" y="0"/>
          <a:chExt cx="0" cy="0"/>
        </a:xfrm>
      </p:grpSpPr>
      <p:sp>
        <p:nvSpPr>
          <p:cNvPr id="18434" name="Rectangle 1">
            <a:extLst>
              <a:ext uri="{FF2B5EF4-FFF2-40B4-BE49-F238E27FC236}">
                <a16:creationId xmlns:a16="http://schemas.microsoft.com/office/drawing/2014/main" id="{E25DCDD4-A107-4C0C-394E-A2855A6BAE0A}"/>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4000" b="1">
                <a:solidFill>
                  <a:srgbClr val="00274D"/>
                </a:solidFill>
                <a:ea typeface="Corbel" panose="020B0503020204020204" pitchFamily="34" charset="0"/>
                <a:cs typeface="Corbel" panose="020B0503020204020204" pitchFamily="34" charset="0"/>
              </a:rPr>
              <a:t>Creative Concepts I</a:t>
            </a:r>
          </a:p>
        </p:txBody>
      </p:sp>
      <p:sp>
        <p:nvSpPr>
          <p:cNvPr id="18435" name="Text Box 9">
            <a:extLst>
              <a:ext uri="{FF2B5EF4-FFF2-40B4-BE49-F238E27FC236}">
                <a16:creationId xmlns:a16="http://schemas.microsoft.com/office/drawing/2014/main" id="{C8EF03D8-79D8-6D3E-F4BC-4A3CBC664A01}"/>
              </a:ext>
            </a:extLst>
          </p:cNvPr>
          <p:cNvSpPr txBox="1">
            <a:spLocks noChangeArrowheads="1"/>
          </p:cNvSpPr>
          <p:nvPr/>
        </p:nvSpPr>
        <p:spPr bwMode="auto">
          <a:xfrm>
            <a:off x="609600" y="1295400"/>
            <a:ext cx="30321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nSpc>
                <a:spcPct val="95000"/>
              </a:lnSpc>
            </a:pPr>
            <a:r>
              <a:rPr lang="en-US" altLang="en-US" sz="2000">
                <a:solidFill>
                  <a:srgbClr val="00274D"/>
                </a:solidFill>
                <a:ea typeface="Corbel" panose="020B0503020204020204" pitchFamily="34" charset="0"/>
                <a:cs typeface="Corbel" panose="020B0503020204020204" pitchFamily="34" charset="0"/>
              </a:rPr>
              <a:t>Title:</a:t>
            </a:r>
            <a:endParaRPr lang="en-US" altLang="en-US">
              <a:solidFill>
                <a:srgbClr val="00274D"/>
              </a:solidFill>
              <a:ea typeface="Corbel" panose="020B0503020204020204" pitchFamily="34" charset="0"/>
              <a:cs typeface="Corbel" panose="020B0503020204020204" pitchFamily="34" charset="0"/>
            </a:endParaRPr>
          </a:p>
          <a:p>
            <a:pPr>
              <a:lnSpc>
                <a:spcPct val="95000"/>
              </a:lnSpc>
            </a:pPr>
            <a:r>
              <a:rPr lang="en-US" altLang="en-US" sz="2000">
                <a:solidFill>
                  <a:srgbClr val="00274D"/>
                </a:solidFill>
                <a:ea typeface="Corbel" panose="020B0503020204020204" pitchFamily="34" charset="0"/>
                <a:cs typeface="Corbel" panose="020B0503020204020204" pitchFamily="34" charset="0"/>
              </a:rPr>
              <a:t>Length: </a:t>
            </a:r>
          </a:p>
        </p:txBody>
      </p:sp>
      <p:grpSp>
        <p:nvGrpSpPr>
          <p:cNvPr id="18436" name="Group 2">
            <a:extLst>
              <a:ext uri="{FF2B5EF4-FFF2-40B4-BE49-F238E27FC236}">
                <a16:creationId xmlns:a16="http://schemas.microsoft.com/office/drawing/2014/main" id="{213E50A7-49DA-37FC-6030-6201C82C2E64}"/>
              </a:ext>
            </a:extLst>
          </p:cNvPr>
          <p:cNvGrpSpPr>
            <a:grpSpLocks/>
          </p:cNvGrpSpPr>
          <p:nvPr/>
        </p:nvGrpSpPr>
        <p:grpSpPr bwMode="auto">
          <a:xfrm>
            <a:off x="457200" y="2074863"/>
            <a:ext cx="3963988" cy="4267200"/>
            <a:chOff x="608263" y="2057400"/>
            <a:chExt cx="3963737" cy="4267200"/>
          </a:xfrm>
        </p:grpSpPr>
        <p:pic>
          <p:nvPicPr>
            <p:cNvPr id="18442" name="Picture 10">
              <a:extLst>
                <a:ext uri="{FF2B5EF4-FFF2-40B4-BE49-F238E27FC236}">
                  <a16:creationId xmlns:a16="http://schemas.microsoft.com/office/drawing/2014/main" id="{99F61802-45D9-1475-63B4-60EDE00887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23" t="1784" r="923" b="1421"/>
            <a:stretch>
              <a:fillRect/>
            </a:stretch>
          </p:blipFill>
          <p:spPr bwMode="auto">
            <a:xfrm>
              <a:off x="608263" y="2438400"/>
              <a:ext cx="3963737" cy="3886200"/>
            </a:xfrm>
            <a:prstGeom prst="rect">
              <a:avLst/>
            </a:prstGeom>
            <a:noFill/>
            <a:ln w="9525">
              <a:solidFill>
                <a:srgbClr val="00274D"/>
              </a:solidFill>
              <a:miter lim="800000"/>
              <a:headEnd/>
              <a:tailEnd/>
            </a:ln>
            <a:extLst>
              <a:ext uri="{909E8E84-426E-40DD-AFC4-6F175D3DCCD1}">
                <a14:hiddenFill xmlns:a14="http://schemas.microsoft.com/office/drawing/2010/main">
                  <a:solidFill>
                    <a:srgbClr val="FFFFFF"/>
                  </a:solidFill>
                </a14:hiddenFill>
              </a:ext>
            </a:extLst>
          </p:spPr>
        </p:pic>
        <p:sp>
          <p:nvSpPr>
            <p:cNvPr id="18443" name="Text Box 13">
              <a:extLst>
                <a:ext uri="{FF2B5EF4-FFF2-40B4-BE49-F238E27FC236}">
                  <a16:creationId xmlns:a16="http://schemas.microsoft.com/office/drawing/2014/main" id="{319DD372-FE08-EEFE-2A55-9FCECDBAD911}"/>
                </a:ext>
              </a:extLst>
            </p:cNvPr>
            <p:cNvSpPr txBox="1">
              <a:spLocks noChangeArrowheads="1"/>
            </p:cNvSpPr>
            <p:nvPr/>
          </p:nvSpPr>
          <p:spPr bwMode="auto">
            <a:xfrm>
              <a:off x="755775" y="2548157"/>
              <a:ext cx="3668712" cy="877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p:txBody>
        </p:sp>
        <p:sp>
          <p:nvSpPr>
            <p:cNvPr id="18444" name="Text Box 9">
              <a:extLst>
                <a:ext uri="{FF2B5EF4-FFF2-40B4-BE49-F238E27FC236}">
                  <a16:creationId xmlns:a16="http://schemas.microsoft.com/office/drawing/2014/main" id="{AD2FF8D3-D3C7-FB51-1235-22D9B71B62DD}"/>
                </a:ext>
              </a:extLst>
            </p:cNvPr>
            <p:cNvSpPr txBox="1">
              <a:spLocks noChangeArrowheads="1"/>
            </p:cNvSpPr>
            <p:nvPr/>
          </p:nvSpPr>
          <p:spPr bwMode="auto">
            <a:xfrm>
              <a:off x="2132931" y="20574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lnSpc>
                  <a:spcPct val="95000"/>
                </a:lnSpc>
              </a:pPr>
              <a:r>
                <a:rPr lang="en-US" altLang="en-US" sz="2000" b="1">
                  <a:solidFill>
                    <a:srgbClr val="00274D"/>
                  </a:solidFill>
                  <a:ea typeface="Corbel" panose="020B0503020204020204" pitchFamily="34" charset="0"/>
                  <a:cs typeface="Corbel" panose="020B0503020204020204" pitchFamily="34" charset="0"/>
                </a:rPr>
                <a:t>Audio: </a:t>
              </a:r>
            </a:p>
          </p:txBody>
        </p:sp>
      </p:grpSp>
      <p:sp>
        <p:nvSpPr>
          <p:cNvPr id="18437" name="Slide Number Placeholder 4">
            <a:extLst>
              <a:ext uri="{FF2B5EF4-FFF2-40B4-BE49-F238E27FC236}">
                <a16:creationId xmlns:a16="http://schemas.microsoft.com/office/drawing/2014/main" id="{4E8D0614-1776-29EC-F0FE-E49B3DBD588B}"/>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5422A5EB-1E0C-456B-AE42-55D5195EC7E1}"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12</a:t>
            </a:fld>
            <a:endParaRPr lang="en-US" altLang="en-US" sz="1100">
              <a:solidFill>
                <a:schemeClr val="bg1"/>
              </a:solidFill>
              <a:ea typeface="Corbel" panose="020B0503020204020204" pitchFamily="34" charset="0"/>
              <a:cs typeface="Corbel" panose="020B0503020204020204" pitchFamily="34" charset="0"/>
            </a:endParaRPr>
          </a:p>
        </p:txBody>
      </p:sp>
      <p:grpSp>
        <p:nvGrpSpPr>
          <p:cNvPr id="18438" name="Group 1">
            <a:extLst>
              <a:ext uri="{FF2B5EF4-FFF2-40B4-BE49-F238E27FC236}">
                <a16:creationId xmlns:a16="http://schemas.microsoft.com/office/drawing/2014/main" id="{59FC4BB0-765E-9152-6497-6A58DAFEB6FF}"/>
              </a:ext>
            </a:extLst>
          </p:cNvPr>
          <p:cNvGrpSpPr>
            <a:grpSpLocks/>
          </p:cNvGrpSpPr>
          <p:nvPr/>
        </p:nvGrpSpPr>
        <p:grpSpPr bwMode="auto">
          <a:xfrm>
            <a:off x="4722813" y="2074863"/>
            <a:ext cx="3963987" cy="4267200"/>
            <a:chOff x="4724400" y="2057400"/>
            <a:chExt cx="3963737" cy="4267200"/>
          </a:xfrm>
        </p:grpSpPr>
        <p:pic>
          <p:nvPicPr>
            <p:cNvPr id="18439" name="Picture 10">
              <a:extLst>
                <a:ext uri="{FF2B5EF4-FFF2-40B4-BE49-F238E27FC236}">
                  <a16:creationId xmlns:a16="http://schemas.microsoft.com/office/drawing/2014/main" id="{C93E333F-1B52-4A77-9253-28496A34E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23" t="1784" r="923" b="1421"/>
            <a:stretch>
              <a:fillRect/>
            </a:stretch>
          </p:blipFill>
          <p:spPr bwMode="auto">
            <a:xfrm>
              <a:off x="4724400" y="2438400"/>
              <a:ext cx="3963737" cy="3886200"/>
            </a:xfrm>
            <a:prstGeom prst="rect">
              <a:avLst/>
            </a:prstGeom>
            <a:noFill/>
            <a:ln w="9525">
              <a:solidFill>
                <a:srgbClr val="00274D"/>
              </a:solidFill>
              <a:miter lim="800000"/>
              <a:headEnd/>
              <a:tailEnd/>
            </a:ln>
            <a:extLst>
              <a:ext uri="{909E8E84-426E-40DD-AFC4-6F175D3DCCD1}">
                <a14:hiddenFill xmlns:a14="http://schemas.microsoft.com/office/drawing/2010/main">
                  <a:solidFill>
                    <a:srgbClr val="FFFFFF"/>
                  </a:solidFill>
                </a14:hiddenFill>
              </a:ext>
            </a:extLst>
          </p:spPr>
        </p:pic>
        <p:sp>
          <p:nvSpPr>
            <p:cNvPr id="18440" name="Text Box 13">
              <a:extLst>
                <a:ext uri="{FF2B5EF4-FFF2-40B4-BE49-F238E27FC236}">
                  <a16:creationId xmlns:a16="http://schemas.microsoft.com/office/drawing/2014/main" id="{D5CCFB3F-5E9A-2E2B-5A68-EB7ED64DD431}"/>
                </a:ext>
              </a:extLst>
            </p:cNvPr>
            <p:cNvSpPr txBox="1">
              <a:spLocks noChangeArrowheads="1"/>
            </p:cNvSpPr>
            <p:nvPr/>
          </p:nvSpPr>
          <p:spPr bwMode="auto">
            <a:xfrm>
              <a:off x="4871912" y="2548157"/>
              <a:ext cx="3668712"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p:txBody>
        </p:sp>
        <p:sp>
          <p:nvSpPr>
            <p:cNvPr id="18441" name="Text Box 9">
              <a:extLst>
                <a:ext uri="{FF2B5EF4-FFF2-40B4-BE49-F238E27FC236}">
                  <a16:creationId xmlns:a16="http://schemas.microsoft.com/office/drawing/2014/main" id="{8D06B080-64F7-473D-5DB7-DAB4662C55C1}"/>
                </a:ext>
              </a:extLst>
            </p:cNvPr>
            <p:cNvSpPr txBox="1">
              <a:spLocks noChangeArrowheads="1"/>
            </p:cNvSpPr>
            <p:nvPr/>
          </p:nvSpPr>
          <p:spPr bwMode="auto">
            <a:xfrm>
              <a:off x="6249068" y="20574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lnSpc>
                  <a:spcPct val="95000"/>
                </a:lnSpc>
              </a:pPr>
              <a:r>
                <a:rPr lang="en-US" altLang="en-US" sz="2000" b="1">
                  <a:solidFill>
                    <a:srgbClr val="00274D"/>
                  </a:solidFill>
                  <a:ea typeface="Corbel" panose="020B0503020204020204" pitchFamily="34" charset="0"/>
                  <a:cs typeface="Corbel" panose="020B0503020204020204" pitchFamily="34" charset="0"/>
                </a:rPr>
                <a:t>Video: </a:t>
              </a:r>
            </a:p>
          </p:txBody>
        </p:sp>
      </p:grpSp>
    </p:spTree>
    <p:extLst>
      <p:ext uri="{BB962C8B-B14F-4D97-AF65-F5344CB8AC3E}">
        <p14:creationId xmlns:p14="http://schemas.microsoft.com/office/powerpoint/2010/main" val="196240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AE5B6-E06B-097D-0A1C-A817AA4CA8AC}"/>
            </a:ext>
          </a:extLst>
        </p:cNvPr>
        <p:cNvGrpSpPr/>
        <p:nvPr/>
      </p:nvGrpSpPr>
      <p:grpSpPr>
        <a:xfrm>
          <a:off x="0" y="0"/>
          <a:ext cx="0" cy="0"/>
          <a:chOff x="0" y="0"/>
          <a:chExt cx="0" cy="0"/>
        </a:xfrm>
      </p:grpSpPr>
      <p:sp>
        <p:nvSpPr>
          <p:cNvPr id="19458" name="Rectangle 1">
            <a:extLst>
              <a:ext uri="{FF2B5EF4-FFF2-40B4-BE49-F238E27FC236}">
                <a16:creationId xmlns:a16="http://schemas.microsoft.com/office/drawing/2014/main" id="{F4A201FC-81D1-9ACB-AA0B-C28A3D64B550}"/>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4000" b="1">
                <a:solidFill>
                  <a:srgbClr val="00274D"/>
                </a:solidFill>
                <a:ea typeface="Corbel" panose="020B0503020204020204" pitchFamily="34" charset="0"/>
                <a:cs typeface="Corbel" panose="020B0503020204020204" pitchFamily="34" charset="0"/>
              </a:rPr>
              <a:t>Creative Concepts II</a:t>
            </a:r>
          </a:p>
        </p:txBody>
      </p:sp>
      <p:sp>
        <p:nvSpPr>
          <p:cNvPr id="19459" name="Text Box 9">
            <a:extLst>
              <a:ext uri="{FF2B5EF4-FFF2-40B4-BE49-F238E27FC236}">
                <a16:creationId xmlns:a16="http://schemas.microsoft.com/office/drawing/2014/main" id="{80E41B48-2B4F-696A-CDEA-B5AC57F410E6}"/>
              </a:ext>
            </a:extLst>
          </p:cNvPr>
          <p:cNvSpPr txBox="1">
            <a:spLocks noChangeArrowheads="1"/>
          </p:cNvSpPr>
          <p:nvPr/>
        </p:nvSpPr>
        <p:spPr bwMode="auto">
          <a:xfrm>
            <a:off x="609600" y="1295400"/>
            <a:ext cx="30321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nSpc>
                <a:spcPct val="95000"/>
              </a:lnSpc>
            </a:pPr>
            <a:r>
              <a:rPr lang="en-US" altLang="en-US" sz="2000">
                <a:solidFill>
                  <a:srgbClr val="00274D"/>
                </a:solidFill>
                <a:ea typeface="Corbel" panose="020B0503020204020204" pitchFamily="34" charset="0"/>
                <a:cs typeface="Corbel" panose="020B0503020204020204" pitchFamily="34" charset="0"/>
              </a:rPr>
              <a:t>Title:</a:t>
            </a:r>
            <a:endParaRPr lang="en-US" altLang="en-US">
              <a:solidFill>
                <a:srgbClr val="00274D"/>
              </a:solidFill>
              <a:ea typeface="Corbel" panose="020B0503020204020204" pitchFamily="34" charset="0"/>
              <a:cs typeface="Corbel" panose="020B0503020204020204" pitchFamily="34" charset="0"/>
            </a:endParaRPr>
          </a:p>
          <a:p>
            <a:pPr>
              <a:lnSpc>
                <a:spcPct val="95000"/>
              </a:lnSpc>
            </a:pPr>
            <a:r>
              <a:rPr lang="en-US" altLang="en-US" sz="2000">
                <a:solidFill>
                  <a:srgbClr val="00274D"/>
                </a:solidFill>
                <a:ea typeface="Corbel" panose="020B0503020204020204" pitchFamily="34" charset="0"/>
                <a:cs typeface="Corbel" panose="020B0503020204020204" pitchFamily="34" charset="0"/>
              </a:rPr>
              <a:t>Length: </a:t>
            </a:r>
          </a:p>
        </p:txBody>
      </p:sp>
      <p:grpSp>
        <p:nvGrpSpPr>
          <p:cNvPr id="19460" name="Group 2">
            <a:extLst>
              <a:ext uri="{FF2B5EF4-FFF2-40B4-BE49-F238E27FC236}">
                <a16:creationId xmlns:a16="http://schemas.microsoft.com/office/drawing/2014/main" id="{5B786BC5-3B5B-3B59-E186-DBCCD5794E9C}"/>
              </a:ext>
            </a:extLst>
          </p:cNvPr>
          <p:cNvGrpSpPr>
            <a:grpSpLocks/>
          </p:cNvGrpSpPr>
          <p:nvPr/>
        </p:nvGrpSpPr>
        <p:grpSpPr bwMode="auto">
          <a:xfrm>
            <a:off x="455613" y="2057400"/>
            <a:ext cx="3963987" cy="4267200"/>
            <a:chOff x="608263" y="2057400"/>
            <a:chExt cx="3963737" cy="4267200"/>
          </a:xfrm>
        </p:grpSpPr>
        <p:pic>
          <p:nvPicPr>
            <p:cNvPr id="19466" name="Picture 10">
              <a:extLst>
                <a:ext uri="{FF2B5EF4-FFF2-40B4-BE49-F238E27FC236}">
                  <a16:creationId xmlns:a16="http://schemas.microsoft.com/office/drawing/2014/main" id="{6F4A0749-C965-DF25-D306-2F6CBF63D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23" t="1784" r="923" b="1421"/>
            <a:stretch>
              <a:fillRect/>
            </a:stretch>
          </p:blipFill>
          <p:spPr bwMode="auto">
            <a:xfrm>
              <a:off x="608263" y="2438400"/>
              <a:ext cx="3963737" cy="3886200"/>
            </a:xfrm>
            <a:prstGeom prst="rect">
              <a:avLst/>
            </a:prstGeom>
            <a:noFill/>
            <a:ln w="9525">
              <a:solidFill>
                <a:srgbClr val="00274D"/>
              </a:solidFill>
              <a:miter lim="800000"/>
              <a:headEnd/>
              <a:tailEnd/>
            </a:ln>
            <a:extLst>
              <a:ext uri="{909E8E84-426E-40DD-AFC4-6F175D3DCCD1}">
                <a14:hiddenFill xmlns:a14="http://schemas.microsoft.com/office/drawing/2010/main">
                  <a:solidFill>
                    <a:srgbClr val="FFFFFF"/>
                  </a:solidFill>
                </a14:hiddenFill>
              </a:ext>
            </a:extLst>
          </p:spPr>
        </p:pic>
        <p:sp>
          <p:nvSpPr>
            <p:cNvPr id="19467" name="Text Box 13">
              <a:extLst>
                <a:ext uri="{FF2B5EF4-FFF2-40B4-BE49-F238E27FC236}">
                  <a16:creationId xmlns:a16="http://schemas.microsoft.com/office/drawing/2014/main" id="{21F6CE7E-80B4-ABAF-BDB3-49395D752114}"/>
                </a:ext>
              </a:extLst>
            </p:cNvPr>
            <p:cNvSpPr txBox="1">
              <a:spLocks noChangeArrowheads="1"/>
            </p:cNvSpPr>
            <p:nvPr/>
          </p:nvSpPr>
          <p:spPr bwMode="auto">
            <a:xfrm>
              <a:off x="755775" y="2548157"/>
              <a:ext cx="3668712" cy="526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p:txBody>
        </p:sp>
        <p:sp>
          <p:nvSpPr>
            <p:cNvPr id="19468" name="Text Box 9">
              <a:extLst>
                <a:ext uri="{FF2B5EF4-FFF2-40B4-BE49-F238E27FC236}">
                  <a16:creationId xmlns:a16="http://schemas.microsoft.com/office/drawing/2014/main" id="{D2532BD8-B8AA-DB66-3797-56EA5BADC6A3}"/>
                </a:ext>
              </a:extLst>
            </p:cNvPr>
            <p:cNvSpPr txBox="1">
              <a:spLocks noChangeArrowheads="1"/>
            </p:cNvSpPr>
            <p:nvPr/>
          </p:nvSpPr>
          <p:spPr bwMode="auto">
            <a:xfrm>
              <a:off x="2132931" y="20574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lnSpc>
                  <a:spcPct val="95000"/>
                </a:lnSpc>
              </a:pPr>
              <a:r>
                <a:rPr lang="en-US" altLang="en-US" sz="2000" b="1">
                  <a:solidFill>
                    <a:srgbClr val="00274D"/>
                  </a:solidFill>
                  <a:ea typeface="Corbel" panose="020B0503020204020204" pitchFamily="34" charset="0"/>
                  <a:cs typeface="Corbel" panose="020B0503020204020204" pitchFamily="34" charset="0"/>
                </a:rPr>
                <a:t>Audio: </a:t>
              </a:r>
            </a:p>
          </p:txBody>
        </p:sp>
      </p:grpSp>
      <p:sp>
        <p:nvSpPr>
          <p:cNvPr id="19461" name="Slide Number Placeholder 4">
            <a:extLst>
              <a:ext uri="{FF2B5EF4-FFF2-40B4-BE49-F238E27FC236}">
                <a16:creationId xmlns:a16="http://schemas.microsoft.com/office/drawing/2014/main" id="{491EACAC-A690-B6D5-36DF-7C2F61DB1FE8}"/>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0F15ACA6-4940-44C9-A287-ED359C64218C}"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13</a:t>
            </a:fld>
            <a:endParaRPr lang="en-US" altLang="en-US" sz="1100">
              <a:solidFill>
                <a:schemeClr val="bg1"/>
              </a:solidFill>
              <a:ea typeface="Corbel" panose="020B0503020204020204" pitchFamily="34" charset="0"/>
              <a:cs typeface="Corbel" panose="020B0503020204020204" pitchFamily="34" charset="0"/>
            </a:endParaRPr>
          </a:p>
        </p:txBody>
      </p:sp>
      <p:grpSp>
        <p:nvGrpSpPr>
          <p:cNvPr id="19462" name="Group 1">
            <a:extLst>
              <a:ext uri="{FF2B5EF4-FFF2-40B4-BE49-F238E27FC236}">
                <a16:creationId xmlns:a16="http://schemas.microsoft.com/office/drawing/2014/main" id="{39777A99-4418-2E41-E878-A7DACBE33064}"/>
              </a:ext>
            </a:extLst>
          </p:cNvPr>
          <p:cNvGrpSpPr>
            <a:grpSpLocks/>
          </p:cNvGrpSpPr>
          <p:nvPr/>
        </p:nvGrpSpPr>
        <p:grpSpPr bwMode="auto">
          <a:xfrm>
            <a:off x="4724400" y="2057400"/>
            <a:ext cx="3963988" cy="4267200"/>
            <a:chOff x="4724400" y="2057400"/>
            <a:chExt cx="3963737" cy="4267200"/>
          </a:xfrm>
        </p:grpSpPr>
        <p:pic>
          <p:nvPicPr>
            <p:cNvPr id="19463" name="Picture 10">
              <a:extLst>
                <a:ext uri="{FF2B5EF4-FFF2-40B4-BE49-F238E27FC236}">
                  <a16:creationId xmlns:a16="http://schemas.microsoft.com/office/drawing/2014/main" id="{C207E161-65A6-EBEC-D42A-069DA6850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23" t="1784" r="923" b="1421"/>
            <a:stretch>
              <a:fillRect/>
            </a:stretch>
          </p:blipFill>
          <p:spPr bwMode="auto">
            <a:xfrm>
              <a:off x="4724400" y="2438400"/>
              <a:ext cx="3963737" cy="3886200"/>
            </a:xfrm>
            <a:prstGeom prst="rect">
              <a:avLst/>
            </a:prstGeom>
            <a:noFill/>
            <a:ln w="9525">
              <a:solidFill>
                <a:srgbClr val="00274D"/>
              </a:solidFill>
              <a:miter lim="800000"/>
              <a:headEnd/>
              <a:tailEnd/>
            </a:ln>
            <a:extLst>
              <a:ext uri="{909E8E84-426E-40DD-AFC4-6F175D3DCCD1}">
                <a14:hiddenFill xmlns:a14="http://schemas.microsoft.com/office/drawing/2010/main">
                  <a:solidFill>
                    <a:srgbClr val="FFFFFF"/>
                  </a:solidFill>
                </a14:hiddenFill>
              </a:ext>
            </a:extLst>
          </p:spPr>
        </p:pic>
        <p:sp>
          <p:nvSpPr>
            <p:cNvPr id="19464" name="Text Box 13">
              <a:extLst>
                <a:ext uri="{FF2B5EF4-FFF2-40B4-BE49-F238E27FC236}">
                  <a16:creationId xmlns:a16="http://schemas.microsoft.com/office/drawing/2014/main" id="{410D77AE-C909-9C04-A4B4-4082BFDDE7EF}"/>
                </a:ext>
              </a:extLst>
            </p:cNvPr>
            <p:cNvSpPr txBox="1">
              <a:spLocks noChangeArrowheads="1"/>
            </p:cNvSpPr>
            <p:nvPr/>
          </p:nvSpPr>
          <p:spPr bwMode="auto">
            <a:xfrm>
              <a:off x="4871912" y="2548157"/>
              <a:ext cx="3668712" cy="906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endParaRPr lang="en-US" altLang="en-US" sz="1400">
                <a:solidFill>
                  <a:srgbClr val="000000"/>
                </a:solidFill>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a:p>
              <a:pPr>
                <a:lnSpc>
                  <a:spcPct val="95000"/>
                </a:lnSpc>
              </a:pPr>
              <a:endParaRPr lang="en-US" altLang="en-US" sz="1200">
                <a:solidFill>
                  <a:srgbClr val="000000"/>
                </a:solidFill>
                <a:ea typeface="Corbel" panose="020B0503020204020204" pitchFamily="34" charset="0"/>
                <a:cs typeface="Corbel" panose="020B0503020204020204" pitchFamily="34" charset="0"/>
              </a:endParaRPr>
            </a:p>
          </p:txBody>
        </p:sp>
        <p:sp>
          <p:nvSpPr>
            <p:cNvPr id="19465" name="Text Box 9">
              <a:extLst>
                <a:ext uri="{FF2B5EF4-FFF2-40B4-BE49-F238E27FC236}">
                  <a16:creationId xmlns:a16="http://schemas.microsoft.com/office/drawing/2014/main" id="{D27D2BE1-5049-5C56-75FE-52C4C1C215CC}"/>
                </a:ext>
              </a:extLst>
            </p:cNvPr>
            <p:cNvSpPr txBox="1">
              <a:spLocks noChangeArrowheads="1"/>
            </p:cNvSpPr>
            <p:nvPr/>
          </p:nvSpPr>
          <p:spPr bwMode="auto">
            <a:xfrm>
              <a:off x="6249068" y="20574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lnSpc>
                  <a:spcPct val="95000"/>
                </a:lnSpc>
              </a:pPr>
              <a:r>
                <a:rPr lang="en-US" altLang="en-US" sz="2000" b="1">
                  <a:solidFill>
                    <a:srgbClr val="00274D"/>
                  </a:solidFill>
                  <a:ea typeface="Corbel" panose="020B0503020204020204" pitchFamily="34" charset="0"/>
                  <a:cs typeface="Corbel" panose="020B0503020204020204" pitchFamily="34" charset="0"/>
                </a:rPr>
                <a:t>Video: </a:t>
              </a:r>
            </a:p>
          </p:txBody>
        </p:sp>
      </p:grpSp>
    </p:spTree>
    <p:extLst>
      <p:ext uri="{BB962C8B-B14F-4D97-AF65-F5344CB8AC3E}">
        <p14:creationId xmlns:p14="http://schemas.microsoft.com/office/powerpoint/2010/main" val="3820557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10">
            <a:extLst>
              <a:ext uri="{FF2B5EF4-FFF2-40B4-BE49-F238E27FC236}">
                <a16:creationId xmlns:a16="http://schemas.microsoft.com/office/drawing/2014/main" id="{28D01E0C-2E8F-A2EC-38C2-7591CBB82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23" t="1784" r="923" b="1421"/>
          <a:stretch>
            <a:fillRect/>
          </a:stretch>
        </p:blipFill>
        <p:spPr bwMode="auto">
          <a:xfrm>
            <a:off x="608013" y="1676400"/>
            <a:ext cx="7927975" cy="4278313"/>
          </a:xfrm>
          <a:prstGeom prst="rect">
            <a:avLst/>
          </a:prstGeom>
          <a:noFill/>
          <a:ln w="9525">
            <a:solidFill>
              <a:srgbClr val="00274D"/>
            </a:solidFill>
            <a:miter lim="800000"/>
            <a:headEnd/>
            <a:tailEnd/>
          </a:ln>
          <a:extLst>
            <a:ext uri="{909E8E84-426E-40DD-AFC4-6F175D3DCCD1}">
              <a14:hiddenFill xmlns:a14="http://schemas.microsoft.com/office/drawing/2010/main">
                <a:solidFill>
                  <a:srgbClr val="FFFFFF"/>
                </a:solidFill>
              </a14:hiddenFill>
            </a:ext>
          </a:extLst>
        </p:spPr>
      </p:pic>
      <p:sp>
        <p:nvSpPr>
          <p:cNvPr id="35843" name="Text Box 13">
            <a:extLst>
              <a:ext uri="{FF2B5EF4-FFF2-40B4-BE49-F238E27FC236}">
                <a16:creationId xmlns:a16="http://schemas.microsoft.com/office/drawing/2014/main" id="{21D798CD-FB43-A5B3-8CEC-24A9B861BBA3}"/>
              </a:ext>
            </a:extLst>
          </p:cNvPr>
          <p:cNvSpPr txBox="1">
            <a:spLocks noChangeArrowheads="1"/>
          </p:cNvSpPr>
          <p:nvPr/>
        </p:nvSpPr>
        <p:spPr bwMode="auto">
          <a:xfrm>
            <a:off x="750888" y="1757363"/>
            <a:ext cx="7642225"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300">
                <a:solidFill>
                  <a:srgbClr val="00274D"/>
                </a:solidFill>
                <a:ea typeface="Corbel" panose="020B0503020204020204" pitchFamily="34" charset="0"/>
                <a:cs typeface="Corbel" panose="020B0503020204020204" pitchFamily="34" charset="0"/>
              </a:rPr>
              <a:t>Replace this text with your Digital/Mobile/Social strategies.</a:t>
            </a:r>
            <a:endParaRPr lang="en-US" altLang="en-US" sz="13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a:p>
            <a:pPr eaLnBrk="1" hangingPunct="1">
              <a:lnSpc>
                <a:spcPct val="95000"/>
              </a:lnSpc>
            </a:pPr>
            <a:endParaRPr lang="en-US" altLang="en-US" sz="1200">
              <a:solidFill>
                <a:srgbClr val="000000"/>
              </a:solidFill>
              <a:ea typeface="Corbel" panose="020B0503020204020204" pitchFamily="34" charset="0"/>
              <a:cs typeface="Corbel" panose="020B0503020204020204" pitchFamily="34" charset="0"/>
            </a:endParaRPr>
          </a:p>
        </p:txBody>
      </p:sp>
      <p:sp>
        <p:nvSpPr>
          <p:cNvPr id="35844" name="Rectangle 1">
            <a:extLst>
              <a:ext uri="{FF2B5EF4-FFF2-40B4-BE49-F238E27FC236}">
                <a16:creationId xmlns:a16="http://schemas.microsoft.com/office/drawing/2014/main" id="{4C4FAC6D-BBA6-E477-D74D-DF2F040CB472}"/>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Digital/Mobile/Social Strategies</a:t>
            </a:r>
          </a:p>
        </p:txBody>
      </p:sp>
      <p:sp>
        <p:nvSpPr>
          <p:cNvPr id="35845" name="Slide Number Placeholder 4">
            <a:extLst>
              <a:ext uri="{FF2B5EF4-FFF2-40B4-BE49-F238E27FC236}">
                <a16:creationId xmlns:a16="http://schemas.microsoft.com/office/drawing/2014/main" id="{41F9E161-0697-33E6-DC91-E8003DAC702A}"/>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6AAD060A-EA1F-42A8-991B-2040CFEC8B77}"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14</a:t>
            </a:fld>
            <a:endParaRPr lang="en-US" altLang="en-US" sz="1100">
              <a:solidFill>
                <a:schemeClr val="bg1"/>
              </a:solidFill>
              <a:ea typeface="Corbel" panose="020B0503020204020204" pitchFamily="34" charset="0"/>
              <a:cs typeface="Corbel" panose="020B0503020204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a:extLst>
              <a:ext uri="{FF2B5EF4-FFF2-40B4-BE49-F238E27FC236}">
                <a16:creationId xmlns:a16="http://schemas.microsoft.com/office/drawing/2014/main" id="{D31452C6-B0EA-590E-DCAB-D61DC43F539A}"/>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137A0D96-99FA-4C49-9B94-2C32EBE297C2}"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15</a:t>
            </a:fld>
            <a:endParaRPr lang="en-US" altLang="en-US" sz="1100">
              <a:solidFill>
                <a:schemeClr val="bg1"/>
              </a:solidFill>
              <a:ea typeface="Corbel" panose="020B0503020204020204" pitchFamily="34" charset="0"/>
              <a:cs typeface="Corbel" panose="020B0503020204020204" pitchFamily="34" charset="0"/>
            </a:endParaRPr>
          </a:p>
        </p:txBody>
      </p:sp>
      <p:sp>
        <p:nvSpPr>
          <p:cNvPr id="36867" name="Rectangle 1">
            <a:extLst>
              <a:ext uri="{FF2B5EF4-FFF2-40B4-BE49-F238E27FC236}">
                <a16:creationId xmlns:a16="http://schemas.microsoft.com/office/drawing/2014/main" id="{8E489BB4-D22E-4830-965C-EDFB52DBE070}"/>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Long Range Strategic Plans </a:t>
            </a:r>
          </a:p>
        </p:txBody>
      </p:sp>
      <p:sp>
        <p:nvSpPr>
          <p:cNvPr id="36868" name="Rectangle 1">
            <a:extLst>
              <a:ext uri="{FF2B5EF4-FFF2-40B4-BE49-F238E27FC236}">
                <a16:creationId xmlns:a16="http://schemas.microsoft.com/office/drawing/2014/main" id="{260F1C68-8FFB-553C-81A5-F5C75F4FE166}"/>
              </a:ext>
            </a:extLst>
          </p:cNvPr>
          <p:cNvSpPr>
            <a:spLocks noChangeArrowheads="1"/>
          </p:cNvSpPr>
          <p:nvPr/>
        </p:nvSpPr>
        <p:spPr bwMode="auto">
          <a:xfrm>
            <a:off x="152400" y="2009775"/>
            <a:ext cx="21336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r" eaLnBrk="1" hangingPunct="1">
              <a:lnSpc>
                <a:spcPct val="95000"/>
              </a:lnSpc>
              <a:buClr>
                <a:srgbClr val="7F7F7F"/>
              </a:buClr>
              <a:buSzPct val="100000"/>
            </a:pPr>
            <a:r>
              <a:rPr lang="en-US" altLang="en-US" sz="2000">
                <a:solidFill>
                  <a:srgbClr val="00274D"/>
                </a:solidFill>
                <a:ea typeface="Corbel" panose="020B0503020204020204" pitchFamily="34" charset="0"/>
                <a:cs typeface="Corbel" panose="020B0503020204020204" pitchFamily="34" charset="0"/>
              </a:rPr>
              <a:t>SATURATION</a:t>
            </a:r>
            <a:endParaRPr lang="en-US" altLang="en-US" sz="1600">
              <a:solidFill>
                <a:srgbClr val="00274D"/>
              </a:solidFill>
              <a:ea typeface="Corbel" panose="020B0503020204020204" pitchFamily="34" charset="0"/>
              <a:cs typeface="Corbel" panose="020B0503020204020204" pitchFamily="34" charset="0"/>
            </a:endParaRPr>
          </a:p>
        </p:txBody>
      </p:sp>
      <p:sp>
        <p:nvSpPr>
          <p:cNvPr id="36869" name="Rectangle 17">
            <a:extLst>
              <a:ext uri="{FF2B5EF4-FFF2-40B4-BE49-F238E27FC236}">
                <a16:creationId xmlns:a16="http://schemas.microsoft.com/office/drawing/2014/main" id="{20D6F47B-F56A-0B72-7FAF-694C78E6503E}"/>
              </a:ext>
            </a:extLst>
          </p:cNvPr>
          <p:cNvSpPr>
            <a:spLocks noChangeArrowheads="1"/>
          </p:cNvSpPr>
          <p:nvPr/>
        </p:nvSpPr>
        <p:spPr bwMode="auto">
          <a:xfrm>
            <a:off x="152400" y="3565525"/>
            <a:ext cx="21336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r" eaLnBrk="1" hangingPunct="1">
              <a:lnSpc>
                <a:spcPct val="95000"/>
              </a:lnSpc>
              <a:buClr>
                <a:srgbClr val="7F7F7F"/>
              </a:buClr>
              <a:buSzPct val="100000"/>
            </a:pPr>
            <a:r>
              <a:rPr lang="en-US" altLang="en-US" sz="2000">
                <a:solidFill>
                  <a:srgbClr val="00274D"/>
                </a:solidFill>
                <a:ea typeface="Corbel" panose="020B0503020204020204" pitchFamily="34" charset="0"/>
                <a:cs typeface="Corbel" panose="020B0503020204020204" pitchFamily="34" charset="0"/>
              </a:rPr>
              <a:t>PENETRATION</a:t>
            </a:r>
            <a:endParaRPr lang="en-US" altLang="en-US" sz="1600">
              <a:solidFill>
                <a:srgbClr val="00274D"/>
              </a:solidFill>
              <a:ea typeface="Corbel" panose="020B0503020204020204" pitchFamily="34" charset="0"/>
              <a:cs typeface="Corbel" panose="020B0503020204020204" pitchFamily="34" charset="0"/>
            </a:endParaRPr>
          </a:p>
        </p:txBody>
      </p:sp>
      <p:sp>
        <p:nvSpPr>
          <p:cNvPr id="36870" name="Rectangle 18">
            <a:extLst>
              <a:ext uri="{FF2B5EF4-FFF2-40B4-BE49-F238E27FC236}">
                <a16:creationId xmlns:a16="http://schemas.microsoft.com/office/drawing/2014/main" id="{F8D57A73-8F8D-4BDB-A35D-CCFC2716CFFC}"/>
              </a:ext>
            </a:extLst>
          </p:cNvPr>
          <p:cNvSpPr>
            <a:spLocks noChangeArrowheads="1"/>
          </p:cNvSpPr>
          <p:nvPr/>
        </p:nvSpPr>
        <p:spPr bwMode="auto">
          <a:xfrm>
            <a:off x="152400" y="5172075"/>
            <a:ext cx="21336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r" eaLnBrk="1" hangingPunct="1">
              <a:lnSpc>
                <a:spcPct val="95000"/>
              </a:lnSpc>
              <a:buClr>
                <a:srgbClr val="7F7F7F"/>
              </a:buClr>
              <a:buSzPct val="100000"/>
            </a:pPr>
            <a:r>
              <a:rPr lang="en-US" altLang="en-US" sz="2000">
                <a:solidFill>
                  <a:srgbClr val="00274D"/>
                </a:solidFill>
                <a:ea typeface="Corbel" panose="020B0503020204020204" pitchFamily="34" charset="0"/>
                <a:cs typeface="Corbel" panose="020B0503020204020204" pitchFamily="34" charset="0"/>
              </a:rPr>
              <a:t>DOMINANCE</a:t>
            </a:r>
            <a:endParaRPr lang="en-US" altLang="en-US" sz="1600">
              <a:solidFill>
                <a:srgbClr val="00274D"/>
              </a:solidFill>
              <a:ea typeface="Corbel" panose="020B0503020204020204" pitchFamily="34" charset="0"/>
              <a:cs typeface="Corbel" panose="020B0503020204020204" pitchFamily="34" charset="0"/>
            </a:endParaRPr>
          </a:p>
        </p:txBody>
      </p:sp>
      <p:sp>
        <p:nvSpPr>
          <p:cNvPr id="20" name="Right Arrow 19">
            <a:extLst>
              <a:ext uri="{FF2B5EF4-FFF2-40B4-BE49-F238E27FC236}">
                <a16:creationId xmlns:a16="http://schemas.microsoft.com/office/drawing/2014/main" id="{E55CAEEB-7E64-DA83-A007-B60E33DD6C68}"/>
              </a:ext>
            </a:extLst>
          </p:cNvPr>
          <p:cNvSpPr/>
          <p:nvPr/>
        </p:nvSpPr>
        <p:spPr>
          <a:xfrm>
            <a:off x="2484438" y="1905000"/>
            <a:ext cx="1325562" cy="596900"/>
          </a:xfrm>
          <a:prstGeom prst="rightArrow">
            <a:avLst/>
          </a:prstGeom>
          <a:solidFill>
            <a:srgbClr val="121B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ln w="10160">
                <a:solidFill>
                  <a:schemeClr val="accent1"/>
                </a:solidFill>
                <a:prstDash val="solid"/>
              </a:ln>
              <a:solidFill>
                <a:srgbClr val="00274D"/>
              </a:solidFill>
              <a:effectLst>
                <a:outerShdw blurRad="38100" dist="32000" dir="5400000" algn="tl">
                  <a:srgbClr val="000000">
                    <a:alpha val="30000"/>
                  </a:srgbClr>
                </a:outerShdw>
              </a:effectLst>
              <a:cs typeface="Corbel"/>
            </a:endParaRPr>
          </a:p>
        </p:txBody>
      </p:sp>
      <p:sp>
        <p:nvSpPr>
          <p:cNvPr id="36872" name="Right Arrow 20">
            <a:extLst>
              <a:ext uri="{FF2B5EF4-FFF2-40B4-BE49-F238E27FC236}">
                <a16:creationId xmlns:a16="http://schemas.microsoft.com/office/drawing/2014/main" id="{C080FE4C-3B57-DD05-05CD-D006E8FA629B}"/>
              </a:ext>
            </a:extLst>
          </p:cNvPr>
          <p:cNvSpPr>
            <a:spLocks noChangeArrowheads="1"/>
          </p:cNvSpPr>
          <p:nvPr/>
        </p:nvSpPr>
        <p:spPr bwMode="auto">
          <a:xfrm>
            <a:off x="2484438" y="3424238"/>
            <a:ext cx="1325562" cy="669925"/>
          </a:xfrm>
          <a:prstGeom prst="rightArrow">
            <a:avLst>
              <a:gd name="adj1" fmla="val 50000"/>
              <a:gd name="adj2" fmla="val 49943"/>
            </a:avLst>
          </a:prstGeom>
          <a:solidFill>
            <a:srgbClr val="4E5E5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endParaRPr lang="en-US" altLang="en-US" sz="2000">
              <a:solidFill>
                <a:srgbClr val="00274D"/>
              </a:solidFill>
              <a:ea typeface="Corbel" panose="020B0503020204020204" pitchFamily="34" charset="0"/>
              <a:cs typeface="Corbel" panose="020B0503020204020204" pitchFamily="34" charset="0"/>
            </a:endParaRPr>
          </a:p>
        </p:txBody>
      </p:sp>
      <p:sp>
        <p:nvSpPr>
          <p:cNvPr id="36873" name="Right Arrow 21">
            <a:extLst>
              <a:ext uri="{FF2B5EF4-FFF2-40B4-BE49-F238E27FC236}">
                <a16:creationId xmlns:a16="http://schemas.microsoft.com/office/drawing/2014/main" id="{53B45A65-DA6D-77AC-75D0-8CD14A8929BF}"/>
              </a:ext>
            </a:extLst>
          </p:cNvPr>
          <p:cNvSpPr>
            <a:spLocks noChangeArrowheads="1"/>
          </p:cNvSpPr>
          <p:nvPr/>
        </p:nvSpPr>
        <p:spPr bwMode="auto">
          <a:xfrm>
            <a:off x="2484438" y="5030788"/>
            <a:ext cx="1325562" cy="669925"/>
          </a:xfrm>
          <a:prstGeom prst="rightArrow">
            <a:avLst>
              <a:gd name="adj1" fmla="val 50000"/>
              <a:gd name="adj2" fmla="val 49943"/>
            </a:avLst>
          </a:prstGeom>
          <a:solidFill>
            <a:srgbClr val="A5A17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endParaRPr lang="en-US" altLang="en-US" sz="2000">
              <a:solidFill>
                <a:srgbClr val="00274D"/>
              </a:solidFill>
              <a:ea typeface="Corbel" panose="020B0503020204020204" pitchFamily="34" charset="0"/>
              <a:cs typeface="Corbel" panose="020B0503020204020204" pitchFamily="34" charset="0"/>
            </a:endParaRPr>
          </a:p>
        </p:txBody>
      </p:sp>
      <p:sp>
        <p:nvSpPr>
          <p:cNvPr id="36874" name="Rectangle 22">
            <a:extLst>
              <a:ext uri="{FF2B5EF4-FFF2-40B4-BE49-F238E27FC236}">
                <a16:creationId xmlns:a16="http://schemas.microsoft.com/office/drawing/2014/main" id="{54FDC47E-F9AE-2188-BF1E-0F4B77B9BDB6}"/>
              </a:ext>
            </a:extLst>
          </p:cNvPr>
          <p:cNvSpPr>
            <a:spLocks noChangeArrowheads="1"/>
          </p:cNvSpPr>
          <p:nvPr/>
        </p:nvSpPr>
        <p:spPr bwMode="auto">
          <a:xfrm>
            <a:off x="3657600" y="2009775"/>
            <a:ext cx="17526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ctr" eaLnBrk="1" hangingPunct="1">
              <a:lnSpc>
                <a:spcPct val="95000"/>
              </a:lnSpc>
              <a:buClr>
                <a:srgbClr val="7F7F7F"/>
              </a:buClr>
              <a:buSzPct val="100000"/>
            </a:pPr>
            <a:r>
              <a:rPr lang="en-US" altLang="en-US" sz="2000">
                <a:solidFill>
                  <a:srgbClr val="00274D"/>
                </a:solidFill>
                <a:ea typeface="Corbel" panose="020B0503020204020204" pitchFamily="34" charset="0"/>
                <a:cs typeface="Corbel" panose="020B0503020204020204" pitchFamily="34" charset="0"/>
              </a:rPr>
              <a:t>13 WEEKS</a:t>
            </a:r>
            <a:endParaRPr lang="en-US" altLang="en-US" sz="1600">
              <a:solidFill>
                <a:srgbClr val="00274D"/>
              </a:solidFill>
              <a:ea typeface="Corbel" panose="020B0503020204020204" pitchFamily="34" charset="0"/>
              <a:cs typeface="Corbel" panose="020B0503020204020204" pitchFamily="34" charset="0"/>
            </a:endParaRPr>
          </a:p>
        </p:txBody>
      </p:sp>
      <p:sp>
        <p:nvSpPr>
          <p:cNvPr id="36875" name="Rectangle 23">
            <a:extLst>
              <a:ext uri="{FF2B5EF4-FFF2-40B4-BE49-F238E27FC236}">
                <a16:creationId xmlns:a16="http://schemas.microsoft.com/office/drawing/2014/main" id="{27C4BE87-12F8-DE12-895F-4DB52B17FBE0}"/>
              </a:ext>
            </a:extLst>
          </p:cNvPr>
          <p:cNvSpPr>
            <a:spLocks noChangeArrowheads="1"/>
          </p:cNvSpPr>
          <p:nvPr/>
        </p:nvSpPr>
        <p:spPr bwMode="auto">
          <a:xfrm>
            <a:off x="3657600" y="3565525"/>
            <a:ext cx="17526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ctr" eaLnBrk="1" hangingPunct="1">
              <a:lnSpc>
                <a:spcPct val="95000"/>
              </a:lnSpc>
              <a:buClr>
                <a:srgbClr val="7F7F7F"/>
              </a:buClr>
              <a:buSzPct val="100000"/>
            </a:pPr>
            <a:r>
              <a:rPr lang="en-US" altLang="en-US" sz="2000">
                <a:solidFill>
                  <a:srgbClr val="00274D"/>
                </a:solidFill>
                <a:ea typeface="Corbel" panose="020B0503020204020204" pitchFamily="34" charset="0"/>
                <a:cs typeface="Corbel" panose="020B0503020204020204" pitchFamily="34" charset="0"/>
              </a:rPr>
              <a:t>26 WEEKS</a:t>
            </a:r>
            <a:endParaRPr lang="en-US" altLang="en-US" sz="1600">
              <a:solidFill>
                <a:srgbClr val="00274D"/>
              </a:solidFill>
              <a:ea typeface="Corbel" panose="020B0503020204020204" pitchFamily="34" charset="0"/>
              <a:cs typeface="Corbel" panose="020B0503020204020204" pitchFamily="34" charset="0"/>
            </a:endParaRPr>
          </a:p>
        </p:txBody>
      </p:sp>
      <p:sp>
        <p:nvSpPr>
          <p:cNvPr id="36876" name="Rectangle 24">
            <a:extLst>
              <a:ext uri="{FF2B5EF4-FFF2-40B4-BE49-F238E27FC236}">
                <a16:creationId xmlns:a16="http://schemas.microsoft.com/office/drawing/2014/main" id="{F88AF9D0-44C3-2AD6-17D7-FE8472358092}"/>
              </a:ext>
            </a:extLst>
          </p:cNvPr>
          <p:cNvSpPr>
            <a:spLocks noChangeArrowheads="1"/>
          </p:cNvSpPr>
          <p:nvPr/>
        </p:nvSpPr>
        <p:spPr bwMode="auto">
          <a:xfrm>
            <a:off x="3657600" y="5172075"/>
            <a:ext cx="17526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ctr" eaLnBrk="1" hangingPunct="1">
              <a:lnSpc>
                <a:spcPct val="95000"/>
              </a:lnSpc>
              <a:buClr>
                <a:srgbClr val="7F7F7F"/>
              </a:buClr>
              <a:buSzPct val="100000"/>
            </a:pPr>
            <a:r>
              <a:rPr lang="en-US" altLang="en-US" sz="2000">
                <a:solidFill>
                  <a:srgbClr val="00274D"/>
                </a:solidFill>
                <a:ea typeface="Corbel" panose="020B0503020204020204" pitchFamily="34" charset="0"/>
                <a:cs typeface="Corbel" panose="020B0503020204020204" pitchFamily="34" charset="0"/>
              </a:rPr>
              <a:t>52 WEEKS</a:t>
            </a:r>
            <a:endParaRPr lang="en-US" altLang="en-US" sz="1600">
              <a:solidFill>
                <a:srgbClr val="00274D"/>
              </a:solidFill>
              <a:ea typeface="Corbel" panose="020B0503020204020204" pitchFamily="34" charset="0"/>
              <a:cs typeface="Corbel" panose="020B0503020204020204" pitchFamily="34" charset="0"/>
            </a:endParaRPr>
          </a:p>
        </p:txBody>
      </p:sp>
      <p:sp>
        <p:nvSpPr>
          <p:cNvPr id="36877" name="Rectangle 31">
            <a:extLst>
              <a:ext uri="{FF2B5EF4-FFF2-40B4-BE49-F238E27FC236}">
                <a16:creationId xmlns:a16="http://schemas.microsoft.com/office/drawing/2014/main" id="{6EAC3A22-6FC8-B85B-4800-4D1277E1EF43}"/>
              </a:ext>
            </a:extLst>
          </p:cNvPr>
          <p:cNvSpPr>
            <a:spLocks noChangeArrowheads="1"/>
          </p:cNvSpPr>
          <p:nvPr/>
        </p:nvSpPr>
        <p:spPr bwMode="auto">
          <a:xfrm>
            <a:off x="6781800" y="2009775"/>
            <a:ext cx="21336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r>
              <a:rPr lang="en-US" altLang="en-US" sz="2000">
                <a:solidFill>
                  <a:srgbClr val="00274D"/>
                </a:solidFill>
                <a:ea typeface="Corbel" panose="020B0503020204020204" pitchFamily="34" charset="0"/>
                <a:cs typeface="Corbel" panose="020B0503020204020204" pitchFamily="34" charset="0"/>
              </a:rPr>
              <a:t>AWARENESS</a:t>
            </a:r>
            <a:endParaRPr lang="en-US" altLang="en-US" sz="1600">
              <a:solidFill>
                <a:srgbClr val="00274D"/>
              </a:solidFill>
              <a:ea typeface="Corbel" panose="020B0503020204020204" pitchFamily="34" charset="0"/>
              <a:cs typeface="Corbel" panose="020B0503020204020204" pitchFamily="34" charset="0"/>
            </a:endParaRPr>
          </a:p>
        </p:txBody>
      </p:sp>
      <p:sp>
        <p:nvSpPr>
          <p:cNvPr id="36878" name="Rectangle 32">
            <a:extLst>
              <a:ext uri="{FF2B5EF4-FFF2-40B4-BE49-F238E27FC236}">
                <a16:creationId xmlns:a16="http://schemas.microsoft.com/office/drawing/2014/main" id="{CA5E315C-80CD-D073-71EF-EAAF230AFF92}"/>
              </a:ext>
            </a:extLst>
          </p:cNvPr>
          <p:cNvSpPr>
            <a:spLocks noChangeArrowheads="1"/>
          </p:cNvSpPr>
          <p:nvPr/>
        </p:nvSpPr>
        <p:spPr bwMode="auto">
          <a:xfrm>
            <a:off x="6781800" y="3565525"/>
            <a:ext cx="21336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r>
              <a:rPr lang="en-US" altLang="en-US" sz="2000">
                <a:solidFill>
                  <a:srgbClr val="00274D"/>
                </a:solidFill>
                <a:ea typeface="Corbel" panose="020B0503020204020204" pitchFamily="34" charset="0"/>
                <a:cs typeface="Corbel" panose="020B0503020204020204" pitchFamily="34" charset="0"/>
              </a:rPr>
              <a:t>RECOGNITION</a:t>
            </a:r>
            <a:endParaRPr lang="en-US" altLang="en-US" sz="1600">
              <a:solidFill>
                <a:srgbClr val="00274D"/>
              </a:solidFill>
              <a:ea typeface="Corbel" panose="020B0503020204020204" pitchFamily="34" charset="0"/>
              <a:cs typeface="Corbel" panose="020B0503020204020204" pitchFamily="34" charset="0"/>
            </a:endParaRPr>
          </a:p>
        </p:txBody>
      </p:sp>
      <p:sp>
        <p:nvSpPr>
          <p:cNvPr id="36879" name="Rectangle 33">
            <a:extLst>
              <a:ext uri="{FF2B5EF4-FFF2-40B4-BE49-F238E27FC236}">
                <a16:creationId xmlns:a16="http://schemas.microsoft.com/office/drawing/2014/main" id="{9CB297D7-9680-F807-5FD2-BB82A8FCF803}"/>
              </a:ext>
            </a:extLst>
          </p:cNvPr>
          <p:cNvSpPr>
            <a:spLocks noChangeArrowheads="1"/>
          </p:cNvSpPr>
          <p:nvPr/>
        </p:nvSpPr>
        <p:spPr bwMode="auto">
          <a:xfrm>
            <a:off x="6781800" y="5172075"/>
            <a:ext cx="2133600"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r>
              <a:rPr lang="en-US" altLang="en-US" sz="2000">
                <a:solidFill>
                  <a:srgbClr val="00274D"/>
                </a:solidFill>
                <a:ea typeface="Corbel" panose="020B0503020204020204" pitchFamily="34" charset="0"/>
                <a:cs typeface="Corbel" panose="020B0503020204020204" pitchFamily="34" charset="0"/>
              </a:rPr>
              <a:t>ACCEPTANCE</a:t>
            </a:r>
            <a:endParaRPr lang="en-US" altLang="en-US" sz="1600">
              <a:solidFill>
                <a:srgbClr val="00274D"/>
              </a:solidFill>
              <a:ea typeface="Corbel" panose="020B0503020204020204" pitchFamily="34" charset="0"/>
              <a:cs typeface="Corbel" panose="020B0503020204020204" pitchFamily="34" charset="0"/>
            </a:endParaRPr>
          </a:p>
        </p:txBody>
      </p:sp>
      <p:sp>
        <p:nvSpPr>
          <p:cNvPr id="35" name="Right Arrow 34">
            <a:extLst>
              <a:ext uri="{FF2B5EF4-FFF2-40B4-BE49-F238E27FC236}">
                <a16:creationId xmlns:a16="http://schemas.microsoft.com/office/drawing/2014/main" id="{A7F58296-5179-7B48-F41E-921EE198D5F6}"/>
              </a:ext>
            </a:extLst>
          </p:cNvPr>
          <p:cNvSpPr/>
          <p:nvPr/>
        </p:nvSpPr>
        <p:spPr>
          <a:xfrm>
            <a:off x="5486400" y="1905000"/>
            <a:ext cx="1325563" cy="596900"/>
          </a:xfrm>
          <a:prstGeom prst="rightArrow">
            <a:avLst/>
          </a:prstGeom>
          <a:solidFill>
            <a:srgbClr val="121B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ln w="10160">
                <a:solidFill>
                  <a:schemeClr val="accent1"/>
                </a:solidFill>
                <a:prstDash val="solid"/>
              </a:ln>
              <a:solidFill>
                <a:srgbClr val="00274D"/>
              </a:solidFill>
              <a:effectLst>
                <a:outerShdw blurRad="38100" dist="32000" dir="5400000" algn="tl">
                  <a:srgbClr val="000000">
                    <a:alpha val="30000"/>
                  </a:srgbClr>
                </a:outerShdw>
              </a:effectLst>
              <a:cs typeface="Corbel"/>
            </a:endParaRPr>
          </a:p>
        </p:txBody>
      </p:sp>
      <p:sp>
        <p:nvSpPr>
          <p:cNvPr id="36881" name="Right Arrow 35">
            <a:extLst>
              <a:ext uri="{FF2B5EF4-FFF2-40B4-BE49-F238E27FC236}">
                <a16:creationId xmlns:a16="http://schemas.microsoft.com/office/drawing/2014/main" id="{F3448E39-1F63-5960-9C5C-14C4C71648A7}"/>
              </a:ext>
            </a:extLst>
          </p:cNvPr>
          <p:cNvSpPr>
            <a:spLocks noChangeArrowheads="1"/>
          </p:cNvSpPr>
          <p:nvPr/>
        </p:nvSpPr>
        <p:spPr bwMode="auto">
          <a:xfrm>
            <a:off x="5486400" y="3424238"/>
            <a:ext cx="1325563" cy="669925"/>
          </a:xfrm>
          <a:prstGeom prst="rightArrow">
            <a:avLst>
              <a:gd name="adj1" fmla="val 50000"/>
              <a:gd name="adj2" fmla="val 49943"/>
            </a:avLst>
          </a:prstGeom>
          <a:solidFill>
            <a:srgbClr val="4E5E5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endParaRPr lang="en-US" altLang="en-US" sz="2000">
              <a:solidFill>
                <a:srgbClr val="00274D"/>
              </a:solidFill>
              <a:ea typeface="Corbel" panose="020B0503020204020204" pitchFamily="34" charset="0"/>
              <a:cs typeface="Corbel" panose="020B0503020204020204" pitchFamily="34" charset="0"/>
            </a:endParaRPr>
          </a:p>
        </p:txBody>
      </p:sp>
      <p:sp>
        <p:nvSpPr>
          <p:cNvPr id="36882" name="Right Arrow 36">
            <a:extLst>
              <a:ext uri="{FF2B5EF4-FFF2-40B4-BE49-F238E27FC236}">
                <a16:creationId xmlns:a16="http://schemas.microsoft.com/office/drawing/2014/main" id="{07013F1E-ED0A-5BEF-E4BD-7AD0C6489A2B}"/>
              </a:ext>
            </a:extLst>
          </p:cNvPr>
          <p:cNvSpPr>
            <a:spLocks noChangeArrowheads="1"/>
          </p:cNvSpPr>
          <p:nvPr/>
        </p:nvSpPr>
        <p:spPr bwMode="auto">
          <a:xfrm>
            <a:off x="5486400" y="5030788"/>
            <a:ext cx="1325563" cy="669925"/>
          </a:xfrm>
          <a:prstGeom prst="rightArrow">
            <a:avLst>
              <a:gd name="adj1" fmla="val 50000"/>
              <a:gd name="adj2" fmla="val 49943"/>
            </a:avLst>
          </a:prstGeom>
          <a:solidFill>
            <a:srgbClr val="A5A17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endParaRPr lang="en-US" altLang="en-US" sz="2000">
              <a:solidFill>
                <a:srgbClr val="00274D"/>
              </a:solidFill>
              <a:ea typeface="Corbel" panose="020B0503020204020204" pitchFamily="34" charset="0"/>
              <a:cs typeface="Corbel" panose="020B0503020204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a:extLst>
              <a:ext uri="{FF2B5EF4-FFF2-40B4-BE49-F238E27FC236}">
                <a16:creationId xmlns:a16="http://schemas.microsoft.com/office/drawing/2014/main" id="{C92C05D3-273C-2D48-2D11-EEF02D6CBF63}"/>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9B6E7D01-2683-4AAC-967A-74C48C77DFA3}"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16</a:t>
            </a:fld>
            <a:endParaRPr lang="en-US" altLang="en-US" sz="1100">
              <a:solidFill>
                <a:schemeClr val="bg1"/>
              </a:solidFill>
              <a:ea typeface="Corbel" panose="020B0503020204020204" pitchFamily="34" charset="0"/>
              <a:cs typeface="Corbel" panose="020B0503020204020204" pitchFamily="34" charset="0"/>
            </a:endParaRPr>
          </a:p>
        </p:txBody>
      </p:sp>
      <p:grpSp>
        <p:nvGrpSpPr>
          <p:cNvPr id="37891" name="Group 22">
            <a:extLst>
              <a:ext uri="{FF2B5EF4-FFF2-40B4-BE49-F238E27FC236}">
                <a16:creationId xmlns:a16="http://schemas.microsoft.com/office/drawing/2014/main" id="{6AEC4837-9701-CFEB-4718-8A002DFBEAEE}"/>
              </a:ext>
            </a:extLst>
          </p:cNvPr>
          <p:cNvGrpSpPr>
            <a:grpSpLocks/>
          </p:cNvGrpSpPr>
          <p:nvPr/>
        </p:nvGrpSpPr>
        <p:grpSpPr bwMode="auto">
          <a:xfrm>
            <a:off x="952500" y="2057400"/>
            <a:ext cx="7239000" cy="749300"/>
            <a:chOff x="952500" y="2057400"/>
            <a:chExt cx="7239000" cy="749141"/>
          </a:xfrm>
        </p:grpSpPr>
        <p:sp>
          <p:nvSpPr>
            <p:cNvPr id="6" name="TextBox 5">
              <a:extLst>
                <a:ext uri="{FF2B5EF4-FFF2-40B4-BE49-F238E27FC236}">
                  <a16:creationId xmlns:a16="http://schemas.microsoft.com/office/drawing/2014/main" id="{5C5D56F0-30EF-A618-5FB3-63A21710CB03}"/>
                </a:ext>
              </a:extLst>
            </p:cNvPr>
            <p:cNvSpPr txBox="1"/>
            <p:nvPr/>
          </p:nvSpPr>
          <p:spPr>
            <a:xfrm>
              <a:off x="2552700" y="2057400"/>
              <a:ext cx="5638800" cy="749141"/>
            </a:xfrm>
            <a:prstGeom prst="roundRect">
              <a:avLst/>
            </a:prstGeom>
            <a:ln>
              <a:solidFill>
                <a:srgbClr val="0F1A31"/>
              </a:solidFill>
            </a:ln>
          </p:spPr>
          <p:style>
            <a:lnRef idx="2">
              <a:schemeClr val="dk1"/>
            </a:lnRef>
            <a:fillRef idx="1">
              <a:schemeClr val="lt1"/>
            </a:fillRef>
            <a:effectRef idx="0">
              <a:schemeClr val="dk1"/>
            </a:effectRef>
            <a:fontRef idx="minor">
              <a:schemeClr val="dk1"/>
            </a:fontRef>
          </p:style>
          <p:txBody>
            <a:bodyPr>
              <a:spAutoFit/>
            </a:bodyPr>
            <a:lstStyle/>
            <a:p>
              <a:pPr marL="168275" lvl="1" indent="-19050" eaLnBrk="1" fontAlgn="auto" hangingPunct="1">
                <a:lnSpc>
                  <a:spcPct val="95000"/>
                </a:lnSpc>
                <a:spcBef>
                  <a:spcPts val="0"/>
                </a:spcBef>
                <a:spcAft>
                  <a:spcPts val="0"/>
                </a:spcAft>
                <a:buClr>
                  <a:srgbClr val="7F7F7F"/>
                </a:buClr>
                <a:buSzPct val="100000"/>
                <a:defRPr/>
              </a:pPr>
              <a:r>
                <a:rPr lang="en-US" sz="2000" dirty="0">
                  <a:solidFill>
                    <a:srgbClr val="00274D"/>
                  </a:solidFill>
                  <a:cs typeface="Corbel"/>
                </a:rPr>
                <a:t>Long-term investments placed for a year usually achieve lower rates.</a:t>
              </a:r>
              <a:endParaRPr lang="en-US" sz="1600" dirty="0">
                <a:solidFill>
                  <a:srgbClr val="00274D"/>
                </a:solidFill>
                <a:cs typeface="Corbel"/>
              </a:endParaRPr>
            </a:p>
          </p:txBody>
        </p:sp>
        <p:sp>
          <p:nvSpPr>
            <p:cNvPr id="11" name="Right Arrow 10">
              <a:extLst>
                <a:ext uri="{FF2B5EF4-FFF2-40B4-BE49-F238E27FC236}">
                  <a16:creationId xmlns:a16="http://schemas.microsoft.com/office/drawing/2014/main" id="{29BD1204-E2E4-A156-C1C5-9E092012647E}"/>
                </a:ext>
              </a:extLst>
            </p:cNvPr>
            <p:cNvSpPr/>
            <p:nvPr/>
          </p:nvSpPr>
          <p:spPr>
            <a:xfrm>
              <a:off x="952500" y="2090731"/>
              <a:ext cx="1524000" cy="685654"/>
            </a:xfrm>
            <a:prstGeom prst="rightArrow">
              <a:avLst/>
            </a:prstGeom>
            <a:solidFill>
              <a:srgbClr val="121B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ln w="10160">
                  <a:solidFill>
                    <a:schemeClr val="accent1"/>
                  </a:solidFill>
                  <a:prstDash val="solid"/>
                </a:ln>
                <a:solidFill>
                  <a:srgbClr val="00274D"/>
                </a:solidFill>
                <a:effectLst>
                  <a:outerShdw blurRad="38100" dist="32000" dir="5400000" algn="tl">
                    <a:srgbClr val="000000">
                      <a:alpha val="30000"/>
                    </a:srgbClr>
                  </a:outerShdw>
                </a:effectLst>
                <a:cs typeface="Corbel"/>
              </a:endParaRPr>
            </a:p>
          </p:txBody>
        </p:sp>
      </p:grpSp>
      <p:grpSp>
        <p:nvGrpSpPr>
          <p:cNvPr id="37892" name="Group 21">
            <a:extLst>
              <a:ext uri="{FF2B5EF4-FFF2-40B4-BE49-F238E27FC236}">
                <a16:creationId xmlns:a16="http://schemas.microsoft.com/office/drawing/2014/main" id="{AA7DF9A2-53B8-67ED-97AB-1CF8F85EEBCA}"/>
              </a:ext>
            </a:extLst>
          </p:cNvPr>
          <p:cNvGrpSpPr>
            <a:grpSpLocks/>
          </p:cNvGrpSpPr>
          <p:nvPr/>
        </p:nvGrpSpPr>
        <p:grpSpPr bwMode="auto">
          <a:xfrm>
            <a:off x="952500" y="2900363"/>
            <a:ext cx="7239000" cy="769937"/>
            <a:chOff x="952500" y="2893293"/>
            <a:chExt cx="7239000" cy="769327"/>
          </a:xfrm>
        </p:grpSpPr>
        <p:sp>
          <p:nvSpPr>
            <p:cNvPr id="7" name="TextBox 6">
              <a:extLst>
                <a:ext uri="{FF2B5EF4-FFF2-40B4-BE49-F238E27FC236}">
                  <a16:creationId xmlns:a16="http://schemas.microsoft.com/office/drawing/2014/main" id="{CF3DF46C-BEDA-6A32-C413-38EF90C23238}"/>
                </a:ext>
              </a:extLst>
            </p:cNvPr>
            <p:cNvSpPr txBox="1"/>
            <p:nvPr/>
          </p:nvSpPr>
          <p:spPr>
            <a:xfrm>
              <a:off x="2552700" y="2903386"/>
              <a:ext cx="5638800" cy="749141"/>
            </a:xfrm>
            <a:prstGeom prst="roundRect">
              <a:avLst/>
            </a:prstGeom>
            <a:noFill/>
            <a:ln w="19050">
              <a:solidFill>
                <a:srgbClr val="2F424A"/>
              </a:solidFill>
            </a:ln>
            <a:scene3d>
              <a:camera prst="orthographicFront"/>
              <a:lightRig rig="threePt" dir="t"/>
            </a:scene3d>
            <a:sp3d>
              <a:bevelT/>
            </a:sp3d>
          </p:spPr>
          <p:txBody>
            <a:bodyPr>
              <a:spAutoFit/>
            </a:bodyPr>
            <a:lstStyle>
              <a:lvl1pPr marL="342900" indent="-342900">
                <a:defRPr>
                  <a:solidFill>
                    <a:schemeClr val="tx1"/>
                  </a:solidFill>
                  <a:latin typeface="Arial" charset="0"/>
                  <a:ea typeface="ＭＳ Ｐゴシック" charset="0"/>
                  <a:cs typeface="Arial" charset="0"/>
                </a:defRPr>
              </a:lvl1pPr>
              <a:lvl2pPr marL="168275" indent="-190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lvl="1" eaLnBrk="1" fontAlgn="auto" hangingPunct="1">
                <a:lnSpc>
                  <a:spcPct val="95000"/>
                </a:lnSpc>
                <a:spcBef>
                  <a:spcPts val="0"/>
                </a:spcBef>
                <a:spcAft>
                  <a:spcPts val="0"/>
                </a:spcAft>
                <a:buClr>
                  <a:srgbClr val="7F7F7F"/>
                </a:buClr>
                <a:buSzPct val="100000"/>
                <a:defRPr/>
              </a:pPr>
              <a:r>
                <a:rPr lang="en-US" sz="2000" dirty="0">
                  <a:solidFill>
                    <a:srgbClr val="00274D"/>
                  </a:solidFill>
                  <a:latin typeface="Corbel"/>
                  <a:ea typeface="Corbel"/>
                  <a:cs typeface="Corbel"/>
                </a:rPr>
                <a:t>Advertising </a:t>
              </a:r>
              <a:r>
                <a:rPr lang="ja-JP" altLang="en-US" sz="2000" dirty="0">
                  <a:solidFill>
                    <a:srgbClr val="00274D"/>
                  </a:solidFill>
                  <a:latin typeface="Corbel"/>
                  <a:ea typeface="Corbel"/>
                  <a:cs typeface="Corbel"/>
                </a:rPr>
                <a:t>“</a:t>
              </a:r>
              <a:r>
                <a:rPr lang="en-US" sz="2000" dirty="0">
                  <a:solidFill>
                    <a:srgbClr val="00274D"/>
                  </a:solidFill>
                  <a:latin typeface="Corbel"/>
                  <a:ea typeface="Corbel"/>
                  <a:cs typeface="Corbel"/>
                </a:rPr>
                <a:t>Away from the Clutter” gains the competitive edge.</a:t>
              </a:r>
              <a:endParaRPr lang="en-US" sz="1600" dirty="0">
                <a:solidFill>
                  <a:srgbClr val="00274D"/>
                </a:solidFill>
                <a:latin typeface="Corbel"/>
                <a:ea typeface="Corbel"/>
                <a:cs typeface="Corbel"/>
              </a:endParaRPr>
            </a:p>
          </p:txBody>
        </p:sp>
        <p:sp>
          <p:nvSpPr>
            <p:cNvPr id="37912" name="Right Arrow 11">
              <a:extLst>
                <a:ext uri="{FF2B5EF4-FFF2-40B4-BE49-F238E27FC236}">
                  <a16:creationId xmlns:a16="http://schemas.microsoft.com/office/drawing/2014/main" id="{8ACF76E5-EF79-E724-9084-69F46FF17808}"/>
                </a:ext>
              </a:extLst>
            </p:cNvPr>
            <p:cNvSpPr>
              <a:spLocks noChangeArrowheads="1"/>
            </p:cNvSpPr>
            <p:nvPr/>
          </p:nvSpPr>
          <p:spPr bwMode="auto">
            <a:xfrm>
              <a:off x="952500" y="2893293"/>
              <a:ext cx="1524000" cy="769327"/>
            </a:xfrm>
            <a:prstGeom prst="rightArrow">
              <a:avLst>
                <a:gd name="adj1" fmla="val 50000"/>
                <a:gd name="adj2" fmla="val 50001"/>
              </a:avLst>
            </a:prstGeom>
            <a:solidFill>
              <a:srgbClr val="2F424A"/>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endParaRPr lang="en-US" altLang="en-US" sz="2000">
                <a:solidFill>
                  <a:srgbClr val="00274D"/>
                </a:solidFill>
                <a:ea typeface="Corbel" panose="020B0503020204020204" pitchFamily="34" charset="0"/>
                <a:cs typeface="Corbel" panose="020B0503020204020204" pitchFamily="34" charset="0"/>
              </a:endParaRPr>
            </a:p>
          </p:txBody>
        </p:sp>
      </p:grpSp>
      <p:grpSp>
        <p:nvGrpSpPr>
          <p:cNvPr id="37893" name="Group 2">
            <a:extLst>
              <a:ext uri="{FF2B5EF4-FFF2-40B4-BE49-F238E27FC236}">
                <a16:creationId xmlns:a16="http://schemas.microsoft.com/office/drawing/2014/main" id="{86E2DA0E-0B0B-96BF-391F-9899ECFEDA27}"/>
              </a:ext>
            </a:extLst>
          </p:cNvPr>
          <p:cNvGrpSpPr>
            <a:grpSpLocks/>
          </p:cNvGrpSpPr>
          <p:nvPr/>
        </p:nvGrpSpPr>
        <p:grpSpPr bwMode="auto">
          <a:xfrm>
            <a:off x="952500" y="5484813"/>
            <a:ext cx="7239000" cy="768350"/>
            <a:chOff x="952500" y="5484168"/>
            <a:chExt cx="7239000" cy="769327"/>
          </a:xfrm>
        </p:grpSpPr>
        <p:sp>
          <p:nvSpPr>
            <p:cNvPr id="10" name="TextBox 9">
              <a:extLst>
                <a:ext uri="{FF2B5EF4-FFF2-40B4-BE49-F238E27FC236}">
                  <a16:creationId xmlns:a16="http://schemas.microsoft.com/office/drawing/2014/main" id="{94D3C989-4AB8-A53B-E164-2861D732DD2D}"/>
                </a:ext>
              </a:extLst>
            </p:cNvPr>
            <p:cNvSpPr txBox="1"/>
            <p:nvPr/>
          </p:nvSpPr>
          <p:spPr>
            <a:xfrm>
              <a:off x="2552700" y="5494261"/>
              <a:ext cx="5638800" cy="749141"/>
            </a:xfrm>
            <a:prstGeom prst="roundRect">
              <a:avLst/>
            </a:prstGeom>
            <a:noFill/>
            <a:ln w="19050">
              <a:solidFill>
                <a:srgbClr val="A5A172"/>
              </a:solidFill>
            </a:ln>
            <a:scene3d>
              <a:camera prst="orthographicFront"/>
              <a:lightRig rig="threePt" dir="t"/>
            </a:scene3d>
            <a:sp3d>
              <a:bevelT/>
            </a:sp3d>
          </p:spPr>
          <p:txBody>
            <a:bodyPr>
              <a:spAutoFit/>
            </a:bodyPr>
            <a:lstStyle/>
            <a:p>
              <a:pPr marL="168275" lvl="1" indent="-19050" eaLnBrk="1" fontAlgn="auto" hangingPunct="1">
                <a:lnSpc>
                  <a:spcPct val="95000"/>
                </a:lnSpc>
                <a:spcBef>
                  <a:spcPts val="0"/>
                </a:spcBef>
                <a:spcAft>
                  <a:spcPts val="0"/>
                </a:spcAft>
                <a:buClr>
                  <a:srgbClr val="7F7F7F"/>
                </a:buClr>
                <a:buSzPct val="100000"/>
                <a:defRPr/>
              </a:pPr>
              <a:r>
                <a:rPr lang="en-US" sz="2000" dirty="0">
                  <a:solidFill>
                    <a:srgbClr val="00274D"/>
                  </a:solidFill>
                  <a:latin typeface="Corbel"/>
                  <a:cs typeface="Corbel"/>
                </a:rPr>
                <a:t>All successful businesses consider long-range strategic planning a smart business decision.</a:t>
              </a:r>
            </a:p>
          </p:txBody>
        </p:sp>
        <p:sp>
          <p:nvSpPr>
            <p:cNvPr id="37908" name="Right Arrow 14">
              <a:extLst>
                <a:ext uri="{FF2B5EF4-FFF2-40B4-BE49-F238E27FC236}">
                  <a16:creationId xmlns:a16="http://schemas.microsoft.com/office/drawing/2014/main" id="{044025F1-4452-B3A2-5517-2743DE2FA510}"/>
                </a:ext>
              </a:extLst>
            </p:cNvPr>
            <p:cNvSpPr>
              <a:spLocks noChangeArrowheads="1"/>
            </p:cNvSpPr>
            <p:nvPr/>
          </p:nvSpPr>
          <p:spPr bwMode="auto">
            <a:xfrm>
              <a:off x="952500" y="5484168"/>
              <a:ext cx="1524000" cy="769327"/>
            </a:xfrm>
            <a:prstGeom prst="rightArrow">
              <a:avLst>
                <a:gd name="adj1" fmla="val 50000"/>
                <a:gd name="adj2" fmla="val 50001"/>
              </a:avLst>
            </a:prstGeom>
            <a:solidFill>
              <a:srgbClr val="A5A17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endParaRPr lang="en-US" altLang="en-US" sz="2000">
                <a:solidFill>
                  <a:srgbClr val="00274D"/>
                </a:solidFill>
                <a:ea typeface="Corbel" panose="020B0503020204020204" pitchFamily="34" charset="0"/>
                <a:cs typeface="Corbel" panose="020B0503020204020204" pitchFamily="34" charset="0"/>
              </a:endParaRPr>
            </a:p>
          </p:txBody>
        </p:sp>
      </p:grpSp>
      <p:sp>
        <p:nvSpPr>
          <p:cNvPr id="37894" name="Rectangle 1">
            <a:extLst>
              <a:ext uri="{FF2B5EF4-FFF2-40B4-BE49-F238E27FC236}">
                <a16:creationId xmlns:a16="http://schemas.microsoft.com/office/drawing/2014/main" id="{DFD13815-A667-2099-D87C-51F30D207435}"/>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Advantages to </a:t>
            </a:r>
          </a:p>
          <a:p>
            <a:pPr algn="ctr" eaLnBrk="1" hangingPunct="1"/>
            <a:r>
              <a:rPr lang="en-US" altLang="en-US" sz="4000" b="1">
                <a:solidFill>
                  <a:srgbClr val="00274D"/>
                </a:solidFill>
                <a:ea typeface="Corbel" panose="020B0503020204020204" pitchFamily="34" charset="0"/>
                <a:cs typeface="Corbel" panose="020B0503020204020204" pitchFamily="34" charset="0"/>
              </a:rPr>
              <a:t>Long-Range Strategic Planning</a:t>
            </a:r>
          </a:p>
        </p:txBody>
      </p:sp>
      <p:grpSp>
        <p:nvGrpSpPr>
          <p:cNvPr id="37895" name="Group 20">
            <a:extLst>
              <a:ext uri="{FF2B5EF4-FFF2-40B4-BE49-F238E27FC236}">
                <a16:creationId xmlns:a16="http://schemas.microsoft.com/office/drawing/2014/main" id="{B0DA8F08-9691-9FBE-FB55-F26CCD32C78D}"/>
              </a:ext>
            </a:extLst>
          </p:cNvPr>
          <p:cNvGrpSpPr>
            <a:grpSpLocks/>
          </p:cNvGrpSpPr>
          <p:nvPr/>
        </p:nvGrpSpPr>
        <p:grpSpPr bwMode="auto">
          <a:xfrm>
            <a:off x="952500" y="3762375"/>
            <a:ext cx="7239000" cy="768350"/>
            <a:chOff x="952500" y="3743779"/>
            <a:chExt cx="7239000" cy="769327"/>
          </a:xfrm>
        </p:grpSpPr>
        <p:sp>
          <p:nvSpPr>
            <p:cNvPr id="37901" name="Right Arrow 12">
              <a:extLst>
                <a:ext uri="{FF2B5EF4-FFF2-40B4-BE49-F238E27FC236}">
                  <a16:creationId xmlns:a16="http://schemas.microsoft.com/office/drawing/2014/main" id="{DC0C7C43-09A9-7B4E-6B61-77B8F816EA63}"/>
                </a:ext>
              </a:extLst>
            </p:cNvPr>
            <p:cNvSpPr>
              <a:spLocks noChangeArrowheads="1"/>
            </p:cNvSpPr>
            <p:nvPr/>
          </p:nvSpPr>
          <p:spPr bwMode="auto">
            <a:xfrm>
              <a:off x="952500" y="3743779"/>
              <a:ext cx="1524000" cy="769327"/>
            </a:xfrm>
            <a:prstGeom prst="rightArrow">
              <a:avLst>
                <a:gd name="adj1" fmla="val 50000"/>
                <a:gd name="adj2" fmla="val 50001"/>
              </a:avLst>
            </a:prstGeom>
            <a:solidFill>
              <a:srgbClr val="4E5E53"/>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endParaRPr lang="en-US" altLang="en-US" sz="2000">
                <a:solidFill>
                  <a:srgbClr val="00274D"/>
                </a:solidFill>
                <a:ea typeface="Corbel" panose="020B0503020204020204" pitchFamily="34" charset="0"/>
                <a:cs typeface="Corbel" panose="020B0503020204020204" pitchFamily="34" charset="0"/>
              </a:endParaRPr>
            </a:p>
          </p:txBody>
        </p:sp>
        <p:sp>
          <p:nvSpPr>
            <p:cNvPr id="18" name="TextBox 17">
              <a:extLst>
                <a:ext uri="{FF2B5EF4-FFF2-40B4-BE49-F238E27FC236}">
                  <a16:creationId xmlns:a16="http://schemas.microsoft.com/office/drawing/2014/main" id="{78F655B1-2272-9AEB-8FD0-05FA08FCFBF7}"/>
                </a:ext>
              </a:extLst>
            </p:cNvPr>
            <p:cNvSpPr txBox="1"/>
            <p:nvPr/>
          </p:nvSpPr>
          <p:spPr>
            <a:xfrm>
              <a:off x="2552700" y="3752453"/>
              <a:ext cx="5638800" cy="751979"/>
            </a:xfrm>
            <a:prstGeom prst="roundRect">
              <a:avLst/>
            </a:prstGeom>
            <a:noFill/>
            <a:ln w="19050">
              <a:solidFill>
                <a:srgbClr val="4E5E53"/>
              </a:solidFill>
            </a:ln>
            <a:scene3d>
              <a:camera prst="orthographicFront"/>
              <a:lightRig rig="threePt" dir="t"/>
            </a:scene3d>
            <a:sp3d>
              <a:bevelT/>
            </a:sp3d>
          </p:spPr>
          <p:txBody>
            <a:bodyPr>
              <a:spAutoFit/>
            </a:bodyPr>
            <a:lstStyle>
              <a:lvl1pPr marL="342900" indent="-342900">
                <a:defRPr>
                  <a:solidFill>
                    <a:schemeClr val="tx1"/>
                  </a:solidFill>
                  <a:latin typeface="Arial" charset="0"/>
                  <a:ea typeface="ＭＳ Ｐゴシック" charset="0"/>
                  <a:cs typeface="Arial" charset="0"/>
                </a:defRPr>
              </a:lvl1pPr>
              <a:lvl2pPr marL="168275" indent="-190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lvl="1" eaLnBrk="1" fontAlgn="auto" hangingPunct="1">
                <a:lnSpc>
                  <a:spcPct val="95000"/>
                </a:lnSpc>
                <a:spcBef>
                  <a:spcPts val="0"/>
                </a:spcBef>
                <a:spcAft>
                  <a:spcPts val="0"/>
                </a:spcAft>
                <a:buClr>
                  <a:srgbClr val="7F7F7F"/>
                </a:buClr>
                <a:buSzPct val="100000"/>
                <a:defRPr/>
              </a:pPr>
              <a:r>
                <a:rPr lang="en-US" sz="2000" dirty="0">
                  <a:solidFill>
                    <a:srgbClr val="00274D"/>
                  </a:solidFill>
                  <a:latin typeface="Corbel"/>
                  <a:ea typeface="Corbel"/>
                  <a:cs typeface="Corbel"/>
                </a:rPr>
                <a:t>Consistent continuity creates lasting impressions, not short-term attention. </a:t>
              </a:r>
              <a:endParaRPr lang="en-US" sz="1600" dirty="0">
                <a:solidFill>
                  <a:srgbClr val="00274D"/>
                </a:solidFill>
                <a:latin typeface="Corbel"/>
                <a:ea typeface="Corbel"/>
                <a:cs typeface="Corbel"/>
              </a:endParaRPr>
            </a:p>
          </p:txBody>
        </p:sp>
      </p:grpSp>
      <p:grpSp>
        <p:nvGrpSpPr>
          <p:cNvPr id="37896" name="Group 3">
            <a:extLst>
              <a:ext uri="{FF2B5EF4-FFF2-40B4-BE49-F238E27FC236}">
                <a16:creationId xmlns:a16="http://schemas.microsoft.com/office/drawing/2014/main" id="{F735ECA1-CEEB-125C-CB90-AE9508659060}"/>
              </a:ext>
            </a:extLst>
          </p:cNvPr>
          <p:cNvGrpSpPr>
            <a:grpSpLocks/>
          </p:cNvGrpSpPr>
          <p:nvPr/>
        </p:nvGrpSpPr>
        <p:grpSpPr bwMode="auto">
          <a:xfrm>
            <a:off x="952500" y="4622800"/>
            <a:ext cx="7239000" cy="769938"/>
            <a:chOff x="952500" y="4627277"/>
            <a:chExt cx="7239000" cy="769327"/>
          </a:xfrm>
        </p:grpSpPr>
        <p:sp>
          <p:nvSpPr>
            <p:cNvPr id="37897" name="Right Arrow 13">
              <a:extLst>
                <a:ext uri="{FF2B5EF4-FFF2-40B4-BE49-F238E27FC236}">
                  <a16:creationId xmlns:a16="http://schemas.microsoft.com/office/drawing/2014/main" id="{4F36267D-A62E-FE42-F700-0C48162D292B}"/>
                </a:ext>
              </a:extLst>
            </p:cNvPr>
            <p:cNvSpPr>
              <a:spLocks noChangeArrowheads="1"/>
            </p:cNvSpPr>
            <p:nvPr/>
          </p:nvSpPr>
          <p:spPr bwMode="auto">
            <a:xfrm>
              <a:off x="952500" y="4627277"/>
              <a:ext cx="1524000" cy="769327"/>
            </a:xfrm>
            <a:prstGeom prst="rightArrow">
              <a:avLst>
                <a:gd name="adj1" fmla="val 50000"/>
                <a:gd name="adj2" fmla="val 50001"/>
              </a:avLst>
            </a:prstGeom>
            <a:solidFill>
              <a:srgbClr val="7B836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orbel" panose="020B0503020204020204" pitchFamily="34" charset="0"/>
                </a:defRPr>
              </a:lvl1pPr>
              <a:lvl2pPr marL="168275" indent="-190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eaLnBrk="1" hangingPunct="1">
                <a:lnSpc>
                  <a:spcPct val="95000"/>
                </a:lnSpc>
                <a:buClr>
                  <a:srgbClr val="7F7F7F"/>
                </a:buClr>
                <a:buSzPct val="100000"/>
              </a:pPr>
              <a:endParaRPr lang="en-US" altLang="en-US" sz="2000">
                <a:solidFill>
                  <a:srgbClr val="00274D"/>
                </a:solidFill>
                <a:ea typeface="Corbel" panose="020B0503020204020204" pitchFamily="34" charset="0"/>
                <a:cs typeface="Corbel" panose="020B0503020204020204" pitchFamily="34" charset="0"/>
              </a:endParaRPr>
            </a:p>
          </p:txBody>
        </p:sp>
        <p:sp>
          <p:nvSpPr>
            <p:cNvPr id="19" name="TextBox 18">
              <a:extLst>
                <a:ext uri="{FF2B5EF4-FFF2-40B4-BE49-F238E27FC236}">
                  <a16:creationId xmlns:a16="http://schemas.microsoft.com/office/drawing/2014/main" id="{E6B61017-22ED-EE94-35A0-A5C3929EB957}"/>
                </a:ext>
              </a:extLst>
            </p:cNvPr>
            <p:cNvSpPr txBox="1"/>
            <p:nvPr/>
          </p:nvSpPr>
          <p:spPr>
            <a:xfrm>
              <a:off x="2552700" y="4635951"/>
              <a:ext cx="5638800" cy="751979"/>
            </a:xfrm>
            <a:prstGeom prst="roundRect">
              <a:avLst/>
            </a:prstGeom>
            <a:noFill/>
            <a:ln w="19050">
              <a:solidFill>
                <a:srgbClr val="7B8364"/>
              </a:solidFill>
            </a:ln>
            <a:scene3d>
              <a:camera prst="orthographicFront"/>
              <a:lightRig rig="threePt" dir="t"/>
            </a:scene3d>
            <a:sp3d>
              <a:bevelT/>
            </a:sp3d>
          </p:spPr>
          <p:txBody>
            <a:bodyPr>
              <a:spAutoFit/>
            </a:bodyPr>
            <a:lstStyle>
              <a:lvl1pPr marL="342900" indent="-342900">
                <a:defRPr>
                  <a:solidFill>
                    <a:schemeClr val="tx1"/>
                  </a:solidFill>
                  <a:latin typeface="Arial" charset="0"/>
                  <a:ea typeface="ＭＳ Ｐゴシック" charset="0"/>
                  <a:cs typeface="Arial" charset="0"/>
                </a:defRPr>
              </a:lvl1pPr>
              <a:lvl2pPr marL="168275" indent="-19050">
                <a:defRPr>
                  <a:solidFill>
                    <a:schemeClr val="tx1"/>
                  </a:solidFill>
                  <a:latin typeface="Arial" charset="0"/>
                  <a:ea typeface="Arial" charset="0"/>
                  <a:cs typeface="Arial" charset="0"/>
                </a:defRPr>
              </a:lvl2pPr>
              <a:lvl3pPr marL="1143000" indent="-228600">
                <a:defRPr>
                  <a:solidFill>
                    <a:schemeClr val="tx1"/>
                  </a:solidFill>
                  <a:latin typeface="Arial" charset="0"/>
                  <a:ea typeface="Arial" charset="0"/>
                  <a:cs typeface="Arial" charset="0"/>
                </a:defRPr>
              </a:lvl3pPr>
              <a:lvl4pPr marL="1600200" indent="-228600">
                <a:defRPr>
                  <a:solidFill>
                    <a:schemeClr val="tx1"/>
                  </a:solidFill>
                  <a:latin typeface="Arial" charset="0"/>
                  <a:ea typeface="Arial" charset="0"/>
                  <a:cs typeface="Arial" charset="0"/>
                </a:defRPr>
              </a:lvl4pPr>
              <a:lvl5pPr marL="2057400" indent="-22860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lvl="1" eaLnBrk="1" fontAlgn="auto" hangingPunct="1">
                <a:lnSpc>
                  <a:spcPct val="95000"/>
                </a:lnSpc>
                <a:spcBef>
                  <a:spcPts val="0"/>
                </a:spcBef>
                <a:spcAft>
                  <a:spcPts val="0"/>
                </a:spcAft>
                <a:buClr>
                  <a:srgbClr val="7F7F7F"/>
                </a:buClr>
                <a:buSzPct val="100000"/>
                <a:defRPr/>
              </a:pPr>
              <a:r>
                <a:rPr lang="en-US" sz="2000" dirty="0">
                  <a:solidFill>
                    <a:srgbClr val="00274D"/>
                  </a:solidFill>
                  <a:latin typeface="Corbel"/>
                  <a:ea typeface="Corbel"/>
                  <a:cs typeface="Corbel"/>
                </a:rPr>
                <a:t>Consistent advertising creates the image of credibility and stability.</a:t>
              </a:r>
              <a:endParaRPr lang="en-US" sz="1600" dirty="0">
                <a:solidFill>
                  <a:srgbClr val="00274D"/>
                </a:solidFill>
                <a:latin typeface="Corbel"/>
                <a:ea typeface="Corbel"/>
                <a:cs typeface="Corbe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a:extLst>
              <a:ext uri="{FF2B5EF4-FFF2-40B4-BE49-F238E27FC236}">
                <a16:creationId xmlns:a16="http://schemas.microsoft.com/office/drawing/2014/main" id="{B2062D49-7D25-A005-0DF8-91301BDAB519}"/>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D5F3F506-CB40-401D-AF7F-575C362DDF1D}"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17</a:t>
            </a:fld>
            <a:endParaRPr lang="en-US" altLang="en-US" sz="1100">
              <a:solidFill>
                <a:schemeClr val="bg1"/>
              </a:solidFill>
              <a:ea typeface="Corbel" panose="020B0503020204020204" pitchFamily="34" charset="0"/>
              <a:cs typeface="Corbel" panose="020B0503020204020204" pitchFamily="34" charset="0"/>
            </a:endParaRPr>
          </a:p>
        </p:txBody>
      </p:sp>
      <p:sp>
        <p:nvSpPr>
          <p:cNvPr id="38915" name="Rectangle 1">
            <a:extLst>
              <a:ext uri="{FF2B5EF4-FFF2-40B4-BE49-F238E27FC236}">
                <a16:creationId xmlns:a16="http://schemas.microsoft.com/office/drawing/2014/main" id="{677C98FC-3C67-99C1-CE8D-271BF5635F9C}"/>
              </a:ext>
            </a:extLst>
          </p:cNvPr>
          <p:cNvSpPr>
            <a:spLocks noGrp="1" noChangeArrowheads="1"/>
          </p:cNvSpPr>
          <p:nvPr>
            <p:ph type="title"/>
          </p:nvPr>
        </p:nvSpPr>
        <p:spPr>
          <a:xfrm>
            <a:off x="309563" y="304800"/>
            <a:ext cx="8524875" cy="615950"/>
          </a:xfrm>
        </p:spPr>
        <p:txBody>
          <a:bodyPr/>
          <a:lstStyle/>
          <a:p>
            <a:r>
              <a:rPr lang="en-US" altLang="en-US" sz="4000" b="1">
                <a:solidFill>
                  <a:schemeClr val="tx1"/>
                </a:solidFill>
                <a:latin typeface="Corbel" panose="020B0503020204020204" pitchFamily="34" charset="0"/>
                <a:ea typeface="Corbel" panose="020B0503020204020204" pitchFamily="34" charset="0"/>
                <a:cs typeface="Corbel" panose="020B0503020204020204" pitchFamily="34" charset="0"/>
              </a:rPr>
              <a:t>Proposed Schedule – Plan A</a:t>
            </a:r>
          </a:p>
        </p:txBody>
      </p:sp>
      <p:sp>
        <p:nvSpPr>
          <p:cNvPr id="38916" name="Text Box 5">
            <a:extLst>
              <a:ext uri="{FF2B5EF4-FFF2-40B4-BE49-F238E27FC236}">
                <a16:creationId xmlns:a16="http://schemas.microsoft.com/office/drawing/2014/main" id="{A2C6E53F-5706-9ADA-9C6A-BD15AF92C322}"/>
              </a:ext>
            </a:extLst>
          </p:cNvPr>
          <p:cNvSpPr txBox="1">
            <a:spLocks noChangeArrowheads="1"/>
          </p:cNvSpPr>
          <p:nvPr/>
        </p:nvSpPr>
        <p:spPr bwMode="auto">
          <a:xfrm>
            <a:off x="422275" y="1093788"/>
            <a:ext cx="8367713"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eaLnBrk="1" hangingPunct="1">
              <a:lnSpc>
                <a:spcPct val="95000"/>
              </a:lnSpc>
              <a:spcBef>
                <a:spcPct val="0"/>
              </a:spcBef>
            </a:pPr>
            <a:r>
              <a:rPr lang="en-US" altLang="en-US" sz="1400" b="1">
                <a:solidFill>
                  <a:srgbClr val="000000"/>
                </a:solidFill>
                <a:latin typeface="Arial" panose="020B0604020202020204" pitchFamily="34" charset="0"/>
                <a:cs typeface="Arial" panose="020B0604020202020204" pitchFamily="34" charset="0"/>
              </a:rPr>
              <a:t>BUDGET BREAKOUT BY MONTH (For Next 12 Months)</a:t>
            </a:r>
            <a:endParaRPr lang="en-US" altLang="en-US">
              <a:latin typeface="Arial" panose="020B0604020202020204" pitchFamily="34" charset="0"/>
              <a:cs typeface="Arial" panose="020B0604020202020204" pitchFamily="34" charset="0"/>
            </a:endParaRPr>
          </a:p>
          <a:p>
            <a:pPr algn="ctr" eaLnBrk="1" hangingPunct="1">
              <a:lnSpc>
                <a:spcPct val="95000"/>
              </a:lnSpc>
              <a:spcBef>
                <a:spcPct val="0"/>
              </a:spcBef>
            </a:pPr>
            <a:r>
              <a:rPr lang="en-US" altLang="en-US" sz="2000" b="1" i="1">
                <a:latin typeface="Arial" panose="020B0604020202020204" pitchFamily="34" charset="0"/>
                <a:cs typeface="Arial" panose="020B0604020202020204" pitchFamily="34" charset="0"/>
              </a:rPr>
              <a:t>Proposed Media Plan</a:t>
            </a:r>
            <a:endParaRPr lang="en-US" altLang="en-US" sz="2000" b="1" i="1">
              <a:solidFill>
                <a:srgbClr val="000000"/>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52D9588D-33A7-8136-B3D6-060892FC2234}"/>
              </a:ext>
            </a:extLst>
          </p:cNvPr>
          <p:cNvSpPr>
            <a:spLocks noChangeArrowheads="1"/>
          </p:cNvSpPr>
          <p:nvPr/>
        </p:nvSpPr>
        <p:spPr bwMode="auto">
          <a:xfrm>
            <a:off x="7275513" y="3219450"/>
            <a:ext cx="204787" cy="206375"/>
          </a:xfrm>
          <a:prstGeom prst="rect">
            <a:avLst/>
          </a:prstGeom>
          <a:solidFill>
            <a:srgbClr val="00B050"/>
          </a:solidFill>
          <a:ln w="9525">
            <a:solidFill>
              <a:srgbClr val="000000"/>
            </a:solidFill>
            <a:miter lim="800000"/>
            <a:headEnd/>
            <a:tailEnd/>
          </a:ln>
          <a:effectLst>
            <a:outerShdw blurRad="65500" dist="38100" dir="5400000" rotWithShape="0">
              <a:srgbClr val="808080">
                <a:alpha val="39999"/>
              </a:srgbClr>
            </a:outerShdw>
          </a:effectLst>
        </p:spPr>
        <p:txBody>
          <a:bodyPr lIns="82296" tIns="41148" rIns="82296" bIns="41148" anchor="ctr"/>
          <a:lstStyle/>
          <a:p>
            <a:pPr algn="ctr">
              <a:defRPr/>
            </a:pPr>
            <a:endParaRPr lang="en-US">
              <a:solidFill>
                <a:schemeClr val="lt1"/>
              </a:solidFill>
              <a:latin typeface="+mn-lt"/>
            </a:endParaRPr>
          </a:p>
        </p:txBody>
      </p:sp>
      <p:sp>
        <p:nvSpPr>
          <p:cNvPr id="38918" name="TextBox 27">
            <a:extLst>
              <a:ext uri="{FF2B5EF4-FFF2-40B4-BE49-F238E27FC236}">
                <a16:creationId xmlns:a16="http://schemas.microsoft.com/office/drawing/2014/main" id="{532CBC0A-9FAA-C6D2-DF9C-089EEBFB6D0D}"/>
              </a:ext>
            </a:extLst>
          </p:cNvPr>
          <p:cNvSpPr txBox="1">
            <a:spLocks noChangeArrowheads="1"/>
          </p:cNvSpPr>
          <p:nvPr/>
        </p:nvSpPr>
        <p:spPr bwMode="auto">
          <a:xfrm>
            <a:off x="7480300" y="3151188"/>
            <a:ext cx="11779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300">
                <a:latin typeface="Arial" panose="020B0604020202020204" pitchFamily="34" charset="0"/>
                <a:cs typeface="Arial" panose="020B0604020202020204" pitchFamily="34" charset="0"/>
              </a:rPr>
              <a:t>Spike Months</a:t>
            </a:r>
          </a:p>
        </p:txBody>
      </p:sp>
      <p:graphicFrame>
        <p:nvGraphicFramePr>
          <p:cNvPr id="38919" name="Chart 5">
            <a:extLst>
              <a:ext uri="{FF2B5EF4-FFF2-40B4-BE49-F238E27FC236}">
                <a16:creationId xmlns:a16="http://schemas.microsoft.com/office/drawing/2014/main" id="{5F574026-3DCC-A83E-FD59-9C7DCC789937}"/>
              </a:ext>
            </a:extLst>
          </p:cNvPr>
          <p:cNvGraphicFramePr>
            <a:graphicFrameLocks/>
          </p:cNvGraphicFramePr>
          <p:nvPr/>
        </p:nvGraphicFramePr>
        <p:xfrm>
          <a:off x="608013" y="2103438"/>
          <a:ext cx="6546850" cy="3535362"/>
        </p:xfrm>
        <a:graphic>
          <a:graphicData uri="http://schemas.openxmlformats.org/presentationml/2006/ole">
            <mc:AlternateContent xmlns:mc="http://schemas.openxmlformats.org/markup-compatibility/2006">
              <mc:Choice xmlns:v="urn:schemas-microsoft-com:vml" Requires="v">
                <p:oleObj name="Worksheet" r:id="rId2" imgW="6362648" imgH="3181281" progId="Excel.Sheet.8">
                  <p:embed/>
                </p:oleObj>
              </mc:Choice>
              <mc:Fallback>
                <p:oleObj name="Worksheet" r:id="rId2" imgW="6362648" imgH="3181281" progId="Excel.Sheet.8">
                  <p:embed/>
                  <p:pic>
                    <p:nvPicPr>
                      <p:cNvPr id="0" name="Char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013" y="2103438"/>
                        <a:ext cx="6546850" cy="353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0" name="Text Box 5">
            <a:extLst>
              <a:ext uri="{FF2B5EF4-FFF2-40B4-BE49-F238E27FC236}">
                <a16:creationId xmlns:a16="http://schemas.microsoft.com/office/drawing/2014/main" id="{E5A3D2FB-B844-95B9-25F3-5A8CF9281BFB}"/>
              </a:ext>
            </a:extLst>
          </p:cNvPr>
          <p:cNvSpPr txBox="1">
            <a:spLocks noChangeArrowheads="1"/>
          </p:cNvSpPr>
          <p:nvPr/>
        </p:nvSpPr>
        <p:spPr bwMode="auto">
          <a:xfrm>
            <a:off x="422275" y="1597025"/>
            <a:ext cx="8367713"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eaLnBrk="1" hangingPunct="1">
              <a:lnSpc>
                <a:spcPct val="95000"/>
              </a:lnSpc>
              <a:spcBef>
                <a:spcPct val="0"/>
              </a:spcBef>
            </a:pPr>
            <a:endParaRPr lang="en-US" altLang="en-US" b="1" i="1">
              <a:solidFill>
                <a:srgbClr val="000000"/>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FAF773AA-AADC-0083-D07D-357A6DF139C7}"/>
              </a:ext>
            </a:extLst>
          </p:cNvPr>
          <p:cNvSpPr>
            <a:spLocks noChangeArrowheads="1"/>
          </p:cNvSpPr>
          <p:nvPr/>
        </p:nvSpPr>
        <p:spPr bwMode="auto">
          <a:xfrm>
            <a:off x="7275513" y="3643313"/>
            <a:ext cx="204787" cy="204787"/>
          </a:xfrm>
          <a:prstGeom prst="rect">
            <a:avLst/>
          </a:prstGeom>
          <a:solidFill>
            <a:srgbClr val="0000FF"/>
          </a:solidFill>
          <a:ln w="9525">
            <a:solidFill>
              <a:srgbClr val="000000"/>
            </a:solidFill>
            <a:miter lim="800000"/>
            <a:headEnd/>
            <a:tailEnd/>
          </a:ln>
          <a:effectLst>
            <a:outerShdw blurRad="65500" dist="38100" dir="5400000" rotWithShape="0">
              <a:srgbClr val="808080">
                <a:alpha val="39999"/>
              </a:srgbClr>
            </a:outerShdw>
          </a:effectLst>
        </p:spPr>
        <p:txBody>
          <a:bodyPr lIns="82296" tIns="41148" rIns="82296" bIns="41148" anchor="ctr"/>
          <a:lstStyle/>
          <a:p>
            <a:pPr algn="ctr">
              <a:defRPr/>
            </a:pPr>
            <a:endParaRPr lang="en-US">
              <a:solidFill>
                <a:schemeClr val="lt1"/>
              </a:solidFill>
              <a:latin typeface="+mn-lt"/>
            </a:endParaRPr>
          </a:p>
        </p:txBody>
      </p:sp>
      <p:sp>
        <p:nvSpPr>
          <p:cNvPr id="38922" name="TextBox 28">
            <a:extLst>
              <a:ext uri="{FF2B5EF4-FFF2-40B4-BE49-F238E27FC236}">
                <a16:creationId xmlns:a16="http://schemas.microsoft.com/office/drawing/2014/main" id="{85301348-D02C-AB42-C9F5-CB06D85FE61C}"/>
              </a:ext>
            </a:extLst>
          </p:cNvPr>
          <p:cNvSpPr txBox="1">
            <a:spLocks noChangeArrowheads="1"/>
          </p:cNvSpPr>
          <p:nvPr/>
        </p:nvSpPr>
        <p:spPr bwMode="auto">
          <a:xfrm>
            <a:off x="7493000" y="3505200"/>
            <a:ext cx="10160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300">
                <a:latin typeface="Arial" panose="020B0604020202020204" pitchFamily="34" charset="0"/>
                <a:cs typeface="Arial" panose="020B0604020202020204" pitchFamily="34" charset="0"/>
              </a:rPr>
              <a:t>Brand Equity Months</a:t>
            </a:r>
          </a:p>
        </p:txBody>
      </p:sp>
      <p:sp>
        <p:nvSpPr>
          <p:cNvPr id="14" name="Rectangle 13">
            <a:extLst>
              <a:ext uri="{FF2B5EF4-FFF2-40B4-BE49-F238E27FC236}">
                <a16:creationId xmlns:a16="http://schemas.microsoft.com/office/drawing/2014/main" id="{91121AAB-A767-A42E-66D8-9A4FC966F89A}"/>
              </a:ext>
            </a:extLst>
          </p:cNvPr>
          <p:cNvSpPr>
            <a:spLocks noChangeArrowheads="1"/>
          </p:cNvSpPr>
          <p:nvPr/>
        </p:nvSpPr>
        <p:spPr bwMode="auto">
          <a:xfrm>
            <a:off x="7275513" y="4316413"/>
            <a:ext cx="204787" cy="206375"/>
          </a:xfrm>
          <a:prstGeom prst="rect">
            <a:avLst/>
          </a:prstGeom>
          <a:solidFill>
            <a:srgbClr val="CE0000"/>
          </a:solidFill>
          <a:ln w="9525">
            <a:solidFill>
              <a:srgbClr val="000000"/>
            </a:solidFill>
            <a:miter lim="800000"/>
            <a:headEnd/>
            <a:tailEnd/>
          </a:ln>
          <a:effectLst>
            <a:outerShdw blurRad="65500" dist="38100" dir="5400000" rotWithShape="0">
              <a:srgbClr val="808080">
                <a:alpha val="39999"/>
              </a:srgbClr>
            </a:outerShdw>
          </a:effectLst>
        </p:spPr>
        <p:txBody>
          <a:bodyPr lIns="82296" tIns="41148" rIns="82296" bIns="41148" anchor="ctr"/>
          <a:lstStyle/>
          <a:p>
            <a:pPr algn="ctr">
              <a:defRPr/>
            </a:pPr>
            <a:endParaRPr lang="en-US">
              <a:solidFill>
                <a:schemeClr val="lt1"/>
              </a:solidFill>
              <a:latin typeface="+mn-lt"/>
            </a:endParaRPr>
          </a:p>
        </p:txBody>
      </p:sp>
      <p:sp>
        <p:nvSpPr>
          <p:cNvPr id="38924" name="TextBox 29">
            <a:extLst>
              <a:ext uri="{FF2B5EF4-FFF2-40B4-BE49-F238E27FC236}">
                <a16:creationId xmlns:a16="http://schemas.microsoft.com/office/drawing/2014/main" id="{C453EA0B-0FD6-F751-B430-5DC5B4F20EF6}"/>
              </a:ext>
            </a:extLst>
          </p:cNvPr>
          <p:cNvSpPr txBox="1">
            <a:spLocks noChangeArrowheads="1"/>
          </p:cNvSpPr>
          <p:nvPr/>
        </p:nvSpPr>
        <p:spPr bwMode="auto">
          <a:xfrm>
            <a:off x="7521575" y="4248150"/>
            <a:ext cx="1120775"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300">
                <a:latin typeface="Arial" panose="020B0604020202020204" pitchFamily="34" charset="0"/>
                <a:cs typeface="Arial" panose="020B0604020202020204" pitchFamily="34" charset="0"/>
              </a:rPr>
              <a:t>Slow Months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a:extLst>
              <a:ext uri="{FF2B5EF4-FFF2-40B4-BE49-F238E27FC236}">
                <a16:creationId xmlns:a16="http://schemas.microsoft.com/office/drawing/2014/main" id="{36F29366-6AA1-06C3-5E33-F5280F21D09A}"/>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4000" b="1">
                <a:solidFill>
                  <a:srgbClr val="00274D"/>
                </a:solidFill>
                <a:ea typeface="Corbel" panose="020B0503020204020204" pitchFamily="34" charset="0"/>
                <a:cs typeface="Corbel" panose="020B0503020204020204" pitchFamily="34" charset="0"/>
              </a:rPr>
              <a:t>Proposed Schedule – Plan A   </a:t>
            </a:r>
          </a:p>
        </p:txBody>
      </p:sp>
      <p:sp>
        <p:nvSpPr>
          <p:cNvPr id="20483" name="Slide Number Placeholder 4">
            <a:extLst>
              <a:ext uri="{FF2B5EF4-FFF2-40B4-BE49-F238E27FC236}">
                <a16:creationId xmlns:a16="http://schemas.microsoft.com/office/drawing/2014/main" id="{AE1E4E4C-887B-72FA-8F13-95369C30094F}"/>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5D53E32F-4C33-4772-9A1E-37479504F954}"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18</a:t>
            </a:fld>
            <a:endParaRPr lang="en-US" altLang="en-US" sz="1100">
              <a:solidFill>
                <a:schemeClr val="bg1"/>
              </a:solidFill>
              <a:ea typeface="Corbel" panose="020B0503020204020204" pitchFamily="34" charset="0"/>
              <a:cs typeface="Corbel" panose="020B0503020204020204" pitchFamily="34" charset="0"/>
            </a:endParaRPr>
          </a:p>
        </p:txBody>
      </p:sp>
      <p:sp>
        <p:nvSpPr>
          <p:cNvPr id="20484" name="Text Box 7">
            <a:extLst>
              <a:ext uri="{FF2B5EF4-FFF2-40B4-BE49-F238E27FC236}">
                <a16:creationId xmlns:a16="http://schemas.microsoft.com/office/drawing/2014/main" id="{159CE124-7EEA-F262-DFD3-F599D6C5E416}"/>
              </a:ext>
            </a:extLst>
          </p:cNvPr>
          <p:cNvSpPr txBox="1">
            <a:spLocks noChangeArrowheads="1"/>
          </p:cNvSpPr>
          <p:nvPr/>
        </p:nvSpPr>
        <p:spPr bwMode="auto">
          <a:xfrm>
            <a:off x="7620000" y="3330575"/>
            <a:ext cx="1143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b="1">
                <a:solidFill>
                  <a:srgbClr val="00274D"/>
                </a:solidFill>
                <a:ea typeface="Corbel" panose="020B0503020204020204" pitchFamily="34" charset="0"/>
                <a:cs typeface="Corbel" panose="020B0503020204020204" pitchFamily="34" charset="0"/>
              </a:rPr>
              <a:t>Spike </a:t>
            </a:r>
          </a:p>
          <a:p>
            <a:pPr algn="ctr"/>
            <a:r>
              <a:rPr lang="en-US" altLang="en-US" b="1">
                <a:solidFill>
                  <a:srgbClr val="00274D"/>
                </a:solidFill>
                <a:ea typeface="Corbel" panose="020B0503020204020204" pitchFamily="34" charset="0"/>
                <a:cs typeface="Corbel" panose="020B0503020204020204" pitchFamily="34" charset="0"/>
              </a:rPr>
              <a:t>Monthly Schedule</a:t>
            </a:r>
          </a:p>
        </p:txBody>
      </p:sp>
      <p:sp>
        <p:nvSpPr>
          <p:cNvPr id="20485" name="Text Box 8">
            <a:extLst>
              <a:ext uri="{FF2B5EF4-FFF2-40B4-BE49-F238E27FC236}">
                <a16:creationId xmlns:a16="http://schemas.microsoft.com/office/drawing/2014/main" id="{4225A560-AE82-BA8D-ECAA-CD62FB0D8B49}"/>
              </a:ext>
            </a:extLst>
          </p:cNvPr>
          <p:cNvSpPr txBox="1">
            <a:spLocks noChangeArrowheads="1"/>
          </p:cNvSpPr>
          <p:nvPr/>
        </p:nvSpPr>
        <p:spPr bwMode="auto">
          <a:xfrm>
            <a:off x="7620000" y="1319213"/>
            <a:ext cx="1143000" cy="146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b="1">
                <a:solidFill>
                  <a:srgbClr val="00274D"/>
                </a:solidFill>
                <a:ea typeface="Corbel" panose="020B0503020204020204" pitchFamily="34" charset="0"/>
                <a:cs typeface="Corbel" panose="020B0503020204020204" pitchFamily="34" charset="0"/>
              </a:rPr>
              <a:t>Build </a:t>
            </a:r>
          </a:p>
          <a:p>
            <a:pPr algn="ctr"/>
            <a:r>
              <a:rPr lang="en-US" altLang="en-US" b="1">
                <a:solidFill>
                  <a:srgbClr val="00274D"/>
                </a:solidFill>
                <a:ea typeface="Corbel" panose="020B0503020204020204" pitchFamily="34" charset="0"/>
                <a:cs typeface="Corbel" panose="020B0503020204020204" pitchFamily="34" charset="0"/>
              </a:rPr>
              <a:t>Brand </a:t>
            </a:r>
          </a:p>
          <a:p>
            <a:pPr algn="ctr"/>
            <a:r>
              <a:rPr lang="en-US" altLang="en-US" b="1">
                <a:solidFill>
                  <a:srgbClr val="00274D"/>
                </a:solidFill>
                <a:ea typeface="Corbel" panose="020B0503020204020204" pitchFamily="34" charset="0"/>
                <a:cs typeface="Corbel" panose="020B0503020204020204" pitchFamily="34" charset="0"/>
              </a:rPr>
              <a:t>Equity Monthly Schedule</a:t>
            </a:r>
          </a:p>
        </p:txBody>
      </p:sp>
      <p:sp>
        <p:nvSpPr>
          <p:cNvPr id="20486" name="Text Box 9">
            <a:extLst>
              <a:ext uri="{FF2B5EF4-FFF2-40B4-BE49-F238E27FC236}">
                <a16:creationId xmlns:a16="http://schemas.microsoft.com/office/drawing/2014/main" id="{6BC4D8B2-21E6-F5F9-584D-1A7BDAAFD0C9}"/>
              </a:ext>
            </a:extLst>
          </p:cNvPr>
          <p:cNvSpPr txBox="1">
            <a:spLocks noChangeArrowheads="1"/>
          </p:cNvSpPr>
          <p:nvPr/>
        </p:nvSpPr>
        <p:spPr bwMode="auto">
          <a:xfrm>
            <a:off x="7543800" y="4938713"/>
            <a:ext cx="1295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b="1">
                <a:solidFill>
                  <a:srgbClr val="00274D"/>
                </a:solidFill>
                <a:ea typeface="Corbel" panose="020B0503020204020204" pitchFamily="34" charset="0"/>
                <a:cs typeface="Corbel" panose="020B0503020204020204" pitchFamily="34" charset="0"/>
              </a:rPr>
              <a:t>Slow Performing Monthly Schedule</a:t>
            </a:r>
          </a:p>
        </p:txBody>
      </p:sp>
      <p:graphicFrame>
        <p:nvGraphicFramePr>
          <p:cNvPr id="20487" name="Object 1">
            <a:extLst>
              <a:ext uri="{FF2B5EF4-FFF2-40B4-BE49-F238E27FC236}">
                <a16:creationId xmlns:a16="http://schemas.microsoft.com/office/drawing/2014/main" id="{6D81BFC9-C7F6-4FE8-85A0-42DF23D5CF8B}"/>
              </a:ext>
            </a:extLst>
          </p:cNvPr>
          <p:cNvGraphicFramePr>
            <a:graphicFrameLocks noChangeAspect="1"/>
          </p:cNvGraphicFramePr>
          <p:nvPr/>
        </p:nvGraphicFramePr>
        <p:xfrm>
          <a:off x="3957638" y="3233738"/>
          <a:ext cx="1228725" cy="390525"/>
        </p:xfrm>
        <a:graphic>
          <a:graphicData uri="http://schemas.openxmlformats.org/presentationml/2006/ole">
            <mc:AlternateContent xmlns:mc="http://schemas.openxmlformats.org/markup-compatibility/2006">
              <mc:Choice xmlns:v="urn:schemas-microsoft-com:vml" Requires="v">
                <p:oleObj name="Worksheet" r:id="rId3" imgW="1228771" imgH="390594" progId="Excel.Sheet.12">
                  <p:embed/>
                </p:oleObj>
              </mc:Choice>
              <mc:Fallback>
                <p:oleObj name="Worksheet" r:id="rId3" imgW="1228771" imgH="390594" progId="Excel.Sheet.12">
                  <p:embed/>
                  <p:pic>
                    <p:nvPicPr>
                      <p:cNvPr id="20487" name="Object 1">
                        <a:extLst>
                          <a:ext uri="{FF2B5EF4-FFF2-40B4-BE49-F238E27FC236}">
                            <a16:creationId xmlns:a16="http://schemas.microsoft.com/office/drawing/2014/main" id="{6D81BFC9-C7F6-4FE8-85A0-42DF23D5CF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7638" y="3233738"/>
                        <a:ext cx="12287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8" name="Object 1">
            <a:extLst>
              <a:ext uri="{FF2B5EF4-FFF2-40B4-BE49-F238E27FC236}">
                <a16:creationId xmlns:a16="http://schemas.microsoft.com/office/drawing/2014/main" id="{A0C1DDE4-4E47-8731-CF81-85AC8B75029F}"/>
              </a:ext>
            </a:extLst>
          </p:cNvPr>
          <p:cNvGraphicFramePr>
            <a:graphicFrameLocks noChangeAspect="1"/>
          </p:cNvGraphicFramePr>
          <p:nvPr/>
        </p:nvGraphicFramePr>
        <p:xfrm>
          <a:off x="381000" y="1262063"/>
          <a:ext cx="6858000" cy="1554162"/>
        </p:xfrm>
        <a:graphic>
          <a:graphicData uri="http://schemas.openxmlformats.org/presentationml/2006/ole">
            <mc:AlternateContent xmlns:mc="http://schemas.openxmlformats.org/markup-compatibility/2006">
              <mc:Choice xmlns:v="urn:schemas-microsoft-com:vml" Requires="v">
                <p:oleObj name="Worksheet" r:id="rId5" imgW="7378648" imgH="1815915" progId="Excel.Sheet.8">
                  <p:embed/>
                </p:oleObj>
              </mc:Choice>
              <mc:Fallback>
                <p:oleObj name="Worksheet" r:id="rId5" imgW="7378648" imgH="1815915" progId="Excel.Sheet.8">
                  <p:embed/>
                  <p:pic>
                    <p:nvPicPr>
                      <p:cNvPr id="20488" name="Object 1">
                        <a:extLst>
                          <a:ext uri="{FF2B5EF4-FFF2-40B4-BE49-F238E27FC236}">
                            <a16:creationId xmlns:a16="http://schemas.microsoft.com/office/drawing/2014/main" id="{A0C1DDE4-4E47-8731-CF81-85AC8B7502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262063"/>
                        <a:ext cx="68580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89" name="Object 2">
            <a:extLst>
              <a:ext uri="{FF2B5EF4-FFF2-40B4-BE49-F238E27FC236}">
                <a16:creationId xmlns:a16="http://schemas.microsoft.com/office/drawing/2014/main" id="{FB409F85-777B-D4D7-2E19-AB048CB7A4C0}"/>
              </a:ext>
            </a:extLst>
          </p:cNvPr>
          <p:cNvGraphicFramePr>
            <a:graphicFrameLocks noChangeAspect="1"/>
          </p:cNvGraphicFramePr>
          <p:nvPr/>
        </p:nvGraphicFramePr>
        <p:xfrm>
          <a:off x="400050" y="3065463"/>
          <a:ext cx="6858000" cy="1484312"/>
        </p:xfrm>
        <a:graphic>
          <a:graphicData uri="http://schemas.openxmlformats.org/presentationml/2006/ole">
            <mc:AlternateContent xmlns:mc="http://schemas.openxmlformats.org/markup-compatibility/2006">
              <mc:Choice xmlns:v="urn:schemas-microsoft-com:vml" Requires="v">
                <p:oleObj name="Worksheet" r:id="rId7" imgW="7378648" imgH="1815915" progId="Excel.Sheet.8">
                  <p:embed/>
                </p:oleObj>
              </mc:Choice>
              <mc:Fallback>
                <p:oleObj name="Worksheet" r:id="rId7" imgW="7378648" imgH="1815915" progId="Excel.Sheet.8">
                  <p:embed/>
                  <p:pic>
                    <p:nvPicPr>
                      <p:cNvPr id="20489" name="Object 2">
                        <a:extLst>
                          <a:ext uri="{FF2B5EF4-FFF2-40B4-BE49-F238E27FC236}">
                            <a16:creationId xmlns:a16="http://schemas.microsoft.com/office/drawing/2014/main" id="{FB409F85-777B-D4D7-2E19-AB048CB7A4C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050" y="3065463"/>
                        <a:ext cx="6858000" cy="148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490" name="Object 3">
            <a:extLst>
              <a:ext uri="{FF2B5EF4-FFF2-40B4-BE49-F238E27FC236}">
                <a16:creationId xmlns:a16="http://schemas.microsoft.com/office/drawing/2014/main" id="{741C1179-1BE3-58F4-574A-970300AFF5F8}"/>
              </a:ext>
            </a:extLst>
          </p:cNvPr>
          <p:cNvGraphicFramePr>
            <a:graphicFrameLocks noChangeAspect="1"/>
          </p:cNvGraphicFramePr>
          <p:nvPr/>
        </p:nvGraphicFramePr>
        <p:xfrm>
          <a:off x="400050" y="4743450"/>
          <a:ext cx="7170738" cy="1554163"/>
        </p:xfrm>
        <a:graphic>
          <a:graphicData uri="http://schemas.openxmlformats.org/presentationml/2006/ole">
            <mc:AlternateContent xmlns:mc="http://schemas.openxmlformats.org/markup-compatibility/2006">
              <mc:Choice xmlns:v="urn:schemas-microsoft-com:vml" Requires="v">
                <p:oleObj name="Worksheet" r:id="rId9" imgW="7378648" imgH="1815915" progId="Excel.Sheet.8">
                  <p:embed/>
                </p:oleObj>
              </mc:Choice>
              <mc:Fallback>
                <p:oleObj name="Worksheet" r:id="rId9" imgW="7378648" imgH="1815915" progId="Excel.Sheet.8">
                  <p:embed/>
                  <p:pic>
                    <p:nvPicPr>
                      <p:cNvPr id="20490" name="Object 3">
                        <a:extLst>
                          <a:ext uri="{FF2B5EF4-FFF2-40B4-BE49-F238E27FC236}">
                            <a16:creationId xmlns:a16="http://schemas.microsoft.com/office/drawing/2014/main" id="{741C1179-1BE3-58F4-574A-970300AFF5F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0050" y="4743450"/>
                        <a:ext cx="7170738"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5">
            <a:extLst>
              <a:ext uri="{FF2B5EF4-FFF2-40B4-BE49-F238E27FC236}">
                <a16:creationId xmlns:a16="http://schemas.microsoft.com/office/drawing/2014/main" id="{9E12FC62-E8E1-EA9E-62EA-A92E2C9920E4}"/>
              </a:ext>
            </a:extLst>
          </p:cNvPr>
          <p:cNvSpPr txBox="1">
            <a:spLocks noChangeArrowheads="1"/>
          </p:cNvSpPr>
          <p:nvPr/>
        </p:nvSpPr>
        <p:spPr bwMode="auto">
          <a:xfrm>
            <a:off x="0" y="1828800"/>
            <a:ext cx="91440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lnSpc>
                <a:spcPct val="95000"/>
              </a:lnSpc>
            </a:pPr>
            <a:r>
              <a:rPr lang="en-US" altLang="en-US" sz="2000" b="1" i="1">
                <a:solidFill>
                  <a:srgbClr val="00274D"/>
                </a:solidFill>
                <a:ea typeface="Corbel" panose="020B0503020204020204" pitchFamily="34" charset="0"/>
                <a:cs typeface="Corbel" panose="020B0503020204020204" pitchFamily="34" charset="0"/>
              </a:rPr>
              <a:t>Brand Equity Schedule</a:t>
            </a:r>
          </a:p>
          <a:p>
            <a:pPr algn="ctr" eaLnBrk="1" hangingPunct="1">
              <a:lnSpc>
                <a:spcPct val="95000"/>
              </a:lnSpc>
            </a:pPr>
            <a:r>
              <a:rPr lang="en-US" altLang="en-US" sz="2000" b="1" i="1">
                <a:solidFill>
                  <a:srgbClr val="00274D"/>
                </a:solidFill>
                <a:ea typeface="Corbel" panose="020B0503020204020204" pitchFamily="34" charset="0"/>
                <a:cs typeface="Corbel" panose="020B0503020204020204" pitchFamily="34" charset="0"/>
              </a:rPr>
              <a:t>Monthly Station Summary</a:t>
            </a:r>
          </a:p>
        </p:txBody>
      </p:sp>
      <p:sp>
        <p:nvSpPr>
          <p:cNvPr id="41987" name="Text Box 5">
            <a:extLst>
              <a:ext uri="{FF2B5EF4-FFF2-40B4-BE49-F238E27FC236}">
                <a16:creationId xmlns:a16="http://schemas.microsoft.com/office/drawing/2014/main" id="{E461AD6F-6652-6A24-72C6-32556A071A6F}"/>
              </a:ext>
            </a:extLst>
          </p:cNvPr>
          <p:cNvSpPr txBox="1">
            <a:spLocks noChangeArrowheads="1"/>
          </p:cNvSpPr>
          <p:nvPr/>
        </p:nvSpPr>
        <p:spPr bwMode="auto">
          <a:xfrm>
            <a:off x="0" y="1381125"/>
            <a:ext cx="91440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lnSpc>
                <a:spcPct val="95000"/>
              </a:lnSpc>
            </a:pPr>
            <a:endParaRPr lang="en-US" altLang="en-US" sz="2000" b="1" i="1">
              <a:solidFill>
                <a:srgbClr val="00274D"/>
              </a:solidFill>
              <a:ea typeface="Corbel" panose="020B0503020204020204" pitchFamily="34" charset="0"/>
              <a:cs typeface="Corbel" panose="020B0503020204020204" pitchFamily="34" charset="0"/>
            </a:endParaRPr>
          </a:p>
        </p:txBody>
      </p:sp>
      <p:sp>
        <p:nvSpPr>
          <p:cNvPr id="41988" name="Rectangle 1">
            <a:extLst>
              <a:ext uri="{FF2B5EF4-FFF2-40B4-BE49-F238E27FC236}">
                <a16:creationId xmlns:a16="http://schemas.microsoft.com/office/drawing/2014/main" id="{FFBDF349-91A9-1238-D97F-FFF5AECDA2B8}"/>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Proposed Schedule – Plan A   </a:t>
            </a:r>
          </a:p>
        </p:txBody>
      </p:sp>
      <p:sp>
        <p:nvSpPr>
          <p:cNvPr id="41989" name="Slide Number Placeholder 4">
            <a:extLst>
              <a:ext uri="{FF2B5EF4-FFF2-40B4-BE49-F238E27FC236}">
                <a16:creationId xmlns:a16="http://schemas.microsoft.com/office/drawing/2014/main" id="{95E398B8-F875-B7EC-9037-91CEEF1D03E5}"/>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2F3119D9-20CB-418D-9716-4CC42C8F6E3C}"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19</a:t>
            </a:fld>
            <a:endParaRPr lang="en-US" altLang="en-US" sz="1100">
              <a:solidFill>
                <a:schemeClr val="bg1"/>
              </a:solidFill>
              <a:ea typeface="Corbel" panose="020B0503020204020204" pitchFamily="34" charset="0"/>
              <a:cs typeface="Corbel" panose="020B0503020204020204" pitchFamily="34" charset="0"/>
            </a:endParaRPr>
          </a:p>
        </p:txBody>
      </p:sp>
      <p:sp>
        <p:nvSpPr>
          <p:cNvPr id="41990" name="Rectangle 1">
            <a:extLst>
              <a:ext uri="{FF2B5EF4-FFF2-40B4-BE49-F238E27FC236}">
                <a16:creationId xmlns:a16="http://schemas.microsoft.com/office/drawing/2014/main" id="{105E9672-39E6-1CA0-1A85-55C7EF786A42}"/>
              </a:ext>
            </a:extLst>
          </p:cNvPr>
          <p:cNvSpPr>
            <a:spLocks noChangeArrowheads="1"/>
          </p:cNvSpPr>
          <p:nvPr/>
        </p:nvSpPr>
        <p:spPr bwMode="auto">
          <a:xfrm>
            <a:off x="1066800" y="2733675"/>
            <a:ext cx="1022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rPr>
              <a:t>Market:  </a:t>
            </a:r>
          </a:p>
        </p:txBody>
      </p:sp>
      <p:sp>
        <p:nvSpPr>
          <p:cNvPr id="41991" name="Rectangle 2">
            <a:extLst>
              <a:ext uri="{FF2B5EF4-FFF2-40B4-BE49-F238E27FC236}">
                <a16:creationId xmlns:a16="http://schemas.microsoft.com/office/drawing/2014/main" id="{76F0FC08-EF29-536A-ED98-728B3D83CED7}"/>
              </a:ext>
            </a:extLst>
          </p:cNvPr>
          <p:cNvSpPr>
            <a:spLocks noChangeArrowheads="1"/>
          </p:cNvSpPr>
          <p:nvPr/>
        </p:nvSpPr>
        <p:spPr bwMode="auto">
          <a:xfrm>
            <a:off x="1066800" y="3195638"/>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rPr>
              <a:t>Average Monthly Broadcast Reach: </a:t>
            </a:r>
          </a:p>
        </p:txBody>
      </p:sp>
      <p:sp>
        <p:nvSpPr>
          <p:cNvPr id="41992" name="Rectangle 3">
            <a:extLst>
              <a:ext uri="{FF2B5EF4-FFF2-40B4-BE49-F238E27FC236}">
                <a16:creationId xmlns:a16="http://schemas.microsoft.com/office/drawing/2014/main" id="{CF4BEFEF-ED8A-5103-53CF-33D854D8E548}"/>
              </a:ext>
            </a:extLst>
          </p:cNvPr>
          <p:cNvSpPr>
            <a:spLocks noChangeArrowheads="1"/>
          </p:cNvSpPr>
          <p:nvPr/>
        </p:nvSpPr>
        <p:spPr bwMode="auto">
          <a:xfrm>
            <a:off x="1066800" y="3692525"/>
            <a:ext cx="39385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rPr>
              <a:t>Average Monthly Broadcast Frequency:</a:t>
            </a:r>
          </a:p>
        </p:txBody>
      </p:sp>
      <p:sp>
        <p:nvSpPr>
          <p:cNvPr id="41993" name="Rectangle 4">
            <a:extLst>
              <a:ext uri="{FF2B5EF4-FFF2-40B4-BE49-F238E27FC236}">
                <a16:creationId xmlns:a16="http://schemas.microsoft.com/office/drawing/2014/main" id="{3EE5E69B-7E86-F9B0-2E01-ABB926916062}"/>
              </a:ext>
            </a:extLst>
          </p:cNvPr>
          <p:cNvSpPr>
            <a:spLocks noChangeArrowheads="1"/>
          </p:cNvSpPr>
          <p:nvPr/>
        </p:nvSpPr>
        <p:spPr bwMode="auto">
          <a:xfrm>
            <a:off x="1068388" y="4195763"/>
            <a:ext cx="44180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rPr>
              <a:t>Average Monthly Digital Gross Impressions: </a:t>
            </a:r>
          </a:p>
        </p:txBody>
      </p:sp>
      <p:sp>
        <p:nvSpPr>
          <p:cNvPr id="41994" name="Rectangle 5">
            <a:extLst>
              <a:ext uri="{FF2B5EF4-FFF2-40B4-BE49-F238E27FC236}">
                <a16:creationId xmlns:a16="http://schemas.microsoft.com/office/drawing/2014/main" id="{FAF14A40-23DF-4CFE-6FE2-76DC633B8A39}"/>
              </a:ext>
            </a:extLst>
          </p:cNvPr>
          <p:cNvSpPr>
            <a:spLocks noChangeArrowheads="1"/>
          </p:cNvSpPr>
          <p:nvPr/>
        </p:nvSpPr>
        <p:spPr bwMode="auto">
          <a:xfrm>
            <a:off x="1031875" y="4697413"/>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rPr>
              <a:t>Average Monthly Advertising Investment: </a:t>
            </a:r>
          </a:p>
        </p:txBody>
      </p:sp>
      <p:sp>
        <p:nvSpPr>
          <p:cNvPr id="41995" name="Rectangle 6">
            <a:extLst>
              <a:ext uri="{FF2B5EF4-FFF2-40B4-BE49-F238E27FC236}">
                <a16:creationId xmlns:a16="http://schemas.microsoft.com/office/drawing/2014/main" id="{654F744F-9FE1-8C57-46F1-20132CC9AB7D}"/>
              </a:ext>
            </a:extLst>
          </p:cNvPr>
          <p:cNvSpPr>
            <a:spLocks noChangeArrowheads="1"/>
          </p:cNvSpPr>
          <p:nvPr/>
        </p:nvSpPr>
        <p:spPr bwMode="auto">
          <a:xfrm>
            <a:off x="1031875" y="5154613"/>
            <a:ext cx="2744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r>
              <a:rPr lang="en-US" altLang="en-US">
                <a:solidFill>
                  <a:srgbClr val="00274D"/>
                </a:solidFill>
              </a:rPr>
              <a:t>Average Daily Investment: </a:t>
            </a:r>
            <a:endParaRPr lang="en-US" altLang="en-US"/>
          </a:p>
        </p:txBody>
      </p:sp>
      <p:sp>
        <p:nvSpPr>
          <p:cNvPr id="41996" name="TextBox 11">
            <a:extLst>
              <a:ext uri="{FF2B5EF4-FFF2-40B4-BE49-F238E27FC236}">
                <a16:creationId xmlns:a16="http://schemas.microsoft.com/office/drawing/2014/main" id="{1446D902-C8DE-C70E-0CEF-47A82194731C}"/>
              </a:ext>
            </a:extLst>
          </p:cNvPr>
          <p:cNvSpPr txBox="1">
            <a:spLocks noChangeArrowheads="1"/>
          </p:cNvSpPr>
          <p:nvPr/>
        </p:nvSpPr>
        <p:spPr bwMode="auto">
          <a:xfrm>
            <a:off x="4572000" y="3205163"/>
            <a:ext cx="28416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
        <p:nvSpPr>
          <p:cNvPr id="41997" name="TextBox 12">
            <a:extLst>
              <a:ext uri="{FF2B5EF4-FFF2-40B4-BE49-F238E27FC236}">
                <a16:creationId xmlns:a16="http://schemas.microsoft.com/office/drawing/2014/main" id="{AA1E8B46-B1D4-E38B-D358-0903549B674C}"/>
              </a:ext>
            </a:extLst>
          </p:cNvPr>
          <p:cNvSpPr txBox="1">
            <a:spLocks noChangeArrowheads="1"/>
          </p:cNvSpPr>
          <p:nvPr/>
        </p:nvSpPr>
        <p:spPr bwMode="auto">
          <a:xfrm>
            <a:off x="5029200" y="3702050"/>
            <a:ext cx="2841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
        <p:nvSpPr>
          <p:cNvPr id="41998" name="TextBox 13">
            <a:extLst>
              <a:ext uri="{FF2B5EF4-FFF2-40B4-BE49-F238E27FC236}">
                <a16:creationId xmlns:a16="http://schemas.microsoft.com/office/drawing/2014/main" id="{3195AA4C-13DD-9F52-6C7B-D22A60723A58}"/>
              </a:ext>
            </a:extLst>
          </p:cNvPr>
          <p:cNvSpPr txBox="1">
            <a:spLocks noChangeArrowheads="1"/>
          </p:cNvSpPr>
          <p:nvPr/>
        </p:nvSpPr>
        <p:spPr bwMode="auto">
          <a:xfrm>
            <a:off x="2057400" y="2743200"/>
            <a:ext cx="35052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a:solidFill>
                <a:srgbClr val="00274D"/>
              </a:solidFill>
              <a:ea typeface="Corbel" panose="020B0503020204020204" pitchFamily="34" charset="0"/>
              <a:cs typeface="Corbel" panose="020B0503020204020204" pitchFamily="34" charset="0"/>
            </a:endParaRPr>
          </a:p>
        </p:txBody>
      </p:sp>
      <p:sp>
        <p:nvSpPr>
          <p:cNvPr id="41999" name="TextBox 14">
            <a:extLst>
              <a:ext uri="{FF2B5EF4-FFF2-40B4-BE49-F238E27FC236}">
                <a16:creationId xmlns:a16="http://schemas.microsoft.com/office/drawing/2014/main" id="{580242DD-FA9C-8B00-12A0-78F0729DDD1D}"/>
              </a:ext>
            </a:extLst>
          </p:cNvPr>
          <p:cNvSpPr txBox="1">
            <a:spLocks noChangeArrowheads="1"/>
          </p:cNvSpPr>
          <p:nvPr/>
        </p:nvSpPr>
        <p:spPr bwMode="auto">
          <a:xfrm>
            <a:off x="5486400" y="4203700"/>
            <a:ext cx="2841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
        <p:nvSpPr>
          <p:cNvPr id="42000" name="TextBox 20">
            <a:extLst>
              <a:ext uri="{FF2B5EF4-FFF2-40B4-BE49-F238E27FC236}">
                <a16:creationId xmlns:a16="http://schemas.microsoft.com/office/drawing/2014/main" id="{4011C65F-6CCE-0DE5-114F-3A3BC72D2ACA}"/>
              </a:ext>
            </a:extLst>
          </p:cNvPr>
          <p:cNvSpPr txBox="1">
            <a:spLocks noChangeArrowheads="1"/>
          </p:cNvSpPr>
          <p:nvPr/>
        </p:nvSpPr>
        <p:spPr bwMode="auto">
          <a:xfrm>
            <a:off x="3733800" y="5164138"/>
            <a:ext cx="339883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
        <p:nvSpPr>
          <p:cNvPr id="42001" name="TextBox 21">
            <a:extLst>
              <a:ext uri="{FF2B5EF4-FFF2-40B4-BE49-F238E27FC236}">
                <a16:creationId xmlns:a16="http://schemas.microsoft.com/office/drawing/2014/main" id="{219DBEE9-0AAE-4318-6D2B-8E78FC693978}"/>
              </a:ext>
            </a:extLst>
          </p:cNvPr>
          <p:cNvSpPr txBox="1">
            <a:spLocks noChangeArrowheads="1"/>
          </p:cNvSpPr>
          <p:nvPr/>
        </p:nvSpPr>
        <p:spPr bwMode="auto">
          <a:xfrm>
            <a:off x="5259388" y="4706938"/>
            <a:ext cx="34274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
            <a:extLst>
              <a:ext uri="{FF2B5EF4-FFF2-40B4-BE49-F238E27FC236}">
                <a16:creationId xmlns:a16="http://schemas.microsoft.com/office/drawing/2014/main" id="{3C49019E-DA74-1E1D-9E10-3DB11DAE4954}"/>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Break Even Analysis – Plan A  </a:t>
            </a:r>
          </a:p>
        </p:txBody>
      </p:sp>
      <p:sp>
        <p:nvSpPr>
          <p:cNvPr id="43011" name="Slide Number Placeholder 4">
            <a:extLst>
              <a:ext uri="{FF2B5EF4-FFF2-40B4-BE49-F238E27FC236}">
                <a16:creationId xmlns:a16="http://schemas.microsoft.com/office/drawing/2014/main" id="{14610D17-3EC7-7EEC-AEF9-87AD5A9584A4}"/>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18A9697B-F3E2-480D-9453-014F0D0503FC}"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20</a:t>
            </a:fld>
            <a:endParaRPr lang="en-US" altLang="en-US" sz="1100">
              <a:solidFill>
                <a:schemeClr val="bg1"/>
              </a:solidFill>
              <a:ea typeface="Corbel" panose="020B0503020204020204" pitchFamily="34" charset="0"/>
              <a:cs typeface="Corbel" panose="020B0503020204020204" pitchFamily="34" charset="0"/>
            </a:endParaRPr>
          </a:p>
        </p:txBody>
      </p:sp>
      <p:pic>
        <p:nvPicPr>
          <p:cNvPr id="43012" name="Picture 5">
            <a:extLst>
              <a:ext uri="{FF2B5EF4-FFF2-40B4-BE49-F238E27FC236}">
                <a16:creationId xmlns:a16="http://schemas.microsoft.com/office/drawing/2014/main" id="{64CFF9FA-7EFE-5A48-5347-DA97E6180525}"/>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6663" y="1824038"/>
            <a:ext cx="1554162"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6">
            <a:extLst>
              <a:ext uri="{FF2B5EF4-FFF2-40B4-BE49-F238E27FC236}">
                <a16:creationId xmlns:a16="http://schemas.microsoft.com/office/drawing/2014/main" id="{8A76AEA9-DE36-C389-FFE7-A0AB0D9CB82A}"/>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2288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7">
            <a:extLst>
              <a:ext uri="{FF2B5EF4-FFF2-40B4-BE49-F238E27FC236}">
                <a16:creationId xmlns:a16="http://schemas.microsoft.com/office/drawing/2014/main" id="{88AAA3CE-6635-E998-1070-647F45BBAAFE}"/>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67017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5" name="Picture 8">
            <a:extLst>
              <a:ext uri="{FF2B5EF4-FFF2-40B4-BE49-F238E27FC236}">
                <a16:creationId xmlns:a16="http://schemas.microsoft.com/office/drawing/2014/main" id="{701A8C56-4E09-4E3B-CC8D-C1581F27CC6D}"/>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13213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6" name="Picture 9">
            <a:extLst>
              <a:ext uri="{FF2B5EF4-FFF2-40B4-BE49-F238E27FC236}">
                <a16:creationId xmlns:a16="http://schemas.microsoft.com/office/drawing/2014/main" id="{875C7052-5BEE-62AB-835D-B6C7A80C6D2E}"/>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50202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7" name="Picture 10">
            <a:extLst>
              <a:ext uri="{FF2B5EF4-FFF2-40B4-BE49-F238E27FC236}">
                <a16:creationId xmlns:a16="http://schemas.microsoft.com/office/drawing/2014/main" id="{611E3586-9D8D-54E6-B221-2F03C7A2235B}"/>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9560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8" name="Picture 11">
            <a:extLst>
              <a:ext uri="{FF2B5EF4-FFF2-40B4-BE49-F238E27FC236}">
                <a16:creationId xmlns:a16="http://schemas.microsoft.com/office/drawing/2014/main" id="{A6600A1C-19C6-8132-0372-B133CA9D16F4}"/>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43545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9" name="Picture 12">
            <a:extLst>
              <a:ext uri="{FF2B5EF4-FFF2-40B4-BE49-F238E27FC236}">
                <a16:creationId xmlns:a16="http://schemas.microsoft.com/office/drawing/2014/main" id="{24E6F0C6-FCF3-7248-8609-E91FEC8504B0}"/>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477678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0" name="Rectangle 14">
            <a:extLst>
              <a:ext uri="{FF2B5EF4-FFF2-40B4-BE49-F238E27FC236}">
                <a16:creationId xmlns:a16="http://schemas.microsoft.com/office/drawing/2014/main" id="{6C2FA7FF-9E61-3A39-DE9D-6E10BC79A2FC}"/>
              </a:ext>
            </a:extLst>
          </p:cNvPr>
          <p:cNvSpPr>
            <a:spLocks noChangeArrowheads="1"/>
          </p:cNvSpPr>
          <p:nvPr/>
        </p:nvSpPr>
        <p:spPr bwMode="auto">
          <a:xfrm>
            <a:off x="0" y="1585913"/>
            <a:ext cx="6384925" cy="397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indent="-307975">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r" eaLnBrk="1" hangingPunct="1">
              <a:lnSpc>
                <a:spcPct val="95000"/>
              </a:lnSpc>
              <a:spcAft>
                <a:spcPts val="1625"/>
              </a:spcAft>
              <a:buClr>
                <a:srgbClr val="000000"/>
              </a:buClr>
              <a:buSzPct val="100000"/>
            </a:pPr>
            <a:r>
              <a:rPr lang="en-US" altLang="en-US" sz="1400" b="1">
                <a:solidFill>
                  <a:srgbClr val="00274D"/>
                </a:solidFill>
              </a:rPr>
              <a:t>A. Average sale (ticket, transaction, invoice) =</a:t>
            </a:r>
            <a:endParaRPr lang="en-US" altLang="en-US">
              <a:solidFill>
                <a:srgbClr val="00274D"/>
              </a:solidFill>
            </a:endParaRPr>
          </a:p>
          <a:p>
            <a:pPr lvl="1" algn="r" eaLnBrk="1" hangingPunct="1">
              <a:lnSpc>
                <a:spcPct val="95000"/>
              </a:lnSpc>
              <a:spcAft>
                <a:spcPts val="1625"/>
              </a:spcAft>
              <a:buClr>
                <a:srgbClr val="000000"/>
              </a:buClr>
              <a:buSzPct val="100000"/>
            </a:pPr>
            <a:r>
              <a:rPr lang="en-US" altLang="en-US" sz="1400" b="1">
                <a:solidFill>
                  <a:srgbClr val="00274D"/>
                </a:solidFill>
              </a:rPr>
              <a:t>B. Gross profit margin on average sale (sale less variable costs)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C. Closing or conversion rate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D. Projected prospect value ( </a:t>
            </a:r>
            <a:r>
              <a:rPr lang="en-US" altLang="en-US" sz="1400" b="1">
                <a:solidFill>
                  <a:srgbClr val="7B8364"/>
                </a:solidFill>
              </a:rPr>
              <a:t>= A * B * C </a:t>
            </a:r>
            <a:r>
              <a:rPr lang="en-US" altLang="en-US" sz="1400" b="1">
                <a:solidFill>
                  <a:srgbClr val="00274D"/>
                </a:solidFill>
              </a:rPr>
              <a:t>) =</a:t>
            </a:r>
          </a:p>
          <a:p>
            <a:pPr algn="r" eaLnBrk="1" hangingPunct="1">
              <a:lnSpc>
                <a:spcPct val="95000"/>
              </a:lnSpc>
              <a:spcAft>
                <a:spcPts val="1625"/>
              </a:spcAft>
            </a:pPr>
            <a:r>
              <a:rPr lang="en-US" altLang="en-US" sz="1400" b="1">
                <a:solidFill>
                  <a:srgbClr val="00274D"/>
                </a:solidFill>
              </a:rPr>
              <a:t>E. Client base monthly advertising investment =</a:t>
            </a:r>
          </a:p>
          <a:p>
            <a:pPr algn="r" eaLnBrk="1" hangingPunct="1">
              <a:lnSpc>
                <a:spcPct val="95000"/>
              </a:lnSpc>
              <a:spcAft>
                <a:spcPts val="1625"/>
              </a:spcAft>
            </a:pPr>
            <a:r>
              <a:rPr lang="en-US" altLang="en-US" sz="1400" b="1">
                <a:solidFill>
                  <a:srgbClr val="00274D"/>
                </a:solidFill>
              </a:rPr>
              <a:t>F. Monthly prospects needed to pay for advertising investment ( </a:t>
            </a:r>
            <a:r>
              <a:rPr lang="en-US" altLang="en-US" sz="1400" b="1">
                <a:solidFill>
                  <a:srgbClr val="7B8364"/>
                </a:solidFill>
              </a:rPr>
              <a:t>= E / D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G. Monthly # of sales from prospects needed to break even ( </a:t>
            </a:r>
            <a:r>
              <a:rPr lang="en-US" altLang="en-US" sz="1400" b="1">
                <a:solidFill>
                  <a:srgbClr val="7B8364"/>
                </a:solidFill>
              </a:rPr>
              <a:t>= F * C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H. Gross sales per month needed to break even ( </a:t>
            </a:r>
            <a:r>
              <a:rPr lang="en-US" altLang="en-US" sz="1400" b="1">
                <a:solidFill>
                  <a:srgbClr val="7B8364"/>
                </a:solidFill>
              </a:rPr>
              <a:t>= G * A </a:t>
            </a:r>
            <a:r>
              <a:rPr lang="en-US" altLang="en-US" sz="1400" b="1">
                <a:solidFill>
                  <a:srgbClr val="00274D"/>
                </a:solidFill>
              </a:rPr>
              <a:t>) =</a:t>
            </a:r>
          </a:p>
          <a:p>
            <a:pPr algn="r" eaLnBrk="1" hangingPunct="1">
              <a:lnSpc>
                <a:spcPct val="95000"/>
              </a:lnSpc>
              <a:spcAft>
                <a:spcPts val="1625"/>
              </a:spcAft>
              <a:buFontTx/>
              <a:buAutoNum type="romanUcPeriod"/>
            </a:pPr>
            <a:r>
              <a:rPr lang="en-US" altLang="en-US" sz="1400" b="1">
                <a:solidFill>
                  <a:srgbClr val="00274D"/>
                </a:solidFill>
                <a:ea typeface="Corbel" panose="020B0503020204020204" pitchFamily="34" charset="0"/>
                <a:cs typeface="Corbel" panose="020B0503020204020204" pitchFamily="34" charset="0"/>
              </a:rPr>
              <a:t> Number of months to run in proposed marketing plan =</a:t>
            </a:r>
          </a:p>
          <a:p>
            <a:pPr algn="r" eaLnBrk="1" hangingPunct="1">
              <a:lnSpc>
                <a:spcPct val="95000"/>
              </a:lnSpc>
              <a:spcAft>
                <a:spcPts val="1625"/>
              </a:spcAft>
            </a:pPr>
            <a:r>
              <a:rPr lang="en-US" altLang="en-US" sz="1400" b="1">
                <a:solidFill>
                  <a:srgbClr val="00274D"/>
                </a:solidFill>
                <a:ea typeface="Corbel" panose="020B0503020204020204" pitchFamily="34" charset="0"/>
                <a:cs typeface="Corbel" panose="020B0503020204020204" pitchFamily="34" charset="0"/>
              </a:rPr>
              <a:t>J.  Additional gross sales per year needed to break even ( </a:t>
            </a:r>
            <a:r>
              <a:rPr lang="en-US" altLang="en-US" sz="1400" b="1">
                <a:solidFill>
                  <a:srgbClr val="7B8364"/>
                </a:solidFill>
                <a:ea typeface="Corbel" panose="020B0503020204020204" pitchFamily="34" charset="0"/>
                <a:cs typeface="Corbel" panose="020B0503020204020204" pitchFamily="34" charset="0"/>
              </a:rPr>
              <a:t>= H * I </a:t>
            </a:r>
            <a:r>
              <a:rPr lang="en-US" altLang="en-US" sz="1400" b="1">
                <a:solidFill>
                  <a:srgbClr val="00274D"/>
                </a:solidFill>
                <a:ea typeface="Corbel" panose="020B0503020204020204" pitchFamily="34" charset="0"/>
                <a:cs typeface="Corbel" panose="020B0503020204020204" pitchFamily="34" charset="0"/>
              </a:rPr>
              <a:t>) =</a:t>
            </a:r>
          </a:p>
        </p:txBody>
      </p:sp>
      <p:sp>
        <p:nvSpPr>
          <p:cNvPr id="43021" name="TextBox 11">
            <a:extLst>
              <a:ext uri="{FF2B5EF4-FFF2-40B4-BE49-F238E27FC236}">
                <a16:creationId xmlns:a16="http://schemas.microsoft.com/office/drawing/2014/main" id="{6AEAB378-027D-5E95-6C6B-5DC5710E51C1}"/>
              </a:ext>
            </a:extLst>
          </p:cNvPr>
          <p:cNvSpPr txBox="1">
            <a:spLocks noChangeArrowheads="1"/>
          </p:cNvSpPr>
          <p:nvPr/>
        </p:nvSpPr>
        <p:spPr bwMode="auto">
          <a:xfrm>
            <a:off x="6400800" y="157480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3022" name="TextBox 12">
            <a:extLst>
              <a:ext uri="{FF2B5EF4-FFF2-40B4-BE49-F238E27FC236}">
                <a16:creationId xmlns:a16="http://schemas.microsoft.com/office/drawing/2014/main" id="{8AA4D940-3C5E-FE71-F48C-27452D178E73}"/>
              </a:ext>
            </a:extLst>
          </p:cNvPr>
          <p:cNvSpPr txBox="1">
            <a:spLocks noChangeArrowheads="1"/>
          </p:cNvSpPr>
          <p:nvPr/>
        </p:nvSpPr>
        <p:spPr bwMode="auto">
          <a:xfrm>
            <a:off x="6400800" y="1974850"/>
            <a:ext cx="3683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3023" name="TextBox 13">
            <a:extLst>
              <a:ext uri="{FF2B5EF4-FFF2-40B4-BE49-F238E27FC236}">
                <a16:creationId xmlns:a16="http://schemas.microsoft.com/office/drawing/2014/main" id="{F1195539-DE56-B53D-6F31-742FB0AD5C5F}"/>
              </a:ext>
            </a:extLst>
          </p:cNvPr>
          <p:cNvSpPr txBox="1">
            <a:spLocks noChangeArrowheads="1"/>
          </p:cNvSpPr>
          <p:nvPr/>
        </p:nvSpPr>
        <p:spPr bwMode="auto">
          <a:xfrm>
            <a:off x="6400800" y="2403475"/>
            <a:ext cx="3683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3024" name="TextBox 14">
            <a:extLst>
              <a:ext uri="{FF2B5EF4-FFF2-40B4-BE49-F238E27FC236}">
                <a16:creationId xmlns:a16="http://schemas.microsoft.com/office/drawing/2014/main" id="{3809D362-4B8B-0D41-6921-6A7FACA38439}"/>
              </a:ext>
            </a:extLst>
          </p:cNvPr>
          <p:cNvSpPr txBox="1">
            <a:spLocks noChangeArrowheads="1"/>
          </p:cNvSpPr>
          <p:nvPr/>
        </p:nvSpPr>
        <p:spPr bwMode="auto">
          <a:xfrm>
            <a:off x="6400800" y="28892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3025" name="TextBox 15">
            <a:extLst>
              <a:ext uri="{FF2B5EF4-FFF2-40B4-BE49-F238E27FC236}">
                <a16:creationId xmlns:a16="http://schemas.microsoft.com/office/drawing/2014/main" id="{0758E891-AD85-864B-983C-473B137506F5}"/>
              </a:ext>
            </a:extLst>
          </p:cNvPr>
          <p:cNvSpPr txBox="1">
            <a:spLocks noChangeArrowheads="1"/>
          </p:cNvSpPr>
          <p:nvPr/>
        </p:nvSpPr>
        <p:spPr bwMode="auto">
          <a:xfrm>
            <a:off x="6400800" y="3248025"/>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3026" name="TextBox 16">
            <a:extLst>
              <a:ext uri="{FF2B5EF4-FFF2-40B4-BE49-F238E27FC236}">
                <a16:creationId xmlns:a16="http://schemas.microsoft.com/office/drawing/2014/main" id="{D5AB563B-5CA6-22E2-09F5-D0361108CEF7}"/>
              </a:ext>
            </a:extLst>
          </p:cNvPr>
          <p:cNvSpPr txBox="1">
            <a:spLocks noChangeArrowheads="1"/>
          </p:cNvSpPr>
          <p:nvPr/>
        </p:nvSpPr>
        <p:spPr bwMode="auto">
          <a:xfrm>
            <a:off x="6400800" y="3702050"/>
            <a:ext cx="3635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0.0</a:t>
            </a:r>
          </a:p>
        </p:txBody>
      </p:sp>
      <p:sp>
        <p:nvSpPr>
          <p:cNvPr id="43027" name="TextBox 17">
            <a:extLst>
              <a:ext uri="{FF2B5EF4-FFF2-40B4-BE49-F238E27FC236}">
                <a16:creationId xmlns:a16="http://schemas.microsoft.com/office/drawing/2014/main" id="{DE97CAD9-2320-3E0B-9AD2-0E77B7BF9AA9}"/>
              </a:ext>
            </a:extLst>
          </p:cNvPr>
          <p:cNvSpPr txBox="1">
            <a:spLocks noChangeArrowheads="1"/>
          </p:cNvSpPr>
          <p:nvPr/>
        </p:nvSpPr>
        <p:spPr bwMode="auto">
          <a:xfrm>
            <a:off x="6400800" y="4102100"/>
            <a:ext cx="21717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0.0</a:t>
            </a:r>
          </a:p>
        </p:txBody>
      </p:sp>
      <p:sp>
        <p:nvSpPr>
          <p:cNvPr id="43028" name="TextBox 18">
            <a:extLst>
              <a:ext uri="{FF2B5EF4-FFF2-40B4-BE49-F238E27FC236}">
                <a16:creationId xmlns:a16="http://schemas.microsoft.com/office/drawing/2014/main" id="{95B57F9A-E6EB-3795-0933-AAB1C3CFCE57}"/>
              </a:ext>
            </a:extLst>
          </p:cNvPr>
          <p:cNvSpPr txBox="1">
            <a:spLocks noChangeArrowheads="1"/>
          </p:cNvSpPr>
          <p:nvPr/>
        </p:nvSpPr>
        <p:spPr bwMode="auto">
          <a:xfrm>
            <a:off x="6400800" y="45100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43029" name="Picture 12">
            <a:extLst>
              <a:ext uri="{FF2B5EF4-FFF2-40B4-BE49-F238E27FC236}">
                <a16:creationId xmlns:a16="http://schemas.microsoft.com/office/drawing/2014/main" id="{9F99FB36-7FA9-E81F-AFB3-E6BFC6A2F44A}"/>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51419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30" name="Picture 12">
            <a:extLst>
              <a:ext uri="{FF2B5EF4-FFF2-40B4-BE49-F238E27FC236}">
                <a16:creationId xmlns:a16="http://schemas.microsoft.com/office/drawing/2014/main" id="{A7C2FE8C-A959-7AD9-4220-A82427C4D9B1}"/>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050" y="554196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31" name="TextBox 18">
            <a:extLst>
              <a:ext uri="{FF2B5EF4-FFF2-40B4-BE49-F238E27FC236}">
                <a16:creationId xmlns:a16="http://schemas.microsoft.com/office/drawing/2014/main" id="{EABB1A1A-CAE6-83DE-A4B8-F296C68DFC7F}"/>
              </a:ext>
            </a:extLst>
          </p:cNvPr>
          <p:cNvSpPr txBox="1">
            <a:spLocks noChangeArrowheads="1"/>
          </p:cNvSpPr>
          <p:nvPr/>
        </p:nvSpPr>
        <p:spPr bwMode="auto">
          <a:xfrm>
            <a:off x="6400800" y="48656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3032" name="TextBox 18">
            <a:extLst>
              <a:ext uri="{FF2B5EF4-FFF2-40B4-BE49-F238E27FC236}">
                <a16:creationId xmlns:a16="http://schemas.microsoft.com/office/drawing/2014/main" id="{F98943A1-5000-E0B2-42F5-409B4C805A74}"/>
              </a:ext>
            </a:extLst>
          </p:cNvPr>
          <p:cNvSpPr txBox="1">
            <a:spLocks noChangeArrowheads="1"/>
          </p:cNvSpPr>
          <p:nvPr/>
        </p:nvSpPr>
        <p:spPr bwMode="auto">
          <a:xfrm>
            <a:off x="6400800" y="5273675"/>
            <a:ext cx="23320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4">
            <a:extLst>
              <a:ext uri="{FF2B5EF4-FFF2-40B4-BE49-F238E27FC236}">
                <a16:creationId xmlns:a16="http://schemas.microsoft.com/office/drawing/2014/main" id="{3A1C011A-F47C-80E3-6FCA-6E9CB32BA071}"/>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95CB5E6B-319D-4726-A348-200DABD42E4B}"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21</a:t>
            </a:fld>
            <a:endParaRPr lang="en-US" altLang="en-US" sz="1100">
              <a:solidFill>
                <a:schemeClr val="bg1"/>
              </a:solidFill>
              <a:ea typeface="Corbel" panose="020B0503020204020204" pitchFamily="34" charset="0"/>
              <a:cs typeface="Corbel" panose="020B0503020204020204" pitchFamily="34" charset="0"/>
            </a:endParaRPr>
          </a:p>
        </p:txBody>
      </p:sp>
      <p:sp>
        <p:nvSpPr>
          <p:cNvPr id="44035" name="Rectangle 1">
            <a:extLst>
              <a:ext uri="{FF2B5EF4-FFF2-40B4-BE49-F238E27FC236}">
                <a16:creationId xmlns:a16="http://schemas.microsoft.com/office/drawing/2014/main" id="{AA7A2500-ED9C-C349-B518-BDFDCEE76FB6}"/>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Lifetime Value Analysis – Plan A  </a:t>
            </a:r>
          </a:p>
        </p:txBody>
      </p:sp>
      <p:pic>
        <p:nvPicPr>
          <p:cNvPr id="44036" name="Picture 5">
            <a:extLst>
              <a:ext uri="{FF2B5EF4-FFF2-40B4-BE49-F238E27FC236}">
                <a16:creationId xmlns:a16="http://schemas.microsoft.com/office/drawing/2014/main" id="{BD2B3E14-B27B-3073-48DE-247648634D01}"/>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6663" y="1824038"/>
            <a:ext cx="1554162"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6">
            <a:extLst>
              <a:ext uri="{FF2B5EF4-FFF2-40B4-BE49-F238E27FC236}">
                <a16:creationId xmlns:a16="http://schemas.microsoft.com/office/drawing/2014/main" id="{31C30895-3946-8A9C-76A5-78347D2DF895}"/>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2288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7">
            <a:extLst>
              <a:ext uri="{FF2B5EF4-FFF2-40B4-BE49-F238E27FC236}">
                <a16:creationId xmlns:a16="http://schemas.microsoft.com/office/drawing/2014/main" id="{B38A6BAB-5D9D-F765-51BF-85D05CB42B95}"/>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67017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9" name="Picture 8">
            <a:extLst>
              <a:ext uri="{FF2B5EF4-FFF2-40B4-BE49-F238E27FC236}">
                <a16:creationId xmlns:a16="http://schemas.microsoft.com/office/drawing/2014/main" id="{FC8DC695-51FA-E92A-3548-8BDF41AEA8EA}"/>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13213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0" name="Picture 9">
            <a:extLst>
              <a:ext uri="{FF2B5EF4-FFF2-40B4-BE49-F238E27FC236}">
                <a16:creationId xmlns:a16="http://schemas.microsoft.com/office/drawing/2014/main" id="{1C2D66C4-2D78-1AF9-9868-11987E7026DE}"/>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50202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1" name="Picture 10">
            <a:extLst>
              <a:ext uri="{FF2B5EF4-FFF2-40B4-BE49-F238E27FC236}">
                <a16:creationId xmlns:a16="http://schemas.microsoft.com/office/drawing/2014/main" id="{4B106F54-68E1-EF98-AF7E-6CAE7E1188D9}"/>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9560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2" name="Picture 11">
            <a:extLst>
              <a:ext uri="{FF2B5EF4-FFF2-40B4-BE49-F238E27FC236}">
                <a16:creationId xmlns:a16="http://schemas.microsoft.com/office/drawing/2014/main" id="{A2BE9FBA-92A5-489C-C3FC-4226432E2063}"/>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43545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3" name="Picture 12">
            <a:extLst>
              <a:ext uri="{FF2B5EF4-FFF2-40B4-BE49-F238E27FC236}">
                <a16:creationId xmlns:a16="http://schemas.microsoft.com/office/drawing/2014/main" id="{3D651C20-FBDF-7E8C-5B23-FB0A231B7C93}"/>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477678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4" name="Rectangle 14">
            <a:extLst>
              <a:ext uri="{FF2B5EF4-FFF2-40B4-BE49-F238E27FC236}">
                <a16:creationId xmlns:a16="http://schemas.microsoft.com/office/drawing/2014/main" id="{91E06F40-C20D-1BE7-0ADB-378F0A335274}"/>
              </a:ext>
            </a:extLst>
          </p:cNvPr>
          <p:cNvSpPr>
            <a:spLocks noChangeArrowheads="1"/>
          </p:cNvSpPr>
          <p:nvPr/>
        </p:nvSpPr>
        <p:spPr bwMode="auto">
          <a:xfrm>
            <a:off x="0" y="1585913"/>
            <a:ext cx="6384925" cy="358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indent="-307975">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r" eaLnBrk="1" hangingPunct="1">
              <a:lnSpc>
                <a:spcPct val="95000"/>
              </a:lnSpc>
              <a:spcAft>
                <a:spcPts val="1625"/>
              </a:spcAft>
              <a:buClr>
                <a:srgbClr val="000000"/>
              </a:buClr>
              <a:buSzPct val="100000"/>
            </a:pPr>
            <a:r>
              <a:rPr lang="en-US" altLang="en-US" sz="1400" b="1">
                <a:solidFill>
                  <a:srgbClr val="00274D"/>
                </a:solidFill>
              </a:rPr>
              <a:t>A. Average sale (ticket, transaction, invoice) =</a:t>
            </a:r>
            <a:endParaRPr lang="en-US" altLang="en-US">
              <a:solidFill>
                <a:srgbClr val="00274D"/>
              </a:solidFill>
            </a:endParaRPr>
          </a:p>
          <a:p>
            <a:pPr lvl="1" algn="r" eaLnBrk="1" hangingPunct="1">
              <a:lnSpc>
                <a:spcPct val="95000"/>
              </a:lnSpc>
              <a:spcAft>
                <a:spcPts val="1625"/>
              </a:spcAft>
              <a:buClr>
                <a:srgbClr val="000000"/>
              </a:buClr>
              <a:buSzPct val="100000"/>
            </a:pPr>
            <a:r>
              <a:rPr lang="en-US" altLang="en-US" sz="1400" b="1">
                <a:solidFill>
                  <a:srgbClr val="00274D"/>
                </a:solidFill>
              </a:rPr>
              <a:t>B. Times gross profit margin on average sale (sale less variable costs)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C. Equals gross profit per average sale ( </a:t>
            </a:r>
            <a:r>
              <a:rPr lang="en-US" altLang="en-US" sz="1400" b="1">
                <a:solidFill>
                  <a:srgbClr val="7B8364"/>
                </a:solidFill>
              </a:rPr>
              <a:t>A * B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D. Times the average repeat sales per year (per customer/client) =</a:t>
            </a:r>
          </a:p>
          <a:p>
            <a:pPr algn="r" eaLnBrk="1" hangingPunct="1">
              <a:lnSpc>
                <a:spcPct val="95000"/>
              </a:lnSpc>
              <a:spcAft>
                <a:spcPts val="1625"/>
              </a:spcAft>
            </a:pPr>
            <a:r>
              <a:rPr lang="en-US" altLang="en-US" sz="1400" b="1">
                <a:solidFill>
                  <a:srgbClr val="00274D"/>
                </a:solidFill>
              </a:rPr>
              <a:t>E. Equals the average customer/client value per year ( </a:t>
            </a:r>
            <a:r>
              <a:rPr lang="en-US" altLang="en-US" sz="1400" b="1">
                <a:solidFill>
                  <a:srgbClr val="7B8364"/>
                </a:solidFill>
              </a:rPr>
              <a:t>C * D </a:t>
            </a:r>
            <a:r>
              <a:rPr lang="en-US" altLang="en-US" sz="1400" b="1">
                <a:solidFill>
                  <a:srgbClr val="00274D"/>
                </a:solidFill>
              </a:rPr>
              <a:t>) =</a:t>
            </a:r>
          </a:p>
          <a:p>
            <a:pPr algn="r" eaLnBrk="1" hangingPunct="1">
              <a:lnSpc>
                <a:spcPct val="95000"/>
              </a:lnSpc>
              <a:spcAft>
                <a:spcPts val="1625"/>
              </a:spcAft>
            </a:pPr>
            <a:r>
              <a:rPr lang="en-US" altLang="en-US" sz="1400" b="1">
                <a:solidFill>
                  <a:srgbClr val="00274D"/>
                </a:solidFill>
              </a:rPr>
              <a:t>F. Times the average number of years of patronage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G. Equals the lifetime value of one customer/client ( </a:t>
            </a:r>
            <a:r>
              <a:rPr lang="en-US" altLang="en-US" sz="1400" b="1">
                <a:solidFill>
                  <a:srgbClr val="7B8364"/>
                </a:solidFill>
              </a:rPr>
              <a:t>E * F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H. So if your base monthly advertising investment averages =</a:t>
            </a:r>
          </a:p>
          <a:p>
            <a:pPr algn="r" eaLnBrk="1" hangingPunct="1">
              <a:lnSpc>
                <a:spcPct val="95000"/>
              </a:lnSpc>
              <a:spcAft>
                <a:spcPts val="1625"/>
              </a:spcAft>
              <a:buFontTx/>
              <a:buAutoNum type="romanUcPeriod"/>
            </a:pPr>
            <a:r>
              <a:rPr lang="en-US" altLang="en-US" sz="1400" b="1">
                <a:solidFill>
                  <a:srgbClr val="00274D"/>
                </a:solidFill>
              </a:rPr>
              <a:t> Then monthly customers/clients needed to break even ( </a:t>
            </a:r>
            <a:r>
              <a:rPr lang="en-US" altLang="en-US" sz="1400" b="1">
                <a:solidFill>
                  <a:srgbClr val="7B8364"/>
                </a:solidFill>
              </a:rPr>
              <a:t>H / G </a:t>
            </a:r>
            <a:r>
              <a:rPr lang="en-US" altLang="en-US" sz="1400" b="1">
                <a:solidFill>
                  <a:srgbClr val="00274D"/>
                </a:solidFill>
              </a:rPr>
              <a:t>) </a:t>
            </a:r>
            <a:r>
              <a:rPr lang="en-US" altLang="en-US" sz="1400" b="1">
                <a:solidFill>
                  <a:srgbClr val="00274D"/>
                </a:solidFill>
                <a:ea typeface="Corbel" panose="020B0503020204020204" pitchFamily="34" charset="0"/>
                <a:cs typeface="Corbel" panose="020B0503020204020204" pitchFamily="34" charset="0"/>
              </a:rPr>
              <a:t>=</a:t>
            </a:r>
          </a:p>
        </p:txBody>
      </p:sp>
      <p:sp>
        <p:nvSpPr>
          <p:cNvPr id="44045" name="TextBox 11">
            <a:extLst>
              <a:ext uri="{FF2B5EF4-FFF2-40B4-BE49-F238E27FC236}">
                <a16:creationId xmlns:a16="http://schemas.microsoft.com/office/drawing/2014/main" id="{E190C35E-5D6C-1AB7-6F2E-4D01ABEB3AE1}"/>
              </a:ext>
            </a:extLst>
          </p:cNvPr>
          <p:cNvSpPr txBox="1">
            <a:spLocks noChangeArrowheads="1"/>
          </p:cNvSpPr>
          <p:nvPr/>
        </p:nvSpPr>
        <p:spPr bwMode="auto">
          <a:xfrm>
            <a:off x="6400800" y="157480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4046" name="TextBox 12">
            <a:extLst>
              <a:ext uri="{FF2B5EF4-FFF2-40B4-BE49-F238E27FC236}">
                <a16:creationId xmlns:a16="http://schemas.microsoft.com/office/drawing/2014/main" id="{EA25544A-B84D-6F6F-5C82-4D83A3444050}"/>
              </a:ext>
            </a:extLst>
          </p:cNvPr>
          <p:cNvSpPr txBox="1">
            <a:spLocks noChangeArrowheads="1"/>
          </p:cNvSpPr>
          <p:nvPr/>
        </p:nvSpPr>
        <p:spPr bwMode="auto">
          <a:xfrm>
            <a:off x="6400800" y="1974850"/>
            <a:ext cx="3683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4047" name="TextBox 13">
            <a:extLst>
              <a:ext uri="{FF2B5EF4-FFF2-40B4-BE49-F238E27FC236}">
                <a16:creationId xmlns:a16="http://schemas.microsoft.com/office/drawing/2014/main" id="{9A4AEE06-6909-ECE2-2604-7205A6DCF1E2}"/>
              </a:ext>
            </a:extLst>
          </p:cNvPr>
          <p:cNvSpPr txBox="1">
            <a:spLocks noChangeArrowheads="1"/>
          </p:cNvSpPr>
          <p:nvPr/>
        </p:nvSpPr>
        <p:spPr bwMode="auto">
          <a:xfrm>
            <a:off x="6400800" y="2403475"/>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4048" name="TextBox 14">
            <a:extLst>
              <a:ext uri="{FF2B5EF4-FFF2-40B4-BE49-F238E27FC236}">
                <a16:creationId xmlns:a16="http://schemas.microsoft.com/office/drawing/2014/main" id="{EE051DD5-5561-DC78-1433-75F89BF1F945}"/>
              </a:ext>
            </a:extLst>
          </p:cNvPr>
          <p:cNvSpPr txBox="1">
            <a:spLocks noChangeArrowheads="1"/>
          </p:cNvSpPr>
          <p:nvPr/>
        </p:nvSpPr>
        <p:spPr bwMode="auto">
          <a:xfrm>
            <a:off x="6400800" y="2889250"/>
            <a:ext cx="2444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4049" name="TextBox 15">
            <a:extLst>
              <a:ext uri="{FF2B5EF4-FFF2-40B4-BE49-F238E27FC236}">
                <a16:creationId xmlns:a16="http://schemas.microsoft.com/office/drawing/2014/main" id="{AA430A4C-D540-EB43-FB97-B47BC0D773B7}"/>
              </a:ext>
            </a:extLst>
          </p:cNvPr>
          <p:cNvSpPr txBox="1">
            <a:spLocks noChangeArrowheads="1"/>
          </p:cNvSpPr>
          <p:nvPr/>
        </p:nvSpPr>
        <p:spPr bwMode="auto">
          <a:xfrm>
            <a:off x="6400800" y="3248025"/>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4050" name="TextBox 16">
            <a:extLst>
              <a:ext uri="{FF2B5EF4-FFF2-40B4-BE49-F238E27FC236}">
                <a16:creationId xmlns:a16="http://schemas.microsoft.com/office/drawing/2014/main" id="{48783EE2-E910-B92E-3BEF-7C3CC90558EC}"/>
              </a:ext>
            </a:extLst>
          </p:cNvPr>
          <p:cNvSpPr txBox="1">
            <a:spLocks noChangeArrowheads="1"/>
          </p:cNvSpPr>
          <p:nvPr/>
        </p:nvSpPr>
        <p:spPr bwMode="auto">
          <a:xfrm>
            <a:off x="6400800" y="3702050"/>
            <a:ext cx="2444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4051" name="TextBox 17">
            <a:extLst>
              <a:ext uri="{FF2B5EF4-FFF2-40B4-BE49-F238E27FC236}">
                <a16:creationId xmlns:a16="http://schemas.microsoft.com/office/drawing/2014/main" id="{8AB1A9F4-B892-8B0C-05F0-17F740FE68CB}"/>
              </a:ext>
            </a:extLst>
          </p:cNvPr>
          <p:cNvSpPr txBox="1">
            <a:spLocks noChangeArrowheads="1"/>
          </p:cNvSpPr>
          <p:nvPr/>
        </p:nvSpPr>
        <p:spPr bwMode="auto">
          <a:xfrm>
            <a:off x="6400800" y="4102100"/>
            <a:ext cx="21717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4052" name="TextBox 18">
            <a:extLst>
              <a:ext uri="{FF2B5EF4-FFF2-40B4-BE49-F238E27FC236}">
                <a16:creationId xmlns:a16="http://schemas.microsoft.com/office/drawing/2014/main" id="{C41C46FE-165B-AFEB-6F4F-D376AA3F2065}"/>
              </a:ext>
            </a:extLst>
          </p:cNvPr>
          <p:cNvSpPr txBox="1">
            <a:spLocks noChangeArrowheads="1"/>
          </p:cNvSpPr>
          <p:nvPr/>
        </p:nvSpPr>
        <p:spPr bwMode="auto">
          <a:xfrm>
            <a:off x="6400800" y="45100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44053" name="Picture 12">
            <a:extLst>
              <a:ext uri="{FF2B5EF4-FFF2-40B4-BE49-F238E27FC236}">
                <a16:creationId xmlns:a16="http://schemas.microsoft.com/office/drawing/2014/main" id="{E331A74A-06F6-6DF8-9336-9B316D9E69AF}"/>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51419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54" name="TextBox 18">
            <a:extLst>
              <a:ext uri="{FF2B5EF4-FFF2-40B4-BE49-F238E27FC236}">
                <a16:creationId xmlns:a16="http://schemas.microsoft.com/office/drawing/2014/main" id="{7262C0A3-E69F-852D-C3A0-1BBC3E102452}"/>
              </a:ext>
            </a:extLst>
          </p:cNvPr>
          <p:cNvSpPr txBox="1">
            <a:spLocks noChangeArrowheads="1"/>
          </p:cNvSpPr>
          <p:nvPr/>
        </p:nvSpPr>
        <p:spPr bwMode="auto">
          <a:xfrm>
            <a:off x="6400800" y="48656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a:extLst>
              <a:ext uri="{FF2B5EF4-FFF2-40B4-BE49-F238E27FC236}">
                <a16:creationId xmlns:a16="http://schemas.microsoft.com/office/drawing/2014/main" id="{568E12D4-D8E7-AE61-7187-C31CA351420F}"/>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Digital ROI Calculator – Plan A  </a:t>
            </a:r>
          </a:p>
        </p:txBody>
      </p:sp>
      <p:sp>
        <p:nvSpPr>
          <p:cNvPr id="45059" name="Slide Number Placeholder 4">
            <a:extLst>
              <a:ext uri="{FF2B5EF4-FFF2-40B4-BE49-F238E27FC236}">
                <a16:creationId xmlns:a16="http://schemas.microsoft.com/office/drawing/2014/main" id="{157CF9AD-5B0F-C4CE-3573-484E3604AAE2}"/>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A2FF9B47-687D-4432-9D68-8F496C0B8815}"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22</a:t>
            </a:fld>
            <a:endParaRPr lang="en-US" altLang="en-US" sz="1100">
              <a:solidFill>
                <a:schemeClr val="bg1"/>
              </a:solidFill>
              <a:ea typeface="Corbel" panose="020B0503020204020204" pitchFamily="34" charset="0"/>
              <a:cs typeface="Corbel" panose="020B0503020204020204" pitchFamily="34" charset="0"/>
            </a:endParaRPr>
          </a:p>
        </p:txBody>
      </p:sp>
      <p:pic>
        <p:nvPicPr>
          <p:cNvPr id="45060" name="Picture 5">
            <a:extLst>
              <a:ext uri="{FF2B5EF4-FFF2-40B4-BE49-F238E27FC236}">
                <a16:creationId xmlns:a16="http://schemas.microsoft.com/office/drawing/2014/main" id="{1E026B5A-818D-77F3-43AC-DA98352360DA}"/>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6663" y="1468438"/>
            <a:ext cx="1554162"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1" name="Picture 6">
            <a:extLst>
              <a:ext uri="{FF2B5EF4-FFF2-40B4-BE49-F238E27FC236}">
                <a16:creationId xmlns:a16="http://schemas.microsoft.com/office/drawing/2014/main" id="{9F5F0DA6-7F5E-E146-809F-674AFE5FEB46}"/>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18732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7">
            <a:extLst>
              <a:ext uri="{FF2B5EF4-FFF2-40B4-BE49-F238E27FC236}">
                <a16:creationId xmlns:a16="http://schemas.microsoft.com/office/drawing/2014/main" id="{617E6857-2BAC-FBEC-4C7B-0A497BF4CF2A}"/>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31457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8">
            <a:extLst>
              <a:ext uri="{FF2B5EF4-FFF2-40B4-BE49-F238E27FC236}">
                <a16:creationId xmlns:a16="http://schemas.microsoft.com/office/drawing/2014/main" id="{2EC4CA84-CE83-65B6-B384-6DAD0FCE3A63}"/>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77653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4" name="Picture 9">
            <a:extLst>
              <a:ext uri="{FF2B5EF4-FFF2-40B4-BE49-F238E27FC236}">
                <a16:creationId xmlns:a16="http://schemas.microsoft.com/office/drawing/2014/main" id="{5016706B-CBF7-7323-FAA4-9697BEC0E7D3}"/>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14642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5" name="Picture 10">
            <a:extLst>
              <a:ext uri="{FF2B5EF4-FFF2-40B4-BE49-F238E27FC236}">
                <a16:creationId xmlns:a16="http://schemas.microsoft.com/office/drawing/2014/main" id="{9BBDC65D-BF79-06D1-A19B-1C513D1A93E8}"/>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6004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6" name="Picture 11">
            <a:extLst>
              <a:ext uri="{FF2B5EF4-FFF2-40B4-BE49-F238E27FC236}">
                <a16:creationId xmlns:a16="http://schemas.microsoft.com/office/drawing/2014/main" id="{96688DE7-3951-D906-5474-BE5C058378BA}"/>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9989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7" name="Picture 12">
            <a:extLst>
              <a:ext uri="{FF2B5EF4-FFF2-40B4-BE49-F238E27FC236}">
                <a16:creationId xmlns:a16="http://schemas.microsoft.com/office/drawing/2014/main" id="{DD530430-CBBB-87B9-53EE-4291A31C9136}"/>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442118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8" name="Rectangle 14">
            <a:extLst>
              <a:ext uri="{FF2B5EF4-FFF2-40B4-BE49-F238E27FC236}">
                <a16:creationId xmlns:a16="http://schemas.microsoft.com/office/drawing/2014/main" id="{CFB63C67-8136-B2AE-59B9-981CEA5097E5}"/>
              </a:ext>
            </a:extLst>
          </p:cNvPr>
          <p:cNvSpPr>
            <a:spLocks noChangeArrowheads="1"/>
          </p:cNvSpPr>
          <p:nvPr/>
        </p:nvSpPr>
        <p:spPr bwMode="auto">
          <a:xfrm>
            <a:off x="0" y="1230313"/>
            <a:ext cx="6384925"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indent="-307975">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r" eaLnBrk="1" hangingPunct="1">
              <a:lnSpc>
                <a:spcPct val="95000"/>
              </a:lnSpc>
              <a:spcAft>
                <a:spcPts val="1625"/>
              </a:spcAft>
              <a:buClr>
                <a:srgbClr val="000000"/>
              </a:buClr>
              <a:buSzPct val="100000"/>
            </a:pPr>
            <a:r>
              <a:rPr lang="en-US" altLang="en-US" sz="1400" b="1">
                <a:solidFill>
                  <a:srgbClr val="00274D"/>
                </a:solidFill>
              </a:rPr>
              <a:t>A. Monthly Digital Investment =</a:t>
            </a:r>
            <a:endParaRPr lang="en-US" altLang="en-US">
              <a:solidFill>
                <a:srgbClr val="00274D"/>
              </a:solidFill>
            </a:endParaRPr>
          </a:p>
          <a:p>
            <a:pPr lvl="1" algn="r" eaLnBrk="1" hangingPunct="1">
              <a:lnSpc>
                <a:spcPct val="95000"/>
              </a:lnSpc>
              <a:spcAft>
                <a:spcPts val="1625"/>
              </a:spcAft>
              <a:buClr>
                <a:srgbClr val="000000"/>
              </a:buClr>
              <a:buSzPct val="100000"/>
            </a:pPr>
            <a:r>
              <a:rPr lang="en-US" altLang="en-US" sz="1400" b="1">
                <a:solidFill>
                  <a:srgbClr val="00274D"/>
                </a:solidFill>
              </a:rPr>
              <a:t>B. Cost Per Thousand ( CPM )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C. Monthly Impressions ( </a:t>
            </a:r>
            <a:r>
              <a:rPr lang="en-US" altLang="en-US" sz="1400" b="1">
                <a:solidFill>
                  <a:srgbClr val="7B8364"/>
                </a:solidFill>
              </a:rPr>
              <a:t>= A / B * 1,000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D. Click Through Rate ( .01%, .1%, etc.) =</a:t>
            </a:r>
          </a:p>
          <a:p>
            <a:pPr algn="r" eaLnBrk="1" hangingPunct="1">
              <a:lnSpc>
                <a:spcPct val="95000"/>
              </a:lnSpc>
              <a:spcAft>
                <a:spcPts val="1625"/>
              </a:spcAft>
            </a:pPr>
            <a:r>
              <a:rPr lang="en-US" altLang="en-US" sz="1400" b="1">
                <a:solidFill>
                  <a:srgbClr val="00274D"/>
                </a:solidFill>
              </a:rPr>
              <a:t>E. Monthly # Clicks ( </a:t>
            </a:r>
            <a:r>
              <a:rPr lang="en-US" altLang="en-US" sz="1400" b="1">
                <a:solidFill>
                  <a:srgbClr val="7B8364"/>
                </a:solidFill>
              </a:rPr>
              <a:t>= C * D </a:t>
            </a:r>
            <a:r>
              <a:rPr lang="en-US" altLang="en-US" sz="1400" b="1">
                <a:solidFill>
                  <a:srgbClr val="00274D"/>
                </a:solidFill>
              </a:rPr>
              <a:t>) =</a:t>
            </a:r>
          </a:p>
          <a:p>
            <a:pPr algn="r" eaLnBrk="1" hangingPunct="1">
              <a:lnSpc>
                <a:spcPct val="95000"/>
              </a:lnSpc>
              <a:spcAft>
                <a:spcPts val="1625"/>
              </a:spcAft>
            </a:pPr>
            <a:r>
              <a:rPr lang="en-US" altLang="en-US" sz="1400" b="1">
                <a:solidFill>
                  <a:srgbClr val="00274D"/>
                </a:solidFill>
              </a:rPr>
              <a:t>F. Cost Per Click ( </a:t>
            </a:r>
            <a:r>
              <a:rPr lang="en-US" altLang="en-US" sz="1400" b="1">
                <a:solidFill>
                  <a:srgbClr val="7B8364"/>
                </a:solidFill>
              </a:rPr>
              <a:t>= A / E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G. Sales Conversion Percentage ( 2%, 10%, etc.)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H. Monthly Number of Conversions ( </a:t>
            </a:r>
            <a:r>
              <a:rPr lang="en-US" altLang="en-US" sz="1400" b="1">
                <a:solidFill>
                  <a:srgbClr val="7B8364"/>
                </a:solidFill>
              </a:rPr>
              <a:t>= E * G </a:t>
            </a:r>
            <a:r>
              <a:rPr lang="en-US" altLang="en-US" sz="1400" b="1">
                <a:solidFill>
                  <a:srgbClr val="00274D"/>
                </a:solidFill>
              </a:rPr>
              <a:t>) =</a:t>
            </a:r>
          </a:p>
          <a:p>
            <a:pPr algn="r" eaLnBrk="1" hangingPunct="1">
              <a:lnSpc>
                <a:spcPct val="95000"/>
              </a:lnSpc>
              <a:spcAft>
                <a:spcPts val="1625"/>
              </a:spcAft>
              <a:buFontTx/>
              <a:buAutoNum type="romanUcPeriod"/>
            </a:pPr>
            <a:r>
              <a:rPr lang="en-US" altLang="en-US" sz="1400" b="1">
                <a:solidFill>
                  <a:srgbClr val="00274D"/>
                </a:solidFill>
                <a:ea typeface="Corbel" panose="020B0503020204020204" pitchFamily="34" charset="0"/>
                <a:cs typeface="Corbel" panose="020B0503020204020204" pitchFamily="34" charset="0"/>
              </a:rPr>
              <a:t> </a:t>
            </a:r>
            <a:r>
              <a:rPr lang="en-US" altLang="en-US" sz="1400" b="1">
                <a:solidFill>
                  <a:srgbClr val="00274D"/>
                </a:solidFill>
              </a:rPr>
              <a:t>Cost per Conversion ( </a:t>
            </a:r>
            <a:r>
              <a:rPr lang="en-US" altLang="en-US" sz="1400" b="1">
                <a:solidFill>
                  <a:srgbClr val="7B8364"/>
                </a:solidFill>
              </a:rPr>
              <a:t>= A / H </a:t>
            </a:r>
            <a:r>
              <a:rPr lang="en-US" altLang="en-US" sz="1400" b="1">
                <a:solidFill>
                  <a:srgbClr val="00274D"/>
                </a:solidFill>
              </a:rPr>
              <a:t>) </a:t>
            </a:r>
            <a:r>
              <a:rPr lang="en-US" altLang="en-US" sz="1400" b="1">
                <a:solidFill>
                  <a:srgbClr val="00274D"/>
                </a:solidFill>
                <a:ea typeface="Corbel" panose="020B0503020204020204" pitchFamily="34" charset="0"/>
                <a:cs typeface="Corbel" panose="020B0503020204020204" pitchFamily="34" charset="0"/>
              </a:rPr>
              <a:t>=</a:t>
            </a:r>
          </a:p>
          <a:p>
            <a:pPr algn="r" eaLnBrk="1" hangingPunct="1">
              <a:lnSpc>
                <a:spcPct val="95000"/>
              </a:lnSpc>
              <a:spcAft>
                <a:spcPts val="1625"/>
              </a:spcAft>
            </a:pPr>
            <a:r>
              <a:rPr lang="en-US" altLang="en-US" sz="1400" b="1">
                <a:solidFill>
                  <a:srgbClr val="00274D"/>
                </a:solidFill>
                <a:ea typeface="Corbel" panose="020B0503020204020204" pitchFamily="34" charset="0"/>
                <a:cs typeface="Corbel" panose="020B0503020204020204" pitchFamily="34" charset="0"/>
              </a:rPr>
              <a:t>J. Project Gross Profit Per Conversion ($100, $1,000, etc.) =</a:t>
            </a:r>
          </a:p>
          <a:p>
            <a:pPr algn="r" eaLnBrk="1" hangingPunct="1">
              <a:lnSpc>
                <a:spcPct val="95000"/>
              </a:lnSpc>
              <a:spcAft>
                <a:spcPts val="1625"/>
              </a:spcAft>
            </a:pPr>
            <a:r>
              <a:rPr lang="en-US" altLang="en-US" sz="1400" b="1">
                <a:solidFill>
                  <a:srgbClr val="00274D"/>
                </a:solidFill>
              </a:rPr>
              <a:t>K. Monthly Gross Profit Generated From all Conversions ( </a:t>
            </a:r>
            <a:r>
              <a:rPr lang="en-US" altLang="en-US" sz="1400" b="1">
                <a:solidFill>
                  <a:srgbClr val="7B8364"/>
                </a:solidFill>
              </a:rPr>
              <a:t>= H * J </a:t>
            </a:r>
            <a:r>
              <a:rPr lang="en-US" altLang="en-US" sz="1400" b="1">
                <a:solidFill>
                  <a:srgbClr val="00274D"/>
                </a:solidFill>
              </a:rPr>
              <a:t>) </a:t>
            </a:r>
            <a:r>
              <a:rPr lang="en-US" altLang="en-US" sz="1400" b="1">
                <a:solidFill>
                  <a:srgbClr val="00274D"/>
                </a:solidFill>
                <a:ea typeface="Corbel" panose="020B0503020204020204" pitchFamily="34" charset="0"/>
                <a:cs typeface="Corbel" panose="020B0503020204020204" pitchFamily="34" charset="0"/>
              </a:rPr>
              <a:t>=</a:t>
            </a:r>
          </a:p>
          <a:p>
            <a:pPr algn="r" eaLnBrk="1" hangingPunct="1">
              <a:lnSpc>
                <a:spcPct val="95000"/>
              </a:lnSpc>
              <a:spcAft>
                <a:spcPts val="1625"/>
              </a:spcAft>
            </a:pPr>
            <a:r>
              <a:rPr lang="en-US" altLang="en-US" sz="1400" b="1">
                <a:solidFill>
                  <a:srgbClr val="00274D"/>
                </a:solidFill>
                <a:ea typeface="Corbel" panose="020B0503020204020204" pitchFamily="34" charset="0"/>
                <a:cs typeface="Corbel" panose="020B0503020204020204" pitchFamily="34" charset="0"/>
              </a:rPr>
              <a:t>L. $ Monthly Return on Investment ( </a:t>
            </a:r>
            <a:r>
              <a:rPr lang="en-US" altLang="en-US" sz="1400" b="1">
                <a:solidFill>
                  <a:srgbClr val="7B8364"/>
                </a:solidFill>
                <a:ea typeface="Corbel" panose="020B0503020204020204" pitchFamily="34" charset="0"/>
                <a:cs typeface="Corbel" panose="020B0503020204020204" pitchFamily="34" charset="0"/>
              </a:rPr>
              <a:t>= K – A </a:t>
            </a:r>
            <a:r>
              <a:rPr lang="en-US" altLang="en-US" sz="1400" b="1">
                <a:solidFill>
                  <a:srgbClr val="00274D"/>
                </a:solidFill>
                <a:ea typeface="Corbel" panose="020B0503020204020204" pitchFamily="34" charset="0"/>
                <a:cs typeface="Corbel" panose="020B0503020204020204" pitchFamily="34" charset="0"/>
              </a:rPr>
              <a:t>) =</a:t>
            </a:r>
          </a:p>
          <a:p>
            <a:pPr algn="r" eaLnBrk="1" hangingPunct="1">
              <a:lnSpc>
                <a:spcPct val="95000"/>
              </a:lnSpc>
              <a:spcAft>
                <a:spcPts val="1625"/>
              </a:spcAft>
            </a:pPr>
            <a:r>
              <a:rPr lang="en-US" altLang="en-US" sz="1400" b="1">
                <a:solidFill>
                  <a:srgbClr val="00274D"/>
                </a:solidFill>
                <a:ea typeface="Corbel" panose="020B0503020204020204" pitchFamily="34" charset="0"/>
                <a:cs typeface="Corbel" panose="020B0503020204020204" pitchFamily="34" charset="0"/>
              </a:rPr>
              <a:t>M. % Monthly Return on Investment ( </a:t>
            </a:r>
            <a:r>
              <a:rPr lang="en-US" altLang="en-US" sz="1400" b="1">
                <a:solidFill>
                  <a:srgbClr val="7B8364"/>
                </a:solidFill>
                <a:ea typeface="Corbel" panose="020B0503020204020204" pitchFamily="34" charset="0"/>
                <a:cs typeface="Corbel" panose="020B0503020204020204" pitchFamily="34" charset="0"/>
              </a:rPr>
              <a:t>= L / A </a:t>
            </a:r>
            <a:r>
              <a:rPr lang="en-US" altLang="en-US" sz="1400" b="1">
                <a:solidFill>
                  <a:srgbClr val="00274D"/>
                </a:solidFill>
                <a:ea typeface="Corbel" panose="020B0503020204020204" pitchFamily="34" charset="0"/>
                <a:cs typeface="Corbel" panose="020B0503020204020204" pitchFamily="34" charset="0"/>
              </a:rPr>
              <a:t>) =  </a:t>
            </a:r>
          </a:p>
        </p:txBody>
      </p:sp>
      <p:sp>
        <p:nvSpPr>
          <p:cNvPr id="45069" name="TextBox 11">
            <a:extLst>
              <a:ext uri="{FF2B5EF4-FFF2-40B4-BE49-F238E27FC236}">
                <a16:creationId xmlns:a16="http://schemas.microsoft.com/office/drawing/2014/main" id="{ED9FEA38-6C39-BD9A-521C-97CE1D5EE439}"/>
              </a:ext>
            </a:extLst>
          </p:cNvPr>
          <p:cNvSpPr txBox="1">
            <a:spLocks noChangeArrowheads="1"/>
          </p:cNvSpPr>
          <p:nvPr/>
        </p:nvSpPr>
        <p:spPr bwMode="auto">
          <a:xfrm>
            <a:off x="6400800" y="121920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5070" name="TextBox 12">
            <a:extLst>
              <a:ext uri="{FF2B5EF4-FFF2-40B4-BE49-F238E27FC236}">
                <a16:creationId xmlns:a16="http://schemas.microsoft.com/office/drawing/2014/main" id="{772F29B2-30A5-FC33-6238-B5FD24E8ED33}"/>
              </a:ext>
            </a:extLst>
          </p:cNvPr>
          <p:cNvSpPr txBox="1">
            <a:spLocks noChangeArrowheads="1"/>
          </p:cNvSpPr>
          <p:nvPr/>
        </p:nvSpPr>
        <p:spPr bwMode="auto">
          <a:xfrm>
            <a:off x="6400800" y="1619250"/>
            <a:ext cx="5207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$0.00</a:t>
            </a:r>
          </a:p>
        </p:txBody>
      </p:sp>
      <p:sp>
        <p:nvSpPr>
          <p:cNvPr id="45071" name="TextBox 13">
            <a:extLst>
              <a:ext uri="{FF2B5EF4-FFF2-40B4-BE49-F238E27FC236}">
                <a16:creationId xmlns:a16="http://schemas.microsoft.com/office/drawing/2014/main" id="{8DCFAF5D-FD17-A1FB-CEF6-98BE4C82863D}"/>
              </a:ext>
            </a:extLst>
          </p:cNvPr>
          <p:cNvSpPr txBox="1">
            <a:spLocks noChangeArrowheads="1"/>
          </p:cNvSpPr>
          <p:nvPr/>
        </p:nvSpPr>
        <p:spPr bwMode="auto">
          <a:xfrm>
            <a:off x="6400800" y="2047875"/>
            <a:ext cx="2444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5072" name="TextBox 14">
            <a:extLst>
              <a:ext uri="{FF2B5EF4-FFF2-40B4-BE49-F238E27FC236}">
                <a16:creationId xmlns:a16="http://schemas.microsoft.com/office/drawing/2014/main" id="{EEDEFE63-23EA-1E37-0BDE-DA1732342C5A}"/>
              </a:ext>
            </a:extLst>
          </p:cNvPr>
          <p:cNvSpPr txBox="1">
            <a:spLocks noChangeArrowheads="1"/>
          </p:cNvSpPr>
          <p:nvPr/>
        </p:nvSpPr>
        <p:spPr bwMode="auto">
          <a:xfrm>
            <a:off x="6400800" y="2533650"/>
            <a:ext cx="5651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0.00%</a:t>
            </a:r>
          </a:p>
        </p:txBody>
      </p:sp>
      <p:sp>
        <p:nvSpPr>
          <p:cNvPr id="45073" name="TextBox 15">
            <a:extLst>
              <a:ext uri="{FF2B5EF4-FFF2-40B4-BE49-F238E27FC236}">
                <a16:creationId xmlns:a16="http://schemas.microsoft.com/office/drawing/2014/main" id="{68E2DC2B-1B1D-8D1A-5D84-FE1E4AC1B47D}"/>
              </a:ext>
            </a:extLst>
          </p:cNvPr>
          <p:cNvSpPr txBox="1">
            <a:spLocks noChangeArrowheads="1"/>
          </p:cNvSpPr>
          <p:nvPr/>
        </p:nvSpPr>
        <p:spPr bwMode="auto">
          <a:xfrm>
            <a:off x="6400800" y="2892425"/>
            <a:ext cx="2444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5074" name="TextBox 16">
            <a:extLst>
              <a:ext uri="{FF2B5EF4-FFF2-40B4-BE49-F238E27FC236}">
                <a16:creationId xmlns:a16="http://schemas.microsoft.com/office/drawing/2014/main" id="{FF81E530-5941-6B1E-20E4-87FE04440B2E}"/>
              </a:ext>
            </a:extLst>
          </p:cNvPr>
          <p:cNvSpPr txBox="1">
            <a:spLocks noChangeArrowheads="1"/>
          </p:cNvSpPr>
          <p:nvPr/>
        </p:nvSpPr>
        <p:spPr bwMode="auto">
          <a:xfrm>
            <a:off x="6400800" y="33464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5075" name="TextBox 17">
            <a:extLst>
              <a:ext uri="{FF2B5EF4-FFF2-40B4-BE49-F238E27FC236}">
                <a16:creationId xmlns:a16="http://schemas.microsoft.com/office/drawing/2014/main" id="{5BAC45B5-D346-E12D-854F-E23015305E84}"/>
              </a:ext>
            </a:extLst>
          </p:cNvPr>
          <p:cNvSpPr txBox="1">
            <a:spLocks noChangeArrowheads="1"/>
          </p:cNvSpPr>
          <p:nvPr/>
        </p:nvSpPr>
        <p:spPr bwMode="auto">
          <a:xfrm>
            <a:off x="6400800" y="3746500"/>
            <a:ext cx="21717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5076" name="TextBox 18">
            <a:extLst>
              <a:ext uri="{FF2B5EF4-FFF2-40B4-BE49-F238E27FC236}">
                <a16:creationId xmlns:a16="http://schemas.microsoft.com/office/drawing/2014/main" id="{663135A5-2140-02C7-C3A4-B07A533D9E07}"/>
              </a:ext>
            </a:extLst>
          </p:cNvPr>
          <p:cNvSpPr txBox="1">
            <a:spLocks noChangeArrowheads="1"/>
          </p:cNvSpPr>
          <p:nvPr/>
        </p:nvSpPr>
        <p:spPr bwMode="auto">
          <a:xfrm>
            <a:off x="6400800" y="41544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45077" name="Picture 12">
            <a:extLst>
              <a:ext uri="{FF2B5EF4-FFF2-40B4-BE49-F238E27FC236}">
                <a16:creationId xmlns:a16="http://schemas.microsoft.com/office/drawing/2014/main" id="{25F5417C-D05C-1D51-692A-5B93B0398B17}"/>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47863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78" name="Picture 12">
            <a:extLst>
              <a:ext uri="{FF2B5EF4-FFF2-40B4-BE49-F238E27FC236}">
                <a16:creationId xmlns:a16="http://schemas.microsoft.com/office/drawing/2014/main" id="{FD6E7509-C337-78B4-6ABF-F5EC9AA50D73}"/>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050" y="518636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9" name="TextBox 18">
            <a:extLst>
              <a:ext uri="{FF2B5EF4-FFF2-40B4-BE49-F238E27FC236}">
                <a16:creationId xmlns:a16="http://schemas.microsoft.com/office/drawing/2014/main" id="{163D3A54-EF71-A231-EAF6-F8D479043B82}"/>
              </a:ext>
            </a:extLst>
          </p:cNvPr>
          <p:cNvSpPr txBox="1">
            <a:spLocks noChangeArrowheads="1"/>
          </p:cNvSpPr>
          <p:nvPr/>
        </p:nvSpPr>
        <p:spPr bwMode="auto">
          <a:xfrm>
            <a:off x="6400800" y="45100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5080" name="TextBox 18">
            <a:extLst>
              <a:ext uri="{FF2B5EF4-FFF2-40B4-BE49-F238E27FC236}">
                <a16:creationId xmlns:a16="http://schemas.microsoft.com/office/drawing/2014/main" id="{8317E6E7-9360-AD0D-C882-B83F5F6F221A}"/>
              </a:ext>
            </a:extLst>
          </p:cNvPr>
          <p:cNvSpPr txBox="1">
            <a:spLocks noChangeArrowheads="1"/>
          </p:cNvSpPr>
          <p:nvPr/>
        </p:nvSpPr>
        <p:spPr bwMode="auto">
          <a:xfrm>
            <a:off x="6400800" y="4918075"/>
            <a:ext cx="23320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45081" name="Picture 12">
            <a:extLst>
              <a:ext uri="{FF2B5EF4-FFF2-40B4-BE49-F238E27FC236}">
                <a16:creationId xmlns:a16="http://schemas.microsoft.com/office/drawing/2014/main" id="{E3401A7D-900E-C751-CA38-6B27A1FC05A0}"/>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050" y="596900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82" name="Picture 12">
            <a:extLst>
              <a:ext uri="{FF2B5EF4-FFF2-40B4-BE49-F238E27FC236}">
                <a16:creationId xmlns:a16="http://schemas.microsoft.com/office/drawing/2014/main" id="{972D7B7C-21BF-61F8-9101-A043E41FB883}"/>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050" y="558800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83" name="TextBox 18">
            <a:extLst>
              <a:ext uri="{FF2B5EF4-FFF2-40B4-BE49-F238E27FC236}">
                <a16:creationId xmlns:a16="http://schemas.microsoft.com/office/drawing/2014/main" id="{1A563E42-F69A-D4BE-FC37-9DDB667E5257}"/>
              </a:ext>
            </a:extLst>
          </p:cNvPr>
          <p:cNvSpPr txBox="1">
            <a:spLocks noChangeArrowheads="1"/>
          </p:cNvSpPr>
          <p:nvPr/>
        </p:nvSpPr>
        <p:spPr bwMode="auto">
          <a:xfrm>
            <a:off x="6400800" y="5334000"/>
            <a:ext cx="23320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45084" name="TextBox 18">
            <a:extLst>
              <a:ext uri="{FF2B5EF4-FFF2-40B4-BE49-F238E27FC236}">
                <a16:creationId xmlns:a16="http://schemas.microsoft.com/office/drawing/2014/main" id="{D9B25E3D-DBC0-D0AF-B082-B21B96673AEF}"/>
              </a:ext>
            </a:extLst>
          </p:cNvPr>
          <p:cNvSpPr txBox="1">
            <a:spLocks noChangeArrowheads="1"/>
          </p:cNvSpPr>
          <p:nvPr/>
        </p:nvSpPr>
        <p:spPr bwMode="auto">
          <a:xfrm>
            <a:off x="6400800" y="5715000"/>
            <a:ext cx="23320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45085" name="Picture 12">
            <a:extLst>
              <a:ext uri="{FF2B5EF4-FFF2-40B4-BE49-F238E27FC236}">
                <a16:creationId xmlns:a16="http://schemas.microsoft.com/office/drawing/2014/main" id="{400C7E2C-BF2C-8780-8967-A1AEF4474214}"/>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050" y="635000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86" name="TextBox 18">
            <a:extLst>
              <a:ext uri="{FF2B5EF4-FFF2-40B4-BE49-F238E27FC236}">
                <a16:creationId xmlns:a16="http://schemas.microsoft.com/office/drawing/2014/main" id="{589B6E61-C398-E745-74B5-018ADA7BF381}"/>
              </a:ext>
            </a:extLst>
          </p:cNvPr>
          <p:cNvSpPr txBox="1">
            <a:spLocks noChangeArrowheads="1"/>
          </p:cNvSpPr>
          <p:nvPr/>
        </p:nvSpPr>
        <p:spPr bwMode="auto">
          <a:xfrm>
            <a:off x="6400800" y="6096000"/>
            <a:ext cx="23320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a:extLst>
              <a:ext uri="{FF2B5EF4-FFF2-40B4-BE49-F238E27FC236}">
                <a16:creationId xmlns:a16="http://schemas.microsoft.com/office/drawing/2014/main" id="{21B9A1BE-13DD-59B2-5E21-8706276B1BCB}"/>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527C858E-A721-4718-A301-2CA805FC4E49}"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23</a:t>
            </a:fld>
            <a:endParaRPr lang="en-US" altLang="en-US" sz="1100">
              <a:solidFill>
                <a:schemeClr val="bg1"/>
              </a:solidFill>
              <a:ea typeface="Corbel" panose="020B0503020204020204" pitchFamily="34" charset="0"/>
              <a:cs typeface="Corbel" panose="020B0503020204020204" pitchFamily="34" charset="0"/>
            </a:endParaRPr>
          </a:p>
        </p:txBody>
      </p:sp>
      <p:sp>
        <p:nvSpPr>
          <p:cNvPr id="46083" name="Rectangle 1">
            <a:extLst>
              <a:ext uri="{FF2B5EF4-FFF2-40B4-BE49-F238E27FC236}">
                <a16:creationId xmlns:a16="http://schemas.microsoft.com/office/drawing/2014/main" id="{439196ED-BF6F-6CA2-BE19-E4A9963D1D28}"/>
              </a:ext>
            </a:extLst>
          </p:cNvPr>
          <p:cNvSpPr>
            <a:spLocks noGrp="1" noChangeArrowheads="1"/>
          </p:cNvSpPr>
          <p:nvPr>
            <p:ph type="title"/>
          </p:nvPr>
        </p:nvSpPr>
        <p:spPr>
          <a:xfrm>
            <a:off x="309563" y="373063"/>
            <a:ext cx="8524875" cy="615950"/>
          </a:xfrm>
        </p:spPr>
        <p:txBody>
          <a:bodyPr/>
          <a:lstStyle/>
          <a:p>
            <a:r>
              <a:rPr lang="en-US" altLang="en-US" sz="4000" b="1">
                <a:solidFill>
                  <a:schemeClr val="tx1"/>
                </a:solidFill>
                <a:latin typeface="Corbel" panose="020B0503020204020204" pitchFamily="34" charset="0"/>
                <a:ea typeface="Corbel" panose="020B0503020204020204" pitchFamily="34" charset="0"/>
                <a:cs typeface="Corbel" panose="020B0503020204020204" pitchFamily="34" charset="0"/>
              </a:rPr>
              <a:t>Proposed Schedule – Plan B</a:t>
            </a:r>
          </a:p>
        </p:txBody>
      </p:sp>
      <p:sp>
        <p:nvSpPr>
          <p:cNvPr id="46084" name="Text Box 5">
            <a:extLst>
              <a:ext uri="{FF2B5EF4-FFF2-40B4-BE49-F238E27FC236}">
                <a16:creationId xmlns:a16="http://schemas.microsoft.com/office/drawing/2014/main" id="{87866A90-A026-32DA-07AF-5211A151E854}"/>
              </a:ext>
            </a:extLst>
          </p:cNvPr>
          <p:cNvSpPr txBox="1">
            <a:spLocks noChangeArrowheads="1"/>
          </p:cNvSpPr>
          <p:nvPr/>
        </p:nvSpPr>
        <p:spPr bwMode="auto">
          <a:xfrm>
            <a:off x="457200" y="1150938"/>
            <a:ext cx="82296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eaLnBrk="1" hangingPunct="1">
              <a:lnSpc>
                <a:spcPct val="95000"/>
              </a:lnSpc>
              <a:spcBef>
                <a:spcPct val="0"/>
              </a:spcBef>
            </a:pPr>
            <a:r>
              <a:rPr lang="en-US" altLang="en-US" sz="1400" b="1">
                <a:solidFill>
                  <a:srgbClr val="000000"/>
                </a:solidFill>
                <a:latin typeface="Arial" panose="020B0604020202020204" pitchFamily="34" charset="0"/>
                <a:cs typeface="Arial" panose="020B0604020202020204" pitchFamily="34" charset="0"/>
              </a:rPr>
              <a:t>BUDGET BREAKOUT BY MONTH (For Next 12 Months) </a:t>
            </a:r>
          </a:p>
          <a:p>
            <a:pPr algn="ctr" eaLnBrk="1" hangingPunct="1">
              <a:lnSpc>
                <a:spcPct val="95000"/>
              </a:lnSpc>
              <a:spcBef>
                <a:spcPct val="0"/>
              </a:spcBef>
            </a:pPr>
            <a:r>
              <a:rPr lang="en-US" altLang="en-US" sz="2000" b="1" i="1">
                <a:latin typeface="Arial" panose="020B0604020202020204" pitchFamily="34" charset="0"/>
                <a:cs typeface="Arial" panose="020B0604020202020204" pitchFamily="34" charset="0"/>
              </a:rPr>
              <a:t>Proposed Media Plan</a:t>
            </a:r>
            <a:endParaRPr lang="en-US" altLang="en-US" sz="2000" b="1" i="1">
              <a:solidFill>
                <a:srgbClr val="000000"/>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0B19E1B0-D209-9B59-19B6-22765853CD8D}"/>
              </a:ext>
            </a:extLst>
          </p:cNvPr>
          <p:cNvSpPr>
            <a:spLocks noChangeArrowheads="1"/>
          </p:cNvSpPr>
          <p:nvPr/>
        </p:nvSpPr>
        <p:spPr bwMode="auto">
          <a:xfrm>
            <a:off x="7343775" y="3346450"/>
            <a:ext cx="206375" cy="204788"/>
          </a:xfrm>
          <a:prstGeom prst="rect">
            <a:avLst/>
          </a:prstGeom>
          <a:solidFill>
            <a:srgbClr val="00B050"/>
          </a:solidFill>
          <a:ln w="9525">
            <a:solidFill>
              <a:srgbClr val="000000"/>
            </a:solidFill>
            <a:miter lim="800000"/>
            <a:headEnd/>
            <a:tailEnd/>
          </a:ln>
          <a:effectLst>
            <a:outerShdw blurRad="65500" dist="38100" dir="5400000" rotWithShape="0">
              <a:srgbClr val="808080">
                <a:alpha val="39999"/>
              </a:srgbClr>
            </a:outerShdw>
          </a:effectLst>
        </p:spPr>
        <p:txBody>
          <a:bodyPr lIns="82296" tIns="41148" rIns="82296" bIns="41148" anchor="ctr"/>
          <a:lstStyle/>
          <a:p>
            <a:pPr algn="ctr">
              <a:defRPr/>
            </a:pPr>
            <a:endParaRPr lang="en-US">
              <a:solidFill>
                <a:schemeClr val="lt1"/>
              </a:solidFill>
              <a:latin typeface="+mn-lt"/>
            </a:endParaRPr>
          </a:p>
        </p:txBody>
      </p:sp>
      <p:sp>
        <p:nvSpPr>
          <p:cNvPr id="46086" name="TextBox 27">
            <a:extLst>
              <a:ext uri="{FF2B5EF4-FFF2-40B4-BE49-F238E27FC236}">
                <a16:creationId xmlns:a16="http://schemas.microsoft.com/office/drawing/2014/main" id="{67D8E79B-DBF4-9EC7-D686-6DAD4026ED7C}"/>
              </a:ext>
            </a:extLst>
          </p:cNvPr>
          <p:cNvSpPr txBox="1">
            <a:spLocks noChangeArrowheads="1"/>
          </p:cNvSpPr>
          <p:nvPr/>
        </p:nvSpPr>
        <p:spPr bwMode="auto">
          <a:xfrm>
            <a:off x="7550150" y="3278188"/>
            <a:ext cx="117633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300">
                <a:latin typeface="Arial" panose="020B0604020202020204" pitchFamily="34" charset="0"/>
                <a:cs typeface="Arial" panose="020B0604020202020204" pitchFamily="34" charset="0"/>
              </a:rPr>
              <a:t>Spike Months</a:t>
            </a:r>
          </a:p>
        </p:txBody>
      </p:sp>
      <p:graphicFrame>
        <p:nvGraphicFramePr>
          <p:cNvPr id="46087" name="Chart 5">
            <a:extLst>
              <a:ext uri="{FF2B5EF4-FFF2-40B4-BE49-F238E27FC236}">
                <a16:creationId xmlns:a16="http://schemas.microsoft.com/office/drawing/2014/main" id="{5ADFC43A-4E5F-08ED-20F5-93E2D42F2E20}"/>
              </a:ext>
            </a:extLst>
          </p:cNvPr>
          <p:cNvGraphicFramePr>
            <a:graphicFrameLocks/>
          </p:cNvGraphicFramePr>
          <p:nvPr/>
        </p:nvGraphicFramePr>
        <p:xfrm>
          <a:off x="593725" y="2179638"/>
          <a:ext cx="6543675" cy="3535362"/>
        </p:xfrm>
        <a:graphic>
          <a:graphicData uri="http://schemas.openxmlformats.org/presentationml/2006/ole">
            <mc:AlternateContent xmlns:mc="http://schemas.openxmlformats.org/markup-compatibility/2006">
              <mc:Choice xmlns:v="urn:schemas-microsoft-com:vml" Requires="v">
                <p:oleObj name="Worksheet" r:id="rId2" imgW="6362648" imgH="3181281" progId="Excel.Sheet.8">
                  <p:embed/>
                </p:oleObj>
              </mc:Choice>
              <mc:Fallback>
                <p:oleObj name="Worksheet" r:id="rId2" imgW="6362648" imgH="3181281" progId="Excel.Sheet.8">
                  <p:embed/>
                  <p:pic>
                    <p:nvPicPr>
                      <p:cNvPr id="0" name="Char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5" y="2179638"/>
                        <a:ext cx="6543675" cy="353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88" name="Text Box 5">
            <a:extLst>
              <a:ext uri="{FF2B5EF4-FFF2-40B4-BE49-F238E27FC236}">
                <a16:creationId xmlns:a16="http://schemas.microsoft.com/office/drawing/2014/main" id="{F0F929F8-6717-EC99-D823-24EC1C64A490}"/>
              </a:ext>
            </a:extLst>
          </p:cNvPr>
          <p:cNvSpPr txBox="1">
            <a:spLocks noChangeArrowheads="1"/>
          </p:cNvSpPr>
          <p:nvPr/>
        </p:nvSpPr>
        <p:spPr bwMode="auto">
          <a:xfrm>
            <a:off x="460375" y="1665288"/>
            <a:ext cx="836612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eaLnBrk="1" hangingPunct="1">
              <a:lnSpc>
                <a:spcPct val="95000"/>
              </a:lnSpc>
              <a:spcBef>
                <a:spcPct val="0"/>
              </a:spcBef>
            </a:pPr>
            <a:endParaRPr lang="en-US" altLang="en-US" b="1" i="1">
              <a:solidFill>
                <a:srgbClr val="000000"/>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2107599D-D642-F058-77D8-11BDD129607E}"/>
              </a:ext>
            </a:extLst>
          </p:cNvPr>
          <p:cNvSpPr>
            <a:spLocks noChangeArrowheads="1"/>
          </p:cNvSpPr>
          <p:nvPr/>
        </p:nvSpPr>
        <p:spPr bwMode="auto">
          <a:xfrm>
            <a:off x="7343775" y="3794125"/>
            <a:ext cx="206375" cy="206375"/>
          </a:xfrm>
          <a:prstGeom prst="rect">
            <a:avLst/>
          </a:prstGeom>
          <a:solidFill>
            <a:srgbClr val="0000FF"/>
          </a:solidFill>
          <a:ln w="9525">
            <a:solidFill>
              <a:srgbClr val="000000"/>
            </a:solidFill>
            <a:miter lim="800000"/>
            <a:headEnd/>
            <a:tailEnd/>
          </a:ln>
          <a:effectLst>
            <a:outerShdw blurRad="65500" dist="38100" dir="5400000" rotWithShape="0">
              <a:srgbClr val="808080">
                <a:alpha val="39999"/>
              </a:srgbClr>
            </a:outerShdw>
          </a:effectLst>
        </p:spPr>
        <p:txBody>
          <a:bodyPr lIns="82296" tIns="41148" rIns="82296" bIns="41148" anchor="ctr"/>
          <a:lstStyle/>
          <a:p>
            <a:pPr algn="ctr">
              <a:defRPr/>
            </a:pPr>
            <a:endParaRPr lang="en-US">
              <a:solidFill>
                <a:schemeClr val="lt1"/>
              </a:solidFill>
              <a:latin typeface="+mn-lt"/>
            </a:endParaRPr>
          </a:p>
        </p:txBody>
      </p:sp>
      <p:sp>
        <p:nvSpPr>
          <p:cNvPr id="46090" name="TextBox 28">
            <a:extLst>
              <a:ext uri="{FF2B5EF4-FFF2-40B4-BE49-F238E27FC236}">
                <a16:creationId xmlns:a16="http://schemas.microsoft.com/office/drawing/2014/main" id="{09109AFA-12C7-8969-028C-ACF6F2B6114A}"/>
              </a:ext>
            </a:extLst>
          </p:cNvPr>
          <p:cNvSpPr txBox="1">
            <a:spLocks noChangeArrowheads="1"/>
          </p:cNvSpPr>
          <p:nvPr/>
        </p:nvSpPr>
        <p:spPr bwMode="auto">
          <a:xfrm>
            <a:off x="7561263" y="3657600"/>
            <a:ext cx="1017587"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300">
                <a:latin typeface="Arial" panose="020B0604020202020204" pitchFamily="34" charset="0"/>
                <a:cs typeface="Arial" panose="020B0604020202020204" pitchFamily="34" charset="0"/>
              </a:rPr>
              <a:t>Brand Equity Months</a:t>
            </a:r>
          </a:p>
        </p:txBody>
      </p:sp>
      <p:sp>
        <p:nvSpPr>
          <p:cNvPr id="14" name="Rectangle 13">
            <a:extLst>
              <a:ext uri="{FF2B5EF4-FFF2-40B4-BE49-F238E27FC236}">
                <a16:creationId xmlns:a16="http://schemas.microsoft.com/office/drawing/2014/main" id="{B5259E33-CFF1-160A-2B2A-B9B6DF9D3F61}"/>
              </a:ext>
            </a:extLst>
          </p:cNvPr>
          <p:cNvSpPr>
            <a:spLocks noChangeArrowheads="1"/>
          </p:cNvSpPr>
          <p:nvPr/>
        </p:nvSpPr>
        <p:spPr bwMode="auto">
          <a:xfrm>
            <a:off x="7343775" y="4443413"/>
            <a:ext cx="206375" cy="206375"/>
          </a:xfrm>
          <a:prstGeom prst="rect">
            <a:avLst/>
          </a:prstGeom>
          <a:solidFill>
            <a:srgbClr val="CE0000"/>
          </a:solidFill>
          <a:ln w="9525">
            <a:solidFill>
              <a:srgbClr val="000000"/>
            </a:solidFill>
            <a:miter lim="800000"/>
            <a:headEnd/>
            <a:tailEnd/>
          </a:ln>
          <a:effectLst>
            <a:outerShdw blurRad="65500" dist="38100" dir="5400000" rotWithShape="0">
              <a:srgbClr val="808080">
                <a:alpha val="39999"/>
              </a:srgbClr>
            </a:outerShdw>
          </a:effectLst>
        </p:spPr>
        <p:txBody>
          <a:bodyPr lIns="82296" tIns="41148" rIns="82296" bIns="41148" anchor="ctr"/>
          <a:lstStyle/>
          <a:p>
            <a:pPr algn="ctr">
              <a:defRPr/>
            </a:pPr>
            <a:endParaRPr lang="en-US">
              <a:solidFill>
                <a:schemeClr val="lt1"/>
              </a:solidFill>
              <a:latin typeface="+mn-lt"/>
            </a:endParaRPr>
          </a:p>
        </p:txBody>
      </p:sp>
      <p:sp>
        <p:nvSpPr>
          <p:cNvPr id="46092" name="TextBox 29">
            <a:extLst>
              <a:ext uri="{FF2B5EF4-FFF2-40B4-BE49-F238E27FC236}">
                <a16:creationId xmlns:a16="http://schemas.microsoft.com/office/drawing/2014/main" id="{B41C5005-F8E6-6B76-5691-D060101613C8}"/>
              </a:ext>
            </a:extLst>
          </p:cNvPr>
          <p:cNvSpPr txBox="1">
            <a:spLocks noChangeArrowheads="1"/>
          </p:cNvSpPr>
          <p:nvPr/>
        </p:nvSpPr>
        <p:spPr bwMode="auto">
          <a:xfrm>
            <a:off x="7589838" y="4375150"/>
            <a:ext cx="112077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300">
                <a:latin typeface="Arial" panose="020B0604020202020204" pitchFamily="34" charset="0"/>
                <a:cs typeface="Arial" panose="020B0604020202020204" pitchFamily="34" charset="0"/>
              </a:rPr>
              <a:t>Slow Months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a:extLst>
              <a:ext uri="{FF2B5EF4-FFF2-40B4-BE49-F238E27FC236}">
                <a16:creationId xmlns:a16="http://schemas.microsoft.com/office/drawing/2014/main" id="{1EBC7B22-7CC5-59C1-2177-5425B5CA66DA}"/>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4000" b="1">
                <a:solidFill>
                  <a:srgbClr val="00274D"/>
                </a:solidFill>
                <a:ea typeface="Corbel" panose="020B0503020204020204" pitchFamily="34" charset="0"/>
                <a:cs typeface="Corbel" panose="020B0503020204020204" pitchFamily="34" charset="0"/>
              </a:rPr>
              <a:t>Proposed Schedule – Plan B   </a:t>
            </a:r>
          </a:p>
        </p:txBody>
      </p:sp>
      <p:sp>
        <p:nvSpPr>
          <p:cNvPr id="22531" name="Slide Number Placeholder 4">
            <a:extLst>
              <a:ext uri="{FF2B5EF4-FFF2-40B4-BE49-F238E27FC236}">
                <a16:creationId xmlns:a16="http://schemas.microsoft.com/office/drawing/2014/main" id="{D915F961-F915-4137-380A-40992E6E71C2}"/>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152DC598-C918-4AD9-A955-011F8F56C4EE}"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24</a:t>
            </a:fld>
            <a:endParaRPr lang="en-US" altLang="en-US" sz="1100">
              <a:solidFill>
                <a:schemeClr val="bg1"/>
              </a:solidFill>
              <a:ea typeface="Corbel" panose="020B0503020204020204" pitchFamily="34" charset="0"/>
              <a:cs typeface="Corbel" panose="020B0503020204020204" pitchFamily="34" charset="0"/>
            </a:endParaRPr>
          </a:p>
        </p:txBody>
      </p:sp>
      <p:sp>
        <p:nvSpPr>
          <p:cNvPr id="22532" name="Text Box 7">
            <a:extLst>
              <a:ext uri="{FF2B5EF4-FFF2-40B4-BE49-F238E27FC236}">
                <a16:creationId xmlns:a16="http://schemas.microsoft.com/office/drawing/2014/main" id="{AC022A1F-2435-EC07-1F1D-AD12C25C457D}"/>
              </a:ext>
            </a:extLst>
          </p:cNvPr>
          <p:cNvSpPr txBox="1">
            <a:spLocks noChangeArrowheads="1"/>
          </p:cNvSpPr>
          <p:nvPr/>
        </p:nvSpPr>
        <p:spPr bwMode="auto">
          <a:xfrm>
            <a:off x="7620000" y="3330575"/>
            <a:ext cx="1143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b="1">
                <a:solidFill>
                  <a:srgbClr val="00274D"/>
                </a:solidFill>
                <a:ea typeface="Corbel" panose="020B0503020204020204" pitchFamily="34" charset="0"/>
                <a:cs typeface="Corbel" panose="020B0503020204020204" pitchFamily="34" charset="0"/>
              </a:rPr>
              <a:t>Spike </a:t>
            </a:r>
          </a:p>
          <a:p>
            <a:pPr algn="ctr"/>
            <a:r>
              <a:rPr lang="en-US" altLang="en-US" b="1">
                <a:solidFill>
                  <a:srgbClr val="00274D"/>
                </a:solidFill>
                <a:ea typeface="Corbel" panose="020B0503020204020204" pitchFamily="34" charset="0"/>
                <a:cs typeface="Corbel" panose="020B0503020204020204" pitchFamily="34" charset="0"/>
              </a:rPr>
              <a:t>Monthly Schedule</a:t>
            </a:r>
          </a:p>
        </p:txBody>
      </p:sp>
      <p:sp>
        <p:nvSpPr>
          <p:cNvPr id="22533" name="Text Box 8">
            <a:extLst>
              <a:ext uri="{FF2B5EF4-FFF2-40B4-BE49-F238E27FC236}">
                <a16:creationId xmlns:a16="http://schemas.microsoft.com/office/drawing/2014/main" id="{0252EBF9-98D5-E3BE-0C5A-1FD181383F48}"/>
              </a:ext>
            </a:extLst>
          </p:cNvPr>
          <p:cNvSpPr txBox="1">
            <a:spLocks noChangeArrowheads="1"/>
          </p:cNvSpPr>
          <p:nvPr/>
        </p:nvSpPr>
        <p:spPr bwMode="auto">
          <a:xfrm>
            <a:off x="7620000" y="1319213"/>
            <a:ext cx="1143000" cy="146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ct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b="1">
                <a:solidFill>
                  <a:srgbClr val="00274D"/>
                </a:solidFill>
                <a:ea typeface="Corbel" panose="020B0503020204020204" pitchFamily="34" charset="0"/>
                <a:cs typeface="Corbel" panose="020B0503020204020204" pitchFamily="34" charset="0"/>
              </a:rPr>
              <a:t>Build </a:t>
            </a:r>
          </a:p>
          <a:p>
            <a:pPr algn="ctr"/>
            <a:r>
              <a:rPr lang="en-US" altLang="en-US" b="1">
                <a:solidFill>
                  <a:srgbClr val="00274D"/>
                </a:solidFill>
                <a:ea typeface="Corbel" panose="020B0503020204020204" pitchFamily="34" charset="0"/>
                <a:cs typeface="Corbel" panose="020B0503020204020204" pitchFamily="34" charset="0"/>
              </a:rPr>
              <a:t>Brand </a:t>
            </a:r>
          </a:p>
          <a:p>
            <a:pPr algn="ctr"/>
            <a:r>
              <a:rPr lang="en-US" altLang="en-US" b="1">
                <a:solidFill>
                  <a:srgbClr val="00274D"/>
                </a:solidFill>
                <a:ea typeface="Corbel" panose="020B0503020204020204" pitchFamily="34" charset="0"/>
                <a:cs typeface="Corbel" panose="020B0503020204020204" pitchFamily="34" charset="0"/>
              </a:rPr>
              <a:t>Equity Monthly Schedule</a:t>
            </a:r>
          </a:p>
        </p:txBody>
      </p:sp>
      <p:sp>
        <p:nvSpPr>
          <p:cNvPr id="22534" name="Text Box 9">
            <a:extLst>
              <a:ext uri="{FF2B5EF4-FFF2-40B4-BE49-F238E27FC236}">
                <a16:creationId xmlns:a16="http://schemas.microsoft.com/office/drawing/2014/main" id="{6508E1A1-680F-3FAA-3ED5-ADAE2729256A}"/>
              </a:ext>
            </a:extLst>
          </p:cNvPr>
          <p:cNvSpPr txBox="1">
            <a:spLocks noChangeArrowheads="1"/>
          </p:cNvSpPr>
          <p:nvPr/>
        </p:nvSpPr>
        <p:spPr bwMode="auto">
          <a:xfrm>
            <a:off x="7543800" y="4938713"/>
            <a:ext cx="12954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b="1">
                <a:solidFill>
                  <a:srgbClr val="00274D"/>
                </a:solidFill>
                <a:ea typeface="Corbel" panose="020B0503020204020204" pitchFamily="34" charset="0"/>
                <a:cs typeface="Corbel" panose="020B0503020204020204" pitchFamily="34" charset="0"/>
              </a:rPr>
              <a:t>Slow Performing Monthly Schedule</a:t>
            </a:r>
          </a:p>
        </p:txBody>
      </p:sp>
      <p:graphicFrame>
        <p:nvGraphicFramePr>
          <p:cNvPr id="22535" name="Object 1">
            <a:extLst>
              <a:ext uri="{FF2B5EF4-FFF2-40B4-BE49-F238E27FC236}">
                <a16:creationId xmlns:a16="http://schemas.microsoft.com/office/drawing/2014/main" id="{DEE5E676-3F02-ADE7-239F-E15A91CFCB15}"/>
              </a:ext>
            </a:extLst>
          </p:cNvPr>
          <p:cNvGraphicFramePr>
            <a:graphicFrameLocks noChangeAspect="1"/>
          </p:cNvGraphicFramePr>
          <p:nvPr/>
        </p:nvGraphicFramePr>
        <p:xfrm>
          <a:off x="3957638" y="3233738"/>
          <a:ext cx="1228725" cy="390525"/>
        </p:xfrm>
        <a:graphic>
          <a:graphicData uri="http://schemas.openxmlformats.org/presentationml/2006/ole">
            <mc:AlternateContent xmlns:mc="http://schemas.openxmlformats.org/markup-compatibility/2006">
              <mc:Choice xmlns:v="urn:schemas-microsoft-com:vml" Requires="v">
                <p:oleObj name="Worksheet" r:id="rId3" imgW="1228771" imgH="390594" progId="Excel.Sheet.12">
                  <p:embed/>
                </p:oleObj>
              </mc:Choice>
              <mc:Fallback>
                <p:oleObj name="Worksheet" r:id="rId3" imgW="1228771" imgH="390594" progId="Excel.Sheet.12">
                  <p:embed/>
                  <p:pic>
                    <p:nvPicPr>
                      <p:cNvPr id="22535" name="Object 1">
                        <a:extLst>
                          <a:ext uri="{FF2B5EF4-FFF2-40B4-BE49-F238E27FC236}">
                            <a16:creationId xmlns:a16="http://schemas.microsoft.com/office/drawing/2014/main" id="{DEE5E676-3F02-ADE7-239F-E15A91CFCB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7638" y="3233738"/>
                        <a:ext cx="12287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6" name="Object 1">
            <a:extLst>
              <a:ext uri="{FF2B5EF4-FFF2-40B4-BE49-F238E27FC236}">
                <a16:creationId xmlns:a16="http://schemas.microsoft.com/office/drawing/2014/main" id="{6973D1D5-02B3-9880-3B01-56040F3EC1C5}"/>
              </a:ext>
            </a:extLst>
          </p:cNvPr>
          <p:cNvGraphicFramePr>
            <a:graphicFrameLocks noChangeAspect="1"/>
          </p:cNvGraphicFramePr>
          <p:nvPr/>
        </p:nvGraphicFramePr>
        <p:xfrm>
          <a:off x="381000" y="1262063"/>
          <a:ext cx="7189788" cy="1554162"/>
        </p:xfrm>
        <a:graphic>
          <a:graphicData uri="http://schemas.openxmlformats.org/presentationml/2006/ole">
            <mc:AlternateContent xmlns:mc="http://schemas.openxmlformats.org/markup-compatibility/2006">
              <mc:Choice xmlns:v="urn:schemas-microsoft-com:vml" Requires="v">
                <p:oleObj name="Worksheet" r:id="rId5" imgW="7378648" imgH="1815915" progId="Excel.Sheet.8">
                  <p:embed/>
                </p:oleObj>
              </mc:Choice>
              <mc:Fallback>
                <p:oleObj name="Worksheet" r:id="rId5" imgW="7378648" imgH="1815915" progId="Excel.Sheet.8">
                  <p:embed/>
                  <p:pic>
                    <p:nvPicPr>
                      <p:cNvPr id="22536" name="Object 1">
                        <a:extLst>
                          <a:ext uri="{FF2B5EF4-FFF2-40B4-BE49-F238E27FC236}">
                            <a16:creationId xmlns:a16="http://schemas.microsoft.com/office/drawing/2014/main" id="{6973D1D5-02B3-9880-3B01-56040F3EC1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1262063"/>
                        <a:ext cx="7189788"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7" name="Object 2">
            <a:extLst>
              <a:ext uri="{FF2B5EF4-FFF2-40B4-BE49-F238E27FC236}">
                <a16:creationId xmlns:a16="http://schemas.microsoft.com/office/drawing/2014/main" id="{1926FCAB-A26A-1FF4-8107-FCCE060A205B}"/>
              </a:ext>
            </a:extLst>
          </p:cNvPr>
          <p:cNvGraphicFramePr>
            <a:graphicFrameLocks noChangeAspect="1"/>
          </p:cNvGraphicFramePr>
          <p:nvPr/>
        </p:nvGraphicFramePr>
        <p:xfrm>
          <a:off x="400050" y="2997200"/>
          <a:ext cx="7170738" cy="1552575"/>
        </p:xfrm>
        <a:graphic>
          <a:graphicData uri="http://schemas.openxmlformats.org/presentationml/2006/ole">
            <mc:AlternateContent xmlns:mc="http://schemas.openxmlformats.org/markup-compatibility/2006">
              <mc:Choice xmlns:v="urn:schemas-microsoft-com:vml" Requires="v">
                <p:oleObj name="Worksheet" r:id="rId7" imgW="7378648" imgH="1815915" progId="Excel.Sheet.8">
                  <p:embed/>
                </p:oleObj>
              </mc:Choice>
              <mc:Fallback>
                <p:oleObj name="Worksheet" r:id="rId7" imgW="7378648" imgH="1815915" progId="Excel.Sheet.8">
                  <p:embed/>
                  <p:pic>
                    <p:nvPicPr>
                      <p:cNvPr id="22537" name="Object 2">
                        <a:extLst>
                          <a:ext uri="{FF2B5EF4-FFF2-40B4-BE49-F238E27FC236}">
                            <a16:creationId xmlns:a16="http://schemas.microsoft.com/office/drawing/2014/main" id="{1926FCAB-A26A-1FF4-8107-FCCE060A205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050" y="2997200"/>
                        <a:ext cx="717073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538" name="Object 3">
            <a:extLst>
              <a:ext uri="{FF2B5EF4-FFF2-40B4-BE49-F238E27FC236}">
                <a16:creationId xmlns:a16="http://schemas.microsoft.com/office/drawing/2014/main" id="{401E15B1-C59A-7DA8-DFEF-C2A9B3CA1E91}"/>
              </a:ext>
            </a:extLst>
          </p:cNvPr>
          <p:cNvGraphicFramePr>
            <a:graphicFrameLocks noChangeAspect="1"/>
          </p:cNvGraphicFramePr>
          <p:nvPr/>
        </p:nvGraphicFramePr>
        <p:xfrm>
          <a:off x="400050" y="4743450"/>
          <a:ext cx="7170738" cy="1554163"/>
        </p:xfrm>
        <a:graphic>
          <a:graphicData uri="http://schemas.openxmlformats.org/presentationml/2006/ole">
            <mc:AlternateContent xmlns:mc="http://schemas.openxmlformats.org/markup-compatibility/2006">
              <mc:Choice xmlns:v="urn:schemas-microsoft-com:vml" Requires="v">
                <p:oleObj name="Worksheet" r:id="rId9" imgW="7378648" imgH="1815915" progId="Excel.Sheet.8">
                  <p:embed/>
                </p:oleObj>
              </mc:Choice>
              <mc:Fallback>
                <p:oleObj name="Worksheet" r:id="rId9" imgW="7378648" imgH="1815915" progId="Excel.Sheet.8">
                  <p:embed/>
                  <p:pic>
                    <p:nvPicPr>
                      <p:cNvPr id="22538" name="Object 3">
                        <a:extLst>
                          <a:ext uri="{FF2B5EF4-FFF2-40B4-BE49-F238E27FC236}">
                            <a16:creationId xmlns:a16="http://schemas.microsoft.com/office/drawing/2014/main" id="{401E15B1-C59A-7DA8-DFEF-C2A9B3CA1E9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0050" y="4743450"/>
                        <a:ext cx="7170738"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5">
            <a:extLst>
              <a:ext uri="{FF2B5EF4-FFF2-40B4-BE49-F238E27FC236}">
                <a16:creationId xmlns:a16="http://schemas.microsoft.com/office/drawing/2014/main" id="{79864B8F-3FDB-D3B2-EA6B-ADD7DC826297}"/>
              </a:ext>
            </a:extLst>
          </p:cNvPr>
          <p:cNvSpPr txBox="1">
            <a:spLocks noChangeArrowheads="1"/>
          </p:cNvSpPr>
          <p:nvPr/>
        </p:nvSpPr>
        <p:spPr bwMode="auto">
          <a:xfrm>
            <a:off x="0" y="1828800"/>
            <a:ext cx="91440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lnSpc>
                <a:spcPct val="95000"/>
              </a:lnSpc>
            </a:pPr>
            <a:r>
              <a:rPr lang="en-US" altLang="en-US" sz="2000" b="1" i="1">
                <a:solidFill>
                  <a:srgbClr val="00274D"/>
                </a:solidFill>
                <a:ea typeface="Corbel" panose="020B0503020204020204" pitchFamily="34" charset="0"/>
                <a:cs typeface="Corbel" panose="020B0503020204020204" pitchFamily="34" charset="0"/>
              </a:rPr>
              <a:t>Brand Equity Schedule</a:t>
            </a:r>
          </a:p>
          <a:p>
            <a:pPr algn="ctr" eaLnBrk="1" hangingPunct="1">
              <a:lnSpc>
                <a:spcPct val="95000"/>
              </a:lnSpc>
            </a:pPr>
            <a:r>
              <a:rPr lang="en-US" altLang="en-US" sz="2000" b="1" i="1">
                <a:solidFill>
                  <a:srgbClr val="00274D"/>
                </a:solidFill>
                <a:ea typeface="Corbel" panose="020B0503020204020204" pitchFamily="34" charset="0"/>
                <a:cs typeface="Corbel" panose="020B0503020204020204" pitchFamily="34" charset="0"/>
              </a:rPr>
              <a:t>Monthly Station Summary</a:t>
            </a:r>
          </a:p>
        </p:txBody>
      </p:sp>
      <p:sp>
        <p:nvSpPr>
          <p:cNvPr id="49155" name="Text Box 5">
            <a:extLst>
              <a:ext uri="{FF2B5EF4-FFF2-40B4-BE49-F238E27FC236}">
                <a16:creationId xmlns:a16="http://schemas.microsoft.com/office/drawing/2014/main" id="{941376E8-D8C0-B29F-053C-931B833F4CC8}"/>
              </a:ext>
            </a:extLst>
          </p:cNvPr>
          <p:cNvSpPr txBox="1">
            <a:spLocks noChangeArrowheads="1"/>
          </p:cNvSpPr>
          <p:nvPr/>
        </p:nvSpPr>
        <p:spPr bwMode="auto">
          <a:xfrm>
            <a:off x="0" y="1381125"/>
            <a:ext cx="91440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lnSpc>
                <a:spcPct val="95000"/>
              </a:lnSpc>
            </a:pPr>
            <a:endParaRPr lang="en-US" altLang="en-US" sz="2000" b="1" i="1">
              <a:solidFill>
                <a:srgbClr val="00274D"/>
              </a:solidFill>
              <a:ea typeface="Corbel" panose="020B0503020204020204" pitchFamily="34" charset="0"/>
              <a:cs typeface="Corbel" panose="020B0503020204020204" pitchFamily="34" charset="0"/>
            </a:endParaRPr>
          </a:p>
        </p:txBody>
      </p:sp>
      <p:sp>
        <p:nvSpPr>
          <p:cNvPr id="49156" name="Rectangle 1">
            <a:extLst>
              <a:ext uri="{FF2B5EF4-FFF2-40B4-BE49-F238E27FC236}">
                <a16:creationId xmlns:a16="http://schemas.microsoft.com/office/drawing/2014/main" id="{61E1E788-F0D9-022A-BB7F-0A6624C47CAC}"/>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Proposed Schedule – Plan B   </a:t>
            </a:r>
          </a:p>
        </p:txBody>
      </p:sp>
      <p:sp>
        <p:nvSpPr>
          <p:cNvPr id="49157" name="Slide Number Placeholder 4">
            <a:extLst>
              <a:ext uri="{FF2B5EF4-FFF2-40B4-BE49-F238E27FC236}">
                <a16:creationId xmlns:a16="http://schemas.microsoft.com/office/drawing/2014/main" id="{A174CC55-FB5D-6AFF-DFE3-7CE44FB16BB3}"/>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A118DF39-05DB-4C7F-A027-F342D4FEFA33}"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25</a:t>
            </a:fld>
            <a:endParaRPr lang="en-US" altLang="en-US" sz="1100">
              <a:solidFill>
                <a:schemeClr val="bg1"/>
              </a:solidFill>
              <a:ea typeface="Corbel" panose="020B0503020204020204" pitchFamily="34" charset="0"/>
              <a:cs typeface="Corbel" panose="020B0503020204020204" pitchFamily="34" charset="0"/>
            </a:endParaRPr>
          </a:p>
        </p:txBody>
      </p:sp>
      <p:sp>
        <p:nvSpPr>
          <p:cNvPr id="49158" name="Rectangle 1">
            <a:extLst>
              <a:ext uri="{FF2B5EF4-FFF2-40B4-BE49-F238E27FC236}">
                <a16:creationId xmlns:a16="http://schemas.microsoft.com/office/drawing/2014/main" id="{3653BDCB-D0A1-A4B9-1EA5-C3BB76F17D87}"/>
              </a:ext>
            </a:extLst>
          </p:cNvPr>
          <p:cNvSpPr>
            <a:spLocks noChangeArrowheads="1"/>
          </p:cNvSpPr>
          <p:nvPr/>
        </p:nvSpPr>
        <p:spPr bwMode="auto">
          <a:xfrm>
            <a:off x="1066800" y="2733675"/>
            <a:ext cx="1022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rPr>
              <a:t>Market:  </a:t>
            </a:r>
          </a:p>
        </p:txBody>
      </p:sp>
      <p:sp>
        <p:nvSpPr>
          <p:cNvPr id="49159" name="Rectangle 2">
            <a:extLst>
              <a:ext uri="{FF2B5EF4-FFF2-40B4-BE49-F238E27FC236}">
                <a16:creationId xmlns:a16="http://schemas.microsoft.com/office/drawing/2014/main" id="{5DB56D45-1F1F-5633-49A0-EE50FD3C0A84}"/>
              </a:ext>
            </a:extLst>
          </p:cNvPr>
          <p:cNvSpPr>
            <a:spLocks noChangeArrowheads="1"/>
          </p:cNvSpPr>
          <p:nvPr/>
        </p:nvSpPr>
        <p:spPr bwMode="auto">
          <a:xfrm>
            <a:off x="1066800" y="3195638"/>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rPr>
              <a:t>Average Monthly Broadcast Reach: </a:t>
            </a:r>
          </a:p>
        </p:txBody>
      </p:sp>
      <p:sp>
        <p:nvSpPr>
          <p:cNvPr id="49160" name="Rectangle 3">
            <a:extLst>
              <a:ext uri="{FF2B5EF4-FFF2-40B4-BE49-F238E27FC236}">
                <a16:creationId xmlns:a16="http://schemas.microsoft.com/office/drawing/2014/main" id="{F70C2117-4148-E7B0-A183-C1796507614D}"/>
              </a:ext>
            </a:extLst>
          </p:cNvPr>
          <p:cNvSpPr>
            <a:spLocks noChangeArrowheads="1"/>
          </p:cNvSpPr>
          <p:nvPr/>
        </p:nvSpPr>
        <p:spPr bwMode="auto">
          <a:xfrm>
            <a:off x="1066800" y="3692525"/>
            <a:ext cx="39385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rPr>
              <a:t>Average Monthly Broadcast Frequency:</a:t>
            </a:r>
          </a:p>
        </p:txBody>
      </p:sp>
      <p:sp>
        <p:nvSpPr>
          <p:cNvPr id="49161" name="Rectangle 4">
            <a:extLst>
              <a:ext uri="{FF2B5EF4-FFF2-40B4-BE49-F238E27FC236}">
                <a16:creationId xmlns:a16="http://schemas.microsoft.com/office/drawing/2014/main" id="{1C55DCCA-D206-FF05-2E38-44130B861941}"/>
              </a:ext>
            </a:extLst>
          </p:cNvPr>
          <p:cNvSpPr>
            <a:spLocks noChangeArrowheads="1"/>
          </p:cNvSpPr>
          <p:nvPr/>
        </p:nvSpPr>
        <p:spPr bwMode="auto">
          <a:xfrm>
            <a:off x="1068388" y="4195763"/>
            <a:ext cx="44180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rPr>
              <a:t>Average Monthly Digital Gross Impressions: </a:t>
            </a:r>
          </a:p>
        </p:txBody>
      </p:sp>
      <p:sp>
        <p:nvSpPr>
          <p:cNvPr id="49162" name="Rectangle 5">
            <a:extLst>
              <a:ext uri="{FF2B5EF4-FFF2-40B4-BE49-F238E27FC236}">
                <a16:creationId xmlns:a16="http://schemas.microsoft.com/office/drawing/2014/main" id="{14A74DB8-6882-7999-68E8-E8DC80A31640}"/>
              </a:ext>
            </a:extLst>
          </p:cNvPr>
          <p:cNvSpPr>
            <a:spLocks noChangeArrowheads="1"/>
          </p:cNvSpPr>
          <p:nvPr/>
        </p:nvSpPr>
        <p:spPr bwMode="auto">
          <a:xfrm>
            <a:off x="1031875" y="4697413"/>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rPr>
              <a:t>Average Monthly Advertising Investment: </a:t>
            </a:r>
          </a:p>
        </p:txBody>
      </p:sp>
      <p:sp>
        <p:nvSpPr>
          <p:cNvPr id="49163" name="Rectangle 6">
            <a:extLst>
              <a:ext uri="{FF2B5EF4-FFF2-40B4-BE49-F238E27FC236}">
                <a16:creationId xmlns:a16="http://schemas.microsoft.com/office/drawing/2014/main" id="{4DC8F8D5-665E-BDB9-BD15-306601D8981D}"/>
              </a:ext>
            </a:extLst>
          </p:cNvPr>
          <p:cNvSpPr>
            <a:spLocks noChangeArrowheads="1"/>
          </p:cNvSpPr>
          <p:nvPr/>
        </p:nvSpPr>
        <p:spPr bwMode="auto">
          <a:xfrm>
            <a:off x="1031875" y="5154613"/>
            <a:ext cx="2744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r>
              <a:rPr lang="en-US" altLang="en-US">
                <a:solidFill>
                  <a:srgbClr val="00274D"/>
                </a:solidFill>
              </a:rPr>
              <a:t>Average Daily Investment: </a:t>
            </a:r>
            <a:endParaRPr lang="en-US" altLang="en-US"/>
          </a:p>
        </p:txBody>
      </p:sp>
      <p:sp>
        <p:nvSpPr>
          <p:cNvPr id="49164" name="TextBox 12">
            <a:extLst>
              <a:ext uri="{FF2B5EF4-FFF2-40B4-BE49-F238E27FC236}">
                <a16:creationId xmlns:a16="http://schemas.microsoft.com/office/drawing/2014/main" id="{1D35316F-1589-F21A-B53C-B724269D75DC}"/>
              </a:ext>
            </a:extLst>
          </p:cNvPr>
          <p:cNvSpPr txBox="1">
            <a:spLocks noChangeArrowheads="1"/>
          </p:cNvSpPr>
          <p:nvPr/>
        </p:nvSpPr>
        <p:spPr bwMode="auto">
          <a:xfrm>
            <a:off x="5029200" y="3702050"/>
            <a:ext cx="2841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
        <p:nvSpPr>
          <p:cNvPr id="49165" name="TextBox 13">
            <a:extLst>
              <a:ext uri="{FF2B5EF4-FFF2-40B4-BE49-F238E27FC236}">
                <a16:creationId xmlns:a16="http://schemas.microsoft.com/office/drawing/2014/main" id="{7EF6CE66-423B-272A-BE17-35CF7E3FB8DE}"/>
              </a:ext>
            </a:extLst>
          </p:cNvPr>
          <p:cNvSpPr txBox="1">
            <a:spLocks noChangeArrowheads="1"/>
          </p:cNvSpPr>
          <p:nvPr/>
        </p:nvSpPr>
        <p:spPr bwMode="auto">
          <a:xfrm>
            <a:off x="2057400" y="2743200"/>
            <a:ext cx="35052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a:solidFill>
                <a:srgbClr val="00274D"/>
              </a:solidFill>
              <a:ea typeface="Corbel" panose="020B0503020204020204" pitchFamily="34" charset="0"/>
              <a:cs typeface="Corbel" panose="020B0503020204020204" pitchFamily="34" charset="0"/>
            </a:endParaRPr>
          </a:p>
        </p:txBody>
      </p:sp>
      <p:sp>
        <p:nvSpPr>
          <p:cNvPr id="49166" name="TextBox 14">
            <a:extLst>
              <a:ext uri="{FF2B5EF4-FFF2-40B4-BE49-F238E27FC236}">
                <a16:creationId xmlns:a16="http://schemas.microsoft.com/office/drawing/2014/main" id="{90F80F85-0379-B94B-93B7-5BD4D729141B}"/>
              </a:ext>
            </a:extLst>
          </p:cNvPr>
          <p:cNvSpPr txBox="1">
            <a:spLocks noChangeArrowheads="1"/>
          </p:cNvSpPr>
          <p:nvPr/>
        </p:nvSpPr>
        <p:spPr bwMode="auto">
          <a:xfrm>
            <a:off x="5486400" y="4203700"/>
            <a:ext cx="2841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
        <p:nvSpPr>
          <p:cNvPr id="49167" name="TextBox 20">
            <a:extLst>
              <a:ext uri="{FF2B5EF4-FFF2-40B4-BE49-F238E27FC236}">
                <a16:creationId xmlns:a16="http://schemas.microsoft.com/office/drawing/2014/main" id="{0FE07E22-99BF-B722-B989-2C69BEB9A810}"/>
              </a:ext>
            </a:extLst>
          </p:cNvPr>
          <p:cNvSpPr txBox="1">
            <a:spLocks noChangeArrowheads="1"/>
          </p:cNvSpPr>
          <p:nvPr/>
        </p:nvSpPr>
        <p:spPr bwMode="auto">
          <a:xfrm>
            <a:off x="3733800" y="5164138"/>
            <a:ext cx="3398838"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
        <p:nvSpPr>
          <p:cNvPr id="49168" name="TextBox 21">
            <a:extLst>
              <a:ext uri="{FF2B5EF4-FFF2-40B4-BE49-F238E27FC236}">
                <a16:creationId xmlns:a16="http://schemas.microsoft.com/office/drawing/2014/main" id="{E1FC611E-4FBF-DA63-8678-B037007B6E41}"/>
              </a:ext>
            </a:extLst>
          </p:cNvPr>
          <p:cNvSpPr txBox="1">
            <a:spLocks noChangeArrowheads="1"/>
          </p:cNvSpPr>
          <p:nvPr/>
        </p:nvSpPr>
        <p:spPr bwMode="auto">
          <a:xfrm>
            <a:off x="5259388" y="4706938"/>
            <a:ext cx="3427412"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
        <p:nvSpPr>
          <p:cNvPr id="49169" name="TextBox 11">
            <a:extLst>
              <a:ext uri="{FF2B5EF4-FFF2-40B4-BE49-F238E27FC236}">
                <a16:creationId xmlns:a16="http://schemas.microsoft.com/office/drawing/2014/main" id="{4AE72500-01D3-EFD7-FAA1-4937CE20C1A8}"/>
              </a:ext>
            </a:extLst>
          </p:cNvPr>
          <p:cNvSpPr txBox="1">
            <a:spLocks noChangeArrowheads="1"/>
          </p:cNvSpPr>
          <p:nvPr/>
        </p:nvSpPr>
        <p:spPr bwMode="auto">
          <a:xfrm>
            <a:off x="4572000" y="3205163"/>
            <a:ext cx="284163"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a:solidFill>
                  <a:srgbClr val="00274D"/>
                </a:solidFill>
                <a:ea typeface="Corbel" panose="020B0503020204020204" pitchFamily="34" charset="0"/>
                <a:cs typeface="Corbel" panose="020B0503020204020204" pitchFamily="34" charset="0"/>
              </a:rPr>
              <a:t>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a:extLst>
              <a:ext uri="{FF2B5EF4-FFF2-40B4-BE49-F238E27FC236}">
                <a16:creationId xmlns:a16="http://schemas.microsoft.com/office/drawing/2014/main" id="{9079F5DF-67EA-2AE3-A31B-8DC77AC24C97}"/>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Break Even Analysis – Plan B  </a:t>
            </a:r>
          </a:p>
        </p:txBody>
      </p:sp>
      <p:sp>
        <p:nvSpPr>
          <p:cNvPr id="50179" name="Slide Number Placeholder 4">
            <a:extLst>
              <a:ext uri="{FF2B5EF4-FFF2-40B4-BE49-F238E27FC236}">
                <a16:creationId xmlns:a16="http://schemas.microsoft.com/office/drawing/2014/main" id="{4512D643-5BA8-013B-EE70-8ACED18E3CAF}"/>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8580CF5F-6840-41FB-9F60-88DF49FA67F7}"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26</a:t>
            </a:fld>
            <a:endParaRPr lang="en-US" altLang="en-US" sz="1100">
              <a:solidFill>
                <a:schemeClr val="bg1"/>
              </a:solidFill>
              <a:ea typeface="Corbel" panose="020B0503020204020204" pitchFamily="34" charset="0"/>
              <a:cs typeface="Corbel" panose="020B0503020204020204" pitchFamily="34" charset="0"/>
            </a:endParaRPr>
          </a:p>
        </p:txBody>
      </p:sp>
      <p:pic>
        <p:nvPicPr>
          <p:cNvPr id="50180" name="Picture 5">
            <a:extLst>
              <a:ext uri="{FF2B5EF4-FFF2-40B4-BE49-F238E27FC236}">
                <a16:creationId xmlns:a16="http://schemas.microsoft.com/office/drawing/2014/main" id="{8C142744-954B-E679-D70E-38845276E755}"/>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6663" y="1824038"/>
            <a:ext cx="1554162"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Picture 6">
            <a:extLst>
              <a:ext uri="{FF2B5EF4-FFF2-40B4-BE49-F238E27FC236}">
                <a16:creationId xmlns:a16="http://schemas.microsoft.com/office/drawing/2014/main" id="{AA8C58C9-969F-40A7-98C1-B79153EE0144}"/>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2288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2" name="Picture 7">
            <a:extLst>
              <a:ext uri="{FF2B5EF4-FFF2-40B4-BE49-F238E27FC236}">
                <a16:creationId xmlns:a16="http://schemas.microsoft.com/office/drawing/2014/main" id="{DBB1F09E-0541-AF26-B691-93980DC870C3}"/>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67017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Picture 8">
            <a:extLst>
              <a:ext uri="{FF2B5EF4-FFF2-40B4-BE49-F238E27FC236}">
                <a16:creationId xmlns:a16="http://schemas.microsoft.com/office/drawing/2014/main" id="{C6B0A9E5-870A-78DD-2684-6ABA040111FF}"/>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13213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4" name="Picture 9">
            <a:extLst>
              <a:ext uri="{FF2B5EF4-FFF2-40B4-BE49-F238E27FC236}">
                <a16:creationId xmlns:a16="http://schemas.microsoft.com/office/drawing/2014/main" id="{3CDFCE9B-231A-985F-5AD9-8FCC77BA0175}"/>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50202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5" name="Picture 10">
            <a:extLst>
              <a:ext uri="{FF2B5EF4-FFF2-40B4-BE49-F238E27FC236}">
                <a16:creationId xmlns:a16="http://schemas.microsoft.com/office/drawing/2014/main" id="{875865CD-D9AF-BB57-DCB9-8E2144C06504}"/>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9560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6" name="Picture 11">
            <a:extLst>
              <a:ext uri="{FF2B5EF4-FFF2-40B4-BE49-F238E27FC236}">
                <a16:creationId xmlns:a16="http://schemas.microsoft.com/office/drawing/2014/main" id="{59DF0FBC-7EBA-D40D-AF14-A98F0552040C}"/>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43545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7" name="Picture 12">
            <a:extLst>
              <a:ext uri="{FF2B5EF4-FFF2-40B4-BE49-F238E27FC236}">
                <a16:creationId xmlns:a16="http://schemas.microsoft.com/office/drawing/2014/main" id="{512FB346-5BE7-2EC3-1277-115E1CD1E2AD}"/>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477678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8" name="Rectangle 14">
            <a:extLst>
              <a:ext uri="{FF2B5EF4-FFF2-40B4-BE49-F238E27FC236}">
                <a16:creationId xmlns:a16="http://schemas.microsoft.com/office/drawing/2014/main" id="{7BA8F27A-C60C-848E-FFE8-532C62A670E1}"/>
              </a:ext>
            </a:extLst>
          </p:cNvPr>
          <p:cNvSpPr>
            <a:spLocks noChangeArrowheads="1"/>
          </p:cNvSpPr>
          <p:nvPr/>
        </p:nvSpPr>
        <p:spPr bwMode="auto">
          <a:xfrm>
            <a:off x="0" y="1585913"/>
            <a:ext cx="6384925" cy="397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indent="-307975">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r" eaLnBrk="1" hangingPunct="1">
              <a:lnSpc>
                <a:spcPct val="95000"/>
              </a:lnSpc>
              <a:spcAft>
                <a:spcPts val="1625"/>
              </a:spcAft>
              <a:buClr>
                <a:srgbClr val="000000"/>
              </a:buClr>
              <a:buSzPct val="100000"/>
            </a:pPr>
            <a:r>
              <a:rPr lang="en-US" altLang="en-US" sz="1400" b="1">
                <a:solidFill>
                  <a:srgbClr val="00274D"/>
                </a:solidFill>
              </a:rPr>
              <a:t>A. Average sale (ticket, transaction, invoice) =</a:t>
            </a:r>
            <a:endParaRPr lang="en-US" altLang="en-US">
              <a:solidFill>
                <a:srgbClr val="00274D"/>
              </a:solidFill>
            </a:endParaRPr>
          </a:p>
          <a:p>
            <a:pPr lvl="1" algn="r" eaLnBrk="1" hangingPunct="1">
              <a:lnSpc>
                <a:spcPct val="95000"/>
              </a:lnSpc>
              <a:spcAft>
                <a:spcPts val="1625"/>
              </a:spcAft>
              <a:buClr>
                <a:srgbClr val="000000"/>
              </a:buClr>
              <a:buSzPct val="100000"/>
            </a:pPr>
            <a:r>
              <a:rPr lang="en-US" altLang="en-US" sz="1400" b="1">
                <a:solidFill>
                  <a:srgbClr val="00274D"/>
                </a:solidFill>
              </a:rPr>
              <a:t>B. Gross profit margin on average sale (sale less variable costs)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C. Closing or conversion rate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D. Projected prospect value ( </a:t>
            </a:r>
            <a:r>
              <a:rPr lang="en-US" altLang="en-US" sz="1400" b="1">
                <a:solidFill>
                  <a:srgbClr val="7B8364"/>
                </a:solidFill>
              </a:rPr>
              <a:t>= A * B * C </a:t>
            </a:r>
            <a:r>
              <a:rPr lang="en-US" altLang="en-US" sz="1400" b="1">
                <a:solidFill>
                  <a:srgbClr val="00274D"/>
                </a:solidFill>
              </a:rPr>
              <a:t>) =</a:t>
            </a:r>
          </a:p>
          <a:p>
            <a:pPr algn="r" eaLnBrk="1" hangingPunct="1">
              <a:lnSpc>
                <a:spcPct val="95000"/>
              </a:lnSpc>
              <a:spcAft>
                <a:spcPts val="1625"/>
              </a:spcAft>
            </a:pPr>
            <a:r>
              <a:rPr lang="en-US" altLang="en-US" sz="1400" b="1">
                <a:solidFill>
                  <a:srgbClr val="00274D"/>
                </a:solidFill>
              </a:rPr>
              <a:t>E. Client base monthly advertising investment =</a:t>
            </a:r>
          </a:p>
          <a:p>
            <a:pPr algn="r" eaLnBrk="1" hangingPunct="1">
              <a:lnSpc>
                <a:spcPct val="95000"/>
              </a:lnSpc>
              <a:spcAft>
                <a:spcPts val="1625"/>
              </a:spcAft>
            </a:pPr>
            <a:r>
              <a:rPr lang="en-US" altLang="en-US" sz="1400" b="1">
                <a:solidFill>
                  <a:srgbClr val="00274D"/>
                </a:solidFill>
              </a:rPr>
              <a:t>F. Monthly prospects needed to pay for advertising investment ( </a:t>
            </a:r>
            <a:r>
              <a:rPr lang="en-US" altLang="en-US" sz="1400" b="1">
                <a:solidFill>
                  <a:srgbClr val="7B8364"/>
                </a:solidFill>
              </a:rPr>
              <a:t>= E / D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G. Monthly # of sales from prospects needed to break even ( </a:t>
            </a:r>
            <a:r>
              <a:rPr lang="en-US" altLang="en-US" sz="1400" b="1">
                <a:solidFill>
                  <a:srgbClr val="7B8364"/>
                </a:solidFill>
              </a:rPr>
              <a:t>= F * C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H. Gross sales per month needed to break even ( </a:t>
            </a:r>
            <a:r>
              <a:rPr lang="en-US" altLang="en-US" sz="1400" b="1">
                <a:solidFill>
                  <a:srgbClr val="7B8364"/>
                </a:solidFill>
              </a:rPr>
              <a:t>= G * A </a:t>
            </a:r>
            <a:r>
              <a:rPr lang="en-US" altLang="en-US" sz="1400" b="1">
                <a:solidFill>
                  <a:srgbClr val="00274D"/>
                </a:solidFill>
              </a:rPr>
              <a:t>) =</a:t>
            </a:r>
          </a:p>
          <a:p>
            <a:pPr algn="r" eaLnBrk="1" hangingPunct="1">
              <a:lnSpc>
                <a:spcPct val="95000"/>
              </a:lnSpc>
              <a:spcAft>
                <a:spcPts val="1625"/>
              </a:spcAft>
              <a:buFontTx/>
              <a:buAutoNum type="romanUcPeriod"/>
            </a:pPr>
            <a:r>
              <a:rPr lang="en-US" altLang="en-US" sz="1400" b="1">
                <a:solidFill>
                  <a:srgbClr val="00274D"/>
                </a:solidFill>
                <a:ea typeface="Corbel" panose="020B0503020204020204" pitchFamily="34" charset="0"/>
                <a:cs typeface="Corbel" panose="020B0503020204020204" pitchFamily="34" charset="0"/>
              </a:rPr>
              <a:t> Number of months to run in proposed marketing plan =</a:t>
            </a:r>
          </a:p>
          <a:p>
            <a:pPr algn="r" eaLnBrk="1" hangingPunct="1">
              <a:lnSpc>
                <a:spcPct val="95000"/>
              </a:lnSpc>
              <a:spcAft>
                <a:spcPts val="1625"/>
              </a:spcAft>
            </a:pPr>
            <a:r>
              <a:rPr lang="en-US" altLang="en-US" sz="1400" b="1">
                <a:solidFill>
                  <a:srgbClr val="00274D"/>
                </a:solidFill>
                <a:ea typeface="Corbel" panose="020B0503020204020204" pitchFamily="34" charset="0"/>
                <a:cs typeface="Corbel" panose="020B0503020204020204" pitchFamily="34" charset="0"/>
              </a:rPr>
              <a:t>J.  Additional gross sales per year needed to break even ( </a:t>
            </a:r>
            <a:r>
              <a:rPr lang="en-US" altLang="en-US" sz="1400" b="1">
                <a:solidFill>
                  <a:srgbClr val="7B8364"/>
                </a:solidFill>
                <a:ea typeface="Corbel" panose="020B0503020204020204" pitchFamily="34" charset="0"/>
                <a:cs typeface="Corbel" panose="020B0503020204020204" pitchFamily="34" charset="0"/>
              </a:rPr>
              <a:t>= H * I </a:t>
            </a:r>
            <a:r>
              <a:rPr lang="en-US" altLang="en-US" sz="1400" b="1">
                <a:solidFill>
                  <a:srgbClr val="00274D"/>
                </a:solidFill>
                <a:ea typeface="Corbel" panose="020B0503020204020204" pitchFamily="34" charset="0"/>
                <a:cs typeface="Corbel" panose="020B0503020204020204" pitchFamily="34" charset="0"/>
              </a:rPr>
              <a:t>) =</a:t>
            </a:r>
          </a:p>
        </p:txBody>
      </p:sp>
      <p:sp>
        <p:nvSpPr>
          <p:cNvPr id="50189" name="TextBox 11">
            <a:extLst>
              <a:ext uri="{FF2B5EF4-FFF2-40B4-BE49-F238E27FC236}">
                <a16:creationId xmlns:a16="http://schemas.microsoft.com/office/drawing/2014/main" id="{344D689D-73DE-C9DC-5137-84CC2D42B5F9}"/>
              </a:ext>
            </a:extLst>
          </p:cNvPr>
          <p:cNvSpPr txBox="1">
            <a:spLocks noChangeArrowheads="1"/>
          </p:cNvSpPr>
          <p:nvPr/>
        </p:nvSpPr>
        <p:spPr bwMode="auto">
          <a:xfrm>
            <a:off x="6400800" y="157480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0190" name="TextBox 12">
            <a:extLst>
              <a:ext uri="{FF2B5EF4-FFF2-40B4-BE49-F238E27FC236}">
                <a16:creationId xmlns:a16="http://schemas.microsoft.com/office/drawing/2014/main" id="{9D767DD7-BCF8-463D-A4C2-EF9FD4C0DFF5}"/>
              </a:ext>
            </a:extLst>
          </p:cNvPr>
          <p:cNvSpPr txBox="1">
            <a:spLocks noChangeArrowheads="1"/>
          </p:cNvSpPr>
          <p:nvPr/>
        </p:nvSpPr>
        <p:spPr bwMode="auto">
          <a:xfrm>
            <a:off x="6400800" y="1974850"/>
            <a:ext cx="3683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0191" name="TextBox 13">
            <a:extLst>
              <a:ext uri="{FF2B5EF4-FFF2-40B4-BE49-F238E27FC236}">
                <a16:creationId xmlns:a16="http://schemas.microsoft.com/office/drawing/2014/main" id="{EA1C2080-C62F-D2BC-3E7A-EF6BBB75B0B5}"/>
              </a:ext>
            </a:extLst>
          </p:cNvPr>
          <p:cNvSpPr txBox="1">
            <a:spLocks noChangeArrowheads="1"/>
          </p:cNvSpPr>
          <p:nvPr/>
        </p:nvSpPr>
        <p:spPr bwMode="auto">
          <a:xfrm>
            <a:off x="6400800" y="2403475"/>
            <a:ext cx="3683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0192" name="TextBox 14">
            <a:extLst>
              <a:ext uri="{FF2B5EF4-FFF2-40B4-BE49-F238E27FC236}">
                <a16:creationId xmlns:a16="http://schemas.microsoft.com/office/drawing/2014/main" id="{7909ABF1-57EA-A88F-AF1A-40015EEE836D}"/>
              </a:ext>
            </a:extLst>
          </p:cNvPr>
          <p:cNvSpPr txBox="1">
            <a:spLocks noChangeArrowheads="1"/>
          </p:cNvSpPr>
          <p:nvPr/>
        </p:nvSpPr>
        <p:spPr bwMode="auto">
          <a:xfrm>
            <a:off x="6400800" y="28892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0193" name="TextBox 15">
            <a:extLst>
              <a:ext uri="{FF2B5EF4-FFF2-40B4-BE49-F238E27FC236}">
                <a16:creationId xmlns:a16="http://schemas.microsoft.com/office/drawing/2014/main" id="{23590B7A-A570-0FF8-B576-8B48F4B53CDA}"/>
              </a:ext>
            </a:extLst>
          </p:cNvPr>
          <p:cNvSpPr txBox="1">
            <a:spLocks noChangeArrowheads="1"/>
          </p:cNvSpPr>
          <p:nvPr/>
        </p:nvSpPr>
        <p:spPr bwMode="auto">
          <a:xfrm>
            <a:off x="6400800" y="3248025"/>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0194" name="TextBox 16">
            <a:extLst>
              <a:ext uri="{FF2B5EF4-FFF2-40B4-BE49-F238E27FC236}">
                <a16:creationId xmlns:a16="http://schemas.microsoft.com/office/drawing/2014/main" id="{2AC7E2D0-E6DA-B3A4-0268-75C0143B610D}"/>
              </a:ext>
            </a:extLst>
          </p:cNvPr>
          <p:cNvSpPr txBox="1">
            <a:spLocks noChangeArrowheads="1"/>
          </p:cNvSpPr>
          <p:nvPr/>
        </p:nvSpPr>
        <p:spPr bwMode="auto">
          <a:xfrm>
            <a:off x="6400800" y="3702050"/>
            <a:ext cx="3635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0.0</a:t>
            </a:r>
          </a:p>
        </p:txBody>
      </p:sp>
      <p:sp>
        <p:nvSpPr>
          <p:cNvPr id="50195" name="TextBox 17">
            <a:extLst>
              <a:ext uri="{FF2B5EF4-FFF2-40B4-BE49-F238E27FC236}">
                <a16:creationId xmlns:a16="http://schemas.microsoft.com/office/drawing/2014/main" id="{D5442120-7B4B-BB5E-2016-4E0DC816CAAC}"/>
              </a:ext>
            </a:extLst>
          </p:cNvPr>
          <p:cNvSpPr txBox="1">
            <a:spLocks noChangeArrowheads="1"/>
          </p:cNvSpPr>
          <p:nvPr/>
        </p:nvSpPr>
        <p:spPr bwMode="auto">
          <a:xfrm>
            <a:off x="6400800" y="4102100"/>
            <a:ext cx="21717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0.0</a:t>
            </a:r>
          </a:p>
        </p:txBody>
      </p:sp>
      <p:sp>
        <p:nvSpPr>
          <p:cNvPr id="50196" name="TextBox 18">
            <a:extLst>
              <a:ext uri="{FF2B5EF4-FFF2-40B4-BE49-F238E27FC236}">
                <a16:creationId xmlns:a16="http://schemas.microsoft.com/office/drawing/2014/main" id="{313EE48D-FB25-A941-4C22-7AE085B25254}"/>
              </a:ext>
            </a:extLst>
          </p:cNvPr>
          <p:cNvSpPr txBox="1">
            <a:spLocks noChangeArrowheads="1"/>
          </p:cNvSpPr>
          <p:nvPr/>
        </p:nvSpPr>
        <p:spPr bwMode="auto">
          <a:xfrm>
            <a:off x="6400800" y="45100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50197" name="Picture 12">
            <a:extLst>
              <a:ext uri="{FF2B5EF4-FFF2-40B4-BE49-F238E27FC236}">
                <a16:creationId xmlns:a16="http://schemas.microsoft.com/office/drawing/2014/main" id="{3DDDCC42-8968-33D2-CF11-17BFBCCFDD0A}"/>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51419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98" name="Picture 12">
            <a:extLst>
              <a:ext uri="{FF2B5EF4-FFF2-40B4-BE49-F238E27FC236}">
                <a16:creationId xmlns:a16="http://schemas.microsoft.com/office/drawing/2014/main" id="{FD6604F5-3EE9-CF6A-D6B5-1E00747EB502}"/>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050" y="554196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99" name="TextBox 18">
            <a:extLst>
              <a:ext uri="{FF2B5EF4-FFF2-40B4-BE49-F238E27FC236}">
                <a16:creationId xmlns:a16="http://schemas.microsoft.com/office/drawing/2014/main" id="{6FC4B682-5E8A-0DDB-809B-8FDFDDA39D87}"/>
              </a:ext>
            </a:extLst>
          </p:cNvPr>
          <p:cNvSpPr txBox="1">
            <a:spLocks noChangeArrowheads="1"/>
          </p:cNvSpPr>
          <p:nvPr/>
        </p:nvSpPr>
        <p:spPr bwMode="auto">
          <a:xfrm>
            <a:off x="6400800" y="48656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0200" name="TextBox 18">
            <a:extLst>
              <a:ext uri="{FF2B5EF4-FFF2-40B4-BE49-F238E27FC236}">
                <a16:creationId xmlns:a16="http://schemas.microsoft.com/office/drawing/2014/main" id="{CBE760CA-800E-FFCD-A5D3-F4005A4D727F}"/>
              </a:ext>
            </a:extLst>
          </p:cNvPr>
          <p:cNvSpPr txBox="1">
            <a:spLocks noChangeArrowheads="1"/>
          </p:cNvSpPr>
          <p:nvPr/>
        </p:nvSpPr>
        <p:spPr bwMode="auto">
          <a:xfrm>
            <a:off x="6400800" y="5273675"/>
            <a:ext cx="23320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4">
            <a:extLst>
              <a:ext uri="{FF2B5EF4-FFF2-40B4-BE49-F238E27FC236}">
                <a16:creationId xmlns:a16="http://schemas.microsoft.com/office/drawing/2014/main" id="{5BAC57B1-6104-8F96-FE6A-F4EC2F960393}"/>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082F9542-3850-458B-90E3-10C1E54B7128}"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27</a:t>
            </a:fld>
            <a:endParaRPr lang="en-US" altLang="en-US" sz="1100">
              <a:solidFill>
                <a:schemeClr val="bg1"/>
              </a:solidFill>
              <a:ea typeface="Corbel" panose="020B0503020204020204" pitchFamily="34" charset="0"/>
              <a:cs typeface="Corbel" panose="020B0503020204020204" pitchFamily="34" charset="0"/>
            </a:endParaRPr>
          </a:p>
        </p:txBody>
      </p:sp>
      <p:sp>
        <p:nvSpPr>
          <p:cNvPr id="51203" name="Rectangle 1">
            <a:extLst>
              <a:ext uri="{FF2B5EF4-FFF2-40B4-BE49-F238E27FC236}">
                <a16:creationId xmlns:a16="http://schemas.microsoft.com/office/drawing/2014/main" id="{9DF742B7-4793-04A9-6960-B3DA4F0130DB}"/>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Lifetime Value Analysis – Plan B  </a:t>
            </a:r>
          </a:p>
        </p:txBody>
      </p:sp>
      <p:pic>
        <p:nvPicPr>
          <p:cNvPr id="51204" name="Picture 5">
            <a:extLst>
              <a:ext uri="{FF2B5EF4-FFF2-40B4-BE49-F238E27FC236}">
                <a16:creationId xmlns:a16="http://schemas.microsoft.com/office/drawing/2014/main" id="{D39FFA83-43B3-F530-FCF1-708CA09B3F04}"/>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6663" y="1824038"/>
            <a:ext cx="1554162"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5" name="Picture 6">
            <a:extLst>
              <a:ext uri="{FF2B5EF4-FFF2-40B4-BE49-F238E27FC236}">
                <a16:creationId xmlns:a16="http://schemas.microsoft.com/office/drawing/2014/main" id="{D7860000-3CA4-129B-9651-986618904700}"/>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2288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6" name="Picture 7">
            <a:extLst>
              <a:ext uri="{FF2B5EF4-FFF2-40B4-BE49-F238E27FC236}">
                <a16:creationId xmlns:a16="http://schemas.microsoft.com/office/drawing/2014/main" id="{A0E81FAF-7D94-319A-45EA-4B33C17A1FF7}"/>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67017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8">
            <a:extLst>
              <a:ext uri="{FF2B5EF4-FFF2-40B4-BE49-F238E27FC236}">
                <a16:creationId xmlns:a16="http://schemas.microsoft.com/office/drawing/2014/main" id="{3CD5A661-D492-3BFF-51DB-E44C6DEFC4A7}"/>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13213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8" name="Picture 9">
            <a:extLst>
              <a:ext uri="{FF2B5EF4-FFF2-40B4-BE49-F238E27FC236}">
                <a16:creationId xmlns:a16="http://schemas.microsoft.com/office/drawing/2014/main" id="{620692A2-C868-6214-A0FE-DC2139CE6D85}"/>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50202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9" name="Picture 10">
            <a:extLst>
              <a:ext uri="{FF2B5EF4-FFF2-40B4-BE49-F238E27FC236}">
                <a16:creationId xmlns:a16="http://schemas.microsoft.com/office/drawing/2014/main" id="{28474A3F-CDB7-F702-D4E2-02BDFBA45060}"/>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9560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0" name="Picture 11">
            <a:extLst>
              <a:ext uri="{FF2B5EF4-FFF2-40B4-BE49-F238E27FC236}">
                <a16:creationId xmlns:a16="http://schemas.microsoft.com/office/drawing/2014/main" id="{5CA67B71-415A-B39E-0966-5EE7BE96DFE7}"/>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43545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11" name="Picture 12">
            <a:extLst>
              <a:ext uri="{FF2B5EF4-FFF2-40B4-BE49-F238E27FC236}">
                <a16:creationId xmlns:a16="http://schemas.microsoft.com/office/drawing/2014/main" id="{7C7F9793-E721-716A-8D6A-EAC5EF55C9F2}"/>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477678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12" name="Rectangle 14">
            <a:extLst>
              <a:ext uri="{FF2B5EF4-FFF2-40B4-BE49-F238E27FC236}">
                <a16:creationId xmlns:a16="http://schemas.microsoft.com/office/drawing/2014/main" id="{B765F086-8479-3AB4-D361-73F3537DD39B}"/>
              </a:ext>
            </a:extLst>
          </p:cNvPr>
          <p:cNvSpPr>
            <a:spLocks noChangeArrowheads="1"/>
          </p:cNvSpPr>
          <p:nvPr/>
        </p:nvSpPr>
        <p:spPr bwMode="auto">
          <a:xfrm>
            <a:off x="0" y="1585913"/>
            <a:ext cx="6384925" cy="358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indent="-307975">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r" eaLnBrk="1" hangingPunct="1">
              <a:lnSpc>
                <a:spcPct val="95000"/>
              </a:lnSpc>
              <a:spcAft>
                <a:spcPts val="1625"/>
              </a:spcAft>
              <a:buClr>
                <a:srgbClr val="000000"/>
              </a:buClr>
              <a:buSzPct val="100000"/>
            </a:pPr>
            <a:r>
              <a:rPr lang="en-US" altLang="en-US" sz="1400" b="1">
                <a:solidFill>
                  <a:srgbClr val="00274D"/>
                </a:solidFill>
              </a:rPr>
              <a:t>A. Average sale (ticket, transaction, invoice) =</a:t>
            </a:r>
            <a:endParaRPr lang="en-US" altLang="en-US">
              <a:solidFill>
                <a:srgbClr val="00274D"/>
              </a:solidFill>
            </a:endParaRPr>
          </a:p>
          <a:p>
            <a:pPr lvl="1" algn="r" eaLnBrk="1" hangingPunct="1">
              <a:lnSpc>
                <a:spcPct val="95000"/>
              </a:lnSpc>
              <a:spcAft>
                <a:spcPts val="1625"/>
              </a:spcAft>
              <a:buClr>
                <a:srgbClr val="000000"/>
              </a:buClr>
              <a:buSzPct val="100000"/>
            </a:pPr>
            <a:r>
              <a:rPr lang="en-US" altLang="en-US" sz="1400" b="1">
                <a:solidFill>
                  <a:srgbClr val="00274D"/>
                </a:solidFill>
              </a:rPr>
              <a:t>B. Times gross profit margin on average sale (sale less variable costs)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C. Equals gross profit per average sale ( </a:t>
            </a:r>
            <a:r>
              <a:rPr lang="en-US" altLang="en-US" sz="1400" b="1">
                <a:solidFill>
                  <a:srgbClr val="7B8364"/>
                </a:solidFill>
              </a:rPr>
              <a:t>A * B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D. Times the average repeat sales per year (per customer/client) =</a:t>
            </a:r>
          </a:p>
          <a:p>
            <a:pPr algn="r" eaLnBrk="1" hangingPunct="1">
              <a:lnSpc>
                <a:spcPct val="95000"/>
              </a:lnSpc>
              <a:spcAft>
                <a:spcPts val="1625"/>
              </a:spcAft>
            </a:pPr>
            <a:r>
              <a:rPr lang="en-US" altLang="en-US" sz="1400" b="1">
                <a:solidFill>
                  <a:srgbClr val="00274D"/>
                </a:solidFill>
              </a:rPr>
              <a:t>E. Equals the average customer/client value per year ( </a:t>
            </a:r>
            <a:r>
              <a:rPr lang="en-US" altLang="en-US" sz="1400" b="1">
                <a:solidFill>
                  <a:srgbClr val="7B8364"/>
                </a:solidFill>
              </a:rPr>
              <a:t>C * D </a:t>
            </a:r>
            <a:r>
              <a:rPr lang="en-US" altLang="en-US" sz="1400" b="1">
                <a:solidFill>
                  <a:srgbClr val="00274D"/>
                </a:solidFill>
              </a:rPr>
              <a:t>) =</a:t>
            </a:r>
          </a:p>
          <a:p>
            <a:pPr algn="r" eaLnBrk="1" hangingPunct="1">
              <a:lnSpc>
                <a:spcPct val="95000"/>
              </a:lnSpc>
              <a:spcAft>
                <a:spcPts val="1625"/>
              </a:spcAft>
            </a:pPr>
            <a:r>
              <a:rPr lang="en-US" altLang="en-US" sz="1400" b="1">
                <a:solidFill>
                  <a:srgbClr val="00274D"/>
                </a:solidFill>
              </a:rPr>
              <a:t>F. Times the average number of years of patronage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G. Equals the lifetime value of one customer/client ( </a:t>
            </a:r>
            <a:r>
              <a:rPr lang="en-US" altLang="en-US" sz="1400" b="1">
                <a:solidFill>
                  <a:srgbClr val="7B8364"/>
                </a:solidFill>
              </a:rPr>
              <a:t>E * F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H. So if your base monthly advertising investment averages =</a:t>
            </a:r>
          </a:p>
          <a:p>
            <a:pPr algn="r" eaLnBrk="1" hangingPunct="1">
              <a:lnSpc>
                <a:spcPct val="95000"/>
              </a:lnSpc>
              <a:spcAft>
                <a:spcPts val="1625"/>
              </a:spcAft>
              <a:buFontTx/>
              <a:buAutoNum type="romanUcPeriod"/>
            </a:pPr>
            <a:r>
              <a:rPr lang="en-US" altLang="en-US" sz="1400" b="1">
                <a:solidFill>
                  <a:srgbClr val="00274D"/>
                </a:solidFill>
              </a:rPr>
              <a:t> Then monthly customers/clients needed to break even ( </a:t>
            </a:r>
            <a:r>
              <a:rPr lang="en-US" altLang="en-US" sz="1400" b="1">
                <a:solidFill>
                  <a:srgbClr val="7B8364"/>
                </a:solidFill>
              </a:rPr>
              <a:t>H / G </a:t>
            </a:r>
            <a:r>
              <a:rPr lang="en-US" altLang="en-US" sz="1400" b="1">
                <a:solidFill>
                  <a:srgbClr val="00274D"/>
                </a:solidFill>
              </a:rPr>
              <a:t>) </a:t>
            </a:r>
            <a:r>
              <a:rPr lang="en-US" altLang="en-US" sz="1400" b="1">
                <a:solidFill>
                  <a:srgbClr val="00274D"/>
                </a:solidFill>
                <a:ea typeface="Corbel" panose="020B0503020204020204" pitchFamily="34" charset="0"/>
                <a:cs typeface="Corbel" panose="020B0503020204020204" pitchFamily="34" charset="0"/>
              </a:rPr>
              <a:t>=</a:t>
            </a:r>
          </a:p>
        </p:txBody>
      </p:sp>
      <p:sp>
        <p:nvSpPr>
          <p:cNvPr id="51213" name="TextBox 11">
            <a:extLst>
              <a:ext uri="{FF2B5EF4-FFF2-40B4-BE49-F238E27FC236}">
                <a16:creationId xmlns:a16="http://schemas.microsoft.com/office/drawing/2014/main" id="{6AB3015C-1449-27C3-7E76-8F21709435D2}"/>
              </a:ext>
            </a:extLst>
          </p:cNvPr>
          <p:cNvSpPr txBox="1">
            <a:spLocks noChangeArrowheads="1"/>
          </p:cNvSpPr>
          <p:nvPr/>
        </p:nvSpPr>
        <p:spPr bwMode="auto">
          <a:xfrm>
            <a:off x="6400800" y="157480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1214" name="TextBox 12">
            <a:extLst>
              <a:ext uri="{FF2B5EF4-FFF2-40B4-BE49-F238E27FC236}">
                <a16:creationId xmlns:a16="http://schemas.microsoft.com/office/drawing/2014/main" id="{27C24C95-5509-1E59-AB04-579BFFC5229F}"/>
              </a:ext>
            </a:extLst>
          </p:cNvPr>
          <p:cNvSpPr txBox="1">
            <a:spLocks noChangeArrowheads="1"/>
          </p:cNvSpPr>
          <p:nvPr/>
        </p:nvSpPr>
        <p:spPr bwMode="auto">
          <a:xfrm>
            <a:off x="6400800" y="1974850"/>
            <a:ext cx="3683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1215" name="TextBox 13">
            <a:extLst>
              <a:ext uri="{FF2B5EF4-FFF2-40B4-BE49-F238E27FC236}">
                <a16:creationId xmlns:a16="http://schemas.microsoft.com/office/drawing/2014/main" id="{116EFE5E-6461-9ECA-6A3C-B260DD2EAEE0}"/>
              </a:ext>
            </a:extLst>
          </p:cNvPr>
          <p:cNvSpPr txBox="1">
            <a:spLocks noChangeArrowheads="1"/>
          </p:cNvSpPr>
          <p:nvPr/>
        </p:nvSpPr>
        <p:spPr bwMode="auto">
          <a:xfrm>
            <a:off x="6400800" y="2403475"/>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1216" name="TextBox 14">
            <a:extLst>
              <a:ext uri="{FF2B5EF4-FFF2-40B4-BE49-F238E27FC236}">
                <a16:creationId xmlns:a16="http://schemas.microsoft.com/office/drawing/2014/main" id="{7F31F9DA-5F8E-425A-2ABE-3989BD1F2DE8}"/>
              </a:ext>
            </a:extLst>
          </p:cNvPr>
          <p:cNvSpPr txBox="1">
            <a:spLocks noChangeArrowheads="1"/>
          </p:cNvSpPr>
          <p:nvPr/>
        </p:nvSpPr>
        <p:spPr bwMode="auto">
          <a:xfrm>
            <a:off x="6400800" y="2889250"/>
            <a:ext cx="2444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1217" name="TextBox 15">
            <a:extLst>
              <a:ext uri="{FF2B5EF4-FFF2-40B4-BE49-F238E27FC236}">
                <a16:creationId xmlns:a16="http://schemas.microsoft.com/office/drawing/2014/main" id="{87824110-21C0-1D2B-F131-DCB086CA1E19}"/>
              </a:ext>
            </a:extLst>
          </p:cNvPr>
          <p:cNvSpPr txBox="1">
            <a:spLocks noChangeArrowheads="1"/>
          </p:cNvSpPr>
          <p:nvPr/>
        </p:nvSpPr>
        <p:spPr bwMode="auto">
          <a:xfrm>
            <a:off x="6400800" y="3248025"/>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1218" name="TextBox 16">
            <a:extLst>
              <a:ext uri="{FF2B5EF4-FFF2-40B4-BE49-F238E27FC236}">
                <a16:creationId xmlns:a16="http://schemas.microsoft.com/office/drawing/2014/main" id="{23F50DA5-E0A3-37AC-00D7-7D7C99451CCE}"/>
              </a:ext>
            </a:extLst>
          </p:cNvPr>
          <p:cNvSpPr txBox="1">
            <a:spLocks noChangeArrowheads="1"/>
          </p:cNvSpPr>
          <p:nvPr/>
        </p:nvSpPr>
        <p:spPr bwMode="auto">
          <a:xfrm>
            <a:off x="6400800" y="3702050"/>
            <a:ext cx="2444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1219" name="TextBox 17">
            <a:extLst>
              <a:ext uri="{FF2B5EF4-FFF2-40B4-BE49-F238E27FC236}">
                <a16:creationId xmlns:a16="http://schemas.microsoft.com/office/drawing/2014/main" id="{09AAD92A-F293-ADFB-CACB-73465556A222}"/>
              </a:ext>
            </a:extLst>
          </p:cNvPr>
          <p:cNvSpPr txBox="1">
            <a:spLocks noChangeArrowheads="1"/>
          </p:cNvSpPr>
          <p:nvPr/>
        </p:nvSpPr>
        <p:spPr bwMode="auto">
          <a:xfrm>
            <a:off x="6400800" y="4102100"/>
            <a:ext cx="21717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1220" name="TextBox 18">
            <a:extLst>
              <a:ext uri="{FF2B5EF4-FFF2-40B4-BE49-F238E27FC236}">
                <a16:creationId xmlns:a16="http://schemas.microsoft.com/office/drawing/2014/main" id="{FBF94994-CAB3-CAD5-AE5D-D9B63205EED1}"/>
              </a:ext>
            </a:extLst>
          </p:cNvPr>
          <p:cNvSpPr txBox="1">
            <a:spLocks noChangeArrowheads="1"/>
          </p:cNvSpPr>
          <p:nvPr/>
        </p:nvSpPr>
        <p:spPr bwMode="auto">
          <a:xfrm>
            <a:off x="6400800" y="45100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51221" name="Picture 12">
            <a:extLst>
              <a:ext uri="{FF2B5EF4-FFF2-40B4-BE49-F238E27FC236}">
                <a16:creationId xmlns:a16="http://schemas.microsoft.com/office/drawing/2014/main" id="{90CE6446-27A0-E6D6-4E0E-7FF82D1A3368}"/>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51419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22" name="TextBox 18">
            <a:extLst>
              <a:ext uri="{FF2B5EF4-FFF2-40B4-BE49-F238E27FC236}">
                <a16:creationId xmlns:a16="http://schemas.microsoft.com/office/drawing/2014/main" id="{7A28FC4E-37C1-BFCD-2637-49ACD6AEBAB0}"/>
              </a:ext>
            </a:extLst>
          </p:cNvPr>
          <p:cNvSpPr txBox="1">
            <a:spLocks noChangeArrowheads="1"/>
          </p:cNvSpPr>
          <p:nvPr/>
        </p:nvSpPr>
        <p:spPr bwMode="auto">
          <a:xfrm>
            <a:off x="6400800" y="48656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a:extLst>
              <a:ext uri="{FF2B5EF4-FFF2-40B4-BE49-F238E27FC236}">
                <a16:creationId xmlns:a16="http://schemas.microsoft.com/office/drawing/2014/main" id="{B3682F78-F6DF-C711-6763-3F98016149E1}"/>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Digital ROI Calculator – Plan B  </a:t>
            </a:r>
          </a:p>
        </p:txBody>
      </p:sp>
      <p:sp>
        <p:nvSpPr>
          <p:cNvPr id="52227" name="Slide Number Placeholder 4">
            <a:extLst>
              <a:ext uri="{FF2B5EF4-FFF2-40B4-BE49-F238E27FC236}">
                <a16:creationId xmlns:a16="http://schemas.microsoft.com/office/drawing/2014/main" id="{6D29866A-8695-0927-2F37-38F2D35059FF}"/>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EBCF2F12-21EC-4BAD-826E-916C367C18D9}"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28</a:t>
            </a:fld>
            <a:endParaRPr lang="en-US" altLang="en-US" sz="1100">
              <a:solidFill>
                <a:schemeClr val="bg1"/>
              </a:solidFill>
              <a:ea typeface="Corbel" panose="020B0503020204020204" pitchFamily="34" charset="0"/>
              <a:cs typeface="Corbel" panose="020B0503020204020204" pitchFamily="34" charset="0"/>
            </a:endParaRPr>
          </a:p>
        </p:txBody>
      </p:sp>
      <p:pic>
        <p:nvPicPr>
          <p:cNvPr id="52228" name="Picture 5">
            <a:extLst>
              <a:ext uri="{FF2B5EF4-FFF2-40B4-BE49-F238E27FC236}">
                <a16:creationId xmlns:a16="http://schemas.microsoft.com/office/drawing/2014/main" id="{E9A15B9B-29CD-F479-607C-946F1C9A48C9}"/>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6663" y="1468438"/>
            <a:ext cx="1554162"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6">
            <a:extLst>
              <a:ext uri="{FF2B5EF4-FFF2-40B4-BE49-F238E27FC236}">
                <a16:creationId xmlns:a16="http://schemas.microsoft.com/office/drawing/2014/main" id="{81230611-591A-64FB-E826-EFFA10753E24}"/>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18732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7">
            <a:extLst>
              <a:ext uri="{FF2B5EF4-FFF2-40B4-BE49-F238E27FC236}">
                <a16:creationId xmlns:a16="http://schemas.microsoft.com/office/drawing/2014/main" id="{E5F34863-B7A9-FFF2-5CAF-E3B9D994B3F0}"/>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31457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1" name="Picture 8">
            <a:extLst>
              <a:ext uri="{FF2B5EF4-FFF2-40B4-BE49-F238E27FC236}">
                <a16:creationId xmlns:a16="http://schemas.microsoft.com/office/drawing/2014/main" id="{0F73334B-D311-73C0-6AFC-EB5D01B94D08}"/>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277653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2" name="Picture 9">
            <a:extLst>
              <a:ext uri="{FF2B5EF4-FFF2-40B4-BE49-F238E27FC236}">
                <a16:creationId xmlns:a16="http://schemas.microsoft.com/office/drawing/2014/main" id="{C8BB972E-7D23-AACD-65C0-7A556F49411B}"/>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146425"/>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3" name="Picture 10">
            <a:extLst>
              <a:ext uri="{FF2B5EF4-FFF2-40B4-BE49-F238E27FC236}">
                <a16:creationId xmlns:a16="http://schemas.microsoft.com/office/drawing/2014/main" id="{371EDA42-5314-2493-BDC4-2A7186118C6D}"/>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60045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4" name="Picture 11">
            <a:extLst>
              <a:ext uri="{FF2B5EF4-FFF2-40B4-BE49-F238E27FC236}">
                <a16:creationId xmlns:a16="http://schemas.microsoft.com/office/drawing/2014/main" id="{97A31CAF-DAA4-AD7C-5592-95D1D0E618C8}"/>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4600" y="39989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5" name="Picture 12">
            <a:extLst>
              <a:ext uri="{FF2B5EF4-FFF2-40B4-BE49-F238E27FC236}">
                <a16:creationId xmlns:a16="http://schemas.microsoft.com/office/drawing/2014/main" id="{D8BD50A9-5AE7-CAA4-D21C-C3A8960227F2}"/>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4421188"/>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6" name="Rectangle 14">
            <a:extLst>
              <a:ext uri="{FF2B5EF4-FFF2-40B4-BE49-F238E27FC236}">
                <a16:creationId xmlns:a16="http://schemas.microsoft.com/office/drawing/2014/main" id="{BBEDF2AF-22DC-582B-5A14-8F59C0289B84}"/>
              </a:ext>
            </a:extLst>
          </p:cNvPr>
          <p:cNvSpPr>
            <a:spLocks noChangeArrowheads="1"/>
          </p:cNvSpPr>
          <p:nvPr/>
        </p:nvSpPr>
        <p:spPr bwMode="auto">
          <a:xfrm>
            <a:off x="0" y="1230313"/>
            <a:ext cx="6384925"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indent="-307975">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lvl="1" algn="r" eaLnBrk="1" hangingPunct="1">
              <a:lnSpc>
                <a:spcPct val="95000"/>
              </a:lnSpc>
              <a:spcAft>
                <a:spcPts val="1625"/>
              </a:spcAft>
              <a:buClr>
                <a:srgbClr val="000000"/>
              </a:buClr>
              <a:buSzPct val="100000"/>
            </a:pPr>
            <a:r>
              <a:rPr lang="en-US" altLang="en-US" sz="1400" b="1">
                <a:solidFill>
                  <a:srgbClr val="00274D"/>
                </a:solidFill>
              </a:rPr>
              <a:t>A. Monthly Digital Investment =</a:t>
            </a:r>
            <a:endParaRPr lang="en-US" altLang="en-US">
              <a:solidFill>
                <a:srgbClr val="00274D"/>
              </a:solidFill>
            </a:endParaRPr>
          </a:p>
          <a:p>
            <a:pPr lvl="1" algn="r" eaLnBrk="1" hangingPunct="1">
              <a:lnSpc>
                <a:spcPct val="95000"/>
              </a:lnSpc>
              <a:spcAft>
                <a:spcPts val="1625"/>
              </a:spcAft>
              <a:buClr>
                <a:srgbClr val="000000"/>
              </a:buClr>
              <a:buSzPct val="100000"/>
            </a:pPr>
            <a:r>
              <a:rPr lang="en-US" altLang="en-US" sz="1400" b="1">
                <a:solidFill>
                  <a:srgbClr val="00274D"/>
                </a:solidFill>
              </a:rPr>
              <a:t>B. Cost Per Thousand ( CPM )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C. Monthly Impressions ( </a:t>
            </a:r>
            <a:r>
              <a:rPr lang="en-US" altLang="en-US" sz="1400" b="1">
                <a:solidFill>
                  <a:srgbClr val="7B8364"/>
                </a:solidFill>
              </a:rPr>
              <a:t>= A / B * 1,000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D. Click Through Rate ( .01%, .1%, etc.) =</a:t>
            </a:r>
          </a:p>
          <a:p>
            <a:pPr algn="r" eaLnBrk="1" hangingPunct="1">
              <a:lnSpc>
                <a:spcPct val="95000"/>
              </a:lnSpc>
              <a:spcAft>
                <a:spcPts val="1625"/>
              </a:spcAft>
            </a:pPr>
            <a:r>
              <a:rPr lang="en-US" altLang="en-US" sz="1400" b="1">
                <a:solidFill>
                  <a:srgbClr val="00274D"/>
                </a:solidFill>
              </a:rPr>
              <a:t>E. Monthly # Clicks ( </a:t>
            </a:r>
            <a:r>
              <a:rPr lang="en-US" altLang="en-US" sz="1400" b="1">
                <a:solidFill>
                  <a:srgbClr val="7B8364"/>
                </a:solidFill>
              </a:rPr>
              <a:t>= C * D </a:t>
            </a:r>
            <a:r>
              <a:rPr lang="en-US" altLang="en-US" sz="1400" b="1">
                <a:solidFill>
                  <a:srgbClr val="00274D"/>
                </a:solidFill>
              </a:rPr>
              <a:t>) =</a:t>
            </a:r>
          </a:p>
          <a:p>
            <a:pPr algn="r" eaLnBrk="1" hangingPunct="1">
              <a:lnSpc>
                <a:spcPct val="95000"/>
              </a:lnSpc>
              <a:spcAft>
                <a:spcPts val="1625"/>
              </a:spcAft>
            </a:pPr>
            <a:r>
              <a:rPr lang="en-US" altLang="en-US" sz="1400" b="1">
                <a:solidFill>
                  <a:srgbClr val="00274D"/>
                </a:solidFill>
              </a:rPr>
              <a:t>F. Cost Per Click ( </a:t>
            </a:r>
            <a:r>
              <a:rPr lang="en-US" altLang="en-US" sz="1400" b="1">
                <a:solidFill>
                  <a:srgbClr val="7B8364"/>
                </a:solidFill>
              </a:rPr>
              <a:t>= A / E </a:t>
            </a:r>
            <a:r>
              <a:rPr lang="en-US" altLang="en-US" sz="1400" b="1">
                <a:solidFill>
                  <a:srgbClr val="00274D"/>
                </a:solidFill>
              </a:rPr>
              <a:t>)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G. Sales Conversion Percentage ( 2%, 10%, etc.) =</a:t>
            </a:r>
            <a:endParaRPr lang="en-US" altLang="en-US">
              <a:solidFill>
                <a:srgbClr val="00274D"/>
              </a:solidFill>
            </a:endParaRPr>
          </a:p>
          <a:p>
            <a:pPr algn="r" eaLnBrk="1" hangingPunct="1">
              <a:lnSpc>
                <a:spcPct val="95000"/>
              </a:lnSpc>
              <a:spcAft>
                <a:spcPts val="1625"/>
              </a:spcAft>
            </a:pPr>
            <a:r>
              <a:rPr lang="en-US" altLang="en-US" sz="1400" b="1">
                <a:solidFill>
                  <a:srgbClr val="00274D"/>
                </a:solidFill>
              </a:rPr>
              <a:t>H. Monthly Number of Conversions ( </a:t>
            </a:r>
            <a:r>
              <a:rPr lang="en-US" altLang="en-US" sz="1400" b="1">
                <a:solidFill>
                  <a:srgbClr val="7B8364"/>
                </a:solidFill>
              </a:rPr>
              <a:t>= E * G </a:t>
            </a:r>
            <a:r>
              <a:rPr lang="en-US" altLang="en-US" sz="1400" b="1">
                <a:solidFill>
                  <a:srgbClr val="00274D"/>
                </a:solidFill>
              </a:rPr>
              <a:t>) =</a:t>
            </a:r>
          </a:p>
          <a:p>
            <a:pPr algn="r" eaLnBrk="1" hangingPunct="1">
              <a:lnSpc>
                <a:spcPct val="95000"/>
              </a:lnSpc>
              <a:spcAft>
                <a:spcPts val="1625"/>
              </a:spcAft>
              <a:buFontTx/>
              <a:buAutoNum type="romanUcPeriod"/>
            </a:pPr>
            <a:r>
              <a:rPr lang="en-US" altLang="en-US" sz="1400" b="1">
                <a:solidFill>
                  <a:srgbClr val="00274D"/>
                </a:solidFill>
                <a:ea typeface="Corbel" panose="020B0503020204020204" pitchFamily="34" charset="0"/>
                <a:cs typeface="Corbel" panose="020B0503020204020204" pitchFamily="34" charset="0"/>
              </a:rPr>
              <a:t> </a:t>
            </a:r>
            <a:r>
              <a:rPr lang="en-US" altLang="en-US" sz="1400" b="1">
                <a:solidFill>
                  <a:srgbClr val="00274D"/>
                </a:solidFill>
              </a:rPr>
              <a:t>Cost per Conversion ( </a:t>
            </a:r>
            <a:r>
              <a:rPr lang="en-US" altLang="en-US" sz="1400" b="1">
                <a:solidFill>
                  <a:srgbClr val="7B8364"/>
                </a:solidFill>
              </a:rPr>
              <a:t>= A / H </a:t>
            </a:r>
            <a:r>
              <a:rPr lang="en-US" altLang="en-US" sz="1400" b="1">
                <a:solidFill>
                  <a:srgbClr val="00274D"/>
                </a:solidFill>
              </a:rPr>
              <a:t>) </a:t>
            </a:r>
            <a:r>
              <a:rPr lang="en-US" altLang="en-US" sz="1400" b="1">
                <a:solidFill>
                  <a:srgbClr val="00274D"/>
                </a:solidFill>
                <a:ea typeface="Corbel" panose="020B0503020204020204" pitchFamily="34" charset="0"/>
                <a:cs typeface="Corbel" panose="020B0503020204020204" pitchFamily="34" charset="0"/>
              </a:rPr>
              <a:t>=</a:t>
            </a:r>
          </a:p>
          <a:p>
            <a:pPr algn="r" eaLnBrk="1" hangingPunct="1">
              <a:lnSpc>
                <a:spcPct val="95000"/>
              </a:lnSpc>
              <a:spcAft>
                <a:spcPts val="1625"/>
              </a:spcAft>
            </a:pPr>
            <a:r>
              <a:rPr lang="en-US" altLang="en-US" sz="1400" b="1">
                <a:solidFill>
                  <a:srgbClr val="00274D"/>
                </a:solidFill>
                <a:ea typeface="Corbel" panose="020B0503020204020204" pitchFamily="34" charset="0"/>
                <a:cs typeface="Corbel" panose="020B0503020204020204" pitchFamily="34" charset="0"/>
              </a:rPr>
              <a:t>J. Project Gross Profit Per Conversion ($100, $1,000, etc.) =</a:t>
            </a:r>
          </a:p>
          <a:p>
            <a:pPr algn="r" eaLnBrk="1" hangingPunct="1">
              <a:lnSpc>
                <a:spcPct val="95000"/>
              </a:lnSpc>
              <a:spcAft>
                <a:spcPts val="1625"/>
              </a:spcAft>
            </a:pPr>
            <a:r>
              <a:rPr lang="en-US" altLang="en-US" sz="1400" b="1">
                <a:solidFill>
                  <a:srgbClr val="00274D"/>
                </a:solidFill>
              </a:rPr>
              <a:t>K. Monthly Gross Profit Generated From all Conversions ( </a:t>
            </a:r>
            <a:r>
              <a:rPr lang="en-US" altLang="en-US" sz="1400" b="1">
                <a:solidFill>
                  <a:srgbClr val="7B8364"/>
                </a:solidFill>
              </a:rPr>
              <a:t>= H * J </a:t>
            </a:r>
            <a:r>
              <a:rPr lang="en-US" altLang="en-US" sz="1400" b="1">
                <a:solidFill>
                  <a:srgbClr val="00274D"/>
                </a:solidFill>
              </a:rPr>
              <a:t>) </a:t>
            </a:r>
            <a:r>
              <a:rPr lang="en-US" altLang="en-US" sz="1400" b="1">
                <a:solidFill>
                  <a:srgbClr val="00274D"/>
                </a:solidFill>
                <a:ea typeface="Corbel" panose="020B0503020204020204" pitchFamily="34" charset="0"/>
                <a:cs typeface="Corbel" panose="020B0503020204020204" pitchFamily="34" charset="0"/>
              </a:rPr>
              <a:t>=</a:t>
            </a:r>
          </a:p>
          <a:p>
            <a:pPr algn="r" eaLnBrk="1" hangingPunct="1">
              <a:lnSpc>
                <a:spcPct val="95000"/>
              </a:lnSpc>
              <a:spcAft>
                <a:spcPts val="1625"/>
              </a:spcAft>
            </a:pPr>
            <a:r>
              <a:rPr lang="en-US" altLang="en-US" sz="1400" b="1">
                <a:solidFill>
                  <a:srgbClr val="00274D"/>
                </a:solidFill>
                <a:ea typeface="Corbel" panose="020B0503020204020204" pitchFamily="34" charset="0"/>
                <a:cs typeface="Corbel" panose="020B0503020204020204" pitchFamily="34" charset="0"/>
              </a:rPr>
              <a:t>L. $ Monthly Return on Investment ( </a:t>
            </a:r>
            <a:r>
              <a:rPr lang="en-US" altLang="en-US" sz="1400" b="1">
                <a:solidFill>
                  <a:srgbClr val="7B8364"/>
                </a:solidFill>
                <a:ea typeface="Corbel" panose="020B0503020204020204" pitchFamily="34" charset="0"/>
                <a:cs typeface="Corbel" panose="020B0503020204020204" pitchFamily="34" charset="0"/>
              </a:rPr>
              <a:t>= K – A </a:t>
            </a:r>
            <a:r>
              <a:rPr lang="en-US" altLang="en-US" sz="1400" b="1">
                <a:solidFill>
                  <a:srgbClr val="00274D"/>
                </a:solidFill>
                <a:ea typeface="Corbel" panose="020B0503020204020204" pitchFamily="34" charset="0"/>
                <a:cs typeface="Corbel" panose="020B0503020204020204" pitchFamily="34" charset="0"/>
              </a:rPr>
              <a:t>) =</a:t>
            </a:r>
          </a:p>
          <a:p>
            <a:pPr algn="r" eaLnBrk="1" hangingPunct="1">
              <a:lnSpc>
                <a:spcPct val="95000"/>
              </a:lnSpc>
              <a:spcAft>
                <a:spcPts val="1625"/>
              </a:spcAft>
            </a:pPr>
            <a:r>
              <a:rPr lang="en-US" altLang="en-US" sz="1400" b="1">
                <a:solidFill>
                  <a:srgbClr val="00274D"/>
                </a:solidFill>
                <a:ea typeface="Corbel" panose="020B0503020204020204" pitchFamily="34" charset="0"/>
                <a:cs typeface="Corbel" panose="020B0503020204020204" pitchFamily="34" charset="0"/>
              </a:rPr>
              <a:t>M. % Monthly Return on Investment ( </a:t>
            </a:r>
            <a:r>
              <a:rPr lang="en-US" altLang="en-US" sz="1400" b="1">
                <a:solidFill>
                  <a:srgbClr val="7B8364"/>
                </a:solidFill>
                <a:ea typeface="Corbel" panose="020B0503020204020204" pitchFamily="34" charset="0"/>
                <a:cs typeface="Corbel" panose="020B0503020204020204" pitchFamily="34" charset="0"/>
              </a:rPr>
              <a:t>= L / A </a:t>
            </a:r>
            <a:r>
              <a:rPr lang="en-US" altLang="en-US" sz="1400" b="1">
                <a:solidFill>
                  <a:srgbClr val="00274D"/>
                </a:solidFill>
                <a:ea typeface="Corbel" panose="020B0503020204020204" pitchFamily="34" charset="0"/>
                <a:cs typeface="Corbel" panose="020B0503020204020204" pitchFamily="34" charset="0"/>
              </a:rPr>
              <a:t>) =  </a:t>
            </a:r>
          </a:p>
        </p:txBody>
      </p:sp>
      <p:sp>
        <p:nvSpPr>
          <p:cNvPr id="52237" name="TextBox 11">
            <a:extLst>
              <a:ext uri="{FF2B5EF4-FFF2-40B4-BE49-F238E27FC236}">
                <a16:creationId xmlns:a16="http://schemas.microsoft.com/office/drawing/2014/main" id="{9CD0878F-52B6-E882-FB6C-0C93CAB66F56}"/>
              </a:ext>
            </a:extLst>
          </p:cNvPr>
          <p:cNvSpPr txBox="1">
            <a:spLocks noChangeArrowheads="1"/>
          </p:cNvSpPr>
          <p:nvPr/>
        </p:nvSpPr>
        <p:spPr bwMode="auto">
          <a:xfrm>
            <a:off x="6400800" y="121920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2238" name="TextBox 12">
            <a:extLst>
              <a:ext uri="{FF2B5EF4-FFF2-40B4-BE49-F238E27FC236}">
                <a16:creationId xmlns:a16="http://schemas.microsoft.com/office/drawing/2014/main" id="{740E8C22-406E-2EF0-D6E7-9D88D6314749}"/>
              </a:ext>
            </a:extLst>
          </p:cNvPr>
          <p:cNvSpPr txBox="1">
            <a:spLocks noChangeArrowheads="1"/>
          </p:cNvSpPr>
          <p:nvPr/>
        </p:nvSpPr>
        <p:spPr bwMode="auto">
          <a:xfrm>
            <a:off x="6400800" y="1619250"/>
            <a:ext cx="5207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$0.00</a:t>
            </a:r>
          </a:p>
        </p:txBody>
      </p:sp>
      <p:sp>
        <p:nvSpPr>
          <p:cNvPr id="52239" name="TextBox 13">
            <a:extLst>
              <a:ext uri="{FF2B5EF4-FFF2-40B4-BE49-F238E27FC236}">
                <a16:creationId xmlns:a16="http://schemas.microsoft.com/office/drawing/2014/main" id="{3A5B2B61-1861-D185-AC19-508010D9E0F9}"/>
              </a:ext>
            </a:extLst>
          </p:cNvPr>
          <p:cNvSpPr txBox="1">
            <a:spLocks noChangeArrowheads="1"/>
          </p:cNvSpPr>
          <p:nvPr/>
        </p:nvSpPr>
        <p:spPr bwMode="auto">
          <a:xfrm>
            <a:off x="6400800" y="2047875"/>
            <a:ext cx="2444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2240" name="TextBox 14">
            <a:extLst>
              <a:ext uri="{FF2B5EF4-FFF2-40B4-BE49-F238E27FC236}">
                <a16:creationId xmlns:a16="http://schemas.microsoft.com/office/drawing/2014/main" id="{AAB87BEA-0293-89E5-EE6E-3B9FA04BB7DD}"/>
              </a:ext>
            </a:extLst>
          </p:cNvPr>
          <p:cNvSpPr txBox="1">
            <a:spLocks noChangeArrowheads="1"/>
          </p:cNvSpPr>
          <p:nvPr/>
        </p:nvSpPr>
        <p:spPr bwMode="auto">
          <a:xfrm>
            <a:off x="6400800" y="2533650"/>
            <a:ext cx="5651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0.00%</a:t>
            </a:r>
          </a:p>
        </p:txBody>
      </p:sp>
      <p:sp>
        <p:nvSpPr>
          <p:cNvPr id="52241" name="TextBox 15">
            <a:extLst>
              <a:ext uri="{FF2B5EF4-FFF2-40B4-BE49-F238E27FC236}">
                <a16:creationId xmlns:a16="http://schemas.microsoft.com/office/drawing/2014/main" id="{3815121C-C9ED-5356-45FD-F69818797332}"/>
              </a:ext>
            </a:extLst>
          </p:cNvPr>
          <p:cNvSpPr txBox="1">
            <a:spLocks noChangeArrowheads="1"/>
          </p:cNvSpPr>
          <p:nvPr/>
        </p:nvSpPr>
        <p:spPr bwMode="auto">
          <a:xfrm>
            <a:off x="6400800" y="2892425"/>
            <a:ext cx="244475"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2242" name="TextBox 16">
            <a:extLst>
              <a:ext uri="{FF2B5EF4-FFF2-40B4-BE49-F238E27FC236}">
                <a16:creationId xmlns:a16="http://schemas.microsoft.com/office/drawing/2014/main" id="{03C6EC9F-3223-2FF2-8EFD-E7BCF40160F4}"/>
              </a:ext>
            </a:extLst>
          </p:cNvPr>
          <p:cNvSpPr txBox="1">
            <a:spLocks noChangeArrowheads="1"/>
          </p:cNvSpPr>
          <p:nvPr/>
        </p:nvSpPr>
        <p:spPr bwMode="auto">
          <a:xfrm>
            <a:off x="6400800" y="3346450"/>
            <a:ext cx="3238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2243" name="TextBox 17">
            <a:extLst>
              <a:ext uri="{FF2B5EF4-FFF2-40B4-BE49-F238E27FC236}">
                <a16:creationId xmlns:a16="http://schemas.microsoft.com/office/drawing/2014/main" id="{4C284BC4-6709-C88E-55AF-8B9E14A3F6DA}"/>
              </a:ext>
            </a:extLst>
          </p:cNvPr>
          <p:cNvSpPr txBox="1">
            <a:spLocks noChangeArrowheads="1"/>
          </p:cNvSpPr>
          <p:nvPr/>
        </p:nvSpPr>
        <p:spPr bwMode="auto">
          <a:xfrm>
            <a:off x="6400800" y="3746500"/>
            <a:ext cx="217170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2244" name="TextBox 18">
            <a:extLst>
              <a:ext uri="{FF2B5EF4-FFF2-40B4-BE49-F238E27FC236}">
                <a16:creationId xmlns:a16="http://schemas.microsoft.com/office/drawing/2014/main" id="{F4E1307C-DDC7-53C1-D6D2-200C884DDAF9}"/>
              </a:ext>
            </a:extLst>
          </p:cNvPr>
          <p:cNvSpPr txBox="1">
            <a:spLocks noChangeArrowheads="1"/>
          </p:cNvSpPr>
          <p:nvPr/>
        </p:nvSpPr>
        <p:spPr bwMode="auto">
          <a:xfrm>
            <a:off x="6400800" y="41544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52245" name="Picture 12">
            <a:extLst>
              <a:ext uri="{FF2B5EF4-FFF2-40B4-BE49-F238E27FC236}">
                <a16:creationId xmlns:a16="http://schemas.microsoft.com/office/drawing/2014/main" id="{AB96D89E-AEEB-62D3-4937-06163EFBA5BA}"/>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925" y="478631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46" name="Picture 12">
            <a:extLst>
              <a:ext uri="{FF2B5EF4-FFF2-40B4-BE49-F238E27FC236}">
                <a16:creationId xmlns:a16="http://schemas.microsoft.com/office/drawing/2014/main" id="{6CD4A02A-A5D0-2A15-E97F-69E8547BBE9C}"/>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050" y="5186363"/>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47" name="TextBox 18">
            <a:extLst>
              <a:ext uri="{FF2B5EF4-FFF2-40B4-BE49-F238E27FC236}">
                <a16:creationId xmlns:a16="http://schemas.microsoft.com/office/drawing/2014/main" id="{A733A3BE-EEA5-C90F-25CA-7D701ADA0808}"/>
              </a:ext>
            </a:extLst>
          </p:cNvPr>
          <p:cNvSpPr txBox="1">
            <a:spLocks noChangeArrowheads="1"/>
          </p:cNvSpPr>
          <p:nvPr/>
        </p:nvSpPr>
        <p:spPr bwMode="auto">
          <a:xfrm>
            <a:off x="6400800" y="4510088"/>
            <a:ext cx="2332038"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2248" name="TextBox 18">
            <a:extLst>
              <a:ext uri="{FF2B5EF4-FFF2-40B4-BE49-F238E27FC236}">
                <a16:creationId xmlns:a16="http://schemas.microsoft.com/office/drawing/2014/main" id="{A258EB63-4B38-4A50-9031-5E08351AAA40}"/>
              </a:ext>
            </a:extLst>
          </p:cNvPr>
          <p:cNvSpPr txBox="1">
            <a:spLocks noChangeArrowheads="1"/>
          </p:cNvSpPr>
          <p:nvPr/>
        </p:nvSpPr>
        <p:spPr bwMode="auto">
          <a:xfrm>
            <a:off x="6400800" y="4918075"/>
            <a:ext cx="23320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52249" name="Picture 12">
            <a:extLst>
              <a:ext uri="{FF2B5EF4-FFF2-40B4-BE49-F238E27FC236}">
                <a16:creationId xmlns:a16="http://schemas.microsoft.com/office/drawing/2014/main" id="{145452B6-7796-D42B-CEA7-A8D46AF366F6}"/>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050" y="596900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50" name="Picture 12">
            <a:extLst>
              <a:ext uri="{FF2B5EF4-FFF2-40B4-BE49-F238E27FC236}">
                <a16:creationId xmlns:a16="http://schemas.microsoft.com/office/drawing/2014/main" id="{8E9656E9-AB76-21ED-FEF8-9925C53C7B09}"/>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050" y="558800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51" name="TextBox 18">
            <a:extLst>
              <a:ext uri="{FF2B5EF4-FFF2-40B4-BE49-F238E27FC236}">
                <a16:creationId xmlns:a16="http://schemas.microsoft.com/office/drawing/2014/main" id="{C4CF5B4A-3997-F558-D650-5B75839EEEB2}"/>
              </a:ext>
            </a:extLst>
          </p:cNvPr>
          <p:cNvSpPr txBox="1">
            <a:spLocks noChangeArrowheads="1"/>
          </p:cNvSpPr>
          <p:nvPr/>
        </p:nvSpPr>
        <p:spPr bwMode="auto">
          <a:xfrm>
            <a:off x="6400800" y="5334000"/>
            <a:ext cx="23320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
        <p:nvSpPr>
          <p:cNvPr id="52252" name="TextBox 18">
            <a:extLst>
              <a:ext uri="{FF2B5EF4-FFF2-40B4-BE49-F238E27FC236}">
                <a16:creationId xmlns:a16="http://schemas.microsoft.com/office/drawing/2014/main" id="{E904911C-C37B-647F-DF90-3E384B9078B6}"/>
              </a:ext>
            </a:extLst>
          </p:cNvPr>
          <p:cNvSpPr txBox="1">
            <a:spLocks noChangeArrowheads="1"/>
          </p:cNvSpPr>
          <p:nvPr/>
        </p:nvSpPr>
        <p:spPr bwMode="auto">
          <a:xfrm>
            <a:off x="6400800" y="5715000"/>
            <a:ext cx="23320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pic>
        <p:nvPicPr>
          <p:cNvPr id="52253" name="Picture 12">
            <a:extLst>
              <a:ext uri="{FF2B5EF4-FFF2-40B4-BE49-F238E27FC236}">
                <a16:creationId xmlns:a16="http://schemas.microsoft.com/office/drawing/2014/main" id="{03F84B47-7118-EC5C-3879-9694A9047525}"/>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9050" y="6350000"/>
            <a:ext cx="1554163" cy="1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54" name="TextBox 18">
            <a:extLst>
              <a:ext uri="{FF2B5EF4-FFF2-40B4-BE49-F238E27FC236}">
                <a16:creationId xmlns:a16="http://schemas.microsoft.com/office/drawing/2014/main" id="{F631F6BB-577C-8F9B-2824-7EFBEE963BA6}"/>
              </a:ext>
            </a:extLst>
          </p:cNvPr>
          <p:cNvSpPr txBox="1">
            <a:spLocks noChangeArrowheads="1"/>
          </p:cNvSpPr>
          <p:nvPr/>
        </p:nvSpPr>
        <p:spPr bwMode="auto">
          <a:xfrm>
            <a:off x="6400800" y="6096000"/>
            <a:ext cx="2332038"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nchor="b">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200">
                <a:solidFill>
                  <a:srgbClr val="00274D"/>
                </a:solidFill>
                <a:ea typeface="Corbel" panose="020B0503020204020204" pitchFamily="34" charset="0"/>
                <a:cs typeface="Corbel" panose="020B0503020204020204" pitchFamily="34" charset="0"/>
              </a:rPr>
              <a:t>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4">
            <a:extLst>
              <a:ext uri="{FF2B5EF4-FFF2-40B4-BE49-F238E27FC236}">
                <a16:creationId xmlns:a16="http://schemas.microsoft.com/office/drawing/2014/main" id="{26693BEC-C621-15AB-C746-D52E7C6BCE5E}"/>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96144F35-9759-49B8-ABC4-10BDAE193C8D}"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29</a:t>
            </a:fld>
            <a:endParaRPr lang="en-US" altLang="en-US" sz="1100">
              <a:solidFill>
                <a:schemeClr val="bg1"/>
              </a:solidFill>
              <a:ea typeface="Corbel" panose="020B0503020204020204" pitchFamily="34" charset="0"/>
              <a:cs typeface="Corbel" panose="020B0503020204020204" pitchFamily="34" charset="0"/>
            </a:endParaRPr>
          </a:p>
        </p:txBody>
      </p:sp>
      <p:sp>
        <p:nvSpPr>
          <p:cNvPr id="53251" name="Text Box 5">
            <a:extLst>
              <a:ext uri="{FF2B5EF4-FFF2-40B4-BE49-F238E27FC236}">
                <a16:creationId xmlns:a16="http://schemas.microsoft.com/office/drawing/2014/main" id="{2797CA9D-BA06-839D-7B1F-E3D45B619DA6}"/>
              </a:ext>
            </a:extLst>
          </p:cNvPr>
          <p:cNvSpPr txBox="1">
            <a:spLocks noChangeArrowheads="1"/>
          </p:cNvSpPr>
          <p:nvPr/>
        </p:nvSpPr>
        <p:spPr bwMode="auto">
          <a:xfrm>
            <a:off x="496888" y="1071563"/>
            <a:ext cx="1978025"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a:solidFill>
                  <a:srgbClr val="000000"/>
                </a:solidFill>
                <a:latin typeface="Arial" panose="020B0604020202020204" pitchFamily="34" charset="0"/>
                <a:cs typeface="Arial" panose="020B0604020202020204" pitchFamily="34" charset="0"/>
              </a:rPr>
              <a:t>For the benefit of the client,</a:t>
            </a:r>
          </a:p>
        </p:txBody>
      </p:sp>
      <p:sp>
        <p:nvSpPr>
          <p:cNvPr id="53252" name="Text Box 22">
            <a:extLst>
              <a:ext uri="{FF2B5EF4-FFF2-40B4-BE49-F238E27FC236}">
                <a16:creationId xmlns:a16="http://schemas.microsoft.com/office/drawing/2014/main" id="{80A25316-1E99-3455-4821-AF3857FDD2A0}"/>
              </a:ext>
            </a:extLst>
          </p:cNvPr>
          <p:cNvSpPr txBox="1">
            <a:spLocks noChangeArrowheads="1"/>
          </p:cNvSpPr>
          <p:nvPr/>
        </p:nvSpPr>
        <p:spPr bwMode="auto">
          <a:xfrm>
            <a:off x="5351463" y="1060450"/>
            <a:ext cx="3335337"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eaLnBrk="1" hangingPunct="1">
              <a:lnSpc>
                <a:spcPct val="95000"/>
              </a:lnSpc>
              <a:spcBef>
                <a:spcPct val="0"/>
              </a:spcBef>
            </a:pPr>
            <a:r>
              <a:rPr lang="en-US" altLang="en-US" sz="1200">
                <a:latin typeface="Arial" panose="020B0604020202020204" pitchFamily="34" charset="0"/>
                <a:cs typeface="Arial" panose="020B0604020202020204" pitchFamily="34" charset="0"/>
              </a:rPr>
              <a:t>agrees to develop a marketing strategy to help</a:t>
            </a:r>
            <a:r>
              <a:rPr lang="en-US" altLang="en-US" sz="1200">
                <a:solidFill>
                  <a:srgbClr val="000000"/>
                </a:solidFill>
                <a:latin typeface="Arial" panose="020B0604020202020204" pitchFamily="34" charset="0"/>
                <a:cs typeface="Arial" panose="020B0604020202020204" pitchFamily="34" charset="0"/>
              </a:rPr>
              <a:t>:</a:t>
            </a:r>
          </a:p>
        </p:txBody>
      </p:sp>
      <p:sp>
        <p:nvSpPr>
          <p:cNvPr id="53253" name="TextBox 24">
            <a:extLst>
              <a:ext uri="{FF2B5EF4-FFF2-40B4-BE49-F238E27FC236}">
                <a16:creationId xmlns:a16="http://schemas.microsoft.com/office/drawing/2014/main" id="{F9534E2B-BDFD-B18B-F733-B0642E39DDCF}"/>
              </a:ext>
            </a:extLst>
          </p:cNvPr>
          <p:cNvSpPr txBox="1">
            <a:spLocks noChangeArrowheads="1"/>
          </p:cNvSpPr>
          <p:nvPr/>
        </p:nvSpPr>
        <p:spPr bwMode="auto">
          <a:xfrm>
            <a:off x="2435225" y="1014413"/>
            <a:ext cx="2916238"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eaLnBrk="1" hangingPunct="1">
              <a:spcBef>
                <a:spcPct val="0"/>
              </a:spcBef>
            </a:pPr>
            <a:endParaRPr lang="en-US" altLang="en-US" sz="1200" b="1" u="sng">
              <a:latin typeface="Arial" panose="020B0604020202020204" pitchFamily="34" charset="0"/>
              <a:cs typeface="Arial" panose="020B0604020202020204" pitchFamily="34" charset="0"/>
            </a:endParaRPr>
          </a:p>
        </p:txBody>
      </p:sp>
      <p:sp>
        <p:nvSpPr>
          <p:cNvPr id="53254" name="Rectangle 1">
            <a:extLst>
              <a:ext uri="{FF2B5EF4-FFF2-40B4-BE49-F238E27FC236}">
                <a16:creationId xmlns:a16="http://schemas.microsoft.com/office/drawing/2014/main" id="{D6322368-EA51-A15C-3278-13A1168E416E}"/>
              </a:ext>
            </a:extLst>
          </p:cNvPr>
          <p:cNvSpPr txBox="1">
            <a:spLocks noChangeArrowheads="1"/>
          </p:cNvSpPr>
          <p:nvPr/>
        </p:nvSpPr>
        <p:spPr bwMode="auto">
          <a:xfrm>
            <a:off x="0" y="3048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12294A"/>
                </a:solidFill>
                <a:ea typeface="Corbel" panose="020B0503020204020204" pitchFamily="34" charset="0"/>
                <a:cs typeface="Corbel" panose="020B0503020204020204" pitchFamily="34" charset="0"/>
              </a:rPr>
              <a:t>Plan A  </a:t>
            </a:r>
          </a:p>
        </p:txBody>
      </p:sp>
      <p:sp>
        <p:nvSpPr>
          <p:cNvPr id="53255" name="Text Box 23">
            <a:extLst>
              <a:ext uri="{FF2B5EF4-FFF2-40B4-BE49-F238E27FC236}">
                <a16:creationId xmlns:a16="http://schemas.microsoft.com/office/drawing/2014/main" id="{DB56A4D0-3B4D-7473-3ACA-17FC4A253A62}"/>
              </a:ext>
            </a:extLst>
          </p:cNvPr>
          <p:cNvSpPr txBox="1">
            <a:spLocks noChangeArrowheads="1"/>
          </p:cNvSpPr>
          <p:nvPr/>
        </p:nvSpPr>
        <p:spPr bwMode="auto">
          <a:xfrm>
            <a:off x="2479675" y="1320800"/>
            <a:ext cx="3778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a:solidFill>
                  <a:srgbClr val="FF6600"/>
                </a:solidFill>
                <a:latin typeface="Arial" panose="020B0604020202020204" pitchFamily="34" charset="0"/>
                <a:cs typeface="Arial" panose="020B0604020202020204" pitchFamily="34" charset="0"/>
              </a:rPr>
              <a:t>1. </a:t>
            </a:r>
          </a:p>
        </p:txBody>
      </p:sp>
      <p:sp>
        <p:nvSpPr>
          <p:cNvPr id="53256" name="Text Box 24">
            <a:extLst>
              <a:ext uri="{FF2B5EF4-FFF2-40B4-BE49-F238E27FC236}">
                <a16:creationId xmlns:a16="http://schemas.microsoft.com/office/drawing/2014/main" id="{4C883745-F0EA-D810-65F1-EC9BB3F8FD96}"/>
              </a:ext>
            </a:extLst>
          </p:cNvPr>
          <p:cNvSpPr txBox="1">
            <a:spLocks noChangeArrowheads="1"/>
          </p:cNvSpPr>
          <p:nvPr/>
        </p:nvSpPr>
        <p:spPr bwMode="auto">
          <a:xfrm>
            <a:off x="2479675" y="1612900"/>
            <a:ext cx="309563"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a:solidFill>
                  <a:srgbClr val="FF6600"/>
                </a:solidFill>
                <a:latin typeface="Arial" panose="020B0604020202020204" pitchFamily="34" charset="0"/>
                <a:cs typeface="Arial" panose="020B0604020202020204" pitchFamily="34" charset="0"/>
              </a:rPr>
              <a:t>2. </a:t>
            </a:r>
          </a:p>
        </p:txBody>
      </p:sp>
      <p:sp>
        <p:nvSpPr>
          <p:cNvPr id="53257" name="Text Box 25">
            <a:extLst>
              <a:ext uri="{FF2B5EF4-FFF2-40B4-BE49-F238E27FC236}">
                <a16:creationId xmlns:a16="http://schemas.microsoft.com/office/drawing/2014/main" id="{18B420D3-8640-2018-E202-3AABB6F74F95}"/>
              </a:ext>
            </a:extLst>
          </p:cNvPr>
          <p:cNvSpPr txBox="1">
            <a:spLocks noChangeArrowheads="1"/>
          </p:cNvSpPr>
          <p:nvPr/>
        </p:nvSpPr>
        <p:spPr bwMode="auto">
          <a:xfrm>
            <a:off x="2479675" y="1916113"/>
            <a:ext cx="309563"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a:solidFill>
                  <a:srgbClr val="FF6600"/>
                </a:solidFill>
                <a:latin typeface="Arial" panose="020B0604020202020204" pitchFamily="34" charset="0"/>
                <a:cs typeface="Arial" panose="020B0604020202020204" pitchFamily="34" charset="0"/>
              </a:rPr>
              <a:t>3. </a:t>
            </a:r>
          </a:p>
        </p:txBody>
      </p:sp>
      <p:sp>
        <p:nvSpPr>
          <p:cNvPr id="53258" name="TextBox 27">
            <a:extLst>
              <a:ext uri="{FF2B5EF4-FFF2-40B4-BE49-F238E27FC236}">
                <a16:creationId xmlns:a16="http://schemas.microsoft.com/office/drawing/2014/main" id="{725B1CBE-7229-65AA-6F7B-9E97ACE3540D}"/>
              </a:ext>
            </a:extLst>
          </p:cNvPr>
          <p:cNvSpPr txBox="1">
            <a:spLocks noChangeArrowheads="1"/>
          </p:cNvSpPr>
          <p:nvPr/>
        </p:nvSpPr>
        <p:spPr bwMode="auto">
          <a:xfrm>
            <a:off x="2789238" y="1268413"/>
            <a:ext cx="569118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200">
                <a:latin typeface="Arial" panose="020B0604020202020204" pitchFamily="34" charset="0"/>
                <a:cs typeface="Arial" panose="020B0604020202020204" pitchFamily="34" charset="0"/>
              </a:rPr>
              <a:t>_Objective #1  Marketing Warfare</a:t>
            </a:r>
          </a:p>
        </p:txBody>
      </p:sp>
      <p:sp>
        <p:nvSpPr>
          <p:cNvPr id="53259" name="TextBox 28">
            <a:extLst>
              <a:ext uri="{FF2B5EF4-FFF2-40B4-BE49-F238E27FC236}">
                <a16:creationId xmlns:a16="http://schemas.microsoft.com/office/drawing/2014/main" id="{DAE7D1C5-44B1-1346-3FE1-CF878A052DF5}"/>
              </a:ext>
            </a:extLst>
          </p:cNvPr>
          <p:cNvSpPr txBox="1">
            <a:spLocks noChangeArrowheads="1"/>
          </p:cNvSpPr>
          <p:nvPr/>
        </p:nvSpPr>
        <p:spPr bwMode="auto">
          <a:xfrm>
            <a:off x="2789238" y="1558925"/>
            <a:ext cx="5691187"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200">
                <a:latin typeface="Arial" panose="020B0604020202020204" pitchFamily="34" charset="0"/>
                <a:cs typeface="Arial" panose="020B0604020202020204" pitchFamily="34" charset="0"/>
              </a:rPr>
              <a:t>_Objective #2  Marketing Warfare</a:t>
            </a:r>
          </a:p>
        </p:txBody>
      </p:sp>
      <p:sp>
        <p:nvSpPr>
          <p:cNvPr id="53260" name="TextBox 29">
            <a:extLst>
              <a:ext uri="{FF2B5EF4-FFF2-40B4-BE49-F238E27FC236}">
                <a16:creationId xmlns:a16="http://schemas.microsoft.com/office/drawing/2014/main" id="{8B197546-0DEA-3FD8-6475-EB280DC639BE}"/>
              </a:ext>
            </a:extLst>
          </p:cNvPr>
          <p:cNvSpPr txBox="1">
            <a:spLocks noChangeArrowheads="1"/>
          </p:cNvSpPr>
          <p:nvPr/>
        </p:nvSpPr>
        <p:spPr bwMode="auto">
          <a:xfrm>
            <a:off x="2789238" y="1855788"/>
            <a:ext cx="56911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200">
                <a:latin typeface="Arial" panose="020B0604020202020204" pitchFamily="34" charset="0"/>
                <a:cs typeface="Arial" panose="020B0604020202020204" pitchFamily="34" charset="0"/>
              </a:rPr>
              <a:t>_Objective #3  Marketing Warfare</a:t>
            </a:r>
          </a:p>
        </p:txBody>
      </p:sp>
      <p:sp>
        <p:nvSpPr>
          <p:cNvPr id="53261" name="Text Box 6">
            <a:extLst>
              <a:ext uri="{FF2B5EF4-FFF2-40B4-BE49-F238E27FC236}">
                <a16:creationId xmlns:a16="http://schemas.microsoft.com/office/drawing/2014/main" id="{1413F3D2-1D9F-49A1-C979-5EDD8FE7B18A}"/>
              </a:ext>
            </a:extLst>
          </p:cNvPr>
          <p:cNvSpPr txBox="1">
            <a:spLocks noChangeArrowheads="1"/>
          </p:cNvSpPr>
          <p:nvPr/>
        </p:nvSpPr>
        <p:spPr bwMode="auto">
          <a:xfrm>
            <a:off x="498475" y="2238375"/>
            <a:ext cx="2386013"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a:solidFill>
                  <a:srgbClr val="000000"/>
                </a:solidFill>
                <a:latin typeface="Arial" panose="020B0604020202020204" pitchFamily="34" charset="0"/>
                <a:cs typeface="Arial" panose="020B0604020202020204" pitchFamily="34" charset="0"/>
              </a:rPr>
              <a:t>In return for fulfilling stated goals, </a:t>
            </a:r>
          </a:p>
        </p:txBody>
      </p:sp>
      <p:sp>
        <p:nvSpPr>
          <p:cNvPr id="53262" name="Text Box 7">
            <a:extLst>
              <a:ext uri="{FF2B5EF4-FFF2-40B4-BE49-F238E27FC236}">
                <a16:creationId xmlns:a16="http://schemas.microsoft.com/office/drawing/2014/main" id="{2AEE381C-01F4-CC6D-FDD8-C7930CF6D696}"/>
              </a:ext>
            </a:extLst>
          </p:cNvPr>
          <p:cNvSpPr txBox="1">
            <a:spLocks noChangeArrowheads="1"/>
          </p:cNvSpPr>
          <p:nvPr/>
        </p:nvSpPr>
        <p:spPr bwMode="auto">
          <a:xfrm>
            <a:off x="381000" y="3956050"/>
            <a:ext cx="838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a:spcBef>
                <a:spcPct val="0"/>
              </a:spcBef>
            </a:pPr>
            <a:r>
              <a:rPr lang="en-US" altLang="en-US" sz="800" b="1">
                <a:latin typeface="Arial" panose="020B0604020202020204" pitchFamily="34" charset="0"/>
                <a:cs typeface="Arial" panose="020B0604020202020204" pitchFamily="34" charset="0"/>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p>
        </p:txBody>
      </p:sp>
      <p:sp>
        <p:nvSpPr>
          <p:cNvPr id="53263" name="Text Box 8">
            <a:extLst>
              <a:ext uri="{FF2B5EF4-FFF2-40B4-BE49-F238E27FC236}">
                <a16:creationId xmlns:a16="http://schemas.microsoft.com/office/drawing/2014/main" id="{DB20FD9A-B340-BCA9-728A-DA46D2B9D4D7}"/>
              </a:ext>
            </a:extLst>
          </p:cNvPr>
          <p:cNvSpPr txBox="1">
            <a:spLocks noChangeArrowheads="1"/>
          </p:cNvSpPr>
          <p:nvPr/>
        </p:nvSpPr>
        <p:spPr bwMode="auto">
          <a:xfrm>
            <a:off x="498475" y="4610100"/>
            <a:ext cx="7708900"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u="sng">
                <a:solidFill>
                  <a:srgbClr val="000000"/>
                </a:solidFill>
                <a:latin typeface="Arial" panose="020B0604020202020204" pitchFamily="34" charset="0"/>
                <a:cs typeface="Arial" panose="020B0604020202020204" pitchFamily="34" charset="0"/>
              </a:rPr>
              <a:t>Analysis of Schedule:</a:t>
            </a:r>
          </a:p>
        </p:txBody>
      </p:sp>
      <p:sp>
        <p:nvSpPr>
          <p:cNvPr id="53264" name="Text Box 9">
            <a:extLst>
              <a:ext uri="{FF2B5EF4-FFF2-40B4-BE49-F238E27FC236}">
                <a16:creationId xmlns:a16="http://schemas.microsoft.com/office/drawing/2014/main" id="{F1AABA36-B71F-E2F1-FCFF-2694E8775898}"/>
              </a:ext>
            </a:extLst>
          </p:cNvPr>
          <p:cNvSpPr txBox="1">
            <a:spLocks noChangeArrowheads="1"/>
          </p:cNvSpPr>
          <p:nvPr/>
        </p:nvSpPr>
        <p:spPr bwMode="auto">
          <a:xfrm>
            <a:off x="527050" y="4876800"/>
            <a:ext cx="3273425"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a:solidFill>
                  <a:srgbClr val="000000"/>
                </a:solidFill>
                <a:latin typeface="Arial" panose="020B0604020202020204" pitchFamily="34" charset="0"/>
                <a:cs typeface="Arial" panose="020B0604020202020204" pitchFamily="34" charset="0"/>
              </a:rPr>
              <a:t>AVERAGE MONTHLY CLIENT INVESTMENT</a:t>
            </a:r>
          </a:p>
        </p:txBody>
      </p:sp>
      <p:sp>
        <p:nvSpPr>
          <p:cNvPr id="53265" name="Text Box 10">
            <a:extLst>
              <a:ext uri="{FF2B5EF4-FFF2-40B4-BE49-F238E27FC236}">
                <a16:creationId xmlns:a16="http://schemas.microsoft.com/office/drawing/2014/main" id="{BA652363-ED0D-869F-E7E5-DBE04114B604}"/>
              </a:ext>
            </a:extLst>
          </p:cNvPr>
          <p:cNvSpPr txBox="1">
            <a:spLocks noChangeArrowheads="1"/>
          </p:cNvSpPr>
          <p:nvPr/>
        </p:nvSpPr>
        <p:spPr bwMode="auto">
          <a:xfrm>
            <a:off x="527050" y="5149850"/>
            <a:ext cx="30194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a:solidFill>
                  <a:srgbClr val="000000"/>
                </a:solidFill>
                <a:latin typeface="Arial" panose="020B0604020202020204" pitchFamily="34" charset="0"/>
                <a:cs typeface="Arial" panose="020B0604020202020204" pitchFamily="34" charset="0"/>
              </a:rPr>
              <a:t>AVERAGE DAILY CLIENT INVESTMENT </a:t>
            </a:r>
          </a:p>
        </p:txBody>
      </p:sp>
      <p:sp>
        <p:nvSpPr>
          <p:cNvPr id="53266" name="Text Box 17">
            <a:extLst>
              <a:ext uri="{FF2B5EF4-FFF2-40B4-BE49-F238E27FC236}">
                <a16:creationId xmlns:a16="http://schemas.microsoft.com/office/drawing/2014/main" id="{8EA6209E-E117-EB01-4AB6-CA790B9453E4}"/>
              </a:ext>
            </a:extLst>
          </p:cNvPr>
          <p:cNvSpPr txBox="1">
            <a:spLocks noChangeArrowheads="1"/>
          </p:cNvSpPr>
          <p:nvPr/>
        </p:nvSpPr>
        <p:spPr bwMode="auto">
          <a:xfrm>
            <a:off x="4308475" y="5540375"/>
            <a:ext cx="2820988"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a:solidFill>
                  <a:srgbClr val="000000"/>
                </a:solidFill>
                <a:latin typeface="Arial" panose="020B0604020202020204" pitchFamily="34" charset="0"/>
                <a:cs typeface="Arial" panose="020B0604020202020204" pitchFamily="34" charset="0"/>
              </a:rPr>
              <a:t>Thank you for your trust and confidence.</a:t>
            </a:r>
          </a:p>
        </p:txBody>
      </p:sp>
      <p:sp>
        <p:nvSpPr>
          <p:cNvPr id="53267" name="Text Box 19">
            <a:extLst>
              <a:ext uri="{FF2B5EF4-FFF2-40B4-BE49-F238E27FC236}">
                <a16:creationId xmlns:a16="http://schemas.microsoft.com/office/drawing/2014/main" id="{612F6BC0-912D-9B27-C6ED-57EF7EB768BB}"/>
              </a:ext>
            </a:extLst>
          </p:cNvPr>
          <p:cNvSpPr txBox="1">
            <a:spLocks noChangeArrowheads="1"/>
          </p:cNvSpPr>
          <p:nvPr/>
        </p:nvSpPr>
        <p:spPr bwMode="auto">
          <a:xfrm>
            <a:off x="3941763" y="2598738"/>
            <a:ext cx="1265237"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i="1">
                <a:solidFill>
                  <a:srgbClr val="000000"/>
                </a:solidFill>
                <a:latin typeface="Arial" panose="020B0604020202020204" pitchFamily="34" charset="0"/>
                <a:cs typeface="Arial" panose="020B0604020202020204" pitchFamily="34" charset="0"/>
              </a:rPr>
              <a:t>FLIGHT DATES:</a:t>
            </a:r>
          </a:p>
        </p:txBody>
      </p:sp>
      <p:sp>
        <p:nvSpPr>
          <p:cNvPr id="53268" name="Text Box 20">
            <a:extLst>
              <a:ext uri="{FF2B5EF4-FFF2-40B4-BE49-F238E27FC236}">
                <a16:creationId xmlns:a16="http://schemas.microsoft.com/office/drawing/2014/main" id="{25943923-D164-25EB-6637-841F78C20741}"/>
              </a:ext>
            </a:extLst>
          </p:cNvPr>
          <p:cNvSpPr txBox="1">
            <a:spLocks noChangeArrowheads="1"/>
          </p:cNvSpPr>
          <p:nvPr/>
        </p:nvSpPr>
        <p:spPr bwMode="auto">
          <a:xfrm>
            <a:off x="4419600" y="2238375"/>
            <a:ext cx="3349625"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a:solidFill>
                  <a:srgbClr val="000000"/>
                </a:solidFill>
                <a:latin typeface="Arial" panose="020B0604020202020204" pitchFamily="34" charset="0"/>
                <a:cs typeface="Arial" panose="020B0604020202020204" pitchFamily="34" charset="0"/>
              </a:rPr>
              <a:t>agrees to invest in the following long-term plan:</a:t>
            </a:r>
          </a:p>
        </p:txBody>
      </p:sp>
      <p:sp>
        <p:nvSpPr>
          <p:cNvPr id="53269" name="TextBox 26">
            <a:extLst>
              <a:ext uri="{FF2B5EF4-FFF2-40B4-BE49-F238E27FC236}">
                <a16:creationId xmlns:a16="http://schemas.microsoft.com/office/drawing/2014/main" id="{E61431D5-284D-013C-2D16-54C2CABC8EBF}"/>
              </a:ext>
            </a:extLst>
          </p:cNvPr>
          <p:cNvSpPr txBox="1">
            <a:spLocks noChangeArrowheads="1"/>
          </p:cNvSpPr>
          <p:nvPr/>
        </p:nvSpPr>
        <p:spPr bwMode="auto">
          <a:xfrm>
            <a:off x="2697163" y="2198688"/>
            <a:ext cx="183832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endParaRPr lang="en-US" altLang="en-US" sz="1200">
              <a:latin typeface="Arial" panose="020B0604020202020204" pitchFamily="34" charset="0"/>
              <a:cs typeface="Arial" panose="020B0604020202020204" pitchFamily="34" charset="0"/>
            </a:endParaRPr>
          </a:p>
        </p:txBody>
      </p:sp>
      <p:sp>
        <p:nvSpPr>
          <p:cNvPr id="53270" name="TextBox 30">
            <a:extLst>
              <a:ext uri="{FF2B5EF4-FFF2-40B4-BE49-F238E27FC236}">
                <a16:creationId xmlns:a16="http://schemas.microsoft.com/office/drawing/2014/main" id="{7FAD34CA-44B2-C0F4-45A1-71AF967FCFD2}"/>
              </a:ext>
            </a:extLst>
          </p:cNvPr>
          <p:cNvSpPr txBox="1">
            <a:spLocks noChangeArrowheads="1"/>
          </p:cNvSpPr>
          <p:nvPr/>
        </p:nvSpPr>
        <p:spPr bwMode="auto">
          <a:xfrm>
            <a:off x="3817938" y="4806950"/>
            <a:ext cx="3365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200">
                <a:latin typeface="Arial" panose="020B0604020202020204" pitchFamily="34" charset="0"/>
                <a:cs typeface="Arial" panose="020B0604020202020204" pitchFamily="34" charset="0"/>
              </a:rPr>
              <a:t>$0</a:t>
            </a:r>
          </a:p>
        </p:txBody>
      </p:sp>
      <p:sp>
        <p:nvSpPr>
          <p:cNvPr id="53271" name="TextBox 31">
            <a:extLst>
              <a:ext uri="{FF2B5EF4-FFF2-40B4-BE49-F238E27FC236}">
                <a16:creationId xmlns:a16="http://schemas.microsoft.com/office/drawing/2014/main" id="{ACADDF3B-C0F4-830A-59B7-BA9F1B58605D}"/>
              </a:ext>
            </a:extLst>
          </p:cNvPr>
          <p:cNvSpPr txBox="1">
            <a:spLocks noChangeArrowheads="1"/>
          </p:cNvSpPr>
          <p:nvPr/>
        </p:nvSpPr>
        <p:spPr bwMode="auto">
          <a:xfrm>
            <a:off x="3817938" y="5092700"/>
            <a:ext cx="3365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200">
                <a:latin typeface="Arial" panose="020B0604020202020204" pitchFamily="34" charset="0"/>
                <a:cs typeface="Arial" panose="020B0604020202020204" pitchFamily="34" charset="0"/>
              </a:rPr>
              <a:t>$0</a:t>
            </a:r>
          </a:p>
        </p:txBody>
      </p:sp>
      <p:graphicFrame>
        <p:nvGraphicFramePr>
          <p:cNvPr id="53272" name="Object 1">
            <a:extLst>
              <a:ext uri="{FF2B5EF4-FFF2-40B4-BE49-F238E27FC236}">
                <a16:creationId xmlns:a16="http://schemas.microsoft.com/office/drawing/2014/main" id="{EA4FE09B-DC9F-0B0C-5072-B6488408E7AF}"/>
              </a:ext>
            </a:extLst>
          </p:cNvPr>
          <p:cNvGraphicFramePr>
            <a:graphicFrameLocks/>
          </p:cNvGraphicFramePr>
          <p:nvPr/>
        </p:nvGraphicFramePr>
        <p:xfrm>
          <a:off x="173038" y="2808288"/>
          <a:ext cx="8753475" cy="993775"/>
        </p:xfrm>
        <a:graphic>
          <a:graphicData uri="http://schemas.openxmlformats.org/presentationml/2006/ole">
            <mc:AlternateContent xmlns:mc="http://schemas.openxmlformats.org/markup-compatibility/2006">
              <mc:Choice xmlns:v="urn:schemas-microsoft-com:vml" Requires="v">
                <p:oleObj name="Worksheet" r:id="rId2" imgW="8655076" imgH="895281" progId="Excel.Sheet.8">
                  <p:embed/>
                </p:oleObj>
              </mc:Choice>
              <mc:Fallback>
                <p:oleObj name="Worksheet" r:id="rId2" imgW="8655076" imgH="895281" progId="Excel.Sheet.8">
                  <p:embed/>
                  <p:pic>
                    <p:nvPicPr>
                      <p:cNvPr id="0" name="Object 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038" y="2808288"/>
                        <a:ext cx="8753475" cy="993775"/>
                      </a:xfrm>
                      <a:prstGeom prst="rect">
                        <a:avLst/>
                      </a:prstGeom>
                      <a:noFill/>
                      <a:ln>
                        <a:noFill/>
                      </a:ln>
                    </p:spPr>
                  </p:pic>
                </p:oleObj>
              </mc:Fallback>
            </mc:AlternateContent>
          </a:graphicData>
        </a:graphic>
      </p:graphicFrame>
      <p:pic>
        <p:nvPicPr>
          <p:cNvPr id="53273" name="Picture 11">
            <a:extLst>
              <a:ext uri="{FF2B5EF4-FFF2-40B4-BE49-F238E27FC236}">
                <a16:creationId xmlns:a16="http://schemas.microsoft.com/office/drawing/2014/main" id="{3BAAA8A9-9042-A647-BD3B-F70F16D720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1013" y="6103938"/>
            <a:ext cx="2973387" cy="2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74" name="Picture 12">
            <a:extLst>
              <a:ext uri="{FF2B5EF4-FFF2-40B4-BE49-F238E27FC236}">
                <a16:creationId xmlns:a16="http://schemas.microsoft.com/office/drawing/2014/main" id="{A6D9580A-762B-DF8A-F742-62FB86F8E2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6103938"/>
            <a:ext cx="2973388" cy="2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75" name="Text Box 13">
            <a:extLst>
              <a:ext uri="{FF2B5EF4-FFF2-40B4-BE49-F238E27FC236}">
                <a16:creationId xmlns:a16="http://schemas.microsoft.com/office/drawing/2014/main" id="{03C6C211-3151-C73B-F470-C1432AB5F20F}"/>
              </a:ext>
            </a:extLst>
          </p:cNvPr>
          <p:cNvSpPr txBox="1">
            <a:spLocks noChangeArrowheads="1"/>
          </p:cNvSpPr>
          <p:nvPr/>
        </p:nvSpPr>
        <p:spPr bwMode="auto">
          <a:xfrm>
            <a:off x="1700213" y="6149975"/>
            <a:ext cx="8128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000">
                <a:solidFill>
                  <a:srgbClr val="000000"/>
                </a:solidFill>
                <a:latin typeface="Arial" panose="020B0604020202020204" pitchFamily="34" charset="0"/>
                <a:cs typeface="Arial" panose="020B0604020202020204" pitchFamily="34" charset="0"/>
              </a:rPr>
              <a:t>Accepted for</a:t>
            </a:r>
          </a:p>
        </p:txBody>
      </p:sp>
      <p:sp>
        <p:nvSpPr>
          <p:cNvPr id="53276" name="Text Box 14">
            <a:extLst>
              <a:ext uri="{FF2B5EF4-FFF2-40B4-BE49-F238E27FC236}">
                <a16:creationId xmlns:a16="http://schemas.microsoft.com/office/drawing/2014/main" id="{4DCB3682-8F6D-0B3E-DE9B-D0EFCC49E316}"/>
              </a:ext>
            </a:extLst>
          </p:cNvPr>
          <p:cNvSpPr txBox="1">
            <a:spLocks noChangeArrowheads="1"/>
          </p:cNvSpPr>
          <p:nvPr/>
        </p:nvSpPr>
        <p:spPr bwMode="auto">
          <a:xfrm>
            <a:off x="5297488" y="6162675"/>
            <a:ext cx="811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000">
                <a:solidFill>
                  <a:srgbClr val="000000"/>
                </a:solidFill>
                <a:latin typeface="Arial" panose="020B0604020202020204" pitchFamily="34" charset="0"/>
                <a:cs typeface="Arial" panose="020B0604020202020204" pitchFamily="34" charset="0"/>
              </a:rPr>
              <a:t>Accepted for</a:t>
            </a:r>
          </a:p>
        </p:txBody>
      </p:sp>
      <p:sp>
        <p:nvSpPr>
          <p:cNvPr id="53277" name="Text Box 15">
            <a:extLst>
              <a:ext uri="{FF2B5EF4-FFF2-40B4-BE49-F238E27FC236}">
                <a16:creationId xmlns:a16="http://schemas.microsoft.com/office/drawing/2014/main" id="{DA55DDEA-6A3F-CD0B-1905-13486B353A96}"/>
              </a:ext>
            </a:extLst>
          </p:cNvPr>
          <p:cNvSpPr txBox="1">
            <a:spLocks noChangeArrowheads="1"/>
          </p:cNvSpPr>
          <p:nvPr/>
        </p:nvSpPr>
        <p:spPr bwMode="auto">
          <a:xfrm>
            <a:off x="4537075" y="6162675"/>
            <a:ext cx="36988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000">
                <a:solidFill>
                  <a:srgbClr val="000000"/>
                </a:solidFill>
                <a:latin typeface="Arial" panose="020B0604020202020204" pitchFamily="34" charset="0"/>
                <a:cs typeface="Arial" panose="020B0604020202020204" pitchFamily="34" charset="0"/>
              </a:rPr>
              <a:t>Date</a:t>
            </a:r>
          </a:p>
        </p:txBody>
      </p:sp>
      <p:sp>
        <p:nvSpPr>
          <p:cNvPr id="53278" name="Text Box 16">
            <a:extLst>
              <a:ext uri="{FF2B5EF4-FFF2-40B4-BE49-F238E27FC236}">
                <a16:creationId xmlns:a16="http://schemas.microsoft.com/office/drawing/2014/main" id="{3A4F3781-6541-3EEE-DC0E-B76F12233481}"/>
              </a:ext>
            </a:extLst>
          </p:cNvPr>
          <p:cNvSpPr txBox="1">
            <a:spLocks noChangeArrowheads="1"/>
          </p:cNvSpPr>
          <p:nvPr/>
        </p:nvSpPr>
        <p:spPr bwMode="auto">
          <a:xfrm>
            <a:off x="8116888" y="6178550"/>
            <a:ext cx="45402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000">
                <a:solidFill>
                  <a:srgbClr val="000000"/>
                </a:solidFill>
                <a:latin typeface="Arial" panose="020B0604020202020204" pitchFamily="34" charset="0"/>
                <a:cs typeface="Arial" panose="020B0604020202020204" pitchFamily="34" charset="0"/>
              </a:rPr>
              <a:t>Date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a:extLst>
              <a:ext uri="{FF2B5EF4-FFF2-40B4-BE49-F238E27FC236}">
                <a16:creationId xmlns:a16="http://schemas.microsoft.com/office/drawing/2014/main" id="{0715E723-D3C1-D2F5-832E-8335C68EE09C}"/>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E8FFB545-ABB2-4274-953C-0601C0896C7E}"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30</a:t>
            </a:fld>
            <a:endParaRPr lang="en-US" altLang="en-US" sz="1100">
              <a:solidFill>
                <a:schemeClr val="bg1"/>
              </a:solidFill>
              <a:ea typeface="Corbel" panose="020B0503020204020204" pitchFamily="34" charset="0"/>
              <a:cs typeface="Corbel" panose="020B0503020204020204" pitchFamily="34" charset="0"/>
            </a:endParaRPr>
          </a:p>
        </p:txBody>
      </p:sp>
      <p:sp>
        <p:nvSpPr>
          <p:cNvPr id="54275" name="Text Box 5">
            <a:extLst>
              <a:ext uri="{FF2B5EF4-FFF2-40B4-BE49-F238E27FC236}">
                <a16:creationId xmlns:a16="http://schemas.microsoft.com/office/drawing/2014/main" id="{0CAEFB12-598A-195B-911B-338BEEF2CD02}"/>
              </a:ext>
            </a:extLst>
          </p:cNvPr>
          <p:cNvSpPr txBox="1">
            <a:spLocks noChangeArrowheads="1"/>
          </p:cNvSpPr>
          <p:nvPr/>
        </p:nvSpPr>
        <p:spPr bwMode="auto">
          <a:xfrm>
            <a:off x="496888" y="1071563"/>
            <a:ext cx="1978025"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a:solidFill>
                  <a:srgbClr val="000000"/>
                </a:solidFill>
                <a:latin typeface="Arial" panose="020B0604020202020204" pitchFamily="34" charset="0"/>
                <a:cs typeface="Arial" panose="020B0604020202020204" pitchFamily="34" charset="0"/>
              </a:rPr>
              <a:t>For the benefit of the client,</a:t>
            </a:r>
          </a:p>
        </p:txBody>
      </p:sp>
      <p:sp>
        <p:nvSpPr>
          <p:cNvPr id="54276" name="Text Box 22">
            <a:extLst>
              <a:ext uri="{FF2B5EF4-FFF2-40B4-BE49-F238E27FC236}">
                <a16:creationId xmlns:a16="http://schemas.microsoft.com/office/drawing/2014/main" id="{1F47B110-F986-0661-A883-1F401A312A18}"/>
              </a:ext>
            </a:extLst>
          </p:cNvPr>
          <p:cNvSpPr txBox="1">
            <a:spLocks noChangeArrowheads="1"/>
          </p:cNvSpPr>
          <p:nvPr/>
        </p:nvSpPr>
        <p:spPr bwMode="auto">
          <a:xfrm>
            <a:off x="5351463" y="1060450"/>
            <a:ext cx="3335337"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eaLnBrk="1" hangingPunct="1">
              <a:lnSpc>
                <a:spcPct val="95000"/>
              </a:lnSpc>
              <a:spcBef>
                <a:spcPct val="0"/>
              </a:spcBef>
            </a:pPr>
            <a:r>
              <a:rPr lang="en-US" altLang="en-US" sz="1200">
                <a:latin typeface="Arial" panose="020B0604020202020204" pitchFamily="34" charset="0"/>
                <a:cs typeface="Arial" panose="020B0604020202020204" pitchFamily="34" charset="0"/>
              </a:rPr>
              <a:t>agrees to develop a marketing strategy to help</a:t>
            </a:r>
            <a:r>
              <a:rPr lang="en-US" altLang="en-US" sz="1200">
                <a:solidFill>
                  <a:srgbClr val="000000"/>
                </a:solidFill>
                <a:latin typeface="Arial" panose="020B0604020202020204" pitchFamily="34" charset="0"/>
                <a:cs typeface="Arial" panose="020B0604020202020204" pitchFamily="34" charset="0"/>
              </a:rPr>
              <a:t>:</a:t>
            </a:r>
          </a:p>
        </p:txBody>
      </p:sp>
      <p:sp>
        <p:nvSpPr>
          <p:cNvPr id="54277" name="TextBox 24">
            <a:extLst>
              <a:ext uri="{FF2B5EF4-FFF2-40B4-BE49-F238E27FC236}">
                <a16:creationId xmlns:a16="http://schemas.microsoft.com/office/drawing/2014/main" id="{533A9DF0-D64D-C9DC-4A25-A17CFD2719AA}"/>
              </a:ext>
            </a:extLst>
          </p:cNvPr>
          <p:cNvSpPr txBox="1">
            <a:spLocks noChangeArrowheads="1"/>
          </p:cNvSpPr>
          <p:nvPr/>
        </p:nvSpPr>
        <p:spPr bwMode="auto">
          <a:xfrm>
            <a:off x="2435225" y="1014413"/>
            <a:ext cx="2916238"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eaLnBrk="1" hangingPunct="1">
              <a:spcBef>
                <a:spcPct val="0"/>
              </a:spcBef>
            </a:pPr>
            <a:endParaRPr lang="en-US" altLang="en-US" sz="1200" b="1" u="sng">
              <a:latin typeface="Arial" panose="020B0604020202020204" pitchFamily="34" charset="0"/>
              <a:cs typeface="Arial" panose="020B0604020202020204" pitchFamily="34" charset="0"/>
            </a:endParaRPr>
          </a:p>
        </p:txBody>
      </p:sp>
      <p:sp>
        <p:nvSpPr>
          <p:cNvPr id="54278" name="Rectangle 1">
            <a:extLst>
              <a:ext uri="{FF2B5EF4-FFF2-40B4-BE49-F238E27FC236}">
                <a16:creationId xmlns:a16="http://schemas.microsoft.com/office/drawing/2014/main" id="{2A4CD775-8EC9-841D-6013-718B1F5F4A22}"/>
              </a:ext>
            </a:extLst>
          </p:cNvPr>
          <p:cNvSpPr txBox="1">
            <a:spLocks noChangeArrowheads="1"/>
          </p:cNvSpPr>
          <p:nvPr/>
        </p:nvSpPr>
        <p:spPr bwMode="auto">
          <a:xfrm>
            <a:off x="0" y="3048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12294A"/>
                </a:solidFill>
                <a:ea typeface="Corbel" panose="020B0503020204020204" pitchFamily="34" charset="0"/>
                <a:cs typeface="Corbel" panose="020B0503020204020204" pitchFamily="34" charset="0"/>
              </a:rPr>
              <a:t>Plan B  </a:t>
            </a:r>
          </a:p>
        </p:txBody>
      </p:sp>
      <p:sp>
        <p:nvSpPr>
          <p:cNvPr id="54279" name="Text Box 23">
            <a:extLst>
              <a:ext uri="{FF2B5EF4-FFF2-40B4-BE49-F238E27FC236}">
                <a16:creationId xmlns:a16="http://schemas.microsoft.com/office/drawing/2014/main" id="{34489637-6B2D-1CDD-0E92-3327084F56A8}"/>
              </a:ext>
            </a:extLst>
          </p:cNvPr>
          <p:cNvSpPr txBox="1">
            <a:spLocks noChangeArrowheads="1"/>
          </p:cNvSpPr>
          <p:nvPr/>
        </p:nvSpPr>
        <p:spPr bwMode="auto">
          <a:xfrm>
            <a:off x="2479675" y="1320800"/>
            <a:ext cx="3778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a:solidFill>
                  <a:srgbClr val="FF6600"/>
                </a:solidFill>
                <a:latin typeface="Arial" panose="020B0604020202020204" pitchFamily="34" charset="0"/>
                <a:cs typeface="Arial" panose="020B0604020202020204" pitchFamily="34" charset="0"/>
              </a:rPr>
              <a:t>1. </a:t>
            </a:r>
          </a:p>
        </p:txBody>
      </p:sp>
      <p:sp>
        <p:nvSpPr>
          <p:cNvPr id="54280" name="Text Box 24">
            <a:extLst>
              <a:ext uri="{FF2B5EF4-FFF2-40B4-BE49-F238E27FC236}">
                <a16:creationId xmlns:a16="http://schemas.microsoft.com/office/drawing/2014/main" id="{F64C62C2-A4DD-F9E1-F7E1-B856413D595D}"/>
              </a:ext>
            </a:extLst>
          </p:cNvPr>
          <p:cNvSpPr txBox="1">
            <a:spLocks noChangeArrowheads="1"/>
          </p:cNvSpPr>
          <p:nvPr/>
        </p:nvSpPr>
        <p:spPr bwMode="auto">
          <a:xfrm>
            <a:off x="2479675" y="1612900"/>
            <a:ext cx="309563"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a:solidFill>
                  <a:srgbClr val="FF6600"/>
                </a:solidFill>
                <a:latin typeface="Arial" panose="020B0604020202020204" pitchFamily="34" charset="0"/>
                <a:cs typeface="Arial" panose="020B0604020202020204" pitchFamily="34" charset="0"/>
              </a:rPr>
              <a:t>2. </a:t>
            </a:r>
          </a:p>
        </p:txBody>
      </p:sp>
      <p:sp>
        <p:nvSpPr>
          <p:cNvPr id="54281" name="Text Box 25">
            <a:extLst>
              <a:ext uri="{FF2B5EF4-FFF2-40B4-BE49-F238E27FC236}">
                <a16:creationId xmlns:a16="http://schemas.microsoft.com/office/drawing/2014/main" id="{51759E38-D6CE-AF29-7764-89DF78CC8661}"/>
              </a:ext>
            </a:extLst>
          </p:cNvPr>
          <p:cNvSpPr txBox="1">
            <a:spLocks noChangeArrowheads="1"/>
          </p:cNvSpPr>
          <p:nvPr/>
        </p:nvSpPr>
        <p:spPr bwMode="auto">
          <a:xfrm>
            <a:off x="2479675" y="1916113"/>
            <a:ext cx="309563"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a:solidFill>
                  <a:srgbClr val="FF6600"/>
                </a:solidFill>
                <a:latin typeface="Arial" panose="020B0604020202020204" pitchFamily="34" charset="0"/>
                <a:cs typeface="Arial" panose="020B0604020202020204" pitchFamily="34" charset="0"/>
              </a:rPr>
              <a:t>3. </a:t>
            </a:r>
          </a:p>
        </p:txBody>
      </p:sp>
      <p:sp>
        <p:nvSpPr>
          <p:cNvPr id="54282" name="TextBox 27">
            <a:extLst>
              <a:ext uri="{FF2B5EF4-FFF2-40B4-BE49-F238E27FC236}">
                <a16:creationId xmlns:a16="http://schemas.microsoft.com/office/drawing/2014/main" id="{C7F6B293-7454-F547-3886-F87ABCF9F8C9}"/>
              </a:ext>
            </a:extLst>
          </p:cNvPr>
          <p:cNvSpPr txBox="1">
            <a:spLocks noChangeArrowheads="1"/>
          </p:cNvSpPr>
          <p:nvPr/>
        </p:nvSpPr>
        <p:spPr bwMode="auto">
          <a:xfrm>
            <a:off x="2789238" y="1268413"/>
            <a:ext cx="569118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200">
                <a:latin typeface="Arial" panose="020B0604020202020204" pitchFamily="34" charset="0"/>
                <a:cs typeface="Arial" panose="020B0604020202020204" pitchFamily="34" charset="0"/>
              </a:rPr>
              <a:t>_Objective #1  Marketing Warfare</a:t>
            </a:r>
          </a:p>
        </p:txBody>
      </p:sp>
      <p:sp>
        <p:nvSpPr>
          <p:cNvPr id="54283" name="TextBox 28">
            <a:extLst>
              <a:ext uri="{FF2B5EF4-FFF2-40B4-BE49-F238E27FC236}">
                <a16:creationId xmlns:a16="http://schemas.microsoft.com/office/drawing/2014/main" id="{1336D2C1-15A8-7721-2ABC-7722614BC050}"/>
              </a:ext>
            </a:extLst>
          </p:cNvPr>
          <p:cNvSpPr txBox="1">
            <a:spLocks noChangeArrowheads="1"/>
          </p:cNvSpPr>
          <p:nvPr/>
        </p:nvSpPr>
        <p:spPr bwMode="auto">
          <a:xfrm>
            <a:off x="2789238" y="1558925"/>
            <a:ext cx="5691187"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200">
                <a:latin typeface="Arial" panose="020B0604020202020204" pitchFamily="34" charset="0"/>
                <a:cs typeface="Arial" panose="020B0604020202020204" pitchFamily="34" charset="0"/>
              </a:rPr>
              <a:t>_Objective #2  Marketing Warfare</a:t>
            </a:r>
          </a:p>
        </p:txBody>
      </p:sp>
      <p:sp>
        <p:nvSpPr>
          <p:cNvPr id="54284" name="TextBox 29">
            <a:extLst>
              <a:ext uri="{FF2B5EF4-FFF2-40B4-BE49-F238E27FC236}">
                <a16:creationId xmlns:a16="http://schemas.microsoft.com/office/drawing/2014/main" id="{13656106-400A-A6FF-B9BA-2E4AD35A5D91}"/>
              </a:ext>
            </a:extLst>
          </p:cNvPr>
          <p:cNvSpPr txBox="1">
            <a:spLocks noChangeArrowheads="1"/>
          </p:cNvSpPr>
          <p:nvPr/>
        </p:nvSpPr>
        <p:spPr bwMode="auto">
          <a:xfrm>
            <a:off x="2789238" y="1855788"/>
            <a:ext cx="56911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200">
                <a:latin typeface="Arial" panose="020B0604020202020204" pitchFamily="34" charset="0"/>
                <a:cs typeface="Arial" panose="020B0604020202020204" pitchFamily="34" charset="0"/>
              </a:rPr>
              <a:t>_Objective #3  Marketing Warfare</a:t>
            </a:r>
          </a:p>
        </p:txBody>
      </p:sp>
      <p:sp>
        <p:nvSpPr>
          <p:cNvPr id="54285" name="Text Box 6">
            <a:extLst>
              <a:ext uri="{FF2B5EF4-FFF2-40B4-BE49-F238E27FC236}">
                <a16:creationId xmlns:a16="http://schemas.microsoft.com/office/drawing/2014/main" id="{560F7A2C-1BA2-89C3-C562-C437C33320FB}"/>
              </a:ext>
            </a:extLst>
          </p:cNvPr>
          <p:cNvSpPr txBox="1">
            <a:spLocks noChangeArrowheads="1"/>
          </p:cNvSpPr>
          <p:nvPr/>
        </p:nvSpPr>
        <p:spPr bwMode="auto">
          <a:xfrm>
            <a:off x="498475" y="2238375"/>
            <a:ext cx="2386013"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a:solidFill>
                  <a:srgbClr val="000000"/>
                </a:solidFill>
                <a:latin typeface="Arial" panose="020B0604020202020204" pitchFamily="34" charset="0"/>
                <a:cs typeface="Arial" panose="020B0604020202020204" pitchFamily="34" charset="0"/>
              </a:rPr>
              <a:t>In return for fulfilling stated goals, </a:t>
            </a:r>
          </a:p>
        </p:txBody>
      </p:sp>
      <p:sp>
        <p:nvSpPr>
          <p:cNvPr id="54286" name="Text Box 7">
            <a:extLst>
              <a:ext uri="{FF2B5EF4-FFF2-40B4-BE49-F238E27FC236}">
                <a16:creationId xmlns:a16="http://schemas.microsoft.com/office/drawing/2014/main" id="{3213E736-91F9-8E47-FB30-7CDD2DE81772}"/>
              </a:ext>
            </a:extLst>
          </p:cNvPr>
          <p:cNvSpPr txBox="1">
            <a:spLocks noChangeArrowheads="1"/>
          </p:cNvSpPr>
          <p:nvPr/>
        </p:nvSpPr>
        <p:spPr bwMode="auto">
          <a:xfrm>
            <a:off x="381000" y="3956050"/>
            <a:ext cx="838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ctr">
              <a:spcBef>
                <a:spcPct val="0"/>
              </a:spcBef>
            </a:pPr>
            <a:r>
              <a:rPr lang="en-US" altLang="en-US" sz="800" b="1">
                <a:latin typeface="Arial" panose="020B0604020202020204" pitchFamily="34" charset="0"/>
                <a:cs typeface="Arial" panose="020B0604020202020204" pitchFamily="34" charset="0"/>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p>
        </p:txBody>
      </p:sp>
      <p:sp>
        <p:nvSpPr>
          <p:cNvPr id="54287" name="Text Box 8">
            <a:extLst>
              <a:ext uri="{FF2B5EF4-FFF2-40B4-BE49-F238E27FC236}">
                <a16:creationId xmlns:a16="http://schemas.microsoft.com/office/drawing/2014/main" id="{F6C10EC5-BE1F-CE46-E16B-4A32CA39ABE4}"/>
              </a:ext>
            </a:extLst>
          </p:cNvPr>
          <p:cNvSpPr txBox="1">
            <a:spLocks noChangeArrowheads="1"/>
          </p:cNvSpPr>
          <p:nvPr/>
        </p:nvSpPr>
        <p:spPr bwMode="auto">
          <a:xfrm>
            <a:off x="498475" y="4610100"/>
            <a:ext cx="7708900"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u="sng">
                <a:solidFill>
                  <a:srgbClr val="000000"/>
                </a:solidFill>
                <a:latin typeface="Arial" panose="020B0604020202020204" pitchFamily="34" charset="0"/>
                <a:cs typeface="Arial" panose="020B0604020202020204" pitchFamily="34" charset="0"/>
              </a:rPr>
              <a:t>Analysis of Schedule:</a:t>
            </a:r>
          </a:p>
        </p:txBody>
      </p:sp>
      <p:sp>
        <p:nvSpPr>
          <p:cNvPr id="54288" name="Text Box 9">
            <a:extLst>
              <a:ext uri="{FF2B5EF4-FFF2-40B4-BE49-F238E27FC236}">
                <a16:creationId xmlns:a16="http://schemas.microsoft.com/office/drawing/2014/main" id="{30336107-B277-6DFA-E0D2-9F438558BC2A}"/>
              </a:ext>
            </a:extLst>
          </p:cNvPr>
          <p:cNvSpPr txBox="1">
            <a:spLocks noChangeArrowheads="1"/>
          </p:cNvSpPr>
          <p:nvPr/>
        </p:nvSpPr>
        <p:spPr bwMode="auto">
          <a:xfrm>
            <a:off x="527050" y="4876800"/>
            <a:ext cx="3273425"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a:solidFill>
                  <a:srgbClr val="000000"/>
                </a:solidFill>
                <a:latin typeface="Arial" panose="020B0604020202020204" pitchFamily="34" charset="0"/>
                <a:cs typeface="Arial" panose="020B0604020202020204" pitchFamily="34" charset="0"/>
              </a:rPr>
              <a:t>AVERAGE MONTHLY CLIENT INVESTMENT</a:t>
            </a:r>
          </a:p>
        </p:txBody>
      </p:sp>
      <p:sp>
        <p:nvSpPr>
          <p:cNvPr id="54289" name="Text Box 10">
            <a:extLst>
              <a:ext uri="{FF2B5EF4-FFF2-40B4-BE49-F238E27FC236}">
                <a16:creationId xmlns:a16="http://schemas.microsoft.com/office/drawing/2014/main" id="{6997F284-EC48-3F03-2E0B-35C9CFDEFB06}"/>
              </a:ext>
            </a:extLst>
          </p:cNvPr>
          <p:cNvSpPr txBox="1">
            <a:spLocks noChangeArrowheads="1"/>
          </p:cNvSpPr>
          <p:nvPr/>
        </p:nvSpPr>
        <p:spPr bwMode="auto">
          <a:xfrm>
            <a:off x="527050" y="5149850"/>
            <a:ext cx="30194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a:solidFill>
                  <a:srgbClr val="000000"/>
                </a:solidFill>
                <a:latin typeface="Arial" panose="020B0604020202020204" pitchFamily="34" charset="0"/>
                <a:cs typeface="Arial" panose="020B0604020202020204" pitchFamily="34" charset="0"/>
              </a:rPr>
              <a:t>AVERAGE DAILY CLIENT INVESTMENT </a:t>
            </a:r>
          </a:p>
        </p:txBody>
      </p:sp>
      <p:sp>
        <p:nvSpPr>
          <p:cNvPr id="54290" name="Text Box 17">
            <a:extLst>
              <a:ext uri="{FF2B5EF4-FFF2-40B4-BE49-F238E27FC236}">
                <a16:creationId xmlns:a16="http://schemas.microsoft.com/office/drawing/2014/main" id="{4910A8D0-E3FA-2A44-2834-0FC26BF9D5BA}"/>
              </a:ext>
            </a:extLst>
          </p:cNvPr>
          <p:cNvSpPr txBox="1">
            <a:spLocks noChangeArrowheads="1"/>
          </p:cNvSpPr>
          <p:nvPr/>
        </p:nvSpPr>
        <p:spPr bwMode="auto">
          <a:xfrm>
            <a:off x="4308475" y="5540375"/>
            <a:ext cx="2820988"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a:solidFill>
                  <a:srgbClr val="000000"/>
                </a:solidFill>
                <a:latin typeface="Arial" panose="020B0604020202020204" pitchFamily="34" charset="0"/>
                <a:cs typeface="Arial" panose="020B0604020202020204" pitchFamily="34" charset="0"/>
              </a:rPr>
              <a:t>Thank you for your trust and confidence.</a:t>
            </a:r>
          </a:p>
        </p:txBody>
      </p:sp>
      <p:sp>
        <p:nvSpPr>
          <p:cNvPr id="54291" name="Text Box 19">
            <a:extLst>
              <a:ext uri="{FF2B5EF4-FFF2-40B4-BE49-F238E27FC236}">
                <a16:creationId xmlns:a16="http://schemas.microsoft.com/office/drawing/2014/main" id="{87E33D33-40DC-C32A-910A-3F6E903903B6}"/>
              </a:ext>
            </a:extLst>
          </p:cNvPr>
          <p:cNvSpPr txBox="1">
            <a:spLocks noChangeArrowheads="1"/>
          </p:cNvSpPr>
          <p:nvPr/>
        </p:nvSpPr>
        <p:spPr bwMode="auto">
          <a:xfrm>
            <a:off x="3941763" y="2598738"/>
            <a:ext cx="1265237" cy="17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b="1" i="1">
                <a:solidFill>
                  <a:srgbClr val="000000"/>
                </a:solidFill>
                <a:latin typeface="Arial" panose="020B0604020202020204" pitchFamily="34" charset="0"/>
                <a:cs typeface="Arial" panose="020B0604020202020204" pitchFamily="34" charset="0"/>
              </a:rPr>
              <a:t>FLIGHT DATES:</a:t>
            </a:r>
          </a:p>
        </p:txBody>
      </p:sp>
      <p:sp>
        <p:nvSpPr>
          <p:cNvPr id="54292" name="Text Box 20">
            <a:extLst>
              <a:ext uri="{FF2B5EF4-FFF2-40B4-BE49-F238E27FC236}">
                <a16:creationId xmlns:a16="http://schemas.microsoft.com/office/drawing/2014/main" id="{F836EA54-4EFE-36F7-E617-817D180DCFAD}"/>
              </a:ext>
            </a:extLst>
          </p:cNvPr>
          <p:cNvSpPr txBox="1">
            <a:spLocks noChangeArrowheads="1"/>
          </p:cNvSpPr>
          <p:nvPr/>
        </p:nvSpPr>
        <p:spPr bwMode="auto">
          <a:xfrm>
            <a:off x="4419600" y="2238375"/>
            <a:ext cx="3349625" cy="17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200">
                <a:solidFill>
                  <a:srgbClr val="000000"/>
                </a:solidFill>
                <a:latin typeface="Arial" panose="020B0604020202020204" pitchFamily="34" charset="0"/>
                <a:cs typeface="Arial" panose="020B0604020202020204" pitchFamily="34" charset="0"/>
              </a:rPr>
              <a:t>agrees to invest in the following long-term plan:</a:t>
            </a:r>
          </a:p>
        </p:txBody>
      </p:sp>
      <p:sp>
        <p:nvSpPr>
          <p:cNvPr id="54293" name="TextBox 26">
            <a:extLst>
              <a:ext uri="{FF2B5EF4-FFF2-40B4-BE49-F238E27FC236}">
                <a16:creationId xmlns:a16="http://schemas.microsoft.com/office/drawing/2014/main" id="{ECB34D4E-2CD1-5A18-B7E1-B3FCC0B0787D}"/>
              </a:ext>
            </a:extLst>
          </p:cNvPr>
          <p:cNvSpPr txBox="1">
            <a:spLocks noChangeArrowheads="1"/>
          </p:cNvSpPr>
          <p:nvPr/>
        </p:nvSpPr>
        <p:spPr bwMode="auto">
          <a:xfrm>
            <a:off x="2697163" y="2198688"/>
            <a:ext cx="183832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endParaRPr lang="en-US" altLang="en-US" sz="1200">
              <a:latin typeface="Arial" panose="020B0604020202020204" pitchFamily="34" charset="0"/>
              <a:cs typeface="Arial" panose="020B0604020202020204" pitchFamily="34" charset="0"/>
            </a:endParaRPr>
          </a:p>
        </p:txBody>
      </p:sp>
      <p:sp>
        <p:nvSpPr>
          <p:cNvPr id="54294" name="TextBox 30">
            <a:extLst>
              <a:ext uri="{FF2B5EF4-FFF2-40B4-BE49-F238E27FC236}">
                <a16:creationId xmlns:a16="http://schemas.microsoft.com/office/drawing/2014/main" id="{7C9B4DF8-3477-4378-2A1B-09552B9DC102}"/>
              </a:ext>
            </a:extLst>
          </p:cNvPr>
          <p:cNvSpPr txBox="1">
            <a:spLocks noChangeArrowheads="1"/>
          </p:cNvSpPr>
          <p:nvPr/>
        </p:nvSpPr>
        <p:spPr bwMode="auto">
          <a:xfrm>
            <a:off x="3817938" y="4806950"/>
            <a:ext cx="3365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200">
                <a:latin typeface="Arial" panose="020B0604020202020204" pitchFamily="34" charset="0"/>
                <a:cs typeface="Arial" panose="020B0604020202020204" pitchFamily="34" charset="0"/>
              </a:rPr>
              <a:t>$0</a:t>
            </a:r>
          </a:p>
        </p:txBody>
      </p:sp>
      <p:sp>
        <p:nvSpPr>
          <p:cNvPr id="54295" name="TextBox 31">
            <a:extLst>
              <a:ext uri="{FF2B5EF4-FFF2-40B4-BE49-F238E27FC236}">
                <a16:creationId xmlns:a16="http://schemas.microsoft.com/office/drawing/2014/main" id="{27B87AB5-A327-4B42-557A-C8B3703FEAE2}"/>
              </a:ext>
            </a:extLst>
          </p:cNvPr>
          <p:cNvSpPr txBox="1">
            <a:spLocks noChangeArrowheads="1"/>
          </p:cNvSpPr>
          <p:nvPr/>
        </p:nvSpPr>
        <p:spPr bwMode="auto">
          <a:xfrm>
            <a:off x="3817938" y="5092700"/>
            <a:ext cx="336550"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spcBef>
                <a:spcPct val="0"/>
              </a:spcBef>
            </a:pPr>
            <a:r>
              <a:rPr lang="en-US" altLang="en-US" sz="1200">
                <a:latin typeface="Arial" panose="020B0604020202020204" pitchFamily="34" charset="0"/>
                <a:cs typeface="Arial" panose="020B0604020202020204" pitchFamily="34" charset="0"/>
              </a:rPr>
              <a:t>$0</a:t>
            </a:r>
          </a:p>
        </p:txBody>
      </p:sp>
      <p:graphicFrame>
        <p:nvGraphicFramePr>
          <p:cNvPr id="54296" name="Object 1">
            <a:extLst>
              <a:ext uri="{FF2B5EF4-FFF2-40B4-BE49-F238E27FC236}">
                <a16:creationId xmlns:a16="http://schemas.microsoft.com/office/drawing/2014/main" id="{641CFA1E-B160-A7FE-DEFD-1FCE375C47EF}"/>
              </a:ext>
            </a:extLst>
          </p:cNvPr>
          <p:cNvGraphicFramePr>
            <a:graphicFrameLocks/>
          </p:cNvGraphicFramePr>
          <p:nvPr/>
        </p:nvGraphicFramePr>
        <p:xfrm>
          <a:off x="173038" y="2808288"/>
          <a:ext cx="8753475" cy="993775"/>
        </p:xfrm>
        <a:graphic>
          <a:graphicData uri="http://schemas.openxmlformats.org/presentationml/2006/ole">
            <mc:AlternateContent xmlns:mc="http://schemas.openxmlformats.org/markup-compatibility/2006">
              <mc:Choice xmlns:v="urn:schemas-microsoft-com:vml" Requires="v">
                <p:oleObj name="Worksheet" r:id="rId2" imgW="8655076" imgH="895281" progId="Excel.Sheet.8">
                  <p:embed/>
                </p:oleObj>
              </mc:Choice>
              <mc:Fallback>
                <p:oleObj name="Worksheet" r:id="rId2" imgW="8655076" imgH="895281" progId="Excel.Sheet.8">
                  <p:embed/>
                  <p:pic>
                    <p:nvPicPr>
                      <p:cNvPr id="0" name="Object 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038" y="2808288"/>
                        <a:ext cx="8753475"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4297" name="Picture 11">
            <a:extLst>
              <a:ext uri="{FF2B5EF4-FFF2-40B4-BE49-F238E27FC236}">
                <a16:creationId xmlns:a16="http://schemas.microsoft.com/office/drawing/2014/main" id="{3D43ED39-9C96-72FD-0CC1-38313A4BD4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1013" y="6103938"/>
            <a:ext cx="2973387" cy="2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8" name="Picture 12">
            <a:extLst>
              <a:ext uri="{FF2B5EF4-FFF2-40B4-BE49-F238E27FC236}">
                <a16:creationId xmlns:a16="http://schemas.microsoft.com/office/drawing/2014/main" id="{85D33709-BDB4-F93C-6E54-2EC635E7B7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6103938"/>
            <a:ext cx="2973388" cy="2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99" name="Text Box 13">
            <a:extLst>
              <a:ext uri="{FF2B5EF4-FFF2-40B4-BE49-F238E27FC236}">
                <a16:creationId xmlns:a16="http://schemas.microsoft.com/office/drawing/2014/main" id="{AC9D9746-C20A-88B3-B2BF-0F0E689E79AC}"/>
              </a:ext>
            </a:extLst>
          </p:cNvPr>
          <p:cNvSpPr txBox="1">
            <a:spLocks noChangeArrowheads="1"/>
          </p:cNvSpPr>
          <p:nvPr/>
        </p:nvSpPr>
        <p:spPr bwMode="auto">
          <a:xfrm>
            <a:off x="1700213" y="6149975"/>
            <a:ext cx="812800"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000">
                <a:solidFill>
                  <a:srgbClr val="000000"/>
                </a:solidFill>
                <a:latin typeface="Arial" panose="020B0604020202020204" pitchFamily="34" charset="0"/>
                <a:cs typeface="Arial" panose="020B0604020202020204" pitchFamily="34" charset="0"/>
              </a:rPr>
              <a:t>Accepted for</a:t>
            </a:r>
          </a:p>
        </p:txBody>
      </p:sp>
      <p:sp>
        <p:nvSpPr>
          <p:cNvPr id="54300" name="Text Box 14">
            <a:extLst>
              <a:ext uri="{FF2B5EF4-FFF2-40B4-BE49-F238E27FC236}">
                <a16:creationId xmlns:a16="http://schemas.microsoft.com/office/drawing/2014/main" id="{E3505854-3D76-84AE-DADB-954F58D779BB}"/>
              </a:ext>
            </a:extLst>
          </p:cNvPr>
          <p:cNvSpPr txBox="1">
            <a:spLocks noChangeArrowheads="1"/>
          </p:cNvSpPr>
          <p:nvPr/>
        </p:nvSpPr>
        <p:spPr bwMode="auto">
          <a:xfrm>
            <a:off x="5297488" y="6162675"/>
            <a:ext cx="8112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000">
                <a:solidFill>
                  <a:srgbClr val="000000"/>
                </a:solidFill>
                <a:latin typeface="Arial" panose="020B0604020202020204" pitchFamily="34" charset="0"/>
                <a:cs typeface="Arial" panose="020B0604020202020204" pitchFamily="34" charset="0"/>
              </a:rPr>
              <a:t>Accepted for</a:t>
            </a:r>
          </a:p>
        </p:txBody>
      </p:sp>
      <p:sp>
        <p:nvSpPr>
          <p:cNvPr id="54301" name="Text Box 15">
            <a:extLst>
              <a:ext uri="{FF2B5EF4-FFF2-40B4-BE49-F238E27FC236}">
                <a16:creationId xmlns:a16="http://schemas.microsoft.com/office/drawing/2014/main" id="{FCF55718-32B5-9362-B19B-19546A708EE1}"/>
              </a:ext>
            </a:extLst>
          </p:cNvPr>
          <p:cNvSpPr txBox="1">
            <a:spLocks noChangeArrowheads="1"/>
          </p:cNvSpPr>
          <p:nvPr/>
        </p:nvSpPr>
        <p:spPr bwMode="auto">
          <a:xfrm>
            <a:off x="4537075" y="6162675"/>
            <a:ext cx="369888"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000">
                <a:solidFill>
                  <a:srgbClr val="000000"/>
                </a:solidFill>
                <a:latin typeface="Arial" panose="020B0604020202020204" pitchFamily="34" charset="0"/>
                <a:cs typeface="Arial" panose="020B0604020202020204" pitchFamily="34" charset="0"/>
              </a:rPr>
              <a:t>Date</a:t>
            </a:r>
          </a:p>
        </p:txBody>
      </p:sp>
      <p:sp>
        <p:nvSpPr>
          <p:cNvPr id="54302" name="Text Box 16">
            <a:extLst>
              <a:ext uri="{FF2B5EF4-FFF2-40B4-BE49-F238E27FC236}">
                <a16:creationId xmlns:a16="http://schemas.microsoft.com/office/drawing/2014/main" id="{7F378395-A9BF-281E-BCD6-5F66DC67F3CC}"/>
              </a:ext>
            </a:extLst>
          </p:cNvPr>
          <p:cNvSpPr txBox="1">
            <a:spLocks noChangeArrowheads="1"/>
          </p:cNvSpPr>
          <p:nvPr/>
        </p:nvSpPr>
        <p:spPr bwMode="auto">
          <a:xfrm>
            <a:off x="8116888" y="6178550"/>
            <a:ext cx="45402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eaLnBrk="1" hangingPunct="1">
              <a:lnSpc>
                <a:spcPct val="95000"/>
              </a:lnSpc>
              <a:spcBef>
                <a:spcPct val="0"/>
              </a:spcBef>
            </a:pPr>
            <a:r>
              <a:rPr lang="en-US" altLang="en-US" sz="1000">
                <a:solidFill>
                  <a:srgbClr val="000000"/>
                </a:solidFill>
                <a:latin typeface="Arial" panose="020B0604020202020204" pitchFamily="34" charset="0"/>
                <a:cs typeface="Arial" panose="020B0604020202020204" pitchFamily="34" charset="0"/>
              </a:rPr>
              <a:t>Date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
            <a:extLst>
              <a:ext uri="{FF2B5EF4-FFF2-40B4-BE49-F238E27FC236}">
                <a16:creationId xmlns:a16="http://schemas.microsoft.com/office/drawing/2014/main" id="{B5696D6C-BB63-97E4-69B2-F81DC06AE7CF}"/>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Client Policy Agreement </a:t>
            </a:r>
          </a:p>
        </p:txBody>
      </p:sp>
      <p:sp>
        <p:nvSpPr>
          <p:cNvPr id="55299" name="Slide Number Placeholder 4">
            <a:extLst>
              <a:ext uri="{FF2B5EF4-FFF2-40B4-BE49-F238E27FC236}">
                <a16:creationId xmlns:a16="http://schemas.microsoft.com/office/drawing/2014/main" id="{233AC698-8A18-A653-1FDA-D47FBBDA913F}"/>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0EC70F98-F689-457C-A844-6D2CE3A1875D}"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31</a:t>
            </a:fld>
            <a:endParaRPr lang="en-US" altLang="en-US" sz="1100">
              <a:solidFill>
                <a:schemeClr val="bg1"/>
              </a:solidFill>
              <a:ea typeface="Corbel" panose="020B0503020204020204" pitchFamily="34" charset="0"/>
              <a:cs typeface="Corbel" panose="020B0503020204020204" pitchFamily="34" charset="0"/>
            </a:endParaRPr>
          </a:p>
        </p:txBody>
      </p:sp>
      <p:sp>
        <p:nvSpPr>
          <p:cNvPr id="55300" name="Text Box 5">
            <a:extLst>
              <a:ext uri="{FF2B5EF4-FFF2-40B4-BE49-F238E27FC236}">
                <a16:creationId xmlns:a16="http://schemas.microsoft.com/office/drawing/2014/main" id="{BC5E4B11-F4CF-DF48-91EF-DE329C82BD16}"/>
              </a:ext>
            </a:extLst>
          </p:cNvPr>
          <p:cNvSpPr txBox="1">
            <a:spLocks noChangeArrowheads="1"/>
          </p:cNvSpPr>
          <p:nvPr/>
        </p:nvSpPr>
        <p:spPr bwMode="auto">
          <a:xfrm>
            <a:off x="0" y="17018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lnSpc>
                <a:spcPct val="95000"/>
              </a:lnSpc>
            </a:pPr>
            <a:r>
              <a:rPr lang="en-US" altLang="en-US" sz="2000" b="1">
                <a:solidFill>
                  <a:srgbClr val="00274D"/>
                </a:solidFill>
                <a:ea typeface="Corbel" panose="020B0503020204020204" pitchFamily="34" charset="0"/>
                <a:cs typeface="Corbel" panose="020B0503020204020204" pitchFamily="34" charset="0"/>
              </a:rPr>
              <a:t>We have an agreement, which we will discuss with all</a:t>
            </a:r>
            <a:br>
              <a:rPr lang="en-US" altLang="en-US" sz="2000" b="1">
                <a:solidFill>
                  <a:srgbClr val="00274D"/>
                </a:solidFill>
                <a:ea typeface="Corbel" panose="020B0503020204020204" pitchFamily="34" charset="0"/>
                <a:cs typeface="Corbel" panose="020B0503020204020204" pitchFamily="34" charset="0"/>
              </a:rPr>
            </a:br>
            <a:r>
              <a:rPr lang="en-US" altLang="en-US" sz="2000" b="1">
                <a:solidFill>
                  <a:srgbClr val="00274D"/>
                </a:solidFill>
                <a:ea typeface="Corbel" panose="020B0503020204020204" pitchFamily="34" charset="0"/>
                <a:cs typeface="Corbel" panose="020B0503020204020204" pitchFamily="34" charset="0"/>
              </a:rPr>
              <a:t>of our business partners and review throughout the year</a:t>
            </a:r>
          </a:p>
        </p:txBody>
      </p:sp>
      <p:sp>
        <p:nvSpPr>
          <p:cNvPr id="55301" name="Text Box 5">
            <a:extLst>
              <a:ext uri="{FF2B5EF4-FFF2-40B4-BE49-F238E27FC236}">
                <a16:creationId xmlns:a16="http://schemas.microsoft.com/office/drawing/2014/main" id="{92E7FAFF-C476-70AC-8616-68F763126188}"/>
              </a:ext>
            </a:extLst>
          </p:cNvPr>
          <p:cNvSpPr txBox="1">
            <a:spLocks noChangeArrowheads="1"/>
          </p:cNvSpPr>
          <p:nvPr/>
        </p:nvSpPr>
        <p:spPr bwMode="auto">
          <a:xfrm>
            <a:off x="495300" y="2495550"/>
            <a:ext cx="8153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buFont typeface="Calibri" panose="020F0502020204030204" pitchFamily="34" charset="0"/>
              <a:buAutoNum type="arabicPeriod"/>
            </a:pPr>
            <a:r>
              <a:rPr lang="en-US" altLang="en-US" sz="1300">
                <a:solidFill>
                  <a:srgbClr val="00274D"/>
                </a:solidFill>
                <a:ea typeface="Corbel" panose="020B0503020204020204" pitchFamily="34" charset="0"/>
                <a:cs typeface="Corbel" panose="020B0503020204020204" pitchFamily="34" charset="0"/>
              </a:rPr>
              <a:t>We will conduct a confidential needs analysis (Database) to gain a complete understanding of your business, your market and your stated objectives.   </a:t>
            </a:r>
          </a:p>
          <a:p>
            <a:pPr>
              <a:buFont typeface="Calibri" panose="020F0502020204030204" pitchFamily="34" charset="0"/>
              <a:buAutoNum type="arabicPeriod"/>
            </a:pPr>
            <a:r>
              <a:rPr lang="en-US" altLang="en-US" sz="1300">
                <a:solidFill>
                  <a:srgbClr val="00274D"/>
                </a:solidFill>
                <a:ea typeface="Corbel" panose="020B0503020204020204" pitchFamily="34" charset="0"/>
                <a:cs typeface="Corbel" panose="020B0503020204020204" pitchFamily="34" charset="0"/>
              </a:rPr>
              <a:t>You will be supplied with a customized Summary of Conclusions and Recommendations (SCR) that is tailored to help you achieve your business goals.  </a:t>
            </a:r>
          </a:p>
          <a:p>
            <a:pPr>
              <a:buFont typeface="Calibri" panose="020F0502020204030204" pitchFamily="34" charset="0"/>
              <a:buAutoNum type="arabicPeriod"/>
            </a:pPr>
            <a:r>
              <a:rPr lang="en-US" altLang="en-US" sz="1300">
                <a:solidFill>
                  <a:srgbClr val="00274D"/>
                </a:solidFill>
                <a:ea typeface="Corbel" panose="020B0503020204020204" pitchFamily="34" charset="0"/>
                <a:cs typeface="Corbel" panose="020B0503020204020204" pitchFamily="34" charset="0"/>
              </a:rPr>
              <a:t>You can be sure that your Marketing Representative will be professional, objective and totally focused on your needs (vs. what’s only in the best interest of the station group).  </a:t>
            </a:r>
          </a:p>
          <a:p>
            <a:pPr>
              <a:buFont typeface="Calibri" panose="020F0502020204030204" pitchFamily="34" charset="0"/>
              <a:buAutoNum type="arabicPeriod"/>
            </a:pPr>
            <a:r>
              <a:rPr lang="en-US" altLang="en-US" sz="1300">
                <a:solidFill>
                  <a:srgbClr val="00274D"/>
                </a:solidFill>
                <a:ea typeface="Corbel" panose="020B0503020204020204" pitchFamily="34" charset="0"/>
                <a:cs typeface="Corbel" panose="020B0503020204020204" pitchFamily="34" charset="0"/>
              </a:rPr>
              <a:t>You will be offered total production and digital services and once complete, we will provide all creative to you for your final approval before going on-air or on-line.   </a:t>
            </a:r>
          </a:p>
          <a:p>
            <a:pPr>
              <a:buFont typeface="Calibri" panose="020F0502020204030204" pitchFamily="34" charset="0"/>
              <a:buAutoNum type="arabicPeriod"/>
            </a:pPr>
            <a:r>
              <a:rPr lang="en-US" altLang="en-US" sz="1300">
                <a:solidFill>
                  <a:srgbClr val="00274D"/>
                </a:solidFill>
                <a:ea typeface="Corbel" panose="020B0503020204020204" pitchFamily="34" charset="0"/>
                <a:cs typeface="Corbel" panose="020B0503020204020204" pitchFamily="34" charset="0"/>
              </a:rPr>
              <a:t>The order will be placed as requested and you can expect a duplicate of your submitted broadcast schedules and net figures so that you know all times and costs. </a:t>
            </a:r>
          </a:p>
          <a:p>
            <a:pPr>
              <a:buFont typeface="Calibri" panose="020F0502020204030204" pitchFamily="34" charset="0"/>
              <a:buAutoNum type="arabicPeriod"/>
            </a:pPr>
            <a:r>
              <a:rPr lang="en-US" altLang="en-US" sz="1300">
                <a:solidFill>
                  <a:srgbClr val="00274D"/>
                </a:solidFill>
                <a:ea typeface="Corbel" panose="020B0503020204020204" pitchFamily="34" charset="0"/>
                <a:cs typeface="Corbel" panose="020B0503020204020204" pitchFamily="34" charset="0"/>
              </a:rPr>
              <a:t>You will be contacted following the first week on air to ensure that everything is running as scheduled. 	</a:t>
            </a:r>
          </a:p>
          <a:p>
            <a:pPr>
              <a:buFont typeface="Calibri" panose="020F0502020204030204" pitchFamily="34" charset="0"/>
              <a:buAutoNum type="arabicPeriod"/>
            </a:pPr>
            <a:r>
              <a:rPr lang="en-US" altLang="en-US" sz="1300">
                <a:solidFill>
                  <a:srgbClr val="00274D"/>
                </a:solidFill>
                <a:ea typeface="Corbel" panose="020B0503020204020204" pitchFamily="34" charset="0"/>
                <a:cs typeface="Corbel" panose="020B0503020204020204" pitchFamily="34" charset="0"/>
              </a:rPr>
              <a:t>You will be provided with the latest qualitative research and will be continuously updated on relevant market information and changes.	</a:t>
            </a:r>
          </a:p>
          <a:p>
            <a:pPr>
              <a:buFont typeface="Calibri" panose="020F0502020204030204" pitchFamily="34" charset="0"/>
              <a:buAutoNum type="arabicPeriod"/>
            </a:pPr>
            <a:r>
              <a:rPr lang="en-US" altLang="en-US" sz="1300">
                <a:solidFill>
                  <a:srgbClr val="00274D"/>
                </a:solidFill>
                <a:ea typeface="Corbel" panose="020B0503020204020204" pitchFamily="34" charset="0"/>
                <a:cs typeface="Corbel" panose="020B0503020204020204" pitchFamily="34" charset="0"/>
              </a:rPr>
              <a:t>You can expect an exceptional customer experience including follow-through on all promises made and prompt return phone calls.  </a:t>
            </a:r>
          </a:p>
          <a:p>
            <a:pPr>
              <a:buFont typeface="Calibri" panose="020F0502020204030204" pitchFamily="34" charset="0"/>
              <a:buAutoNum type="arabicPeriod"/>
            </a:pPr>
            <a:r>
              <a:rPr lang="en-US" altLang="en-US" sz="1300">
                <a:solidFill>
                  <a:srgbClr val="00274D"/>
                </a:solidFill>
                <a:ea typeface="Corbel" panose="020B0503020204020204" pitchFamily="34" charset="0"/>
                <a:cs typeface="Corbel" panose="020B0503020204020204" pitchFamily="34" charset="0"/>
              </a:rPr>
              <a:t>While we will be in constant contact, you will be asked to formally evaluate </a:t>
            </a:r>
            <a:r>
              <a:rPr lang="en-US" altLang="en-US" sz="1300" i="1">
                <a:solidFill>
                  <a:srgbClr val="00274D"/>
                </a:solidFill>
                <a:ea typeface="Corbel" panose="020B0503020204020204" pitchFamily="34" charset="0"/>
                <a:cs typeface="Corbel" panose="020B0503020204020204" pitchFamily="34" charset="0"/>
              </a:rPr>
              <a:t>our performance</a:t>
            </a:r>
            <a:r>
              <a:rPr lang="en-US" altLang="en-US" sz="1300">
                <a:solidFill>
                  <a:srgbClr val="00274D"/>
                </a:solidFill>
                <a:ea typeface="Corbel" panose="020B0503020204020204" pitchFamily="34" charset="0"/>
                <a:cs typeface="Corbel" panose="020B0503020204020204" pitchFamily="34" charset="0"/>
              </a:rPr>
              <a:t> and </a:t>
            </a:r>
            <a:r>
              <a:rPr lang="en-US" altLang="en-US" sz="1300" i="1">
                <a:solidFill>
                  <a:srgbClr val="00274D"/>
                </a:solidFill>
                <a:ea typeface="Corbel" panose="020B0503020204020204" pitchFamily="34" charset="0"/>
                <a:cs typeface="Corbel" panose="020B0503020204020204" pitchFamily="34" charset="0"/>
              </a:rPr>
              <a:t>your results</a:t>
            </a:r>
            <a:r>
              <a:rPr lang="en-US" altLang="en-US" sz="1300">
                <a:solidFill>
                  <a:srgbClr val="00274D"/>
                </a:solidFill>
                <a:ea typeface="Corbel" panose="020B0503020204020204" pitchFamily="34" charset="0"/>
                <a:cs typeface="Corbel" panose="020B0503020204020204" pitchFamily="34" charset="0"/>
              </a:rPr>
              <a:t> every 3, 6, 9 and 12 months.  </a:t>
            </a:r>
          </a:p>
          <a:p>
            <a:pPr>
              <a:buFont typeface="Calibri" panose="020F0502020204030204" pitchFamily="34" charset="0"/>
              <a:buAutoNum type="arabicPeriod"/>
            </a:pPr>
            <a:r>
              <a:rPr lang="en-US" altLang="en-US" sz="1300">
                <a:solidFill>
                  <a:srgbClr val="00274D"/>
                </a:solidFill>
                <a:ea typeface="Corbel" panose="020B0503020204020204" pitchFamily="34" charset="0"/>
                <a:cs typeface="Corbel" panose="020B0503020204020204" pitchFamily="34" charset="0"/>
              </a:rPr>
              <a:t>If any of the above conditions are not met, please contact ___________________ at _____________________.</a:t>
            </a:r>
          </a:p>
        </p:txBody>
      </p:sp>
      <p:sp>
        <p:nvSpPr>
          <p:cNvPr id="55302" name="TextBox 4">
            <a:extLst>
              <a:ext uri="{FF2B5EF4-FFF2-40B4-BE49-F238E27FC236}">
                <a16:creationId xmlns:a16="http://schemas.microsoft.com/office/drawing/2014/main" id="{ABD18860-E60F-C3B6-6F71-1569B9920604}"/>
              </a:ext>
            </a:extLst>
          </p:cNvPr>
          <p:cNvSpPr txBox="1">
            <a:spLocks noChangeArrowheads="1"/>
          </p:cNvSpPr>
          <p:nvPr/>
        </p:nvSpPr>
        <p:spPr bwMode="auto">
          <a:xfrm>
            <a:off x="4800600" y="5751513"/>
            <a:ext cx="1303338"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55303" name="TextBox 4">
            <a:extLst>
              <a:ext uri="{FF2B5EF4-FFF2-40B4-BE49-F238E27FC236}">
                <a16:creationId xmlns:a16="http://schemas.microsoft.com/office/drawing/2014/main" id="{6558503F-AA17-E791-FF56-1B6A1936BF35}"/>
              </a:ext>
            </a:extLst>
          </p:cNvPr>
          <p:cNvSpPr txBox="1">
            <a:spLocks noChangeArrowheads="1"/>
          </p:cNvSpPr>
          <p:nvPr/>
        </p:nvSpPr>
        <p:spPr bwMode="auto">
          <a:xfrm>
            <a:off x="6629400" y="5751513"/>
            <a:ext cx="1303338"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endParaRPr lang="en-US" altLang="en-US" sz="1200">
              <a:solidFill>
                <a:srgbClr val="00274D"/>
              </a:solidFill>
              <a:ea typeface="Corbel" panose="020B0503020204020204" pitchFamily="34" charset="0"/>
              <a:cs typeface="Corbel" panose="020B0503020204020204" pitchFamily="34" charset="0"/>
            </a:endParaRPr>
          </a:p>
        </p:txBody>
      </p:sp>
      <p:sp>
        <p:nvSpPr>
          <p:cNvPr id="55304" name="TextBox 1">
            <a:extLst>
              <a:ext uri="{FF2B5EF4-FFF2-40B4-BE49-F238E27FC236}">
                <a16:creationId xmlns:a16="http://schemas.microsoft.com/office/drawing/2014/main" id="{00B27E8C-1E46-3DC3-8371-3FCE8DAE9C15}"/>
              </a:ext>
            </a:extLst>
          </p:cNvPr>
          <p:cNvSpPr txBox="1">
            <a:spLocks noChangeArrowheads="1"/>
          </p:cNvSpPr>
          <p:nvPr/>
        </p:nvSpPr>
        <p:spPr bwMode="auto">
          <a:xfrm>
            <a:off x="3557588" y="1371600"/>
            <a:ext cx="18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endParaRPr lang="en-US" altLang="en-US" sz="2000" b="1">
              <a:solidFill>
                <a:srgbClr val="00274D"/>
              </a:solidFill>
              <a:ea typeface="Corbel" panose="020B0503020204020204" pitchFamily="34" charset="0"/>
              <a:cs typeface="Corbel" panose="020B0503020204020204" pitchFamily="34" charset="0"/>
            </a:endParaRPr>
          </a:p>
        </p:txBody>
      </p:sp>
      <p:sp>
        <p:nvSpPr>
          <p:cNvPr id="55305" name="TextBox 2">
            <a:extLst>
              <a:ext uri="{FF2B5EF4-FFF2-40B4-BE49-F238E27FC236}">
                <a16:creationId xmlns:a16="http://schemas.microsoft.com/office/drawing/2014/main" id="{5DA4AF72-80F5-493D-FC43-85C9DA8EF5FE}"/>
              </a:ext>
            </a:extLst>
          </p:cNvPr>
          <p:cNvSpPr txBox="1">
            <a:spLocks noChangeArrowheads="1"/>
          </p:cNvSpPr>
          <p:nvPr/>
        </p:nvSpPr>
        <p:spPr bwMode="auto">
          <a:xfrm>
            <a:off x="3179763" y="1371600"/>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r>
              <a:rPr lang="en-US" altLang="en-US" sz="2000" b="1">
                <a:solidFill>
                  <a:srgbClr val="00274D"/>
                </a:solidFill>
                <a:ea typeface="Corbel" panose="020B0503020204020204" pitchFamily="34" charset="0"/>
                <a:cs typeface="Corbel" panose="020B0503020204020204" pitchFamily="34" charset="0"/>
              </a:rPr>
              <a:t>At</a:t>
            </a:r>
            <a:endParaRPr lang="en-US" altLang="en-US"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a:extLst>
              <a:ext uri="{FF2B5EF4-FFF2-40B4-BE49-F238E27FC236}">
                <a16:creationId xmlns:a16="http://schemas.microsoft.com/office/drawing/2014/main" id="{147139F9-87DD-A191-1F3A-1AFE7A627E76}"/>
              </a:ext>
            </a:extLst>
          </p:cNvPr>
          <p:cNvSpPr txBox="1">
            <a:spLocks noChangeArrowheads="1"/>
          </p:cNvSpPr>
          <p:nvPr/>
        </p:nvSpPr>
        <p:spPr bwMode="auto">
          <a:xfrm>
            <a:off x="0" y="457200"/>
            <a:ext cx="914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4000" b="1">
                <a:solidFill>
                  <a:srgbClr val="00274D"/>
                </a:solidFill>
                <a:ea typeface="Corbel" panose="020B0503020204020204" pitchFamily="34" charset="0"/>
                <a:cs typeface="Corbel" panose="020B0503020204020204" pitchFamily="34" charset="0"/>
              </a:rPr>
              <a:t>Sales Service Agreement </a:t>
            </a:r>
          </a:p>
        </p:txBody>
      </p:sp>
      <p:sp>
        <p:nvSpPr>
          <p:cNvPr id="56323" name="Slide Number Placeholder 4">
            <a:extLst>
              <a:ext uri="{FF2B5EF4-FFF2-40B4-BE49-F238E27FC236}">
                <a16:creationId xmlns:a16="http://schemas.microsoft.com/office/drawing/2014/main" id="{17F2E939-F0CA-B332-E041-9C74F450EAA0}"/>
              </a:ext>
            </a:extLst>
          </p:cNvPr>
          <p:cNvSpPr txBox="1">
            <a:spLocks noChangeArrowheads="1"/>
          </p:cNvSpPr>
          <p:nvPr/>
        </p:nvSpPr>
        <p:spPr bwMode="auto">
          <a:xfrm>
            <a:off x="8686800" y="6553200"/>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defRPr>
                <a:solidFill>
                  <a:schemeClr val="tx1"/>
                </a:solidFill>
                <a:latin typeface="Corbel" panose="020B0503020204020204" pitchFamily="34" charset="0"/>
              </a:defRPr>
            </a:lvl1pPr>
            <a:lvl2pPr marL="742950" indent="-285750">
              <a:spcBef>
                <a:spcPct val="20000"/>
              </a:spcBef>
              <a:defRPr>
                <a:solidFill>
                  <a:schemeClr val="tx1"/>
                </a:solidFill>
                <a:latin typeface="Corbel" panose="020B0503020204020204" pitchFamily="34" charset="0"/>
              </a:defRPr>
            </a:lvl2pPr>
            <a:lvl3pPr marL="1143000" indent="-228600">
              <a:spcBef>
                <a:spcPct val="20000"/>
              </a:spcBef>
              <a:defRPr>
                <a:solidFill>
                  <a:schemeClr val="tx1"/>
                </a:solidFill>
                <a:latin typeface="Corbel" panose="020B0503020204020204" pitchFamily="34" charset="0"/>
              </a:defRPr>
            </a:lvl3pPr>
            <a:lvl4pPr marL="1600200" indent="-228600">
              <a:spcBef>
                <a:spcPct val="20000"/>
              </a:spcBef>
              <a:defRPr>
                <a:solidFill>
                  <a:schemeClr val="tx1"/>
                </a:solidFill>
                <a:latin typeface="Corbel" panose="020B0503020204020204" pitchFamily="34" charset="0"/>
              </a:defRPr>
            </a:lvl4pPr>
            <a:lvl5pPr marL="2057400" indent="-228600">
              <a:spcBef>
                <a:spcPct val="20000"/>
              </a:spcBef>
              <a:defRPr>
                <a:solidFill>
                  <a:schemeClr val="tx1"/>
                </a:solidFill>
                <a:latin typeface="Corbel" panose="020B0503020204020204" pitchFamily="34" charset="0"/>
              </a:defRPr>
            </a:lvl5pPr>
            <a:lvl6pPr marL="2514600" indent="-228600" defTabSz="457200" eaLnBrk="0" fontAlgn="base" hangingPunct="0">
              <a:spcBef>
                <a:spcPct val="2000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2000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2000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20000"/>
              </a:spcBef>
              <a:spcAft>
                <a:spcPct val="0"/>
              </a:spcAft>
              <a:defRPr>
                <a:solidFill>
                  <a:schemeClr val="tx1"/>
                </a:solidFill>
                <a:latin typeface="Corbel" panose="020B0503020204020204" pitchFamily="34" charset="0"/>
              </a:defRPr>
            </a:lvl9pPr>
          </a:lstStyle>
          <a:p>
            <a:pPr algn="r" eaLnBrk="1" hangingPunct="1">
              <a:spcBef>
                <a:spcPct val="0"/>
              </a:spcBef>
            </a:pPr>
            <a:fld id="{727BC7EB-E3E1-47B6-A31B-8F5530878AF6}" type="slidenum">
              <a:rPr lang="en-US" altLang="en-US" sz="1100">
                <a:solidFill>
                  <a:schemeClr val="bg1"/>
                </a:solidFill>
                <a:ea typeface="Corbel" panose="020B0503020204020204" pitchFamily="34" charset="0"/>
                <a:cs typeface="Corbel" panose="020B0503020204020204" pitchFamily="34" charset="0"/>
              </a:rPr>
              <a:pPr algn="r" eaLnBrk="1" hangingPunct="1">
                <a:spcBef>
                  <a:spcPct val="0"/>
                </a:spcBef>
              </a:pPr>
              <a:t>32</a:t>
            </a:fld>
            <a:endParaRPr lang="en-US" altLang="en-US" sz="1100">
              <a:solidFill>
                <a:schemeClr val="bg1"/>
              </a:solidFill>
              <a:ea typeface="Corbel" panose="020B0503020204020204" pitchFamily="34" charset="0"/>
              <a:cs typeface="Corbel" panose="020B0503020204020204" pitchFamily="34" charset="0"/>
            </a:endParaRPr>
          </a:p>
        </p:txBody>
      </p:sp>
      <p:sp>
        <p:nvSpPr>
          <p:cNvPr id="31" name="Text Box 4">
            <a:extLst>
              <a:ext uri="{FF2B5EF4-FFF2-40B4-BE49-F238E27FC236}">
                <a16:creationId xmlns:a16="http://schemas.microsoft.com/office/drawing/2014/main" id="{BA004B4A-7E8A-47B0-0115-22A8EC91586B}"/>
              </a:ext>
            </a:extLst>
          </p:cNvPr>
          <p:cNvSpPr txBox="1">
            <a:spLocks noChangeArrowheads="1"/>
          </p:cNvSpPr>
          <p:nvPr/>
        </p:nvSpPr>
        <p:spPr bwMode="auto">
          <a:xfrm>
            <a:off x="1030288" y="2795588"/>
            <a:ext cx="6589712" cy="2538412"/>
          </a:xfrm>
          <a:prstGeom prst="rect">
            <a:avLst/>
          </a:prstGeom>
          <a:noFill/>
          <a:ln>
            <a:noFill/>
          </a:ln>
        </p:spPr>
        <p:txBody>
          <a:bodyPr lIns="0" tIns="0" rIns="0" bIns="0">
            <a:spAutoFit/>
          </a:bodyPr>
          <a:lstStyle>
            <a:lvl1pPr marL="171450" indent="-171450">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Aft>
                <a:spcPct val="0"/>
              </a:spcAft>
              <a:buFont typeface="Arial" charset="0"/>
              <a:buChar char="»"/>
              <a:defRPr sz="2000">
                <a:solidFill>
                  <a:schemeClr val="tx1"/>
                </a:solidFill>
                <a:latin typeface="Calibri" charset="0"/>
                <a:ea typeface="ＭＳ Ｐゴシック" charset="0"/>
              </a:defRPr>
            </a:lvl6pPr>
            <a:lvl7pPr eaLnBrk="0" fontAlgn="base" hangingPunct="0">
              <a:spcAft>
                <a:spcPct val="0"/>
              </a:spcAft>
              <a:buFont typeface="Arial" charset="0"/>
              <a:buChar char="»"/>
              <a:defRPr sz="2000">
                <a:solidFill>
                  <a:schemeClr val="tx1"/>
                </a:solidFill>
                <a:latin typeface="Calibri" charset="0"/>
                <a:ea typeface="ＭＳ Ｐゴシック" charset="0"/>
              </a:defRPr>
            </a:lvl7pPr>
            <a:lvl8pPr eaLnBrk="0" fontAlgn="base" hangingPunct="0">
              <a:spcAft>
                <a:spcPct val="0"/>
              </a:spcAft>
              <a:buFont typeface="Arial" charset="0"/>
              <a:buChar char="»"/>
              <a:defRPr sz="2000">
                <a:solidFill>
                  <a:schemeClr val="tx1"/>
                </a:solidFill>
                <a:latin typeface="Calibri" charset="0"/>
                <a:ea typeface="ＭＳ Ｐゴシック" charset="0"/>
              </a:defRPr>
            </a:lvl8pPr>
            <a:lvl9pPr eaLnBrk="0" fontAlgn="base" hangingPunct="0">
              <a:spcAft>
                <a:spcPct val="0"/>
              </a:spcAft>
              <a:buFont typeface="Arial" charset="0"/>
              <a:buChar char="»"/>
              <a:defRPr sz="2000">
                <a:solidFill>
                  <a:schemeClr val="tx1"/>
                </a:solidFill>
                <a:latin typeface="Calibri" charset="0"/>
                <a:ea typeface="ＭＳ Ｐゴシック" charset="0"/>
              </a:defRPr>
            </a:lvl9pPr>
          </a:lstStyle>
          <a:p>
            <a:pPr fontAlgn="auto">
              <a:spcBef>
                <a:spcPts val="0"/>
              </a:spcBef>
              <a:spcAft>
                <a:spcPts val="0"/>
              </a:spcAft>
              <a:buFont typeface="Arial"/>
              <a:buChar char="•"/>
              <a:defRPr/>
            </a:pPr>
            <a:r>
              <a:rPr lang="en-US" sz="1100" dirty="0">
                <a:solidFill>
                  <a:srgbClr val="00274D"/>
                </a:solidFill>
                <a:latin typeface="Corbel"/>
                <a:ea typeface="Corbel"/>
              </a:rPr>
              <a:t>The Marketing Representative has a full understanding of my business needs, goals and objectives.                                                                                                                                                       </a:t>
            </a:r>
          </a:p>
          <a:p>
            <a:pPr fontAlgn="auto">
              <a:spcBef>
                <a:spcPts val="0"/>
              </a:spcBef>
              <a:spcAft>
                <a:spcPts val="0"/>
              </a:spcAft>
              <a:buFont typeface="Arial"/>
              <a:buChar char="•"/>
              <a:defRPr/>
            </a:pPr>
            <a:endParaRPr lang="en-US" sz="1100" dirty="0">
              <a:solidFill>
                <a:srgbClr val="00274D"/>
              </a:solidFill>
              <a:latin typeface="Corbel"/>
              <a:ea typeface="Corbel"/>
            </a:endParaRPr>
          </a:p>
          <a:p>
            <a:pPr fontAlgn="auto">
              <a:spcBef>
                <a:spcPts val="0"/>
              </a:spcBef>
              <a:spcAft>
                <a:spcPts val="0"/>
              </a:spcAft>
              <a:buFont typeface="Arial"/>
              <a:buChar char="•"/>
              <a:defRPr/>
            </a:pPr>
            <a:r>
              <a:rPr lang="en-US" sz="1100" dirty="0">
                <a:solidFill>
                  <a:srgbClr val="00274D"/>
                </a:solidFill>
                <a:latin typeface="Corbel"/>
                <a:ea typeface="Corbel"/>
              </a:rPr>
              <a:t>He/she has been in constant contact to make sure that the program is running as planned.                                                                                                      </a:t>
            </a:r>
          </a:p>
          <a:p>
            <a:pPr fontAlgn="auto">
              <a:spcBef>
                <a:spcPts val="0"/>
              </a:spcBef>
              <a:spcAft>
                <a:spcPts val="0"/>
              </a:spcAft>
              <a:buFont typeface="Arial"/>
              <a:buChar char="•"/>
              <a:defRPr/>
            </a:pPr>
            <a:endParaRPr lang="en-US" sz="1100" dirty="0">
              <a:solidFill>
                <a:srgbClr val="00274D"/>
              </a:solidFill>
              <a:latin typeface="Corbel"/>
              <a:ea typeface="Corbel"/>
            </a:endParaRPr>
          </a:p>
          <a:p>
            <a:pPr fontAlgn="auto">
              <a:spcBef>
                <a:spcPts val="0"/>
              </a:spcBef>
              <a:spcAft>
                <a:spcPts val="0"/>
              </a:spcAft>
              <a:buFont typeface="Arial"/>
              <a:buChar char="•"/>
              <a:defRPr/>
            </a:pPr>
            <a:r>
              <a:rPr lang="en-US" sz="1100" dirty="0">
                <a:solidFill>
                  <a:srgbClr val="00274D"/>
                </a:solidFill>
                <a:latin typeface="Corbel"/>
                <a:ea typeface="Corbel"/>
              </a:rPr>
              <a:t>Statement/Invoice questions have been handled in a timely fashion. 	</a:t>
            </a:r>
          </a:p>
          <a:p>
            <a:pPr marL="0" indent="0" fontAlgn="auto">
              <a:spcBef>
                <a:spcPts val="0"/>
              </a:spcBef>
              <a:spcAft>
                <a:spcPts val="0"/>
              </a:spcAft>
              <a:defRPr/>
            </a:pPr>
            <a:r>
              <a:rPr lang="en-US" sz="1100" dirty="0">
                <a:solidFill>
                  <a:srgbClr val="00274D"/>
                </a:solidFill>
                <a:latin typeface="Corbel"/>
                <a:ea typeface="Corbel"/>
              </a:rPr>
              <a:t>			</a:t>
            </a:r>
          </a:p>
          <a:p>
            <a:pPr fontAlgn="auto">
              <a:spcBef>
                <a:spcPts val="0"/>
              </a:spcBef>
              <a:spcAft>
                <a:spcPts val="0"/>
              </a:spcAft>
              <a:buFont typeface="Arial"/>
              <a:buChar char="•"/>
              <a:defRPr/>
            </a:pPr>
            <a:r>
              <a:rPr lang="en-US" sz="1100" dirty="0">
                <a:solidFill>
                  <a:srgbClr val="00274D"/>
                </a:solidFill>
                <a:latin typeface="Corbel"/>
                <a:ea typeface="Corbel"/>
              </a:rPr>
              <a:t>Client calls have been returned within a reasonable time frame.	</a:t>
            </a:r>
          </a:p>
          <a:p>
            <a:pPr fontAlgn="auto">
              <a:spcBef>
                <a:spcPts val="0"/>
              </a:spcBef>
              <a:spcAft>
                <a:spcPts val="0"/>
              </a:spcAft>
              <a:buFont typeface="Arial"/>
              <a:buChar char="•"/>
              <a:defRPr/>
            </a:pPr>
            <a:endParaRPr lang="en-US" sz="1100" dirty="0">
              <a:solidFill>
                <a:srgbClr val="00274D"/>
              </a:solidFill>
              <a:latin typeface="Corbel"/>
              <a:ea typeface="Corbel"/>
            </a:endParaRPr>
          </a:p>
          <a:p>
            <a:pPr fontAlgn="auto">
              <a:spcBef>
                <a:spcPts val="0"/>
              </a:spcBef>
              <a:spcAft>
                <a:spcPts val="0"/>
              </a:spcAft>
              <a:buFont typeface="Arial"/>
              <a:buChar char="•"/>
              <a:defRPr/>
            </a:pPr>
            <a:r>
              <a:rPr lang="en-US" sz="1100" dirty="0">
                <a:solidFill>
                  <a:srgbClr val="00274D"/>
                </a:solidFill>
                <a:latin typeface="Corbel"/>
                <a:ea typeface="Corbel"/>
              </a:rPr>
              <a:t>Promises have been kept and commitments have been honored at all times.</a:t>
            </a:r>
          </a:p>
          <a:p>
            <a:pPr fontAlgn="auto">
              <a:spcBef>
                <a:spcPts val="0"/>
              </a:spcBef>
              <a:spcAft>
                <a:spcPts val="0"/>
              </a:spcAft>
              <a:buFont typeface="Arial"/>
              <a:buChar char="•"/>
              <a:defRPr/>
            </a:pPr>
            <a:endParaRPr lang="en-US" sz="1100" dirty="0">
              <a:solidFill>
                <a:srgbClr val="00274D"/>
              </a:solidFill>
              <a:latin typeface="Corbel"/>
              <a:ea typeface="Corbel"/>
            </a:endParaRPr>
          </a:p>
          <a:p>
            <a:pPr fontAlgn="auto">
              <a:spcBef>
                <a:spcPts val="0"/>
              </a:spcBef>
              <a:spcAft>
                <a:spcPts val="0"/>
              </a:spcAft>
              <a:buFont typeface="Arial"/>
              <a:buChar char="•"/>
              <a:defRPr/>
            </a:pPr>
            <a:r>
              <a:rPr lang="en-US" sz="1100" dirty="0">
                <a:solidFill>
                  <a:srgbClr val="00274D"/>
                </a:solidFill>
                <a:latin typeface="Corbel"/>
                <a:ea typeface="Corbel"/>
              </a:rPr>
              <a:t>The overall service experience rating I would give my Marketing Representative.                          </a:t>
            </a:r>
          </a:p>
          <a:p>
            <a:pPr fontAlgn="auto">
              <a:spcBef>
                <a:spcPts val="0"/>
              </a:spcBef>
              <a:spcAft>
                <a:spcPts val="0"/>
              </a:spcAft>
              <a:buFont typeface="Arial"/>
              <a:buChar char="•"/>
              <a:defRPr/>
            </a:pPr>
            <a:endParaRPr lang="en-US" sz="1100" dirty="0">
              <a:solidFill>
                <a:srgbClr val="00274D"/>
              </a:solidFill>
              <a:latin typeface="Corbel"/>
              <a:ea typeface="Corbel"/>
            </a:endParaRPr>
          </a:p>
          <a:p>
            <a:pPr fontAlgn="auto">
              <a:spcBef>
                <a:spcPts val="0"/>
              </a:spcBef>
              <a:spcAft>
                <a:spcPts val="0"/>
              </a:spcAft>
              <a:buFont typeface="Arial"/>
              <a:buChar char="•"/>
              <a:defRPr/>
            </a:pPr>
            <a:r>
              <a:rPr lang="en-US" sz="1100" dirty="0">
                <a:solidFill>
                  <a:srgbClr val="00274D"/>
                </a:solidFill>
                <a:latin typeface="Corbel"/>
                <a:ea typeface="Corbel"/>
              </a:rPr>
              <a:t>The marketing program has met my expectations given the time period it has been running.                   </a:t>
            </a:r>
          </a:p>
          <a:p>
            <a:pPr fontAlgn="auto">
              <a:spcBef>
                <a:spcPts val="0"/>
              </a:spcBef>
              <a:spcAft>
                <a:spcPts val="0"/>
              </a:spcAft>
              <a:buFont typeface="Arial"/>
              <a:buChar char="•"/>
              <a:defRPr/>
            </a:pPr>
            <a:endParaRPr lang="en-US" sz="1100" dirty="0">
              <a:solidFill>
                <a:srgbClr val="00274D"/>
              </a:solidFill>
              <a:latin typeface="Corbel"/>
              <a:ea typeface="Corbel"/>
            </a:endParaRPr>
          </a:p>
          <a:p>
            <a:pPr fontAlgn="auto">
              <a:spcBef>
                <a:spcPts val="0"/>
              </a:spcBef>
              <a:spcAft>
                <a:spcPts val="0"/>
              </a:spcAft>
              <a:buFont typeface="Arial"/>
              <a:buChar char="•"/>
              <a:defRPr/>
            </a:pPr>
            <a:r>
              <a:rPr lang="en-US" sz="1100" dirty="0">
                <a:solidFill>
                  <a:srgbClr val="00274D"/>
                </a:solidFill>
                <a:latin typeface="Corbel"/>
                <a:ea typeface="Corbel"/>
              </a:rPr>
              <a:t>How likely I would be to recommend someone else to this group. </a:t>
            </a:r>
          </a:p>
        </p:txBody>
      </p:sp>
      <p:sp>
        <p:nvSpPr>
          <p:cNvPr id="56325" name="Text Box 5">
            <a:extLst>
              <a:ext uri="{FF2B5EF4-FFF2-40B4-BE49-F238E27FC236}">
                <a16:creationId xmlns:a16="http://schemas.microsoft.com/office/drawing/2014/main" id="{4554FBB5-B72B-97EA-914C-47B814E77F51}"/>
              </a:ext>
            </a:extLst>
          </p:cNvPr>
          <p:cNvSpPr txBox="1">
            <a:spLocks noChangeArrowheads="1"/>
          </p:cNvSpPr>
          <p:nvPr/>
        </p:nvSpPr>
        <p:spPr bwMode="auto">
          <a:xfrm>
            <a:off x="496888" y="1393825"/>
            <a:ext cx="8150225"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b="1" i="1">
                <a:solidFill>
                  <a:srgbClr val="00274D"/>
                </a:solidFill>
                <a:ea typeface="Corbel" panose="020B0503020204020204" pitchFamily="34" charset="0"/>
                <a:cs typeface="Corbel" panose="020B0503020204020204" pitchFamily="34" charset="0"/>
              </a:rPr>
              <a:t>The Sales Service Agreement is part of our </a:t>
            </a:r>
            <a:r>
              <a:rPr lang="en-US" altLang="en-US" sz="1000" b="1">
                <a:solidFill>
                  <a:srgbClr val="00274D"/>
                </a:solidFill>
                <a:ea typeface="Corbel" panose="020B0503020204020204" pitchFamily="34" charset="0"/>
                <a:cs typeface="Corbel" panose="020B0503020204020204" pitchFamily="34" charset="0"/>
              </a:rPr>
              <a:t>Consumer</a:t>
            </a:r>
            <a:r>
              <a:rPr lang="en-US" altLang="en-US" sz="1000" b="1" i="1">
                <a:solidFill>
                  <a:srgbClr val="00274D"/>
                </a:solidFill>
                <a:ea typeface="Corbel" panose="020B0503020204020204" pitchFamily="34" charset="0"/>
                <a:cs typeface="Corbel" panose="020B0503020204020204" pitchFamily="34" charset="0"/>
              </a:rPr>
              <a:t> Satisfaction Index Program (CSI) which is meant to build and serve long-term alliances. Please help me know how well we are servicing you by grading each of the following segments 1 to 5 with 5 being the highest. Place the chosen number on each line.</a:t>
            </a:r>
          </a:p>
        </p:txBody>
      </p:sp>
      <p:sp>
        <p:nvSpPr>
          <p:cNvPr id="56326" name="Text Box 6">
            <a:extLst>
              <a:ext uri="{FF2B5EF4-FFF2-40B4-BE49-F238E27FC236}">
                <a16:creationId xmlns:a16="http://schemas.microsoft.com/office/drawing/2014/main" id="{B7803ADF-7D72-5675-0E47-09D55C3DE0C2}"/>
              </a:ext>
            </a:extLst>
          </p:cNvPr>
          <p:cNvSpPr txBox="1">
            <a:spLocks noChangeArrowheads="1"/>
          </p:cNvSpPr>
          <p:nvPr/>
        </p:nvSpPr>
        <p:spPr bwMode="auto">
          <a:xfrm>
            <a:off x="1030288" y="2505075"/>
            <a:ext cx="217487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100" b="1">
                <a:solidFill>
                  <a:srgbClr val="00274D"/>
                </a:solidFill>
                <a:ea typeface="Corbel" panose="020B0503020204020204" pitchFamily="34" charset="0"/>
                <a:cs typeface="Corbel" panose="020B0503020204020204" pitchFamily="34" charset="0"/>
              </a:rPr>
              <a:t>CONTINUOUS BASIC SERVICE</a:t>
            </a:r>
          </a:p>
        </p:txBody>
      </p:sp>
      <p:pic>
        <p:nvPicPr>
          <p:cNvPr id="56327" name="Picture 7">
            <a:extLst>
              <a:ext uri="{FF2B5EF4-FFF2-40B4-BE49-F238E27FC236}">
                <a16:creationId xmlns:a16="http://schemas.microsoft.com/office/drawing/2014/main" id="{B5BEF0DB-231C-1BBB-00DE-F3A51D6044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338" y="2897188"/>
            <a:ext cx="492125" cy="3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8" name="Picture 8">
            <a:extLst>
              <a:ext uri="{FF2B5EF4-FFF2-40B4-BE49-F238E27FC236}">
                <a16:creationId xmlns:a16="http://schemas.microsoft.com/office/drawing/2014/main" id="{DBA4500A-6A39-B900-8160-2BC667232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338" y="3221038"/>
            <a:ext cx="492125" cy="3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9" name="Picture 9">
            <a:extLst>
              <a:ext uri="{FF2B5EF4-FFF2-40B4-BE49-F238E27FC236}">
                <a16:creationId xmlns:a16="http://schemas.microsoft.com/office/drawing/2014/main" id="{90A7A71D-2AE1-EBDA-38FE-53317969AB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338" y="3582988"/>
            <a:ext cx="492125" cy="3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0" name="Picture 11">
            <a:extLst>
              <a:ext uri="{FF2B5EF4-FFF2-40B4-BE49-F238E27FC236}">
                <a16:creationId xmlns:a16="http://schemas.microsoft.com/office/drawing/2014/main" id="{90FBD047-CC24-53C9-ACB6-A391A0AB4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338" y="3963988"/>
            <a:ext cx="492125" cy="3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1" name="Picture 12">
            <a:extLst>
              <a:ext uri="{FF2B5EF4-FFF2-40B4-BE49-F238E27FC236}">
                <a16:creationId xmlns:a16="http://schemas.microsoft.com/office/drawing/2014/main" id="{7CB82787-1261-A034-D725-4830E72041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338" y="4572000"/>
            <a:ext cx="492125" cy="3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2" name="Picture 13">
            <a:extLst>
              <a:ext uri="{FF2B5EF4-FFF2-40B4-BE49-F238E27FC236}">
                <a16:creationId xmlns:a16="http://schemas.microsoft.com/office/drawing/2014/main" id="{2B57084C-276B-A707-9334-EC6DB37C87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338" y="4953000"/>
            <a:ext cx="492125" cy="3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3" name="Picture 14">
            <a:extLst>
              <a:ext uri="{FF2B5EF4-FFF2-40B4-BE49-F238E27FC236}">
                <a16:creationId xmlns:a16="http://schemas.microsoft.com/office/drawing/2014/main" id="{B4B057FE-488A-80AF-2BA2-F8EE4EFAE1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338" y="5278438"/>
            <a:ext cx="492125" cy="3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4" name="Picture 18">
            <a:extLst>
              <a:ext uri="{FF2B5EF4-FFF2-40B4-BE49-F238E27FC236}">
                <a16:creationId xmlns:a16="http://schemas.microsoft.com/office/drawing/2014/main" id="{BA0382AA-702D-851C-EBD9-6492F4EFEB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6338" y="4256088"/>
            <a:ext cx="492125" cy="3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35" name="Picture 20">
            <a:extLst>
              <a:ext uri="{FF2B5EF4-FFF2-40B4-BE49-F238E27FC236}">
                <a16:creationId xmlns:a16="http://schemas.microsoft.com/office/drawing/2014/main" id="{0D4A3B3F-79E3-3748-3478-4BCCB56CBF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5967413"/>
            <a:ext cx="2678113"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36" name="Text Box 21">
            <a:extLst>
              <a:ext uri="{FF2B5EF4-FFF2-40B4-BE49-F238E27FC236}">
                <a16:creationId xmlns:a16="http://schemas.microsoft.com/office/drawing/2014/main" id="{1782CDD9-0411-571D-8BC9-7B848FBF4AFB}"/>
              </a:ext>
            </a:extLst>
          </p:cNvPr>
          <p:cNvSpPr txBox="1">
            <a:spLocks noChangeArrowheads="1"/>
          </p:cNvSpPr>
          <p:nvPr/>
        </p:nvSpPr>
        <p:spPr bwMode="auto">
          <a:xfrm>
            <a:off x="4767263" y="6026150"/>
            <a:ext cx="1023937"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b="1">
                <a:solidFill>
                  <a:srgbClr val="00274D"/>
                </a:solidFill>
                <a:ea typeface="Corbel" panose="020B0503020204020204" pitchFamily="34" charset="0"/>
                <a:cs typeface="Corbel" panose="020B0503020204020204" pitchFamily="34" charset="0"/>
              </a:rPr>
              <a:t>Signed by Client</a:t>
            </a:r>
          </a:p>
        </p:txBody>
      </p:sp>
      <p:sp>
        <p:nvSpPr>
          <p:cNvPr id="56337" name="Text Box 22">
            <a:extLst>
              <a:ext uri="{FF2B5EF4-FFF2-40B4-BE49-F238E27FC236}">
                <a16:creationId xmlns:a16="http://schemas.microsoft.com/office/drawing/2014/main" id="{D6239301-CB02-F022-81C2-A220CFF82E02}"/>
              </a:ext>
            </a:extLst>
          </p:cNvPr>
          <p:cNvSpPr txBox="1">
            <a:spLocks noChangeArrowheads="1"/>
          </p:cNvSpPr>
          <p:nvPr/>
        </p:nvSpPr>
        <p:spPr bwMode="auto">
          <a:xfrm>
            <a:off x="1614488" y="6026150"/>
            <a:ext cx="1738312"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b="1">
                <a:solidFill>
                  <a:srgbClr val="00274D"/>
                </a:solidFill>
                <a:ea typeface="Corbel" panose="020B0503020204020204" pitchFamily="34" charset="0"/>
                <a:cs typeface="Corbel" panose="020B0503020204020204" pitchFamily="34" charset="0"/>
              </a:rPr>
              <a:t>Signed by Account Executive</a:t>
            </a:r>
          </a:p>
        </p:txBody>
      </p:sp>
      <p:sp>
        <p:nvSpPr>
          <p:cNvPr id="56338" name="Text Box 23">
            <a:extLst>
              <a:ext uri="{FF2B5EF4-FFF2-40B4-BE49-F238E27FC236}">
                <a16:creationId xmlns:a16="http://schemas.microsoft.com/office/drawing/2014/main" id="{484E51AD-BDCE-FA8E-1808-14E57D9E71A9}"/>
              </a:ext>
            </a:extLst>
          </p:cNvPr>
          <p:cNvSpPr txBox="1">
            <a:spLocks noChangeArrowheads="1"/>
          </p:cNvSpPr>
          <p:nvPr/>
        </p:nvSpPr>
        <p:spPr bwMode="auto">
          <a:xfrm>
            <a:off x="3856038" y="6026150"/>
            <a:ext cx="37147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b="1">
                <a:solidFill>
                  <a:srgbClr val="00274D"/>
                </a:solidFill>
                <a:ea typeface="Corbel" panose="020B0503020204020204" pitchFamily="34" charset="0"/>
                <a:cs typeface="Corbel" panose="020B0503020204020204" pitchFamily="34" charset="0"/>
              </a:rPr>
              <a:t>Date</a:t>
            </a:r>
          </a:p>
        </p:txBody>
      </p:sp>
      <p:sp>
        <p:nvSpPr>
          <p:cNvPr id="56339" name="Text Box 24">
            <a:extLst>
              <a:ext uri="{FF2B5EF4-FFF2-40B4-BE49-F238E27FC236}">
                <a16:creationId xmlns:a16="http://schemas.microsoft.com/office/drawing/2014/main" id="{857F8F46-0CAA-3BEB-67E5-B4F8125F5484}"/>
              </a:ext>
            </a:extLst>
          </p:cNvPr>
          <p:cNvSpPr txBox="1">
            <a:spLocks noChangeArrowheads="1"/>
          </p:cNvSpPr>
          <p:nvPr/>
        </p:nvSpPr>
        <p:spPr bwMode="auto">
          <a:xfrm>
            <a:off x="7056438" y="6026150"/>
            <a:ext cx="371475" cy="14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000" b="1">
                <a:solidFill>
                  <a:srgbClr val="00274D"/>
                </a:solidFill>
                <a:ea typeface="Corbel" panose="020B0503020204020204" pitchFamily="34" charset="0"/>
                <a:cs typeface="Corbel" panose="020B0503020204020204" pitchFamily="34" charset="0"/>
              </a:rPr>
              <a:t>Date</a:t>
            </a:r>
          </a:p>
        </p:txBody>
      </p:sp>
      <p:pic>
        <p:nvPicPr>
          <p:cNvPr id="56340" name="Picture 25">
            <a:extLst>
              <a:ext uri="{FF2B5EF4-FFF2-40B4-BE49-F238E27FC236}">
                <a16:creationId xmlns:a16="http://schemas.microsoft.com/office/drawing/2014/main" id="{C57DB3A2-94FB-3F61-7737-EF005984C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2813" y="5967413"/>
            <a:ext cx="2679700" cy="2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41" name="Text Box 28">
            <a:extLst>
              <a:ext uri="{FF2B5EF4-FFF2-40B4-BE49-F238E27FC236}">
                <a16:creationId xmlns:a16="http://schemas.microsoft.com/office/drawing/2014/main" id="{68F790EB-0569-9BFE-DCA4-9BB0D917A5C3}"/>
              </a:ext>
            </a:extLst>
          </p:cNvPr>
          <p:cNvSpPr txBox="1">
            <a:spLocks noChangeArrowheads="1"/>
          </p:cNvSpPr>
          <p:nvPr/>
        </p:nvSpPr>
        <p:spPr bwMode="auto">
          <a:xfrm>
            <a:off x="1074738" y="2060575"/>
            <a:ext cx="2332037"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lnSpc>
                <a:spcPct val="95000"/>
              </a:lnSpc>
            </a:pPr>
            <a:r>
              <a:rPr lang="en-US" altLang="en-US" sz="1300" b="1">
                <a:solidFill>
                  <a:srgbClr val="00274D"/>
                </a:solidFill>
                <a:ea typeface="Corbel" panose="020B0503020204020204" pitchFamily="34" charset="0"/>
                <a:cs typeface="Corbel" panose="020B0503020204020204" pitchFamily="34" charset="0"/>
              </a:rPr>
              <a:t>This agreement is between</a:t>
            </a:r>
          </a:p>
        </p:txBody>
      </p:sp>
      <p:sp>
        <p:nvSpPr>
          <p:cNvPr id="56342" name="TextBox 28">
            <a:extLst>
              <a:ext uri="{FF2B5EF4-FFF2-40B4-BE49-F238E27FC236}">
                <a16:creationId xmlns:a16="http://schemas.microsoft.com/office/drawing/2014/main" id="{9D72BC0F-331F-881D-1486-8A3A427A7226}"/>
              </a:ext>
            </a:extLst>
          </p:cNvPr>
          <p:cNvSpPr txBox="1">
            <a:spLocks noChangeArrowheads="1"/>
          </p:cNvSpPr>
          <p:nvPr/>
        </p:nvSpPr>
        <p:spPr bwMode="auto">
          <a:xfrm>
            <a:off x="2887663" y="2024063"/>
            <a:ext cx="2638425"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endParaRPr lang="en-US" altLang="en-US" sz="1300">
              <a:solidFill>
                <a:srgbClr val="00274D"/>
              </a:solidFill>
              <a:ea typeface="Corbel" panose="020B0503020204020204" pitchFamily="34" charset="0"/>
              <a:cs typeface="Corbel" panose="020B0503020204020204" pitchFamily="34" charset="0"/>
            </a:endParaRPr>
          </a:p>
        </p:txBody>
      </p:sp>
      <p:sp>
        <p:nvSpPr>
          <p:cNvPr id="56343" name="TextBox 29">
            <a:extLst>
              <a:ext uri="{FF2B5EF4-FFF2-40B4-BE49-F238E27FC236}">
                <a16:creationId xmlns:a16="http://schemas.microsoft.com/office/drawing/2014/main" id="{307333E7-01AA-62A2-BCF8-D2B8DB33B641}"/>
              </a:ext>
            </a:extLst>
          </p:cNvPr>
          <p:cNvSpPr txBox="1">
            <a:spLocks noChangeArrowheads="1"/>
          </p:cNvSpPr>
          <p:nvPr/>
        </p:nvSpPr>
        <p:spPr bwMode="auto">
          <a:xfrm>
            <a:off x="5121275" y="2024063"/>
            <a:ext cx="280988"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300">
                <a:solidFill>
                  <a:srgbClr val="00274D"/>
                </a:solidFill>
                <a:ea typeface="Corbel" panose="020B0503020204020204" pitchFamily="34" charset="0"/>
                <a:cs typeface="Corbel" panose="020B0503020204020204" pitchFamily="34" charset="0"/>
              </a:rPr>
              <a:t>&amp;</a:t>
            </a:r>
          </a:p>
        </p:txBody>
      </p:sp>
      <p:sp>
        <p:nvSpPr>
          <p:cNvPr id="56344" name="TextBox 30">
            <a:extLst>
              <a:ext uri="{FF2B5EF4-FFF2-40B4-BE49-F238E27FC236}">
                <a16:creationId xmlns:a16="http://schemas.microsoft.com/office/drawing/2014/main" id="{42516D3A-FC8D-FF81-DBE8-9C5C1F558FF0}"/>
              </a:ext>
            </a:extLst>
          </p:cNvPr>
          <p:cNvSpPr txBox="1">
            <a:spLocks noChangeArrowheads="1"/>
          </p:cNvSpPr>
          <p:nvPr/>
        </p:nvSpPr>
        <p:spPr bwMode="auto">
          <a:xfrm>
            <a:off x="5394325" y="2014538"/>
            <a:ext cx="3138488"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296" tIns="41148" rIns="82296" bIns="41148">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endParaRPr lang="en-US" altLang="en-US" sz="1300">
              <a:solidFill>
                <a:srgbClr val="00274D"/>
              </a:solidFill>
              <a:ea typeface="Corbel" panose="020B0503020204020204" pitchFamily="34" charset="0"/>
              <a:cs typeface="Corbel" panose="020B0503020204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ixel">
      <a:majorFont>
        <a:latin typeface="Corbel"/>
        <a:ea typeface=""/>
        <a:cs typeface=""/>
        <a:font script="Jpan" typeface="メイリオ"/>
        <a:font script="Hans" typeface="宋体"/>
        <a:font script="Hant" typeface="新細明體"/>
      </a:majorFont>
      <a:minorFont>
        <a:latin typeface="Corbel"/>
        <a:ea typeface=""/>
        <a:cs typeface=""/>
        <a:font script="Jpan" typeface="メイリオ"/>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5289</TotalTime>
  <Words>3928</Words>
  <Application>Microsoft Office PowerPoint</Application>
  <PresentationFormat>On-screen Show (4:3)</PresentationFormat>
  <Paragraphs>590</Paragraphs>
  <Slides>32</Slides>
  <Notes>6</Notes>
  <HiddenSlides>0</HiddenSlides>
  <MMClips>0</MMClips>
  <ScaleCrop>false</ScaleCrop>
  <HeadingPairs>
    <vt:vector size="8" baseType="variant">
      <vt:variant>
        <vt:lpstr>Fonts Used</vt:lpstr>
      </vt:variant>
      <vt:variant>
        <vt:i4>3</vt:i4>
      </vt:variant>
      <vt:variant>
        <vt:lpstr>Theme</vt:lpstr>
      </vt:variant>
      <vt:variant>
        <vt:i4>3</vt:i4>
      </vt:variant>
      <vt:variant>
        <vt:lpstr>Embedded OLE Servers</vt:lpstr>
      </vt:variant>
      <vt:variant>
        <vt:i4>3</vt:i4>
      </vt:variant>
      <vt:variant>
        <vt:lpstr>Slide Titles</vt:lpstr>
      </vt:variant>
      <vt:variant>
        <vt:i4>32</vt:i4>
      </vt:variant>
    </vt:vector>
  </HeadingPairs>
  <TitlesOfParts>
    <vt:vector size="41" baseType="lpstr">
      <vt:lpstr>Arial</vt:lpstr>
      <vt:lpstr>Calibri</vt:lpstr>
      <vt:lpstr>Corbel</vt:lpstr>
      <vt:lpstr>Office Theme</vt:lpstr>
      <vt:lpstr>1_Office Theme</vt:lpstr>
      <vt:lpstr>2_Office Theme</vt:lpstr>
      <vt:lpstr>Chart</vt:lpstr>
      <vt:lpstr>Worksheet</vt:lpstr>
      <vt:lpstr>Microsoft Excel 97-2003 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Schedule – Plan A</vt:lpstr>
      <vt:lpstr>PowerPoint Presentation</vt:lpstr>
      <vt:lpstr>PowerPoint Presentation</vt:lpstr>
      <vt:lpstr>PowerPoint Presentation</vt:lpstr>
      <vt:lpstr>PowerPoint Presentation</vt:lpstr>
      <vt:lpstr>PowerPoint Presentation</vt:lpstr>
      <vt:lpstr>Proposed Schedule – Plan 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Michael Guld</dc:creator>
  <cp:lastModifiedBy>Michael Guld</cp:lastModifiedBy>
  <cp:revision>175</cp:revision>
  <dcterms:created xsi:type="dcterms:W3CDTF">2017-01-08T22:14:46Z</dcterms:created>
  <dcterms:modified xsi:type="dcterms:W3CDTF">2025-11-05T22:11:24Z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2017-01-08T00:00:00Z</vt:filetime>
  </property>
  <property fmtid="{D5CDD505-2E9C-101B-9397-08002B2CF9AE}" pid="3" name="Creator">
    <vt:lpwstr>Adobe InDesign CC 2017 (Macintosh)</vt:lpwstr>
  </property>
  <property fmtid="{D5CDD505-2E9C-101B-9397-08002B2CF9AE}" pid="4" name="LastSaved">
    <vt:filetime>2017-01-09T00:00:00Z</vt:filetime>
  </property>
</Properties>
</file>