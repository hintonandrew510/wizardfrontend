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43B301-A513-46AE-A318-959FE2672BD8}" v="2" dt="2026-01-03T22:13:19.609"/>
  </p1510:revLst>
</p1510:revInfo>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304"/>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ClientObjectivesOnePage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1-03T14:13:19.609" idx="1">
    <p:pos x="10" y="10"/>
    <p:text>ConfidentialClientEvaluationOnePage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b1f3d784ca_0_4: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b1f3d784c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90250" y="640213"/>
            <a:ext cx="6367800" cy="5817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7" name="Google Shape;47;p8"/>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3">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a:solidFill>
                  <a:schemeClr val="dk1"/>
                </a:solidFill>
                <a:latin typeface="Verdana"/>
                <a:ea typeface="Verdana"/>
                <a:cs typeface="Verdana"/>
                <a:sym typeface="Verdana"/>
              </a:rPr>
              <a:t>Copyright © 1984-2023  Executive Decision Systems, Inc. and The Guld Resource Group, LLC.</a:t>
            </a:r>
            <a:endParaRPr sz="700" b="1">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wwww.com"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wwww.com"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2"/>
                </a:solidFill>
                <a:latin typeface="Verdana"/>
                <a:ea typeface="Verdana"/>
                <a:cs typeface="Verdana"/>
                <a:sym typeface="Verdana"/>
              </a:rPr>
              <a:t>{{</a:t>
            </a:r>
            <a:r>
              <a:rPr lang="en" b="0">
                <a:latin typeface="Verdana"/>
                <a:ea typeface="Verdana"/>
                <a:cs typeface="Verdana"/>
                <a:sym typeface="Verdana"/>
              </a:rPr>
              <a:t>clientContactName</a:t>
            </a:r>
            <a:r>
              <a:rPr lang="en">
                <a:solidFill>
                  <a:schemeClr val="accent2"/>
                </a:solidFill>
                <a:latin typeface="Verdana"/>
                <a:ea typeface="Verdana"/>
                <a:cs typeface="Verdana"/>
                <a:sym typeface="Verdana"/>
              </a:rPr>
              <a:t>}}</a:t>
            </a:r>
            <a:endParaRPr>
              <a:solidFill>
                <a:schemeClr val="accent2"/>
              </a:solidFill>
              <a:latin typeface="Verdana"/>
              <a:ea typeface="Verdana"/>
              <a:cs typeface="Verdana"/>
              <a:sym typeface="Verdana"/>
            </a:endParaRPr>
          </a:p>
          <a:p>
            <a:pPr marL="0" lvl="0" indent="0" algn="l" rtl="0">
              <a:spcBef>
                <a:spcPts val="0"/>
              </a:spcBef>
              <a:spcAft>
                <a:spcPts val="1600"/>
              </a:spcAft>
              <a:buNone/>
            </a:pPr>
            <a:endParaRPr>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latin typeface="Verdana"/>
                <a:ea typeface="Verdana"/>
                <a:cs typeface="Verdana"/>
                <a:sym typeface="Verdana"/>
              </a:rPr>
              <a:t>{{</a:t>
            </a:r>
            <a:r>
              <a:rPr lang="en" b="0">
                <a:latin typeface="Verdana"/>
                <a:ea typeface="Verdana"/>
                <a:cs typeface="Verdana"/>
                <a:sym typeface="Verdana"/>
              </a:rPr>
              <a:t>clientBusinessName</a:t>
            </a:r>
            <a:r>
              <a:rPr lang="en">
                <a:latin typeface="Verdana"/>
                <a:ea typeface="Verdana"/>
                <a:cs typeface="Verdana"/>
                <a:sym typeface="Verdana"/>
              </a:rPr>
              <a:t>}}</a:t>
            </a:r>
            <a:endParaRPr>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Verdana"/>
                <a:ea typeface="Verdana"/>
                <a:cs typeface="Verdana"/>
                <a:sym typeface="Verdana"/>
              </a:rPr>
              <a:t>{{</a:t>
            </a:r>
            <a:r>
              <a:rPr lang="en" b="0">
                <a:latin typeface="Verdana"/>
                <a:ea typeface="Verdana"/>
                <a:cs typeface="Verdana"/>
                <a:sym typeface="Verdana"/>
              </a:rPr>
              <a:t>portfolioManagerName</a:t>
            </a:r>
            <a:r>
              <a:rPr lang="en">
                <a:latin typeface="Verdana"/>
                <a:ea typeface="Verdana"/>
                <a:cs typeface="Verdana"/>
                <a:sym typeface="Verdana"/>
              </a:rPr>
              <a:t>}}</a:t>
            </a:r>
            <a:endParaRPr>
              <a:latin typeface="Verdana"/>
              <a:ea typeface="Verdana"/>
              <a:cs typeface="Verdana"/>
              <a:sym typeface="Verdana"/>
            </a:endParaRPr>
          </a:p>
          <a:p>
            <a:pPr marL="0" lvl="0" indent="0" algn="l" rtl="0">
              <a:spcBef>
                <a:spcPts val="1600"/>
              </a:spcBef>
              <a:spcAft>
                <a:spcPts val="1600"/>
              </a:spcAft>
              <a:buNone/>
            </a:pPr>
            <a:endParaRPr>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Verdana"/>
                <a:ea typeface="Verdana"/>
                <a:cs typeface="Verdana"/>
                <a:sym typeface="Verdana"/>
              </a:rPr>
              <a:t>{{</a:t>
            </a:r>
            <a:r>
              <a:rPr lang="en" b="0">
                <a:latin typeface="Verdana"/>
                <a:ea typeface="Verdana"/>
                <a:cs typeface="Verdana"/>
                <a:sym typeface="Verdana"/>
              </a:rPr>
              <a:t>station</a:t>
            </a:r>
            <a:r>
              <a:rPr lang="en">
                <a:latin typeface="Verdana"/>
                <a:ea typeface="Verdana"/>
                <a:cs typeface="Verdana"/>
                <a:sym typeface="Verdana"/>
              </a:rPr>
              <a:t>}}</a:t>
            </a:r>
            <a:endParaRPr>
              <a:latin typeface="Verdana"/>
              <a:ea typeface="Verdana"/>
              <a:cs typeface="Verdana"/>
              <a:sym typeface="Verdana"/>
            </a:endParaRPr>
          </a:p>
          <a:p>
            <a:pPr marL="0" lvl="0" indent="0" algn="l" rtl="0">
              <a:spcBef>
                <a:spcPts val="1600"/>
              </a:spcBef>
              <a:spcAft>
                <a:spcPts val="1600"/>
              </a:spcAft>
              <a:buNone/>
            </a:pPr>
            <a:endParaRPr>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Team Commitment</a:t>
            </a:r>
            <a:endParaRPr/>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15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150">
              <a:solidFill>
                <a:srgbClr val="000000"/>
              </a:solidFill>
              <a:latin typeface="Verdana"/>
              <a:ea typeface="Verdana"/>
              <a:cs typeface="Verdana"/>
              <a:sym typeface="Verdana"/>
            </a:endParaRPr>
          </a:p>
          <a:p>
            <a:pPr marL="0" lvl="0" indent="0" algn="l" rtl="0">
              <a:spcBef>
                <a:spcPts val="0"/>
              </a:spcBef>
              <a:spcAft>
                <a:spcPts val="1600"/>
              </a:spcAft>
              <a:buNone/>
            </a:pPr>
            <a:endParaRPr sz="1150">
              <a:solidFill>
                <a:srgbClr val="000000"/>
              </a:solidFill>
              <a:latin typeface="Verdana"/>
              <a:ea typeface="Verdana"/>
              <a:cs typeface="Verdana"/>
              <a:sym typeface="Verdana"/>
            </a:endParaRPr>
          </a:p>
        </p:txBody>
      </p:sp>
      <p:sp>
        <p:nvSpPr>
          <p:cNvPr id="78" name="Google Shape;78;p14"/>
          <p:cNvSpPr txBox="1"/>
          <p:nvPr/>
        </p:nvSpPr>
        <p:spPr>
          <a:xfrm>
            <a:off x="954300" y="1321687"/>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a:latin typeface="Verdana"/>
                <a:ea typeface="Verdana"/>
                <a:cs typeface="Verdana"/>
                <a:sym typeface="Verdana"/>
              </a:rPr>
              <a:t>The following proposal will be submitted to</a:t>
            </a:r>
            <a:endParaRPr sz="1550" b="1">
              <a:latin typeface="Verdana"/>
              <a:ea typeface="Verdana"/>
              <a:cs typeface="Verdana"/>
              <a:sym typeface="Verdana"/>
            </a:endParaRPr>
          </a:p>
          <a:p>
            <a:pPr marL="0" lvl="0" indent="0" algn="ctr" rtl="0">
              <a:spcBef>
                <a:spcPts val="0"/>
              </a:spcBef>
              <a:spcAft>
                <a:spcPts val="0"/>
              </a:spcAft>
              <a:buNone/>
            </a:pPr>
            <a:r>
              <a:rPr lang="en" sz="1550" b="1">
                <a:latin typeface="Verdana"/>
                <a:ea typeface="Verdana"/>
                <a:cs typeface="Verdana"/>
                <a:sym typeface="Verdana"/>
              </a:rPr>
              <a:t>{{clientBusinessName}}</a:t>
            </a:r>
            <a:endParaRPr sz="1550" b="1">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250">
                <a:solidFill>
                  <a:srgbClr val="000000"/>
                </a:solidFill>
                <a:latin typeface="Verdana"/>
                <a:ea typeface="Verdana"/>
                <a:cs typeface="Verdana"/>
                <a:sym typeface="Verdana"/>
              </a:rPr>
              <a:t>{{topLevelTitle}}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{{secondLevelTitle}}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{{thirdLevelTitle}}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250">
                <a:solidFill>
                  <a:srgbClr val="000000"/>
                </a:solidFill>
                <a:latin typeface="Verdana"/>
                <a:ea typeface="Verdana"/>
                <a:cs typeface="Verdana"/>
                <a:sym typeface="Verdana"/>
              </a:rPr>
              <a:t>{{fourthLevelTitle}}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250">
                <a:solidFill>
                  <a:schemeClr val="dk1"/>
                </a:solidFill>
              </a:rPr>
              <a:t>{{topLevelName}} </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{{secondLevelName}}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{{thirdLevelName}}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{{fourthLevelName}}</a:t>
            </a:r>
            <a:endParaRPr sz="1250">
              <a:solidFill>
                <a:schemeClr val="dk1"/>
              </a:solidFill>
            </a:endParaRPr>
          </a:p>
          <a:p>
            <a:pPr marL="0" lvl="0" indent="0" algn="l" rtl="0">
              <a:spcBef>
                <a:spcPts val="1600"/>
              </a:spcBef>
              <a:spcAft>
                <a:spcPts val="0"/>
              </a:spcAft>
              <a:buClr>
                <a:schemeClr val="dk1"/>
              </a:buClr>
              <a:buSzPts val="1100"/>
              <a:buFont typeface="Arial"/>
              <a:buNone/>
            </a:pPr>
            <a:endParaRPr sz="1250">
              <a:solidFill>
                <a:schemeClr val="dk1"/>
              </a:solidFill>
            </a:endParaRPr>
          </a:p>
          <a:p>
            <a:pPr marL="0" lvl="0" indent="0" algn="ctr" rtl="0">
              <a:lnSpc>
                <a:spcPct val="200000"/>
              </a:lnSpc>
              <a:spcBef>
                <a:spcPts val="1200"/>
              </a:spcBef>
              <a:spcAft>
                <a:spcPts val="1600"/>
              </a:spcAft>
              <a:buNone/>
            </a:pPr>
            <a:endParaRPr sz="125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2nd Tier</a:t>
            </a:r>
            <a:endParaRPr sz="1150" b="1">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a:t>
            </a: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a:t>
            </a: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a:t>
            </a: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a:t>
            </a: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a:t>
            </a:r>
            <a:r>
              <a:rPr lang="en" sz="1150" i="1">
                <a:solidFill>
                  <a:schemeClr val="dk1"/>
                </a:solidFill>
                <a:latin typeface="Verdana"/>
                <a:ea typeface="Verdana"/>
                <a:cs typeface="Verdana"/>
                <a:sym typeface="Verdana"/>
              </a:rPr>
              <a:t>numberOfLocations</a:t>
            </a:r>
            <a:r>
              <a:rPr lang="en" sz="1100">
                <a:solidFill>
                  <a:schemeClr val="dk1"/>
                </a:solidFill>
                <a:latin typeface="Verdana"/>
                <a:ea typeface="Verdana"/>
                <a:cs typeface="Verdana"/>
                <a:sym typeface="Verdana"/>
              </a:rPr>
              <a:t>}}</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a:t>
            </a:r>
            <a:r>
              <a:rPr lang="en" sz="1150" i="1">
                <a:solidFill>
                  <a:schemeClr val="dk1"/>
                </a:solidFill>
                <a:latin typeface="Verdana"/>
                <a:ea typeface="Verdana"/>
                <a:cs typeface="Verdana"/>
                <a:sym typeface="Verdana"/>
              </a:rPr>
              <a:t>planToExpand</a:t>
            </a:r>
            <a:r>
              <a:rPr lang="en" sz="1100">
                <a:solidFill>
                  <a:schemeClr val="dk1"/>
                </a:solidFill>
                <a:latin typeface="Verdana"/>
                <a:ea typeface="Verdana"/>
                <a:cs typeface="Verdana"/>
                <a:sym typeface="Verdana"/>
              </a:rPr>
              <a:t>}}</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a:t>
            </a: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a:t>
            </a: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860879"/>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3. </a:t>
            </a:r>
            <a:r>
              <a:rPr lang="en" sz="1150" b="1">
                <a:solidFill>
                  <a:srgbClr val="000000"/>
                </a:solidFill>
                <a:latin typeface="Verdana"/>
                <a:ea typeface="Verdana"/>
                <a:cs typeface="Verdana"/>
                <a:sym typeface="Verdana"/>
              </a:rPr>
              <a:t>What are the biggest misconceptions consumers have about </a:t>
            </a:r>
            <a:r>
              <a:rPr lang="en" b="1">
                <a:solidFill>
                  <a:srgbClr val="000000"/>
                </a:solidFill>
              </a:rPr>
              <a:t>your </a:t>
            </a:r>
            <a:r>
              <a:rPr lang="en" sz="1150" b="1">
                <a:solidFill>
                  <a:srgbClr val="000000"/>
                </a:solidFill>
                <a:latin typeface="Verdana"/>
                <a:ea typeface="Verdana"/>
                <a:cs typeface="Verdana"/>
                <a:sym typeface="Verdana"/>
              </a:rPr>
              <a:t>business?</a:t>
            </a:r>
            <a:endParaRPr sz="1150" b="1">
              <a:solidFill>
                <a:srgbClr val="000000"/>
              </a:solidFill>
              <a:latin typeface="Verdana"/>
              <a:ea typeface="Verdana"/>
              <a:cs typeface="Verdana"/>
              <a:sym typeface="Verdana"/>
            </a:endParaRPr>
          </a:p>
        </p:txBody>
      </p:sp>
      <p:sp>
        <p:nvSpPr>
          <p:cNvPr id="107" name="Google Shape;107;p15"/>
          <p:cNvSpPr txBox="1"/>
          <p:nvPr/>
        </p:nvSpPr>
        <p:spPr>
          <a:xfrm>
            <a:off x="594360" y="615300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{{misconceptions}}</a:t>
            </a:r>
            <a:endParaRPr sz="110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a:t>
            </a:r>
            <a:endParaRPr/>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4. If you had the power to improve three things in your marketing, what would they be in order?</a:t>
            </a:r>
            <a:endParaRPr b="1">
              <a:solidFill>
                <a:schemeClr val="dk1"/>
              </a:solidFill>
            </a:endParaRPr>
          </a:p>
          <a:p>
            <a:pPr marL="0" lvl="0" indent="0" algn="l" rtl="0">
              <a:spcBef>
                <a:spcPts val="1600"/>
              </a:spcBef>
              <a:spcAft>
                <a:spcPts val="0"/>
              </a:spcAft>
              <a:buNone/>
            </a:pPr>
            <a:endParaRPr b="1">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724144"/>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5. What are your most distinctive selling advantages?</a:t>
            </a:r>
            <a:endParaRPr sz="1150" b="1">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nvGraphicFramePr>
        <p:xfrm>
          <a:off x="594360"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Introduce New Department/Products/Services</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Feature Specific Products/Services</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a:latin typeface="Verdana"/>
                          <a:ea typeface="Verdana"/>
                          <a:cs typeface="Verdana"/>
                          <a:sym typeface="Verdana"/>
                        </a:rPr>
                        <a:t>Call Attention to Brands/Private Labels Carried</a:t>
                      </a:r>
                      <a:endParaRPr sz="100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a:latin typeface="Verdana"/>
                          <a:ea typeface="Verdana"/>
                          <a:cs typeface="Verdana"/>
                          <a:sym typeface="Verdana"/>
                        </a:rPr>
                        <a:t>Promote Off-price Items/Services</a:t>
                      </a:r>
                      <a:endParaRPr sz="100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a:latin typeface="Verdana"/>
                          <a:ea typeface="Verdana"/>
                          <a:cs typeface="Verdana"/>
                          <a:sym typeface="Verdana"/>
                        </a:rPr>
                        <a:t>Utilize Co-op/Vendor Dollars</a:t>
                      </a:r>
                      <a:endParaRPr sz="100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Maintain Market Dominance</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Elevate Business Brand/Image</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Improve Reputation and Listing Management</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Enhance Website (Mobile, Response, SEO, SEM)</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Increase Market Share</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nvGraphicFramePr>
        <p:xfrm>
          <a:off x="594360" y="445312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14875">
                <a:tc>
                  <a:txBody>
                    <a:bodyPr/>
                    <a:lstStyle/>
                    <a:p>
                      <a:pPr marL="0" lvl="0" indent="0" algn="l" rtl="0">
                        <a:lnSpc>
                          <a:spcPct val="115000"/>
                        </a:lnSpc>
                        <a:spcBef>
                          <a:spcPts val="0"/>
                        </a:spcBef>
                        <a:spcAft>
                          <a:spcPts val="0"/>
                        </a:spcAft>
                        <a:buNone/>
                      </a:pPr>
                      <a:r>
                        <a:rPr lang="en" sz="1000" b="1">
                          <a:solidFill>
                            <a:srgbClr val="222222"/>
                          </a:solidFill>
                          <a:latin typeface="Verdana"/>
                          <a:ea typeface="Verdana"/>
                          <a:cs typeface="Verdana"/>
                          <a:sym typeface="Verdana"/>
                        </a:rPr>
                        <a:t>Make Promotional Events Stronger</a:t>
                      </a:r>
                      <a:endParaRPr sz="1000" b="1">
                        <a:solidFill>
                          <a:srgbClr val="222222"/>
                        </a:solidFill>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Develop Digital/Mobile/Social Strategies</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14875">
                <a:tc>
                  <a:txBody>
                    <a:bodyPr/>
                    <a:lstStyle/>
                    <a:p>
                      <a:pPr marL="0" lvl="0" indent="0" algn="l" rtl="0">
                        <a:lnSpc>
                          <a:spcPct val="115000"/>
                        </a:lnSpc>
                        <a:spcBef>
                          <a:spcPts val="0"/>
                        </a:spcBef>
                        <a:spcAft>
                          <a:spcPts val="0"/>
                        </a:spcAft>
                        <a:buNone/>
                      </a:pPr>
                      <a:r>
                        <a:rPr lang="en" sz="1000">
                          <a:latin typeface="Verdana"/>
                          <a:ea typeface="Verdana"/>
                          <a:cs typeface="Verdana"/>
                          <a:sym typeface="Verdana"/>
                        </a:rPr>
                        <a:t>Establish a quarterly spike/seasonal campaign</a:t>
                      </a:r>
                      <a:endParaRPr sz="100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Develop Database Marketing (Email and Text)</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Initiate Cause Marketing Programs</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Develop Specially Staged Events</a:t>
                      </a:r>
                      <a:endParaRPr sz="1000" b="1">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nvGraphicFramePr>
        <p:xfrm>
          <a:off x="5084064" y="445312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14875">
                <a:tc>
                  <a:txBody>
                    <a:bodyPr/>
                    <a:lstStyle/>
                    <a:p>
                      <a:pPr marL="0" lvl="0" indent="0" algn="l" rtl="0">
                        <a:lnSpc>
                          <a:spcPct val="115000"/>
                        </a:lnSpc>
                        <a:spcBef>
                          <a:spcPts val="0"/>
                        </a:spcBef>
                        <a:spcAft>
                          <a:spcPts val="0"/>
                        </a:spcAft>
                        <a:buNone/>
                      </a:pPr>
                      <a:r>
                        <a:rPr lang="en" sz="1000" b="1">
                          <a:solidFill>
                            <a:srgbClr val="222222"/>
                          </a:solidFill>
                          <a:latin typeface="Verdana"/>
                          <a:ea typeface="Verdana"/>
                          <a:cs typeface="Verdana"/>
                          <a:sym typeface="Verdana"/>
                        </a:rPr>
                        <a:t>Maintain Market Dominance</a:t>
                      </a:r>
                      <a:endParaRPr sz="1000" b="1">
                        <a:solidFill>
                          <a:srgbClr val="222222"/>
                        </a:solidFill>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Elevate Business Brand/Image</a:t>
                      </a:r>
                      <a:endParaRPr sz="1000" b="1">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1"/>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Improve Reputation and Listing Management</a:t>
                      </a:r>
                      <a:endParaRPr sz="1000" b="1">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2"/>
                  </a:ext>
                </a:extLst>
              </a:tr>
              <a:tr h="214875">
                <a:tc>
                  <a:txBody>
                    <a:bodyPr/>
                    <a:lstStyle/>
                    <a:p>
                      <a:pPr marL="0" lvl="0" indent="0" algn="l" rtl="0">
                        <a:lnSpc>
                          <a:spcPct val="115000"/>
                        </a:lnSpc>
                        <a:spcBef>
                          <a:spcPts val="0"/>
                        </a:spcBef>
                        <a:spcAft>
                          <a:spcPts val="0"/>
                        </a:spcAft>
                        <a:buNone/>
                      </a:pPr>
                      <a:r>
                        <a:rPr lang="en" sz="1000">
                          <a:latin typeface="Verdana"/>
                          <a:ea typeface="Verdana"/>
                          <a:cs typeface="Verdana"/>
                          <a:sym typeface="Verdana"/>
                        </a:rPr>
                        <a:t>Enhance Website (Mobile, Response, SEO, SEM)</a:t>
                      </a:r>
                      <a:endParaRPr sz="100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3"/>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Increase Market Share</a:t>
                      </a:r>
                      <a:endParaRPr sz="1000" b="1">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4"/>
                  </a:ext>
                </a:extLst>
              </a:tr>
              <a:tr h="214875">
                <a:tc>
                  <a:txBody>
                    <a:bodyPr/>
                    <a:lstStyle/>
                    <a:p>
                      <a:pPr marL="0" lvl="0" indent="0" algn="l" rtl="0">
                        <a:lnSpc>
                          <a:spcPct val="115000"/>
                        </a:lnSpc>
                        <a:spcBef>
                          <a:spcPts val="0"/>
                        </a:spcBef>
                        <a:spcAft>
                          <a:spcPts val="0"/>
                        </a:spcAft>
                        <a:buNone/>
                      </a:pPr>
                      <a:r>
                        <a:rPr lang="en" sz="1000" b="1">
                          <a:latin typeface="Verdana"/>
                          <a:ea typeface="Verdana"/>
                          <a:cs typeface="Verdana"/>
                          <a:sym typeface="Verdana"/>
                        </a:rPr>
                        <a:t>Tech Recruitment</a:t>
                      </a:r>
                      <a:endParaRPr sz="1000" b="1">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128" name="Google Shape;128;p16"/>
          <p:cNvGraphicFramePr/>
          <p:nvPr/>
        </p:nvGraphicFramePr>
        <p:xfrm>
          <a:off x="594350" y="1573425"/>
          <a:ext cx="4124325" cy="634938"/>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1. Initiate Cause Marketing Programs</a:t>
                      </a:r>
                      <a:endParaRPr sz="11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2. Tech Recruitment</a:t>
                      </a:r>
                      <a:endParaRPr sz="11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3. Expand Target Consumers (by age, sex, geography)</a:t>
                      </a:r>
                      <a:endParaRPr sz="11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10. Do you have social media strategy (i.e. Facebook, Instagram, etc.)? If so, what are your goals and measures of success?</a:t>
            </a:r>
            <a:endParaRPr sz="1150" b="1">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a:solidFill>
                            <a:schemeClr val="dk1"/>
                          </a:solidFill>
                          <a:latin typeface="Verdana"/>
                          <a:ea typeface="Verdana"/>
                          <a:cs typeface="Verdana"/>
                          <a:sym typeface="Verdana"/>
                        </a:rPr>
                        <a:t>{{poorestMonths}}</a:t>
                      </a:r>
                      <a:endParaRPr sz="110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a:latin typeface="Verdana"/>
                          <a:ea typeface="Verdana"/>
                          <a:cs typeface="Verdana"/>
                          <a:sym typeface="Verdana"/>
                        </a:rPr>
                        <a:t>{{bestMonths}}</a:t>
                      </a:r>
                      <a:endParaRPr sz="110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a:latin typeface="Verdana"/>
                          <a:ea typeface="Verdana"/>
                          <a:cs typeface="Verdana"/>
                          <a:sym typeface="Verdana"/>
                        </a:rPr>
                        <a:t>{{bestDays}}</a:t>
                      </a:r>
                      <a:endParaRPr sz="110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8"/>
          <p:cNvSpPr txBox="1"/>
          <p:nvPr/>
        </p:nvSpPr>
        <p:spPr>
          <a:xfrm>
            <a:off x="5779008" y="1883664"/>
            <a:ext cx="706200" cy="7249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nvGraphicFramePr>
        <p:xfrm>
          <a:off x="1201409" y="4562856"/>
          <a:ext cx="6741175" cy="2274981"/>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{{have26to35}}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{{want26to35}}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163" name="Google Shape;163;p18"/>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164" name="Google Shape;164;p18"/>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165" name="Google Shape;165;p18"/>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166" name="Google Shape;166;p18"/>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167" name="Google Shape;167;p18"/>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168" name="Google Shape;168;p18"/>
          <p:cNvSpPr txBox="1"/>
          <p:nvPr/>
        </p:nvSpPr>
        <p:spPr>
          <a:xfrm>
            <a:off x="2286000" y="1883664"/>
            <a:ext cx="706200" cy="8046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169" name="Google Shape;169;p18"/>
          <p:cNvSpPr txBox="1"/>
          <p:nvPr/>
        </p:nvSpPr>
        <p:spPr>
          <a:xfrm>
            <a:off x="4023360" y="1883664"/>
            <a:ext cx="704100" cy="9639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170" name="Google Shape;170;p18"/>
          <p:cNvSpPr txBox="1"/>
          <p:nvPr/>
        </p:nvSpPr>
        <p:spPr>
          <a:xfrm>
            <a:off x="557784" y="1883664"/>
            <a:ext cx="704100" cy="104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9"/>
          <p:cNvSpPr txBox="1"/>
          <p:nvPr/>
        </p:nvSpPr>
        <p:spPr>
          <a:xfrm>
            <a:off x="4023360" y="1883664"/>
            <a:ext cx="704100" cy="9639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189" name="Google Shape;189;p19"/>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190" name="Google Shape;190;p19"/>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193" name="Google Shape;193;p19"/>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194" name="Google Shape;194;p19"/>
          <p:cNvSpPr txBox="1"/>
          <p:nvPr/>
        </p:nvSpPr>
        <p:spPr>
          <a:xfrm>
            <a:off x="2286000" y="1883664"/>
            <a:ext cx="706200" cy="8046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195" name="Google Shape;195;p19"/>
          <p:cNvSpPr txBox="1"/>
          <p:nvPr/>
        </p:nvSpPr>
        <p:spPr>
          <a:xfrm>
            <a:off x="5779008" y="1883664"/>
            <a:ext cx="706200" cy="7249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196" name="Google Shape;196;p19"/>
          <p:cNvSpPr txBox="1"/>
          <p:nvPr/>
        </p:nvSpPr>
        <p:spPr>
          <a:xfrm>
            <a:off x="557784" y="1883664"/>
            <a:ext cx="704100" cy="104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13" name="Google Shape;213;p20"/>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14" name="Google Shape;214;p20"/>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15" name="Google Shape;215;p20"/>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16" name="Google Shape;216;p20"/>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18" name="Google Shape;218;p20"/>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19" name="Google Shape;219;p20"/>
          <p:cNvSpPr txBox="1"/>
          <p:nvPr/>
        </p:nvSpPr>
        <p:spPr>
          <a:xfrm>
            <a:off x="2286000" y="1883664"/>
            <a:ext cx="706200" cy="8046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20" name="Google Shape;220;p20"/>
          <p:cNvSpPr txBox="1"/>
          <p:nvPr/>
        </p:nvSpPr>
        <p:spPr>
          <a:xfrm>
            <a:off x="4023360" y="1883664"/>
            <a:ext cx="704100" cy="9639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21" name="Google Shape;221;p20"/>
          <p:cNvSpPr txBox="1"/>
          <p:nvPr/>
        </p:nvSpPr>
        <p:spPr>
          <a:xfrm>
            <a:off x="5779008" y="1883664"/>
            <a:ext cx="706200" cy="7249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22" name="Google Shape;222;p20"/>
          <p:cNvSpPr txBox="1"/>
          <p:nvPr/>
        </p:nvSpPr>
        <p:spPr>
          <a:xfrm>
            <a:off x="557784" y="1883664"/>
            <a:ext cx="704100" cy="104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1"/>
          <p:cNvSpPr txBox="1"/>
          <p:nvPr/>
        </p:nvSpPr>
        <p:spPr>
          <a:xfrm>
            <a:off x="2286000" y="1883664"/>
            <a:ext cx="706200" cy="8046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39" name="Google Shape;239;p21"/>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40" name="Google Shape;240;p21"/>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41" name="Google Shape;241;p21"/>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44" name="Google Shape;244;p21"/>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45" name="Google Shape;245;p21"/>
          <p:cNvSpPr txBox="1"/>
          <p:nvPr/>
        </p:nvSpPr>
        <p:spPr>
          <a:xfrm>
            <a:off x="4023360" y="1883664"/>
            <a:ext cx="704100" cy="9639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46" name="Google Shape;246;p21"/>
          <p:cNvSpPr txBox="1"/>
          <p:nvPr/>
        </p:nvSpPr>
        <p:spPr>
          <a:xfrm>
            <a:off x="5779008" y="1883664"/>
            <a:ext cx="706200" cy="7249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47" name="Google Shape;247;p21"/>
          <p:cNvSpPr txBox="1"/>
          <p:nvPr/>
        </p:nvSpPr>
        <p:spPr>
          <a:xfrm>
            <a:off x="557784" y="1883664"/>
            <a:ext cx="704100" cy="104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69" name="Google Shape;269;p22"/>
          <p:cNvSpPr txBox="1"/>
          <p:nvPr/>
        </p:nvSpPr>
        <p:spPr>
          <a:xfrm>
            <a:off x="2286000" y="1883664"/>
            <a:ext cx="706200" cy="8046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70" name="Google Shape;270;p22"/>
          <p:cNvSpPr txBox="1"/>
          <p:nvPr/>
        </p:nvSpPr>
        <p:spPr>
          <a:xfrm>
            <a:off x="5779008" y="1883664"/>
            <a:ext cx="706200" cy="7249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71" name="Google Shape;271;p22"/>
          <p:cNvSpPr txBox="1"/>
          <p:nvPr/>
        </p:nvSpPr>
        <p:spPr>
          <a:xfrm>
            <a:off x="557784" y="1883664"/>
            <a:ext cx="704100" cy="104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72" name="Google Shape;272;p22"/>
          <p:cNvSpPr txBox="1"/>
          <p:nvPr/>
        </p:nvSpPr>
        <p:spPr>
          <a:xfrm>
            <a:off x="4023360" y="1883664"/>
            <a:ext cx="704100" cy="9639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a:t>Target 85%</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a:t>
            </a:r>
            <a:r>
              <a:rPr lang="en">
                <a:solidFill>
                  <a:schemeClr val="dk1"/>
                </a:solidFill>
              </a:rPr>
              <a:t>totalMediaInvestmentInput</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821700" y="6245352"/>
            <a:ext cx="21345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a:t>
            </a:r>
            <a:r>
              <a:rPr lang="en">
                <a:solidFill>
                  <a:schemeClr val="dk1"/>
                </a:solidFill>
              </a:rPr>
              <a:t>pctTAIGrossSalesLastYear</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a:t>
            </a:r>
            <a:r>
              <a:rPr lang="en">
                <a:solidFill>
                  <a:schemeClr val="dk1"/>
                </a:solidFill>
              </a:rPr>
              <a:t>grossSalesLastyear</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556248"/>
            <a:ext cx="7466100" cy="393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a:solidFill>
                  <a:schemeClr val="dk1"/>
                </a:solidFill>
                <a:latin typeface="Verdana"/>
                <a:ea typeface="Verdana"/>
                <a:cs typeface="Verdana"/>
                <a:sym typeface="Verdana"/>
              </a:rPr>
              <a:t>Total Advertising Investment (TAI): {{totalAdvertisingInvestmentConfidentialClientEvaluationOnePage}}</a:t>
            </a:r>
            <a:endParaRPr sz="1550" b="1">
              <a:latin typeface="Verdana"/>
              <a:ea typeface="Verdana"/>
              <a:cs typeface="Verdana"/>
              <a:sym typeface="Verdana"/>
            </a:endParaRPr>
          </a:p>
        </p:txBody>
      </p:sp>
      <p:pic>
        <p:nvPicPr>
          <p:cNvPr id="325" name="Google Shape;325;p24"/>
          <p:cNvPicPr preferRelativeResize="0"/>
          <p:nvPr/>
        </p:nvPicPr>
        <p:blipFill>
          <a:blip r:embed="rId3">
            <a:alphaModFix/>
          </a:blip>
          <a:stretch>
            <a:fillRect/>
          </a:stretch>
        </p:blipFill>
        <p:spPr>
          <a:xfrm>
            <a:off x="448056" y="1363660"/>
            <a:ext cx="8247888" cy="50999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31" name="Google Shape;331;p25"/>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Proposed Year’s Media Allocation</a:t>
            </a:r>
            <a:endParaRPr/>
          </a:p>
        </p:txBody>
      </p:sp>
      <p:sp>
        <p:nvSpPr>
          <p:cNvPr id="332" name="Google Shape;332;p25"/>
          <p:cNvSpPr txBox="1"/>
          <p:nvPr/>
        </p:nvSpPr>
        <p:spPr>
          <a:xfrm>
            <a:off x="841248" y="6556248"/>
            <a:ext cx="7466100" cy="393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a:solidFill>
                  <a:schemeClr val="dk1"/>
                </a:solidFill>
                <a:latin typeface="Verdana"/>
                <a:ea typeface="Verdana"/>
                <a:cs typeface="Verdana"/>
                <a:sym typeface="Verdana"/>
              </a:rPr>
              <a:t>Total Advertising Investment (TAI): </a:t>
            </a:r>
            <a:r>
              <a:rPr lang="en" sz="1550" b="1">
                <a:latin typeface="Verdana"/>
                <a:ea typeface="Verdana"/>
                <a:cs typeface="Verdana"/>
                <a:sym typeface="Verdana"/>
              </a:rPr>
              <a:t>{{totalAdvertisingInvestmentConfidentialClientEvaluationProposed}}</a:t>
            </a:r>
            <a:endParaRPr sz="1550" b="1">
              <a:latin typeface="Verdana"/>
              <a:ea typeface="Verdana"/>
              <a:cs typeface="Verdana"/>
              <a:sym typeface="Verdana"/>
            </a:endParaRPr>
          </a:p>
        </p:txBody>
      </p:sp>
      <p:pic>
        <p:nvPicPr>
          <p:cNvPr id="333" name="Google Shape;333;p25"/>
          <p:cNvPicPr preferRelativeResize="0"/>
          <p:nvPr/>
        </p:nvPicPr>
        <p:blipFill>
          <a:blip r:embed="rId3">
            <a:alphaModFix/>
          </a:blip>
          <a:stretch>
            <a:fillRect/>
          </a:stretch>
        </p:blipFill>
        <p:spPr>
          <a:xfrm>
            <a:off x="448056" y="1363660"/>
            <a:ext cx="8247888" cy="50999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Budget Breakout by Month (For Next 12 Months)</a:t>
            </a:r>
            <a:endParaRPr sz="2100"/>
          </a:p>
          <a:p>
            <a:pPr marL="0" lvl="0" indent="0" algn="ctr" rtl="0">
              <a:spcBef>
                <a:spcPts val="0"/>
              </a:spcBef>
              <a:spcAft>
                <a:spcPts val="0"/>
              </a:spcAft>
              <a:buNone/>
            </a:pPr>
            <a:r>
              <a:rPr lang="en" sz="2100"/>
              <a:t>Proposed Media Plan: {{station}}</a:t>
            </a:r>
            <a:endParaRPr sz="2100"/>
          </a:p>
        </p:txBody>
      </p:sp>
      <p:pic>
        <p:nvPicPr>
          <p:cNvPr id="405" name="Google Shape;405;p33"/>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t>120</a:t>
                      </a:r>
                      <a:endParaRPr sz="100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{{planACity}}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{{planAReach}}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{{planAFrequency}}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{{planADigitalImpressionsMonthly}}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{{planAMonthly}}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{{planADaily}}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{{planAAverageSale}}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{{planAAdditionalGrossSales}}</a:t>
            </a:r>
            <a:endParaRPr sz="1300" u="sng">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380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{{a_prospectsNeededToBreakEven}}</a:t>
            </a:r>
            <a:endParaRPr sz="1300">
              <a:solidFill>
                <a:srgbClr val="00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{{planAMonthlyROID}}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t>Budget Breakout by Month (For Next 12 Months)</a:t>
            </a:r>
            <a:endParaRPr sz="2100"/>
          </a:p>
          <a:p>
            <a:pPr marL="0" lvl="0" indent="0" algn="ctr" rtl="0">
              <a:spcBef>
                <a:spcPts val="0"/>
              </a:spcBef>
              <a:spcAft>
                <a:spcPts val="0"/>
              </a:spcAft>
              <a:buNone/>
            </a:pPr>
            <a:r>
              <a:rPr lang="en" sz="2100"/>
              <a:t>Proposed Media Plan: {{station}}</a:t>
            </a:r>
            <a:endParaRPr sz="2100"/>
          </a:p>
        </p:txBody>
      </p:sp>
      <p:pic>
        <p:nvPicPr>
          <p:cNvPr id="449" name="Google Shape;449;p39"/>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B</a:t>
            </a:r>
            <a:endParaRPr/>
          </a:p>
        </p:txBody>
      </p:sp>
      <p:sp>
        <p:nvSpPr>
          <p:cNvPr id="491" name="Google Shape;491;p45"/>
          <p:cNvSpPr txBox="1">
            <a:spLocks noGrp="1"/>
          </p:cNvSpPr>
          <p:nvPr>
            <p:ph type="body" idx="2"/>
          </p:nvPr>
        </p:nvSpPr>
        <p:spPr>
          <a:xfrm>
            <a:off x="7132320" y="1453896"/>
            <a:ext cx="1243500" cy="51939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type="body" idx="2"/>
          </p:nvPr>
        </p:nvSpPr>
        <p:spPr>
          <a:xfrm>
            <a:off x="772638" y="1453125"/>
            <a:ext cx="6355200" cy="51927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lang="en" sz="1150" b="1">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graphicFrame>
        <p:nvGraphicFramePr>
          <p:cNvPr id="510" name="Google Shape;510;p46"/>
          <p:cNvGraphicFramePr/>
          <p:nvPr/>
        </p:nvGraphicFramePr>
        <p:xfrm>
          <a:off x="297400" y="2615775"/>
          <a:ext cx="8374450" cy="1493450"/>
        </p:xfrm>
        <a:graphic>
          <a:graphicData uri="http://schemas.openxmlformats.org/drawingml/2006/table">
            <a:tbl>
              <a:tblPr>
                <a:noFill/>
                <a:tableStyleId>{CFB75FC7-DD7D-40D8-B2B2-EE4B611A8D2E}</a:tableStyleId>
              </a:tblPr>
              <a:tblGrid>
                <a:gridCol w="598175">
                  <a:extLst>
                    <a:ext uri="{9D8B030D-6E8A-4147-A177-3AD203B41FA5}">
                      <a16:colId xmlns:a16="http://schemas.microsoft.com/office/drawing/2014/main" val="20000"/>
                    </a:ext>
                  </a:extLst>
                </a:gridCol>
                <a:gridCol w="598175">
                  <a:extLst>
                    <a:ext uri="{9D8B030D-6E8A-4147-A177-3AD203B41FA5}">
                      <a16:colId xmlns:a16="http://schemas.microsoft.com/office/drawing/2014/main" val="20001"/>
                    </a:ext>
                  </a:extLst>
                </a:gridCol>
                <a:gridCol w="598175">
                  <a:extLst>
                    <a:ext uri="{9D8B030D-6E8A-4147-A177-3AD203B41FA5}">
                      <a16:colId xmlns:a16="http://schemas.microsoft.com/office/drawing/2014/main" val="20002"/>
                    </a:ext>
                  </a:extLst>
                </a:gridCol>
                <a:gridCol w="598175">
                  <a:extLst>
                    <a:ext uri="{9D8B030D-6E8A-4147-A177-3AD203B41FA5}">
                      <a16:colId xmlns:a16="http://schemas.microsoft.com/office/drawing/2014/main" val="20003"/>
                    </a:ext>
                  </a:extLst>
                </a:gridCol>
                <a:gridCol w="598175">
                  <a:extLst>
                    <a:ext uri="{9D8B030D-6E8A-4147-A177-3AD203B41FA5}">
                      <a16:colId xmlns:a16="http://schemas.microsoft.com/office/drawing/2014/main" val="20004"/>
                    </a:ext>
                  </a:extLst>
                </a:gridCol>
                <a:gridCol w="598175">
                  <a:extLst>
                    <a:ext uri="{9D8B030D-6E8A-4147-A177-3AD203B41FA5}">
                      <a16:colId xmlns:a16="http://schemas.microsoft.com/office/drawing/2014/main" val="20005"/>
                    </a:ext>
                  </a:extLst>
                </a:gridCol>
                <a:gridCol w="598175">
                  <a:extLst>
                    <a:ext uri="{9D8B030D-6E8A-4147-A177-3AD203B41FA5}">
                      <a16:colId xmlns:a16="http://schemas.microsoft.com/office/drawing/2014/main" val="20006"/>
                    </a:ext>
                  </a:extLst>
                </a:gridCol>
                <a:gridCol w="598175">
                  <a:extLst>
                    <a:ext uri="{9D8B030D-6E8A-4147-A177-3AD203B41FA5}">
                      <a16:colId xmlns:a16="http://schemas.microsoft.com/office/drawing/2014/main" val="20007"/>
                    </a:ext>
                  </a:extLst>
                </a:gridCol>
                <a:gridCol w="598175">
                  <a:extLst>
                    <a:ext uri="{9D8B030D-6E8A-4147-A177-3AD203B41FA5}">
                      <a16:colId xmlns:a16="http://schemas.microsoft.com/office/drawing/2014/main" val="20008"/>
                    </a:ext>
                  </a:extLst>
                </a:gridCol>
                <a:gridCol w="598175">
                  <a:extLst>
                    <a:ext uri="{9D8B030D-6E8A-4147-A177-3AD203B41FA5}">
                      <a16:colId xmlns:a16="http://schemas.microsoft.com/office/drawing/2014/main" val="20009"/>
                    </a:ext>
                  </a:extLst>
                </a:gridCol>
                <a:gridCol w="598175">
                  <a:extLst>
                    <a:ext uri="{9D8B030D-6E8A-4147-A177-3AD203B41FA5}">
                      <a16:colId xmlns:a16="http://schemas.microsoft.com/office/drawing/2014/main" val="20010"/>
                    </a:ext>
                  </a:extLst>
                </a:gridCol>
                <a:gridCol w="598175">
                  <a:extLst>
                    <a:ext uri="{9D8B030D-6E8A-4147-A177-3AD203B41FA5}">
                      <a16:colId xmlns:a16="http://schemas.microsoft.com/office/drawing/2014/main" val="20011"/>
                    </a:ext>
                  </a:extLst>
                </a:gridCol>
                <a:gridCol w="598175">
                  <a:extLst>
                    <a:ext uri="{9D8B030D-6E8A-4147-A177-3AD203B41FA5}">
                      <a16:colId xmlns:a16="http://schemas.microsoft.com/office/drawing/2014/main" val="20012"/>
                    </a:ext>
                  </a:extLst>
                </a:gridCol>
                <a:gridCol w="598175">
                  <a:extLst>
                    <a:ext uri="{9D8B030D-6E8A-4147-A177-3AD203B41FA5}">
                      <a16:colId xmlns:a16="http://schemas.microsoft.com/office/drawing/2014/main" val="20013"/>
                    </a:ext>
                  </a:extLst>
                </a:gridCol>
              </a:tblGrid>
              <a:tr h="309400">
                <a:tc>
                  <a:txBody>
                    <a:bodyPr/>
                    <a:lstStyle/>
                    <a:p>
                      <a:pPr marL="0" lvl="0" indent="0" algn="ctr" rtl="0">
                        <a:lnSpc>
                          <a:spcPct val="115000"/>
                        </a:lnSpc>
                        <a:spcBef>
                          <a:spcPts val="0"/>
                        </a:spcBef>
                        <a:spcAft>
                          <a:spcPts val="0"/>
                        </a:spcAft>
                        <a:buNone/>
                      </a:pPr>
                      <a:r>
                        <a:rPr lang="en" sz="1000">
                          <a:solidFill>
                            <a:srgbClr val="FFFFFF"/>
                          </a:solidFill>
                        </a:rPr>
                        <a:t>Media</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Jan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Feb</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Apr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May</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Aug</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Sep</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Oct</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Nov</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Dec</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Total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extLst>
                  <a:ext uri="{0D108BD9-81ED-4DB2-BD59-A6C34878D82A}">
                    <a16:rowId xmlns:a16="http://schemas.microsoft.com/office/drawing/2014/main" val="10000"/>
                  </a:ext>
                </a:extLst>
              </a:tr>
              <a:tr h="210075">
                <a:tc>
                  <a:txBody>
                    <a:bodyPr/>
                    <a:lstStyle/>
                    <a:p>
                      <a:pPr marL="0" lvl="0" indent="0" algn="ctr" rtl="0">
                        <a:lnSpc>
                          <a:spcPct val="115000"/>
                        </a:lnSpc>
                        <a:spcBef>
                          <a:spcPts val="0"/>
                        </a:spcBef>
                        <a:spcAft>
                          <a:spcPts val="0"/>
                        </a:spcAft>
                        <a:buNone/>
                      </a:pPr>
                      <a:r>
                        <a:rPr lang="en" sz="1000"/>
                        <a:t>WWWW</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10075">
                <a:tc>
                  <a:txBody>
                    <a:bodyPr/>
                    <a:lstStyle/>
                    <a:p>
                      <a:pPr marL="0" lvl="0" indent="0" algn="ctr" rtl="0">
                        <a:lnSpc>
                          <a:spcPct val="115000"/>
                        </a:lnSpc>
                        <a:spcBef>
                          <a:spcPts val="0"/>
                        </a:spcBef>
                        <a:spcAft>
                          <a:spcPts val="0"/>
                        </a:spcAft>
                        <a:buNone/>
                      </a:pPr>
                      <a:r>
                        <a:rPr lang="en" sz="1000"/>
                        <a:t>Digital</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81950">
                <a:tc>
                  <a:txBody>
                    <a:bodyPr/>
                    <a:lstStyle/>
                    <a:p>
                      <a:pPr marL="0" lvl="0" indent="0" algn="ctr"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81950">
                <a:tc>
                  <a:txBody>
                    <a:bodyPr/>
                    <a:lstStyle/>
                    <a:p>
                      <a:pPr marL="0" lvl="0" indent="0" algn="ctr" rtl="0">
                        <a:lnSpc>
                          <a:spcPct val="115000"/>
                        </a:lnSpc>
                        <a:spcBef>
                          <a:spcPts val="0"/>
                        </a:spcBef>
                        <a:spcAft>
                          <a:spcPts val="0"/>
                        </a:spcAft>
                        <a:buNone/>
                      </a:pPr>
                      <a:r>
                        <a:rPr lang="en" sz="1000"/>
                        <a:t>Monthly Totals</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$54,000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lang="en" sz="1150" b="1">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marL="457200" lvl="0" indent="-301625" algn="l"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graphicFrame>
        <p:nvGraphicFramePr>
          <p:cNvPr id="528" name="Google Shape;528;p47"/>
          <p:cNvGraphicFramePr/>
          <p:nvPr/>
        </p:nvGraphicFramePr>
        <p:xfrm>
          <a:off x="356850" y="2530113"/>
          <a:ext cx="8272950" cy="1623900"/>
        </p:xfrm>
        <a:graphic>
          <a:graphicData uri="http://schemas.openxmlformats.org/drawingml/2006/table">
            <a:tbl>
              <a:tblPr>
                <a:noFill/>
                <a:tableStyleId>{CFB75FC7-DD7D-40D8-B2B2-EE4B611A8D2E}</a:tableStyleId>
              </a:tblPr>
              <a:tblGrid>
                <a:gridCol w="590925">
                  <a:extLst>
                    <a:ext uri="{9D8B030D-6E8A-4147-A177-3AD203B41FA5}">
                      <a16:colId xmlns:a16="http://schemas.microsoft.com/office/drawing/2014/main" val="20000"/>
                    </a:ext>
                  </a:extLst>
                </a:gridCol>
                <a:gridCol w="590925">
                  <a:extLst>
                    <a:ext uri="{9D8B030D-6E8A-4147-A177-3AD203B41FA5}">
                      <a16:colId xmlns:a16="http://schemas.microsoft.com/office/drawing/2014/main" val="20001"/>
                    </a:ext>
                  </a:extLst>
                </a:gridCol>
                <a:gridCol w="590925">
                  <a:extLst>
                    <a:ext uri="{9D8B030D-6E8A-4147-A177-3AD203B41FA5}">
                      <a16:colId xmlns:a16="http://schemas.microsoft.com/office/drawing/2014/main" val="20002"/>
                    </a:ext>
                  </a:extLst>
                </a:gridCol>
                <a:gridCol w="590925">
                  <a:extLst>
                    <a:ext uri="{9D8B030D-6E8A-4147-A177-3AD203B41FA5}">
                      <a16:colId xmlns:a16="http://schemas.microsoft.com/office/drawing/2014/main" val="20003"/>
                    </a:ext>
                  </a:extLst>
                </a:gridCol>
                <a:gridCol w="590925">
                  <a:extLst>
                    <a:ext uri="{9D8B030D-6E8A-4147-A177-3AD203B41FA5}">
                      <a16:colId xmlns:a16="http://schemas.microsoft.com/office/drawing/2014/main" val="20004"/>
                    </a:ext>
                  </a:extLst>
                </a:gridCol>
                <a:gridCol w="590925">
                  <a:extLst>
                    <a:ext uri="{9D8B030D-6E8A-4147-A177-3AD203B41FA5}">
                      <a16:colId xmlns:a16="http://schemas.microsoft.com/office/drawing/2014/main" val="20005"/>
                    </a:ext>
                  </a:extLst>
                </a:gridCol>
                <a:gridCol w="590925">
                  <a:extLst>
                    <a:ext uri="{9D8B030D-6E8A-4147-A177-3AD203B41FA5}">
                      <a16:colId xmlns:a16="http://schemas.microsoft.com/office/drawing/2014/main" val="20006"/>
                    </a:ext>
                  </a:extLst>
                </a:gridCol>
                <a:gridCol w="590925">
                  <a:extLst>
                    <a:ext uri="{9D8B030D-6E8A-4147-A177-3AD203B41FA5}">
                      <a16:colId xmlns:a16="http://schemas.microsoft.com/office/drawing/2014/main" val="20007"/>
                    </a:ext>
                  </a:extLst>
                </a:gridCol>
                <a:gridCol w="590925">
                  <a:extLst>
                    <a:ext uri="{9D8B030D-6E8A-4147-A177-3AD203B41FA5}">
                      <a16:colId xmlns:a16="http://schemas.microsoft.com/office/drawing/2014/main" val="20008"/>
                    </a:ext>
                  </a:extLst>
                </a:gridCol>
                <a:gridCol w="590925">
                  <a:extLst>
                    <a:ext uri="{9D8B030D-6E8A-4147-A177-3AD203B41FA5}">
                      <a16:colId xmlns:a16="http://schemas.microsoft.com/office/drawing/2014/main" val="20009"/>
                    </a:ext>
                  </a:extLst>
                </a:gridCol>
                <a:gridCol w="590925">
                  <a:extLst>
                    <a:ext uri="{9D8B030D-6E8A-4147-A177-3AD203B41FA5}">
                      <a16:colId xmlns:a16="http://schemas.microsoft.com/office/drawing/2014/main" val="20010"/>
                    </a:ext>
                  </a:extLst>
                </a:gridCol>
                <a:gridCol w="590925">
                  <a:extLst>
                    <a:ext uri="{9D8B030D-6E8A-4147-A177-3AD203B41FA5}">
                      <a16:colId xmlns:a16="http://schemas.microsoft.com/office/drawing/2014/main" val="20011"/>
                    </a:ext>
                  </a:extLst>
                </a:gridCol>
                <a:gridCol w="590925">
                  <a:extLst>
                    <a:ext uri="{9D8B030D-6E8A-4147-A177-3AD203B41FA5}">
                      <a16:colId xmlns:a16="http://schemas.microsoft.com/office/drawing/2014/main" val="20012"/>
                    </a:ext>
                  </a:extLst>
                </a:gridCol>
                <a:gridCol w="590925">
                  <a:extLst>
                    <a:ext uri="{9D8B030D-6E8A-4147-A177-3AD203B41FA5}">
                      <a16:colId xmlns:a16="http://schemas.microsoft.com/office/drawing/2014/main" val="20013"/>
                    </a:ext>
                  </a:extLst>
                </a:gridCol>
              </a:tblGrid>
              <a:tr h="212650">
                <a:tc>
                  <a:txBody>
                    <a:bodyPr/>
                    <a:lstStyle/>
                    <a:p>
                      <a:pPr marL="0" lvl="0" indent="0" algn="ctr" rtl="0">
                        <a:lnSpc>
                          <a:spcPct val="115000"/>
                        </a:lnSpc>
                        <a:spcBef>
                          <a:spcPts val="0"/>
                        </a:spcBef>
                        <a:spcAft>
                          <a:spcPts val="0"/>
                        </a:spcAft>
                        <a:buNone/>
                      </a:pPr>
                      <a:r>
                        <a:rPr lang="en" sz="1000">
                          <a:solidFill>
                            <a:srgbClr val="FFFFFF"/>
                          </a:solidFill>
                        </a:rPr>
                        <a:t>Media</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Jan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Feb</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Apr</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May</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Jun</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Jul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Aug</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Sep</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Oct</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Nov</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Dec</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tc>
                  <a:txBody>
                    <a:bodyPr/>
                    <a:lstStyle/>
                    <a:p>
                      <a:pPr marL="0" lvl="0" indent="0" algn="ctr" rtl="0">
                        <a:lnSpc>
                          <a:spcPct val="115000"/>
                        </a:lnSpc>
                        <a:spcBef>
                          <a:spcPts val="0"/>
                        </a:spcBef>
                        <a:spcAft>
                          <a:spcPts val="0"/>
                        </a:spcAft>
                        <a:buNone/>
                      </a:pPr>
                      <a:r>
                        <a:rPr lang="en" sz="1000">
                          <a:solidFill>
                            <a:srgbClr val="FFFFFF"/>
                          </a:solidFill>
                        </a:rPr>
                        <a:t>Total</a:t>
                      </a:r>
                      <a:endParaRPr sz="1000">
                        <a:solidFill>
                          <a:srgbClr val="FFFFFF"/>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38761D"/>
                    </a:solidFill>
                  </a:tcPr>
                </a:tc>
                <a:extLst>
                  <a:ext uri="{0D108BD9-81ED-4DB2-BD59-A6C34878D82A}">
                    <a16:rowId xmlns:a16="http://schemas.microsoft.com/office/drawing/2014/main" val="10000"/>
                  </a:ext>
                </a:extLst>
              </a:tr>
              <a:tr h="212650">
                <a:tc>
                  <a:txBody>
                    <a:bodyPr/>
                    <a:lstStyle/>
                    <a:p>
                      <a:pPr marL="0" lvl="0" indent="0" algn="ctr" rtl="0">
                        <a:lnSpc>
                          <a:spcPct val="115000"/>
                        </a:lnSpc>
                        <a:spcBef>
                          <a:spcPts val="0"/>
                        </a:spcBef>
                        <a:spcAft>
                          <a:spcPts val="0"/>
                        </a:spcAft>
                        <a:buNone/>
                      </a:pPr>
                      <a:r>
                        <a:rPr lang="en" sz="1000"/>
                        <a:t>WWWW</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$4,500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12650">
                <a:tc>
                  <a:txBody>
                    <a:bodyPr/>
                    <a:lstStyle/>
                    <a:p>
                      <a:pPr marL="0" lvl="0" indent="0" algn="ctr" rtl="0">
                        <a:lnSpc>
                          <a:spcPct val="115000"/>
                        </a:lnSpc>
                        <a:spcBef>
                          <a:spcPts val="0"/>
                        </a:spcBef>
                        <a:spcAft>
                          <a:spcPts val="0"/>
                        </a:spcAft>
                        <a:buNone/>
                      </a:pPr>
                      <a:r>
                        <a:rPr lang="en" sz="1000"/>
                        <a:t>Digital</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86650">
                <a:tc>
                  <a:txBody>
                    <a:bodyPr/>
                    <a:lstStyle/>
                    <a:p>
                      <a:pPr marL="0" lvl="0" indent="0" algn="ctr"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12650">
                <a:tc>
                  <a:txBody>
                    <a:bodyPr/>
                    <a:lstStyle/>
                    <a:p>
                      <a:pPr marL="0" lvl="0" indent="0" algn="ctr" rtl="0">
                        <a:lnSpc>
                          <a:spcPct val="115000"/>
                        </a:lnSpc>
                        <a:spcBef>
                          <a:spcPts val="0"/>
                        </a:spcBef>
                        <a:spcAft>
                          <a:spcPts val="0"/>
                        </a:spcAft>
                        <a:buNone/>
                      </a:pPr>
                      <a:r>
                        <a:rPr lang="en" sz="1000"/>
                        <a:t>WWWA</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$12,000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86650">
                <a:tc>
                  <a:txBody>
                    <a:bodyPr/>
                    <a:lstStyle/>
                    <a:p>
                      <a:pPr marL="0" lvl="0" indent="0" algn="ctr" rtl="0">
                        <a:lnSpc>
                          <a:spcPct val="115000"/>
                        </a:lnSpc>
                        <a:spcBef>
                          <a:spcPts val="0"/>
                        </a:spcBef>
                        <a:spcAft>
                          <a:spcPts val="0"/>
                        </a:spcAft>
                        <a:buNone/>
                      </a:pPr>
                      <a:r>
                        <a:rPr lang="en" sz="1000"/>
                        <a:t>Monthly Totals</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$3,500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$66,000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37</Slides>
  <Notes>37</Notes>
  <HiddenSlides>0</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Simple Light</vt:lpstr>
      <vt:lpstr>PowerPoint Presentation</vt:lpstr>
      <vt:lpstr>Team Commitment</vt:lpstr>
      <vt:lpstr>Marketplace Competition</vt:lpstr>
      <vt:lpstr>Strategic Marketing I</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2026-01-03T22:47:57Z</dcterms:modified>
</cp:coreProperties>
</file>